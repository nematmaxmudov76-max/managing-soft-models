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11-ma'ruzada BLP ning cheklovlari orasida yashirin kanallarni eslatib o'tgan edik. Bugun: foydalanish nazorati har bir alohida murojaatni to'g'ri tekshirsa ham, ma'lumot qanday yo'llar bilan sizib chiqadi va bunga qarshi nima qilish mumkin. Oxirida — Windows'da ma'lumot oqimini nazorat qilish: DLP, USB nazorati va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Ikkiga bo'lish usuli bilan: 0-100 oralig'ida log2(101) ≈ 7 so'rov. 2) Har bir murojaat siyosatga mos, lekin natijalar yig'indisi maxfiy ma'lumotni ochadi — bu axborot oqimi muammosi: nazorat obyektga kirishni emas, ma'lumot harakatini ko'rishi kerak. 3) So'rovlar sonini cheklash, audit, javobga shovqin qo'shish. Xuddi shu g'oya statistik ma'lumotlar bazalarida (M18) va differensial maxfiylikda uchraydi.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Bilvosita oqim — foydalanish nazorati ko'ra olmaydigan eng muhim oqim turi. Ikkinchi misolda natija o'zgaruvchisiga bahoning o'zi yozilmagan, lekin natija=1 bo'lsa, baho 85 dan katta ekani ma'lum. Bunday oqimlar dastur boshqaruv tuzilmasi (if, while) orqali yuzaga keladi.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Denning, 'A Lattice Model of Secure Information Flow', CACM, 1976; keyinroq D. Denning va P. Denning 'Certification of Programs for Secure Information Flow' (1977). Panjara 11-ma'ruzadagi darajalar va toifalar panjarasining aynan o'zi. Zamonaviy davomi — xavfsiz oqim turlariga ega tillar (Jif) va 'taint analysis': ishonchsiz kiritishni kuzatish (SQL in'ektsiyaga qarshi statik tahlil).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Yo'q — aniq oqim Maxfiy -&gt; Ochiq. b) Yo'q — bilvosita oqim: sinf(shart) = Maxfiy &gt; Ochiq. c) Ha — natija va jurnal bahoga bog'liq emas. d) Denning qoidasida sikl ichida faqat Maxfiy o'zgaruvchi bor, formal jihatdan ruxsat beriladi; lekin siklning davomiyligi bahoga bog'liq — tashqi kuzatuvchi ish qancha vaqt olganidan bahoni bilib oladi. Bu vaqt kanali — Denning modeli uni ko'rmaydi. II bo'limga ko'prik.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Goguen, J. Meseguer, 'Security Policies and Security Models', IEEE S&amp;P, 1982. Aralashmaslik (non-interference) — xavfsizlikni kirish-chiqish xatti-harakati orqali ta'riflaydi: yuqori kiritishlarni tizimdan butunlay olib tashlasak ham, past foydalanuvchi ko'radigan chiqishlar o'zgarmasligi kerak. 11-ma'ruzadagi McLean tanqidiga javob sifatida ham qaraladi: holatlar emas, kuzatiladigan xatti-harakat baholanadi.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B.W. Lampson, 'A Note on the Confinement Problem', CACM, 1973. TCSEC (1985) yashirin kanalni 'jarayonga tizim xavfsizlik siyosatini buzgan holda ma'lumot uzatish imkonini beruvchi kanal' deb ta'riflaydi va B2 sinfidan boshlab uning tahlilini talab qiladi. Yashirin kanalning maqsadi — nazoratni chetlab o'tish; yon kanalda qurbon o'zi bilmagan holda ma'lumot sizdiradi. Bu ma'ruzada maqsad — kanallarni tanib, o'lchab va yopib olishni o'rganish, ya'ni himoya.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Kontseptual daraja: talabalar mexanizmni tushunishi kerak, operatsion retsept emas. Xotira kanaliga misollar: fayl qulfi holati, disk bo'sh joyi, jarayonlar ro'yxatining mavjudligi, printer navbati uzunligi. TCSEC B2+ tizimlarda bunday kanallarning o'tkazuvchanligini o'lchash va 100 bit/s dan yuqori bo'lsa hujjatlashtirish yoki yopish talab qilinadi. Amaliy xulosa (himoya): umumiy resurslarni kamaytirish va kuzatish. A12 da talabalar berilgan tizimda potensial umumiy resurslarni sanab, ularning xavfini baholaydi.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Spectre va Meltdown 2018-yil yanvarida e'lon qilingan (Google Project Zero va akademik guruhlar). Meltdown — foydalanuvchi dasturi yadro xotirasini o'qishi; Spectre — boshqa dasturni o'z ma'lumotini bilvosita ochib berishga majburlash. Microsoft Windows'da Meltdown ga qarshi KVA Shadow yechimini qo'llagan. Bu yon kanallar M1 dagi 'murojaatlar monitori chetlab o'tilmasligi kerak' tamoyilining apparat darajasida buzilishi. Bulutda (bitta serverda turli mijozlar) bu xavf ayniqsa muhim — M18.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 tunnel — yashirin xotira kanalining tarmoq varianti: ma'lumot so'rov nomi maydoniga joylashtiriladi. Bu ma'ruzada maqsad — mudofaachi nuqtai nazari: kanalni tanib, jurnal va filtr bilan yopish. A12 amaliy mashg'ulotida tarmoq trafigi bilan ishlanmaydi: yashirin kanallar qog'ozda tahlil qilinadi — talabalar tizimdagi umumiy resurslarni sanab, kanal o'tkazuvchanligini hisoblaydi va himoya choralarini tanlaydi (DNS so'rovlarini jurnallash, faqat ichki DNS serverga ruxsat, uzun subdomen va yuqori so'rov chastotasi bo'yicha ogohlantirish).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a) 1 bit / 0,02 s = 50 bit/s. b) 40 bit / 50 = 0,8 s. c) Yo'q, 50 &lt; 100 — TCSEC chegarasidan past, lekin baribir xavfli (parol 1 soniyada sizadi). d) Xatolar tuzatish uchun qo'shimcha bitlar kerak; samarali tezlik ~20-40% ga tushadi. Xulosa: o'tkazuvchanlikni kamaytirish (shovqin, kvota) kanalni sekinlashtiradi, lekin butunlay yo'q qilmaydi — shuning uchun audit va aniqlash ham kerak. Bu — himoya nuqtai nazaridan tahlil.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Purview Data Loss Prevention. Endpoint DLP Windows 10/11 ga o'rnatilgan agent orqali ishlaydi: fayl USB ga nusxalanishi, bufer orqali ko'chirilishi, bulutga yuklanishi yoki chop etilishini kuzatadi. DLP — Obidjon ustozning dissertatsiya mavzusi (maxfiy axborot sizishining oldini olish) bilan bevosita bog'liq: bu yerda tijoriy yechim ko'rsatiladi, dissertatsiyada esa o'z mexanizmi (KARCHKOOT) ishlab chiqilgan. Cheklov: DLP mazmunni ko'rgan joyda ishlaydi; shifrlangan yoki yashirin kanal orqali chiqarilgan ma'lumotni ko'rmasligi mumkin.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USB xotira — eng keng tarqalgan ochiq sizish kanali. Guruh siyosati (Removable Storage Access) domen kompyuterlarida markazdan qo'llaniladi; StorageDevicePolicies registr kaliti alohida kompyuterda. WriteProtect=1 barcha olib yuriladigan disklarga yozishni taqiqlaydi, o'qishni emas. Amaliy jihat: A12 da talabalar test kompyuterda (yoki VM da) USB yozishni taqiqlab, natijani tekshiradi. Kuzatish uchun audit siyosati yoqilishi kerak (keyingi slayd).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C:\Lab\baholar.txt ni oldindan yarating (M10, M11 namoyishlaridan qolgan bo'lishi mumkin). Hodisa 4663 — 'An attempt was made to access an object'. Audit — hisobdorlik (M2): kim, qachon, nimaga kirgani. Savolga javob: audit sizishni to'xtatmaydi, faqat qayd etadi — bu aniqlash va tergov uchun. To'xtatish uchun DLP, DACL yoki MAC kerak. Lekin audit yashirin kanallarni aniqlashda muhim: bir resursga g'ayrioddiy tez-tez murojaat kanaldan darak berishi mumkin (10-slayd). Bu Storm-0558 ni ham aniqlagan usul (M9).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1-B, 2-B, 3-C, 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Yashirin kanal, yon kanal, axborot oqimi — tarjima atamalar. DLP — ma'lumot sizishining oldini olish. Uyga vazifalar himoyaga (aniqlash va nazorat) qaratilgan.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120640" cy="5120640"/>
          </a:xfrm>
          <a:prstGeom prst="ellipse">
            <a:avLst/>
          </a:prstGeom>
          <a:solidFill>
            <a:srgbClr val="2A3778"/>
          </a:solidFill>
          <a:ln/>
        </p:spPr>
      </p:sp>
      <p:sp>
        <p:nvSpPr>
          <p:cNvPr id="3" name="Shape 1"/>
          <p:cNvSpPr/>
          <p:nvPr/>
        </p:nvSpPr>
        <p:spPr>
          <a:xfrm>
            <a:off x="10515600" y="4023360"/>
            <a:ext cx="3291840" cy="3291840"/>
          </a:xfrm>
          <a:prstGeom prst="ellipse">
            <a:avLst/>
          </a:prstGeom>
          <a:solidFill>
            <a:srgbClr val="2A3778"/>
          </a:solidFill>
          <a:ln/>
        </p:spPr>
      </p:sp>
      <p:sp>
        <p:nvSpPr>
          <p:cNvPr id="4" name="Shape 2"/>
          <p:cNvSpPr/>
          <p:nvPr/>
        </p:nvSpPr>
        <p:spPr>
          <a:xfrm>
            <a:off x="822960" y="685800"/>
            <a:ext cx="868680" cy="868680"/>
          </a:xfrm>
          <a:prstGeom prst="ellipse">
            <a:avLst/>
          </a:prstGeom>
          <a:solidFill>
            <a:srgbClr val="2A3778"/>
          </a:solidFill>
          <a:ln/>
        </p:spPr>
      </p:sp>
      <p:pic>
        <p:nvPicPr>
          <p:cNvPr id="5" name="Image 0" descr="/home/claude/fob-slides/icons_out/network_white.png"/>
          <p:cNvPicPr>
            <a:picLocks noChangeAspect="1"/>
          </p:cNvPicPr>
          <p:nvPr/>
        </p:nvPicPr>
        <p:blipFill>
          <a:blip r:embed="rId1"/>
          <a:stretch>
            <a:fillRect/>
          </a:stretch>
        </p:blipFill>
        <p:spPr>
          <a:xfrm>
            <a:off x="1040130" y="902970"/>
            <a:ext cx="434340" cy="434340"/>
          </a:xfrm>
          <a:prstGeom prst="rect">
            <a:avLst/>
          </a:prstGeom>
        </p:spPr>
      </p:pic>
      <p:sp>
        <p:nvSpPr>
          <p:cNvPr id="6" name="Text 3"/>
          <p:cNvSpPr txBox="1"/>
          <p:nvPr/>
        </p:nvSpPr>
        <p:spPr>
          <a:xfrm>
            <a:off x="822960" y="1783080"/>
            <a:ext cx="10241280" cy="411480"/>
          </a:xfrm>
          <a:prstGeom prst="rect">
            <a:avLst/>
          </a:prstGeom>
          <a:noFill/>
          <a:ln/>
        </p:spPr>
        <p:txBody>
          <a:bodyPr wrap="square" lIns="0" tIns="0" rIns="0" bIns="0" rtlCol="0" anchor="t"/>
          <a:lstStyle/>
          <a:p>
            <a:pPr algn="l" indent="0" marL="0">
              <a:lnSpc>
                <a:spcPct val="100000"/>
              </a:lnSpc>
              <a:buNone/>
            </a:pPr>
            <a:r>
              <a:rPr lang="en-US" sz="1700" b="1" dirty="0">
                <a:solidFill>
                  <a:srgbClr val="CADCFC"/>
                </a:solidFill>
                <a:latin typeface="Times New Roman" pitchFamily="34" charset="0"/>
                <a:ea typeface="Times New Roman" pitchFamily="34" charset="-122"/>
                <a:cs typeface="Times New Roman" pitchFamily="34" charset="-120"/>
              </a:rPr>
              <a:t>FOYDALANISHLARNI BOSHQARISH  ·  FOB1506  ·  12-MA'RUZA</a:t>
            </a:r>
            <a:endParaRPr lang="en-US" sz="1700" dirty="0"/>
          </a:p>
        </p:txBody>
      </p:sp>
      <p:sp>
        <p:nvSpPr>
          <p:cNvPr id="7" name="Text 4"/>
          <p:cNvSpPr txBox="1"/>
          <p:nvPr/>
        </p:nvSpPr>
        <p:spPr>
          <a:xfrm>
            <a:off x="822960" y="2240280"/>
            <a:ext cx="9875520" cy="914400"/>
          </a:xfrm>
          <a:prstGeom prst="rect">
            <a:avLst/>
          </a:prstGeom>
          <a:noFill/>
          <a:ln/>
        </p:spPr>
        <p:txBody>
          <a:bodyPr wrap="square" lIns="0" tIns="0" rIns="0" bIns="0" rtlCol="0" anchor="t"/>
          <a:lstStyle/>
          <a:p>
            <a:pPr algn="l" indent="0" marL="0">
              <a:lnSpc>
                <a:spcPct val="100000"/>
              </a:lnSpc>
              <a:buNone/>
            </a:pPr>
            <a:r>
              <a:rPr lang="en-US" sz="4400" b="1" dirty="0">
                <a:solidFill>
                  <a:srgbClr val="FFFFFF"/>
                </a:solidFill>
                <a:latin typeface="Times New Roman" pitchFamily="34" charset="0"/>
                <a:ea typeface="Times New Roman" pitchFamily="34" charset="-122"/>
                <a:cs typeface="Times New Roman" pitchFamily="34" charset="-120"/>
              </a:rPr>
              <a:t>Axborot oqimlarini nazoratlash: ma’lumotlar sizib chiqishi va yashirin kanallar</a:t>
            </a:r>
            <a:endParaRPr lang="en-US" sz="4400" dirty="0"/>
          </a:p>
        </p:txBody>
      </p:sp>
      <p:sp>
        <p:nvSpPr>
          <p:cNvPr id="8" name="Text 5"/>
          <p:cNvSpPr txBox="1"/>
          <p:nvPr/>
        </p:nvSpPr>
        <p:spPr>
          <a:xfrm>
            <a:off x="822960" y="3200400"/>
            <a:ext cx="10058400" cy="457200"/>
          </a:xfrm>
          <a:prstGeom prst="rect">
            <a:avLst/>
          </a:prstGeom>
          <a:noFill/>
          <a:ln/>
        </p:spPr>
        <p:txBody>
          <a:bodyPr wrap="square" lIns="0" tIns="0" rIns="0" bIns="0" rtlCol="0" anchor="t"/>
          <a:lstStyle/>
          <a:p>
            <a:pPr algn="l" indent="0" marL="0">
              <a:lnSpc>
                <a:spcPct val="100000"/>
              </a:lnSpc>
              <a:buNone/>
            </a:pPr>
            <a:r>
              <a:rPr lang="en-US" sz="2000" dirty="0">
                <a:solidFill>
                  <a:srgbClr val="CADCFC"/>
                </a:solidFill>
                <a:latin typeface="Times New Roman" pitchFamily="34" charset="0"/>
                <a:ea typeface="Times New Roman" pitchFamily="34" charset="-122"/>
                <a:cs typeface="Times New Roman" pitchFamily="34" charset="-120"/>
              </a:rPr>
              <a:t>Ruxsat to'g'ri — lekin ma'lumot baribir sizadi · Windows va DLP</a:t>
            </a:r>
            <a:endParaRPr lang="en-US" sz="2000" dirty="0"/>
          </a:p>
        </p:txBody>
      </p:sp>
      <p:sp>
        <p:nvSpPr>
          <p:cNvPr id="9" name="Shape 6"/>
          <p:cNvSpPr/>
          <p:nvPr/>
        </p:nvSpPr>
        <p:spPr>
          <a:xfrm>
            <a:off x="822960" y="3977640"/>
            <a:ext cx="1143000" cy="438912"/>
          </a:xfrm>
          <a:prstGeom prst="roundRect">
            <a:avLst>
              <a:gd name="adj" fmla="val 50000"/>
            </a:avLst>
          </a:prstGeom>
          <a:solidFill>
            <a:srgbClr val="2A3778"/>
          </a:solidFill>
          <a:ln/>
        </p:spPr>
      </p:sp>
      <p:sp>
        <p:nvSpPr>
          <p:cNvPr id="10" name="Text 7"/>
          <p:cNvSpPr txBox="1"/>
          <p:nvPr/>
        </p:nvSpPr>
        <p:spPr>
          <a:xfrm>
            <a:off x="822960" y="3977640"/>
            <a:ext cx="11430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2 soat</a:t>
            </a:r>
            <a:endParaRPr lang="en-US" sz="1400" dirty="0"/>
          </a:p>
        </p:txBody>
      </p:sp>
      <p:sp>
        <p:nvSpPr>
          <p:cNvPr id="11" name="Shape 8"/>
          <p:cNvSpPr/>
          <p:nvPr/>
        </p:nvSpPr>
        <p:spPr>
          <a:xfrm>
            <a:off x="2148840" y="3977640"/>
            <a:ext cx="2628900" cy="438912"/>
          </a:xfrm>
          <a:prstGeom prst="roundRect">
            <a:avLst>
              <a:gd name="adj" fmla="val 50000"/>
            </a:avLst>
          </a:prstGeom>
          <a:solidFill>
            <a:srgbClr val="2A3778"/>
          </a:solidFill>
          <a:ln/>
        </p:spPr>
      </p:sp>
      <p:sp>
        <p:nvSpPr>
          <p:cNvPr id="12" name="Text 9"/>
          <p:cNvSpPr txBox="1"/>
          <p:nvPr/>
        </p:nvSpPr>
        <p:spPr>
          <a:xfrm>
            <a:off x="2148840" y="3977640"/>
            <a:ext cx="26289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18 ma'ruzadan 12-si</a:t>
            </a:r>
            <a:endParaRPr lang="en-US" sz="1400" dirty="0"/>
          </a:p>
        </p:txBody>
      </p:sp>
      <p:sp>
        <p:nvSpPr>
          <p:cNvPr id="13" name="Shape 10"/>
          <p:cNvSpPr/>
          <p:nvPr/>
        </p:nvSpPr>
        <p:spPr>
          <a:xfrm>
            <a:off x="4960620" y="3977640"/>
            <a:ext cx="1714500" cy="438912"/>
          </a:xfrm>
          <a:prstGeom prst="roundRect">
            <a:avLst>
              <a:gd name="adj" fmla="val 50000"/>
            </a:avLst>
          </a:prstGeom>
          <a:solidFill>
            <a:srgbClr val="2A3778"/>
          </a:solidFill>
          <a:ln/>
        </p:spPr>
      </p:sp>
      <p:sp>
        <p:nvSpPr>
          <p:cNvPr id="14" name="Text 11"/>
          <p:cNvSpPr txBox="1"/>
          <p:nvPr/>
        </p:nvSpPr>
        <p:spPr>
          <a:xfrm>
            <a:off x="4960620" y="3977640"/>
            <a:ext cx="17145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Amaliy: A12</a:t>
            </a:r>
            <a:endParaRPr lang="en-US" sz="1400" dirty="0"/>
          </a:p>
        </p:txBody>
      </p:sp>
      <p:sp>
        <p:nvSpPr>
          <p:cNvPr id="15" name="Shape 12"/>
          <p:cNvSpPr/>
          <p:nvPr/>
        </p:nvSpPr>
        <p:spPr>
          <a:xfrm>
            <a:off x="6858000" y="3977640"/>
            <a:ext cx="2400300" cy="438912"/>
          </a:xfrm>
          <a:prstGeom prst="roundRect">
            <a:avLst>
              <a:gd name="adj" fmla="val 50000"/>
            </a:avLst>
          </a:prstGeom>
          <a:solidFill>
            <a:srgbClr val="2A3778"/>
          </a:solidFill>
          <a:ln/>
        </p:spPr>
      </p:sp>
      <p:sp>
        <p:nvSpPr>
          <p:cNvPr id="16" name="Text 13"/>
          <p:cNvSpPr txBox="1"/>
          <p:nvPr/>
        </p:nvSpPr>
        <p:spPr>
          <a:xfrm>
            <a:off x="6858000" y="3977640"/>
            <a:ext cx="24003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Windows namoyishi</a:t>
            </a:r>
            <a:endParaRPr lang="en-US" sz="1400" dirty="0"/>
          </a:p>
        </p:txBody>
      </p:sp>
      <p:sp>
        <p:nvSpPr>
          <p:cNvPr id="17" name="Text 14"/>
          <p:cNvSpPr txBox="1"/>
          <p:nvPr/>
        </p:nvSpPr>
        <p:spPr>
          <a:xfrm>
            <a:off x="822960" y="5897880"/>
            <a:ext cx="9144000" cy="365760"/>
          </a:xfrm>
          <a:prstGeom prst="rect">
            <a:avLst/>
          </a:prstGeom>
          <a:noFill/>
          <a:ln/>
        </p:spPr>
        <p:txBody>
          <a:bodyPr wrap="square" lIns="0" tIns="0" rIns="0" bIns="0" rtlCol="0" anchor="t"/>
          <a:lstStyle/>
          <a:p>
            <a:pPr algn="l"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Mirzo Ulug'bek nomidagi O'zbekiston Milliy universiteti  ·  Axborot xavfsizligi kafedrasi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DARS XARITASI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Bugungi ma'ruza qanday quriladi</a:t>
            </a:r>
            <a:endParaRPr lang="en-US" sz="3600" dirty="0"/>
          </a:p>
        </p:txBody>
      </p:sp>
      <p:sp>
        <p:nvSpPr>
          <p:cNvPr id="4" name="Shape 2"/>
          <p:cNvSpPr/>
          <p:nvPr/>
        </p:nvSpPr>
        <p:spPr>
          <a:xfrm>
            <a:off x="548640" y="1783080"/>
            <a:ext cx="7863840" cy="1234440"/>
          </a:xfrm>
          <a:prstGeom prst="roundRect">
            <a:avLst>
              <a:gd name="adj" fmla="val 6667"/>
            </a:avLst>
          </a:prstGeom>
          <a:solidFill>
            <a:srgbClr val="EEF2FB"/>
          </a:solidFill>
          <a:ln/>
        </p:spPr>
      </p:sp>
      <p:sp>
        <p:nvSpPr>
          <p:cNvPr id="5" name="Shape 3"/>
          <p:cNvSpPr/>
          <p:nvPr/>
        </p:nvSpPr>
        <p:spPr>
          <a:xfrm>
            <a:off x="548640" y="1783080"/>
            <a:ext cx="914400" cy="1234440"/>
          </a:xfrm>
          <a:prstGeom prst="roundRect">
            <a:avLst>
              <a:gd name="adj" fmla="val 9000"/>
            </a:avLst>
          </a:prstGeom>
          <a:solidFill>
            <a:srgbClr val="1E2761"/>
          </a:solidFill>
          <a:ln/>
        </p:spPr>
      </p:sp>
      <p:sp>
        <p:nvSpPr>
          <p:cNvPr id="6" name="Text 4"/>
          <p:cNvSpPr txBox="1"/>
          <p:nvPr/>
        </p:nvSpPr>
        <p:spPr>
          <a:xfrm>
            <a:off x="548640" y="1783080"/>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a:t>
            </a:r>
            <a:endParaRPr lang="en-US" sz="3200" dirty="0"/>
          </a:p>
        </p:txBody>
      </p:sp>
      <p:sp>
        <p:nvSpPr>
          <p:cNvPr id="7" name="Text 5"/>
          <p:cNvSpPr txBox="1"/>
          <p:nvPr/>
        </p:nvSpPr>
        <p:spPr>
          <a:xfrm>
            <a:off x="1691640" y="1947672"/>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Axborot oqimi modellari</a:t>
            </a:r>
            <a:endParaRPr lang="en-US" sz="2000" dirty="0"/>
          </a:p>
        </p:txBody>
      </p:sp>
      <p:sp>
        <p:nvSpPr>
          <p:cNvPr id="8" name="Text 6"/>
          <p:cNvSpPr txBox="1"/>
          <p:nvPr/>
        </p:nvSpPr>
        <p:spPr>
          <a:xfrm>
            <a:off x="1691640" y="2423160"/>
            <a:ext cx="5669280" cy="38404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Aniq va bilvosita oqim, Denning panjarasi, aralashmaslik</a:t>
            </a:r>
            <a:endParaRPr lang="en-US" sz="1600" dirty="0"/>
          </a:p>
        </p:txBody>
      </p:sp>
      <p:sp>
        <p:nvSpPr>
          <p:cNvPr id="9" name="Text 7"/>
          <p:cNvSpPr txBox="1"/>
          <p:nvPr/>
        </p:nvSpPr>
        <p:spPr>
          <a:xfrm>
            <a:off x="7223760" y="1874520"/>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~25 daq.</a:t>
            </a:r>
            <a:endParaRPr lang="en-US" sz="1600" dirty="0"/>
          </a:p>
        </p:txBody>
      </p:sp>
      <p:sp>
        <p:nvSpPr>
          <p:cNvPr id="10" name="Shape 8"/>
          <p:cNvSpPr/>
          <p:nvPr/>
        </p:nvSpPr>
        <p:spPr>
          <a:xfrm>
            <a:off x="548640" y="3182112"/>
            <a:ext cx="7863840" cy="1234440"/>
          </a:xfrm>
          <a:prstGeom prst="roundRect">
            <a:avLst>
              <a:gd name="adj" fmla="val 6667"/>
            </a:avLst>
          </a:prstGeom>
          <a:solidFill>
            <a:srgbClr val="EEF2FB"/>
          </a:solidFill>
          <a:ln/>
        </p:spPr>
      </p:sp>
      <p:sp>
        <p:nvSpPr>
          <p:cNvPr id="11" name="Shape 9"/>
          <p:cNvSpPr/>
          <p:nvPr/>
        </p:nvSpPr>
        <p:spPr>
          <a:xfrm>
            <a:off x="548640" y="3182112"/>
            <a:ext cx="914400" cy="1234440"/>
          </a:xfrm>
          <a:prstGeom prst="roundRect">
            <a:avLst>
              <a:gd name="adj" fmla="val 9000"/>
            </a:avLst>
          </a:prstGeom>
          <a:solidFill>
            <a:srgbClr val="1E2761"/>
          </a:solidFill>
          <a:ln/>
        </p:spPr>
      </p:sp>
      <p:sp>
        <p:nvSpPr>
          <p:cNvPr id="12" name="Text 10"/>
          <p:cNvSpPr txBox="1"/>
          <p:nvPr/>
        </p:nvSpPr>
        <p:spPr>
          <a:xfrm>
            <a:off x="548640" y="3182112"/>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a:t>
            </a:r>
            <a:endParaRPr lang="en-US" sz="3200" dirty="0"/>
          </a:p>
        </p:txBody>
      </p:sp>
      <p:sp>
        <p:nvSpPr>
          <p:cNvPr id="13" name="Text 11"/>
          <p:cNvSpPr txBox="1"/>
          <p:nvPr/>
        </p:nvSpPr>
        <p:spPr>
          <a:xfrm>
            <a:off x="1691640" y="3346704"/>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Yashirin va yon kanallar</a:t>
            </a:r>
            <a:endParaRPr lang="en-US" sz="2000" dirty="0"/>
          </a:p>
        </p:txBody>
      </p:sp>
      <p:sp>
        <p:nvSpPr>
          <p:cNvPr id="14" name="Text 12"/>
          <p:cNvSpPr txBox="1"/>
          <p:nvPr/>
        </p:nvSpPr>
        <p:spPr>
          <a:xfrm>
            <a:off x="1691640" y="3822192"/>
            <a:ext cx="5669280" cy="38404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Xotira va vaqt kanallari, o'tkazuvchanlik, tahdid</a:t>
            </a:r>
            <a:endParaRPr lang="en-US" sz="1600" dirty="0"/>
          </a:p>
        </p:txBody>
      </p:sp>
      <p:sp>
        <p:nvSpPr>
          <p:cNvPr id="15" name="Text 13"/>
          <p:cNvSpPr txBox="1"/>
          <p:nvPr/>
        </p:nvSpPr>
        <p:spPr>
          <a:xfrm>
            <a:off x="7223760" y="3273552"/>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~30 daq.</a:t>
            </a:r>
            <a:endParaRPr lang="en-US" sz="1600" dirty="0"/>
          </a:p>
        </p:txBody>
      </p:sp>
      <p:sp>
        <p:nvSpPr>
          <p:cNvPr id="16" name="Shape 14"/>
          <p:cNvSpPr/>
          <p:nvPr/>
        </p:nvSpPr>
        <p:spPr>
          <a:xfrm>
            <a:off x="548640" y="4581144"/>
            <a:ext cx="7863840" cy="1234440"/>
          </a:xfrm>
          <a:prstGeom prst="roundRect">
            <a:avLst>
              <a:gd name="adj" fmla="val 6667"/>
            </a:avLst>
          </a:prstGeom>
          <a:solidFill>
            <a:srgbClr val="EEF2FB"/>
          </a:solidFill>
          <a:ln/>
        </p:spPr>
      </p:sp>
      <p:sp>
        <p:nvSpPr>
          <p:cNvPr id="17" name="Shape 15"/>
          <p:cNvSpPr/>
          <p:nvPr/>
        </p:nvSpPr>
        <p:spPr>
          <a:xfrm>
            <a:off x="548640" y="4581144"/>
            <a:ext cx="914400" cy="1234440"/>
          </a:xfrm>
          <a:prstGeom prst="roundRect">
            <a:avLst>
              <a:gd name="adj" fmla="val 9000"/>
            </a:avLst>
          </a:prstGeom>
          <a:solidFill>
            <a:srgbClr val="1E2761"/>
          </a:solidFill>
          <a:ln/>
        </p:spPr>
      </p:sp>
      <p:sp>
        <p:nvSpPr>
          <p:cNvPr id="18" name="Text 16"/>
          <p:cNvSpPr txBox="1"/>
          <p:nvPr/>
        </p:nvSpPr>
        <p:spPr>
          <a:xfrm>
            <a:off x="548640" y="4581144"/>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III</a:t>
            </a:r>
            <a:endParaRPr lang="en-US" sz="3200" dirty="0"/>
          </a:p>
        </p:txBody>
      </p:sp>
      <p:sp>
        <p:nvSpPr>
          <p:cNvPr id="19" name="Text 17"/>
          <p:cNvSpPr txBox="1"/>
          <p:nvPr/>
        </p:nvSpPr>
        <p:spPr>
          <a:xfrm>
            <a:off x="1691640" y="4745736"/>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Windows'da oqimni nazorat qilish</a:t>
            </a:r>
            <a:endParaRPr lang="en-US" sz="2000" dirty="0"/>
          </a:p>
        </p:txBody>
      </p:sp>
      <p:sp>
        <p:nvSpPr>
          <p:cNvPr id="20" name="Text 18"/>
          <p:cNvSpPr txBox="1"/>
          <p:nvPr/>
        </p:nvSpPr>
        <p:spPr>
          <a:xfrm>
            <a:off x="1691640" y="5221224"/>
            <a:ext cx="5669280" cy="38404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Purview DLP, USB nazorati, audit, oqim diagrammasi</a:t>
            </a:r>
            <a:endParaRPr lang="en-US" sz="1600" dirty="0"/>
          </a:p>
        </p:txBody>
      </p:sp>
      <p:sp>
        <p:nvSpPr>
          <p:cNvPr id="21" name="Text 19"/>
          <p:cNvSpPr txBox="1"/>
          <p:nvPr/>
        </p:nvSpPr>
        <p:spPr>
          <a:xfrm>
            <a:off x="7223760" y="4672584"/>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~25 daq.</a:t>
            </a:r>
            <a:endParaRPr lang="en-US" sz="1600" dirty="0"/>
          </a:p>
        </p:txBody>
      </p:sp>
      <p:sp>
        <p:nvSpPr>
          <p:cNvPr id="22" name="Shape 20"/>
          <p:cNvSpPr/>
          <p:nvPr/>
        </p:nvSpPr>
        <p:spPr>
          <a:xfrm>
            <a:off x="8686800" y="1783080"/>
            <a:ext cx="2926080" cy="4032504"/>
          </a:xfrm>
          <a:prstGeom prst="roundRect">
            <a:avLst>
              <a:gd name="adj" fmla="val 2813"/>
            </a:avLst>
          </a:prstGeom>
          <a:solidFill>
            <a:srgbClr val="FDF3E2"/>
          </a:solidFill>
          <a:ln/>
        </p:spPr>
      </p:sp>
      <p:sp>
        <p:nvSpPr>
          <p:cNvPr id="23" name="Shape 21"/>
          <p:cNvSpPr/>
          <p:nvPr/>
        </p:nvSpPr>
        <p:spPr>
          <a:xfrm>
            <a:off x="8961120" y="2011680"/>
            <a:ext cx="566928" cy="566928"/>
          </a:xfrm>
          <a:prstGeom prst="ellipse">
            <a:avLst/>
          </a:prstGeom>
          <a:solidFill>
            <a:srgbClr val="D9932B"/>
          </a:solidFill>
          <a:ln/>
        </p:spPr>
      </p:sp>
      <p:pic>
        <p:nvPicPr>
          <p:cNvPr id="24" name="Image 0" descr="/home/claude/fob-slides/icons_out/bulb_white.png"/>
          <p:cNvPicPr>
            <a:picLocks noChangeAspect="1"/>
          </p:cNvPicPr>
          <p:nvPr/>
        </p:nvPicPr>
        <p:blipFill>
          <a:blip r:embed="rId1"/>
          <a:stretch>
            <a:fillRect/>
          </a:stretch>
        </p:blipFill>
        <p:spPr>
          <a:xfrm>
            <a:off x="9088679" y="2139239"/>
            <a:ext cx="311810" cy="311810"/>
          </a:xfrm>
          <a:prstGeom prst="rect">
            <a:avLst/>
          </a:prstGeom>
        </p:spPr>
      </p:pic>
      <p:sp>
        <p:nvSpPr>
          <p:cNvPr id="25" name="Text 22"/>
          <p:cNvSpPr txBox="1"/>
          <p:nvPr/>
        </p:nvSpPr>
        <p:spPr>
          <a:xfrm>
            <a:off x="8961120" y="2697480"/>
            <a:ext cx="2468880" cy="411480"/>
          </a:xfrm>
          <a:prstGeom prst="rect">
            <a:avLst/>
          </a:prstGeom>
          <a:noFill/>
          <a:ln/>
        </p:spPr>
        <p:txBody>
          <a:bodyPr wrap="square" lIns="0" tIns="0" rIns="0" bIns="0" rtlCol="0" anchor="t"/>
          <a:lstStyle/>
          <a:p>
            <a:pPr algn="l" indent="0" marL="0">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Interaktiv nuqtalar</a:t>
            </a:r>
            <a:endParaRPr lang="en-US" sz="1800" dirty="0"/>
          </a:p>
        </p:txBody>
      </p:sp>
      <p:sp>
        <p:nvSpPr>
          <p:cNvPr id="26" name="Text 23"/>
          <p:cNvSpPr txBox="1"/>
          <p:nvPr/>
        </p:nvSpPr>
        <p:spPr>
          <a:xfrm>
            <a:off x="9006840" y="3154680"/>
            <a:ext cx="2514600" cy="25603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Muhokama: «ha/yo'q» API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oqimni toping</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kanal tezligi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Jonli namoyish: audit</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Tezkor test</a:t>
            </a:r>
            <a:endParaRPr lang="en-US" sz="1600" dirty="0"/>
          </a:p>
        </p:txBody>
      </p:sp>
      <p:sp>
        <p:nvSpPr>
          <p:cNvPr id="27"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8"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MUHOKAMA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Faqat «ha» yoki «yo'q» deydigan API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users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1051560"/>
          </a:xfrm>
          <a:prstGeom prst="roundRect">
            <a:avLst>
              <a:gd name="adj" fmla="val 7826"/>
            </a:avLst>
          </a:prstGeom>
          <a:solidFill>
            <a:srgbClr val="FFFFFF"/>
          </a:solidFill>
          <a:ln/>
        </p:spPr>
      </p:sp>
      <p:sp>
        <p:nvSpPr>
          <p:cNvPr id="7" name="Text 4"/>
          <p:cNvSpPr txBox="1"/>
          <p:nvPr/>
        </p:nvSpPr>
        <p:spPr>
          <a:xfrm>
            <a:off x="868680" y="1783080"/>
            <a:ext cx="10424160" cy="1051560"/>
          </a:xfrm>
          <a:prstGeom prst="rect">
            <a:avLst/>
          </a:prstGeom>
          <a:noFill/>
          <a:ln/>
        </p:spPr>
        <p:txBody>
          <a:bodyPr wrap="square" lIns="0" tIns="0" rIns="0" bIns="0" rtlCol="0" anchor="ctr"/>
          <a:lstStyle/>
          <a:p>
            <a:pPr algn="l" indent="0" marL="0">
              <a:lnSpc>
                <a:spcPct val="105000"/>
              </a:lnSpc>
              <a:buNone/>
            </a:pPr>
            <a:r>
              <a:rPr lang="en-US" sz="1800" dirty="0">
                <a:solidFill>
                  <a:srgbClr val="1B1B2A"/>
                </a:solidFill>
                <a:latin typeface="Times New Roman" pitchFamily="34" charset="0"/>
                <a:ea typeface="Times New Roman" pitchFamily="34" charset="-122"/>
                <a:cs typeface="Times New Roman" pitchFamily="34" charset="-120"/>
              </a:rPr>
              <a:t>Talabaga HEMIS da bitta so'rov ochiq: «Talaba X ning bahosi N dan yuqorimi?» Javob — faqat «ha» yoki «yo'q». Bahoning o'zi ko'rsatilmaydi.</a:t>
            </a:r>
            <a:endParaRPr lang="en-US" sz="1800" dirty="0"/>
          </a:p>
        </p:txBody>
      </p:sp>
      <p:sp>
        <p:nvSpPr>
          <p:cNvPr id="8" name="Shape 5"/>
          <p:cNvSpPr/>
          <p:nvPr/>
        </p:nvSpPr>
        <p:spPr>
          <a:xfrm>
            <a:off x="548640" y="3063240"/>
            <a:ext cx="11064240" cy="868680"/>
          </a:xfrm>
          <a:prstGeom prst="roundRect">
            <a:avLst>
              <a:gd name="adj" fmla="val 9474"/>
            </a:avLst>
          </a:prstGeom>
          <a:solidFill>
            <a:srgbClr val="FFFFFF"/>
          </a:solidFill>
          <a:ln/>
        </p:spPr>
      </p:sp>
      <p:sp>
        <p:nvSpPr>
          <p:cNvPr id="9" name="Shape 6"/>
          <p:cNvSpPr/>
          <p:nvPr/>
        </p:nvSpPr>
        <p:spPr>
          <a:xfrm>
            <a:off x="822960" y="3209544"/>
            <a:ext cx="576072" cy="576072"/>
          </a:xfrm>
          <a:prstGeom prst="ellipse">
            <a:avLst/>
          </a:prstGeom>
          <a:solidFill>
            <a:srgbClr val="D9932B"/>
          </a:solidFill>
          <a:ln/>
        </p:spPr>
      </p:sp>
      <p:pic>
        <p:nvPicPr>
          <p:cNvPr id="10" name="Image 1" descr="/home/claude/fob-slides/icons_out/question_white.png"/>
          <p:cNvPicPr>
            <a:picLocks noChangeAspect="1"/>
          </p:cNvPicPr>
          <p:nvPr/>
        </p:nvPicPr>
        <p:blipFill>
          <a:blip r:embed="rId2"/>
          <a:stretch>
            <a:fillRect/>
          </a:stretch>
        </p:blipFill>
        <p:spPr>
          <a:xfrm>
            <a:off x="981380" y="3367964"/>
            <a:ext cx="259232" cy="259232"/>
          </a:xfrm>
          <a:prstGeom prst="rect">
            <a:avLst/>
          </a:prstGeom>
        </p:spPr>
      </p:pic>
      <p:sp>
        <p:nvSpPr>
          <p:cNvPr id="11" name="Text 7"/>
          <p:cNvSpPr txBox="1"/>
          <p:nvPr/>
        </p:nvSpPr>
        <p:spPr>
          <a:xfrm>
            <a:off x="1600200" y="306324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Talaba boshqa talabaning aniq bahosini necha so'rovda bilib oladi?</a:t>
            </a:r>
            <a:endParaRPr lang="en-US" sz="1700" dirty="0"/>
          </a:p>
        </p:txBody>
      </p:sp>
      <p:sp>
        <p:nvSpPr>
          <p:cNvPr id="12" name="Text 8"/>
          <p:cNvSpPr txBox="1"/>
          <p:nvPr/>
        </p:nvSpPr>
        <p:spPr>
          <a:xfrm>
            <a:off x="11018520" y="306324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1</a:t>
            </a:r>
            <a:endParaRPr lang="en-US" sz="1800" dirty="0"/>
          </a:p>
        </p:txBody>
      </p:sp>
      <p:sp>
        <p:nvSpPr>
          <p:cNvPr id="13" name="Shape 9"/>
          <p:cNvSpPr/>
          <p:nvPr/>
        </p:nvSpPr>
        <p:spPr>
          <a:xfrm>
            <a:off x="548640" y="4069080"/>
            <a:ext cx="11064240" cy="868680"/>
          </a:xfrm>
          <a:prstGeom prst="roundRect">
            <a:avLst>
              <a:gd name="adj" fmla="val 9474"/>
            </a:avLst>
          </a:prstGeom>
          <a:solidFill>
            <a:srgbClr val="FFFFFF"/>
          </a:solidFill>
          <a:ln/>
        </p:spPr>
      </p:sp>
      <p:sp>
        <p:nvSpPr>
          <p:cNvPr id="14" name="Shape 10"/>
          <p:cNvSpPr/>
          <p:nvPr/>
        </p:nvSpPr>
        <p:spPr>
          <a:xfrm>
            <a:off x="822960" y="4215384"/>
            <a:ext cx="576072" cy="576072"/>
          </a:xfrm>
          <a:prstGeom prst="ellipse">
            <a:avLst/>
          </a:prstGeom>
          <a:solidFill>
            <a:srgbClr val="D9932B"/>
          </a:solidFill>
          <a:ln/>
        </p:spPr>
      </p:sp>
      <p:pic>
        <p:nvPicPr>
          <p:cNvPr id="15" name="Image 2" descr="/home/claude/fob-slides/icons_out/question_white.png"/>
          <p:cNvPicPr>
            <a:picLocks noChangeAspect="1"/>
          </p:cNvPicPr>
          <p:nvPr/>
        </p:nvPicPr>
        <p:blipFill>
          <a:blip r:embed="rId3"/>
          <a:stretch>
            <a:fillRect/>
          </a:stretch>
        </p:blipFill>
        <p:spPr>
          <a:xfrm>
            <a:off x="981380" y="4373804"/>
            <a:ext cx="259232" cy="259232"/>
          </a:xfrm>
          <a:prstGeom prst="rect">
            <a:avLst/>
          </a:prstGeom>
        </p:spPr>
      </p:pic>
      <p:sp>
        <p:nvSpPr>
          <p:cNvPr id="16" name="Text 11"/>
          <p:cNvSpPr txBox="1"/>
          <p:nvPr/>
        </p:nvSpPr>
        <p:spPr>
          <a:xfrm>
            <a:off x="1600200" y="406908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Bu foydalanish nazoratini buzadimi? Har bir so'rovga ruxsat bor edi-ku?</a:t>
            </a:r>
            <a:endParaRPr lang="en-US" sz="1700" dirty="0"/>
          </a:p>
        </p:txBody>
      </p:sp>
      <p:sp>
        <p:nvSpPr>
          <p:cNvPr id="17" name="Text 12"/>
          <p:cNvSpPr txBox="1"/>
          <p:nvPr/>
        </p:nvSpPr>
        <p:spPr>
          <a:xfrm>
            <a:off x="11018520" y="406908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2</a:t>
            </a:r>
            <a:endParaRPr lang="en-US" sz="1800" dirty="0"/>
          </a:p>
        </p:txBody>
      </p:sp>
      <p:sp>
        <p:nvSpPr>
          <p:cNvPr id="18" name="Shape 13"/>
          <p:cNvSpPr/>
          <p:nvPr/>
        </p:nvSpPr>
        <p:spPr>
          <a:xfrm>
            <a:off x="548640" y="5074920"/>
            <a:ext cx="11064240" cy="868680"/>
          </a:xfrm>
          <a:prstGeom prst="roundRect">
            <a:avLst>
              <a:gd name="adj" fmla="val 9474"/>
            </a:avLst>
          </a:prstGeom>
          <a:solidFill>
            <a:srgbClr val="FFFFFF"/>
          </a:solidFill>
          <a:ln/>
        </p:spPr>
      </p:sp>
      <p:sp>
        <p:nvSpPr>
          <p:cNvPr id="19" name="Shape 14"/>
          <p:cNvSpPr/>
          <p:nvPr/>
        </p:nvSpPr>
        <p:spPr>
          <a:xfrm>
            <a:off x="822960" y="5221224"/>
            <a:ext cx="576072" cy="576072"/>
          </a:xfrm>
          <a:prstGeom prst="ellipse">
            <a:avLst/>
          </a:prstGeom>
          <a:solidFill>
            <a:srgbClr val="D9932B"/>
          </a:solidFill>
          <a:ln/>
        </p:spPr>
      </p:sp>
      <p:pic>
        <p:nvPicPr>
          <p:cNvPr id="20" name="Image 3" descr="/home/claude/fob-slides/icons_out/question_white.png"/>
          <p:cNvPicPr>
            <a:picLocks noChangeAspect="1"/>
          </p:cNvPicPr>
          <p:nvPr/>
        </p:nvPicPr>
        <p:blipFill>
          <a:blip r:embed="rId4"/>
          <a:stretch>
            <a:fillRect/>
          </a:stretch>
        </p:blipFill>
        <p:spPr>
          <a:xfrm>
            <a:off x="981380" y="5379644"/>
            <a:ext cx="259232" cy="259232"/>
          </a:xfrm>
          <a:prstGeom prst="rect">
            <a:avLst/>
          </a:prstGeom>
        </p:spPr>
      </p:pic>
      <p:sp>
        <p:nvSpPr>
          <p:cNvPr id="21" name="Text 15"/>
          <p:cNvSpPr txBox="1"/>
          <p:nvPr/>
        </p:nvSpPr>
        <p:spPr>
          <a:xfrm>
            <a:off x="1600200" y="507492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Qanday cheklov bu sizishni sekinlashtiradi?</a:t>
            </a:r>
            <a:endParaRPr lang="en-US" sz="1700" dirty="0"/>
          </a:p>
        </p:txBody>
      </p:sp>
      <p:sp>
        <p:nvSpPr>
          <p:cNvPr id="22" name="Text 16"/>
          <p:cNvSpPr txBox="1"/>
          <p:nvPr/>
        </p:nvSpPr>
        <p:spPr>
          <a:xfrm>
            <a:off x="11018520" y="507492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3</a:t>
            </a:r>
            <a:endParaRPr lang="en-US" sz="1800" dirty="0"/>
          </a:p>
        </p:txBody>
      </p:sp>
      <p:sp>
        <p:nvSpPr>
          <p:cNvPr id="23" name="Text 1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4" name="Text 1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AXBOROT OQIMI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x dan y ga oqim: y ni bilib, x haqida nimadir bilish</a:t>
            </a:r>
            <a:endParaRPr lang="en-US" sz="3600" dirty="0"/>
          </a:p>
        </p:txBody>
      </p:sp>
      <p:sp>
        <p:nvSpPr>
          <p:cNvPr id="4" name="Text 2"/>
          <p:cNvSpPr txBox="1"/>
          <p:nvPr/>
        </p:nvSpPr>
        <p:spPr>
          <a:xfrm>
            <a:off x="548640" y="1737360"/>
            <a:ext cx="1106424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Agar y ning qiymatini kuzatib, x haqida ma'lumot olish mumkin bo'lsa, x → y axborot oqimi bor. Foydalanish nazorati (M10, M11) murojaatlarni tekshiradi; oqim nazorati esa ma'lumotning qayerga yetib borishini.</a:t>
            </a:r>
            <a:endParaRPr lang="en-US" sz="1600" dirty="0"/>
          </a:p>
        </p:txBody>
      </p:sp>
      <p:sp>
        <p:nvSpPr>
          <p:cNvPr id="5" name="Shape 3"/>
          <p:cNvSpPr/>
          <p:nvPr/>
        </p:nvSpPr>
        <p:spPr>
          <a:xfrm>
            <a:off x="548640" y="2788920"/>
            <a:ext cx="5486400" cy="731520"/>
          </a:xfrm>
          <a:prstGeom prst="roundRect">
            <a:avLst>
              <a:gd name="adj" fmla="val 11250"/>
            </a:avLst>
          </a:prstGeom>
          <a:solidFill>
            <a:srgbClr val="1E2761"/>
          </a:solidFill>
          <a:ln/>
        </p:spPr>
      </p:sp>
      <p:sp>
        <p:nvSpPr>
          <p:cNvPr id="6" name="Text 4"/>
          <p:cNvSpPr txBox="1"/>
          <p:nvPr/>
        </p:nvSpPr>
        <p:spPr>
          <a:xfrm>
            <a:off x="777240" y="2788920"/>
            <a:ext cx="3200400" cy="731520"/>
          </a:xfrm>
          <a:prstGeom prst="rect">
            <a:avLst/>
          </a:prstGeom>
          <a:noFill/>
          <a:ln/>
        </p:spPr>
        <p:txBody>
          <a:bodyPr wrap="square" lIns="0" tIns="0" rIns="0" bIns="0" rtlCol="0" anchor="ctr"/>
          <a:lstStyle/>
          <a:p>
            <a:pPr algn="l"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Aniq oqim</a:t>
            </a:r>
            <a:endParaRPr lang="en-US" sz="2200" dirty="0"/>
          </a:p>
        </p:txBody>
      </p:sp>
      <p:sp>
        <p:nvSpPr>
          <p:cNvPr id="7" name="Text 5"/>
          <p:cNvSpPr txBox="1"/>
          <p:nvPr/>
        </p:nvSpPr>
        <p:spPr>
          <a:xfrm>
            <a:off x="3749040" y="2788920"/>
            <a:ext cx="2103120" cy="731520"/>
          </a:xfrm>
          <a:prstGeom prst="rect">
            <a:avLst/>
          </a:prstGeom>
          <a:noFill/>
          <a:ln/>
        </p:spPr>
        <p:txBody>
          <a:bodyPr wrap="square" lIns="0" tIns="0" rIns="0" bIns="0" rtlCol="0" anchor="ctr"/>
          <a:lstStyle/>
          <a:p>
            <a:pPr algn="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explicit flow</a:t>
            </a:r>
            <a:endParaRPr lang="en-US" sz="1400" dirty="0"/>
          </a:p>
        </p:txBody>
      </p:sp>
      <p:sp>
        <p:nvSpPr>
          <p:cNvPr id="8" name="Shape 6"/>
          <p:cNvSpPr/>
          <p:nvPr/>
        </p:nvSpPr>
        <p:spPr>
          <a:xfrm>
            <a:off x="548640" y="3611880"/>
            <a:ext cx="5486400" cy="1508760"/>
          </a:xfrm>
          <a:prstGeom prst="roundRect">
            <a:avLst>
              <a:gd name="adj" fmla="val 5455"/>
            </a:avLst>
          </a:prstGeom>
          <a:solidFill>
            <a:srgbClr val="162048"/>
          </a:solidFill>
          <a:ln/>
        </p:spPr>
      </p:sp>
      <p:sp>
        <p:nvSpPr>
          <p:cNvPr id="9" name="Text 7"/>
          <p:cNvSpPr txBox="1"/>
          <p:nvPr/>
        </p:nvSpPr>
        <p:spPr>
          <a:xfrm>
            <a:off x="777240" y="3794760"/>
            <a:ext cx="5029200" cy="1143000"/>
          </a:xfrm>
          <a:prstGeom prst="rect">
            <a:avLst/>
          </a:prstGeom>
          <a:noFill/>
          <a:ln/>
        </p:spPr>
        <p:txBody>
          <a:bodyPr wrap="square" lIns="0" tIns="0" rIns="0" bIns="0" rtlCol="0" anchor="t"/>
          <a:lstStyle/>
          <a:p>
            <a:pPr indent="0" marL="0">
              <a:lnSpc>
                <a:spcPct val="105000"/>
              </a:lnSpc>
              <a:buNone/>
            </a:pPr>
            <a:r>
              <a:rPr lang="en-US" sz="1500" b="1" dirty="0">
                <a:solidFill>
                  <a:srgbClr val="F2B544"/>
                </a:solidFill>
                <a:latin typeface="Courier New" pitchFamily="34" charset="0"/>
                <a:ea typeface="Courier New" pitchFamily="34" charset="-122"/>
                <a:cs typeface="Courier New" pitchFamily="34" charset="-120"/>
              </a:rPr>
              <a:t>y := x</a:t>
            </a:r>
            <a:endParaRPr lang="en-US" sz="1500" dirty="0"/>
          </a:p>
          <a:p>
            <a:pPr indent="0" marL="0">
              <a:lnSpc>
                <a:spcPct val="105000"/>
              </a:lnSpc>
              <a:buNone/>
            </a:pPr>
            <a:r>
              <a:rPr lang="en-US" sz="1500" b="1" dirty="0">
                <a:solidFill>
                  <a:srgbClr val="F2B544"/>
                </a:solidFill>
                <a:latin typeface="Courier New" pitchFamily="34" charset="0"/>
                <a:ea typeface="Courier New" pitchFamily="34" charset="-122"/>
                <a:cs typeface="Courier New" pitchFamily="34" charset="-120"/>
              </a:rPr>
              <a:t>natija := baho + 5</a:t>
            </a:r>
            <a:endParaRPr lang="en-US" sz="1500" dirty="0"/>
          </a:p>
        </p:txBody>
      </p:sp>
      <p:sp>
        <p:nvSpPr>
          <p:cNvPr id="10" name="Text 8"/>
          <p:cNvSpPr txBox="1"/>
          <p:nvPr/>
        </p:nvSpPr>
        <p:spPr>
          <a:xfrm>
            <a:off x="548640" y="5212080"/>
            <a:ext cx="5486400" cy="411480"/>
          </a:xfrm>
          <a:prstGeom prst="rect">
            <a:avLst/>
          </a:prstGeom>
          <a:noFill/>
          <a:ln/>
        </p:spPr>
        <p:txBody>
          <a:bodyPr wrap="square" lIns="0" tIns="0" rIns="0" bIns="0" rtlCol="0" anchor="t"/>
          <a:lstStyle/>
          <a:p>
            <a:pPr algn="ctr"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Qiymat to'g'ridan-to'g'ri ko'chiriladi</a:t>
            </a:r>
            <a:endParaRPr lang="en-US" sz="1600" dirty="0"/>
          </a:p>
        </p:txBody>
      </p:sp>
      <p:sp>
        <p:nvSpPr>
          <p:cNvPr id="11" name="Shape 9"/>
          <p:cNvSpPr/>
          <p:nvPr/>
        </p:nvSpPr>
        <p:spPr>
          <a:xfrm>
            <a:off x="6126480" y="2788920"/>
            <a:ext cx="5486400" cy="731520"/>
          </a:xfrm>
          <a:prstGeom prst="roundRect">
            <a:avLst>
              <a:gd name="adj" fmla="val 11250"/>
            </a:avLst>
          </a:prstGeom>
          <a:solidFill>
            <a:srgbClr val="9E3B2E"/>
          </a:solidFill>
          <a:ln/>
        </p:spPr>
      </p:sp>
      <p:sp>
        <p:nvSpPr>
          <p:cNvPr id="12" name="Text 10"/>
          <p:cNvSpPr txBox="1"/>
          <p:nvPr/>
        </p:nvSpPr>
        <p:spPr>
          <a:xfrm>
            <a:off x="6355080" y="2788920"/>
            <a:ext cx="3200400" cy="731520"/>
          </a:xfrm>
          <a:prstGeom prst="rect">
            <a:avLst/>
          </a:prstGeom>
          <a:noFill/>
          <a:ln/>
        </p:spPr>
        <p:txBody>
          <a:bodyPr wrap="square" lIns="0" tIns="0" rIns="0" bIns="0" rtlCol="0" anchor="ctr"/>
          <a:lstStyle/>
          <a:p>
            <a:pPr algn="l"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Bilvosita oqim</a:t>
            </a:r>
            <a:endParaRPr lang="en-US" sz="2200" dirty="0"/>
          </a:p>
        </p:txBody>
      </p:sp>
      <p:sp>
        <p:nvSpPr>
          <p:cNvPr id="13" name="Text 11"/>
          <p:cNvSpPr txBox="1"/>
          <p:nvPr/>
        </p:nvSpPr>
        <p:spPr>
          <a:xfrm>
            <a:off x="9326880" y="2788920"/>
            <a:ext cx="2103120" cy="731520"/>
          </a:xfrm>
          <a:prstGeom prst="rect">
            <a:avLst/>
          </a:prstGeom>
          <a:noFill/>
          <a:ln/>
        </p:spPr>
        <p:txBody>
          <a:bodyPr wrap="square" lIns="0" tIns="0" rIns="0" bIns="0" rtlCol="0" anchor="ctr"/>
          <a:lstStyle/>
          <a:p>
            <a:pPr algn="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implicit flow</a:t>
            </a:r>
            <a:endParaRPr lang="en-US" sz="1400" dirty="0"/>
          </a:p>
        </p:txBody>
      </p:sp>
      <p:sp>
        <p:nvSpPr>
          <p:cNvPr id="14" name="Shape 12"/>
          <p:cNvSpPr/>
          <p:nvPr/>
        </p:nvSpPr>
        <p:spPr>
          <a:xfrm>
            <a:off x="6126480" y="3611880"/>
            <a:ext cx="5486400" cy="1508760"/>
          </a:xfrm>
          <a:prstGeom prst="roundRect">
            <a:avLst>
              <a:gd name="adj" fmla="val 5455"/>
            </a:avLst>
          </a:prstGeom>
          <a:solidFill>
            <a:srgbClr val="162048"/>
          </a:solidFill>
          <a:ln/>
        </p:spPr>
      </p:sp>
      <p:sp>
        <p:nvSpPr>
          <p:cNvPr id="15" name="Text 13"/>
          <p:cNvSpPr txBox="1"/>
          <p:nvPr/>
        </p:nvSpPr>
        <p:spPr>
          <a:xfrm>
            <a:off x="6355080" y="3794760"/>
            <a:ext cx="5029200" cy="1143000"/>
          </a:xfrm>
          <a:prstGeom prst="rect">
            <a:avLst/>
          </a:prstGeom>
          <a:noFill/>
          <a:ln/>
        </p:spPr>
        <p:txBody>
          <a:bodyPr wrap="square" lIns="0" tIns="0" rIns="0" bIns="0" rtlCol="0" anchor="t"/>
          <a:lstStyle/>
          <a:p>
            <a:pPr indent="0" marL="0">
              <a:lnSpc>
                <a:spcPct val="105000"/>
              </a:lnSpc>
              <a:buNone/>
            </a:pPr>
            <a:r>
              <a:rPr lang="en-US" sz="1500" b="1" dirty="0">
                <a:solidFill>
                  <a:srgbClr val="F2B544"/>
                </a:solidFill>
                <a:latin typeface="Courier New" pitchFamily="34" charset="0"/>
                <a:ea typeface="Courier New" pitchFamily="34" charset="-122"/>
                <a:cs typeface="Courier New" pitchFamily="34" charset="-120"/>
              </a:rPr>
              <a:t>if baho &gt; 85:</a:t>
            </a:r>
            <a:endParaRPr lang="en-US" sz="1500" dirty="0"/>
          </a:p>
          <a:p>
            <a:pPr indent="0" marL="0">
              <a:lnSpc>
                <a:spcPct val="105000"/>
              </a:lnSpc>
              <a:buNone/>
            </a:pPr>
            <a:r>
              <a:rPr lang="en-US" sz="1500" dirty="0">
                <a:solidFill>
                  <a:srgbClr val="FFFFFF"/>
                </a:solidFill>
                <a:latin typeface="Courier New" pitchFamily="34" charset="0"/>
                <a:ea typeface="Courier New" pitchFamily="34" charset="-122"/>
                <a:cs typeface="Courier New" pitchFamily="34" charset="-120"/>
              </a:rPr>
              <a:t>    natija := 1</a:t>
            </a:r>
            <a:endParaRPr lang="en-US" sz="1500" dirty="0"/>
          </a:p>
          <a:p>
            <a:pPr indent="0" marL="0">
              <a:lnSpc>
                <a:spcPct val="105000"/>
              </a:lnSpc>
              <a:buNone/>
            </a:pPr>
            <a:r>
              <a:rPr lang="en-US" sz="1500" b="1" dirty="0">
                <a:solidFill>
                  <a:srgbClr val="F2B544"/>
                </a:solidFill>
                <a:latin typeface="Courier New" pitchFamily="34" charset="0"/>
                <a:ea typeface="Courier New" pitchFamily="34" charset="-122"/>
                <a:cs typeface="Courier New" pitchFamily="34" charset="-120"/>
              </a:rPr>
              <a:t>else:</a:t>
            </a:r>
            <a:endParaRPr lang="en-US" sz="1500" dirty="0"/>
          </a:p>
          <a:p>
            <a:pPr indent="0" marL="0">
              <a:lnSpc>
                <a:spcPct val="105000"/>
              </a:lnSpc>
              <a:buNone/>
            </a:pPr>
            <a:r>
              <a:rPr lang="en-US" sz="1500" dirty="0">
                <a:solidFill>
                  <a:srgbClr val="FFFFFF"/>
                </a:solidFill>
                <a:latin typeface="Courier New" pitchFamily="34" charset="0"/>
                <a:ea typeface="Courier New" pitchFamily="34" charset="-122"/>
                <a:cs typeface="Courier New" pitchFamily="34" charset="-120"/>
              </a:rPr>
              <a:t>    natija := 0</a:t>
            </a:r>
            <a:endParaRPr lang="en-US" sz="1500" dirty="0"/>
          </a:p>
        </p:txBody>
      </p:sp>
      <p:sp>
        <p:nvSpPr>
          <p:cNvPr id="16" name="Text 14"/>
          <p:cNvSpPr txBox="1"/>
          <p:nvPr/>
        </p:nvSpPr>
        <p:spPr>
          <a:xfrm>
            <a:off x="6126480" y="5212080"/>
            <a:ext cx="5486400" cy="411480"/>
          </a:xfrm>
          <a:prstGeom prst="rect">
            <a:avLst/>
          </a:prstGeom>
          <a:noFill/>
          <a:ln/>
        </p:spPr>
        <p:txBody>
          <a:bodyPr wrap="square" lIns="0" tIns="0" rIns="0" bIns="0" rtlCol="0" anchor="t"/>
          <a:lstStyle/>
          <a:p>
            <a:pPr algn="ctr" indent="0" marL="0">
              <a:lnSpc>
                <a:spcPct val="100000"/>
              </a:lnSpc>
              <a:buNone/>
            </a:pPr>
            <a:r>
              <a:rPr lang="en-US" sz="1600" dirty="0">
                <a:solidFill>
                  <a:srgbClr val="9E3B2E"/>
                </a:solidFill>
                <a:latin typeface="Times New Roman" pitchFamily="34" charset="0"/>
                <a:ea typeface="Times New Roman" pitchFamily="34" charset="-122"/>
                <a:cs typeface="Times New Roman" pitchFamily="34" charset="-120"/>
              </a:rPr>
              <a:t>Hech narsa ko'chirilmagan, lekin natija bahoga bog'liq</a:t>
            </a:r>
            <a:endParaRPr lang="en-US" sz="1600" dirty="0"/>
          </a:p>
        </p:txBody>
      </p:sp>
      <p:sp>
        <p:nvSpPr>
          <p:cNvPr id="17" name="Shape 15"/>
          <p:cNvSpPr/>
          <p:nvPr/>
        </p:nvSpPr>
        <p:spPr>
          <a:xfrm>
            <a:off x="548640" y="5715000"/>
            <a:ext cx="11064240" cy="548640"/>
          </a:xfrm>
          <a:prstGeom prst="roundRect">
            <a:avLst>
              <a:gd name="adj" fmla="val 15000"/>
            </a:avLst>
          </a:prstGeom>
          <a:solidFill>
            <a:srgbClr val="FDF3E2"/>
          </a:solidFill>
          <a:ln/>
        </p:spPr>
      </p:sp>
      <p:sp>
        <p:nvSpPr>
          <p:cNvPr id="18" name="Text 16"/>
          <p:cNvSpPr txBox="1"/>
          <p:nvPr/>
        </p:nvSpPr>
        <p:spPr>
          <a:xfrm>
            <a:off x="777240" y="5715000"/>
            <a:ext cx="10607040" cy="548640"/>
          </a:xfrm>
          <a:prstGeom prst="rect">
            <a:avLst/>
          </a:prstGeom>
          <a:noFill/>
          <a:ln/>
        </p:spPr>
        <p:txBody>
          <a:bodyPr wrap="square" lIns="0" tIns="0" rIns="0" bIns="0" rtlCol="0" anchor="ctr"/>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Muhokamadagi API — bilvosita oqimning o'zi: har bir «ha/yo'q» baho haqida 1 bit beradi.</a:t>
            </a:r>
            <a:endParaRPr lang="en-US" sz="1600" dirty="0"/>
          </a:p>
        </p:txBody>
      </p:sp>
      <p:sp>
        <p:nvSpPr>
          <p:cNvPr id="19" name="Text 1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0" name="Text 1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DENNING MODELI (1976)</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Oqim siyosati — xavfsizlik sinflari panjarasi</a:t>
            </a:r>
            <a:endParaRPr lang="en-US" sz="3600" dirty="0"/>
          </a:p>
        </p:txBody>
      </p:sp>
      <p:sp>
        <p:nvSpPr>
          <p:cNvPr id="4" name="Text 2"/>
          <p:cNvSpPr txBox="1"/>
          <p:nvPr/>
        </p:nvSpPr>
        <p:spPr>
          <a:xfrm>
            <a:off x="548640" y="1737360"/>
            <a:ext cx="11064240" cy="457200"/>
          </a:xfrm>
          <a:prstGeom prst="rect">
            <a:avLst/>
          </a:prstGeom>
          <a:noFill/>
          <a:ln/>
        </p:spPr>
        <p:txBody>
          <a:bodyPr wrap="square" lIns="0" tIns="0" rIns="0" bIns="0" rtlCol="0" anchor="t"/>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Har bir o'zgaruvchi yoki obyektga sinf beriladi. x → y oqimga faqat sinf(x) ≤ sinf(y) bo'lsa ruxsat etiladi.</a:t>
            </a:r>
            <a:endParaRPr lang="en-US" sz="1700" dirty="0"/>
          </a:p>
        </p:txBody>
      </p:sp>
      <p:sp>
        <p:nvSpPr>
          <p:cNvPr id="5" name="Shape 3"/>
          <p:cNvSpPr/>
          <p:nvPr/>
        </p:nvSpPr>
        <p:spPr>
          <a:xfrm>
            <a:off x="548640" y="2331720"/>
            <a:ext cx="11064240" cy="685800"/>
          </a:xfrm>
          <a:prstGeom prst="roundRect">
            <a:avLst>
              <a:gd name="adj" fmla="val 12000"/>
            </a:avLst>
          </a:prstGeom>
          <a:solidFill>
            <a:srgbClr val="EEF2FB"/>
          </a:solidFill>
          <a:ln/>
        </p:spPr>
      </p:sp>
      <p:sp>
        <p:nvSpPr>
          <p:cNvPr id="6" name="Text 4"/>
          <p:cNvSpPr txBox="1"/>
          <p:nvPr/>
        </p:nvSpPr>
        <p:spPr>
          <a:xfrm>
            <a:off x="777240" y="2331720"/>
            <a:ext cx="146304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Ifoda</a:t>
            </a:r>
            <a:endParaRPr lang="en-US" sz="1600" dirty="0"/>
          </a:p>
        </p:txBody>
      </p:sp>
      <p:sp>
        <p:nvSpPr>
          <p:cNvPr id="7" name="Text 5"/>
          <p:cNvSpPr txBox="1"/>
          <p:nvPr/>
        </p:nvSpPr>
        <p:spPr>
          <a:xfrm>
            <a:off x="2240280" y="2331720"/>
            <a:ext cx="5577840" cy="685800"/>
          </a:xfrm>
          <a:prstGeom prst="rect">
            <a:avLst/>
          </a:prstGeom>
          <a:noFill/>
          <a:ln/>
        </p:spPr>
        <p:txBody>
          <a:bodyPr wrap="square" lIns="0" tIns="0" rIns="0" bIns="0" rtlCol="0" anchor="ctr"/>
          <a:lstStyle/>
          <a:p>
            <a:pPr algn="l" indent="0" marL="0">
              <a:lnSpc>
                <a:spcPct val="100000"/>
              </a:lnSpc>
              <a:buNone/>
            </a:pPr>
            <a:r>
              <a:rPr lang="en-US" sz="1500" dirty="0">
                <a:solidFill>
                  <a:srgbClr val="1E2761"/>
                </a:solidFill>
                <a:latin typeface="Courier New" pitchFamily="34" charset="0"/>
                <a:ea typeface="Courier New" pitchFamily="34" charset="-122"/>
                <a:cs typeface="Courier New" pitchFamily="34" charset="-120"/>
              </a:rPr>
              <a:t>sinf(a + b) = sinf(a) ⊕ sinf(b)</a:t>
            </a:r>
            <a:endParaRPr lang="en-US" sz="1500" dirty="0"/>
          </a:p>
        </p:txBody>
      </p:sp>
      <p:sp>
        <p:nvSpPr>
          <p:cNvPr id="8" name="Text 6"/>
          <p:cNvSpPr txBox="1"/>
          <p:nvPr/>
        </p:nvSpPr>
        <p:spPr>
          <a:xfrm>
            <a:off x="7863840" y="2331720"/>
            <a:ext cx="3657600" cy="6858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birlashma — eng kichik yuqori chegara</a:t>
            </a:r>
            <a:endParaRPr lang="en-US" sz="1400" dirty="0"/>
          </a:p>
        </p:txBody>
      </p:sp>
      <p:sp>
        <p:nvSpPr>
          <p:cNvPr id="9" name="Shape 7"/>
          <p:cNvSpPr/>
          <p:nvPr/>
        </p:nvSpPr>
        <p:spPr>
          <a:xfrm>
            <a:off x="548640" y="3108960"/>
            <a:ext cx="11064240" cy="685800"/>
          </a:xfrm>
          <a:prstGeom prst="roundRect">
            <a:avLst>
              <a:gd name="adj" fmla="val 12000"/>
            </a:avLst>
          </a:prstGeom>
          <a:solidFill>
            <a:srgbClr val="FFFFFF"/>
          </a:solidFill>
          <a:ln w="12700">
            <a:solidFill>
              <a:srgbClr val="CADCFC"/>
            </a:solidFill>
            <a:prstDash val="solid"/>
          </a:ln>
        </p:spPr>
      </p:sp>
      <p:sp>
        <p:nvSpPr>
          <p:cNvPr id="10" name="Text 8"/>
          <p:cNvSpPr txBox="1"/>
          <p:nvPr/>
        </p:nvSpPr>
        <p:spPr>
          <a:xfrm>
            <a:off x="777240" y="3108960"/>
            <a:ext cx="146304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Tayinlash</a:t>
            </a:r>
            <a:endParaRPr lang="en-US" sz="1600" dirty="0"/>
          </a:p>
        </p:txBody>
      </p:sp>
      <p:sp>
        <p:nvSpPr>
          <p:cNvPr id="11" name="Text 9"/>
          <p:cNvSpPr txBox="1"/>
          <p:nvPr/>
        </p:nvSpPr>
        <p:spPr>
          <a:xfrm>
            <a:off x="2240280" y="3108960"/>
            <a:ext cx="5577840" cy="685800"/>
          </a:xfrm>
          <a:prstGeom prst="rect">
            <a:avLst/>
          </a:prstGeom>
          <a:noFill/>
          <a:ln/>
        </p:spPr>
        <p:txBody>
          <a:bodyPr wrap="square" lIns="0" tIns="0" rIns="0" bIns="0" rtlCol="0" anchor="ctr"/>
          <a:lstStyle/>
          <a:p>
            <a:pPr algn="l" indent="0" marL="0">
              <a:lnSpc>
                <a:spcPct val="100000"/>
              </a:lnSpc>
              <a:buNone/>
            </a:pPr>
            <a:r>
              <a:rPr lang="en-US" sz="1500" dirty="0">
                <a:solidFill>
                  <a:srgbClr val="1E2761"/>
                </a:solidFill>
                <a:latin typeface="Courier New" pitchFamily="34" charset="0"/>
                <a:ea typeface="Courier New" pitchFamily="34" charset="-122"/>
                <a:cs typeface="Courier New" pitchFamily="34" charset="-120"/>
              </a:rPr>
              <a:t>y := ifoda  ⇒  sinf(ifoda) ≤ sinf(y)</a:t>
            </a:r>
            <a:endParaRPr lang="en-US" sz="1500" dirty="0"/>
          </a:p>
        </p:txBody>
      </p:sp>
      <p:sp>
        <p:nvSpPr>
          <p:cNvPr id="12" name="Text 10"/>
          <p:cNvSpPr txBox="1"/>
          <p:nvPr/>
        </p:nvSpPr>
        <p:spPr>
          <a:xfrm>
            <a:off x="7863840" y="3108960"/>
            <a:ext cx="3657600" cy="6858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aniq oqim tekshiruvi</a:t>
            </a:r>
            <a:endParaRPr lang="en-US" sz="1400" dirty="0"/>
          </a:p>
        </p:txBody>
      </p:sp>
      <p:sp>
        <p:nvSpPr>
          <p:cNvPr id="13" name="Shape 11"/>
          <p:cNvSpPr/>
          <p:nvPr/>
        </p:nvSpPr>
        <p:spPr>
          <a:xfrm>
            <a:off x="548640" y="3886200"/>
            <a:ext cx="11064240" cy="685800"/>
          </a:xfrm>
          <a:prstGeom prst="roundRect">
            <a:avLst>
              <a:gd name="adj" fmla="val 12000"/>
            </a:avLst>
          </a:prstGeom>
          <a:solidFill>
            <a:srgbClr val="EEF2FB"/>
          </a:solidFill>
          <a:ln/>
        </p:spPr>
      </p:sp>
      <p:sp>
        <p:nvSpPr>
          <p:cNvPr id="14" name="Text 12"/>
          <p:cNvSpPr txBox="1"/>
          <p:nvPr/>
        </p:nvSpPr>
        <p:spPr>
          <a:xfrm>
            <a:off x="777240" y="3886200"/>
            <a:ext cx="146304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Shart</a:t>
            </a:r>
            <a:endParaRPr lang="en-US" sz="1600" dirty="0"/>
          </a:p>
        </p:txBody>
      </p:sp>
      <p:sp>
        <p:nvSpPr>
          <p:cNvPr id="15" name="Text 13"/>
          <p:cNvSpPr txBox="1"/>
          <p:nvPr/>
        </p:nvSpPr>
        <p:spPr>
          <a:xfrm>
            <a:off x="2240280" y="3886200"/>
            <a:ext cx="5577840" cy="685800"/>
          </a:xfrm>
          <a:prstGeom prst="rect">
            <a:avLst/>
          </a:prstGeom>
          <a:noFill/>
          <a:ln/>
        </p:spPr>
        <p:txBody>
          <a:bodyPr wrap="square" lIns="0" tIns="0" rIns="0" bIns="0" rtlCol="0" anchor="ctr"/>
          <a:lstStyle/>
          <a:p>
            <a:pPr algn="l" indent="0" marL="0">
              <a:lnSpc>
                <a:spcPct val="100000"/>
              </a:lnSpc>
              <a:buNone/>
            </a:pPr>
            <a:r>
              <a:rPr lang="en-US" sz="1500" dirty="0">
                <a:solidFill>
                  <a:srgbClr val="1E2761"/>
                </a:solidFill>
                <a:latin typeface="Courier New" pitchFamily="34" charset="0"/>
                <a:ea typeface="Courier New" pitchFamily="34" charset="-122"/>
                <a:cs typeface="Courier New" pitchFamily="34" charset="-120"/>
              </a:rPr>
              <a:t>if s then y := …  ⇒  sinf(s) ≤ sinf(y)</a:t>
            </a:r>
            <a:endParaRPr lang="en-US" sz="1500" dirty="0"/>
          </a:p>
        </p:txBody>
      </p:sp>
      <p:sp>
        <p:nvSpPr>
          <p:cNvPr id="16" name="Text 14"/>
          <p:cNvSpPr txBox="1"/>
          <p:nvPr/>
        </p:nvSpPr>
        <p:spPr>
          <a:xfrm>
            <a:off x="7863840" y="3886200"/>
            <a:ext cx="3657600" cy="6858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bilvosita oqim tekshiruvi</a:t>
            </a:r>
            <a:endParaRPr lang="en-US" sz="1400" dirty="0"/>
          </a:p>
        </p:txBody>
      </p:sp>
      <p:sp>
        <p:nvSpPr>
          <p:cNvPr id="17" name="Shape 15"/>
          <p:cNvSpPr/>
          <p:nvPr/>
        </p:nvSpPr>
        <p:spPr>
          <a:xfrm>
            <a:off x="548640" y="4663440"/>
            <a:ext cx="11064240" cy="685800"/>
          </a:xfrm>
          <a:prstGeom prst="roundRect">
            <a:avLst>
              <a:gd name="adj" fmla="val 12000"/>
            </a:avLst>
          </a:prstGeom>
          <a:solidFill>
            <a:srgbClr val="FFFFFF"/>
          </a:solidFill>
          <a:ln w="12700">
            <a:solidFill>
              <a:srgbClr val="CADCFC"/>
            </a:solidFill>
            <a:prstDash val="solid"/>
          </a:ln>
        </p:spPr>
      </p:sp>
      <p:sp>
        <p:nvSpPr>
          <p:cNvPr id="18" name="Text 16"/>
          <p:cNvSpPr txBox="1"/>
          <p:nvPr/>
        </p:nvSpPr>
        <p:spPr>
          <a:xfrm>
            <a:off x="777240" y="4663440"/>
            <a:ext cx="146304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Sikl</a:t>
            </a:r>
            <a:endParaRPr lang="en-US" sz="1600" dirty="0"/>
          </a:p>
        </p:txBody>
      </p:sp>
      <p:sp>
        <p:nvSpPr>
          <p:cNvPr id="19" name="Text 17"/>
          <p:cNvSpPr txBox="1"/>
          <p:nvPr/>
        </p:nvSpPr>
        <p:spPr>
          <a:xfrm>
            <a:off x="2240280" y="4663440"/>
            <a:ext cx="5577840" cy="685800"/>
          </a:xfrm>
          <a:prstGeom prst="rect">
            <a:avLst/>
          </a:prstGeom>
          <a:noFill/>
          <a:ln/>
        </p:spPr>
        <p:txBody>
          <a:bodyPr wrap="square" lIns="0" tIns="0" rIns="0" bIns="0" rtlCol="0" anchor="ctr"/>
          <a:lstStyle/>
          <a:p>
            <a:pPr algn="l" indent="0" marL="0">
              <a:lnSpc>
                <a:spcPct val="100000"/>
              </a:lnSpc>
              <a:buNone/>
            </a:pPr>
            <a:r>
              <a:rPr lang="en-US" sz="1500" dirty="0">
                <a:solidFill>
                  <a:srgbClr val="1E2761"/>
                </a:solidFill>
                <a:latin typeface="Courier New" pitchFamily="34" charset="0"/>
                <a:ea typeface="Courier New" pitchFamily="34" charset="-122"/>
                <a:cs typeface="Courier New" pitchFamily="34" charset="-120"/>
              </a:rPr>
              <a:t>while s do …  ⇒  sinf(s) ≤ ichki o'zgaruvchilar</a:t>
            </a:r>
            <a:endParaRPr lang="en-US" sz="1500" dirty="0"/>
          </a:p>
        </p:txBody>
      </p:sp>
      <p:sp>
        <p:nvSpPr>
          <p:cNvPr id="20" name="Text 18"/>
          <p:cNvSpPr txBox="1"/>
          <p:nvPr/>
        </p:nvSpPr>
        <p:spPr>
          <a:xfrm>
            <a:off x="7863840" y="4663440"/>
            <a:ext cx="3657600" cy="6858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sikl ham bilvosita oqim</a:t>
            </a:r>
            <a:endParaRPr lang="en-US" sz="1400" dirty="0"/>
          </a:p>
        </p:txBody>
      </p:sp>
      <p:sp>
        <p:nvSpPr>
          <p:cNvPr id="21" name="Shape 19"/>
          <p:cNvSpPr/>
          <p:nvPr/>
        </p:nvSpPr>
        <p:spPr>
          <a:xfrm>
            <a:off x="548640" y="5486400"/>
            <a:ext cx="11064240" cy="777240"/>
          </a:xfrm>
          <a:prstGeom prst="roundRect">
            <a:avLst>
              <a:gd name="adj" fmla="val 10588"/>
            </a:avLst>
          </a:prstGeom>
          <a:solidFill>
            <a:srgbClr val="CADCFC"/>
          </a:solidFill>
          <a:ln/>
        </p:spPr>
      </p:sp>
      <p:sp>
        <p:nvSpPr>
          <p:cNvPr id="22" name="Text 20"/>
          <p:cNvSpPr txBox="1"/>
          <p:nvPr/>
        </p:nvSpPr>
        <p:spPr>
          <a:xfrm>
            <a:off x="777240" y="5486400"/>
            <a:ext cx="10607040" cy="7772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Tekshiruv dastur ishga tushishidan oldin — kompilyatsiya vaqtida — bajarilishi mumkin: dastur manba kodi bo'yicha sertifikatlanadi. BLP dan farqi: BLP faqat fayllarni ko'radi, Denning — dastur ichidagi har bir o'zgaruvchini.</a:t>
            </a:r>
            <a:endParaRPr lang="en-US" sz="1500" dirty="0"/>
          </a:p>
        </p:txBody>
      </p:sp>
      <p:sp>
        <p:nvSpPr>
          <p:cNvPr id="23" name="Text 2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4" name="Text 2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Oqim ruxsat etilganmi?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640080"/>
          </a:xfrm>
          <a:prstGeom prst="roundRect">
            <a:avLst>
              <a:gd name="adj" fmla="val 12857"/>
            </a:avLst>
          </a:prstGeom>
          <a:solidFill>
            <a:srgbClr val="FFFFFF"/>
          </a:solidFill>
          <a:ln/>
        </p:spPr>
      </p:sp>
      <p:sp>
        <p:nvSpPr>
          <p:cNvPr id="7" name="Text 4"/>
          <p:cNvSpPr txBox="1"/>
          <p:nvPr/>
        </p:nvSpPr>
        <p:spPr>
          <a:xfrm>
            <a:off x="868680" y="1783080"/>
            <a:ext cx="10424160" cy="6400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sinf(baho) = Maxfiy, sinf(natija) = Ochiq, sinf(jurnal) = Ochiq. Har bir kod uchun Denning qoidasini qo'llang.</a:t>
            </a:r>
            <a:endParaRPr lang="en-US" sz="1700" dirty="0"/>
          </a:p>
        </p:txBody>
      </p:sp>
      <p:sp>
        <p:nvSpPr>
          <p:cNvPr id="8" name="Shape 5"/>
          <p:cNvSpPr/>
          <p:nvPr/>
        </p:nvSpPr>
        <p:spPr>
          <a:xfrm>
            <a:off x="548640" y="2606040"/>
            <a:ext cx="11064240" cy="731520"/>
          </a:xfrm>
          <a:prstGeom prst="roundRect">
            <a:avLst>
              <a:gd name="adj" fmla="val 11250"/>
            </a:avLst>
          </a:prstGeom>
          <a:solidFill>
            <a:srgbClr val="FFFFFF"/>
          </a:solidFill>
          <a:ln/>
        </p:spPr>
      </p:sp>
      <p:sp>
        <p:nvSpPr>
          <p:cNvPr id="9" name="Shape 6"/>
          <p:cNvSpPr/>
          <p:nvPr/>
        </p:nvSpPr>
        <p:spPr>
          <a:xfrm>
            <a:off x="548640" y="2606040"/>
            <a:ext cx="685800" cy="731520"/>
          </a:xfrm>
          <a:prstGeom prst="roundRect">
            <a:avLst>
              <a:gd name="adj" fmla="val 12000"/>
            </a:avLst>
          </a:prstGeom>
          <a:solidFill>
            <a:srgbClr val="D9932B"/>
          </a:solidFill>
          <a:ln/>
        </p:spPr>
      </p:sp>
      <p:sp>
        <p:nvSpPr>
          <p:cNvPr id="10" name="Text 7"/>
          <p:cNvSpPr txBox="1"/>
          <p:nvPr/>
        </p:nvSpPr>
        <p:spPr>
          <a:xfrm>
            <a:off x="548640" y="2606040"/>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1" name="Text 8"/>
          <p:cNvSpPr txBox="1"/>
          <p:nvPr/>
        </p:nvSpPr>
        <p:spPr>
          <a:xfrm>
            <a:off x="1417320" y="2606040"/>
            <a:ext cx="8412480" cy="73152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Courier New" pitchFamily="34" charset="0"/>
                <a:ea typeface="Courier New" pitchFamily="34" charset="-122"/>
                <a:cs typeface="Courier New" pitchFamily="34" charset="-120"/>
              </a:rPr>
              <a:t>natija := baho + 1</a:t>
            </a:r>
            <a:endParaRPr lang="en-US" sz="1600" dirty="0"/>
          </a:p>
        </p:txBody>
      </p:sp>
      <p:sp>
        <p:nvSpPr>
          <p:cNvPr id="12" name="Shape 9"/>
          <p:cNvSpPr/>
          <p:nvPr/>
        </p:nvSpPr>
        <p:spPr>
          <a:xfrm>
            <a:off x="10012680" y="2724912"/>
            <a:ext cx="1417320" cy="493776"/>
          </a:xfrm>
          <a:prstGeom prst="roundRect">
            <a:avLst>
              <a:gd name="adj" fmla="val 16667"/>
            </a:avLst>
          </a:prstGeom>
          <a:solidFill>
            <a:srgbClr val="FDF3E2"/>
          </a:solidFill>
          <a:ln w="12700">
            <a:solidFill>
              <a:srgbClr val="D9932B"/>
            </a:solidFill>
            <a:prstDash val="solid"/>
          </a:ln>
        </p:spPr>
      </p:sp>
      <p:sp>
        <p:nvSpPr>
          <p:cNvPr id="13" name="Text 10"/>
          <p:cNvSpPr txBox="1"/>
          <p:nvPr/>
        </p:nvSpPr>
        <p:spPr>
          <a:xfrm>
            <a:off x="10012680" y="2724912"/>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14" name="Shape 11"/>
          <p:cNvSpPr/>
          <p:nvPr/>
        </p:nvSpPr>
        <p:spPr>
          <a:xfrm>
            <a:off x="548640" y="3456432"/>
            <a:ext cx="11064240" cy="731520"/>
          </a:xfrm>
          <a:prstGeom prst="roundRect">
            <a:avLst>
              <a:gd name="adj" fmla="val 11250"/>
            </a:avLst>
          </a:prstGeom>
          <a:solidFill>
            <a:srgbClr val="FFFFFF"/>
          </a:solidFill>
          <a:ln/>
        </p:spPr>
      </p:sp>
      <p:sp>
        <p:nvSpPr>
          <p:cNvPr id="15" name="Shape 12"/>
          <p:cNvSpPr/>
          <p:nvPr/>
        </p:nvSpPr>
        <p:spPr>
          <a:xfrm>
            <a:off x="548640" y="3456432"/>
            <a:ext cx="685800" cy="731520"/>
          </a:xfrm>
          <a:prstGeom prst="roundRect">
            <a:avLst>
              <a:gd name="adj" fmla="val 12000"/>
            </a:avLst>
          </a:prstGeom>
          <a:solidFill>
            <a:srgbClr val="D9932B"/>
          </a:solidFill>
          <a:ln/>
        </p:spPr>
      </p:sp>
      <p:sp>
        <p:nvSpPr>
          <p:cNvPr id="16" name="Text 13"/>
          <p:cNvSpPr txBox="1"/>
          <p:nvPr/>
        </p:nvSpPr>
        <p:spPr>
          <a:xfrm>
            <a:off x="548640" y="3456432"/>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7" name="Text 14"/>
          <p:cNvSpPr txBox="1"/>
          <p:nvPr/>
        </p:nvSpPr>
        <p:spPr>
          <a:xfrm>
            <a:off x="1417320" y="3456432"/>
            <a:ext cx="8412480" cy="73152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Courier New" pitchFamily="34" charset="0"/>
                <a:ea typeface="Courier New" pitchFamily="34" charset="-122"/>
                <a:cs typeface="Courier New" pitchFamily="34" charset="-120"/>
              </a:rPr>
              <a:t>if baho &gt; 50: natija := 1</a:t>
            </a:r>
            <a:endParaRPr lang="en-US" sz="1600" dirty="0"/>
          </a:p>
        </p:txBody>
      </p:sp>
      <p:sp>
        <p:nvSpPr>
          <p:cNvPr id="18" name="Shape 15"/>
          <p:cNvSpPr/>
          <p:nvPr/>
        </p:nvSpPr>
        <p:spPr>
          <a:xfrm>
            <a:off x="10012680" y="3575304"/>
            <a:ext cx="1417320" cy="493776"/>
          </a:xfrm>
          <a:prstGeom prst="roundRect">
            <a:avLst>
              <a:gd name="adj" fmla="val 16667"/>
            </a:avLst>
          </a:prstGeom>
          <a:solidFill>
            <a:srgbClr val="FDF3E2"/>
          </a:solidFill>
          <a:ln w="12700">
            <a:solidFill>
              <a:srgbClr val="D9932B"/>
            </a:solidFill>
            <a:prstDash val="solid"/>
          </a:ln>
        </p:spPr>
      </p:sp>
      <p:sp>
        <p:nvSpPr>
          <p:cNvPr id="19" name="Text 16"/>
          <p:cNvSpPr txBox="1"/>
          <p:nvPr/>
        </p:nvSpPr>
        <p:spPr>
          <a:xfrm>
            <a:off x="10012680" y="357530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0" name="Shape 17"/>
          <p:cNvSpPr/>
          <p:nvPr/>
        </p:nvSpPr>
        <p:spPr>
          <a:xfrm>
            <a:off x="548640" y="4306824"/>
            <a:ext cx="11064240" cy="731520"/>
          </a:xfrm>
          <a:prstGeom prst="roundRect">
            <a:avLst>
              <a:gd name="adj" fmla="val 11250"/>
            </a:avLst>
          </a:prstGeom>
          <a:solidFill>
            <a:srgbClr val="FFFFFF"/>
          </a:solidFill>
          <a:ln/>
        </p:spPr>
      </p:sp>
      <p:sp>
        <p:nvSpPr>
          <p:cNvPr id="21" name="Shape 18"/>
          <p:cNvSpPr/>
          <p:nvPr/>
        </p:nvSpPr>
        <p:spPr>
          <a:xfrm>
            <a:off x="548640" y="4306824"/>
            <a:ext cx="685800" cy="731520"/>
          </a:xfrm>
          <a:prstGeom prst="roundRect">
            <a:avLst>
              <a:gd name="adj" fmla="val 12000"/>
            </a:avLst>
          </a:prstGeom>
          <a:solidFill>
            <a:srgbClr val="D9932B"/>
          </a:solidFill>
          <a:ln/>
        </p:spPr>
      </p:sp>
      <p:sp>
        <p:nvSpPr>
          <p:cNvPr id="22" name="Text 19"/>
          <p:cNvSpPr txBox="1"/>
          <p:nvPr/>
        </p:nvSpPr>
        <p:spPr>
          <a:xfrm>
            <a:off x="548640" y="4306824"/>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3" name="Text 20"/>
          <p:cNvSpPr txBox="1"/>
          <p:nvPr/>
        </p:nvSpPr>
        <p:spPr>
          <a:xfrm>
            <a:off x="1417320" y="4306824"/>
            <a:ext cx="8412480" cy="73152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Courier New" pitchFamily="34" charset="0"/>
                <a:ea typeface="Courier New" pitchFamily="34" charset="-122"/>
                <a:cs typeface="Courier New" pitchFamily="34" charset="-120"/>
              </a:rPr>
              <a:t>natija := 0;  jurnal.yoz("hisobot tayyor")</a:t>
            </a:r>
            <a:endParaRPr lang="en-US" sz="1600" dirty="0"/>
          </a:p>
        </p:txBody>
      </p:sp>
      <p:sp>
        <p:nvSpPr>
          <p:cNvPr id="24" name="Shape 21"/>
          <p:cNvSpPr/>
          <p:nvPr/>
        </p:nvSpPr>
        <p:spPr>
          <a:xfrm>
            <a:off x="10012680" y="4425696"/>
            <a:ext cx="1417320" cy="493776"/>
          </a:xfrm>
          <a:prstGeom prst="roundRect">
            <a:avLst>
              <a:gd name="adj" fmla="val 16667"/>
            </a:avLst>
          </a:prstGeom>
          <a:solidFill>
            <a:srgbClr val="FDF3E2"/>
          </a:solidFill>
          <a:ln w="12700">
            <a:solidFill>
              <a:srgbClr val="D9932B"/>
            </a:solidFill>
            <a:prstDash val="solid"/>
          </a:ln>
        </p:spPr>
      </p:sp>
      <p:sp>
        <p:nvSpPr>
          <p:cNvPr id="25" name="Text 22"/>
          <p:cNvSpPr txBox="1"/>
          <p:nvPr/>
        </p:nvSpPr>
        <p:spPr>
          <a:xfrm>
            <a:off x="10012680" y="442569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6" name="Shape 23"/>
          <p:cNvSpPr/>
          <p:nvPr/>
        </p:nvSpPr>
        <p:spPr>
          <a:xfrm>
            <a:off x="548640" y="5157216"/>
            <a:ext cx="11064240" cy="731520"/>
          </a:xfrm>
          <a:prstGeom prst="roundRect">
            <a:avLst>
              <a:gd name="adj" fmla="val 11250"/>
            </a:avLst>
          </a:prstGeom>
          <a:solidFill>
            <a:srgbClr val="FFFFFF"/>
          </a:solidFill>
          <a:ln/>
        </p:spPr>
      </p:sp>
      <p:sp>
        <p:nvSpPr>
          <p:cNvPr id="27" name="Shape 24"/>
          <p:cNvSpPr/>
          <p:nvPr/>
        </p:nvSpPr>
        <p:spPr>
          <a:xfrm>
            <a:off x="548640" y="5157216"/>
            <a:ext cx="685800" cy="731520"/>
          </a:xfrm>
          <a:prstGeom prst="roundRect">
            <a:avLst>
              <a:gd name="adj" fmla="val 12000"/>
            </a:avLst>
          </a:prstGeom>
          <a:solidFill>
            <a:srgbClr val="D9932B"/>
          </a:solidFill>
          <a:ln/>
        </p:spPr>
      </p:sp>
      <p:sp>
        <p:nvSpPr>
          <p:cNvPr id="28" name="Text 25"/>
          <p:cNvSpPr txBox="1"/>
          <p:nvPr/>
        </p:nvSpPr>
        <p:spPr>
          <a:xfrm>
            <a:off x="548640" y="5157216"/>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9" name="Text 26"/>
          <p:cNvSpPr txBox="1"/>
          <p:nvPr/>
        </p:nvSpPr>
        <p:spPr>
          <a:xfrm>
            <a:off x="1417320" y="5157216"/>
            <a:ext cx="8412480" cy="73152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Courier New" pitchFamily="34" charset="0"/>
                <a:ea typeface="Courier New" pitchFamily="34" charset="-122"/>
                <a:cs typeface="Courier New" pitchFamily="34" charset="-120"/>
              </a:rPr>
              <a:t>while baho &gt; 0: baho := baho - 1</a:t>
            </a:r>
            <a:endParaRPr lang="en-US" sz="1600" dirty="0"/>
          </a:p>
        </p:txBody>
      </p:sp>
      <p:sp>
        <p:nvSpPr>
          <p:cNvPr id="30" name="Shape 27"/>
          <p:cNvSpPr/>
          <p:nvPr/>
        </p:nvSpPr>
        <p:spPr>
          <a:xfrm>
            <a:off x="10012680" y="5276088"/>
            <a:ext cx="1417320" cy="493776"/>
          </a:xfrm>
          <a:prstGeom prst="roundRect">
            <a:avLst>
              <a:gd name="adj" fmla="val 16667"/>
            </a:avLst>
          </a:prstGeom>
          <a:solidFill>
            <a:srgbClr val="FDF3E2"/>
          </a:solidFill>
          <a:ln w="12700">
            <a:solidFill>
              <a:srgbClr val="D9932B"/>
            </a:solidFill>
            <a:prstDash val="solid"/>
          </a:ln>
        </p:spPr>
      </p:sp>
      <p:sp>
        <p:nvSpPr>
          <p:cNvPr id="31" name="Text 28"/>
          <p:cNvSpPr txBox="1"/>
          <p:nvPr/>
        </p:nvSpPr>
        <p:spPr>
          <a:xfrm>
            <a:off x="10012680" y="5276088"/>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32" name="Text 2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33" name="Text 3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ARALASHMASLIK (1982)</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Yuqori harakatlar pastdagilar ko'rgan natijaga ta'sir qilmasin</a:t>
            </a:r>
            <a:endParaRPr lang="en-US" sz="3600" dirty="0"/>
          </a:p>
        </p:txBody>
      </p:sp>
      <p:sp>
        <p:nvSpPr>
          <p:cNvPr id="4" name="Shape 2"/>
          <p:cNvSpPr/>
          <p:nvPr/>
        </p:nvSpPr>
        <p:spPr>
          <a:xfrm>
            <a:off x="548640" y="1828800"/>
            <a:ext cx="2926080" cy="1097280"/>
          </a:xfrm>
          <a:prstGeom prst="roundRect">
            <a:avLst>
              <a:gd name="adj" fmla="val 7500"/>
            </a:avLst>
          </a:prstGeom>
          <a:solidFill>
            <a:srgbClr val="1E2761"/>
          </a:solidFill>
          <a:ln/>
        </p:spPr>
      </p:sp>
      <p:sp>
        <p:nvSpPr>
          <p:cNvPr id="5" name="Text 3"/>
          <p:cNvSpPr txBox="1"/>
          <p:nvPr/>
        </p:nvSpPr>
        <p:spPr>
          <a:xfrm>
            <a:off x="548640" y="1874520"/>
            <a:ext cx="2926080" cy="5029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Yuqori foydalanuvchi</a:t>
            </a:r>
            <a:endParaRPr lang="en-US" sz="1800" dirty="0"/>
          </a:p>
        </p:txBody>
      </p:sp>
      <p:sp>
        <p:nvSpPr>
          <p:cNvPr id="6" name="Text 4"/>
          <p:cNvSpPr txBox="1"/>
          <p:nvPr/>
        </p:nvSpPr>
        <p:spPr>
          <a:xfrm>
            <a:off x="548640" y="2377440"/>
            <a:ext cx="292608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kiritishlar: H1 yoki H2</a:t>
            </a:r>
            <a:endParaRPr lang="en-US" sz="1400" dirty="0"/>
          </a:p>
        </p:txBody>
      </p:sp>
      <p:sp>
        <p:nvSpPr>
          <p:cNvPr id="7" name="Shape 5"/>
          <p:cNvSpPr/>
          <p:nvPr/>
        </p:nvSpPr>
        <p:spPr>
          <a:xfrm>
            <a:off x="548640" y="3657600"/>
            <a:ext cx="2926080" cy="1097280"/>
          </a:xfrm>
          <a:prstGeom prst="roundRect">
            <a:avLst>
              <a:gd name="adj" fmla="val 7500"/>
            </a:avLst>
          </a:prstGeom>
          <a:solidFill>
            <a:srgbClr val="2A3778"/>
          </a:solidFill>
          <a:ln/>
        </p:spPr>
      </p:sp>
      <p:sp>
        <p:nvSpPr>
          <p:cNvPr id="8" name="Text 6"/>
          <p:cNvSpPr txBox="1"/>
          <p:nvPr/>
        </p:nvSpPr>
        <p:spPr>
          <a:xfrm>
            <a:off x="548640" y="3703320"/>
            <a:ext cx="2926080" cy="5029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Past foydalanuvchi</a:t>
            </a:r>
            <a:endParaRPr lang="en-US" sz="1800" dirty="0"/>
          </a:p>
        </p:txBody>
      </p:sp>
      <p:sp>
        <p:nvSpPr>
          <p:cNvPr id="9" name="Text 7"/>
          <p:cNvSpPr txBox="1"/>
          <p:nvPr/>
        </p:nvSpPr>
        <p:spPr>
          <a:xfrm>
            <a:off x="548640" y="4206240"/>
            <a:ext cx="292608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kiritishlar: L</a:t>
            </a:r>
            <a:endParaRPr lang="en-US" sz="1400" dirty="0"/>
          </a:p>
        </p:txBody>
      </p:sp>
      <p:sp>
        <p:nvSpPr>
          <p:cNvPr id="10" name="Shape 8"/>
          <p:cNvSpPr/>
          <p:nvPr/>
        </p:nvSpPr>
        <p:spPr>
          <a:xfrm>
            <a:off x="4480560" y="2377440"/>
            <a:ext cx="2743200" cy="1828800"/>
          </a:xfrm>
          <a:prstGeom prst="roundRect">
            <a:avLst>
              <a:gd name="adj" fmla="val 4500"/>
            </a:avLst>
          </a:prstGeom>
          <a:solidFill>
            <a:srgbClr val="EEF2FB"/>
          </a:solidFill>
          <a:ln/>
        </p:spPr>
      </p:sp>
      <p:sp>
        <p:nvSpPr>
          <p:cNvPr id="11" name="Text 9"/>
          <p:cNvSpPr txBox="1"/>
          <p:nvPr/>
        </p:nvSpPr>
        <p:spPr>
          <a:xfrm>
            <a:off x="4480560" y="2377440"/>
            <a:ext cx="2743200" cy="182880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1E2761"/>
                </a:solidFill>
                <a:latin typeface="Times New Roman" pitchFamily="34" charset="0"/>
                <a:ea typeface="Times New Roman" pitchFamily="34" charset="-122"/>
                <a:cs typeface="Times New Roman" pitchFamily="34" charset="-120"/>
              </a:rPr>
              <a:t>Tizim</a:t>
            </a:r>
            <a:endParaRPr lang="en-US" sz="2200" dirty="0"/>
          </a:p>
        </p:txBody>
      </p:sp>
      <p:sp>
        <p:nvSpPr>
          <p:cNvPr id="12" name="Shape 10"/>
          <p:cNvSpPr/>
          <p:nvPr/>
        </p:nvSpPr>
        <p:spPr>
          <a:xfrm>
            <a:off x="3520440" y="2377440"/>
            <a:ext cx="914400" cy="731520"/>
          </a:xfrm>
          <a:prstGeom prst="line">
            <a:avLst/>
          </a:prstGeom>
          <a:noFill/>
          <a:ln w="28575">
            <a:solidFill>
              <a:srgbClr val="1E2761"/>
            </a:solidFill>
            <a:prstDash val="solid"/>
            <a:tailEnd type="triangle"/>
          </a:ln>
        </p:spPr>
      </p:sp>
      <p:sp>
        <p:nvSpPr>
          <p:cNvPr id="13" name="Shape 11"/>
          <p:cNvSpPr/>
          <p:nvPr/>
        </p:nvSpPr>
        <p:spPr>
          <a:xfrm flipV="1">
            <a:off x="3520440" y="3474720"/>
            <a:ext cx="914400" cy="731520"/>
          </a:xfrm>
          <a:prstGeom prst="line">
            <a:avLst/>
          </a:prstGeom>
          <a:noFill/>
          <a:ln w="28575">
            <a:solidFill>
              <a:srgbClr val="1E2761"/>
            </a:solidFill>
            <a:prstDash val="solid"/>
            <a:tailEnd type="triangle"/>
          </a:ln>
        </p:spPr>
      </p:sp>
      <p:sp>
        <p:nvSpPr>
          <p:cNvPr id="14" name="Shape 12"/>
          <p:cNvSpPr/>
          <p:nvPr/>
        </p:nvSpPr>
        <p:spPr>
          <a:xfrm>
            <a:off x="7269480" y="3291840"/>
            <a:ext cx="914400" cy="0"/>
          </a:xfrm>
          <a:prstGeom prst="line">
            <a:avLst/>
          </a:prstGeom>
          <a:noFill/>
          <a:ln w="28575">
            <a:solidFill>
              <a:srgbClr val="1E2761"/>
            </a:solidFill>
            <a:prstDash val="solid"/>
            <a:tailEnd type="triangle"/>
          </a:ln>
        </p:spPr>
      </p:sp>
      <p:sp>
        <p:nvSpPr>
          <p:cNvPr id="15" name="Shape 13"/>
          <p:cNvSpPr/>
          <p:nvPr/>
        </p:nvSpPr>
        <p:spPr>
          <a:xfrm>
            <a:off x="8229600" y="2377440"/>
            <a:ext cx="3383280" cy="1828800"/>
          </a:xfrm>
          <a:prstGeom prst="roundRect">
            <a:avLst>
              <a:gd name="adj" fmla="val 4500"/>
            </a:avLst>
          </a:prstGeom>
          <a:solidFill>
            <a:srgbClr val="E8F3EC"/>
          </a:solidFill>
          <a:ln/>
        </p:spPr>
      </p:sp>
      <p:sp>
        <p:nvSpPr>
          <p:cNvPr id="16" name="Text 14"/>
          <p:cNvSpPr txBox="1"/>
          <p:nvPr/>
        </p:nvSpPr>
        <p:spPr>
          <a:xfrm>
            <a:off x="8229600" y="2468880"/>
            <a:ext cx="338328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Past chiqishlar</a:t>
            </a:r>
            <a:endParaRPr lang="en-US" sz="1800" dirty="0"/>
          </a:p>
        </p:txBody>
      </p:sp>
      <p:sp>
        <p:nvSpPr>
          <p:cNvPr id="17" name="Text 15"/>
          <p:cNvSpPr txBox="1"/>
          <p:nvPr/>
        </p:nvSpPr>
        <p:spPr>
          <a:xfrm>
            <a:off x="8321040" y="3017520"/>
            <a:ext cx="3200400" cy="548640"/>
          </a:xfrm>
          <a:prstGeom prst="rect">
            <a:avLst/>
          </a:prstGeom>
          <a:noFill/>
          <a:ln/>
        </p:spPr>
        <p:txBody>
          <a:bodyPr wrap="square" lIns="50800" tIns="50800" rIns="50800" bIns="50800" rtlCol="0" anchor="ctr"/>
          <a:lstStyle/>
          <a:p>
            <a:pPr algn="ctr" indent="0" marL="0">
              <a:lnSpc>
                <a:spcPct val="100000"/>
              </a:lnSpc>
              <a:buNone/>
            </a:pPr>
            <a:r>
              <a:rPr lang="en-US" sz="1500" b="1" dirty="0">
                <a:solidFill>
                  <a:srgbClr val="1E2761"/>
                </a:solidFill>
                <a:latin typeface="Courier New" pitchFamily="34" charset="0"/>
                <a:ea typeface="Courier New" pitchFamily="34" charset="-122"/>
                <a:cs typeface="Courier New" pitchFamily="34" charset="-120"/>
              </a:rPr>
              <a:t>chiqish(H1, L) = chiqish(H2, L)</a:t>
            </a:r>
            <a:endParaRPr lang="en-US" sz="1500" dirty="0"/>
          </a:p>
        </p:txBody>
      </p:sp>
      <p:sp>
        <p:nvSpPr>
          <p:cNvPr id="18" name="Text 16"/>
          <p:cNvSpPr txBox="1"/>
          <p:nvPr/>
        </p:nvSpPr>
        <p:spPr>
          <a:xfrm>
            <a:off x="8321040" y="3566160"/>
            <a:ext cx="320040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past foydalanuvchi farqni sezmaydi</a:t>
            </a:r>
            <a:endParaRPr lang="en-US" sz="1400" dirty="0"/>
          </a:p>
        </p:txBody>
      </p:sp>
      <p:sp>
        <p:nvSpPr>
          <p:cNvPr id="19" name="Shape 17"/>
          <p:cNvSpPr/>
          <p:nvPr/>
        </p:nvSpPr>
        <p:spPr>
          <a:xfrm>
            <a:off x="548640" y="5029200"/>
            <a:ext cx="11064240" cy="548640"/>
          </a:xfrm>
          <a:prstGeom prst="roundRect">
            <a:avLst>
              <a:gd name="adj" fmla="val 15000"/>
            </a:avLst>
          </a:prstGeom>
          <a:solidFill>
            <a:srgbClr val="EEF2FB"/>
          </a:solidFill>
          <a:ln/>
        </p:spPr>
      </p:sp>
      <p:sp>
        <p:nvSpPr>
          <p:cNvPr id="20" name="Text 18"/>
          <p:cNvSpPr txBox="1"/>
          <p:nvPr/>
        </p:nvSpPr>
        <p:spPr>
          <a:xfrm>
            <a:off x="777240" y="5029200"/>
            <a:ext cx="1920240" cy="54864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Kuchli tomoni</a:t>
            </a:r>
            <a:endParaRPr lang="en-US" sz="1600" dirty="0"/>
          </a:p>
        </p:txBody>
      </p:sp>
      <p:sp>
        <p:nvSpPr>
          <p:cNvPr id="21" name="Text 19"/>
          <p:cNvSpPr txBox="1"/>
          <p:nvPr/>
        </p:nvSpPr>
        <p:spPr>
          <a:xfrm>
            <a:off x="2697480" y="5029200"/>
            <a:ext cx="8778240" cy="5486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Barcha kanallarni — xotira, vaqt, bilvosita — bitta ta'rif bilan qamraydi</a:t>
            </a:r>
            <a:endParaRPr lang="en-US" sz="1500" dirty="0"/>
          </a:p>
        </p:txBody>
      </p:sp>
      <p:sp>
        <p:nvSpPr>
          <p:cNvPr id="22" name="Shape 20"/>
          <p:cNvSpPr/>
          <p:nvPr/>
        </p:nvSpPr>
        <p:spPr>
          <a:xfrm>
            <a:off x="548640" y="5650992"/>
            <a:ext cx="11064240" cy="548640"/>
          </a:xfrm>
          <a:prstGeom prst="roundRect">
            <a:avLst>
              <a:gd name="adj" fmla="val 15000"/>
            </a:avLst>
          </a:prstGeom>
          <a:solidFill>
            <a:srgbClr val="F7ECEA"/>
          </a:solidFill>
          <a:ln/>
        </p:spPr>
      </p:sp>
      <p:sp>
        <p:nvSpPr>
          <p:cNvPr id="23" name="Text 21"/>
          <p:cNvSpPr txBox="1"/>
          <p:nvPr/>
        </p:nvSpPr>
        <p:spPr>
          <a:xfrm>
            <a:off x="777240" y="5650992"/>
            <a:ext cx="1920240" cy="548640"/>
          </a:xfrm>
          <a:prstGeom prst="rect">
            <a:avLst/>
          </a:prstGeom>
          <a:noFill/>
          <a:ln/>
        </p:spPr>
        <p:txBody>
          <a:bodyPr wrap="square" lIns="0" tIns="0" rIns="0" bIns="0" rtlCol="0" anchor="ctr"/>
          <a:lstStyle/>
          <a:p>
            <a:pPr algn="l"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Muammo</a:t>
            </a:r>
            <a:endParaRPr lang="en-US" sz="1600" dirty="0"/>
          </a:p>
        </p:txBody>
      </p:sp>
      <p:sp>
        <p:nvSpPr>
          <p:cNvPr id="24" name="Text 22"/>
          <p:cNvSpPr txBox="1"/>
          <p:nvPr/>
        </p:nvSpPr>
        <p:spPr>
          <a:xfrm>
            <a:off x="2697480" y="5650992"/>
            <a:ext cx="8778240" cy="5486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Amalda juda qat'iy: parolni tekshirish ham «noto'g'ri» deb 1 bit beradi — maxfiylikdan chiqarish kerak</a:t>
            </a:r>
            <a:endParaRPr lang="en-US" sz="1500" dirty="0"/>
          </a:p>
        </p:txBody>
      </p:sp>
      <p:sp>
        <p:nvSpPr>
          <p:cNvPr id="25" name="Text 23"/>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6" name="Text 24"/>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sp>
      <p:sp>
        <p:nvSpPr>
          <p:cNvPr id="3" name="Text 1"/>
          <p:cNvSpPr txBox="1"/>
          <p:nvPr/>
        </p:nvSpPr>
        <p:spPr>
          <a:xfrm>
            <a:off x="1005840" y="2286000"/>
            <a:ext cx="5486400" cy="411480"/>
          </a:xfrm>
          <a:prstGeom prst="rect">
            <a:avLst/>
          </a:prstGeom>
          <a:noFill/>
          <a:ln/>
        </p:spPr>
        <p:txBody>
          <a:bodyPr wrap="square" lIns="0" tIns="0" rIns="0" bIns="0" rtlCol="0" anchor="ctr"/>
          <a:lstStyle/>
          <a:p>
            <a:pPr indent="0" marL="0">
              <a:buNone/>
            </a:pPr>
            <a:r>
              <a:rPr lang="en-US" sz="1600" b="1" spc="300" kern="0" dirty="0">
                <a:solidFill>
                  <a:srgbClr val="9FB0E0"/>
                </a:solidFill>
                <a:latin typeface="Times New Roman" pitchFamily="34" charset="0"/>
                <a:ea typeface="Times New Roman" pitchFamily="34" charset="-122"/>
                <a:cs typeface="Times New Roman" pitchFamily="34" charset="-120"/>
              </a:rPr>
              <a:t>II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Times New Roman" pitchFamily="34" charset="0"/>
                <a:ea typeface="Times New Roman" pitchFamily="34" charset="-122"/>
                <a:cs typeface="Times New Roman" pitchFamily="34" charset="-120"/>
              </a:rPr>
              <a:t>Yashirin va yon kanallar</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indent="0" marL="0">
              <a:buNone/>
            </a:pPr>
            <a:r>
              <a:rPr lang="en-US" sz="2000" dirty="0">
                <a:solidFill>
                  <a:srgbClr val="CADCFC"/>
                </a:solidFill>
                <a:latin typeface="Times New Roman" pitchFamily="34" charset="0"/>
                <a:ea typeface="Times New Roman" pitchFamily="34" charset="-122"/>
                <a:cs typeface="Times New Roman" pitchFamily="34" charset="-120"/>
              </a:rPr>
              <a:t>Chegaralash muammosi · o'tkazuvchanlik · himoya</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algn="ctr" indent="0" marL="0">
              <a:buNone/>
            </a:pPr>
            <a:r>
              <a:rPr lang="en-US" sz="13000" b="1" dirty="0">
                <a:solidFill>
                  <a:srgbClr val="2A3778"/>
                </a:solidFill>
                <a:latin typeface="Times New Roman" pitchFamily="34" charset="0"/>
                <a:ea typeface="Times New Roman" pitchFamily="34" charset="-122"/>
                <a:cs typeface="Times New Roman" pitchFamily="34" charset="-120"/>
              </a:rPr>
              <a:t>II</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CHEGARALASH MUAMMOSI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Lampson (1973): dasturni «qamab» bo'ladimi?</a:t>
            </a:r>
            <a:endParaRPr lang="en-US" sz="3600" dirty="0"/>
          </a:p>
        </p:txBody>
      </p:sp>
      <p:sp>
        <p:nvSpPr>
          <p:cNvPr id="4" name="Text 2"/>
          <p:cNvSpPr txBox="1"/>
          <p:nvPr/>
        </p:nvSpPr>
        <p:spPr>
          <a:xfrm>
            <a:off x="548640" y="1737360"/>
            <a:ext cx="11064240" cy="6858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Xizmat ko'rsatuvchi dastur mijoz ma'lumotini o'z egasiga yetkazmasligi kerak. Lampson bunga to'sqinlik qiladigan uch xil aloqa yo'lini ajratdi.</a:t>
            </a:r>
            <a:endParaRPr lang="en-US" sz="1600" dirty="0"/>
          </a:p>
        </p:txBody>
      </p:sp>
      <p:sp>
        <p:nvSpPr>
          <p:cNvPr id="5" name="Shape 3"/>
          <p:cNvSpPr/>
          <p:nvPr/>
        </p:nvSpPr>
        <p:spPr>
          <a:xfrm>
            <a:off x="548640" y="2560320"/>
            <a:ext cx="3566160" cy="2286000"/>
          </a:xfrm>
          <a:prstGeom prst="roundRect">
            <a:avLst>
              <a:gd name="adj" fmla="val 3600"/>
            </a:avLst>
          </a:prstGeom>
          <a:solidFill>
            <a:srgbClr val="EEF2FB"/>
          </a:solidFill>
          <a:ln/>
        </p:spPr>
      </p:sp>
      <p:sp>
        <p:nvSpPr>
          <p:cNvPr id="6" name="Shape 4"/>
          <p:cNvSpPr/>
          <p:nvPr/>
        </p:nvSpPr>
        <p:spPr>
          <a:xfrm>
            <a:off x="548640" y="2560320"/>
            <a:ext cx="3566160" cy="109728"/>
          </a:xfrm>
          <a:prstGeom prst="roundRect">
            <a:avLst>
              <a:gd name="adj" fmla="val 16667"/>
            </a:avLst>
          </a:prstGeom>
          <a:solidFill>
            <a:srgbClr val="1F6B4A"/>
          </a:solidFill>
          <a:ln/>
        </p:spPr>
      </p:sp>
      <p:sp>
        <p:nvSpPr>
          <p:cNvPr id="7" name="Text 5"/>
          <p:cNvSpPr txBox="1"/>
          <p:nvPr/>
        </p:nvSpPr>
        <p:spPr>
          <a:xfrm>
            <a:off x="777240" y="2743200"/>
            <a:ext cx="3108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F6B4A"/>
                </a:solidFill>
                <a:latin typeface="Times New Roman" pitchFamily="34" charset="0"/>
                <a:ea typeface="Times New Roman" pitchFamily="34" charset="-122"/>
                <a:cs typeface="Times New Roman" pitchFamily="34" charset="-120"/>
              </a:rPr>
              <a:t>Ochiq kanal</a:t>
            </a:r>
            <a:endParaRPr lang="en-US" sz="2000" dirty="0"/>
          </a:p>
        </p:txBody>
      </p:sp>
      <p:sp>
        <p:nvSpPr>
          <p:cNvPr id="8" name="Text 6"/>
          <p:cNvSpPr txBox="1"/>
          <p:nvPr/>
        </p:nvSpPr>
        <p:spPr>
          <a:xfrm>
            <a:off x="777240" y="3154680"/>
            <a:ext cx="310896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overt / legitimate</a:t>
            </a:r>
            <a:endParaRPr lang="en-US" sz="1400" dirty="0"/>
          </a:p>
        </p:txBody>
      </p:sp>
      <p:sp>
        <p:nvSpPr>
          <p:cNvPr id="9" name="Text 7"/>
          <p:cNvSpPr txBox="1"/>
          <p:nvPr/>
        </p:nvSpPr>
        <p:spPr>
          <a:xfrm>
            <a:off x="777240" y="3566160"/>
            <a:ext cx="3108960" cy="118872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Mo'ljallangan yo'l: fayl, tarmoq, pochta — foydalanish nazorati ko'radi va boshqaradi</a:t>
            </a:r>
            <a:endParaRPr lang="en-US" sz="1600" dirty="0"/>
          </a:p>
        </p:txBody>
      </p:sp>
      <p:sp>
        <p:nvSpPr>
          <p:cNvPr id="10" name="Shape 8"/>
          <p:cNvSpPr/>
          <p:nvPr/>
        </p:nvSpPr>
        <p:spPr>
          <a:xfrm>
            <a:off x="4297680" y="2560320"/>
            <a:ext cx="3566160" cy="2286000"/>
          </a:xfrm>
          <a:prstGeom prst="roundRect">
            <a:avLst>
              <a:gd name="adj" fmla="val 3600"/>
            </a:avLst>
          </a:prstGeom>
          <a:solidFill>
            <a:srgbClr val="EEF2FB"/>
          </a:solidFill>
          <a:ln/>
        </p:spPr>
      </p:sp>
      <p:sp>
        <p:nvSpPr>
          <p:cNvPr id="11" name="Shape 9"/>
          <p:cNvSpPr/>
          <p:nvPr/>
        </p:nvSpPr>
        <p:spPr>
          <a:xfrm>
            <a:off x="4297680" y="2560320"/>
            <a:ext cx="3566160" cy="109728"/>
          </a:xfrm>
          <a:prstGeom prst="roundRect">
            <a:avLst>
              <a:gd name="adj" fmla="val 16667"/>
            </a:avLst>
          </a:prstGeom>
          <a:solidFill>
            <a:srgbClr val="9E3B2E"/>
          </a:solidFill>
          <a:ln/>
        </p:spPr>
      </p:sp>
      <p:sp>
        <p:nvSpPr>
          <p:cNvPr id="12" name="Text 10"/>
          <p:cNvSpPr txBox="1"/>
          <p:nvPr/>
        </p:nvSpPr>
        <p:spPr>
          <a:xfrm>
            <a:off x="4526280" y="2743200"/>
            <a:ext cx="3108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9E3B2E"/>
                </a:solidFill>
                <a:latin typeface="Times New Roman" pitchFamily="34" charset="0"/>
                <a:ea typeface="Times New Roman" pitchFamily="34" charset="-122"/>
                <a:cs typeface="Times New Roman" pitchFamily="34" charset="-120"/>
              </a:rPr>
              <a:t>Yashirin kanal</a:t>
            </a:r>
            <a:endParaRPr lang="en-US" sz="2000" dirty="0"/>
          </a:p>
        </p:txBody>
      </p:sp>
      <p:sp>
        <p:nvSpPr>
          <p:cNvPr id="13" name="Text 11"/>
          <p:cNvSpPr txBox="1"/>
          <p:nvPr/>
        </p:nvSpPr>
        <p:spPr>
          <a:xfrm>
            <a:off x="4526280" y="3154680"/>
            <a:ext cx="310896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covert channel</a:t>
            </a:r>
            <a:endParaRPr lang="en-US" sz="1400" dirty="0"/>
          </a:p>
        </p:txBody>
      </p:sp>
      <p:sp>
        <p:nvSpPr>
          <p:cNvPr id="14" name="Text 12"/>
          <p:cNvSpPr txBox="1"/>
          <p:nvPr/>
        </p:nvSpPr>
        <p:spPr>
          <a:xfrm>
            <a:off x="4526280" y="3566160"/>
            <a:ext cx="3108960" cy="118872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Aloqa uchun mo'ljallanmagan resurs holati orqali sizish: fayl qulfi, disk hajmi, tizim yuklamasi</a:t>
            </a:r>
            <a:endParaRPr lang="en-US" sz="1600" dirty="0"/>
          </a:p>
        </p:txBody>
      </p:sp>
      <p:sp>
        <p:nvSpPr>
          <p:cNvPr id="15" name="Shape 13"/>
          <p:cNvSpPr/>
          <p:nvPr/>
        </p:nvSpPr>
        <p:spPr>
          <a:xfrm>
            <a:off x="8046720" y="2560320"/>
            <a:ext cx="3566160" cy="2286000"/>
          </a:xfrm>
          <a:prstGeom prst="roundRect">
            <a:avLst>
              <a:gd name="adj" fmla="val 3600"/>
            </a:avLst>
          </a:prstGeom>
          <a:solidFill>
            <a:srgbClr val="EEF2FB"/>
          </a:solidFill>
          <a:ln/>
        </p:spPr>
      </p:sp>
      <p:sp>
        <p:nvSpPr>
          <p:cNvPr id="16" name="Shape 14"/>
          <p:cNvSpPr/>
          <p:nvPr/>
        </p:nvSpPr>
        <p:spPr>
          <a:xfrm>
            <a:off x="8046720" y="2560320"/>
            <a:ext cx="3566160" cy="109728"/>
          </a:xfrm>
          <a:prstGeom prst="roundRect">
            <a:avLst>
              <a:gd name="adj" fmla="val 16667"/>
            </a:avLst>
          </a:prstGeom>
          <a:solidFill>
            <a:srgbClr val="D9932B"/>
          </a:solidFill>
          <a:ln/>
        </p:spPr>
      </p:sp>
      <p:sp>
        <p:nvSpPr>
          <p:cNvPr id="17" name="Text 15"/>
          <p:cNvSpPr txBox="1"/>
          <p:nvPr/>
        </p:nvSpPr>
        <p:spPr>
          <a:xfrm>
            <a:off x="8275320" y="2743200"/>
            <a:ext cx="3108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9A5B00"/>
                </a:solidFill>
                <a:latin typeface="Times New Roman" pitchFamily="34" charset="0"/>
                <a:ea typeface="Times New Roman" pitchFamily="34" charset="-122"/>
                <a:cs typeface="Times New Roman" pitchFamily="34" charset="-120"/>
              </a:rPr>
              <a:t>Yon kanal</a:t>
            </a:r>
            <a:endParaRPr lang="en-US" sz="2000" dirty="0"/>
          </a:p>
        </p:txBody>
      </p:sp>
      <p:sp>
        <p:nvSpPr>
          <p:cNvPr id="18" name="Text 16"/>
          <p:cNvSpPr txBox="1"/>
          <p:nvPr/>
        </p:nvSpPr>
        <p:spPr>
          <a:xfrm>
            <a:off x="8275320" y="3154680"/>
            <a:ext cx="310896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side channel</a:t>
            </a:r>
            <a:endParaRPr lang="en-US" sz="1400" dirty="0"/>
          </a:p>
        </p:txBody>
      </p:sp>
      <p:sp>
        <p:nvSpPr>
          <p:cNvPr id="19" name="Text 17"/>
          <p:cNvSpPr txBox="1"/>
          <p:nvPr/>
        </p:nvSpPr>
        <p:spPr>
          <a:xfrm>
            <a:off x="8275320" y="3566160"/>
            <a:ext cx="3108960" cy="118872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Beixtiyor jismoniy sizish: bajarish vaqti, quvvat, kesh holati (Spectre)</a:t>
            </a:r>
            <a:endParaRPr lang="en-US" sz="1600" dirty="0"/>
          </a:p>
        </p:txBody>
      </p:sp>
      <p:sp>
        <p:nvSpPr>
          <p:cNvPr id="20" name="Shape 18"/>
          <p:cNvSpPr/>
          <p:nvPr/>
        </p:nvSpPr>
        <p:spPr>
          <a:xfrm>
            <a:off x="548640" y="5074920"/>
            <a:ext cx="11064240" cy="530352"/>
          </a:xfrm>
          <a:prstGeom prst="roundRect">
            <a:avLst>
              <a:gd name="adj" fmla="val 15517"/>
            </a:avLst>
          </a:prstGeom>
          <a:solidFill>
            <a:srgbClr val="CADCFC"/>
          </a:solidFill>
          <a:ln/>
        </p:spPr>
      </p:sp>
      <p:sp>
        <p:nvSpPr>
          <p:cNvPr id="21" name="Text 19"/>
          <p:cNvSpPr txBox="1"/>
          <p:nvPr/>
        </p:nvSpPr>
        <p:spPr>
          <a:xfrm>
            <a:off x="777240" y="5074920"/>
            <a:ext cx="2103120" cy="530352"/>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Xotira kanali</a:t>
            </a:r>
            <a:endParaRPr lang="en-US" sz="1600" dirty="0"/>
          </a:p>
        </p:txBody>
      </p:sp>
      <p:sp>
        <p:nvSpPr>
          <p:cNvPr id="22" name="Text 20"/>
          <p:cNvSpPr txBox="1"/>
          <p:nvPr/>
        </p:nvSpPr>
        <p:spPr>
          <a:xfrm>
            <a:off x="2880360" y="5074920"/>
            <a:ext cx="8595360" cy="5303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yuboruvchi resurs holatini o'zgartiradi, qabul qiluvchi uni kuzatadi</a:t>
            </a:r>
            <a:endParaRPr lang="en-US" sz="1500" dirty="0"/>
          </a:p>
        </p:txBody>
      </p:sp>
      <p:sp>
        <p:nvSpPr>
          <p:cNvPr id="23" name="Shape 21"/>
          <p:cNvSpPr/>
          <p:nvPr/>
        </p:nvSpPr>
        <p:spPr>
          <a:xfrm>
            <a:off x="548640" y="5678424"/>
            <a:ext cx="11064240" cy="530352"/>
          </a:xfrm>
          <a:prstGeom prst="roundRect">
            <a:avLst>
              <a:gd name="adj" fmla="val 15517"/>
            </a:avLst>
          </a:prstGeom>
          <a:solidFill>
            <a:srgbClr val="CADCFC"/>
          </a:solidFill>
          <a:ln/>
        </p:spPr>
      </p:sp>
      <p:sp>
        <p:nvSpPr>
          <p:cNvPr id="24" name="Text 22"/>
          <p:cNvSpPr txBox="1"/>
          <p:nvPr/>
        </p:nvSpPr>
        <p:spPr>
          <a:xfrm>
            <a:off x="777240" y="5678424"/>
            <a:ext cx="2103120" cy="530352"/>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Vaqt kanali</a:t>
            </a:r>
            <a:endParaRPr lang="en-US" sz="1600" dirty="0"/>
          </a:p>
        </p:txBody>
      </p:sp>
      <p:sp>
        <p:nvSpPr>
          <p:cNvPr id="25" name="Text 23"/>
          <p:cNvSpPr txBox="1"/>
          <p:nvPr/>
        </p:nvSpPr>
        <p:spPr>
          <a:xfrm>
            <a:off x="2880360" y="5678424"/>
            <a:ext cx="8595360" cy="530352"/>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yuboruvchi resursdan foydalanish tezligini o'zgartiradi, qabul qiluvchi sezadi</a:t>
            </a:r>
            <a:endParaRPr lang="en-US" sz="1500" dirty="0"/>
          </a:p>
        </p:txBody>
      </p:sp>
      <p:sp>
        <p:nvSpPr>
          <p:cNvPr id="26"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7"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YASHIRIN XOTIRA KANALI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Umumiy resurs holati ma'lumot tashishi mumkin</a:t>
            </a:r>
            <a:endParaRPr lang="en-US" sz="3600" dirty="0"/>
          </a:p>
        </p:txBody>
      </p:sp>
      <p:sp>
        <p:nvSpPr>
          <p:cNvPr id="4" name="Text 2"/>
          <p:cNvSpPr txBox="1"/>
          <p:nvPr/>
        </p:nvSpPr>
        <p:spPr>
          <a:xfrm>
            <a:off x="548640" y="1737360"/>
            <a:ext cx="11064240" cy="9144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Ikki jarayon to'g'ridan-to'g'ri gaplasha olmasa ham, ular baham ko'rgan resursning holati (band/bo'sh) orqali bit-ma-bit «gaplashishi» mumkin. Bu BLP ni buzmaydi — hech kim faylni o'qimaydi yoki yozmaydi.</a:t>
            </a:r>
            <a:endParaRPr lang="en-US" sz="1600" dirty="0"/>
          </a:p>
        </p:txBody>
      </p:sp>
      <p:sp>
        <p:nvSpPr>
          <p:cNvPr id="5" name="Shape 3"/>
          <p:cNvSpPr/>
          <p:nvPr/>
        </p:nvSpPr>
        <p:spPr>
          <a:xfrm>
            <a:off x="548640" y="2788920"/>
            <a:ext cx="3566160" cy="2103120"/>
          </a:xfrm>
          <a:prstGeom prst="roundRect">
            <a:avLst>
              <a:gd name="adj" fmla="val 3913"/>
            </a:avLst>
          </a:prstGeom>
          <a:solidFill>
            <a:srgbClr val="EEF2FB"/>
          </a:solidFill>
          <a:ln/>
        </p:spPr>
      </p:sp>
      <p:sp>
        <p:nvSpPr>
          <p:cNvPr id="6" name="Shape 4"/>
          <p:cNvSpPr/>
          <p:nvPr/>
        </p:nvSpPr>
        <p:spPr>
          <a:xfrm>
            <a:off x="777240" y="2971800"/>
            <a:ext cx="566928" cy="566928"/>
          </a:xfrm>
          <a:prstGeom prst="ellipse">
            <a:avLst/>
          </a:prstGeom>
          <a:solidFill>
            <a:srgbClr val="1E2761"/>
          </a:solidFill>
          <a:ln/>
        </p:spPr>
      </p:sp>
      <p:pic>
        <p:nvPicPr>
          <p:cNvPr id="7" name="Image 0" descr="/home/claude/fob-slides/icons_out/database_white.png"/>
          <p:cNvPicPr>
            <a:picLocks noChangeAspect="1"/>
          </p:cNvPicPr>
          <p:nvPr/>
        </p:nvPicPr>
        <p:blipFill>
          <a:blip r:embed="rId1"/>
          <a:stretch>
            <a:fillRect/>
          </a:stretch>
        </p:blipFill>
        <p:spPr>
          <a:xfrm>
            <a:off x="904799" y="3099359"/>
            <a:ext cx="311810" cy="311810"/>
          </a:xfrm>
          <a:prstGeom prst="rect">
            <a:avLst/>
          </a:prstGeom>
        </p:spPr>
      </p:pic>
      <p:sp>
        <p:nvSpPr>
          <p:cNvPr id="8" name="Text 5"/>
          <p:cNvSpPr txBox="1"/>
          <p:nvPr/>
        </p:nvSpPr>
        <p:spPr>
          <a:xfrm>
            <a:off x="1463040" y="297180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Resurs holati</a:t>
            </a:r>
            <a:endParaRPr lang="en-US" sz="2000" dirty="0"/>
          </a:p>
        </p:txBody>
      </p:sp>
      <p:sp>
        <p:nvSpPr>
          <p:cNvPr id="9" name="Text 6"/>
          <p:cNvSpPr txBox="1"/>
          <p:nvPr/>
        </p:nvSpPr>
        <p:spPr>
          <a:xfrm>
            <a:off x="777240" y="3657600"/>
            <a:ext cx="3108960" cy="11430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Umumiy resurs ikki holatda bo'ladi: masalan, «band» yoki «bo'sh». Bu — bitta bit.</a:t>
            </a:r>
            <a:endParaRPr lang="en-US" sz="1600" dirty="0"/>
          </a:p>
        </p:txBody>
      </p:sp>
      <p:sp>
        <p:nvSpPr>
          <p:cNvPr id="10" name="Shape 7"/>
          <p:cNvSpPr/>
          <p:nvPr/>
        </p:nvSpPr>
        <p:spPr>
          <a:xfrm>
            <a:off x="4297680" y="2788920"/>
            <a:ext cx="3566160" cy="2103120"/>
          </a:xfrm>
          <a:prstGeom prst="roundRect">
            <a:avLst>
              <a:gd name="adj" fmla="val 3913"/>
            </a:avLst>
          </a:prstGeom>
          <a:solidFill>
            <a:srgbClr val="EEF2FB"/>
          </a:solidFill>
          <a:ln/>
        </p:spPr>
      </p:sp>
      <p:sp>
        <p:nvSpPr>
          <p:cNvPr id="11" name="Shape 8"/>
          <p:cNvSpPr/>
          <p:nvPr/>
        </p:nvSpPr>
        <p:spPr>
          <a:xfrm>
            <a:off x="4526280" y="2971800"/>
            <a:ext cx="566928" cy="566928"/>
          </a:xfrm>
          <a:prstGeom prst="ellipse">
            <a:avLst/>
          </a:prstGeom>
          <a:solidFill>
            <a:srgbClr val="2A3778"/>
          </a:solidFill>
          <a:ln/>
        </p:spPr>
      </p:sp>
      <p:pic>
        <p:nvPicPr>
          <p:cNvPr id="12" name="Image 1" descr="/home/claude/fob-slides/icons_out/clock_white.png"/>
          <p:cNvPicPr>
            <a:picLocks noChangeAspect="1"/>
          </p:cNvPicPr>
          <p:nvPr/>
        </p:nvPicPr>
        <p:blipFill>
          <a:blip r:embed="rId2"/>
          <a:stretch>
            <a:fillRect/>
          </a:stretch>
        </p:blipFill>
        <p:spPr>
          <a:xfrm>
            <a:off x="4653839" y="3099359"/>
            <a:ext cx="311810" cy="311810"/>
          </a:xfrm>
          <a:prstGeom prst="rect">
            <a:avLst/>
          </a:prstGeom>
        </p:spPr>
      </p:pic>
      <p:sp>
        <p:nvSpPr>
          <p:cNvPr id="13" name="Text 9"/>
          <p:cNvSpPr txBox="1"/>
          <p:nvPr/>
        </p:nvSpPr>
        <p:spPr>
          <a:xfrm>
            <a:off x="5212080" y="297180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Sinxronizatsiya</a:t>
            </a:r>
            <a:endParaRPr lang="en-US" sz="2000" dirty="0"/>
          </a:p>
        </p:txBody>
      </p:sp>
      <p:sp>
        <p:nvSpPr>
          <p:cNvPr id="14" name="Text 10"/>
          <p:cNvSpPr txBox="1"/>
          <p:nvPr/>
        </p:nvSpPr>
        <p:spPr>
          <a:xfrm>
            <a:off x="4526280" y="3657600"/>
            <a:ext cx="3108960" cy="11430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Ikki tomon oldindan kelishilgan vaqt oralig'ida holatni o'zgartiradi va o'qiydi.</a:t>
            </a:r>
            <a:endParaRPr lang="en-US" sz="1600" dirty="0"/>
          </a:p>
        </p:txBody>
      </p:sp>
      <p:sp>
        <p:nvSpPr>
          <p:cNvPr id="15" name="Shape 11"/>
          <p:cNvSpPr/>
          <p:nvPr/>
        </p:nvSpPr>
        <p:spPr>
          <a:xfrm>
            <a:off x="8046720" y="2788920"/>
            <a:ext cx="3566160" cy="2103120"/>
          </a:xfrm>
          <a:prstGeom prst="roundRect">
            <a:avLst>
              <a:gd name="adj" fmla="val 3913"/>
            </a:avLst>
          </a:prstGeom>
          <a:solidFill>
            <a:srgbClr val="EEF2FB"/>
          </a:solidFill>
          <a:ln/>
        </p:spPr>
      </p:sp>
      <p:sp>
        <p:nvSpPr>
          <p:cNvPr id="16" name="Shape 12"/>
          <p:cNvSpPr/>
          <p:nvPr/>
        </p:nvSpPr>
        <p:spPr>
          <a:xfrm>
            <a:off x="8275320" y="2971800"/>
            <a:ext cx="566928" cy="566928"/>
          </a:xfrm>
          <a:prstGeom prst="ellipse">
            <a:avLst/>
          </a:prstGeom>
          <a:solidFill>
            <a:srgbClr val="9E3B2E"/>
          </a:solidFill>
          <a:ln/>
        </p:spPr>
      </p:sp>
      <p:pic>
        <p:nvPicPr>
          <p:cNvPr id="17" name="Image 2" descr="/home/claude/fob-slides/icons_out/warn_white.png"/>
          <p:cNvPicPr>
            <a:picLocks noChangeAspect="1"/>
          </p:cNvPicPr>
          <p:nvPr/>
        </p:nvPicPr>
        <p:blipFill>
          <a:blip r:embed="rId3"/>
          <a:stretch>
            <a:fillRect/>
          </a:stretch>
        </p:blipFill>
        <p:spPr>
          <a:xfrm>
            <a:off x="8402879" y="3099359"/>
            <a:ext cx="311810" cy="311810"/>
          </a:xfrm>
          <a:prstGeom prst="rect">
            <a:avLst/>
          </a:prstGeom>
        </p:spPr>
      </p:pic>
      <p:sp>
        <p:nvSpPr>
          <p:cNvPr id="18" name="Text 13"/>
          <p:cNvSpPr txBox="1"/>
          <p:nvPr/>
        </p:nvSpPr>
        <p:spPr>
          <a:xfrm>
            <a:off x="8961120" y="297180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Nega nazorat ko'rmaydi</a:t>
            </a:r>
            <a:endParaRPr lang="en-US" sz="2000" dirty="0"/>
          </a:p>
        </p:txBody>
      </p:sp>
      <p:sp>
        <p:nvSpPr>
          <p:cNvPr id="19" name="Text 14"/>
          <p:cNvSpPr txBox="1"/>
          <p:nvPr/>
        </p:nvSpPr>
        <p:spPr>
          <a:xfrm>
            <a:off x="8275320" y="3657600"/>
            <a:ext cx="3108960" cy="11430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Har bir amal (resursni so'rash, holatini tekshirish) alohida ruxsat etilgan.</a:t>
            </a:r>
            <a:endParaRPr lang="en-US" sz="1600" dirty="0"/>
          </a:p>
        </p:txBody>
      </p:sp>
      <p:sp>
        <p:nvSpPr>
          <p:cNvPr id="20" name="Shape 15"/>
          <p:cNvSpPr/>
          <p:nvPr/>
        </p:nvSpPr>
        <p:spPr>
          <a:xfrm>
            <a:off x="548640" y="5074920"/>
            <a:ext cx="11064240" cy="1188720"/>
          </a:xfrm>
          <a:prstGeom prst="roundRect">
            <a:avLst>
              <a:gd name="adj" fmla="val 6923"/>
            </a:avLst>
          </a:prstGeom>
          <a:solidFill>
            <a:srgbClr val="E8F3EC"/>
          </a:solidFill>
          <a:ln/>
        </p:spPr>
      </p:sp>
      <p:sp>
        <p:nvSpPr>
          <p:cNvPr id="21" name="Text 16"/>
          <p:cNvSpPr txBox="1"/>
          <p:nvPr/>
        </p:nvSpPr>
        <p:spPr>
          <a:xfrm>
            <a:off x="777240" y="5138928"/>
            <a:ext cx="5486400" cy="384048"/>
          </a:xfrm>
          <a:prstGeom prst="rect">
            <a:avLst/>
          </a:prstGeom>
          <a:noFill/>
          <a:ln/>
        </p:spPr>
        <p:txBody>
          <a:bodyPr wrap="square" lIns="0" tIns="0" rIns="0" bIns="0" rtlCol="0" anchor="t"/>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Himoya (nazariy va amaliy)</a:t>
            </a:r>
            <a:endParaRPr lang="en-US" sz="1800" dirty="0"/>
          </a:p>
        </p:txBody>
      </p:sp>
      <p:sp>
        <p:nvSpPr>
          <p:cNvPr id="22" name="Text 17"/>
          <p:cNvSpPr txBox="1"/>
          <p:nvPr/>
        </p:nvSpPr>
        <p:spPr>
          <a:xfrm>
            <a:off x="777240" y="5504688"/>
            <a:ext cx="10607040" cy="731520"/>
          </a:xfrm>
          <a:prstGeom prst="rect">
            <a:avLst/>
          </a:prstGeom>
          <a:noFill/>
          <a:ln/>
        </p:spPr>
        <p:txBody>
          <a:bodyPr wrap="square" lIns="0" tIns="0" rIns="0" bIns="0" rtlCol="0" anchor="ctr"/>
          <a:lstStyle/>
          <a:p>
            <a:pPr marL="342900" indent="-342900">
              <a:spcAft>
                <a:spcPts val="200"/>
              </a:spcAft>
              <a:buSzPct val="100000"/>
              <a:buChar char="•"/>
            </a:pPr>
            <a:r>
              <a:rPr lang="en-US" sz="1500" dirty="0">
                <a:solidFill>
                  <a:srgbClr val="1B1B2A"/>
                </a:solidFill>
                <a:latin typeface="Times New Roman" pitchFamily="34" charset="0"/>
                <a:ea typeface="Times New Roman" pitchFamily="34" charset="-122"/>
                <a:cs typeface="Times New Roman" pitchFamily="34" charset="-120"/>
              </a:rPr>
              <a:t>Umumiy resurslarni darajalar bo'yicha ajratish; holat ma'lumotini yashirish</a:t>
            </a:r>
            <a:endParaRPr lang="en-US" sz="1500" dirty="0"/>
          </a:p>
          <a:p>
            <a:pPr marL="342900" indent="-342900">
              <a:spcAft>
                <a:spcPts val="200"/>
              </a:spcAft>
              <a:buSzPct val="100000"/>
              <a:buChar char="•"/>
            </a:pPr>
            <a:r>
              <a:rPr lang="en-US" sz="1500" dirty="0">
                <a:solidFill>
                  <a:srgbClr val="1B1B2A"/>
                </a:solidFill>
                <a:latin typeface="Times New Roman" pitchFamily="34" charset="0"/>
                <a:ea typeface="Times New Roman" pitchFamily="34" charset="-122"/>
                <a:cs typeface="Times New Roman" pitchFamily="34" charset="-120"/>
              </a:rPr>
              <a:t>O'tkazuvchanlikni kamaytirish: shovqin qo'shish, kvotalarni oldindan ajratish</a:t>
            </a:r>
            <a:endParaRPr lang="en-US" sz="1500" dirty="0"/>
          </a:p>
          <a:p>
            <a:pPr marL="342900" indent="-342900">
              <a:spcAft>
                <a:spcPts val="200"/>
              </a:spcAft>
              <a:buSzPct val="100000"/>
              <a:buChar char="•"/>
            </a:pPr>
            <a:r>
              <a:rPr lang="en-US" sz="1500" dirty="0">
                <a:solidFill>
                  <a:srgbClr val="1B1B2A"/>
                </a:solidFill>
                <a:latin typeface="Times New Roman" pitchFamily="34" charset="0"/>
                <a:ea typeface="Times New Roman" pitchFamily="34" charset="-122"/>
                <a:cs typeface="Times New Roman" pitchFamily="34" charset="-120"/>
              </a:rPr>
              <a:t>Audit: bir resursga g'ayrioddiy tez-tez murojaatlarni aniqlash</a:t>
            </a:r>
            <a:endParaRPr lang="en-US" sz="1500" dirty="0"/>
          </a:p>
        </p:txBody>
      </p:sp>
      <p:sp>
        <p:nvSpPr>
          <p:cNvPr id="23"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4"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VAQT VA YON KANALLAR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Soat ham ma'lumot tashiydi</a:t>
            </a:r>
            <a:endParaRPr lang="en-US" sz="3600" dirty="0"/>
          </a:p>
        </p:txBody>
      </p:sp>
      <p:sp>
        <p:nvSpPr>
          <p:cNvPr id="4" name="Shape 2"/>
          <p:cNvSpPr/>
          <p:nvPr/>
        </p:nvSpPr>
        <p:spPr>
          <a:xfrm>
            <a:off x="548640" y="1783080"/>
            <a:ext cx="5440680" cy="1920240"/>
          </a:xfrm>
          <a:prstGeom prst="roundRect">
            <a:avLst>
              <a:gd name="adj" fmla="val 4286"/>
            </a:avLst>
          </a:prstGeom>
          <a:solidFill>
            <a:srgbClr val="EEF2FB"/>
          </a:solidFill>
          <a:ln/>
        </p:spPr>
      </p:sp>
      <p:sp>
        <p:nvSpPr>
          <p:cNvPr id="5" name="Shape 3"/>
          <p:cNvSpPr/>
          <p:nvPr/>
        </p:nvSpPr>
        <p:spPr>
          <a:xfrm>
            <a:off x="777240" y="2011680"/>
            <a:ext cx="594360" cy="594360"/>
          </a:xfrm>
          <a:prstGeom prst="ellipse">
            <a:avLst/>
          </a:prstGeom>
          <a:solidFill>
            <a:srgbClr val="9E3B2E"/>
          </a:solidFill>
          <a:ln/>
        </p:spPr>
      </p:sp>
      <p:pic>
        <p:nvPicPr>
          <p:cNvPr id="6" name="Image 0" descr="/home/claude/fob-slides/icons_out/stopwatch_white.png"/>
          <p:cNvPicPr>
            <a:picLocks noChangeAspect="1"/>
          </p:cNvPicPr>
          <p:nvPr/>
        </p:nvPicPr>
        <p:blipFill>
          <a:blip r:embed="rId1"/>
          <a:stretch>
            <a:fillRect/>
          </a:stretch>
        </p:blipFill>
        <p:spPr>
          <a:xfrm>
            <a:off x="910971" y="2145411"/>
            <a:ext cx="326898" cy="326898"/>
          </a:xfrm>
          <a:prstGeom prst="rect">
            <a:avLst/>
          </a:prstGeom>
        </p:spPr>
      </p:pic>
      <p:sp>
        <p:nvSpPr>
          <p:cNvPr id="7" name="Text 4"/>
          <p:cNvSpPr txBox="1"/>
          <p:nvPr/>
        </p:nvSpPr>
        <p:spPr>
          <a:xfrm>
            <a:off x="1554480" y="20116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Vaqt kanali</a:t>
            </a:r>
            <a:endParaRPr lang="en-US" sz="2000" dirty="0"/>
          </a:p>
        </p:txBody>
      </p:sp>
      <p:sp>
        <p:nvSpPr>
          <p:cNvPr id="8" name="Text 5"/>
          <p:cNvSpPr txBox="1"/>
          <p:nvPr/>
        </p:nvSpPr>
        <p:spPr>
          <a:xfrm>
            <a:off x="777240" y="2697480"/>
            <a:ext cx="4983480" cy="91440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Umumiy resursdan foydalanish tezligi ma'lumotga bog'liq bo'lsa, tashqi kuzatuvchi vaqtni o'lchab, shu ma'lumotni tiklaydi.</a:t>
            </a:r>
            <a:endParaRPr lang="en-US" sz="1600" dirty="0"/>
          </a:p>
        </p:txBody>
      </p:sp>
      <p:sp>
        <p:nvSpPr>
          <p:cNvPr id="9" name="Shape 6"/>
          <p:cNvSpPr/>
          <p:nvPr/>
        </p:nvSpPr>
        <p:spPr>
          <a:xfrm>
            <a:off x="6172200" y="1783080"/>
            <a:ext cx="5440680" cy="1920240"/>
          </a:xfrm>
          <a:prstGeom prst="roundRect">
            <a:avLst>
              <a:gd name="adj" fmla="val 4286"/>
            </a:avLst>
          </a:prstGeom>
          <a:solidFill>
            <a:srgbClr val="EEF2FB"/>
          </a:solidFill>
          <a:ln/>
        </p:spPr>
      </p:sp>
      <p:sp>
        <p:nvSpPr>
          <p:cNvPr id="10" name="Shape 7"/>
          <p:cNvSpPr/>
          <p:nvPr/>
        </p:nvSpPr>
        <p:spPr>
          <a:xfrm>
            <a:off x="6400800" y="2011680"/>
            <a:ext cx="594360" cy="594360"/>
          </a:xfrm>
          <a:prstGeom prst="ellipse">
            <a:avLst/>
          </a:prstGeom>
          <a:solidFill>
            <a:srgbClr val="D9932B"/>
          </a:solidFill>
          <a:ln/>
        </p:spPr>
      </p:sp>
      <p:pic>
        <p:nvPicPr>
          <p:cNvPr id="11" name="Image 1" descr="/home/claude/fob-slides/icons_out/chip_white.png"/>
          <p:cNvPicPr>
            <a:picLocks noChangeAspect="1"/>
          </p:cNvPicPr>
          <p:nvPr/>
        </p:nvPicPr>
        <p:blipFill>
          <a:blip r:embed="rId2"/>
          <a:stretch>
            <a:fillRect/>
          </a:stretch>
        </p:blipFill>
        <p:spPr>
          <a:xfrm>
            <a:off x="6534531" y="2145411"/>
            <a:ext cx="326898" cy="326898"/>
          </a:xfrm>
          <a:prstGeom prst="rect">
            <a:avLst/>
          </a:prstGeom>
        </p:spPr>
      </p:pic>
      <p:sp>
        <p:nvSpPr>
          <p:cNvPr id="12" name="Text 8"/>
          <p:cNvSpPr txBox="1"/>
          <p:nvPr/>
        </p:nvSpPr>
        <p:spPr>
          <a:xfrm>
            <a:off x="7178040" y="20116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Kesh yon kanali</a:t>
            </a:r>
            <a:endParaRPr lang="en-US" sz="2000" dirty="0"/>
          </a:p>
        </p:txBody>
      </p:sp>
      <p:sp>
        <p:nvSpPr>
          <p:cNvPr id="13" name="Text 9"/>
          <p:cNvSpPr txBox="1"/>
          <p:nvPr/>
        </p:nvSpPr>
        <p:spPr>
          <a:xfrm>
            <a:off x="6400800" y="2697480"/>
            <a:ext cx="4983480" cy="91440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Xotiradan o'qish vaqti ma'lumot keshda bor-yo'qligiga bog'liq — bu boshqa jarayonning xatti-harakati haqida ma'lumot beradi.</a:t>
            </a:r>
            <a:endParaRPr lang="en-US" sz="1600" dirty="0"/>
          </a:p>
        </p:txBody>
      </p:sp>
      <p:sp>
        <p:nvSpPr>
          <p:cNvPr id="14" name="Shape 10"/>
          <p:cNvSpPr/>
          <p:nvPr/>
        </p:nvSpPr>
        <p:spPr>
          <a:xfrm>
            <a:off x="548640" y="3886200"/>
            <a:ext cx="5440680" cy="1920240"/>
          </a:xfrm>
          <a:prstGeom prst="roundRect">
            <a:avLst>
              <a:gd name="adj" fmla="val 4286"/>
            </a:avLst>
          </a:prstGeom>
          <a:solidFill>
            <a:srgbClr val="EEF2FB"/>
          </a:solidFill>
          <a:ln/>
        </p:spPr>
      </p:sp>
      <p:sp>
        <p:nvSpPr>
          <p:cNvPr id="15" name="Shape 11"/>
          <p:cNvSpPr/>
          <p:nvPr/>
        </p:nvSpPr>
        <p:spPr>
          <a:xfrm>
            <a:off x="777240" y="4114800"/>
            <a:ext cx="594360" cy="594360"/>
          </a:xfrm>
          <a:prstGeom prst="ellipse">
            <a:avLst/>
          </a:prstGeom>
          <a:solidFill>
            <a:srgbClr val="9E3B2E"/>
          </a:solidFill>
          <a:ln/>
        </p:spPr>
      </p:sp>
      <p:pic>
        <p:nvPicPr>
          <p:cNvPr id="16" name="Image 2" descr="/home/claude/fob-slides/icons_out/warn_white.png"/>
          <p:cNvPicPr>
            <a:picLocks noChangeAspect="1"/>
          </p:cNvPicPr>
          <p:nvPr/>
        </p:nvPicPr>
        <p:blipFill>
          <a:blip r:embed="rId3"/>
          <a:stretch>
            <a:fillRect/>
          </a:stretch>
        </p:blipFill>
        <p:spPr>
          <a:xfrm>
            <a:off x="910971" y="4248531"/>
            <a:ext cx="326898" cy="326898"/>
          </a:xfrm>
          <a:prstGeom prst="rect">
            <a:avLst/>
          </a:prstGeom>
        </p:spPr>
      </p:pic>
      <p:sp>
        <p:nvSpPr>
          <p:cNvPr id="17" name="Text 12"/>
          <p:cNvSpPr txBox="1"/>
          <p:nvPr/>
        </p:nvSpPr>
        <p:spPr>
          <a:xfrm>
            <a:off x="1554480" y="411480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Spectre va Meltdown (2018)</a:t>
            </a:r>
            <a:endParaRPr lang="en-US" sz="2000" dirty="0"/>
          </a:p>
        </p:txBody>
      </p:sp>
      <p:sp>
        <p:nvSpPr>
          <p:cNvPr id="18" name="Text 13"/>
          <p:cNvSpPr txBox="1"/>
          <p:nvPr/>
        </p:nvSpPr>
        <p:spPr>
          <a:xfrm>
            <a:off x="777240" y="4800600"/>
            <a:ext cx="4983480" cy="91440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Protsessorning oldindan bajarish mexanizmi va kesh vaqti birga — jarayonlar orasidagi izolyatsiyani buzgan mashhur yon kanal.</a:t>
            </a:r>
            <a:endParaRPr lang="en-US" sz="1600" dirty="0"/>
          </a:p>
        </p:txBody>
      </p:sp>
      <p:sp>
        <p:nvSpPr>
          <p:cNvPr id="19" name="Shape 14"/>
          <p:cNvSpPr/>
          <p:nvPr/>
        </p:nvSpPr>
        <p:spPr>
          <a:xfrm>
            <a:off x="6172200" y="3886200"/>
            <a:ext cx="5440680" cy="1920240"/>
          </a:xfrm>
          <a:prstGeom prst="roundRect">
            <a:avLst>
              <a:gd name="adj" fmla="val 4286"/>
            </a:avLst>
          </a:prstGeom>
          <a:solidFill>
            <a:srgbClr val="E8F3EC"/>
          </a:solidFill>
          <a:ln/>
        </p:spPr>
      </p:sp>
      <p:sp>
        <p:nvSpPr>
          <p:cNvPr id="20" name="Shape 15"/>
          <p:cNvSpPr/>
          <p:nvPr/>
        </p:nvSpPr>
        <p:spPr>
          <a:xfrm>
            <a:off x="6400800" y="4114800"/>
            <a:ext cx="594360" cy="594360"/>
          </a:xfrm>
          <a:prstGeom prst="ellipse">
            <a:avLst/>
          </a:prstGeom>
          <a:solidFill>
            <a:srgbClr val="1F6B4A"/>
          </a:solidFill>
          <a:ln/>
        </p:spPr>
      </p:sp>
      <p:pic>
        <p:nvPicPr>
          <p:cNvPr id="21" name="Image 3" descr="/home/claude/fob-slides/icons_out/shield_white.png"/>
          <p:cNvPicPr>
            <a:picLocks noChangeAspect="1"/>
          </p:cNvPicPr>
          <p:nvPr/>
        </p:nvPicPr>
        <p:blipFill>
          <a:blip r:embed="rId4"/>
          <a:stretch>
            <a:fillRect/>
          </a:stretch>
        </p:blipFill>
        <p:spPr>
          <a:xfrm>
            <a:off x="6534531" y="4248531"/>
            <a:ext cx="326898" cy="326898"/>
          </a:xfrm>
          <a:prstGeom prst="rect">
            <a:avLst/>
          </a:prstGeom>
        </p:spPr>
      </p:pic>
      <p:sp>
        <p:nvSpPr>
          <p:cNvPr id="22" name="Text 16"/>
          <p:cNvSpPr txBox="1"/>
          <p:nvPr/>
        </p:nvSpPr>
        <p:spPr>
          <a:xfrm>
            <a:off x="7178040" y="411480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F6B4A"/>
                </a:solidFill>
                <a:latin typeface="Times New Roman" pitchFamily="34" charset="0"/>
                <a:ea typeface="Times New Roman" pitchFamily="34" charset="-122"/>
                <a:cs typeface="Times New Roman" pitchFamily="34" charset="-120"/>
              </a:rPr>
              <a:t>Windows'dagi javob</a:t>
            </a:r>
            <a:endParaRPr lang="en-US" sz="2000" dirty="0"/>
          </a:p>
        </p:txBody>
      </p:sp>
      <p:sp>
        <p:nvSpPr>
          <p:cNvPr id="23" name="Text 17"/>
          <p:cNvSpPr txBox="1"/>
          <p:nvPr/>
        </p:nvSpPr>
        <p:spPr>
          <a:xfrm>
            <a:off x="6400800" y="4800600"/>
            <a:ext cx="4983480" cy="91440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Meltdown uchun KVA Shadow — yadro manzillarini foydalanuvchi rejimidan ajratish; mikrokod va kompilyator yamoqlari.</a:t>
            </a:r>
            <a:endParaRPr lang="en-US" sz="1600" dirty="0"/>
          </a:p>
        </p:txBody>
      </p:sp>
      <p:sp>
        <p:nvSpPr>
          <p:cNvPr id="24" name="Text 18"/>
          <p:cNvSpPr txBox="1"/>
          <p:nvPr/>
        </p:nvSpPr>
        <p:spPr>
          <a:xfrm>
            <a:off x="548640" y="5989320"/>
            <a:ext cx="11064240" cy="36576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Yon kanallar foydalanish nazoratining «ostida» ishlaydi: har bir ko'rsatma ruxsat etilgan, sizish — apparat darajasida.</a:t>
            </a:r>
            <a:endParaRPr lang="en-US" sz="1500" dirty="0"/>
          </a:p>
        </p:txBody>
      </p:sp>
      <p:sp>
        <p:nvSpPr>
          <p:cNvPr id="25" name="Text 1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6" name="Text 2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TARMOQ YASHIRIN KANALLARI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Ruxsat etilgan protokol ichida yashiringan ma'lumot</a:t>
            </a:r>
            <a:endParaRPr lang="en-US" sz="3600" dirty="0"/>
          </a:p>
        </p:txBody>
      </p:sp>
      <p:sp>
        <p:nvSpPr>
          <p:cNvPr id="4" name="Text 2"/>
          <p:cNvSpPr txBox="1"/>
          <p:nvPr/>
        </p:nvSpPr>
        <p:spPr>
          <a:xfrm>
            <a:off x="548640" y="1737360"/>
            <a:ext cx="11064240" cy="86868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Zararli dastur ma'lumotni ochiq portlar orqali emas, ruxsat etilgan protokollar (DNS, ICMP, HTTP) ichiga «yashirib» chiqarishi mumkin. Ma'ruzaning maqsadi — bu kanallarni aniqlash va yopish.</a:t>
            </a:r>
            <a:endParaRPr lang="en-US" sz="1600" dirty="0"/>
          </a:p>
        </p:txBody>
      </p:sp>
      <p:sp>
        <p:nvSpPr>
          <p:cNvPr id="5" name="Shape 3"/>
          <p:cNvSpPr/>
          <p:nvPr/>
        </p:nvSpPr>
        <p:spPr>
          <a:xfrm>
            <a:off x="548640" y="2743200"/>
            <a:ext cx="3566160" cy="3017520"/>
          </a:xfrm>
          <a:prstGeom prst="roundRect">
            <a:avLst>
              <a:gd name="adj" fmla="val 2727"/>
            </a:avLst>
          </a:prstGeom>
          <a:solidFill>
            <a:srgbClr val="F7ECEA"/>
          </a:solidFill>
          <a:ln/>
        </p:spPr>
      </p:sp>
      <p:sp>
        <p:nvSpPr>
          <p:cNvPr id="6" name="Shape 4"/>
          <p:cNvSpPr/>
          <p:nvPr/>
        </p:nvSpPr>
        <p:spPr>
          <a:xfrm>
            <a:off x="777240" y="2926080"/>
            <a:ext cx="566928" cy="566928"/>
          </a:xfrm>
          <a:prstGeom prst="ellipse">
            <a:avLst/>
          </a:prstGeom>
          <a:solidFill>
            <a:srgbClr val="9E3B2E"/>
          </a:solidFill>
          <a:ln/>
        </p:spPr>
      </p:sp>
      <p:pic>
        <p:nvPicPr>
          <p:cNvPr id="7" name="Image 0" descr="/home/claude/fob-slides/icons_out/search_white.png"/>
          <p:cNvPicPr>
            <a:picLocks noChangeAspect="1"/>
          </p:cNvPicPr>
          <p:nvPr/>
        </p:nvPicPr>
        <p:blipFill>
          <a:blip r:embed="rId1"/>
          <a:stretch>
            <a:fillRect/>
          </a:stretch>
        </p:blipFill>
        <p:spPr>
          <a:xfrm>
            <a:off x="904799" y="3053639"/>
            <a:ext cx="311810" cy="311810"/>
          </a:xfrm>
          <a:prstGeom prst="rect">
            <a:avLst/>
          </a:prstGeom>
        </p:spPr>
      </p:pic>
      <p:sp>
        <p:nvSpPr>
          <p:cNvPr id="8" name="Text 5"/>
          <p:cNvSpPr txBox="1"/>
          <p:nvPr/>
        </p:nvSpPr>
        <p:spPr>
          <a:xfrm>
            <a:off x="1463040" y="292608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9E3B2E"/>
                </a:solidFill>
                <a:latin typeface="Times New Roman" pitchFamily="34" charset="0"/>
                <a:ea typeface="Times New Roman" pitchFamily="34" charset="-122"/>
                <a:cs typeface="Times New Roman" pitchFamily="34" charset="-120"/>
              </a:rPr>
              <a:t>Belgilari</a:t>
            </a:r>
            <a:endParaRPr lang="en-US" sz="2000" dirty="0"/>
          </a:p>
        </p:txBody>
      </p:sp>
      <p:sp>
        <p:nvSpPr>
          <p:cNvPr id="9" name="Text 6"/>
          <p:cNvSpPr txBox="1"/>
          <p:nvPr/>
        </p:nvSpPr>
        <p:spPr>
          <a:xfrm>
            <a:off x="804672" y="3657600"/>
            <a:ext cx="3063240" cy="201168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Uzun, tasodifiy ko'rinishli subdomenlar</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Bitta domenga g'ayrioddiy ko'p so'rov</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Odatiy bo'lmagan protokol yoki port</a:t>
            </a:r>
            <a:endParaRPr lang="en-US" sz="1600" dirty="0"/>
          </a:p>
        </p:txBody>
      </p:sp>
      <p:sp>
        <p:nvSpPr>
          <p:cNvPr id="10" name="Shape 7"/>
          <p:cNvSpPr/>
          <p:nvPr/>
        </p:nvSpPr>
        <p:spPr>
          <a:xfrm>
            <a:off x="4297680" y="2743200"/>
            <a:ext cx="3566160" cy="3017520"/>
          </a:xfrm>
          <a:prstGeom prst="roundRect">
            <a:avLst>
              <a:gd name="adj" fmla="val 2727"/>
            </a:avLst>
          </a:prstGeom>
          <a:solidFill>
            <a:srgbClr val="E8F3EC"/>
          </a:solidFill>
          <a:ln/>
        </p:spPr>
      </p:sp>
      <p:sp>
        <p:nvSpPr>
          <p:cNvPr id="11" name="Shape 8"/>
          <p:cNvSpPr/>
          <p:nvPr/>
        </p:nvSpPr>
        <p:spPr>
          <a:xfrm>
            <a:off x="4526280" y="2926080"/>
            <a:ext cx="566928" cy="566928"/>
          </a:xfrm>
          <a:prstGeom prst="ellipse">
            <a:avLst/>
          </a:prstGeom>
          <a:solidFill>
            <a:srgbClr val="1F6B4A"/>
          </a:solidFill>
          <a:ln/>
        </p:spPr>
      </p:sp>
      <p:pic>
        <p:nvPicPr>
          <p:cNvPr id="12" name="Image 1" descr="/home/claude/fob-slides/icons_out/shield_white.png"/>
          <p:cNvPicPr>
            <a:picLocks noChangeAspect="1"/>
          </p:cNvPicPr>
          <p:nvPr/>
        </p:nvPicPr>
        <p:blipFill>
          <a:blip r:embed="rId2"/>
          <a:stretch>
            <a:fillRect/>
          </a:stretch>
        </p:blipFill>
        <p:spPr>
          <a:xfrm>
            <a:off x="4653839" y="3053639"/>
            <a:ext cx="311810" cy="311810"/>
          </a:xfrm>
          <a:prstGeom prst="rect">
            <a:avLst/>
          </a:prstGeom>
        </p:spPr>
      </p:pic>
      <p:sp>
        <p:nvSpPr>
          <p:cNvPr id="13" name="Text 9"/>
          <p:cNvSpPr txBox="1"/>
          <p:nvPr/>
        </p:nvSpPr>
        <p:spPr>
          <a:xfrm>
            <a:off x="5212080" y="292608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F6B4A"/>
                </a:solidFill>
                <a:latin typeface="Times New Roman" pitchFamily="34" charset="0"/>
                <a:ea typeface="Times New Roman" pitchFamily="34" charset="-122"/>
                <a:cs typeface="Times New Roman" pitchFamily="34" charset="-120"/>
              </a:rPr>
              <a:t>Windows'da himoya</a:t>
            </a:r>
            <a:endParaRPr lang="en-US" sz="2000" dirty="0"/>
          </a:p>
        </p:txBody>
      </p:sp>
      <p:sp>
        <p:nvSpPr>
          <p:cNvPr id="14" name="Text 10"/>
          <p:cNvSpPr txBox="1"/>
          <p:nvPr/>
        </p:nvSpPr>
        <p:spPr>
          <a:xfrm>
            <a:off x="4553712" y="3657600"/>
            <a:ext cx="3063240" cy="201168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Kompyuterlar faqat ichki DNS serveridan foydalanadi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53-port tashqariga chegara devorida yopiq</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DNS filtrlash va xavfli domenlar ro'yxati</a:t>
            </a:r>
            <a:endParaRPr lang="en-US" sz="1600" dirty="0"/>
          </a:p>
        </p:txBody>
      </p:sp>
      <p:sp>
        <p:nvSpPr>
          <p:cNvPr id="15" name="Shape 11"/>
          <p:cNvSpPr/>
          <p:nvPr/>
        </p:nvSpPr>
        <p:spPr>
          <a:xfrm>
            <a:off x="8046720" y="2743200"/>
            <a:ext cx="3566160" cy="3017520"/>
          </a:xfrm>
          <a:prstGeom prst="roundRect">
            <a:avLst>
              <a:gd name="adj" fmla="val 2727"/>
            </a:avLst>
          </a:prstGeom>
          <a:solidFill>
            <a:srgbClr val="E8F3EC"/>
          </a:solidFill>
          <a:ln/>
        </p:spPr>
      </p:sp>
      <p:sp>
        <p:nvSpPr>
          <p:cNvPr id="16" name="Shape 12"/>
          <p:cNvSpPr/>
          <p:nvPr/>
        </p:nvSpPr>
        <p:spPr>
          <a:xfrm>
            <a:off x="8275320" y="2926080"/>
            <a:ext cx="566928" cy="566928"/>
          </a:xfrm>
          <a:prstGeom prst="ellipse">
            <a:avLst/>
          </a:prstGeom>
          <a:solidFill>
            <a:srgbClr val="1F6B4A"/>
          </a:solidFill>
          <a:ln/>
        </p:spPr>
      </p:sp>
      <p:pic>
        <p:nvPicPr>
          <p:cNvPr id="17" name="Image 2" descr="/home/claude/fob-slides/icons_out/network_white.png"/>
          <p:cNvPicPr>
            <a:picLocks noChangeAspect="1"/>
          </p:cNvPicPr>
          <p:nvPr/>
        </p:nvPicPr>
        <p:blipFill>
          <a:blip r:embed="rId3"/>
          <a:stretch>
            <a:fillRect/>
          </a:stretch>
        </p:blipFill>
        <p:spPr>
          <a:xfrm>
            <a:off x="8402879" y="3053639"/>
            <a:ext cx="311810" cy="311810"/>
          </a:xfrm>
          <a:prstGeom prst="rect">
            <a:avLst/>
          </a:prstGeom>
        </p:spPr>
      </p:pic>
      <p:sp>
        <p:nvSpPr>
          <p:cNvPr id="18" name="Text 13"/>
          <p:cNvSpPr txBox="1"/>
          <p:nvPr/>
        </p:nvSpPr>
        <p:spPr>
          <a:xfrm>
            <a:off x="8961120" y="2926080"/>
            <a:ext cx="24688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F6B4A"/>
                </a:solidFill>
                <a:latin typeface="Times New Roman" pitchFamily="34" charset="0"/>
                <a:ea typeface="Times New Roman" pitchFamily="34" charset="-122"/>
                <a:cs typeface="Times New Roman" pitchFamily="34" charset="-120"/>
              </a:rPr>
              <a:t>Aniqlash vositalari</a:t>
            </a:r>
            <a:endParaRPr lang="en-US" sz="2000" dirty="0"/>
          </a:p>
        </p:txBody>
      </p:sp>
      <p:sp>
        <p:nvSpPr>
          <p:cNvPr id="19" name="Text 14"/>
          <p:cNvSpPr txBox="1"/>
          <p:nvPr/>
        </p:nvSpPr>
        <p:spPr>
          <a:xfrm>
            <a:off x="8302752" y="3657600"/>
            <a:ext cx="3063240" cy="201168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Windows DNS Server analitik jurnallari</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Microsoft Defender for Endpoint</a:t>
            </a:r>
            <a:endParaRPr lang="en-US" sz="1600" dirty="0"/>
          </a:p>
          <a:p>
            <a:pPr marL="342900" indent="-342900">
              <a:spcAft>
                <a:spcPts val="8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Tarmoq trafigini tahlil qilish (NDR)</a:t>
            </a:r>
            <a:endParaRPr lang="en-US" sz="1600" dirty="0"/>
          </a:p>
        </p:txBody>
      </p:sp>
      <p:sp>
        <p:nvSpPr>
          <p:cNvPr id="20" name="Text 15"/>
          <p:cNvSpPr txBox="1"/>
          <p:nvPr/>
        </p:nvSpPr>
        <p:spPr>
          <a:xfrm>
            <a:off x="548640" y="5943600"/>
            <a:ext cx="11064240" cy="36576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Bu 9-ma'ruzadagi ma'lumot o'g'irlash hodisalarida ham, zararli dasturlarni aniqlashda ham markaziy mavzu.</a:t>
            </a:r>
            <a:endParaRPr lang="en-US" sz="1500" dirty="0"/>
          </a:p>
        </p:txBody>
      </p:sp>
      <p:sp>
        <p:nvSpPr>
          <p:cNvPr id="21" name="Text 1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2" name="Text 1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Kanal o'tkazuvchanligini baholang</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640080"/>
          </a:xfrm>
          <a:prstGeom prst="roundRect">
            <a:avLst>
              <a:gd name="adj" fmla="val 12857"/>
            </a:avLst>
          </a:prstGeom>
          <a:solidFill>
            <a:srgbClr val="FFFFFF"/>
          </a:solidFill>
          <a:ln/>
        </p:spPr>
      </p:sp>
      <p:sp>
        <p:nvSpPr>
          <p:cNvPr id="7" name="Text 4"/>
          <p:cNvSpPr txBox="1"/>
          <p:nvPr/>
        </p:nvSpPr>
        <p:spPr>
          <a:xfrm>
            <a:off x="868680" y="1783080"/>
            <a:ext cx="10424160" cy="6400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Yashirin kanal ideal sharoitda har 20 ms da 1 bit uzatadi. Hisoblang va baholang.</a:t>
            </a:r>
            <a:endParaRPr lang="en-US" sz="1700" dirty="0"/>
          </a:p>
        </p:txBody>
      </p:sp>
      <p:sp>
        <p:nvSpPr>
          <p:cNvPr id="8" name="Shape 5"/>
          <p:cNvSpPr/>
          <p:nvPr/>
        </p:nvSpPr>
        <p:spPr>
          <a:xfrm>
            <a:off x="548640" y="2606040"/>
            <a:ext cx="11064240" cy="731520"/>
          </a:xfrm>
          <a:prstGeom prst="roundRect">
            <a:avLst>
              <a:gd name="adj" fmla="val 11250"/>
            </a:avLst>
          </a:prstGeom>
          <a:solidFill>
            <a:srgbClr val="FFFFFF"/>
          </a:solidFill>
          <a:ln/>
        </p:spPr>
      </p:sp>
      <p:sp>
        <p:nvSpPr>
          <p:cNvPr id="9" name="Shape 6"/>
          <p:cNvSpPr/>
          <p:nvPr/>
        </p:nvSpPr>
        <p:spPr>
          <a:xfrm>
            <a:off x="548640" y="2606040"/>
            <a:ext cx="685800" cy="731520"/>
          </a:xfrm>
          <a:prstGeom prst="roundRect">
            <a:avLst>
              <a:gd name="adj" fmla="val 12000"/>
            </a:avLst>
          </a:prstGeom>
          <a:solidFill>
            <a:srgbClr val="D9932B"/>
          </a:solidFill>
          <a:ln/>
        </p:spPr>
      </p:sp>
      <p:sp>
        <p:nvSpPr>
          <p:cNvPr id="10" name="Text 7"/>
          <p:cNvSpPr txBox="1"/>
          <p:nvPr/>
        </p:nvSpPr>
        <p:spPr>
          <a:xfrm>
            <a:off x="548640" y="2606040"/>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1" name="Text 8"/>
          <p:cNvSpPr txBox="1"/>
          <p:nvPr/>
        </p:nvSpPr>
        <p:spPr>
          <a:xfrm>
            <a:off x="1417320" y="2606040"/>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Kanalning o'tkazuvchanligi necha bit/s?</a:t>
            </a:r>
            <a:endParaRPr lang="en-US" sz="1700" dirty="0"/>
          </a:p>
        </p:txBody>
      </p:sp>
      <p:sp>
        <p:nvSpPr>
          <p:cNvPr id="12" name="Shape 9"/>
          <p:cNvSpPr/>
          <p:nvPr/>
        </p:nvSpPr>
        <p:spPr>
          <a:xfrm>
            <a:off x="10012680" y="2724912"/>
            <a:ext cx="1417320" cy="493776"/>
          </a:xfrm>
          <a:prstGeom prst="roundRect">
            <a:avLst>
              <a:gd name="adj" fmla="val 16667"/>
            </a:avLst>
          </a:prstGeom>
          <a:solidFill>
            <a:srgbClr val="FDF3E2"/>
          </a:solidFill>
          <a:ln w="12700">
            <a:solidFill>
              <a:srgbClr val="D9932B"/>
            </a:solidFill>
            <a:prstDash val="solid"/>
          </a:ln>
        </p:spPr>
      </p:sp>
      <p:sp>
        <p:nvSpPr>
          <p:cNvPr id="13" name="Text 10"/>
          <p:cNvSpPr txBox="1"/>
          <p:nvPr/>
        </p:nvSpPr>
        <p:spPr>
          <a:xfrm>
            <a:off x="10012680" y="2724912"/>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14" name="Shape 11"/>
          <p:cNvSpPr/>
          <p:nvPr/>
        </p:nvSpPr>
        <p:spPr>
          <a:xfrm>
            <a:off x="548640" y="3456432"/>
            <a:ext cx="11064240" cy="731520"/>
          </a:xfrm>
          <a:prstGeom prst="roundRect">
            <a:avLst>
              <a:gd name="adj" fmla="val 11250"/>
            </a:avLst>
          </a:prstGeom>
          <a:solidFill>
            <a:srgbClr val="FFFFFF"/>
          </a:solidFill>
          <a:ln/>
        </p:spPr>
      </p:sp>
      <p:sp>
        <p:nvSpPr>
          <p:cNvPr id="15" name="Shape 12"/>
          <p:cNvSpPr/>
          <p:nvPr/>
        </p:nvSpPr>
        <p:spPr>
          <a:xfrm>
            <a:off x="548640" y="3456432"/>
            <a:ext cx="685800" cy="731520"/>
          </a:xfrm>
          <a:prstGeom prst="roundRect">
            <a:avLst>
              <a:gd name="adj" fmla="val 12000"/>
            </a:avLst>
          </a:prstGeom>
          <a:solidFill>
            <a:srgbClr val="D9932B"/>
          </a:solidFill>
          <a:ln/>
        </p:spPr>
      </p:sp>
      <p:sp>
        <p:nvSpPr>
          <p:cNvPr id="16" name="Text 13"/>
          <p:cNvSpPr txBox="1"/>
          <p:nvPr/>
        </p:nvSpPr>
        <p:spPr>
          <a:xfrm>
            <a:off x="548640" y="3456432"/>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7" name="Text 14"/>
          <p:cNvSpPr txBox="1"/>
          <p:nvPr/>
        </p:nvSpPr>
        <p:spPr>
          <a:xfrm>
            <a:off x="1417320" y="3456432"/>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Bitta 6 xonali parolni (~40 bit) uzatish necha soniya oladi?</a:t>
            </a:r>
            <a:endParaRPr lang="en-US" sz="1700" dirty="0"/>
          </a:p>
        </p:txBody>
      </p:sp>
      <p:sp>
        <p:nvSpPr>
          <p:cNvPr id="18" name="Shape 15"/>
          <p:cNvSpPr/>
          <p:nvPr/>
        </p:nvSpPr>
        <p:spPr>
          <a:xfrm>
            <a:off x="10012680" y="3575304"/>
            <a:ext cx="1417320" cy="493776"/>
          </a:xfrm>
          <a:prstGeom prst="roundRect">
            <a:avLst>
              <a:gd name="adj" fmla="val 16667"/>
            </a:avLst>
          </a:prstGeom>
          <a:solidFill>
            <a:srgbClr val="FDF3E2"/>
          </a:solidFill>
          <a:ln w="12700">
            <a:solidFill>
              <a:srgbClr val="D9932B"/>
            </a:solidFill>
            <a:prstDash val="solid"/>
          </a:ln>
        </p:spPr>
      </p:sp>
      <p:sp>
        <p:nvSpPr>
          <p:cNvPr id="19" name="Text 16"/>
          <p:cNvSpPr txBox="1"/>
          <p:nvPr/>
        </p:nvSpPr>
        <p:spPr>
          <a:xfrm>
            <a:off x="10012680" y="357530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20" name="Shape 17"/>
          <p:cNvSpPr/>
          <p:nvPr/>
        </p:nvSpPr>
        <p:spPr>
          <a:xfrm>
            <a:off x="548640" y="4306824"/>
            <a:ext cx="11064240" cy="731520"/>
          </a:xfrm>
          <a:prstGeom prst="roundRect">
            <a:avLst>
              <a:gd name="adj" fmla="val 11250"/>
            </a:avLst>
          </a:prstGeom>
          <a:solidFill>
            <a:srgbClr val="FFFFFF"/>
          </a:solidFill>
          <a:ln/>
        </p:spPr>
      </p:sp>
      <p:sp>
        <p:nvSpPr>
          <p:cNvPr id="21" name="Shape 18"/>
          <p:cNvSpPr/>
          <p:nvPr/>
        </p:nvSpPr>
        <p:spPr>
          <a:xfrm>
            <a:off x="548640" y="4306824"/>
            <a:ext cx="685800" cy="731520"/>
          </a:xfrm>
          <a:prstGeom prst="roundRect">
            <a:avLst>
              <a:gd name="adj" fmla="val 12000"/>
            </a:avLst>
          </a:prstGeom>
          <a:solidFill>
            <a:srgbClr val="D9932B"/>
          </a:solidFill>
          <a:ln/>
        </p:spPr>
      </p:sp>
      <p:sp>
        <p:nvSpPr>
          <p:cNvPr id="22" name="Text 19"/>
          <p:cNvSpPr txBox="1"/>
          <p:nvPr/>
        </p:nvSpPr>
        <p:spPr>
          <a:xfrm>
            <a:off x="548640" y="4306824"/>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3" name="Text 20"/>
          <p:cNvSpPr txBox="1"/>
          <p:nvPr/>
        </p:nvSpPr>
        <p:spPr>
          <a:xfrm>
            <a:off x="1417320" y="4306824"/>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TCSEC 100 bit/s dan yuqori kanalni xavfli deb hisoblaydi. Bu kanal shu chegaradan oshadimi?</a:t>
            </a:r>
            <a:endParaRPr lang="en-US" sz="1700" dirty="0"/>
          </a:p>
        </p:txBody>
      </p:sp>
      <p:sp>
        <p:nvSpPr>
          <p:cNvPr id="24" name="Shape 21"/>
          <p:cNvSpPr/>
          <p:nvPr/>
        </p:nvSpPr>
        <p:spPr>
          <a:xfrm>
            <a:off x="10012680" y="4425696"/>
            <a:ext cx="1417320" cy="493776"/>
          </a:xfrm>
          <a:prstGeom prst="roundRect">
            <a:avLst>
              <a:gd name="adj" fmla="val 16667"/>
            </a:avLst>
          </a:prstGeom>
          <a:solidFill>
            <a:srgbClr val="FDF3E2"/>
          </a:solidFill>
          <a:ln w="12700">
            <a:solidFill>
              <a:srgbClr val="D9932B"/>
            </a:solidFill>
            <a:prstDash val="solid"/>
          </a:ln>
        </p:spPr>
      </p:sp>
      <p:sp>
        <p:nvSpPr>
          <p:cNvPr id="25" name="Text 22"/>
          <p:cNvSpPr txBox="1"/>
          <p:nvPr/>
        </p:nvSpPr>
        <p:spPr>
          <a:xfrm>
            <a:off x="10012680" y="442569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26" name="Shape 23"/>
          <p:cNvSpPr/>
          <p:nvPr/>
        </p:nvSpPr>
        <p:spPr>
          <a:xfrm>
            <a:off x="548640" y="5157216"/>
            <a:ext cx="11064240" cy="731520"/>
          </a:xfrm>
          <a:prstGeom prst="roundRect">
            <a:avLst>
              <a:gd name="adj" fmla="val 11250"/>
            </a:avLst>
          </a:prstGeom>
          <a:solidFill>
            <a:srgbClr val="FFFFFF"/>
          </a:solidFill>
          <a:ln/>
        </p:spPr>
      </p:sp>
      <p:sp>
        <p:nvSpPr>
          <p:cNvPr id="27" name="Shape 24"/>
          <p:cNvSpPr/>
          <p:nvPr/>
        </p:nvSpPr>
        <p:spPr>
          <a:xfrm>
            <a:off x="548640" y="5157216"/>
            <a:ext cx="685800" cy="731520"/>
          </a:xfrm>
          <a:prstGeom prst="roundRect">
            <a:avLst>
              <a:gd name="adj" fmla="val 12000"/>
            </a:avLst>
          </a:prstGeom>
          <a:solidFill>
            <a:srgbClr val="D9932B"/>
          </a:solidFill>
          <a:ln/>
        </p:spPr>
      </p:sp>
      <p:sp>
        <p:nvSpPr>
          <p:cNvPr id="28" name="Text 25"/>
          <p:cNvSpPr txBox="1"/>
          <p:nvPr/>
        </p:nvSpPr>
        <p:spPr>
          <a:xfrm>
            <a:off x="548640" y="5157216"/>
            <a:ext cx="685800" cy="7315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9" name="Text 26"/>
          <p:cNvSpPr txBox="1"/>
          <p:nvPr/>
        </p:nvSpPr>
        <p:spPr>
          <a:xfrm>
            <a:off x="1417320" y="5157216"/>
            <a:ext cx="8412480" cy="73152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Shovqin qo'shilib, har 5 ta bitdan 1 tasi buzilsa, samarali tezlik qanday o'zgaradi?</a:t>
            </a:r>
            <a:endParaRPr lang="en-US" sz="1700" dirty="0"/>
          </a:p>
        </p:txBody>
      </p:sp>
      <p:sp>
        <p:nvSpPr>
          <p:cNvPr id="30" name="Shape 27"/>
          <p:cNvSpPr/>
          <p:nvPr/>
        </p:nvSpPr>
        <p:spPr>
          <a:xfrm>
            <a:off x="10012680" y="5276088"/>
            <a:ext cx="1417320" cy="493776"/>
          </a:xfrm>
          <a:prstGeom prst="roundRect">
            <a:avLst>
              <a:gd name="adj" fmla="val 16667"/>
            </a:avLst>
          </a:prstGeom>
          <a:solidFill>
            <a:srgbClr val="FDF3E2"/>
          </a:solidFill>
          <a:ln w="12700">
            <a:solidFill>
              <a:srgbClr val="D9932B"/>
            </a:solidFill>
            <a:prstDash val="solid"/>
          </a:ln>
        </p:spPr>
      </p:sp>
      <p:sp>
        <p:nvSpPr>
          <p:cNvPr id="31" name="Text 28"/>
          <p:cNvSpPr txBox="1"/>
          <p:nvPr/>
        </p:nvSpPr>
        <p:spPr>
          <a:xfrm>
            <a:off x="10012680" y="5276088"/>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32" name="Text 2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33" name="Text 3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sp>
      <p:sp>
        <p:nvSpPr>
          <p:cNvPr id="3" name="Text 1"/>
          <p:cNvSpPr txBox="1"/>
          <p:nvPr/>
        </p:nvSpPr>
        <p:spPr>
          <a:xfrm>
            <a:off x="1005840" y="2286000"/>
            <a:ext cx="5486400" cy="411480"/>
          </a:xfrm>
          <a:prstGeom prst="rect">
            <a:avLst/>
          </a:prstGeom>
          <a:noFill/>
          <a:ln/>
        </p:spPr>
        <p:txBody>
          <a:bodyPr wrap="square" lIns="0" tIns="0" rIns="0" bIns="0" rtlCol="0" anchor="ctr"/>
          <a:lstStyle/>
          <a:p>
            <a:pPr indent="0" marL="0">
              <a:buNone/>
            </a:pPr>
            <a:r>
              <a:rPr lang="en-US" sz="1600" b="1" spc="300" kern="0" dirty="0">
                <a:solidFill>
                  <a:srgbClr val="9FB0E0"/>
                </a:solidFill>
                <a:latin typeface="Times New Roman" pitchFamily="34" charset="0"/>
                <a:ea typeface="Times New Roman" pitchFamily="34" charset="-122"/>
                <a:cs typeface="Times New Roman" pitchFamily="34" charset="-120"/>
              </a:rPr>
              <a:t>III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Times New Roman" pitchFamily="34" charset="0"/>
                <a:ea typeface="Times New Roman" pitchFamily="34" charset="-122"/>
                <a:cs typeface="Times New Roman" pitchFamily="34" charset="-120"/>
              </a:rPr>
              <a:t>Windows'da oqimni nazorat qilish</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indent="0" marL="0">
              <a:buNone/>
            </a:pPr>
            <a:r>
              <a:rPr lang="en-US" sz="2000" dirty="0">
                <a:solidFill>
                  <a:srgbClr val="CADCFC"/>
                </a:solidFill>
                <a:latin typeface="Times New Roman" pitchFamily="34" charset="0"/>
                <a:ea typeface="Times New Roman" pitchFamily="34" charset="-122"/>
                <a:cs typeface="Times New Roman" pitchFamily="34" charset="-120"/>
              </a:rPr>
              <a:t>Purview DLP · USB nazorati · Audit</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algn="ctr" indent="0" marL="0">
              <a:buNone/>
            </a:pPr>
            <a:r>
              <a:rPr lang="en-US" sz="13000" b="1" dirty="0">
                <a:solidFill>
                  <a:srgbClr val="2A3778"/>
                </a:solidFill>
                <a:latin typeface="Times New Roman" pitchFamily="34" charset="0"/>
                <a:ea typeface="Times New Roman" pitchFamily="34" charset="-122"/>
                <a:cs typeface="Times New Roman" pitchFamily="34" charset="-120"/>
              </a:rPr>
              <a:t>III</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MA'LUMOT SIZISHINING OLDINI OLISH (DLP)</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Ochiq kanallar orqali sizishni to'xtatish</a:t>
            </a:r>
            <a:endParaRPr lang="en-US" sz="3600" dirty="0"/>
          </a:p>
        </p:txBody>
      </p:sp>
      <p:sp>
        <p:nvSpPr>
          <p:cNvPr id="4" name="Text 2"/>
          <p:cNvSpPr txBox="1"/>
          <p:nvPr/>
        </p:nvSpPr>
        <p:spPr>
          <a:xfrm>
            <a:off x="548640" y="1737360"/>
            <a:ext cx="11064240" cy="6858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Yashirin kanallarni yopish qiyin, lekin ochiq kanallar orqali sizishning (pochta, USB, bulut, chop etish) katta qismini DLP to'xtatadi.</a:t>
            </a:r>
            <a:endParaRPr lang="en-US" sz="1600" dirty="0"/>
          </a:p>
        </p:txBody>
      </p:sp>
      <p:sp>
        <p:nvSpPr>
          <p:cNvPr id="5" name="Shape 3"/>
          <p:cNvSpPr/>
          <p:nvPr/>
        </p:nvSpPr>
        <p:spPr>
          <a:xfrm>
            <a:off x="548640" y="2377440"/>
            <a:ext cx="5440680" cy="1783080"/>
          </a:xfrm>
          <a:prstGeom prst="roundRect">
            <a:avLst>
              <a:gd name="adj" fmla="val 4615"/>
            </a:avLst>
          </a:prstGeom>
          <a:solidFill>
            <a:srgbClr val="EEF2FB"/>
          </a:solidFill>
          <a:ln/>
        </p:spPr>
      </p:sp>
      <p:sp>
        <p:nvSpPr>
          <p:cNvPr id="6" name="Shape 4"/>
          <p:cNvSpPr/>
          <p:nvPr/>
        </p:nvSpPr>
        <p:spPr>
          <a:xfrm>
            <a:off x="777240" y="2606040"/>
            <a:ext cx="594360" cy="594360"/>
          </a:xfrm>
          <a:prstGeom prst="ellipse">
            <a:avLst/>
          </a:prstGeom>
          <a:solidFill>
            <a:srgbClr val="1E2761"/>
          </a:solidFill>
          <a:ln/>
        </p:spPr>
      </p:sp>
      <p:pic>
        <p:nvPicPr>
          <p:cNvPr id="7" name="Image 0" descr="/home/claude/fob-slides/icons_out/search_white.png"/>
          <p:cNvPicPr>
            <a:picLocks noChangeAspect="1"/>
          </p:cNvPicPr>
          <p:nvPr/>
        </p:nvPicPr>
        <p:blipFill>
          <a:blip r:embed="rId1"/>
          <a:stretch>
            <a:fillRect/>
          </a:stretch>
        </p:blipFill>
        <p:spPr>
          <a:xfrm>
            <a:off x="910971" y="2739771"/>
            <a:ext cx="326898" cy="326898"/>
          </a:xfrm>
          <a:prstGeom prst="rect">
            <a:avLst/>
          </a:prstGeom>
        </p:spPr>
      </p:pic>
      <p:sp>
        <p:nvSpPr>
          <p:cNvPr id="8" name="Text 5"/>
          <p:cNvSpPr txBox="1"/>
          <p:nvPr/>
        </p:nvSpPr>
        <p:spPr>
          <a:xfrm>
            <a:off x="1554480" y="260604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Aniqlash</a:t>
            </a:r>
            <a:endParaRPr lang="en-US" sz="2000" dirty="0"/>
          </a:p>
        </p:txBody>
      </p:sp>
      <p:sp>
        <p:nvSpPr>
          <p:cNvPr id="9" name="Text 6"/>
          <p:cNvSpPr txBox="1"/>
          <p:nvPr/>
        </p:nvSpPr>
        <p:spPr>
          <a:xfrm>
            <a:off x="777240" y="3291840"/>
            <a:ext cx="4983480" cy="7772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Sezgir ma'lumotni tanish: shablonlar (karta raqami, JSHSHIR), kalit so'zlar, sezgirlik yorliqlari (M11)</a:t>
            </a:r>
            <a:endParaRPr lang="en-US" sz="1600" dirty="0"/>
          </a:p>
        </p:txBody>
      </p:sp>
      <p:sp>
        <p:nvSpPr>
          <p:cNvPr id="10" name="Shape 7"/>
          <p:cNvSpPr/>
          <p:nvPr/>
        </p:nvSpPr>
        <p:spPr>
          <a:xfrm>
            <a:off x="6172200" y="2377440"/>
            <a:ext cx="5440680" cy="1783080"/>
          </a:xfrm>
          <a:prstGeom prst="roundRect">
            <a:avLst>
              <a:gd name="adj" fmla="val 4615"/>
            </a:avLst>
          </a:prstGeom>
          <a:solidFill>
            <a:srgbClr val="EEF2FB"/>
          </a:solidFill>
          <a:ln/>
        </p:spPr>
      </p:sp>
      <p:sp>
        <p:nvSpPr>
          <p:cNvPr id="11" name="Shape 8"/>
          <p:cNvSpPr/>
          <p:nvPr/>
        </p:nvSpPr>
        <p:spPr>
          <a:xfrm>
            <a:off x="6400800" y="2606040"/>
            <a:ext cx="594360" cy="594360"/>
          </a:xfrm>
          <a:prstGeom prst="ellipse">
            <a:avLst/>
          </a:prstGeom>
          <a:solidFill>
            <a:srgbClr val="1E2761"/>
          </a:solidFill>
          <a:ln/>
        </p:spPr>
      </p:sp>
      <p:pic>
        <p:nvPicPr>
          <p:cNvPr id="12" name="Image 1" descr="/home/claude/fob-slides/icons_out/network_white.png"/>
          <p:cNvPicPr>
            <a:picLocks noChangeAspect="1"/>
          </p:cNvPicPr>
          <p:nvPr/>
        </p:nvPicPr>
        <p:blipFill>
          <a:blip r:embed="rId2"/>
          <a:stretch>
            <a:fillRect/>
          </a:stretch>
        </p:blipFill>
        <p:spPr>
          <a:xfrm>
            <a:off x="6534531" y="2739771"/>
            <a:ext cx="326898" cy="326898"/>
          </a:xfrm>
          <a:prstGeom prst="rect">
            <a:avLst/>
          </a:prstGeom>
        </p:spPr>
      </p:pic>
      <p:sp>
        <p:nvSpPr>
          <p:cNvPr id="13" name="Text 9"/>
          <p:cNvSpPr txBox="1"/>
          <p:nvPr/>
        </p:nvSpPr>
        <p:spPr>
          <a:xfrm>
            <a:off x="7178040" y="260604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Kanallar</a:t>
            </a:r>
            <a:endParaRPr lang="en-US" sz="2000" dirty="0"/>
          </a:p>
        </p:txBody>
      </p:sp>
      <p:sp>
        <p:nvSpPr>
          <p:cNvPr id="14" name="Text 10"/>
          <p:cNvSpPr txBox="1"/>
          <p:nvPr/>
        </p:nvSpPr>
        <p:spPr>
          <a:xfrm>
            <a:off x="6400800" y="3291840"/>
            <a:ext cx="4983480" cy="7772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Outlook va Exchange, OneDrive va SharePoint, Teams, USB, bufer, chop etish</a:t>
            </a:r>
            <a:endParaRPr lang="en-US" sz="1600" dirty="0"/>
          </a:p>
        </p:txBody>
      </p:sp>
      <p:sp>
        <p:nvSpPr>
          <p:cNvPr id="15" name="Shape 11"/>
          <p:cNvSpPr/>
          <p:nvPr/>
        </p:nvSpPr>
        <p:spPr>
          <a:xfrm>
            <a:off x="548640" y="4297680"/>
            <a:ext cx="5440680" cy="1783080"/>
          </a:xfrm>
          <a:prstGeom prst="roundRect">
            <a:avLst>
              <a:gd name="adj" fmla="val 4615"/>
            </a:avLst>
          </a:prstGeom>
          <a:solidFill>
            <a:srgbClr val="EEF2FB"/>
          </a:solidFill>
          <a:ln/>
        </p:spPr>
      </p:sp>
      <p:sp>
        <p:nvSpPr>
          <p:cNvPr id="16" name="Shape 12"/>
          <p:cNvSpPr/>
          <p:nvPr/>
        </p:nvSpPr>
        <p:spPr>
          <a:xfrm>
            <a:off x="777240" y="4526280"/>
            <a:ext cx="594360" cy="594360"/>
          </a:xfrm>
          <a:prstGeom prst="ellipse">
            <a:avLst/>
          </a:prstGeom>
          <a:solidFill>
            <a:srgbClr val="1E2761"/>
          </a:solidFill>
          <a:ln/>
        </p:spPr>
      </p:sp>
      <p:pic>
        <p:nvPicPr>
          <p:cNvPr id="17" name="Image 2" descr="/home/claude/fob-slides/icons_out/ban_white.png"/>
          <p:cNvPicPr>
            <a:picLocks noChangeAspect="1"/>
          </p:cNvPicPr>
          <p:nvPr/>
        </p:nvPicPr>
        <p:blipFill>
          <a:blip r:embed="rId3"/>
          <a:stretch>
            <a:fillRect/>
          </a:stretch>
        </p:blipFill>
        <p:spPr>
          <a:xfrm>
            <a:off x="910971" y="4660011"/>
            <a:ext cx="326898" cy="326898"/>
          </a:xfrm>
          <a:prstGeom prst="rect">
            <a:avLst/>
          </a:prstGeom>
        </p:spPr>
      </p:pic>
      <p:sp>
        <p:nvSpPr>
          <p:cNvPr id="18" name="Text 13"/>
          <p:cNvSpPr txBox="1"/>
          <p:nvPr/>
        </p:nvSpPr>
        <p:spPr>
          <a:xfrm>
            <a:off x="1554480" y="45262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Harakatlar</a:t>
            </a:r>
            <a:endParaRPr lang="en-US" sz="2000" dirty="0"/>
          </a:p>
        </p:txBody>
      </p:sp>
      <p:sp>
        <p:nvSpPr>
          <p:cNvPr id="19" name="Text 14"/>
          <p:cNvSpPr txBox="1"/>
          <p:nvPr/>
        </p:nvSpPr>
        <p:spPr>
          <a:xfrm>
            <a:off x="777240" y="5212080"/>
            <a:ext cx="4983480" cy="7772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Ogohlantirish, bloklash, shifrlash, audit; foydalanuvchiga sababni tushuntirish</a:t>
            </a:r>
            <a:endParaRPr lang="en-US" sz="1600" dirty="0"/>
          </a:p>
        </p:txBody>
      </p:sp>
      <p:sp>
        <p:nvSpPr>
          <p:cNvPr id="20" name="Shape 15"/>
          <p:cNvSpPr/>
          <p:nvPr/>
        </p:nvSpPr>
        <p:spPr>
          <a:xfrm>
            <a:off x="6172200" y="4297680"/>
            <a:ext cx="5440680" cy="1783080"/>
          </a:xfrm>
          <a:prstGeom prst="roundRect">
            <a:avLst>
              <a:gd name="adj" fmla="val 4615"/>
            </a:avLst>
          </a:prstGeom>
          <a:solidFill>
            <a:srgbClr val="EEF2FB"/>
          </a:solidFill>
          <a:ln/>
        </p:spPr>
      </p:sp>
      <p:sp>
        <p:nvSpPr>
          <p:cNvPr id="21" name="Shape 16"/>
          <p:cNvSpPr/>
          <p:nvPr/>
        </p:nvSpPr>
        <p:spPr>
          <a:xfrm>
            <a:off x="6400800" y="4526280"/>
            <a:ext cx="594360" cy="594360"/>
          </a:xfrm>
          <a:prstGeom prst="ellipse">
            <a:avLst/>
          </a:prstGeom>
          <a:solidFill>
            <a:srgbClr val="1E2761"/>
          </a:solidFill>
          <a:ln/>
        </p:spPr>
      </p:sp>
      <p:pic>
        <p:nvPicPr>
          <p:cNvPr id="22" name="Image 3" descr="/home/claude/fob-slides/icons_out/clipboard_white.png"/>
          <p:cNvPicPr>
            <a:picLocks noChangeAspect="1"/>
          </p:cNvPicPr>
          <p:nvPr/>
        </p:nvPicPr>
        <p:blipFill>
          <a:blip r:embed="rId4"/>
          <a:stretch>
            <a:fillRect/>
          </a:stretch>
        </p:blipFill>
        <p:spPr>
          <a:xfrm>
            <a:off x="6534531" y="4660011"/>
            <a:ext cx="326898" cy="326898"/>
          </a:xfrm>
          <a:prstGeom prst="rect">
            <a:avLst/>
          </a:prstGeom>
        </p:spPr>
      </p:pic>
      <p:sp>
        <p:nvSpPr>
          <p:cNvPr id="23" name="Text 17"/>
          <p:cNvSpPr txBox="1"/>
          <p:nvPr/>
        </p:nvSpPr>
        <p:spPr>
          <a:xfrm>
            <a:off x="7178040" y="4526280"/>
            <a:ext cx="4251960" cy="594360"/>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Siyosat</a:t>
            </a:r>
            <a:endParaRPr lang="en-US" sz="2000" dirty="0"/>
          </a:p>
        </p:txBody>
      </p:sp>
      <p:sp>
        <p:nvSpPr>
          <p:cNvPr id="24" name="Text 18"/>
          <p:cNvSpPr txBox="1"/>
          <p:nvPr/>
        </p:nvSpPr>
        <p:spPr>
          <a:xfrm>
            <a:off x="6400800" y="5212080"/>
            <a:ext cx="4983480" cy="7772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«Maxfiy» yorlig'li hujjat tashqi manzilga yuborilmaydi; USB ga nusxa audit qilinadi</a:t>
            </a:r>
            <a:endParaRPr lang="en-US" sz="1600" dirty="0"/>
          </a:p>
        </p:txBody>
      </p:sp>
      <p:sp>
        <p:nvSpPr>
          <p:cNvPr id="25" name="Text 19"/>
          <p:cNvSpPr txBox="1"/>
          <p:nvPr/>
        </p:nvSpPr>
        <p:spPr>
          <a:xfrm>
            <a:off x="548640" y="6035040"/>
            <a:ext cx="11064240" cy="32004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Microsoft Purview DLP — Windows uchun endpoint DLP; sezgirlik yorliqlari bilan birga ishlaydi.</a:t>
            </a:r>
            <a:endParaRPr lang="en-US" sz="1500" dirty="0"/>
          </a:p>
        </p:txBody>
      </p:sp>
      <p:sp>
        <p:nvSpPr>
          <p:cNvPr id="26"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7"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USB VA QURILMA NAZORATI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Eng oddiy sizish kanali — USB xotira</a:t>
            </a:r>
            <a:endParaRPr lang="en-US" sz="3600" dirty="0"/>
          </a:p>
        </p:txBody>
      </p:sp>
      <p:sp>
        <p:nvSpPr>
          <p:cNvPr id="4" name="Shape 2"/>
          <p:cNvSpPr/>
          <p:nvPr/>
        </p:nvSpPr>
        <p:spPr>
          <a:xfrm>
            <a:off x="548640" y="1783080"/>
            <a:ext cx="7315200" cy="4434840"/>
          </a:xfrm>
          <a:prstGeom prst="roundRect">
            <a:avLst>
              <a:gd name="adj" fmla="val 1856"/>
            </a:avLst>
          </a:prstGeom>
          <a:solidFill>
            <a:srgbClr val="162048"/>
          </a:solidFill>
          <a:ln/>
        </p:spPr>
      </p:sp>
      <p:sp>
        <p:nvSpPr>
          <p:cNvPr id="5" name="Text 3"/>
          <p:cNvSpPr txBox="1"/>
          <p:nvPr/>
        </p:nvSpPr>
        <p:spPr>
          <a:xfrm>
            <a:off x="777240" y="1965960"/>
            <a:ext cx="6858000" cy="4069080"/>
          </a:xfrm>
          <a:prstGeom prst="rect">
            <a:avLst/>
          </a:prstGeom>
          <a:noFill/>
          <a:ln/>
        </p:spPr>
        <p:txBody>
          <a:bodyPr wrap="square" lIns="0" tIns="0" rIns="0" bIns="0" rtlCol="0" anchor="t"/>
          <a:lstStyle/>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Guruh siyosati (gpedit.msc):</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Computer Config &gt; Admin Templates &gt; System &gt;</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Removable Storage Access</a:t>
            </a:r>
            <a:endParaRPr lang="en-US" sz="1200" dirty="0"/>
          </a:p>
          <a:p>
            <a:pPr indent="0" marL="0">
              <a:lnSpc>
                <a:spcPct val="105000"/>
              </a:lnSpc>
              <a:buNone/>
            </a:pPr>
            <a:r>
              <a:rPr lang="en-US" sz="1200" dirty="0">
                <a:solidFill>
                  <a:srgbClr val="8FD3A8"/>
                </a:solidFill>
                <a:latin typeface="Courier New" pitchFamily="34" charset="0"/>
                <a:ea typeface="Courier New" pitchFamily="34" charset="-122"/>
                <a:cs typeface="Courier New" pitchFamily="34" charset="-120"/>
              </a:rPr>
              <a:t>#   -&gt; Removable Disks: Deny write access = Enabled</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Yoki registr orqali (yozishni taqiqlash):</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$k = 'HKLM:\SYSTEM\CurrentControlSet\Control\</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StorageDevicePolicies'</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New-Item $k -Force</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Set-ItemProperty $k WriteProtect 1</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Audit: ulangan qurilmalarni ko'rish</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Get-PnpDevice -Class USB | Select FriendlyName, Status</a:t>
            </a:r>
            <a:endParaRPr lang="en-US" sz="1200" dirty="0"/>
          </a:p>
        </p:txBody>
      </p:sp>
      <p:sp>
        <p:nvSpPr>
          <p:cNvPr id="6" name="Shape 4"/>
          <p:cNvSpPr/>
          <p:nvPr/>
        </p:nvSpPr>
        <p:spPr>
          <a:xfrm>
            <a:off x="8046720" y="1783080"/>
            <a:ext cx="3566160" cy="1371600"/>
          </a:xfrm>
          <a:prstGeom prst="roundRect">
            <a:avLst>
              <a:gd name="adj" fmla="val 6000"/>
            </a:avLst>
          </a:prstGeom>
          <a:solidFill>
            <a:srgbClr val="EEF2FB"/>
          </a:solidFill>
          <a:ln/>
        </p:spPr>
      </p:sp>
      <p:sp>
        <p:nvSpPr>
          <p:cNvPr id="7" name="Text 5"/>
          <p:cNvSpPr txBox="1"/>
          <p:nvPr/>
        </p:nvSpPr>
        <p:spPr>
          <a:xfrm>
            <a:off x="8229600" y="1874520"/>
            <a:ext cx="3200400" cy="365760"/>
          </a:xfrm>
          <a:prstGeom prst="rect">
            <a:avLst/>
          </a:prstGeom>
          <a:noFill/>
          <a:ln/>
        </p:spPr>
        <p:txBody>
          <a:bodyPr wrap="square" lIns="0" tIns="0" rIns="0" bIns="0" rtlCol="0" anchor="t"/>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Intune bilan</a:t>
            </a:r>
            <a:endParaRPr lang="en-US" sz="1600" dirty="0"/>
          </a:p>
        </p:txBody>
      </p:sp>
      <p:sp>
        <p:nvSpPr>
          <p:cNvPr id="8" name="Text 6"/>
          <p:cNvSpPr txBox="1"/>
          <p:nvPr/>
        </p:nvSpPr>
        <p:spPr>
          <a:xfrm>
            <a:off x="8229600" y="2240280"/>
            <a:ext cx="324612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Boshqariladigan qurilmalarda USB yozish siyosatini markazdan tarqatish</a:t>
            </a:r>
            <a:endParaRPr lang="en-US" sz="1500" dirty="0"/>
          </a:p>
        </p:txBody>
      </p:sp>
      <p:sp>
        <p:nvSpPr>
          <p:cNvPr id="9" name="Shape 7"/>
          <p:cNvSpPr/>
          <p:nvPr/>
        </p:nvSpPr>
        <p:spPr>
          <a:xfrm>
            <a:off x="8046720" y="3273552"/>
            <a:ext cx="3566160" cy="1371600"/>
          </a:xfrm>
          <a:prstGeom prst="roundRect">
            <a:avLst>
              <a:gd name="adj" fmla="val 6000"/>
            </a:avLst>
          </a:prstGeom>
          <a:solidFill>
            <a:srgbClr val="EEF2FB"/>
          </a:solidFill>
          <a:ln/>
        </p:spPr>
      </p:sp>
      <p:sp>
        <p:nvSpPr>
          <p:cNvPr id="10" name="Text 8"/>
          <p:cNvSpPr txBox="1"/>
          <p:nvPr/>
        </p:nvSpPr>
        <p:spPr>
          <a:xfrm>
            <a:off x="8229600" y="3364992"/>
            <a:ext cx="3200400" cy="365760"/>
          </a:xfrm>
          <a:prstGeom prst="rect">
            <a:avLst/>
          </a:prstGeom>
          <a:noFill/>
          <a:ln/>
        </p:spPr>
        <p:txBody>
          <a:bodyPr wrap="square" lIns="0" tIns="0" rIns="0" bIns="0" rtlCol="0" anchor="t"/>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Purview</a:t>
            </a:r>
            <a:endParaRPr lang="en-US" sz="1600" dirty="0"/>
          </a:p>
        </p:txBody>
      </p:sp>
      <p:sp>
        <p:nvSpPr>
          <p:cNvPr id="11" name="Text 9"/>
          <p:cNvSpPr txBox="1"/>
          <p:nvPr/>
        </p:nvSpPr>
        <p:spPr>
          <a:xfrm>
            <a:off x="8229600" y="3730752"/>
            <a:ext cx="324612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USB ga nusxalashni yorliqqa qarab bloklash yoki audit qilish</a:t>
            </a:r>
            <a:endParaRPr lang="en-US" sz="1500" dirty="0"/>
          </a:p>
        </p:txBody>
      </p:sp>
      <p:sp>
        <p:nvSpPr>
          <p:cNvPr id="12" name="Shape 10"/>
          <p:cNvSpPr/>
          <p:nvPr/>
        </p:nvSpPr>
        <p:spPr>
          <a:xfrm>
            <a:off x="8046720" y="4764024"/>
            <a:ext cx="3566160" cy="1371600"/>
          </a:xfrm>
          <a:prstGeom prst="roundRect">
            <a:avLst>
              <a:gd name="adj" fmla="val 6000"/>
            </a:avLst>
          </a:prstGeom>
          <a:solidFill>
            <a:srgbClr val="EEF2FB"/>
          </a:solidFill>
          <a:ln/>
        </p:spPr>
      </p:sp>
      <p:sp>
        <p:nvSpPr>
          <p:cNvPr id="13" name="Text 11"/>
          <p:cNvSpPr txBox="1"/>
          <p:nvPr/>
        </p:nvSpPr>
        <p:spPr>
          <a:xfrm>
            <a:off x="8229600" y="4855464"/>
            <a:ext cx="3200400" cy="365760"/>
          </a:xfrm>
          <a:prstGeom prst="rect">
            <a:avLst/>
          </a:prstGeom>
          <a:noFill/>
          <a:ln/>
        </p:spPr>
        <p:txBody>
          <a:bodyPr wrap="square" lIns="0" tIns="0" rIns="0" bIns="0" rtlCol="0" anchor="t"/>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Kuzatish</a:t>
            </a:r>
            <a:endParaRPr lang="en-US" sz="1600" dirty="0"/>
          </a:p>
        </p:txBody>
      </p:sp>
      <p:sp>
        <p:nvSpPr>
          <p:cNvPr id="14" name="Text 12"/>
          <p:cNvSpPr txBox="1"/>
          <p:nvPr/>
        </p:nvSpPr>
        <p:spPr>
          <a:xfrm>
            <a:off x="8229600" y="5221224"/>
            <a:ext cx="324612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Event Viewer: 4663 (faylga kirish), USB ulanish hodisalari</a:t>
            </a:r>
            <a:endParaRPr lang="en-US" sz="1500" dirty="0"/>
          </a:p>
        </p:txBody>
      </p:sp>
      <p:sp>
        <p:nvSpPr>
          <p:cNvPr id="15" name="Text 13"/>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16" name="Text 14"/>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JONLI NAMOYISH · 10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Fayldan foydalanishni audit qilamiz</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termina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7498080" cy="4434840"/>
          </a:xfrm>
          <a:prstGeom prst="roundRect">
            <a:avLst>
              <a:gd name="adj" fmla="val 1856"/>
            </a:avLst>
          </a:prstGeom>
          <a:solidFill>
            <a:srgbClr val="162048"/>
          </a:solidFill>
          <a:ln/>
        </p:spPr>
      </p:sp>
      <p:sp>
        <p:nvSpPr>
          <p:cNvPr id="7" name="Text 4"/>
          <p:cNvSpPr txBox="1"/>
          <p:nvPr/>
        </p:nvSpPr>
        <p:spPr>
          <a:xfrm>
            <a:off x="777240" y="1965960"/>
            <a:ext cx="7040880" cy="4069080"/>
          </a:xfrm>
          <a:prstGeom prst="rect">
            <a:avLst/>
          </a:prstGeom>
          <a:noFill/>
          <a:ln/>
        </p:spPr>
        <p:txBody>
          <a:bodyPr wrap="square" lIns="0" tIns="0" rIns="0" bIns="0" rtlCol="0" anchor="t"/>
          <a:lstStyle/>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1. Audit siyosatini yoqish (administrator)</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auditpol /set /subcategory:"File System" /success:enable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2. Faylga audit SACL qo'shish (M10: SACL)</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$f = 'C:\Lab\baholar.txt'</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$acl = Get-Acl $f -Audit</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$rule = New-Object System.Security.AccessControl.`</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FileSystemAuditRule('Everyone','Read','Success')</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$acl.AddAuditRule($rule); Set-Acl $f $acl</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3. Faylni o'qib, jurnalni ko'rish</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Get-Content $f</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Get-WinEvent -LogName Security -MaxEvents 20 |</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Where-Object Id -eq 4663 | Format-List TimeCreated, Message</a:t>
            </a:r>
            <a:endParaRPr lang="en-US" sz="1200" dirty="0"/>
          </a:p>
        </p:txBody>
      </p:sp>
      <p:sp>
        <p:nvSpPr>
          <p:cNvPr id="8" name="Shape 5"/>
          <p:cNvSpPr/>
          <p:nvPr/>
        </p:nvSpPr>
        <p:spPr>
          <a:xfrm>
            <a:off x="8229600" y="1783080"/>
            <a:ext cx="3383280" cy="1371600"/>
          </a:xfrm>
          <a:prstGeom prst="roundRect">
            <a:avLst>
              <a:gd name="adj" fmla="val 6000"/>
            </a:avLst>
          </a:prstGeom>
          <a:solidFill>
            <a:srgbClr val="FFFFFF"/>
          </a:solidFill>
          <a:ln/>
        </p:spPr>
      </p:sp>
      <p:sp>
        <p:nvSpPr>
          <p:cNvPr id="9" name="Text 6"/>
          <p:cNvSpPr txBox="1"/>
          <p:nvPr/>
        </p:nvSpPr>
        <p:spPr>
          <a:xfrm>
            <a:off x="8412480" y="1874520"/>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Kuzating</a:t>
            </a:r>
            <a:endParaRPr lang="en-US" sz="1600" dirty="0"/>
          </a:p>
        </p:txBody>
      </p:sp>
      <p:sp>
        <p:nvSpPr>
          <p:cNvPr id="10" name="Text 7"/>
          <p:cNvSpPr txBox="1"/>
          <p:nvPr/>
        </p:nvSpPr>
        <p:spPr>
          <a:xfrm>
            <a:off x="8412480" y="2240280"/>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4663 hodisasida: kim, qaysi fayl, qaysi amal (o'qish)</a:t>
            </a:r>
            <a:endParaRPr lang="en-US" sz="1500" dirty="0"/>
          </a:p>
        </p:txBody>
      </p:sp>
      <p:sp>
        <p:nvSpPr>
          <p:cNvPr id="11" name="Shape 8"/>
          <p:cNvSpPr/>
          <p:nvPr/>
        </p:nvSpPr>
        <p:spPr>
          <a:xfrm>
            <a:off x="8229600" y="3273552"/>
            <a:ext cx="3383280" cy="1371600"/>
          </a:xfrm>
          <a:prstGeom prst="roundRect">
            <a:avLst>
              <a:gd name="adj" fmla="val 6000"/>
            </a:avLst>
          </a:prstGeom>
          <a:solidFill>
            <a:srgbClr val="FFFFFF"/>
          </a:solidFill>
          <a:ln/>
        </p:spPr>
      </p:sp>
      <p:sp>
        <p:nvSpPr>
          <p:cNvPr id="12" name="Text 9"/>
          <p:cNvSpPr txBox="1"/>
          <p:nvPr/>
        </p:nvSpPr>
        <p:spPr>
          <a:xfrm>
            <a:off x="8412480" y="3364992"/>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Bog'lang</a:t>
            </a:r>
            <a:endParaRPr lang="en-US" sz="1600" dirty="0"/>
          </a:p>
        </p:txBody>
      </p:sp>
      <p:sp>
        <p:nvSpPr>
          <p:cNvPr id="13" name="Text 10"/>
          <p:cNvSpPr txBox="1"/>
          <p:nvPr/>
        </p:nvSpPr>
        <p:spPr>
          <a:xfrm>
            <a:off x="8412480" y="3730752"/>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SACL — M10 dagi xavfsizlik deskriptorining audit qismi</a:t>
            </a:r>
            <a:endParaRPr lang="en-US" sz="1500" dirty="0"/>
          </a:p>
        </p:txBody>
      </p:sp>
      <p:sp>
        <p:nvSpPr>
          <p:cNvPr id="14" name="Shape 11"/>
          <p:cNvSpPr/>
          <p:nvPr/>
        </p:nvSpPr>
        <p:spPr>
          <a:xfrm>
            <a:off x="8229600" y="4764024"/>
            <a:ext cx="3383280" cy="1371600"/>
          </a:xfrm>
          <a:prstGeom prst="roundRect">
            <a:avLst>
              <a:gd name="adj" fmla="val 6000"/>
            </a:avLst>
          </a:prstGeom>
          <a:solidFill>
            <a:srgbClr val="FFFFFF"/>
          </a:solidFill>
          <a:ln/>
        </p:spPr>
      </p:sp>
      <p:sp>
        <p:nvSpPr>
          <p:cNvPr id="15" name="Text 12"/>
          <p:cNvSpPr txBox="1"/>
          <p:nvPr/>
        </p:nvSpPr>
        <p:spPr>
          <a:xfrm>
            <a:off x="8412480" y="4855464"/>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Savol</a:t>
            </a:r>
            <a:endParaRPr lang="en-US" sz="1600" dirty="0"/>
          </a:p>
        </p:txBody>
      </p:sp>
      <p:sp>
        <p:nvSpPr>
          <p:cNvPr id="16" name="Text 13"/>
          <p:cNvSpPr txBox="1"/>
          <p:nvPr/>
        </p:nvSpPr>
        <p:spPr>
          <a:xfrm>
            <a:off x="8412480" y="5221224"/>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Audit sizishni to'xtatadimi yoki faqat qayd etadimi?</a:t>
            </a:r>
            <a:endParaRPr lang="en-US" sz="1500" dirty="0"/>
          </a:p>
        </p:txBody>
      </p:sp>
      <p:sp>
        <p:nvSpPr>
          <p:cNvPr id="17" name="Text 1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18" name="Text 1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A3778"/>
          </a:solidFill>
          <a:ln/>
        </p:spPr>
      </p:sp>
      <p:sp>
        <p:nvSpPr>
          <p:cNvPr id="3" name="Text 1"/>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9FB0E0"/>
                </a:solidFill>
                <a:latin typeface="Times New Roman" pitchFamily="34" charset="0"/>
                <a:ea typeface="Times New Roman" pitchFamily="34" charset="-122"/>
                <a:cs typeface="Times New Roman" pitchFamily="34" charset="-120"/>
              </a:rPr>
              <a:t>XULOSA</a:t>
            </a:r>
            <a:endParaRPr lang="en-US" sz="1600" dirty="0"/>
          </a:p>
        </p:txBody>
      </p:sp>
      <p:sp>
        <p:nvSpPr>
          <p:cNvPr id="4" name="Text 2"/>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FFFFFF"/>
                </a:solidFill>
                <a:latin typeface="Times New Roman" pitchFamily="34" charset="0"/>
                <a:ea typeface="Times New Roman" pitchFamily="34" charset="-122"/>
                <a:cs typeface="Times New Roman" pitchFamily="34" charset="-120"/>
              </a:rPr>
              <a:t>Bugungi darsning besh asosiy xulosasi</a:t>
            </a:r>
            <a:endParaRPr lang="en-US" sz="3600" dirty="0"/>
          </a:p>
        </p:txBody>
      </p:sp>
      <p:sp>
        <p:nvSpPr>
          <p:cNvPr id="5" name="Shape 3"/>
          <p:cNvSpPr/>
          <p:nvPr/>
        </p:nvSpPr>
        <p:spPr>
          <a:xfrm>
            <a:off x="548640" y="1856232"/>
            <a:ext cx="548640" cy="548640"/>
          </a:xfrm>
          <a:prstGeom prst="roundRect">
            <a:avLst>
              <a:gd name="adj" fmla="val 13333"/>
            </a:avLst>
          </a:prstGeom>
          <a:solidFill>
            <a:srgbClr val="2A3778"/>
          </a:solidFill>
          <a:ln/>
        </p:spPr>
      </p:sp>
      <p:sp>
        <p:nvSpPr>
          <p:cNvPr id="6" name="Text 4"/>
          <p:cNvSpPr txBox="1"/>
          <p:nvPr/>
        </p:nvSpPr>
        <p:spPr>
          <a:xfrm>
            <a:off x="548640" y="185623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1</a:t>
            </a:r>
            <a:endParaRPr lang="en-US" sz="2000" dirty="0"/>
          </a:p>
        </p:txBody>
      </p:sp>
      <p:sp>
        <p:nvSpPr>
          <p:cNvPr id="7" name="Text 5"/>
          <p:cNvSpPr txBox="1"/>
          <p:nvPr/>
        </p:nvSpPr>
        <p:spPr>
          <a:xfrm>
            <a:off x="1325880" y="178308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Foydalanish nazorati murojaatni tekshiradi; oqim nazorati ma'lumot qayerga borishini kuzatadi.</a:t>
            </a:r>
            <a:endParaRPr lang="en-US" sz="1800" dirty="0"/>
          </a:p>
        </p:txBody>
      </p:sp>
      <p:sp>
        <p:nvSpPr>
          <p:cNvPr id="8" name="Shape 6"/>
          <p:cNvSpPr/>
          <p:nvPr/>
        </p:nvSpPr>
        <p:spPr>
          <a:xfrm>
            <a:off x="548640" y="2679192"/>
            <a:ext cx="548640" cy="548640"/>
          </a:xfrm>
          <a:prstGeom prst="roundRect">
            <a:avLst>
              <a:gd name="adj" fmla="val 13333"/>
            </a:avLst>
          </a:prstGeom>
          <a:solidFill>
            <a:srgbClr val="2A3778"/>
          </a:solidFill>
          <a:ln/>
        </p:spPr>
      </p:sp>
      <p:sp>
        <p:nvSpPr>
          <p:cNvPr id="9" name="Text 7"/>
          <p:cNvSpPr txBox="1"/>
          <p:nvPr/>
        </p:nvSpPr>
        <p:spPr>
          <a:xfrm>
            <a:off x="548640" y="267919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txBox="1"/>
          <p:nvPr/>
        </p:nvSpPr>
        <p:spPr>
          <a:xfrm>
            <a:off x="1325880" y="260604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Bilvosita oqim (if/while orqali) va Denning panjarasi — kod darajasidagi oqim nazorati.</a:t>
            </a:r>
            <a:endParaRPr lang="en-US" sz="1800" dirty="0"/>
          </a:p>
        </p:txBody>
      </p:sp>
      <p:sp>
        <p:nvSpPr>
          <p:cNvPr id="11" name="Shape 9"/>
          <p:cNvSpPr/>
          <p:nvPr/>
        </p:nvSpPr>
        <p:spPr>
          <a:xfrm>
            <a:off x="548640" y="3502152"/>
            <a:ext cx="548640" cy="548640"/>
          </a:xfrm>
          <a:prstGeom prst="roundRect">
            <a:avLst>
              <a:gd name="adj" fmla="val 13333"/>
            </a:avLst>
          </a:prstGeom>
          <a:solidFill>
            <a:srgbClr val="2A3778"/>
          </a:solidFill>
          <a:ln/>
        </p:spPr>
      </p:sp>
      <p:sp>
        <p:nvSpPr>
          <p:cNvPr id="12" name="Text 10"/>
          <p:cNvSpPr txBox="1"/>
          <p:nvPr/>
        </p:nvSpPr>
        <p:spPr>
          <a:xfrm>
            <a:off x="548640" y="350215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3</a:t>
            </a:r>
            <a:endParaRPr lang="en-US" sz="2000" dirty="0"/>
          </a:p>
        </p:txBody>
      </p:sp>
      <p:sp>
        <p:nvSpPr>
          <p:cNvPr id="13" name="Text 11"/>
          <p:cNvSpPr txBox="1"/>
          <p:nvPr/>
        </p:nvSpPr>
        <p:spPr>
          <a:xfrm>
            <a:off x="1325880" y="342900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Aralashmaslik barcha kanallarni qamraydi, lekin amalda juda qat'iy.</a:t>
            </a:r>
            <a:endParaRPr lang="en-US" sz="1800" dirty="0"/>
          </a:p>
        </p:txBody>
      </p:sp>
      <p:sp>
        <p:nvSpPr>
          <p:cNvPr id="14" name="Shape 12"/>
          <p:cNvSpPr/>
          <p:nvPr/>
        </p:nvSpPr>
        <p:spPr>
          <a:xfrm>
            <a:off x="548640" y="4325112"/>
            <a:ext cx="548640" cy="548640"/>
          </a:xfrm>
          <a:prstGeom prst="roundRect">
            <a:avLst>
              <a:gd name="adj" fmla="val 13333"/>
            </a:avLst>
          </a:prstGeom>
          <a:solidFill>
            <a:srgbClr val="2A3778"/>
          </a:solidFill>
          <a:ln/>
        </p:spPr>
      </p:sp>
      <p:sp>
        <p:nvSpPr>
          <p:cNvPr id="15" name="Text 13"/>
          <p:cNvSpPr txBox="1"/>
          <p:nvPr/>
        </p:nvSpPr>
        <p:spPr>
          <a:xfrm>
            <a:off x="548640" y="432511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4</a:t>
            </a:r>
            <a:endParaRPr lang="en-US" sz="2000" dirty="0"/>
          </a:p>
        </p:txBody>
      </p:sp>
      <p:sp>
        <p:nvSpPr>
          <p:cNvPr id="16" name="Text 14"/>
          <p:cNvSpPr txBox="1"/>
          <p:nvPr/>
        </p:nvSpPr>
        <p:spPr>
          <a:xfrm>
            <a:off x="1325880" y="425196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Yashirin kanal — nazoratni chetlab o'tadi; yon kanal (Spectre) — apparat darajasida sizadi.</a:t>
            </a:r>
            <a:endParaRPr lang="en-US" sz="1800" dirty="0"/>
          </a:p>
        </p:txBody>
      </p:sp>
      <p:sp>
        <p:nvSpPr>
          <p:cNvPr id="17" name="Shape 15"/>
          <p:cNvSpPr/>
          <p:nvPr/>
        </p:nvSpPr>
        <p:spPr>
          <a:xfrm>
            <a:off x="548640" y="5148072"/>
            <a:ext cx="548640" cy="548640"/>
          </a:xfrm>
          <a:prstGeom prst="roundRect">
            <a:avLst>
              <a:gd name="adj" fmla="val 13333"/>
            </a:avLst>
          </a:prstGeom>
          <a:solidFill>
            <a:srgbClr val="2A3778"/>
          </a:solidFill>
          <a:ln/>
        </p:spPr>
      </p:sp>
      <p:sp>
        <p:nvSpPr>
          <p:cNvPr id="18" name="Text 16"/>
          <p:cNvSpPr txBox="1"/>
          <p:nvPr/>
        </p:nvSpPr>
        <p:spPr>
          <a:xfrm>
            <a:off x="548640" y="514807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5</a:t>
            </a:r>
            <a:endParaRPr lang="en-US" sz="2000" dirty="0"/>
          </a:p>
        </p:txBody>
      </p:sp>
      <p:sp>
        <p:nvSpPr>
          <p:cNvPr id="19" name="Text 17"/>
          <p:cNvSpPr txBox="1"/>
          <p:nvPr/>
        </p:nvSpPr>
        <p:spPr>
          <a:xfrm>
            <a:off x="1325880" y="507492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Windows'da amaliy himoya: Purview DLP, USB nazorati va audit — ochiq kanallarni yopadi.</a:t>
            </a:r>
            <a:endParaRPr lang="en-US" sz="18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TEZKOR TEST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To'rt savol</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listo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5440680" cy="2103120"/>
          </a:xfrm>
          <a:prstGeom prst="roundRect">
            <a:avLst>
              <a:gd name="adj" fmla="val 3913"/>
            </a:avLst>
          </a:prstGeom>
          <a:solidFill>
            <a:srgbClr val="FFFFFF"/>
          </a:solidFill>
          <a:ln/>
        </p:spPr>
      </p:sp>
      <p:sp>
        <p:nvSpPr>
          <p:cNvPr id="7" name="Shape 4"/>
          <p:cNvSpPr/>
          <p:nvPr/>
        </p:nvSpPr>
        <p:spPr>
          <a:xfrm>
            <a:off x="548640" y="1783080"/>
            <a:ext cx="548640" cy="2103120"/>
          </a:xfrm>
          <a:prstGeom prst="roundRect">
            <a:avLst>
              <a:gd name="adj" fmla="val 15000"/>
            </a:avLst>
          </a:prstGeom>
          <a:solidFill>
            <a:srgbClr val="D9932B"/>
          </a:solidFill>
          <a:ln/>
        </p:spPr>
      </p:sp>
      <p:sp>
        <p:nvSpPr>
          <p:cNvPr id="8" name="Text 5"/>
          <p:cNvSpPr txBox="1"/>
          <p:nvPr/>
        </p:nvSpPr>
        <p:spPr>
          <a:xfrm>
            <a:off x="54864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9" name="Text 6"/>
          <p:cNvSpPr txBox="1"/>
          <p:nvPr/>
        </p:nvSpPr>
        <p:spPr>
          <a:xfrm>
            <a:off x="128016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Bilvosita oqim qanday yuzaga keladi?</a:t>
            </a:r>
            <a:endParaRPr lang="en-US" sz="1800" dirty="0"/>
          </a:p>
        </p:txBody>
      </p:sp>
      <p:sp>
        <p:nvSpPr>
          <p:cNvPr id="10" name="Text 7"/>
          <p:cNvSpPr txBox="1"/>
          <p:nvPr/>
        </p:nvSpPr>
        <p:spPr>
          <a:xfrm>
            <a:off x="128016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y := x</a:t>
            </a:r>
            <a:endParaRPr lang="en-US" sz="1600" dirty="0"/>
          </a:p>
        </p:txBody>
      </p:sp>
      <p:sp>
        <p:nvSpPr>
          <p:cNvPr id="11" name="Text 8"/>
          <p:cNvSpPr txBox="1"/>
          <p:nvPr/>
        </p:nvSpPr>
        <p:spPr>
          <a:xfrm>
            <a:off x="128016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Shart yoki sikl (if/while) orqali</a:t>
            </a:r>
            <a:endParaRPr lang="en-US" sz="1600" dirty="0"/>
          </a:p>
        </p:txBody>
      </p:sp>
      <p:sp>
        <p:nvSpPr>
          <p:cNvPr id="12" name="Text 9"/>
          <p:cNvSpPr txBox="1"/>
          <p:nvPr/>
        </p:nvSpPr>
        <p:spPr>
          <a:xfrm>
            <a:off x="128016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Fayl nusxalash</a:t>
            </a:r>
            <a:endParaRPr lang="en-US" sz="1600" dirty="0"/>
          </a:p>
        </p:txBody>
      </p:sp>
      <p:sp>
        <p:nvSpPr>
          <p:cNvPr id="13" name="Text 10"/>
          <p:cNvSpPr txBox="1"/>
          <p:nvPr/>
        </p:nvSpPr>
        <p:spPr>
          <a:xfrm>
            <a:off x="128016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Tarmoq orqali</a:t>
            </a:r>
            <a:endParaRPr lang="en-US" sz="1600" dirty="0"/>
          </a:p>
        </p:txBody>
      </p:sp>
      <p:sp>
        <p:nvSpPr>
          <p:cNvPr id="14" name="Shape 11"/>
          <p:cNvSpPr/>
          <p:nvPr/>
        </p:nvSpPr>
        <p:spPr>
          <a:xfrm>
            <a:off x="6172200" y="1783080"/>
            <a:ext cx="5440680" cy="2103120"/>
          </a:xfrm>
          <a:prstGeom prst="roundRect">
            <a:avLst>
              <a:gd name="adj" fmla="val 3913"/>
            </a:avLst>
          </a:prstGeom>
          <a:solidFill>
            <a:srgbClr val="FFFFFF"/>
          </a:solidFill>
          <a:ln/>
        </p:spPr>
      </p:sp>
      <p:sp>
        <p:nvSpPr>
          <p:cNvPr id="15" name="Shape 12"/>
          <p:cNvSpPr/>
          <p:nvPr/>
        </p:nvSpPr>
        <p:spPr>
          <a:xfrm>
            <a:off x="6172200" y="1783080"/>
            <a:ext cx="548640" cy="2103120"/>
          </a:xfrm>
          <a:prstGeom prst="roundRect">
            <a:avLst>
              <a:gd name="adj" fmla="val 15000"/>
            </a:avLst>
          </a:prstGeom>
          <a:solidFill>
            <a:srgbClr val="D9932B"/>
          </a:solidFill>
          <a:ln/>
        </p:spPr>
      </p:sp>
      <p:sp>
        <p:nvSpPr>
          <p:cNvPr id="16" name="Text 13"/>
          <p:cNvSpPr txBox="1"/>
          <p:nvPr/>
        </p:nvSpPr>
        <p:spPr>
          <a:xfrm>
            <a:off x="617220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17" name="Text 14"/>
          <p:cNvSpPr txBox="1"/>
          <p:nvPr/>
        </p:nvSpPr>
        <p:spPr>
          <a:xfrm>
            <a:off x="690372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Yashirin va yon kanal farqi?</a:t>
            </a:r>
            <a:endParaRPr lang="en-US" sz="1800" dirty="0"/>
          </a:p>
        </p:txBody>
      </p:sp>
      <p:sp>
        <p:nvSpPr>
          <p:cNvPr id="18" name="Text 15"/>
          <p:cNvSpPr txBox="1"/>
          <p:nvPr/>
        </p:nvSpPr>
        <p:spPr>
          <a:xfrm>
            <a:off x="690372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Farqi yo'q</a:t>
            </a:r>
            <a:endParaRPr lang="en-US" sz="1600" dirty="0"/>
          </a:p>
        </p:txBody>
      </p:sp>
      <p:sp>
        <p:nvSpPr>
          <p:cNvPr id="19" name="Text 16"/>
          <p:cNvSpPr txBox="1"/>
          <p:nvPr/>
        </p:nvSpPr>
        <p:spPr>
          <a:xfrm>
            <a:off x="690372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Yashirin — ataylab; yon — beixtiyor</a:t>
            </a:r>
            <a:endParaRPr lang="en-US" sz="1600" dirty="0"/>
          </a:p>
        </p:txBody>
      </p:sp>
      <p:sp>
        <p:nvSpPr>
          <p:cNvPr id="20" name="Text 17"/>
          <p:cNvSpPr txBox="1"/>
          <p:nvPr/>
        </p:nvSpPr>
        <p:spPr>
          <a:xfrm>
            <a:off x="690372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Yon — faqat tarmoqda</a:t>
            </a:r>
            <a:endParaRPr lang="en-US" sz="1600" dirty="0"/>
          </a:p>
        </p:txBody>
      </p:sp>
      <p:sp>
        <p:nvSpPr>
          <p:cNvPr id="21" name="Text 18"/>
          <p:cNvSpPr txBox="1"/>
          <p:nvPr/>
        </p:nvSpPr>
        <p:spPr>
          <a:xfrm>
            <a:off x="690372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Yashirin — faqat apparatda</a:t>
            </a:r>
            <a:endParaRPr lang="en-US" sz="1600" dirty="0"/>
          </a:p>
        </p:txBody>
      </p:sp>
      <p:sp>
        <p:nvSpPr>
          <p:cNvPr id="22" name="Shape 19"/>
          <p:cNvSpPr/>
          <p:nvPr/>
        </p:nvSpPr>
        <p:spPr>
          <a:xfrm>
            <a:off x="548640" y="4069080"/>
            <a:ext cx="5440680" cy="2103120"/>
          </a:xfrm>
          <a:prstGeom prst="roundRect">
            <a:avLst>
              <a:gd name="adj" fmla="val 3913"/>
            </a:avLst>
          </a:prstGeom>
          <a:solidFill>
            <a:srgbClr val="FFFFFF"/>
          </a:solidFill>
          <a:ln/>
        </p:spPr>
      </p:sp>
      <p:sp>
        <p:nvSpPr>
          <p:cNvPr id="23" name="Shape 20"/>
          <p:cNvSpPr/>
          <p:nvPr/>
        </p:nvSpPr>
        <p:spPr>
          <a:xfrm>
            <a:off x="548640" y="4069080"/>
            <a:ext cx="548640" cy="2103120"/>
          </a:xfrm>
          <a:prstGeom prst="roundRect">
            <a:avLst>
              <a:gd name="adj" fmla="val 15000"/>
            </a:avLst>
          </a:prstGeom>
          <a:solidFill>
            <a:srgbClr val="D9932B"/>
          </a:solidFill>
          <a:ln/>
        </p:spPr>
      </p:sp>
      <p:sp>
        <p:nvSpPr>
          <p:cNvPr id="24" name="Text 21"/>
          <p:cNvSpPr txBox="1"/>
          <p:nvPr/>
        </p:nvSpPr>
        <p:spPr>
          <a:xfrm>
            <a:off x="54864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25" name="Text 22"/>
          <p:cNvSpPr txBox="1"/>
          <p:nvPr/>
        </p:nvSpPr>
        <p:spPr>
          <a:xfrm>
            <a:off x="128016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Spectre/Meltdown qaysi kanal turi?</a:t>
            </a:r>
            <a:endParaRPr lang="en-US" sz="1800" dirty="0"/>
          </a:p>
        </p:txBody>
      </p:sp>
      <p:sp>
        <p:nvSpPr>
          <p:cNvPr id="26" name="Text 23"/>
          <p:cNvSpPr txBox="1"/>
          <p:nvPr/>
        </p:nvSpPr>
        <p:spPr>
          <a:xfrm>
            <a:off x="128016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Aniq oqim</a:t>
            </a:r>
            <a:endParaRPr lang="en-US" sz="1600" dirty="0"/>
          </a:p>
        </p:txBody>
      </p:sp>
      <p:sp>
        <p:nvSpPr>
          <p:cNvPr id="27" name="Text 24"/>
          <p:cNvSpPr txBox="1"/>
          <p:nvPr/>
        </p:nvSpPr>
        <p:spPr>
          <a:xfrm>
            <a:off x="128016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Ochiq kanal</a:t>
            </a:r>
            <a:endParaRPr lang="en-US" sz="1600" dirty="0"/>
          </a:p>
        </p:txBody>
      </p:sp>
      <p:sp>
        <p:nvSpPr>
          <p:cNvPr id="28" name="Text 25"/>
          <p:cNvSpPr txBox="1"/>
          <p:nvPr/>
        </p:nvSpPr>
        <p:spPr>
          <a:xfrm>
            <a:off x="128016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Yon (vaqt/kesh) kanali</a:t>
            </a:r>
            <a:endParaRPr lang="en-US" sz="1600" dirty="0"/>
          </a:p>
        </p:txBody>
      </p:sp>
      <p:sp>
        <p:nvSpPr>
          <p:cNvPr id="29" name="Text 26"/>
          <p:cNvSpPr txBox="1"/>
          <p:nvPr/>
        </p:nvSpPr>
        <p:spPr>
          <a:xfrm>
            <a:off x="128016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Bilvosita oqim</a:t>
            </a:r>
            <a:endParaRPr lang="en-US" sz="1600" dirty="0"/>
          </a:p>
        </p:txBody>
      </p:sp>
      <p:sp>
        <p:nvSpPr>
          <p:cNvPr id="30" name="Shape 27"/>
          <p:cNvSpPr/>
          <p:nvPr/>
        </p:nvSpPr>
        <p:spPr>
          <a:xfrm>
            <a:off x="6172200" y="4069080"/>
            <a:ext cx="5440680" cy="2103120"/>
          </a:xfrm>
          <a:prstGeom prst="roundRect">
            <a:avLst>
              <a:gd name="adj" fmla="val 3913"/>
            </a:avLst>
          </a:prstGeom>
          <a:solidFill>
            <a:srgbClr val="FFFFFF"/>
          </a:solidFill>
          <a:ln/>
        </p:spPr>
      </p:sp>
      <p:sp>
        <p:nvSpPr>
          <p:cNvPr id="31" name="Shape 28"/>
          <p:cNvSpPr/>
          <p:nvPr/>
        </p:nvSpPr>
        <p:spPr>
          <a:xfrm>
            <a:off x="6172200" y="4069080"/>
            <a:ext cx="548640" cy="2103120"/>
          </a:xfrm>
          <a:prstGeom prst="roundRect">
            <a:avLst>
              <a:gd name="adj" fmla="val 15000"/>
            </a:avLst>
          </a:prstGeom>
          <a:solidFill>
            <a:srgbClr val="D9932B"/>
          </a:solidFill>
          <a:ln/>
        </p:spPr>
      </p:sp>
      <p:sp>
        <p:nvSpPr>
          <p:cNvPr id="32" name="Text 29"/>
          <p:cNvSpPr txBox="1"/>
          <p:nvPr/>
        </p:nvSpPr>
        <p:spPr>
          <a:xfrm>
            <a:off x="617220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33" name="Text 30"/>
          <p:cNvSpPr txBox="1"/>
          <p:nvPr/>
        </p:nvSpPr>
        <p:spPr>
          <a:xfrm>
            <a:off x="690372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Windows'da ochiq kanal sizishini nima to'xtatadi?</a:t>
            </a:r>
            <a:endParaRPr lang="en-US" sz="1800" dirty="0"/>
          </a:p>
        </p:txBody>
      </p:sp>
      <p:sp>
        <p:nvSpPr>
          <p:cNvPr id="34" name="Text 31"/>
          <p:cNvSpPr txBox="1"/>
          <p:nvPr/>
        </p:nvSpPr>
        <p:spPr>
          <a:xfrm>
            <a:off x="690372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Purview DLP</a:t>
            </a:r>
            <a:endParaRPr lang="en-US" sz="1600" dirty="0"/>
          </a:p>
        </p:txBody>
      </p:sp>
      <p:sp>
        <p:nvSpPr>
          <p:cNvPr id="35" name="Text 32"/>
          <p:cNvSpPr txBox="1"/>
          <p:nvPr/>
        </p:nvSpPr>
        <p:spPr>
          <a:xfrm>
            <a:off x="690372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Kerberos</a:t>
            </a:r>
            <a:endParaRPr lang="en-US" sz="1600" dirty="0"/>
          </a:p>
        </p:txBody>
      </p:sp>
      <p:sp>
        <p:nvSpPr>
          <p:cNvPr id="36" name="Text 33"/>
          <p:cNvSpPr txBox="1"/>
          <p:nvPr/>
        </p:nvSpPr>
        <p:spPr>
          <a:xfrm>
            <a:off x="690372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LDAP</a:t>
            </a:r>
            <a:endParaRPr lang="en-US" sz="1600" dirty="0"/>
          </a:p>
        </p:txBody>
      </p:sp>
      <p:sp>
        <p:nvSpPr>
          <p:cNvPr id="37" name="Text 34"/>
          <p:cNvSpPr txBox="1"/>
          <p:nvPr/>
        </p:nvSpPr>
        <p:spPr>
          <a:xfrm>
            <a:off x="690372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PKCE</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MUSTAQIL 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Uyga vazifa, keyingi mavzu va manbalar</a:t>
            </a:r>
            <a:endParaRPr lang="en-US" sz="3600" dirty="0"/>
          </a:p>
        </p:txBody>
      </p:sp>
      <p:sp>
        <p:nvSpPr>
          <p:cNvPr id="4" name="Shape 2"/>
          <p:cNvSpPr/>
          <p:nvPr/>
        </p:nvSpPr>
        <p:spPr>
          <a:xfrm>
            <a:off x="548640" y="1783080"/>
            <a:ext cx="6309360" cy="877824"/>
          </a:xfrm>
          <a:prstGeom prst="roundRect">
            <a:avLst>
              <a:gd name="adj" fmla="val 9375"/>
            </a:avLst>
          </a:prstGeom>
          <a:solidFill>
            <a:srgbClr val="EEF2FB"/>
          </a:solidFill>
          <a:ln/>
        </p:spPr>
      </p:sp>
      <p:sp>
        <p:nvSpPr>
          <p:cNvPr id="5" name="Shape 3"/>
          <p:cNvSpPr/>
          <p:nvPr/>
        </p:nvSpPr>
        <p:spPr>
          <a:xfrm>
            <a:off x="731520" y="1938528"/>
            <a:ext cx="566928" cy="566928"/>
          </a:xfrm>
          <a:prstGeom prst="ellipse">
            <a:avLst/>
          </a:prstGeom>
          <a:solidFill>
            <a:srgbClr val="1E2761"/>
          </a:solidFill>
          <a:ln/>
        </p:spPr>
      </p:sp>
      <p:pic>
        <p:nvPicPr>
          <p:cNvPr id="6" name="Image 0" descr="/home/claude/fob-slides/icons_out/code_white.png"/>
          <p:cNvPicPr>
            <a:picLocks noChangeAspect="1"/>
          </p:cNvPicPr>
          <p:nvPr/>
        </p:nvPicPr>
        <p:blipFill>
          <a:blip r:embed="rId1"/>
          <a:stretch>
            <a:fillRect/>
          </a:stretch>
        </p:blipFill>
        <p:spPr>
          <a:xfrm>
            <a:off x="859079" y="2066087"/>
            <a:ext cx="311810" cy="311810"/>
          </a:xfrm>
          <a:prstGeom prst="rect">
            <a:avLst/>
          </a:prstGeom>
        </p:spPr>
      </p:pic>
      <p:sp>
        <p:nvSpPr>
          <p:cNvPr id="7" name="Text 4"/>
          <p:cNvSpPr txBox="1"/>
          <p:nvPr/>
        </p:nvSpPr>
        <p:spPr>
          <a:xfrm>
            <a:off x="1463040" y="1819656"/>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Oqim tahlili</a:t>
            </a:r>
            <a:endParaRPr lang="en-US" sz="1700" dirty="0"/>
          </a:p>
        </p:txBody>
      </p:sp>
      <p:sp>
        <p:nvSpPr>
          <p:cNvPr id="8" name="Text 5"/>
          <p:cNvSpPr txBox="1"/>
          <p:nvPr/>
        </p:nvSpPr>
        <p:spPr>
          <a:xfrm>
            <a:off x="1463040" y="2167128"/>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Berilgan 5 qatorli dasturda aniq va bilvosita oqimlarni toping; Denning qoidasi bo'yicha har birini baholang.</a:t>
            </a:r>
            <a:endParaRPr lang="en-US" sz="1400" dirty="0"/>
          </a:p>
        </p:txBody>
      </p:sp>
      <p:sp>
        <p:nvSpPr>
          <p:cNvPr id="9" name="Shape 6"/>
          <p:cNvSpPr/>
          <p:nvPr/>
        </p:nvSpPr>
        <p:spPr>
          <a:xfrm>
            <a:off x="548640" y="2770632"/>
            <a:ext cx="6309360" cy="877824"/>
          </a:xfrm>
          <a:prstGeom prst="roundRect">
            <a:avLst>
              <a:gd name="adj" fmla="val 9375"/>
            </a:avLst>
          </a:prstGeom>
          <a:solidFill>
            <a:srgbClr val="EEF2FB"/>
          </a:solidFill>
          <a:ln/>
        </p:spPr>
      </p:sp>
      <p:sp>
        <p:nvSpPr>
          <p:cNvPr id="10" name="Shape 7"/>
          <p:cNvSpPr/>
          <p:nvPr/>
        </p:nvSpPr>
        <p:spPr>
          <a:xfrm>
            <a:off x="731520" y="2926080"/>
            <a:ext cx="566928" cy="566928"/>
          </a:xfrm>
          <a:prstGeom prst="ellipse">
            <a:avLst/>
          </a:prstGeom>
          <a:solidFill>
            <a:srgbClr val="1E2761"/>
          </a:solidFill>
          <a:ln/>
        </p:spPr>
      </p:sp>
      <p:pic>
        <p:nvPicPr>
          <p:cNvPr id="11" name="Image 1" descr="/home/claude/fob-slides/icons_out/terminal_white.png"/>
          <p:cNvPicPr>
            <a:picLocks noChangeAspect="1"/>
          </p:cNvPicPr>
          <p:nvPr/>
        </p:nvPicPr>
        <p:blipFill>
          <a:blip r:embed="rId2"/>
          <a:stretch>
            <a:fillRect/>
          </a:stretch>
        </p:blipFill>
        <p:spPr>
          <a:xfrm>
            <a:off x="859079" y="3053639"/>
            <a:ext cx="311810" cy="311810"/>
          </a:xfrm>
          <a:prstGeom prst="rect">
            <a:avLst/>
          </a:prstGeom>
        </p:spPr>
      </p:pic>
      <p:sp>
        <p:nvSpPr>
          <p:cNvPr id="12" name="Text 8"/>
          <p:cNvSpPr txBox="1"/>
          <p:nvPr/>
        </p:nvSpPr>
        <p:spPr>
          <a:xfrm>
            <a:off x="1463040" y="2807208"/>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Windows'da</a:t>
            </a:r>
            <a:endParaRPr lang="en-US" sz="1700" dirty="0"/>
          </a:p>
        </p:txBody>
      </p:sp>
      <p:sp>
        <p:nvSpPr>
          <p:cNvPr id="13" name="Text 9"/>
          <p:cNvSpPr txBox="1"/>
          <p:nvPr/>
        </p:nvSpPr>
        <p:spPr>
          <a:xfrm>
            <a:off x="1463040" y="3154680"/>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Test papkaga audit SACL qo'ying, faylni o'qing va 4663 hodisasini jurnalda toping.</a:t>
            </a:r>
            <a:endParaRPr lang="en-US" sz="1400" dirty="0"/>
          </a:p>
        </p:txBody>
      </p:sp>
      <p:sp>
        <p:nvSpPr>
          <p:cNvPr id="14" name="Shape 10"/>
          <p:cNvSpPr/>
          <p:nvPr/>
        </p:nvSpPr>
        <p:spPr>
          <a:xfrm>
            <a:off x="548640" y="3758184"/>
            <a:ext cx="6309360" cy="877824"/>
          </a:xfrm>
          <a:prstGeom prst="roundRect">
            <a:avLst>
              <a:gd name="adj" fmla="val 9375"/>
            </a:avLst>
          </a:prstGeom>
          <a:solidFill>
            <a:srgbClr val="EEF2FB"/>
          </a:solidFill>
          <a:ln/>
        </p:spPr>
      </p:sp>
      <p:sp>
        <p:nvSpPr>
          <p:cNvPr id="15" name="Shape 11"/>
          <p:cNvSpPr/>
          <p:nvPr/>
        </p:nvSpPr>
        <p:spPr>
          <a:xfrm>
            <a:off x="731520" y="3913632"/>
            <a:ext cx="566928" cy="566928"/>
          </a:xfrm>
          <a:prstGeom prst="ellipse">
            <a:avLst/>
          </a:prstGeom>
          <a:solidFill>
            <a:srgbClr val="1E2761"/>
          </a:solidFill>
          <a:ln/>
        </p:spPr>
      </p:sp>
      <p:pic>
        <p:nvPicPr>
          <p:cNvPr id="16" name="Image 2" descr="/home/claude/fob-slides/icons_out/search_white.png"/>
          <p:cNvPicPr>
            <a:picLocks noChangeAspect="1"/>
          </p:cNvPicPr>
          <p:nvPr/>
        </p:nvPicPr>
        <p:blipFill>
          <a:blip r:embed="rId3"/>
          <a:stretch>
            <a:fillRect/>
          </a:stretch>
        </p:blipFill>
        <p:spPr>
          <a:xfrm>
            <a:off x="859079" y="4041191"/>
            <a:ext cx="311810" cy="311810"/>
          </a:xfrm>
          <a:prstGeom prst="rect">
            <a:avLst/>
          </a:prstGeom>
        </p:spPr>
      </p:pic>
      <p:sp>
        <p:nvSpPr>
          <p:cNvPr id="17" name="Text 12"/>
          <p:cNvSpPr txBox="1"/>
          <p:nvPr/>
        </p:nvSpPr>
        <p:spPr>
          <a:xfrm>
            <a:off x="1463040" y="3794760"/>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Kuzatish</a:t>
            </a:r>
            <a:endParaRPr lang="en-US" sz="1700" dirty="0"/>
          </a:p>
        </p:txBody>
      </p:sp>
      <p:sp>
        <p:nvSpPr>
          <p:cNvPr id="18" name="Text 13"/>
          <p:cNvSpPr txBox="1"/>
          <p:nvPr/>
        </p:nvSpPr>
        <p:spPr>
          <a:xfrm>
            <a:off x="1463040" y="4142232"/>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Kompyuteringizda umumiy resurslarni (fayl qulflari, disk, printer navbati) sanab, potensial kanal sifatida baholang.</a:t>
            </a:r>
            <a:endParaRPr lang="en-US" sz="1400" dirty="0"/>
          </a:p>
        </p:txBody>
      </p:sp>
      <p:sp>
        <p:nvSpPr>
          <p:cNvPr id="19" name="Shape 14"/>
          <p:cNvSpPr/>
          <p:nvPr/>
        </p:nvSpPr>
        <p:spPr>
          <a:xfrm>
            <a:off x="7086600" y="1783080"/>
            <a:ext cx="4526280" cy="2816352"/>
          </a:xfrm>
          <a:prstGeom prst="roundRect">
            <a:avLst>
              <a:gd name="adj" fmla="val 2922"/>
            </a:avLst>
          </a:prstGeom>
          <a:solidFill>
            <a:srgbClr val="1E2761"/>
          </a:solidFill>
          <a:ln/>
        </p:spPr>
      </p:sp>
      <p:sp>
        <p:nvSpPr>
          <p:cNvPr id="20" name="Text 15"/>
          <p:cNvSpPr txBox="1"/>
          <p:nvPr/>
        </p:nvSpPr>
        <p:spPr>
          <a:xfrm>
            <a:off x="7086600" y="1920240"/>
            <a:ext cx="452628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KEYINGI MA'RUZA · M13</a:t>
            </a:r>
            <a:endParaRPr lang="en-US" sz="1600" dirty="0"/>
          </a:p>
        </p:txBody>
      </p:sp>
      <p:sp>
        <p:nvSpPr>
          <p:cNvPr id="21" name="Text 16"/>
          <p:cNvSpPr txBox="1"/>
          <p:nvPr/>
        </p:nvSpPr>
        <p:spPr>
          <a:xfrm>
            <a:off x="7315200" y="2377440"/>
            <a:ext cx="4069080" cy="11887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Rolga asoslangan foydalanish nazorati (RBAC): NIST modeli</a:t>
            </a:r>
            <a:endParaRPr lang="en-US" sz="1800" dirty="0"/>
          </a:p>
        </p:txBody>
      </p:sp>
      <p:sp>
        <p:nvSpPr>
          <p:cNvPr id="22" name="Text 17"/>
          <p:cNvSpPr txBox="1"/>
          <p:nvPr/>
        </p:nvSpPr>
        <p:spPr>
          <a:xfrm>
            <a:off x="7315200" y="3657600"/>
            <a:ext cx="4069080" cy="731520"/>
          </a:xfrm>
          <a:prstGeom prst="rect">
            <a:avLst/>
          </a:prstGeom>
          <a:noFill/>
          <a:ln/>
        </p:spPr>
        <p:txBody>
          <a:bodyPr wrap="square" lIns="50800" tIns="50800" rIns="50800" bIns="50800" rtlCol="0" anchor="ctr"/>
          <a:lstStyle/>
          <a:p>
            <a:pPr algn="ctr" indent="0" marL="0">
              <a:lnSpc>
                <a:spcPct val="100000"/>
              </a:lnSpc>
              <a:buNone/>
            </a:pPr>
            <a:r>
              <a:rPr lang="en-US" sz="1500" dirty="0">
                <a:solidFill>
                  <a:srgbClr val="9FB0E0"/>
                </a:solidFill>
                <a:latin typeface="Times New Roman" pitchFamily="34" charset="0"/>
                <a:ea typeface="Times New Roman" pitchFamily="34" charset="-122"/>
                <a:cs typeface="Times New Roman" pitchFamily="34" charset="-120"/>
              </a:rPr>
              <a:t>Har bir foydalanuvchiga alohida ruxsat — juda ko'p. Rollar yordam beradimi?</a:t>
            </a:r>
            <a:endParaRPr lang="en-US" sz="1500" dirty="0"/>
          </a:p>
        </p:txBody>
      </p:sp>
      <p:sp>
        <p:nvSpPr>
          <p:cNvPr id="23" name="Shape 18"/>
          <p:cNvSpPr/>
          <p:nvPr/>
        </p:nvSpPr>
        <p:spPr>
          <a:xfrm>
            <a:off x="548640" y="4846320"/>
            <a:ext cx="11064240" cy="1417320"/>
          </a:xfrm>
          <a:prstGeom prst="roundRect">
            <a:avLst>
              <a:gd name="adj" fmla="val 5806"/>
            </a:avLst>
          </a:prstGeom>
          <a:solidFill>
            <a:srgbClr val="FFFFFF"/>
          </a:solidFill>
          <a:ln w="12700">
            <a:solidFill>
              <a:srgbClr val="CADCFC"/>
            </a:solidFill>
            <a:prstDash val="solid"/>
          </a:ln>
        </p:spPr>
      </p:sp>
      <p:sp>
        <p:nvSpPr>
          <p:cNvPr id="24" name="Text 19"/>
          <p:cNvSpPr txBox="1"/>
          <p:nvPr/>
        </p:nvSpPr>
        <p:spPr>
          <a:xfrm>
            <a:off x="731520" y="4892040"/>
            <a:ext cx="10698480" cy="1325880"/>
          </a:xfrm>
          <a:prstGeom prst="rect">
            <a:avLst/>
          </a:prstGeom>
          <a:noFill/>
          <a:ln/>
        </p:spPr>
        <p:txBody>
          <a:bodyPr wrap="square" lIns="0" tIns="0" rIns="0" bIns="0" rtlCol="0" anchor="ctr"/>
          <a:lstStyle/>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[1] S.K. Ganiev va boshq. Kiberxavfsizlik asoslari. — T., 2021.</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[2] D.E. Denning. A Lattice Model of Secure Information Flow. CACM, 1976.</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[3] B.W. Lampson. A Note on the Confinement Problem. CACM, 1973.</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[4] J. Goguen, J. Meseguer. Security Policies and Security Models. IEEE S&amp;P, 1982.</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[5] Microsoft Learn. Microsoft Purview DLP; Removable Storage Access; Advanced security auditing.</a:t>
            </a:r>
            <a:endParaRPr lang="en-US" sz="1200" dirty="0"/>
          </a:p>
        </p:txBody>
      </p:sp>
      <p:sp>
        <p:nvSpPr>
          <p:cNvPr id="25"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12-ma'ruza</a:t>
            </a:r>
            <a:endParaRPr lang="en-US" sz="1100" dirty="0"/>
          </a:p>
        </p:txBody>
      </p:sp>
      <p:sp>
        <p:nvSpPr>
          <p:cNvPr id="26"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12-ma'ruza. Axborot oqimi va yashirin kanallar</dc:title>
  <dc:subject>PptxGenJS Presentation</dc:subject>
  <dc:creator>PptxGenJS</dc:creator>
  <cp:lastModifiedBy>PptxGenJS</cp:lastModifiedBy>
  <cp:revision>1</cp:revision>
  <dcterms:created xsi:type="dcterms:W3CDTF">2026-09-28T16:33:25Z</dcterms:created>
  <dcterms:modified xsi:type="dcterms:W3CDTF">2026-09-28T16:33:25Z</dcterms:modified>
</cp:coreProperties>
</file>