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05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Kirish. Fan, mavzu va darsning uchta asosiy tushunchasi e'lon qilinadi. Talabalarga darsda to'rtta interaktiv nuqta bo'lishi aytiladi.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Darsning tuzilishini e'lon qilish. Talabalarga interaktiv qismlar oldindan aytilsa, ular faolroq qatnashadi.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TN1 ta'lim natijasiga bog'lab tushuntirish.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Motivatsion kirish; 1972-yilgi hisobot bugungi barcha operatsion tizimlar dizaynining asosida turishini ta'kidlash.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Javoblarni to'plash, lekin hozircha to'g'ri javobni aytmaslik — bu savollar dars davomida ochiladi. Uchinchi savol to'liq vositachilik shartiga olib boradi.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Bo'lim ajratuvchi slayd — darsning ritmini belgilaydi.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Misol bilan mustahkamlash: 'Ali (subyekt) hisobot.docx (obyekt) faylini o'qiydi (operatsiya)'.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Kutilgan javob: subyekt — kassir Nodira (va tizim jarayoni); obyektlar — mijoz hisob raqami, tizim jurnali; operatsiyalar — pul yechish (write), jurnalga yozish (write/append).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Diagrammani oqim bo'yicha tushuntirish: murojaat keladi, monitor siyosat bazasidan qoidani oladi, qaror chiqaradi, qaror jurnalga yoziladi. Rad etish ham to'liq huquqli natija ekanini ta'kidlash.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O'ng tomondagi oq kartochkalar — har bir shartning amaliy ko'rinishi. TOCTOU zaifligini to'liq vositachilik buzilishiga misol sifatida aytish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To'g'ri javoblar: A — to'liq vositachilik (tekshiruv faqat interfeys darajasida); B — buzib bo'lmaslik; C — tekshirilishi mumkinligi. Har bir javobdan keyin bartaraf etish choralarini so'rash.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TCB perimetri kengaysa, ishonch talab qiladigan kod hajmi ortadi va xavf oshadi.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Asosiy g'oya: ishonch chegarasi qayerda tugashini bilish kerak. Perimetrdan tashqaridagi hech narsaning to'g'riligiga tayanib qaror qabul qilinmaydi.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Darsning eng muhim sintez slaydi — bitta misolni uch qatlam bo'ylab oxirigacha kuzatib chiqish.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talabadan javob so'rash. Ko'p uchraydigan xato — model o'rniga darhol mexanizmni aytish (masalan, 'parol qo'yamiz').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Talabalar javoblarni daftarga yozadi yoki onlayn so'rovnoma orqali belgilaydi. Javoblar test oxirida ochiladi.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tugagach javoblar kaliti ochiladi. Har bir savol bo'yicha qisqacha izoh berish tavsiya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4" name="Shape 2"/>
          <p:cNvSpPr/>
          <p:nvPr/>
        </p:nvSpPr>
        <p:spPr>
          <a:xfrm>
            <a:off x="822960" y="73152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pic>
        <p:nvPicPr>
          <p:cNvPr id="5" name="Image 0" descr="/home/claude/fob-slides/icons_out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94000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745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Foydalanishni nazorat qilish asoslari: xavfsizlik siyosati, Reference Monitor va ishonchli hisoblash bazasi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 ·  Ishonchli hisoblash bazasi (TCB)  ·  Siyosat – Model – Mexanizm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0" name="Text 7"/>
          <p:cNvSpPr txBox="1"/>
          <p:nvPr/>
        </p:nvSpPr>
        <p:spPr>
          <a:xfrm>
            <a:off x="822960" y="4343400"/>
            <a:ext cx="101498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20824" y="4343400"/>
            <a:ext cx="2276856" cy="402336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2" name="Text 9"/>
          <p:cNvSpPr txBox="1"/>
          <p:nvPr/>
        </p:nvSpPr>
        <p:spPr>
          <a:xfrm>
            <a:off x="2020824" y="4343400"/>
            <a:ext cx="227685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4343400"/>
            <a:ext cx="699516" cy="402336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4" name="Text 11"/>
          <p:cNvSpPr txBox="1"/>
          <p:nvPr/>
        </p:nvSpPr>
        <p:spPr>
          <a:xfrm>
            <a:off x="4480560" y="4343400"/>
            <a:ext cx="699516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TN1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62956" y="4343400"/>
            <a:ext cx="2382012" cy="402336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000"/>
          </a:p>
        </p:txBody>
      </p:sp>
      <p:sp>
        <p:nvSpPr>
          <p:cNvPr id="16" name="Text 13"/>
          <p:cNvSpPr txBox="1"/>
          <p:nvPr/>
        </p:nvSpPr>
        <p:spPr>
          <a:xfrm>
            <a:off x="5362956" y="4343400"/>
            <a:ext cx="238201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Interaktiv: 4 nuqta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8638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68680" cy="1170432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933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957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Subyekt, obyekt, operatsiya va ularning o'zaro munosabati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9933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868680" cy="1170432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2" name="Text 10"/>
          <p:cNvSpPr txBox="1"/>
          <p:nvPr/>
        </p:nvSpPr>
        <p:spPr>
          <a:xfrm>
            <a:off x="548640" y="3182112"/>
            <a:ext cx="8686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4670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va TCB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490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Nazorat nuqtasi, uning uchta sharti va ishonch perimetri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3467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78638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868680" cy="1170432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8" name="Text 16"/>
          <p:cNvSpPr txBox="1"/>
          <p:nvPr/>
        </p:nvSpPr>
        <p:spPr>
          <a:xfrm>
            <a:off x="548640" y="4535424"/>
            <a:ext cx="86868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0001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– Model – Mexanizm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0235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Abstraktdan konkretga: uch qatlamli aniqlashtirish zanjiri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7000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828800"/>
            <a:ext cx="2926080" cy="3877056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3" name="Shape 21"/>
          <p:cNvSpPr/>
          <p:nvPr/>
        </p:nvSpPr>
        <p:spPr>
          <a:xfrm>
            <a:off x="9006840" y="2103120"/>
            <a:ext cx="548640" cy="54864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4" y="2226564"/>
            <a:ext cx="301752" cy="3017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0068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3154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Ochilish muhokamasi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S–O–Op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qaysi shart buzilgan?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uch qatlam</a:t>
            </a:r>
            <a:endParaRPr lang="en-US" sz="16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(7 savol)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MAQSADI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Ushbu mavzuni o'zlashtirgach, talaba...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2722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75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tushunchalarni biladi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41448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Subyekt, obyekt, operatsiya va reference monitor tushunchalarini aniq ta'riflaydi.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2722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075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 qatlamni farqlaydi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441448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siyosati, modeli va mexanizmi o'rtasidagi farqni misol bilan tushuntiradi.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2" descr="/home/claude/fob-slides/icons_out/user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2382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041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tuzilishini tushunadi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407408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Ishonchli hisoblash bazasi nimalardan iboratligini va perimetr nega muhimligini izohlaydi.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/home/claude/fob-slides/icons_out/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42382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041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Tamoyillarni qo'llaydi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407408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va vazifalarni ajratish tamoyillarini amaliy misollarda ko'rsatadi.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foydalanishni nazoratlash kerak?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qanday axborot tizimida bitta savol markaziy o'rin tutadi: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“Kim, qaysi resursga, qanday amalni bajarishga ruxsatga ega?”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6309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savolga javob berish uchun uchta narsa kerak: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aylanib o'tib bo'lmaydigan tekshiruv nuqtasi — reference monitor;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 tekshiruvni bajaruvchi ishonchli platforma — TCB;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qarorlarni belgilaydigan qoidalar tizimi — siyosat, model, mexanizm.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78040" y="1874520"/>
            <a:ext cx="443484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543800" y="2240280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/home/claude/fob-slides/icons_out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818" y="23842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78040" y="3017520"/>
            <a:ext cx="44348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1972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79476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James P. Anderson hisoboti “Computer Security Technology Planning Study” da reference monitor tushunchasi birinchi marta rasman ta'riflangan.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Sinfda javob beramiz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users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370" y="674370"/>
            <a:ext cx="434340" cy="4343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Universitetning HEMIS tizimini tasavvur qiling. Talaba o'z bahosini ko'ra oladi, o'qituvchi baho qo'yadi, dekanat esa hammasini ko'radi.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822960" y="3584448"/>
            <a:ext cx="548640" cy="54864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373532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4747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tizimda subyekt kim, obyekt nima?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4747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822960" y="4498848"/>
            <a:ext cx="548640" cy="54864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464972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3891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boshqa talabaning bahosini ko'ra olmasligini nima ta'minlaydi?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822960" y="5413248"/>
            <a:ext cx="548640" cy="54864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" y="5564124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530352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Agar tekshiruv faqat mobil ilovada bo'lsa, nima sodir bo'ladi?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3035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BO'LIM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889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 · Obyekt · Operatsiya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920240"/>
            <a:ext cx="2011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TERMINOLOGIYA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Uchta boshlang'ich tushuncha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94310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97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38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Faol ishtirokchi: foydalanuvchi, jarayon yoki dastur — u resursga murojaat qiladi.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502920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822960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Ali, hisobot.exe jarayoni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582930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/home/claude/fob-slides/icons_out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179" y="2369439"/>
            <a:ext cx="427482" cy="4274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3484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434840" y="3538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3931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Passiv resurs: fayl, ma'lumotlar bazasi yozuvi, qurilma yoki xotira segmenti.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709160" y="502920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 txBox="1"/>
          <p:nvPr/>
        </p:nvSpPr>
        <p:spPr>
          <a:xfrm>
            <a:off x="4709160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baholar.db, hisobot.docx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321040" y="1874520"/>
            <a:ext cx="3566160" cy="3886200"/>
          </a:xfrm>
          <a:prstGeom prst="roundRect">
            <a:avLst>
              <a:gd name="adj" fmla="val 256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7"/>
          <p:cNvSpPr/>
          <p:nvPr/>
        </p:nvSpPr>
        <p:spPr>
          <a:xfrm>
            <a:off x="971550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2" descr="/home/claude/fob-slides/icons_out/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379" y="2369439"/>
            <a:ext cx="427482" cy="42748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32104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Operatsiya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35387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8595360" y="3931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 obyekt ustida bajaradigan amal: o'qish, yozish, bajarish, o'chirish.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8595360" y="502920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2"/>
          <p:cNvSpPr txBox="1"/>
          <p:nvPr/>
        </p:nvSpPr>
        <p:spPr>
          <a:xfrm>
            <a:off x="8595360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read, write, execute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foydalanish qarori — aynan shu uchlik ustida qabul qilinadi:  ⟨ subyekt, obyekt, operatsiya ⟩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3 DAQIQA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Uchlikni ajrating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“Kassir Nodira mijozning hisob raqamidan pul yechish amalini bajaradi va operatsiyani tizim jurnaliga yozdiradi.”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548640" y="3291840"/>
            <a:ext cx="3566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Subyektlar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harakat qilmoqda?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70916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822960" y="512064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434840" y="3291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4434840" y="329184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4434840" y="3291840"/>
            <a:ext cx="3566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Obyektlar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ustida harakat qilinmoqda?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709160" y="470916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709160" y="512064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8321040" y="32918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8321040" y="329184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8321040" y="3291840"/>
            <a:ext cx="3566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Operatsiyalar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54964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 amallar bajarilmoqda?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595360" y="470916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8595360" y="5120640"/>
            <a:ext cx="301752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Juftlikda 3 daqiqa ishlang, so'ng bitta juft javobini taqdim etadi.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88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va TCB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Nazorat nuqtasi · Uchta shart · Ishonch perimetri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19202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MARKAZIY TUSHUNCHA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qanday ishlaydi?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</a:t>
            </a:r>
            <a:r>
              <a:rPr lang="en-US" sz="15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subyektning obyektga har bir murojaatini xavfsizlik siyosatiga muvofiqligini tekshiradigan abstrakt nazorat mexanizmi.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21031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SUBYEKT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297180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9144000" y="2971800"/>
            <a:ext cx="21031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OBYEKT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27432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4160520" y="2944368"/>
            <a:ext cx="35661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murojaatni tekshiradi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05856" y="367588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/home/claude/fob-slides/icons_out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3794760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88920" y="3401568"/>
            <a:ext cx="1298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260604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murojaat ⟨s, o, op⟩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0" y="3401568"/>
            <a:ext cx="1298448" cy="0"/>
          </a:xfrm>
          <a:prstGeom prst="line">
            <a:avLst/>
          </a:prstGeom>
          <a:noFill/>
          <a:ln w="28575">
            <a:solidFill>
              <a:srgbClr val="1F6B4A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768096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ruxsat berilsa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80560" y="5074920"/>
            <a:ext cx="2926080" cy="731520"/>
          </a:xfrm>
          <a:prstGeom prst="roundRect">
            <a:avLst>
              <a:gd name="adj" fmla="val 11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709160" y="52303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/home/claude/fob-slides/icons_out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5333238"/>
            <a:ext cx="205740" cy="2057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12080" y="5074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siyosati bazasi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 flipV="1">
            <a:off x="5943600" y="4507992"/>
            <a:ext cx="0" cy="566928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 txBox="1"/>
          <p:nvPr/>
        </p:nvSpPr>
        <p:spPr>
          <a:xfrm>
            <a:off x="6053328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qoidalari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" y="5074920"/>
            <a:ext cx="2651760" cy="731520"/>
          </a:xfrm>
          <a:prstGeom prst="roundRect">
            <a:avLst>
              <a:gd name="adj" fmla="val 11250"/>
            </a:avLst>
          </a:prstGeom>
          <a:solidFill>
            <a:srgbClr val="F7EC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1"/>
          <p:cNvSpPr/>
          <p:nvPr/>
        </p:nvSpPr>
        <p:spPr>
          <a:xfrm>
            <a:off x="868680" y="5230368"/>
            <a:ext cx="411480" cy="411480"/>
          </a:xfrm>
          <a:prstGeom prst="ellipse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2" descr="/home/claude/fob-slides/icons_out/ba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333238"/>
            <a:ext cx="205740" cy="2057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371600" y="5074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 etish (deny) + xabar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 flipH="1">
            <a:off x="3154680" y="3977640"/>
            <a:ext cx="1005840" cy="1097280"/>
          </a:xfrm>
          <a:prstGeom prst="line">
            <a:avLst/>
          </a:prstGeom>
          <a:noFill/>
          <a:ln w="25400">
            <a:solidFill>
              <a:srgbClr val="9E3B2E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4"/>
          <p:cNvSpPr/>
          <p:nvPr/>
        </p:nvSpPr>
        <p:spPr>
          <a:xfrm>
            <a:off x="8595360" y="5074920"/>
            <a:ext cx="2651760" cy="731520"/>
          </a:xfrm>
          <a:prstGeom prst="roundRect">
            <a:avLst>
              <a:gd name="adj" fmla="val 11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5"/>
          <p:cNvSpPr/>
          <p:nvPr/>
        </p:nvSpPr>
        <p:spPr>
          <a:xfrm>
            <a:off x="8823960" y="523036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Image 3" descr="/home/claude/fob-slides/icons_out/f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6830" y="5333238"/>
            <a:ext cx="205740" cy="2057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326880" y="5074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jurnali (har bir qaror)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726680" y="3977640"/>
            <a:ext cx="1005840" cy="10972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2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Muhim: monitor real dastur emas — bu konseptual model; OT yadrosi, tarmoq devori yoki DBMS unga mos kelishi kerak.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TALABLAR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monitorning uchta sharti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066544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31136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1109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Buzib bo'lmaslik</a:t>
            </a:r>
            <a:r>
              <a:rPr lang="en-US" sz="13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(tamper-proof)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317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Mexanizmning kodi va konfiguratsiyasi ruxsatsiz o'zgartirilishi mumkin emas.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366760" y="1965960"/>
            <a:ext cx="3017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8503920" y="1965960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Yadro rejimida himoyalangan xotira, imzolangan konfiguratsiya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09544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822960" y="34930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1" descr="/home/claude/fob-slides/icons_out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5760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3080" y="3337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To'liq vositachilik</a:t>
            </a:r>
            <a:r>
              <a:rPr lang="en-US" sz="13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(always invoked)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3758184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murojaat, istisnosiz, monitordan o'tadi — chetlab o'tish yo'li yo'q.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366760" y="3392424"/>
            <a:ext cx="3017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 txBox="1"/>
          <p:nvPr/>
        </p:nvSpPr>
        <p:spPr>
          <a:xfrm>
            <a:off x="8503920" y="3392424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 tomonidagi tekshiruv, kesh orqali o'tib ketmaslik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463600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822960" y="49194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2" descr="/home/claude/fob-slides/icons_out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08406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83080" y="476402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Tekshirilishi mumkinligi</a:t>
            </a:r>
            <a:r>
              <a:rPr lang="en-US" sz="13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(verifiable)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1783080" y="518464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 kichik va sodda, uning to'g'riligini tahlil qilib bo'ladi.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366760" y="4818888"/>
            <a:ext cx="3017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 txBox="1"/>
          <p:nvPr/>
        </p:nvSpPr>
        <p:spPr>
          <a:xfrm>
            <a:off x="8503920" y="4818888"/>
            <a:ext cx="2743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Alohida modul, biznes-mantiqdan ajratilgan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Uchtasidan biri ham buzilsa — nazorat butun tizim bo'ylab ishonchsiz bo'lib qoladi.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6 DAQIQA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shart buzilgan?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087" y="696087"/>
            <a:ext cx="390906" cy="3909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777240" cy="1115568"/>
          </a:xfrm>
          <a:prstGeom prst="roundRect">
            <a:avLst>
              <a:gd name="adj" fmla="val 10588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77724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783080"/>
            <a:ext cx="9875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Veb-ilovada “O'chirish” tugmasi oddiy foydalanuvchida yashirilgan, ammo API so'rovini qo'lda yuborish orqali amal baribir bajariladi.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1064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777240" cy="1115568"/>
          </a:xfrm>
          <a:prstGeom prst="roundRect">
            <a:avLst>
              <a:gd name="adj" fmla="val 10588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548640" y="3063240"/>
            <a:ext cx="77724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063240"/>
            <a:ext cx="9875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Ruxsatlar ro'yxati oddiy matn faylida saqlanadi va barcha foydalanuvchilar unga yozish huquqiga ega.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110642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48640" y="4343400"/>
            <a:ext cx="777240" cy="1115568"/>
          </a:xfrm>
          <a:prstGeom prst="roundRect">
            <a:avLst>
              <a:gd name="adj" fmla="val 10588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548640" y="4343400"/>
            <a:ext cx="77724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4343400"/>
            <a:ext cx="98755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Nazorat moduli 150 000 qatorli kodga ega, biznes-mantiq bilan aralashib ketgan va hech qachon to'liq audit qilinmagan.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Variantlar:  </a:t>
            </a: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buzib bo'lmaslik   ·   to'liq vositachilik   ·   tekshirilishi mumkinligi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Ishonchli hisoblash bazasi (TCB)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(Trusted Computing Base) — tizimning xavfsizlik siyosatini amalga oshirish uchun mas'ul bo'lgan barcha apparat, dasturiy va mikrodasturiy komponentlar majmui.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— TCB ning mantiqiy yadrosi.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perimetri tashqarisidagi hech narsaga ishonilmaydi.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qanchalik kichik bo'lsa, uni tahlil qilish shunchalik oson.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5943600" cy="731520"/>
          </a:xfrm>
          <a:prstGeom prst="roundRect">
            <a:avLst>
              <a:gd name="adj" fmla="val 11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Minimallashtirish tamoyili: ishonchli kod qancha kam bo'lsa, xato ehtimoli shuncha past.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920240"/>
            <a:ext cx="4663440" cy="4069080"/>
          </a:xfrm>
          <a:prstGeom prst="roundRect">
            <a:avLst>
              <a:gd name="adj" fmla="val 224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6949440" y="212140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kern="0" spc="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TARKIBI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69480" y="26517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0" descr="/home/claude/fob-slides/icons_out/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597" y="2765877"/>
            <a:ext cx="247254" cy="24725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909560" y="259689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Apparat: protsessor rejimlari, xotira himoyasi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69480" y="34564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/home/claude/fob-slides/icons_out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597" y="3570549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909560" y="340156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 yadrosi va xavfsiz yuklash (secure boot)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269480" y="426110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/home/claude/fob-slides/icons_out/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597" y="437522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9560" y="42062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Xavfsizlikka oid tizim dasturlari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69480" y="506577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/home/claude/fob-slides/icons_out/fi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597" y="5179893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09560" y="50109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Ishonchli jarayonlar va konfiguratsiya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 CHEGARASI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perimetri: nimaga ishonamiz, nimaga yo'q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7223760" cy="3977640"/>
          </a:xfrm>
          <a:prstGeom prst="roundRect">
            <a:avLst>
              <a:gd name="adj" fmla="val 2759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2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PERIMETRI — ishoniladigan qism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21214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Apparat himoyasi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91256" y="25146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3191256" y="2514600"/>
            <a:ext cx="21214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 yadrosi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13832" y="2514600"/>
            <a:ext cx="212140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5513832" y="2514600"/>
            <a:ext cx="212140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 yuklash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667512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868680" y="3547872"/>
            <a:ext cx="6675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950208"/>
            <a:ext cx="6675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ning mantiqiy yadrosi — har bir murojaatni tekshiradi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00600"/>
            <a:ext cx="6675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109728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0" descr="/home/claude/fob-slides/icons_out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505206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4800600"/>
            <a:ext cx="5669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siyosati bazasi va audit jurnali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PERIMETRDAN TASHQARIDA — ishonilmaydi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229600" y="2514600"/>
            <a:ext cx="3383280" cy="713232"/>
          </a:xfrm>
          <a:prstGeom prst="roundRect">
            <a:avLst>
              <a:gd name="adj" fmla="val 11538"/>
            </a:avLst>
          </a:prstGeom>
          <a:solidFill>
            <a:srgbClr val="F2F2F4"/>
          </a:solidFill>
          <a:ln w="12700">
            <a:solidFill>
              <a:srgbClr val="C9CBD3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8229600" y="2514600"/>
            <a:ext cx="33832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ilovalari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29600" y="3337560"/>
            <a:ext cx="3383280" cy="713232"/>
          </a:xfrm>
          <a:prstGeom prst="roundRect">
            <a:avLst>
              <a:gd name="adj" fmla="val 11538"/>
            </a:avLst>
          </a:prstGeom>
          <a:solidFill>
            <a:srgbClr val="F2F2F4"/>
          </a:solidFill>
          <a:ln w="12700">
            <a:solidFill>
              <a:srgbClr val="C9CBD3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8229600" y="3337560"/>
            <a:ext cx="33832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tomon kutubxonalari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0" y="4160520"/>
            <a:ext cx="3383280" cy="713232"/>
          </a:xfrm>
          <a:prstGeom prst="roundRect">
            <a:avLst>
              <a:gd name="adj" fmla="val 11538"/>
            </a:avLst>
          </a:prstGeom>
          <a:solidFill>
            <a:srgbClr val="F2F2F4"/>
          </a:solidFill>
          <a:ln w="12700">
            <a:solidFill>
              <a:srgbClr val="C9CBD3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8229600" y="4160520"/>
            <a:ext cx="33832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Brauzer va kengaytmalar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229600" y="4983480"/>
            <a:ext cx="3383280" cy="713232"/>
          </a:xfrm>
          <a:prstGeom prst="roundRect">
            <a:avLst>
              <a:gd name="adj" fmla="val 11538"/>
            </a:avLst>
          </a:prstGeom>
          <a:solidFill>
            <a:srgbClr val="F2F2F4"/>
          </a:solidFill>
          <a:ln w="12700">
            <a:solidFill>
              <a:srgbClr val="C9CBD3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8229600" y="4983480"/>
            <a:ext cx="33832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Tashqi tarmoq so'rovlari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 flipH="1">
            <a:off x="7863840" y="3840480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7543800" y="5897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so'rov perimetrda tekshiriladi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100584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889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– Model – Mexanizm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Abstraktdan konkretga: uch qatlamli aniqlashtirish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QATLAM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siyosati (Security Policy)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Tashkilot yoki tizim uchun nima ruxsat etilgan va nima taqiqlanganini belgilaydigan, tabiiy tilda ifodalangan qoidalar to'plami.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77240" y="3081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/home/claude/fob-slides/icons_out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2049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92608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“Faqat ‘maxfiy’ ruxsatiga ega xodimlar moliyaviy hisobotlarni o'qiy oladi”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777240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1" descr="/home/claude/fob-slides/icons_out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21081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9319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“Bank operatori bir vaqtning o'zida tranzaksiyani ham yaratmasligi, ham tasdiqlamasligi kerak”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777240" y="5093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/home/claude/fob-slides/icons_out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5216652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49377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“Talaba faqat o'zining baholarini ko'ra oladi, boshqalarnikini emas”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0350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— maqsad haqida gapiradi, uni qanday amalga oshirish haqida emas.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IKKINCHI QATLAM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modeli (Security Model)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siyosatini aniq, formal va tekshiriladigan (matematik yoki mantiqiy) tarzda ifodalovchi abstrakt tavsif.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siyosatning noaniqligini bartaraf etadi va uni isbotlash mumkin bo'lgan qoidalarga aylantiradi.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6035040" cy="1508760"/>
          </a:xfrm>
          <a:prstGeom prst="roundRect">
            <a:avLst>
              <a:gd name="adj" fmla="val 545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822960" y="446227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mavzularda chuqur o'rganiladi: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Bell–LaPadula (maxfiylik) · Biba (yaxlitlik) · Clark–Wilson · RBAC · ABAC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874520"/>
            <a:ext cx="2331720" cy="3931920"/>
          </a:xfrm>
          <a:prstGeom prst="roundRect">
            <a:avLst>
              <a:gd name="adj" fmla="val 39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704088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56032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“Kim nimani ko'ra oladi” — so'z bilan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829800" y="1874520"/>
            <a:ext cx="2331720" cy="39319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982980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25603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Matritsa, tenglama yoki grafik ko'rinishida rasmiylashtirilgan qoida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45752" y="3840480"/>
            <a:ext cx="31089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QATLAM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Xavfsizlik mexanizmi (Security Mechanism)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Modelni real tizimda amalga oshiruvchi konkret dasturiy yoki apparat vosita.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508760" y="3063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/home/claude/fob-slides/icons_out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65" y="32175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931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ACL / ruxsatlar jadvali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 tizimi va ma'lumotlar bazasi darajasida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0712" y="27432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370832" y="3063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/home/claude/fob-slides/icons_out/ke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137" y="32175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3931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Kriptografik boshqaruv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Shifrlash, raqamli imzo, kalitlarni boshqarish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72784" y="27432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7232904" y="3063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/home/claude/fob-slides/icons_out/user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209" y="321754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9944" y="3931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 protokollari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409944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Kerberos, OAuth 2.1, SAML, FIDO2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34856" y="27432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10094976" y="3063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/home/claude/fob-slides/icons_out/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9281" y="32175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3931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Apparat vositalari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46634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TPM, protsessor rejimlari, xotira himoyasi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0350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 vositalar kursning qolgan 17 mavzusida birma-bir chuqur o'rganiladi.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SINTEZ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9494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→ Model → Mexanizm zanjiri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AAB6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kerakligi — so'z bilan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“Faqat bo'lim boshlig'i moliyaviy hisobotni ko'radi”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995928" y="3703320"/>
            <a:ext cx="283464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29768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 rasmiylashtiriladi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461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RBAC: foydalanuvchi → rol → ruxsat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44968" y="3703320"/>
            <a:ext cx="283464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29000" cy="3794760"/>
          </a:xfrm>
          <a:prstGeom prst="roundRect">
            <a:avLst>
              <a:gd name="adj" fmla="val 2667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804672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542032"/>
            <a:ext cx="3063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AAB6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 amalga oshiriladi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24612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Directory guruhi + ilovadagi tekshiruv kodi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qatlam yuqoridagisini aniqlashtiradi — lekin hech biri qolganini almashtira olmaydi.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 misolingizni uch qatlamga ajrating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868680" y="1737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Quyidagi siyosatlardan bittasini tanlang va uni model hamda mexanizm qatlamlariga ajrating.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777240" y="2916936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/home/claude/fob-slides/icons_out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042666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78892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“Shifokor faqat o'ziga biriktirilgan bemor kartasini ochadi”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630168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/home/claude/fob-slides/icons_out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883914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63016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“Omborchi tovar qoldig'ini o'zgartira oladi, narxni esa yo'q”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471416"/>
            <a:ext cx="5394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3" descr="/home/claude/fob-slides/icons_out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4725162"/>
            <a:ext cx="205740" cy="2057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447141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“Stajyor dasturchi ishlab chiqarish bazasiga yoza olmaydi”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17920" y="2788920"/>
            <a:ext cx="539496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5"/>
          <p:cNvSpPr/>
          <p:nvPr/>
        </p:nvSpPr>
        <p:spPr>
          <a:xfrm>
            <a:off x="6355080" y="292608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6"/>
          <p:cNvSpPr txBox="1"/>
          <p:nvPr/>
        </p:nvSpPr>
        <p:spPr>
          <a:xfrm>
            <a:off x="63550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86384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tanlangan jumla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863840" y="3438144"/>
            <a:ext cx="352044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19"/>
          <p:cNvSpPr/>
          <p:nvPr/>
        </p:nvSpPr>
        <p:spPr>
          <a:xfrm>
            <a:off x="6355080" y="3584448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0"/>
          <p:cNvSpPr txBox="1"/>
          <p:nvPr/>
        </p:nvSpPr>
        <p:spPr>
          <a:xfrm>
            <a:off x="6355080" y="3584448"/>
            <a:ext cx="1371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0" y="35844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DAC / MAC / RBAC / ABAC?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863840" y="4096512"/>
            <a:ext cx="352044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3"/>
          <p:cNvSpPr/>
          <p:nvPr/>
        </p:nvSpPr>
        <p:spPr>
          <a:xfrm>
            <a:off x="6355080" y="4242816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4"/>
          <p:cNvSpPr txBox="1"/>
          <p:nvPr/>
        </p:nvSpPr>
        <p:spPr>
          <a:xfrm>
            <a:off x="6355080" y="4242816"/>
            <a:ext cx="1371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Mexanizm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7863840" y="42428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 vosita bilan?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863840" y="4754880"/>
            <a:ext cx="3520440" cy="0"/>
          </a:xfrm>
          <a:prstGeom prst="line">
            <a:avLst/>
          </a:prstGeom>
          <a:noFill/>
          <a:ln w="12700">
            <a:solidFill>
              <a:srgbClr val="E2D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27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8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Tekshirish savoli:  </a:t>
            </a: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modelni o'zgartirmasdan turib, mexanizmni boshqasiga almashtira olasizmi? Agar ha — qatlamlarni to'g'ri ajratgansiz.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LOYIHALASH TAMOYILLARI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va vazifalarni ajratish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240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51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Least Privilege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5468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subyekt faqat o'z vazifasini bajarish uchun zarur bo'lgan minimal huquqlarga ega bo'lishi kerak.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526280"/>
            <a:ext cx="4709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1097280" y="4526280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Misol: hisobot tuzuvchi xodim faqat o'qish huquqiga ega, tahrirlash yoki o'chirish huquqiga emas.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/home/claude/fob-slides/icons_out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230314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52360" y="2240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Vazifalarni ajratish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2651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Separation of Duties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15468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Muhim jarayonni yakka subyekt to'liq nazorat qila olmasligi uchun uni bir nechta mustaqil rolga bo'lish.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83680" y="4526280"/>
            <a:ext cx="4709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 txBox="1"/>
          <p:nvPr/>
        </p:nvSpPr>
        <p:spPr>
          <a:xfrm>
            <a:off x="6812280" y="4526280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Misol: to'lovni yaratuvchi va uni tasdiqlovchi xodim bir kishi bo'lishi mumkin emas.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Foydalanishni nazoratlash subyekt, obyekt va operatsiya uchligiga asoslanadi.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9" name="Text 7"/>
          <p:cNvSpPr txBox="1"/>
          <p:nvPr/>
        </p:nvSpPr>
        <p:spPr>
          <a:xfrm>
            <a:off x="54864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9689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— buzib bo'lmaydigan, har doim chaqiriladigan va tekshirilishi mumkin bo'lgan tekshiruv nuqtasi.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2" name="Text 10"/>
          <p:cNvSpPr txBox="1"/>
          <p:nvPr/>
        </p:nvSpPr>
        <p:spPr>
          <a:xfrm>
            <a:off x="5486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649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— reference monitorni o'z ichiga olgan ishonch perimetri; undan tashqarida hech narsaga ishonilmaydi.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178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5" name="Text 13"/>
          <p:cNvSpPr txBox="1"/>
          <p:nvPr/>
        </p:nvSpPr>
        <p:spPr>
          <a:xfrm>
            <a:off x="54864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13308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Siyosat (nima kerak) → model (qanday rasmiylashtiriladi) → mexanizm (qanday amalga oshiriladi).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49469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778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8" name="Text 16"/>
          <p:cNvSpPr txBox="1"/>
          <p:nvPr/>
        </p:nvSpPr>
        <p:spPr>
          <a:xfrm>
            <a:off x="548640" y="4946904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va vazifalarni ajratish — har qanday loyihalashning tayanch tamoyillari.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7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1–4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8" name="Text 5"/>
          <p:cNvSpPr txBox="1"/>
          <p:nvPr/>
        </p:nvSpPr>
        <p:spPr>
          <a:xfrm>
            <a:off x="548640" y="1737360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2880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monitor tushunchasi birinchi marta qayerda rasman ta'riflangan?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240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TCSEC, 1983     B) J. P. Anderson hisoboti, 1972     C) Common Criteria, 1999     D) RFC 6238, 2011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16936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2" name="Shape 9"/>
          <p:cNvSpPr/>
          <p:nvPr/>
        </p:nvSpPr>
        <p:spPr>
          <a:xfrm>
            <a:off x="548640" y="2916936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3" name="Text 10"/>
          <p:cNvSpPr txBox="1"/>
          <p:nvPr/>
        </p:nvSpPr>
        <p:spPr>
          <a:xfrm>
            <a:off x="548640" y="2916936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08376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“Har bir murojaat, istisnosiz, monitordan o'tishi kerak” — bu qaysi shart?</a:t>
            </a:r>
            <a:endParaRPr lang="en-US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1985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Buzib bo'lmaslik     B) To'liq vositachilik     C) Tekshirilishi mumkinligi     D) Eng kam imtiyoz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096512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7" name="Shape 14"/>
          <p:cNvSpPr/>
          <p:nvPr/>
        </p:nvSpPr>
        <p:spPr>
          <a:xfrm>
            <a:off x="548640" y="4096512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8" name="Text 15"/>
          <p:cNvSpPr txBox="1"/>
          <p:nvPr/>
        </p:nvSpPr>
        <p:spPr>
          <a:xfrm>
            <a:off x="548640" y="4096512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187952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TCB nima?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5994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Faqat operatsion tizim yadrosi     B) Antivirus dasturi     C) Xavfsizlik siyosatini amalga oshiruvchi barcha komponentlar majmui     D) Kriptografik kutubxona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276088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3" name="Text 20"/>
          <p:cNvSpPr txBox="1"/>
          <p:nvPr/>
        </p:nvSpPr>
        <p:spPr>
          <a:xfrm>
            <a:off x="548640" y="5276088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367528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Veb-ilovada ruxsat faqat brauzer tomonida tekshirilsa, qaysi shart buziladi?</a:t>
            </a:r>
            <a:endParaRPr lang="en-US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577900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Buzib bo'lmaslik     B) To'liq vositachilik     C) Tekshirilishi mumkinligi     D) Hech qaysi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7 DAQIQA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5–7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48640" y="1737360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2880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“Faqat bo'lim boshlig'i moliyaviy hisobotni ko'radi” — bu qaysi qatlam?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240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Model     B) Mexanizm     C) Siyosat     D) Audit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916936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48640" y="2916936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548640" y="2916936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08376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— bu uch qatlamning qaysi biriga tegishli?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1985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Siyosat     B) Model     C) Mexanizm     D) Perimetr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96512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548640" y="4096512"/>
            <a:ext cx="640080" cy="1033272"/>
          </a:xfrm>
          <a:prstGeom prst="roundRect">
            <a:avLst>
              <a:gd name="adj" fmla="val 12857"/>
            </a:avLst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548640" y="4096512"/>
            <a:ext cx="640080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187952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 kam imtiyoz tamoyili nimani talab qiladi?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45994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Barcha huquqlarni administratorga berishni     B) Vazifani bajarish uchun zarur minimal huquqlarni     C) Parollarni tez-tez almashtirishni     D) Audit jurnalini o'chirishni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868680" y="5532120"/>
            <a:ext cx="411480" cy="411480"/>
          </a:xfrm>
          <a:prstGeom prst="ellipse">
            <a:avLst/>
          </a:prstGeom>
          <a:solidFill>
            <a:srgbClr val="D993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1" descr="/home/claude/fob-slides/icons_out/penci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5645277"/>
            <a:ext cx="185166" cy="18516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63040" y="5349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Javoblaringizni yozib oling — keyingi slaydda kalit beriladi va o'zingizni baholaysiz.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JAVOBLAR KALITI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O'zingizni tekshiring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5" name="Image 0" descr="/home/claude/fob-slides/icons_out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087" y="696087"/>
            <a:ext cx="390906" cy="3909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7" name="Shape 4"/>
          <p:cNvSpPr/>
          <p:nvPr/>
        </p:nvSpPr>
        <p:spPr>
          <a:xfrm>
            <a:off x="658368" y="188366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8" name="Text 5"/>
          <p:cNvSpPr txBox="1"/>
          <p:nvPr/>
        </p:nvSpPr>
        <p:spPr>
          <a:xfrm>
            <a:off x="65836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07008" y="188366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0" name="Text 7"/>
          <p:cNvSpPr txBox="1"/>
          <p:nvPr/>
        </p:nvSpPr>
        <p:spPr>
          <a:xfrm>
            <a:off x="12070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17830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Anderson hisoboti, 1972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3" name="Shape 10"/>
          <p:cNvSpPr/>
          <p:nvPr/>
        </p:nvSpPr>
        <p:spPr>
          <a:xfrm>
            <a:off x="6327648" y="188366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4" name="Text 11"/>
          <p:cNvSpPr txBox="1"/>
          <p:nvPr/>
        </p:nvSpPr>
        <p:spPr>
          <a:xfrm>
            <a:off x="632764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76288" y="188366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6" name="Text 13"/>
          <p:cNvSpPr txBox="1"/>
          <p:nvPr/>
        </p:nvSpPr>
        <p:spPr>
          <a:xfrm>
            <a:off x="687628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17830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To'liq vositachilik (always invoked)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256946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9" name="Shape 16"/>
          <p:cNvSpPr/>
          <p:nvPr/>
        </p:nvSpPr>
        <p:spPr>
          <a:xfrm>
            <a:off x="658368" y="2670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0" name="Text 17"/>
          <p:cNvSpPr txBox="1"/>
          <p:nvPr/>
        </p:nvSpPr>
        <p:spPr>
          <a:xfrm>
            <a:off x="65836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07008" y="2670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2" name="Text 19"/>
          <p:cNvSpPr txBox="1"/>
          <p:nvPr/>
        </p:nvSpPr>
        <p:spPr>
          <a:xfrm>
            <a:off x="120700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783080" y="25694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Apparat + dasturiy komponentlar majmui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7920" y="256946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5" name="Shape 22"/>
          <p:cNvSpPr/>
          <p:nvPr/>
        </p:nvSpPr>
        <p:spPr>
          <a:xfrm>
            <a:off x="6327648" y="2670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6" name="Text 23"/>
          <p:cNvSpPr txBox="1"/>
          <p:nvPr/>
        </p:nvSpPr>
        <p:spPr>
          <a:xfrm>
            <a:off x="632764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876288" y="2670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8" name="Text 25"/>
          <p:cNvSpPr txBox="1"/>
          <p:nvPr/>
        </p:nvSpPr>
        <p:spPr>
          <a:xfrm>
            <a:off x="687628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452360" y="256946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 tomonida tekshiruv bo'lmasa, chetlab o'tiladi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8640" y="335584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1" name="Shape 28"/>
          <p:cNvSpPr/>
          <p:nvPr/>
        </p:nvSpPr>
        <p:spPr>
          <a:xfrm>
            <a:off x="658368" y="34564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2" name="Text 29"/>
          <p:cNvSpPr txBox="1"/>
          <p:nvPr/>
        </p:nvSpPr>
        <p:spPr>
          <a:xfrm>
            <a:off x="65836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207008" y="34564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4" name="Text 31"/>
          <p:cNvSpPr txBox="1"/>
          <p:nvPr/>
        </p:nvSpPr>
        <p:spPr>
          <a:xfrm>
            <a:off x="120700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783080" y="33558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Tabiiy tildagi qoida — siyosat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17920" y="335584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7" name="Shape 34"/>
          <p:cNvSpPr/>
          <p:nvPr/>
        </p:nvSpPr>
        <p:spPr>
          <a:xfrm>
            <a:off x="6327648" y="34564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8" name="Text 35"/>
          <p:cNvSpPr txBox="1"/>
          <p:nvPr/>
        </p:nvSpPr>
        <p:spPr>
          <a:xfrm>
            <a:off x="632764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876288" y="34564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0" name="Text 37"/>
          <p:cNvSpPr txBox="1"/>
          <p:nvPr/>
        </p:nvSpPr>
        <p:spPr>
          <a:xfrm>
            <a:off x="687628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7452360" y="33558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— formal model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48640" y="4142232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3" name="Shape 40"/>
          <p:cNvSpPr/>
          <p:nvPr/>
        </p:nvSpPr>
        <p:spPr>
          <a:xfrm>
            <a:off x="658368" y="4242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4" name="Text 41"/>
          <p:cNvSpPr txBox="1"/>
          <p:nvPr/>
        </p:nvSpPr>
        <p:spPr>
          <a:xfrm>
            <a:off x="65836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207008" y="4242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6" name="Text 43"/>
          <p:cNvSpPr txBox="1"/>
          <p:nvPr/>
        </p:nvSpPr>
        <p:spPr>
          <a:xfrm>
            <a:off x="120700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1783080" y="414223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Minimal zarur huquqlar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49" name="Text 46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va undan yuqori to'g'ri javob </a:t>
            </a: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mavzu o'zlashtirilgan. 4 va undan kam bo'lsa, ma'ruza konspekti va Stamp darsligining tegishli bobini qayta ko'rib chiqing.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 va keyingi mavzu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4088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5" name="Shape 3"/>
          <p:cNvSpPr/>
          <p:nvPr/>
        </p:nvSpPr>
        <p:spPr>
          <a:xfrm>
            <a:off x="822960" y="213055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6" name="Image 0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284857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7510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5915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Stamp, Information Security — foydalanishni nazoratlash bobi; M1 konspekti.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704088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0" name="Shape 7"/>
          <p:cNvSpPr/>
          <p:nvPr/>
        </p:nvSpPr>
        <p:spPr>
          <a:xfrm>
            <a:off x="822960" y="3575304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11" name="Image 1" descr="/home/claude/fob-slides/icons_out/listo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3729609"/>
            <a:ext cx="377190" cy="3771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4198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Amaliyotga tayyorgarlik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803904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 mashg'uloti uchun o'z variantingizni oling va foydalanish matritsasining qoralamasini tuzib keling.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718304"/>
            <a:ext cx="704088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15" name="Shape 11"/>
          <p:cNvSpPr/>
          <p:nvPr/>
        </p:nvSpPr>
        <p:spPr>
          <a:xfrm>
            <a:off x="822960" y="502005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16" name="Image 2" descr="/home/claude/fob-slides/icons_out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65" y="5174361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8646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Yozma topshiriq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248656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O'zingiz foydalanadigan bitta tizimni (HEMIS, bank ilovasi, ish joyi tarmog'i) reference monitorning uchta sharti bo'yicha tahlil qiling — yarim bet.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1828800"/>
            <a:ext cx="3749040" cy="3895344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20" name="Text 15"/>
          <p:cNvSpPr txBox="1"/>
          <p:nvPr/>
        </p:nvSpPr>
        <p:spPr>
          <a:xfrm>
            <a:off x="7863840" y="2057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514600"/>
            <a:ext cx="3749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M2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34290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Foydalanishni boshqarish tamoyillari va identifikatorlarning hayotiy sikli: provisioning, deprovisioning, IGA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13816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uch qatlam u yerda amaliy jarayonga aylanadi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Tavsiya etilgan adabiyotlar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5" name="Image 0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015109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8745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Stamp. Information Security: Principles and Practice.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2768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John Wiley &amp; Sons, 2011 — reference monitor va TCB bo'yicha kirish bobi.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9" name="Image 1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929509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889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Messaoud Benantar. Access Control Systems: Security, Identity Management and Trust Models.</a:t>
            </a: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1912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Springer — siyosat–model–mexanizm ierarxiyasi bo'yicha asosiy manba.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13" name="Image 2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3843909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703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S.K. Ganiyev, M.M. Karimov, K.A. Tashev. Axborot xavfsizligi.</a:t>
            </a:r>
            <a:endParaRPr lang="en-US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1056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O'zbek tilidagi asosiy darslik.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6451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17" name="Image 3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4758309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6177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P. Anderson. Computer Security Technology Planning Study.</a:t>
            </a:r>
            <a:endParaRPr lang="en-US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50200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ESD-TR-73-51, 1972 — reference monitor tushunchasining manbasi.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5559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21" name="Image 4" descr="/home/claude/fob-slides/icons_out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5672709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55321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“Foydalanishlarni boshqarish” fan dasturi (FOB1506).</a:t>
            </a:r>
            <a:endParaRPr lang="en-US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59344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To'liq mavzular rejasi va baholash mezonlari.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1-ma'ruza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2456</Words>
  <Application>Microsoft Office PowerPoint</Application>
  <PresentationFormat>Произвольный</PresentationFormat>
  <Paragraphs>402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Obidjon Bozorov</cp:lastModifiedBy>
  <cp:revision>3</cp:revision>
  <dcterms:created xsi:type="dcterms:W3CDTF">2026-09-16T04:48:00Z</dcterms:created>
  <dcterms:modified xsi:type="dcterms:W3CDTF">2026-09-16T06:59:00Z</dcterms:modified>
</cp:coreProperties>
</file>