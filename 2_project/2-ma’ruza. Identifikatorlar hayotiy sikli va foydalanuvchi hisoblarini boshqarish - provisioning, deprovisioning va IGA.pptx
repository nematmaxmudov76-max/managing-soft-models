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?>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33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</p:sldIdLst>
  <p:sldSz cx="12161838" cy="6858000"/>
  <p:notesSz cx="6858000" cy="12161838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107" d="100"/>
          <a:sy n="107" d="100"/>
        </p:scale>
        <p:origin x="92" y="6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?>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34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viewProps" Target="viewProps.xml"/><Relationship Id="rId8" Type="http://schemas.openxmlformats.org/officeDocument/2006/relationships/slide" Target="slides/slide7.xml"/><Relationship Id="rId3" Type="http://schemas.openxmlformats.org/officeDocument/2006/relationships/slide" Target="slides/slide2.xml"/></Relationships>
</file>

<file path=ppt/notesMasters/_rels/notesMaster1.xml.rels><?xml version="1.0" encoding="UTF-8"?>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84566267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?>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?>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?>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?>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?>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?>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?>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?>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?>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?>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?>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?>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?>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?>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?>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?>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?>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?>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?>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?>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?>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?>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?>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?>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?>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?>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?>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8.xml.rels><?xml version="1.0" encoding="UTF-8"?>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9.xml.rels><?xml version="1.0" encoding="UTF-8"?>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30.xml.rels><?xml version="1.0" encoding="UTF-8"?>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31.xml.rels><?xml version="1.0" encoding="UTF-8"?>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Mavzu e'lon qilinadi. 1-ma'ruzada 'kim nimaga kira oladi' savolini ko'rdik; bugun 'bu huquqlar qachon paydo bo'ladi, qachon o'zgaradi va qachon yo'qolishi kerak' degan savolga javob beramiz.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Darsning tuzilishi va interaktiv qismlar oldindan e'lon qilinadi.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Real hodisa: Sudhish Kasaba Ramesh 2018-yil aprelda Cisco'dan ketgan, sentyabrda Cisco'ning AWS'dagi infratuzilmasiga kirib 456 VM ni o'chirgan; 16 000+ Webex Teams qayd yozuvi ~2 hafta ishlamagan, Cisco ~1,4 mln $ sarflagan va mijozlarga 1 mln $ dan ortiq qaytargan. 2020-yil dekabrda 24 oy qamoqqa hukm qilingan. Savol: bu texnik zaiflikmi yoki jarayon xatosimi?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Kutilgan javoblar: AD/domen, elektron pochta, HEMIS, LMS (Moodle), VPN, Wi-Fi, kutubxona, bino kirish kartasi, bulut disklari, umumiy parollar. 2-savol ma'ruzaning 'ishonchli manba' g'oyasiga olib boradi; 3-savol deprovisioning ketma-ketligiga (avval blokirovka qilish). Javoblarni doskaga yozib qo'ying — 16-slaydda qaytamiz.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Muhim farq: identifikator — shaxs darajasida (bitta), qayd yozuvi — tizim darajasida (ko'p), imtiyoz — qayd yozuvi ichida (ko'p). Imtiyoz ta'rifi Kiberxavfsizlik asoslari (2021) darsligidan: 'tizimning bir yoki bir nechta obyektlaridan foydalanish uchun aniqlangan ruxsat'. Deprovisioning xatolari ko'pincha shaxs emas, qayd yozuvi darajasida o'ylashdan kelib chiqadi: 'AD dagi qayd yozuvini yopdik' — lekin VPN va HEMIS dagisi qoldi.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Har bir tamoyilga universitet misoli: need-to-know — o'qituvchi faqat o'z guruhlari baholarini ko'radi; default deny — yangi qayd yozuvi hech qanday imtiyozsiz yaratiladi; hisobdorlik — 'kafedra' degan umumiy qayd yozuvi yo'q; JIT — server ma'muri imtiyozi 2 soatga beriladi.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Muhokama 1 dagi 2-savolga javob: xabarni odam emas, HR tizimi beradi. Agar hodisa faqat qog'ozda (buyruq) qolsa, IT bundan bexabar qoladi — Cisco hodisasining ildizi ham shunda.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Ro'yxatga olish (identity proofing) keyingi ma'ruzalarda autentifikatsiya ishonch darajalari bilan bog'lanadi. Asosiy fikr: o'zgarish va qayta sertifikatlash bir necha yil davomida o'nlab marta sodir bo'ladi — xatolar ham aynan shu yerda to'planadi.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JML — sanoatda keng qo'llaniladigan atama. 'Hamkasbidan nusxa' — yangi xodimga 'Karimovning imtiyozlarini bering' deyish; Karimov 10 yil ishlagani uchun uning imtiyozlari to'planib ketgan bo'ladi. Mover jarayoni Kiberxavfsizlik asoslari (2021) darsligidagi RBAC bo'limida ham yozilgan: foydalanuvchi vazifasini o'zgartirganda eski rolni olib tashlash va yangi vazifasiga mos rolni berish. Mover eng xavfli va eng ko'p e'tibordan chetda qoladigan hodisa: yangi rol tayinlanadi, eskisi olinmaydi.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Javoblar: a) J — laborant roli + kompyuter sinfi resurslari. b) M — talabalar ham identifikator; eski kurs fanlariga yozish imtiyozi olinadi. c) L — blokirovka qilish, pochta avtomatik javobi, fayllarni kafedra mudiriga o'tkazish. d) M — qo'shimcha rol; vazifalarni ajratish xavfi: bir kishi baho kiritadi va uni dekanat sifatida tasdiqlaydi.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Amalda uchalasi birga ishlatiladi: bazaviy rollar avtomatik (birthright), qo'shimcha imtiyozlar esa so'rov va tasdiqlash orqali. Universitet misoli: HEMIS da talaba yaratilganda LMS, pochta va Wi-Fi qayd yozuvlari avtomatik ochiladi.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Muhim: leaver uchun DELETE emas, PATCH active:false ishlatiladi — bu keyingi slayddagi 'avval blokirovka qil' qoidasining protokol darajasidagi ifodasi. A2 amaliy mashg'ulotida SCIM so'rovlari tuzib ko'riladi.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To'g'ri tartib: 4 (HR xabari) → 2 (blokirovka) → 6 (seans/tokenlar) → 3 (umumiy sirlar) → 1 (ma'lumotni o'tkazish) → 5 (arxivlash va o'chirish). Ko'p uchraydigan xato — o'chirishni birinchi qo'yish.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Vaqt oraliqlari — odatiy amaliyot namunasi, qat'iy norma emas. Muhimi tartib: blokirovka va seanslarni bekor qilish soatlar ichida, o'chirish esa ancha keyin. Seanslarni bekor qilish esdan chiqsa, blokirovka qilingan foydalanuvchi ochiq qolgan tokeni bilan ishlashda davom etishi mumkin.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Oddiy qilib: IAM — qulf va kalit; IGA — kalitlar kimda ekanini, nega ekanini va hali ham kerakligini tekshiradigan jarayon. Keycloak A7 amaliy mashg'ulotida, midPoint (ochiq kodli IGA) mustaqil ta'limda ko'riladi.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Chastotalar — odatiy amaliyot, tashkilot siyosatiga qarab o'zgaradi. Fan dasturida bu jarayon 'foydalanish huquqlarini qayta sertifikatlash (access review)' deb nomlangan; o'zbek adabiyotida 'attestatsiya' atamasi himoya obyektining attestatsiyasi ma'nosida band, shu sababli u ishlatilmadi. A14 amaliy mashg'ulotida real jurnal asosida qayta sertifikatlash bajariladi.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Tavsiya etilgan javob: 147 egasiz qayd yozuvi (tashqaridan ekspluatatsiya qilish oson, blokirovka arzon va tez) va umumiy «admin» qayd yozuvi (eng yuqori imtiyoz, hisobdorlik nol). 38 talaba — SoD/need-to-know buzilishi, baholarni o'zgartirish xavfi — uchinchi o'rinda. Ilova qayd yozuvlari — ehtiyotkorlik bilan, chunki blokirovka tizimni to'xtatishi mumkin.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Javoblarni daftarga yozdiring yoki onlayn so'rovnoma orqali to'plang.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Vaqt tugagach javoblar kaliti ochiladi.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Atamalar o'zbek tilidagi darsliklardan olingan: qayd yozuvi, imtiyoz, eng kam imtiyoz tamoyili, vazifalarni ajratish, rolli model, ilova qayd yozuvi — [1]; imtiyozlarni tayinlash/bekor qilish, hisobdorlik, yangi foydalanuvchini ro'yxatga olish — [2]; seans va ma'mur — barcha darsliklarda. 'Attestatsiya' o'rniga fan dasturidagi 'qayta sertifikatlash' ishlatildi, chunki [2] da attestatsiya himoya obyektining attestatsiyasi ma'nosida keladi.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?>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?>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?>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?>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4.xml.rels><?xml version="1.0" encoding="UTF-8"?>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?>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7.png"/></Relationships>
</file>

<file path=ppt/slides/_rels/slide6.xml.rels><?xml version="1.0" encoding="UTF-8"?>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?>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?><Relationships xmlns="http://schemas.openxmlformats.org/package/2006/relationships"><Relationship Id="rId8" Type="http://schemas.openxmlformats.org/officeDocument/2006/relationships/image" Target="../media/image12.png"/><Relationship Id="rId3" Type="http://schemas.openxmlformats.org/officeDocument/2006/relationships/image" Target="../media/image8.png"/><Relationship Id="rId7" Type="http://schemas.openxmlformats.org/officeDocument/2006/relationships/image" Target="../media/image5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1.png"/><Relationship Id="rId5" Type="http://schemas.openxmlformats.org/officeDocument/2006/relationships/image" Target="../media/image10.png"/><Relationship Id="rId4" Type="http://schemas.openxmlformats.org/officeDocument/2006/relationships/image" Target="../media/image9.png"/></Relationships>
</file>

<file path=ppt/slides/_rels/slide9.xml.rels><?xml version="1.0" encoding="UTF-8"?>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?>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?>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?>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?>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?>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5.png"/><Relationship Id="rId4" Type="http://schemas.openxmlformats.org/officeDocument/2006/relationships/image" Target="../media/image14.png"/></Relationships>
</file>

<file path=ppt/slides/_rels/slide15.xml.rels><?xml version="1.0" encoding="UTF-8"?>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?>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17.xml.rels><?xml version="1.0" encoding="UTF-8"?>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_rels/slide18.xml.rels><?xml version="1.0" encoding="UTF-8"?>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7.png"/><Relationship Id="rId5" Type="http://schemas.openxmlformats.org/officeDocument/2006/relationships/image" Target="../media/image6.png"/><Relationship Id="rId4" Type="http://schemas.openxmlformats.org/officeDocument/2006/relationships/image" Target="../media/image15.png"/></Relationships>
</file>

<file path=ppt/slides/_rels/slide19.xml.rels><?xml version="1.0" encoding="UTF-8"?>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/Relationships>
</file>

<file path=ppt/slides/_rels/slide20.xml.rels><?xml version="1.0" encoding="UTF-8"?>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.xml"/></Relationships>
</file>

<file path=ppt/slides/_rels/slide21.xml.rels><?xml version="1.0" encoding="UTF-8"?><Relationships xmlns="http://schemas.openxmlformats.org/package/2006/relationships"><Relationship Id="rId8" Type="http://schemas.openxmlformats.org/officeDocument/2006/relationships/image" Target="../media/image17.png"/><Relationship Id="rId3" Type="http://schemas.openxmlformats.org/officeDocument/2006/relationships/image" Target="../media/image18.png"/><Relationship Id="rId7" Type="http://schemas.openxmlformats.org/officeDocument/2006/relationships/image" Target="../media/image20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9.png"/><Relationship Id="rId5" Type="http://schemas.openxmlformats.org/officeDocument/2006/relationships/image" Target="../media/image9.png"/><Relationship Id="rId4" Type="http://schemas.openxmlformats.org/officeDocument/2006/relationships/image" Target="../media/image5.png"/></Relationships>
</file>

<file path=ppt/slides/_rels/slide22.xml.rels><?xml version="1.0" encoding="UTF-8"?>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1.png"/></Relationships>
</file>

<file path=ppt/slides/_rels/slide23.xml.rels><?xml version="1.0" encoding="UTF-8"?>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7.png"/></Relationships>
</file>

<file path=ppt/slides/_rels/slide24.xml.rels><?xml version="1.0" encoding="UTF-8"?>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1.xml"/></Relationships>
</file>

<file path=ppt/slides/_rels/slide25.xml.rels><?xml version="1.0" encoding="UTF-8"?>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1.xml"/></Relationships>
</file>

<file path=ppt/slides/_rels/slide26.xml.rels><?xml version="1.0" encoding="UTF-8"?>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1.xml"/></Relationships>
</file>

<file path=ppt/slides/_rels/slide27.xml.rels><?xml version="1.0" encoding="UTF-8"?>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1.xml"/></Relationships>
</file>

<file path=ppt/slides/_rels/slide28.xml.rels><?xml version="1.0" encoding="UTF-8"?>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1.xml"/></Relationships>
</file>

<file path=ppt/slides/_rels/slide29.xml.rels><?xml version="1.0" encoding="UTF-8"?>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0.png"/><Relationship Id="rId4" Type="http://schemas.openxmlformats.org/officeDocument/2006/relationships/image" Target="../media/image16.png"/></Relationships>
</file>

<file path=ppt/slides/_rels/slide30.xml.rels><?xml version="1.0" encoding="UTF-8"?><Relationships xmlns="http://schemas.openxmlformats.org/package/2006/relationships"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1.xml"/></Relationships>
</file>

<file path=ppt/slides/_rels/slide31.xml.rels><?xml version="1.0" encoding="UTF-8"?><Relationships xmlns="http://schemas.openxmlformats.org/package/2006/relationships"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E276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326880" y="-1828800"/>
            <a:ext cx="5120640" cy="5120640"/>
          </a:xfrm>
          <a:prstGeom prst="ellipse">
            <a:avLst/>
          </a:prstGeom>
          <a:solidFill>
            <a:srgbClr val="2A3778"/>
          </a:solidFill>
          <a:ln/>
        </p:spPr>
        <p:txBody>
          <a:bodyPr/>
          <a:lstStyle/>
          <a:p>
            <a:endParaRPr lang="ru-RU"/>
          </a:p>
        </p:txBody>
      </p:sp>
      <p:sp>
        <p:nvSpPr>
          <p:cNvPr id="3" name="Shape 1"/>
          <p:cNvSpPr/>
          <p:nvPr/>
        </p:nvSpPr>
        <p:spPr>
          <a:xfrm>
            <a:off x="10515600" y="4023360"/>
            <a:ext cx="3291840" cy="3291840"/>
          </a:xfrm>
          <a:prstGeom prst="ellipse">
            <a:avLst/>
          </a:prstGeom>
          <a:solidFill>
            <a:srgbClr val="2A3778"/>
          </a:solidFill>
          <a:ln/>
        </p:spPr>
        <p:txBody>
          <a:bodyPr/>
          <a:lstStyle/>
          <a:p>
            <a:endParaRPr lang="ru-RU"/>
          </a:p>
        </p:txBody>
      </p:sp>
      <p:sp>
        <p:nvSpPr>
          <p:cNvPr id="4" name="Shape 2"/>
          <p:cNvSpPr/>
          <p:nvPr/>
        </p:nvSpPr>
        <p:spPr>
          <a:xfrm>
            <a:off x="822960" y="685800"/>
            <a:ext cx="868680" cy="868680"/>
          </a:xfrm>
          <a:prstGeom prst="ellipse">
            <a:avLst/>
          </a:prstGeom>
          <a:solidFill>
            <a:srgbClr val="2A3778"/>
          </a:solidFill>
          <a:ln/>
        </p:spPr>
        <p:txBody>
          <a:bodyPr/>
          <a:lstStyle/>
          <a:p>
            <a:endParaRPr lang="ru-RU"/>
          </a:p>
        </p:txBody>
      </p:sp>
      <p:pic>
        <p:nvPicPr>
          <p:cNvPr id="5" name="Image 0" descr="/home/claude/fob-slides/icons_out/idcard_whit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40130" y="902970"/>
            <a:ext cx="434340" cy="434340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822960" y="1783080"/>
            <a:ext cx="10241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700" b="1" dirty="0">
                <a:solidFill>
                  <a:srgbClr val="CADCFC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FOYDALANISHLARNI BOSHQARISH  ·  FOB1506  ·  2-MA'RUZA</a:t>
            </a:r>
            <a:endParaRPr lang="en-US" sz="1700" dirty="0"/>
          </a:p>
        </p:txBody>
      </p:sp>
      <p:sp>
        <p:nvSpPr>
          <p:cNvPr id="7" name="Text 4"/>
          <p:cNvSpPr txBox="1"/>
          <p:nvPr/>
        </p:nvSpPr>
        <p:spPr>
          <a:xfrm>
            <a:off x="822960" y="2240280"/>
            <a:ext cx="950976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4400" b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Identifikatorlar hayotiy sikli va foydalanuvchi hisoblarini boshqarish: provisioning, deprovisioning va IGA</a:t>
            </a:r>
            <a:endParaRPr lang="en-US" sz="4400" dirty="0"/>
          </a:p>
        </p:txBody>
      </p:sp>
      <p:sp>
        <p:nvSpPr>
          <p:cNvPr id="8" name="Text 5"/>
          <p:cNvSpPr txBox="1"/>
          <p:nvPr/>
        </p:nvSpPr>
        <p:spPr>
          <a:xfrm>
            <a:off x="822960" y="3657600"/>
            <a:ext cx="9509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2000" dirty="0">
                <a:solidFill>
                  <a:srgbClr val="CADCFC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Provisioning  ·  Deprovisioning  ·  IGA</a:t>
            </a:r>
            <a:endParaRPr lang="en-US" sz="2000" dirty="0"/>
          </a:p>
        </p:txBody>
      </p:sp>
      <p:sp>
        <p:nvSpPr>
          <p:cNvPr id="9" name="Shape 6"/>
          <p:cNvSpPr/>
          <p:nvPr/>
        </p:nvSpPr>
        <p:spPr>
          <a:xfrm>
            <a:off x="822960" y="4434840"/>
            <a:ext cx="1143000" cy="438912"/>
          </a:xfrm>
          <a:prstGeom prst="roundRect">
            <a:avLst>
              <a:gd name="adj" fmla="val 50000"/>
            </a:avLst>
          </a:prstGeom>
          <a:solidFill>
            <a:srgbClr val="2A3778"/>
          </a:solidFill>
          <a:ln/>
        </p:spPr>
        <p:txBody>
          <a:bodyPr/>
          <a:lstStyle/>
          <a:p>
            <a:endParaRPr lang="ru-RU"/>
          </a:p>
        </p:txBody>
      </p:sp>
      <p:sp>
        <p:nvSpPr>
          <p:cNvPr id="10" name="Text 7"/>
          <p:cNvSpPr txBox="1"/>
          <p:nvPr/>
        </p:nvSpPr>
        <p:spPr>
          <a:xfrm>
            <a:off x="822960" y="4434840"/>
            <a:ext cx="1143000" cy="438912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400" dirty="0">
                <a:solidFill>
                  <a:srgbClr val="CADCFC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2 soat</a:t>
            </a:r>
            <a:endParaRPr lang="en-US" sz="1400" dirty="0"/>
          </a:p>
        </p:txBody>
      </p:sp>
      <p:sp>
        <p:nvSpPr>
          <p:cNvPr id="11" name="Shape 8"/>
          <p:cNvSpPr/>
          <p:nvPr/>
        </p:nvSpPr>
        <p:spPr>
          <a:xfrm>
            <a:off x="2148840" y="4434840"/>
            <a:ext cx="2514600" cy="438912"/>
          </a:xfrm>
          <a:prstGeom prst="roundRect">
            <a:avLst>
              <a:gd name="adj" fmla="val 50000"/>
            </a:avLst>
          </a:prstGeom>
          <a:solidFill>
            <a:srgbClr val="2A3778"/>
          </a:solidFill>
          <a:ln/>
        </p:spPr>
        <p:txBody>
          <a:bodyPr/>
          <a:lstStyle/>
          <a:p>
            <a:endParaRPr lang="ru-RU"/>
          </a:p>
        </p:txBody>
      </p:sp>
      <p:sp>
        <p:nvSpPr>
          <p:cNvPr id="12" name="Text 9"/>
          <p:cNvSpPr txBox="1"/>
          <p:nvPr/>
        </p:nvSpPr>
        <p:spPr>
          <a:xfrm>
            <a:off x="2148840" y="4434840"/>
            <a:ext cx="2514600" cy="438912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400" dirty="0">
                <a:solidFill>
                  <a:srgbClr val="CADCFC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18 ma'ruzadan 2-si</a:t>
            </a:r>
            <a:endParaRPr lang="en-US" sz="1400" dirty="0"/>
          </a:p>
        </p:txBody>
      </p:sp>
      <p:sp>
        <p:nvSpPr>
          <p:cNvPr id="13" name="Shape 10"/>
          <p:cNvSpPr/>
          <p:nvPr/>
        </p:nvSpPr>
        <p:spPr>
          <a:xfrm>
            <a:off x="4846320" y="4434840"/>
            <a:ext cx="1485900" cy="438912"/>
          </a:xfrm>
          <a:prstGeom prst="roundRect">
            <a:avLst>
              <a:gd name="adj" fmla="val 50000"/>
            </a:avLst>
          </a:prstGeom>
          <a:solidFill>
            <a:srgbClr val="2A3778"/>
          </a:solidFill>
          <a:ln/>
        </p:spPr>
        <p:txBody>
          <a:bodyPr/>
          <a:lstStyle/>
          <a:p>
            <a:endParaRPr lang="ru-RU"/>
          </a:p>
        </p:txBody>
      </p:sp>
      <p:sp>
        <p:nvSpPr>
          <p:cNvPr id="14" name="Text 11"/>
          <p:cNvSpPr txBox="1"/>
          <p:nvPr/>
        </p:nvSpPr>
        <p:spPr>
          <a:xfrm>
            <a:off x="4846320" y="4434840"/>
            <a:ext cx="1485900" cy="438912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400" dirty="0">
                <a:solidFill>
                  <a:srgbClr val="CADCFC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TN1 · TN4</a:t>
            </a:r>
            <a:endParaRPr lang="en-US" sz="1400" dirty="0"/>
          </a:p>
        </p:txBody>
      </p:sp>
      <p:sp>
        <p:nvSpPr>
          <p:cNvPr id="15" name="Shape 12"/>
          <p:cNvSpPr/>
          <p:nvPr/>
        </p:nvSpPr>
        <p:spPr>
          <a:xfrm>
            <a:off x="6515100" y="4434840"/>
            <a:ext cx="2628900" cy="438912"/>
          </a:xfrm>
          <a:prstGeom prst="roundRect">
            <a:avLst>
              <a:gd name="adj" fmla="val 50000"/>
            </a:avLst>
          </a:prstGeom>
          <a:solidFill>
            <a:srgbClr val="2A3778"/>
          </a:solidFill>
          <a:ln/>
        </p:spPr>
        <p:txBody>
          <a:bodyPr/>
          <a:lstStyle/>
          <a:p>
            <a:endParaRPr lang="ru-RU"/>
          </a:p>
        </p:txBody>
      </p:sp>
      <p:sp>
        <p:nvSpPr>
          <p:cNvPr id="16" name="Text 13"/>
          <p:cNvSpPr txBox="1"/>
          <p:nvPr/>
        </p:nvSpPr>
        <p:spPr>
          <a:xfrm>
            <a:off x="6515100" y="4434840"/>
            <a:ext cx="2628900" cy="438912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400" dirty="0">
                <a:solidFill>
                  <a:srgbClr val="CADCFC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Interaktiv: 5 nuqta</a:t>
            </a:r>
            <a:endParaRPr lang="en-US" sz="1400" dirty="0"/>
          </a:p>
        </p:txBody>
      </p:sp>
      <p:sp>
        <p:nvSpPr>
          <p:cNvPr id="17" name="Text 14"/>
          <p:cNvSpPr txBox="1"/>
          <p:nvPr/>
        </p:nvSpPr>
        <p:spPr>
          <a:xfrm>
            <a:off x="822960" y="5897880"/>
            <a:ext cx="9144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400" dirty="0">
                <a:solidFill>
                  <a:srgbClr val="9FB0E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Mirzo Ulug'bek nomidagi O'zbekiston Milliy universiteti  ·  Axborot xavfsizligi kafedrasi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47472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kern="0" spc="220" dirty="0">
                <a:solidFill>
                  <a:srgbClr val="5B627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DARS XARITASI</a:t>
            </a:r>
            <a:endParaRPr lang="en-US" sz="16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731520"/>
            <a:ext cx="100584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95000"/>
              </a:lnSpc>
              <a:buNone/>
            </a:pPr>
            <a:r>
              <a:rPr lang="en-US" sz="3600" b="1" dirty="0">
                <a:solidFill>
                  <a:srgbClr val="1E276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Bugungi ma'ruza qanday quriladi</a:t>
            </a:r>
            <a:endParaRPr lang="en-US" sz="3600" dirty="0"/>
          </a:p>
        </p:txBody>
      </p:sp>
      <p:sp>
        <p:nvSpPr>
          <p:cNvPr id="4" name="Shape 2"/>
          <p:cNvSpPr/>
          <p:nvPr/>
        </p:nvSpPr>
        <p:spPr>
          <a:xfrm>
            <a:off x="548640" y="1783080"/>
            <a:ext cx="7863840" cy="1234440"/>
          </a:xfrm>
          <a:prstGeom prst="roundRect">
            <a:avLst>
              <a:gd name="adj" fmla="val 6667"/>
            </a:avLst>
          </a:prstGeom>
          <a:solidFill>
            <a:srgbClr val="EEF2FB"/>
          </a:solidFill>
          <a:ln/>
        </p:spPr>
        <p:txBody>
          <a:bodyPr/>
          <a:lstStyle/>
          <a:p>
            <a:endParaRPr lang="ru-RU"/>
          </a:p>
        </p:txBody>
      </p:sp>
      <p:sp>
        <p:nvSpPr>
          <p:cNvPr id="5" name="Shape 3"/>
          <p:cNvSpPr/>
          <p:nvPr/>
        </p:nvSpPr>
        <p:spPr>
          <a:xfrm>
            <a:off x="548640" y="1783080"/>
            <a:ext cx="914400" cy="1234440"/>
          </a:xfrm>
          <a:prstGeom prst="roundRect">
            <a:avLst>
              <a:gd name="adj" fmla="val 9000"/>
            </a:avLst>
          </a:prstGeom>
          <a:solidFill>
            <a:srgbClr val="1E2761"/>
          </a:solidFill>
          <a:ln/>
        </p:spPr>
        <p:txBody>
          <a:bodyPr/>
          <a:lstStyle/>
          <a:p>
            <a:endParaRPr lang="ru-RU"/>
          </a:p>
        </p:txBody>
      </p:sp>
      <p:sp>
        <p:nvSpPr>
          <p:cNvPr id="6" name="Text 4"/>
          <p:cNvSpPr txBox="1"/>
          <p:nvPr/>
        </p:nvSpPr>
        <p:spPr>
          <a:xfrm>
            <a:off x="548640" y="1783080"/>
            <a:ext cx="914400" cy="123444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3200" b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I</a:t>
            </a:r>
            <a:endParaRPr lang="en-US" sz="3200" dirty="0"/>
          </a:p>
        </p:txBody>
      </p:sp>
      <p:sp>
        <p:nvSpPr>
          <p:cNvPr id="7" name="Text 5"/>
          <p:cNvSpPr txBox="1"/>
          <p:nvPr/>
        </p:nvSpPr>
        <p:spPr>
          <a:xfrm>
            <a:off x="1691640" y="1947672"/>
            <a:ext cx="5394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2000" b="1" dirty="0">
                <a:solidFill>
                  <a:srgbClr val="1E276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Tamoyillar va asosiy tushunchalar</a:t>
            </a:r>
            <a:endParaRPr lang="en-US" sz="2000" dirty="0"/>
          </a:p>
        </p:txBody>
      </p:sp>
      <p:sp>
        <p:nvSpPr>
          <p:cNvPr id="8" name="Text 6"/>
          <p:cNvSpPr txBox="1"/>
          <p:nvPr/>
        </p:nvSpPr>
        <p:spPr>
          <a:xfrm>
            <a:off x="1691640" y="2423160"/>
            <a:ext cx="5669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600" dirty="0">
                <a:solidFill>
                  <a:srgbClr val="1B1B2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Identifikator, qayd yozuvi, imtiyoz; ishonchli manba</a:t>
            </a:r>
            <a:endParaRPr lang="en-US" sz="1600" dirty="0"/>
          </a:p>
        </p:txBody>
      </p:sp>
      <p:sp>
        <p:nvSpPr>
          <p:cNvPr id="9" name="Text 7"/>
          <p:cNvSpPr txBox="1"/>
          <p:nvPr/>
        </p:nvSpPr>
        <p:spPr>
          <a:xfrm>
            <a:off x="7223760" y="1965960"/>
            <a:ext cx="1051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lnSpc>
                <a:spcPct val="100000"/>
              </a:lnSpc>
              <a:buNone/>
            </a:pPr>
            <a:r>
              <a:rPr lang="en-US" sz="1600" dirty="0">
                <a:solidFill>
                  <a:srgbClr val="5B627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~15 daq.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548640" y="3182112"/>
            <a:ext cx="7863840" cy="1234440"/>
          </a:xfrm>
          <a:prstGeom prst="roundRect">
            <a:avLst>
              <a:gd name="adj" fmla="val 6667"/>
            </a:avLst>
          </a:prstGeom>
          <a:solidFill>
            <a:srgbClr val="EEF2FB"/>
          </a:solidFill>
          <a:ln/>
        </p:spPr>
        <p:txBody>
          <a:bodyPr/>
          <a:lstStyle/>
          <a:p>
            <a:endParaRPr lang="ru-RU"/>
          </a:p>
        </p:txBody>
      </p:sp>
      <p:sp>
        <p:nvSpPr>
          <p:cNvPr id="11" name="Shape 9"/>
          <p:cNvSpPr/>
          <p:nvPr/>
        </p:nvSpPr>
        <p:spPr>
          <a:xfrm>
            <a:off x="548640" y="3182112"/>
            <a:ext cx="914400" cy="1234440"/>
          </a:xfrm>
          <a:prstGeom prst="roundRect">
            <a:avLst>
              <a:gd name="adj" fmla="val 9000"/>
            </a:avLst>
          </a:prstGeom>
          <a:solidFill>
            <a:srgbClr val="1E2761"/>
          </a:solidFill>
          <a:ln/>
        </p:spPr>
        <p:txBody>
          <a:bodyPr/>
          <a:lstStyle/>
          <a:p>
            <a:endParaRPr lang="ru-RU"/>
          </a:p>
        </p:txBody>
      </p:sp>
      <p:sp>
        <p:nvSpPr>
          <p:cNvPr id="12" name="Text 10"/>
          <p:cNvSpPr txBox="1"/>
          <p:nvPr/>
        </p:nvSpPr>
        <p:spPr>
          <a:xfrm>
            <a:off x="548640" y="3182112"/>
            <a:ext cx="914400" cy="123444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3200" b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II</a:t>
            </a:r>
            <a:endParaRPr lang="en-US" sz="3200" dirty="0"/>
          </a:p>
        </p:txBody>
      </p:sp>
      <p:sp>
        <p:nvSpPr>
          <p:cNvPr id="13" name="Text 11"/>
          <p:cNvSpPr txBox="1"/>
          <p:nvPr/>
        </p:nvSpPr>
        <p:spPr>
          <a:xfrm>
            <a:off x="1691640" y="3346704"/>
            <a:ext cx="5394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2000" b="1" dirty="0">
                <a:solidFill>
                  <a:srgbClr val="1E276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Identifikatorning hayotiy sikli</a:t>
            </a:r>
            <a:endParaRPr lang="en-US" sz="2000" dirty="0"/>
          </a:p>
        </p:txBody>
      </p:sp>
      <p:sp>
        <p:nvSpPr>
          <p:cNvPr id="14" name="Text 12"/>
          <p:cNvSpPr txBox="1"/>
          <p:nvPr/>
        </p:nvSpPr>
        <p:spPr>
          <a:xfrm>
            <a:off x="1691640" y="3822192"/>
            <a:ext cx="5669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600" dirty="0">
                <a:solidFill>
                  <a:srgbClr val="1B1B2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JML, provisioning, SCIM, deprovisioning</a:t>
            </a:r>
            <a:endParaRPr lang="en-US" sz="1600" dirty="0"/>
          </a:p>
        </p:txBody>
      </p:sp>
      <p:sp>
        <p:nvSpPr>
          <p:cNvPr id="15" name="Text 13"/>
          <p:cNvSpPr txBox="1"/>
          <p:nvPr/>
        </p:nvSpPr>
        <p:spPr>
          <a:xfrm>
            <a:off x="7223760" y="3364992"/>
            <a:ext cx="1051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lnSpc>
                <a:spcPct val="100000"/>
              </a:lnSpc>
              <a:buNone/>
            </a:pPr>
            <a:r>
              <a:rPr lang="en-US" sz="1600" dirty="0">
                <a:solidFill>
                  <a:srgbClr val="5B627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~35 daq.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548640" y="4581144"/>
            <a:ext cx="7863840" cy="1234440"/>
          </a:xfrm>
          <a:prstGeom prst="roundRect">
            <a:avLst>
              <a:gd name="adj" fmla="val 6667"/>
            </a:avLst>
          </a:prstGeom>
          <a:solidFill>
            <a:srgbClr val="EEF2FB"/>
          </a:solidFill>
          <a:ln/>
        </p:spPr>
        <p:txBody>
          <a:bodyPr/>
          <a:lstStyle/>
          <a:p>
            <a:endParaRPr lang="ru-RU"/>
          </a:p>
        </p:txBody>
      </p:sp>
      <p:sp>
        <p:nvSpPr>
          <p:cNvPr id="17" name="Shape 15"/>
          <p:cNvSpPr/>
          <p:nvPr/>
        </p:nvSpPr>
        <p:spPr>
          <a:xfrm>
            <a:off x="548640" y="4581144"/>
            <a:ext cx="914400" cy="1234440"/>
          </a:xfrm>
          <a:prstGeom prst="roundRect">
            <a:avLst>
              <a:gd name="adj" fmla="val 9000"/>
            </a:avLst>
          </a:prstGeom>
          <a:solidFill>
            <a:srgbClr val="1E2761"/>
          </a:solidFill>
          <a:ln/>
        </p:spPr>
        <p:txBody>
          <a:bodyPr/>
          <a:lstStyle/>
          <a:p>
            <a:endParaRPr lang="ru-RU"/>
          </a:p>
        </p:txBody>
      </p:sp>
      <p:sp>
        <p:nvSpPr>
          <p:cNvPr id="18" name="Text 16"/>
          <p:cNvSpPr txBox="1"/>
          <p:nvPr/>
        </p:nvSpPr>
        <p:spPr>
          <a:xfrm>
            <a:off x="548640" y="4581144"/>
            <a:ext cx="914400" cy="123444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3200" b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III</a:t>
            </a:r>
            <a:endParaRPr lang="en-US" sz="3200" dirty="0"/>
          </a:p>
        </p:txBody>
      </p:sp>
      <p:sp>
        <p:nvSpPr>
          <p:cNvPr id="19" name="Text 17"/>
          <p:cNvSpPr txBox="1"/>
          <p:nvPr/>
        </p:nvSpPr>
        <p:spPr>
          <a:xfrm>
            <a:off x="1691640" y="4745736"/>
            <a:ext cx="5394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2000" b="1" dirty="0">
                <a:solidFill>
                  <a:srgbClr val="1E276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IGA: huquqlarni nazorat qilish</a:t>
            </a:r>
            <a:endParaRPr lang="en-US" sz="2000" dirty="0"/>
          </a:p>
        </p:txBody>
      </p:sp>
      <p:sp>
        <p:nvSpPr>
          <p:cNvPr id="20" name="Text 18"/>
          <p:cNvSpPr txBox="1"/>
          <p:nvPr/>
        </p:nvSpPr>
        <p:spPr>
          <a:xfrm>
            <a:off x="1691640" y="5221224"/>
            <a:ext cx="5669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600" dirty="0">
                <a:solidFill>
                  <a:srgbClr val="1B1B2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Qayta sertifikatlash, audit va standartlar</a:t>
            </a:r>
            <a:endParaRPr lang="en-US" sz="1600" dirty="0"/>
          </a:p>
        </p:txBody>
      </p:sp>
      <p:sp>
        <p:nvSpPr>
          <p:cNvPr id="21" name="Text 19"/>
          <p:cNvSpPr txBox="1"/>
          <p:nvPr/>
        </p:nvSpPr>
        <p:spPr>
          <a:xfrm>
            <a:off x="7223760" y="4764024"/>
            <a:ext cx="1051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lnSpc>
                <a:spcPct val="100000"/>
              </a:lnSpc>
              <a:buNone/>
            </a:pPr>
            <a:r>
              <a:rPr lang="en-US" sz="1600" dirty="0">
                <a:solidFill>
                  <a:srgbClr val="5B627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~25 daq.</a:t>
            </a:r>
            <a:endParaRPr lang="en-US" sz="1600" dirty="0"/>
          </a:p>
        </p:txBody>
      </p:sp>
      <p:sp>
        <p:nvSpPr>
          <p:cNvPr id="22" name="Shape 20"/>
          <p:cNvSpPr/>
          <p:nvPr/>
        </p:nvSpPr>
        <p:spPr>
          <a:xfrm>
            <a:off x="8686800" y="1783080"/>
            <a:ext cx="2926080" cy="4032504"/>
          </a:xfrm>
          <a:prstGeom prst="roundRect">
            <a:avLst>
              <a:gd name="adj" fmla="val 2813"/>
            </a:avLst>
          </a:prstGeom>
          <a:solidFill>
            <a:srgbClr val="FDF3E2"/>
          </a:solidFill>
          <a:ln/>
        </p:spPr>
        <p:txBody>
          <a:bodyPr/>
          <a:lstStyle/>
          <a:p>
            <a:endParaRPr lang="ru-RU"/>
          </a:p>
        </p:txBody>
      </p:sp>
      <p:sp>
        <p:nvSpPr>
          <p:cNvPr id="23" name="Shape 21"/>
          <p:cNvSpPr/>
          <p:nvPr/>
        </p:nvSpPr>
        <p:spPr>
          <a:xfrm>
            <a:off x="8961120" y="2011680"/>
            <a:ext cx="566928" cy="566928"/>
          </a:xfrm>
          <a:prstGeom prst="ellipse">
            <a:avLst/>
          </a:prstGeom>
          <a:solidFill>
            <a:srgbClr val="D9932B"/>
          </a:solidFill>
          <a:ln/>
        </p:spPr>
        <p:txBody>
          <a:bodyPr/>
          <a:lstStyle/>
          <a:p>
            <a:endParaRPr lang="ru-RU"/>
          </a:p>
        </p:txBody>
      </p:sp>
      <p:pic>
        <p:nvPicPr>
          <p:cNvPr id="24" name="Image 0" descr="/home/claude/fob-slides/icons_out/bulb_whit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088679" y="2139239"/>
            <a:ext cx="311810" cy="311810"/>
          </a:xfrm>
          <a:prstGeom prst="rect">
            <a:avLst/>
          </a:prstGeom>
        </p:spPr>
      </p:pic>
      <p:sp>
        <p:nvSpPr>
          <p:cNvPr id="25" name="Text 22"/>
          <p:cNvSpPr txBox="1"/>
          <p:nvPr/>
        </p:nvSpPr>
        <p:spPr>
          <a:xfrm>
            <a:off x="8961120" y="2697480"/>
            <a:ext cx="24688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800" b="1" dirty="0">
                <a:solidFill>
                  <a:srgbClr val="9A5B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Interaktiv nuqtalar</a:t>
            </a:r>
            <a:endParaRPr lang="en-US" sz="1800" dirty="0"/>
          </a:p>
        </p:txBody>
      </p:sp>
      <p:sp>
        <p:nvSpPr>
          <p:cNvPr id="26" name="Text 23"/>
          <p:cNvSpPr txBox="1"/>
          <p:nvPr/>
        </p:nvSpPr>
        <p:spPr>
          <a:xfrm>
            <a:off x="9006840" y="3154680"/>
            <a:ext cx="2514600" cy="2560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rgbClr val="1B1B2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Ochilish muhokamasi</a:t>
            </a:r>
            <a:endParaRPr lang="en-US" sz="16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rgbClr val="1B1B2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Mini-vazifa: JML</a:t>
            </a:r>
            <a:endParaRPr lang="en-US" sz="16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rgbClr val="1B1B2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Mini-vazifa: tartiblash</a:t>
            </a:r>
            <a:endParaRPr lang="en-US" sz="16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rgbClr val="1B1B2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Muhokama: audit</a:t>
            </a:r>
            <a:endParaRPr lang="en-US" sz="16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rgbClr val="1B1B2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Tezkor test (6 savol)</a:t>
            </a:r>
            <a:endParaRPr lang="en-US" sz="1600" dirty="0"/>
          </a:p>
        </p:txBody>
      </p:sp>
      <p:sp>
        <p:nvSpPr>
          <p:cNvPr id="27" name="Text 24"/>
          <p:cNvSpPr txBox="1"/>
          <p:nvPr/>
        </p:nvSpPr>
        <p:spPr>
          <a:xfrm>
            <a:off x="548640" y="649224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B627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Foydalanishlarni boshqarish  ·  2-ma'ruza</a:t>
            </a:r>
            <a:endParaRPr lang="en-US" sz="1100" dirty="0"/>
          </a:p>
        </p:txBody>
      </p:sp>
      <p:sp>
        <p:nvSpPr>
          <p:cNvPr id="28" name="Text 25"/>
          <p:cNvSpPr txBox="1"/>
          <p:nvPr/>
        </p:nvSpPr>
        <p:spPr>
          <a:xfrm>
            <a:off x="11155680" y="649224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5B627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2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47472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kern="0" spc="220" dirty="0">
                <a:solidFill>
                  <a:srgbClr val="5B627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DARS MAQSADI</a:t>
            </a:r>
            <a:endParaRPr lang="en-US" sz="16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731520"/>
            <a:ext cx="100584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95000"/>
              </a:lnSpc>
              <a:buNone/>
            </a:pPr>
            <a:r>
              <a:rPr lang="en-US" sz="3600" b="1" dirty="0">
                <a:solidFill>
                  <a:srgbClr val="1E276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Ushbu mavzuni o'zlashtirgach, talaba...</a:t>
            </a:r>
            <a:endParaRPr lang="en-US" sz="3600" dirty="0"/>
          </a:p>
        </p:txBody>
      </p:sp>
      <p:sp>
        <p:nvSpPr>
          <p:cNvPr id="4" name="Shape 2"/>
          <p:cNvSpPr/>
          <p:nvPr/>
        </p:nvSpPr>
        <p:spPr>
          <a:xfrm>
            <a:off x="548640" y="1783080"/>
            <a:ext cx="5394960" cy="1828800"/>
          </a:xfrm>
          <a:prstGeom prst="roundRect">
            <a:avLst>
              <a:gd name="adj" fmla="val 4500"/>
            </a:avLst>
          </a:prstGeom>
          <a:solidFill>
            <a:srgbClr val="EEF2FB"/>
          </a:solidFill>
          <a:ln/>
        </p:spPr>
        <p:txBody>
          <a:bodyPr/>
          <a:lstStyle/>
          <a:p>
            <a:endParaRPr lang="ru-RU"/>
          </a:p>
        </p:txBody>
      </p:sp>
      <p:sp>
        <p:nvSpPr>
          <p:cNvPr id="5" name="Shape 3"/>
          <p:cNvSpPr/>
          <p:nvPr/>
        </p:nvSpPr>
        <p:spPr>
          <a:xfrm>
            <a:off x="822960" y="2057400"/>
            <a:ext cx="621792" cy="621792"/>
          </a:xfrm>
          <a:prstGeom prst="ellipse">
            <a:avLst/>
          </a:prstGeom>
          <a:solidFill>
            <a:srgbClr val="1E2761"/>
          </a:solidFill>
          <a:ln/>
        </p:spPr>
        <p:txBody>
          <a:bodyPr/>
          <a:lstStyle/>
          <a:p>
            <a:endParaRPr lang="ru-RU"/>
          </a:p>
        </p:txBody>
      </p:sp>
      <p:pic>
        <p:nvPicPr>
          <p:cNvPr id="6" name="Image 0" descr="/home/claude/fob-slides/icons_out/idcard_whit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62863" y="2197303"/>
            <a:ext cx="341986" cy="341986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1645920" y="2057400"/>
            <a:ext cx="4069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2000" b="1" dirty="0">
                <a:solidFill>
                  <a:srgbClr val="1E276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Tushunchalarni farqlaydi</a:t>
            </a:r>
            <a:endParaRPr lang="en-US" sz="2000" dirty="0"/>
          </a:p>
        </p:txBody>
      </p:sp>
      <p:sp>
        <p:nvSpPr>
          <p:cNvPr id="8" name="Text 5"/>
          <p:cNvSpPr txBox="1"/>
          <p:nvPr/>
        </p:nvSpPr>
        <p:spPr>
          <a:xfrm>
            <a:off x="1645920" y="2560320"/>
            <a:ext cx="40690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5000"/>
              </a:lnSpc>
              <a:buNone/>
            </a:pPr>
            <a:r>
              <a:rPr lang="en-US" sz="1600" dirty="0">
                <a:solidFill>
                  <a:srgbClr val="1B1B2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Identifikator, qayd yozuvi va imtiyoz o'rtasidagi farqni tushuntiradi.</a:t>
            </a:r>
            <a:endParaRPr lang="en-US" sz="1600" dirty="0"/>
          </a:p>
        </p:txBody>
      </p:sp>
      <p:sp>
        <p:nvSpPr>
          <p:cNvPr id="9" name="Shape 6"/>
          <p:cNvSpPr/>
          <p:nvPr/>
        </p:nvSpPr>
        <p:spPr>
          <a:xfrm>
            <a:off x="6217920" y="1783080"/>
            <a:ext cx="5394960" cy="1828800"/>
          </a:xfrm>
          <a:prstGeom prst="roundRect">
            <a:avLst>
              <a:gd name="adj" fmla="val 4500"/>
            </a:avLst>
          </a:prstGeom>
          <a:solidFill>
            <a:srgbClr val="EEF2FB"/>
          </a:solidFill>
          <a:ln/>
        </p:spPr>
        <p:txBody>
          <a:bodyPr/>
          <a:lstStyle/>
          <a:p>
            <a:endParaRPr lang="ru-RU"/>
          </a:p>
        </p:txBody>
      </p:sp>
      <p:sp>
        <p:nvSpPr>
          <p:cNvPr id="10" name="Shape 7"/>
          <p:cNvSpPr/>
          <p:nvPr/>
        </p:nvSpPr>
        <p:spPr>
          <a:xfrm>
            <a:off x="6492240" y="2057400"/>
            <a:ext cx="621792" cy="621792"/>
          </a:xfrm>
          <a:prstGeom prst="ellipse">
            <a:avLst/>
          </a:prstGeom>
          <a:solidFill>
            <a:srgbClr val="1E2761"/>
          </a:solidFill>
          <a:ln/>
        </p:spPr>
        <p:txBody>
          <a:bodyPr/>
          <a:lstStyle/>
          <a:p>
            <a:endParaRPr lang="ru-RU"/>
          </a:p>
        </p:txBody>
      </p:sp>
      <p:pic>
        <p:nvPicPr>
          <p:cNvPr id="11" name="Image 1" descr="/home/claude/fob-slides/icons_out/sync_whit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32143" y="2197303"/>
            <a:ext cx="341986" cy="341986"/>
          </a:xfrm>
          <a:prstGeom prst="rect">
            <a:avLst/>
          </a:prstGeom>
        </p:spPr>
      </p:pic>
      <p:sp>
        <p:nvSpPr>
          <p:cNvPr id="12" name="Text 8"/>
          <p:cNvSpPr txBox="1"/>
          <p:nvPr/>
        </p:nvSpPr>
        <p:spPr>
          <a:xfrm>
            <a:off x="7315200" y="2057400"/>
            <a:ext cx="4069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2000" b="1" dirty="0">
                <a:solidFill>
                  <a:srgbClr val="1E276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Hayotiy siklni loyihalaydi</a:t>
            </a:r>
            <a:endParaRPr lang="en-US" sz="2000" dirty="0"/>
          </a:p>
        </p:txBody>
      </p:sp>
      <p:sp>
        <p:nvSpPr>
          <p:cNvPr id="13" name="Text 9"/>
          <p:cNvSpPr txBox="1"/>
          <p:nvPr/>
        </p:nvSpPr>
        <p:spPr>
          <a:xfrm>
            <a:off x="7315200" y="2560320"/>
            <a:ext cx="40690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5000"/>
              </a:lnSpc>
              <a:buNone/>
            </a:pPr>
            <a:r>
              <a:rPr lang="en-US" sz="1600" dirty="0">
                <a:solidFill>
                  <a:srgbClr val="1B1B2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Qabul qilish, lavozim o'zgarishi va ishdan bo'shash jarayonlarini tuzadi.</a:t>
            </a:r>
            <a:endParaRPr lang="en-US" sz="1600" dirty="0"/>
          </a:p>
        </p:txBody>
      </p:sp>
      <p:sp>
        <p:nvSpPr>
          <p:cNvPr id="14" name="Shape 10"/>
          <p:cNvSpPr/>
          <p:nvPr/>
        </p:nvSpPr>
        <p:spPr>
          <a:xfrm>
            <a:off x="548640" y="3840480"/>
            <a:ext cx="5394960" cy="1828800"/>
          </a:xfrm>
          <a:prstGeom prst="roundRect">
            <a:avLst>
              <a:gd name="adj" fmla="val 4500"/>
            </a:avLst>
          </a:prstGeom>
          <a:solidFill>
            <a:srgbClr val="EEF2FB"/>
          </a:solidFill>
          <a:ln/>
        </p:spPr>
        <p:txBody>
          <a:bodyPr/>
          <a:lstStyle/>
          <a:p>
            <a:endParaRPr lang="ru-RU"/>
          </a:p>
        </p:txBody>
      </p:sp>
      <p:sp>
        <p:nvSpPr>
          <p:cNvPr id="15" name="Shape 11"/>
          <p:cNvSpPr/>
          <p:nvPr/>
        </p:nvSpPr>
        <p:spPr>
          <a:xfrm>
            <a:off x="822960" y="4114800"/>
            <a:ext cx="621792" cy="621792"/>
          </a:xfrm>
          <a:prstGeom prst="ellipse">
            <a:avLst/>
          </a:prstGeom>
          <a:solidFill>
            <a:srgbClr val="1E2761"/>
          </a:solidFill>
          <a:ln/>
        </p:spPr>
        <p:txBody>
          <a:bodyPr/>
          <a:lstStyle/>
          <a:p>
            <a:endParaRPr lang="ru-RU"/>
          </a:p>
        </p:txBody>
      </p:sp>
      <p:pic>
        <p:nvPicPr>
          <p:cNvPr id="16" name="Image 2" descr="/home/claude/fob-slides/icons_out/usertimes_whit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62863" y="4254703"/>
            <a:ext cx="341986" cy="341986"/>
          </a:xfrm>
          <a:prstGeom prst="rect">
            <a:avLst/>
          </a:prstGeom>
        </p:spPr>
      </p:pic>
      <p:sp>
        <p:nvSpPr>
          <p:cNvPr id="17" name="Text 12"/>
          <p:cNvSpPr txBox="1"/>
          <p:nvPr/>
        </p:nvSpPr>
        <p:spPr>
          <a:xfrm>
            <a:off x="1645920" y="4114800"/>
            <a:ext cx="4069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2000" b="1" dirty="0">
                <a:solidFill>
                  <a:srgbClr val="1E276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Deprovisioningni bajaradi</a:t>
            </a:r>
            <a:endParaRPr lang="en-US" sz="2000" dirty="0"/>
          </a:p>
        </p:txBody>
      </p:sp>
      <p:sp>
        <p:nvSpPr>
          <p:cNvPr id="18" name="Text 13"/>
          <p:cNvSpPr txBox="1"/>
          <p:nvPr/>
        </p:nvSpPr>
        <p:spPr>
          <a:xfrm>
            <a:off x="1645920" y="4617720"/>
            <a:ext cx="40690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5000"/>
              </a:lnSpc>
              <a:buNone/>
            </a:pPr>
            <a:r>
              <a:rPr lang="en-US" sz="1600" dirty="0">
                <a:solidFill>
                  <a:srgbClr val="1B1B2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Qayd yozuvini yopish qadamlarini to'g'ri ketma-ketlikda belgilaydi.</a:t>
            </a:r>
            <a:endParaRPr lang="en-US" sz="1600" dirty="0"/>
          </a:p>
        </p:txBody>
      </p:sp>
      <p:sp>
        <p:nvSpPr>
          <p:cNvPr id="19" name="Shape 14"/>
          <p:cNvSpPr/>
          <p:nvPr/>
        </p:nvSpPr>
        <p:spPr>
          <a:xfrm>
            <a:off x="6217920" y="3840480"/>
            <a:ext cx="5394960" cy="1828800"/>
          </a:xfrm>
          <a:prstGeom prst="roundRect">
            <a:avLst>
              <a:gd name="adj" fmla="val 4500"/>
            </a:avLst>
          </a:prstGeom>
          <a:solidFill>
            <a:srgbClr val="EEF2FB"/>
          </a:solidFill>
          <a:ln/>
        </p:spPr>
        <p:txBody>
          <a:bodyPr/>
          <a:lstStyle/>
          <a:p>
            <a:endParaRPr lang="ru-RU"/>
          </a:p>
        </p:txBody>
      </p:sp>
      <p:sp>
        <p:nvSpPr>
          <p:cNvPr id="20" name="Shape 15"/>
          <p:cNvSpPr/>
          <p:nvPr/>
        </p:nvSpPr>
        <p:spPr>
          <a:xfrm>
            <a:off x="6492240" y="4114800"/>
            <a:ext cx="621792" cy="621792"/>
          </a:xfrm>
          <a:prstGeom prst="ellipse">
            <a:avLst/>
          </a:prstGeom>
          <a:solidFill>
            <a:srgbClr val="1E2761"/>
          </a:solidFill>
          <a:ln/>
        </p:spPr>
        <p:txBody>
          <a:bodyPr/>
          <a:lstStyle/>
          <a:p>
            <a:endParaRPr lang="ru-RU"/>
          </a:p>
        </p:txBody>
      </p:sp>
      <p:pic>
        <p:nvPicPr>
          <p:cNvPr id="21" name="Image 3" descr="/home/claude/fob-slides/icons_out/usercheck_whit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632143" y="4254703"/>
            <a:ext cx="341986" cy="341986"/>
          </a:xfrm>
          <a:prstGeom prst="rect">
            <a:avLst/>
          </a:prstGeom>
        </p:spPr>
      </p:pic>
      <p:sp>
        <p:nvSpPr>
          <p:cNvPr id="22" name="Text 16"/>
          <p:cNvSpPr txBox="1"/>
          <p:nvPr/>
        </p:nvSpPr>
        <p:spPr>
          <a:xfrm>
            <a:off x="7315200" y="4114800"/>
            <a:ext cx="4069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2000" b="1" dirty="0">
                <a:solidFill>
                  <a:srgbClr val="1E276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IGA vazifalarini biladi</a:t>
            </a:r>
            <a:endParaRPr lang="en-US" sz="2000" dirty="0"/>
          </a:p>
        </p:txBody>
      </p:sp>
      <p:sp>
        <p:nvSpPr>
          <p:cNvPr id="23" name="Text 17"/>
          <p:cNvSpPr txBox="1"/>
          <p:nvPr/>
        </p:nvSpPr>
        <p:spPr>
          <a:xfrm>
            <a:off x="7315200" y="4617720"/>
            <a:ext cx="40690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5000"/>
              </a:lnSpc>
              <a:buNone/>
            </a:pPr>
            <a:r>
              <a:rPr lang="en-US" sz="1600" dirty="0">
                <a:solidFill>
                  <a:srgbClr val="1B1B2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Qayta sertifikatlash, vazifalarni ajratish va audit orqali nazoratni izohlaydi.</a:t>
            </a:r>
            <a:endParaRPr lang="en-US" sz="1600" dirty="0"/>
          </a:p>
        </p:txBody>
      </p:sp>
      <p:sp>
        <p:nvSpPr>
          <p:cNvPr id="24" name="Text 18"/>
          <p:cNvSpPr txBox="1"/>
          <p:nvPr/>
        </p:nvSpPr>
        <p:spPr>
          <a:xfrm>
            <a:off x="548640" y="5943600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400" dirty="0">
                <a:solidFill>
                  <a:srgbClr val="5B627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Bog'liq ta'lim natijalari: TN1 (tamoyillar) va TN4 (identifikatorlar hayotiy siklini loyihalash).</a:t>
            </a:r>
            <a:endParaRPr lang="en-US" sz="1400" dirty="0"/>
          </a:p>
        </p:txBody>
      </p:sp>
      <p:sp>
        <p:nvSpPr>
          <p:cNvPr id="25" name="Text 19"/>
          <p:cNvSpPr txBox="1"/>
          <p:nvPr/>
        </p:nvSpPr>
        <p:spPr>
          <a:xfrm>
            <a:off x="548640" y="649224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B627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Foydalanishlarni boshqarish  ·  2-ma'ruza</a:t>
            </a:r>
            <a:endParaRPr lang="en-US" sz="1100" dirty="0"/>
          </a:p>
        </p:txBody>
      </p:sp>
      <p:sp>
        <p:nvSpPr>
          <p:cNvPr id="26" name="Text 20"/>
          <p:cNvSpPr txBox="1"/>
          <p:nvPr/>
        </p:nvSpPr>
        <p:spPr>
          <a:xfrm>
            <a:off x="11155680" y="649224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5B627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3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47472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kern="0" spc="220" dirty="0">
                <a:solidFill>
                  <a:srgbClr val="5B627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KIRISH · REAL HODISA</a:t>
            </a:r>
            <a:endParaRPr lang="en-US" sz="16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731520"/>
            <a:ext cx="100584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95000"/>
              </a:lnSpc>
              <a:buNone/>
            </a:pPr>
            <a:r>
              <a:rPr lang="en-US" sz="3600" b="1" dirty="0">
                <a:solidFill>
                  <a:srgbClr val="1E276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Ishdan ketgan xodim va yopilmagan qayd yozuvi</a:t>
            </a:r>
            <a:endParaRPr lang="en-US" sz="3600" dirty="0"/>
          </a:p>
        </p:txBody>
      </p:sp>
      <p:sp>
        <p:nvSpPr>
          <p:cNvPr id="4" name="Shape 2"/>
          <p:cNvSpPr/>
          <p:nvPr/>
        </p:nvSpPr>
        <p:spPr>
          <a:xfrm>
            <a:off x="548640" y="1783080"/>
            <a:ext cx="1783080" cy="1097280"/>
          </a:xfrm>
          <a:prstGeom prst="roundRect">
            <a:avLst>
              <a:gd name="adj" fmla="val 7500"/>
            </a:avLst>
          </a:prstGeom>
          <a:solidFill>
            <a:srgbClr val="1E2761"/>
          </a:solidFill>
          <a:ln/>
        </p:spPr>
        <p:txBody>
          <a:bodyPr/>
          <a:lstStyle/>
          <a:p>
            <a:endParaRPr lang="ru-RU"/>
          </a:p>
        </p:txBody>
      </p:sp>
      <p:sp>
        <p:nvSpPr>
          <p:cNvPr id="5" name="Text 3"/>
          <p:cNvSpPr txBox="1"/>
          <p:nvPr/>
        </p:nvSpPr>
        <p:spPr>
          <a:xfrm>
            <a:off x="548640" y="1783080"/>
            <a:ext cx="1783080" cy="109728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600" b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2018, aprel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2468880" y="1783080"/>
            <a:ext cx="4343400" cy="1097280"/>
          </a:xfrm>
          <a:prstGeom prst="roundRect">
            <a:avLst>
              <a:gd name="adj" fmla="val 7500"/>
            </a:avLst>
          </a:prstGeom>
          <a:solidFill>
            <a:srgbClr val="EEF2FB"/>
          </a:solidFill>
          <a:ln/>
        </p:spPr>
        <p:txBody>
          <a:bodyPr/>
          <a:lstStyle/>
          <a:p>
            <a:endParaRPr lang="ru-RU"/>
          </a:p>
        </p:txBody>
      </p:sp>
      <p:sp>
        <p:nvSpPr>
          <p:cNvPr id="7" name="Text 5"/>
          <p:cNvSpPr txBox="1"/>
          <p:nvPr/>
        </p:nvSpPr>
        <p:spPr>
          <a:xfrm>
            <a:off x="2651760" y="1783080"/>
            <a:ext cx="40233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05000"/>
              </a:lnSpc>
              <a:buNone/>
            </a:pPr>
            <a:r>
              <a:rPr lang="en-US" sz="1600" dirty="0">
                <a:solidFill>
                  <a:srgbClr val="1B1B2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Cisco muhandisi ishdan bo'shaydi.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548640" y="3044952"/>
            <a:ext cx="1783080" cy="1097280"/>
          </a:xfrm>
          <a:prstGeom prst="roundRect">
            <a:avLst>
              <a:gd name="adj" fmla="val 7500"/>
            </a:avLst>
          </a:prstGeom>
          <a:solidFill>
            <a:srgbClr val="1E2761"/>
          </a:solidFill>
          <a:ln/>
        </p:spPr>
        <p:txBody>
          <a:bodyPr/>
          <a:lstStyle/>
          <a:p>
            <a:endParaRPr lang="ru-RU"/>
          </a:p>
        </p:txBody>
      </p:sp>
      <p:sp>
        <p:nvSpPr>
          <p:cNvPr id="9" name="Text 7"/>
          <p:cNvSpPr txBox="1"/>
          <p:nvPr/>
        </p:nvSpPr>
        <p:spPr>
          <a:xfrm>
            <a:off x="548640" y="3044952"/>
            <a:ext cx="1783080" cy="109728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600" b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2018, sentyabr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2468880" y="3044952"/>
            <a:ext cx="4343400" cy="1097280"/>
          </a:xfrm>
          <a:prstGeom prst="roundRect">
            <a:avLst>
              <a:gd name="adj" fmla="val 7500"/>
            </a:avLst>
          </a:prstGeom>
          <a:solidFill>
            <a:srgbClr val="EEF2FB"/>
          </a:solidFill>
          <a:ln/>
        </p:spPr>
        <p:txBody>
          <a:bodyPr/>
          <a:lstStyle/>
          <a:p>
            <a:endParaRPr lang="ru-RU"/>
          </a:p>
        </p:txBody>
      </p:sp>
      <p:sp>
        <p:nvSpPr>
          <p:cNvPr id="11" name="Text 9"/>
          <p:cNvSpPr txBox="1"/>
          <p:nvPr/>
        </p:nvSpPr>
        <p:spPr>
          <a:xfrm>
            <a:off x="2651760" y="3044952"/>
            <a:ext cx="40233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05000"/>
              </a:lnSpc>
              <a:buNone/>
            </a:pPr>
            <a:r>
              <a:rPr lang="en-US" sz="1600" dirty="0">
                <a:solidFill>
                  <a:srgbClr val="1B1B2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Kompaniyaning bulut (AWS) muhitiga kiradi va 456 ta virtual mashinani o'chiradi.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548640" y="4306824"/>
            <a:ext cx="1783080" cy="1097280"/>
          </a:xfrm>
          <a:prstGeom prst="roundRect">
            <a:avLst>
              <a:gd name="adj" fmla="val 7500"/>
            </a:avLst>
          </a:prstGeom>
          <a:solidFill>
            <a:srgbClr val="9E3B2E"/>
          </a:solidFill>
          <a:ln/>
        </p:spPr>
        <p:txBody>
          <a:bodyPr/>
          <a:lstStyle/>
          <a:p>
            <a:endParaRPr lang="ru-RU"/>
          </a:p>
        </p:txBody>
      </p:sp>
      <p:sp>
        <p:nvSpPr>
          <p:cNvPr id="13" name="Text 11"/>
          <p:cNvSpPr txBox="1"/>
          <p:nvPr/>
        </p:nvSpPr>
        <p:spPr>
          <a:xfrm>
            <a:off x="548640" y="4306824"/>
            <a:ext cx="1783080" cy="109728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600" b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Natija</a:t>
            </a: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2468880" y="4306824"/>
            <a:ext cx="4343400" cy="1097280"/>
          </a:xfrm>
          <a:prstGeom prst="roundRect">
            <a:avLst>
              <a:gd name="adj" fmla="val 7500"/>
            </a:avLst>
          </a:prstGeom>
          <a:solidFill>
            <a:srgbClr val="F7ECEA"/>
          </a:solidFill>
          <a:ln/>
        </p:spPr>
        <p:txBody>
          <a:bodyPr/>
          <a:lstStyle/>
          <a:p>
            <a:endParaRPr lang="ru-RU"/>
          </a:p>
        </p:txBody>
      </p:sp>
      <p:sp>
        <p:nvSpPr>
          <p:cNvPr id="15" name="Text 13"/>
          <p:cNvSpPr txBox="1"/>
          <p:nvPr/>
        </p:nvSpPr>
        <p:spPr>
          <a:xfrm>
            <a:off x="2651760" y="4306824"/>
            <a:ext cx="40233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05000"/>
              </a:lnSpc>
              <a:buNone/>
            </a:pPr>
            <a:r>
              <a:rPr lang="en-US" sz="1600" dirty="0">
                <a:solidFill>
                  <a:srgbClr val="9E3B2E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16 000 dan ortiq Webex Teams qayd yozuvi ~2 hafta ishlamaydi; tiklashga ~1,4 mln $ sarflanadi.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7086600" y="1783080"/>
            <a:ext cx="2148840" cy="1737360"/>
          </a:xfrm>
          <a:prstGeom prst="roundRect">
            <a:avLst>
              <a:gd name="adj" fmla="val 4737"/>
            </a:avLst>
          </a:prstGeom>
          <a:solidFill>
            <a:srgbClr val="1E2761"/>
          </a:solidFill>
          <a:ln/>
        </p:spPr>
        <p:txBody>
          <a:bodyPr/>
          <a:lstStyle/>
          <a:p>
            <a:endParaRPr lang="ru-RU"/>
          </a:p>
        </p:txBody>
      </p:sp>
      <p:sp>
        <p:nvSpPr>
          <p:cNvPr id="17" name="Text 15"/>
          <p:cNvSpPr txBox="1"/>
          <p:nvPr/>
        </p:nvSpPr>
        <p:spPr>
          <a:xfrm>
            <a:off x="7086600" y="2011680"/>
            <a:ext cx="2148840" cy="73152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3400" b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5 oy</a:t>
            </a:r>
            <a:endParaRPr lang="en-US" sz="3400" dirty="0"/>
          </a:p>
        </p:txBody>
      </p:sp>
      <p:sp>
        <p:nvSpPr>
          <p:cNvPr id="18" name="Text 16"/>
          <p:cNvSpPr txBox="1"/>
          <p:nvPr/>
        </p:nvSpPr>
        <p:spPr>
          <a:xfrm>
            <a:off x="7178040" y="2743200"/>
            <a:ext cx="1965960" cy="64008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600" dirty="0">
                <a:solidFill>
                  <a:srgbClr val="CADCFC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ketgandan keyin kirish</a:t>
            </a:r>
            <a:endParaRPr lang="en-US" sz="1600" dirty="0"/>
          </a:p>
        </p:txBody>
      </p:sp>
      <p:sp>
        <p:nvSpPr>
          <p:cNvPr id="19" name="Shape 17"/>
          <p:cNvSpPr/>
          <p:nvPr/>
        </p:nvSpPr>
        <p:spPr>
          <a:xfrm>
            <a:off x="9372600" y="1783080"/>
            <a:ext cx="2148840" cy="1737360"/>
          </a:xfrm>
          <a:prstGeom prst="roundRect">
            <a:avLst>
              <a:gd name="adj" fmla="val 4737"/>
            </a:avLst>
          </a:prstGeom>
          <a:solidFill>
            <a:srgbClr val="1E2761"/>
          </a:solidFill>
          <a:ln/>
        </p:spPr>
        <p:txBody>
          <a:bodyPr/>
          <a:lstStyle/>
          <a:p>
            <a:endParaRPr lang="ru-RU"/>
          </a:p>
        </p:txBody>
      </p:sp>
      <p:sp>
        <p:nvSpPr>
          <p:cNvPr id="20" name="Text 18"/>
          <p:cNvSpPr txBox="1"/>
          <p:nvPr/>
        </p:nvSpPr>
        <p:spPr>
          <a:xfrm>
            <a:off x="9372600" y="2011680"/>
            <a:ext cx="2148840" cy="73152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3400" b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456</a:t>
            </a:r>
            <a:endParaRPr lang="en-US" sz="3400" dirty="0"/>
          </a:p>
        </p:txBody>
      </p:sp>
      <p:sp>
        <p:nvSpPr>
          <p:cNvPr id="21" name="Text 19"/>
          <p:cNvSpPr txBox="1"/>
          <p:nvPr/>
        </p:nvSpPr>
        <p:spPr>
          <a:xfrm>
            <a:off x="9464040" y="2743200"/>
            <a:ext cx="1965960" cy="64008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600" dirty="0">
                <a:solidFill>
                  <a:srgbClr val="CADCFC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o'chirilgan VM</a:t>
            </a:r>
            <a:endParaRPr lang="en-US" sz="1600" dirty="0"/>
          </a:p>
        </p:txBody>
      </p:sp>
      <p:sp>
        <p:nvSpPr>
          <p:cNvPr id="22" name="Shape 20"/>
          <p:cNvSpPr/>
          <p:nvPr/>
        </p:nvSpPr>
        <p:spPr>
          <a:xfrm>
            <a:off x="7086600" y="3657600"/>
            <a:ext cx="2148840" cy="1737360"/>
          </a:xfrm>
          <a:prstGeom prst="roundRect">
            <a:avLst>
              <a:gd name="adj" fmla="val 4737"/>
            </a:avLst>
          </a:prstGeom>
          <a:solidFill>
            <a:srgbClr val="1E2761"/>
          </a:solidFill>
          <a:ln/>
        </p:spPr>
        <p:txBody>
          <a:bodyPr/>
          <a:lstStyle/>
          <a:p>
            <a:endParaRPr lang="ru-RU"/>
          </a:p>
        </p:txBody>
      </p:sp>
      <p:sp>
        <p:nvSpPr>
          <p:cNvPr id="23" name="Text 21"/>
          <p:cNvSpPr txBox="1"/>
          <p:nvPr/>
        </p:nvSpPr>
        <p:spPr>
          <a:xfrm>
            <a:off x="7086600" y="3886200"/>
            <a:ext cx="2148840" cy="73152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3400" b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16 000+</a:t>
            </a:r>
            <a:endParaRPr lang="en-US" sz="3400" dirty="0"/>
          </a:p>
        </p:txBody>
      </p:sp>
      <p:sp>
        <p:nvSpPr>
          <p:cNvPr id="24" name="Text 22"/>
          <p:cNvSpPr txBox="1"/>
          <p:nvPr/>
        </p:nvSpPr>
        <p:spPr>
          <a:xfrm>
            <a:off x="7178040" y="4617720"/>
            <a:ext cx="1965960" cy="64008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600" dirty="0">
                <a:solidFill>
                  <a:srgbClr val="CADCFC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zarar ko'rgan qayd yozuvi</a:t>
            </a:r>
            <a:endParaRPr lang="en-US" sz="1600" dirty="0"/>
          </a:p>
        </p:txBody>
      </p:sp>
      <p:sp>
        <p:nvSpPr>
          <p:cNvPr id="25" name="Shape 23"/>
          <p:cNvSpPr/>
          <p:nvPr/>
        </p:nvSpPr>
        <p:spPr>
          <a:xfrm>
            <a:off x="9372600" y="3657600"/>
            <a:ext cx="2148840" cy="1737360"/>
          </a:xfrm>
          <a:prstGeom prst="roundRect">
            <a:avLst>
              <a:gd name="adj" fmla="val 4737"/>
            </a:avLst>
          </a:prstGeom>
          <a:solidFill>
            <a:srgbClr val="1E2761"/>
          </a:solidFill>
          <a:ln/>
        </p:spPr>
        <p:txBody>
          <a:bodyPr/>
          <a:lstStyle/>
          <a:p>
            <a:endParaRPr lang="ru-RU"/>
          </a:p>
        </p:txBody>
      </p:sp>
      <p:sp>
        <p:nvSpPr>
          <p:cNvPr id="26" name="Text 24"/>
          <p:cNvSpPr txBox="1"/>
          <p:nvPr/>
        </p:nvSpPr>
        <p:spPr>
          <a:xfrm>
            <a:off x="9372600" y="3886200"/>
            <a:ext cx="2148840" cy="73152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3400" b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2 yil</a:t>
            </a:r>
            <a:endParaRPr lang="en-US" sz="3400" dirty="0"/>
          </a:p>
        </p:txBody>
      </p:sp>
      <p:sp>
        <p:nvSpPr>
          <p:cNvPr id="27" name="Text 25"/>
          <p:cNvSpPr txBox="1"/>
          <p:nvPr/>
        </p:nvSpPr>
        <p:spPr>
          <a:xfrm>
            <a:off x="9464040" y="4617720"/>
            <a:ext cx="1965960" cy="64008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600" dirty="0">
                <a:solidFill>
                  <a:srgbClr val="CADCFC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qamoq jazosi</a:t>
            </a:r>
            <a:endParaRPr lang="en-US" sz="1600" dirty="0"/>
          </a:p>
        </p:txBody>
      </p:sp>
      <p:sp>
        <p:nvSpPr>
          <p:cNvPr id="28" name="Text 26"/>
          <p:cNvSpPr txBox="1"/>
          <p:nvPr/>
        </p:nvSpPr>
        <p:spPr>
          <a:xfrm>
            <a:off x="548640" y="5577840"/>
            <a:ext cx="110642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600" dirty="0">
                <a:solidFill>
                  <a:srgbClr val="1E276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Saboq: deprovisioning — texnik emas, jarayon masalasi. Kimdir «bu odam ketdi» deb tizimlarga xabar berishi shart.</a:t>
            </a:r>
            <a:endParaRPr lang="en-US" sz="1600" dirty="0"/>
          </a:p>
        </p:txBody>
      </p:sp>
      <p:sp>
        <p:nvSpPr>
          <p:cNvPr id="29" name="Text 27"/>
          <p:cNvSpPr txBox="1"/>
          <p:nvPr/>
        </p:nvSpPr>
        <p:spPr>
          <a:xfrm>
            <a:off x="548640" y="6144768"/>
            <a:ext cx="11064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200" dirty="0">
                <a:solidFill>
                  <a:srgbClr val="5B627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Manba: AQSh Adliya vazirligi (Kaliforniya Shimoliy okrugi), 2020</a:t>
            </a:r>
            <a:endParaRPr lang="en-US" sz="1200" dirty="0"/>
          </a:p>
        </p:txBody>
      </p:sp>
      <p:sp>
        <p:nvSpPr>
          <p:cNvPr id="30" name="Text 28"/>
          <p:cNvSpPr txBox="1"/>
          <p:nvPr/>
        </p:nvSpPr>
        <p:spPr>
          <a:xfrm>
            <a:off x="548640" y="649224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B627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Foydalanishlarni boshqarish  ·  2-ma'ruza</a:t>
            </a:r>
            <a:endParaRPr lang="en-US" sz="1100" dirty="0"/>
          </a:p>
        </p:txBody>
      </p:sp>
      <p:sp>
        <p:nvSpPr>
          <p:cNvPr id="31" name="Text 29"/>
          <p:cNvSpPr txBox="1"/>
          <p:nvPr/>
        </p:nvSpPr>
        <p:spPr>
          <a:xfrm>
            <a:off x="11155680" y="649224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5B627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4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DF3E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47472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kern="0" spc="220" dirty="0">
                <a:solidFill>
                  <a:srgbClr val="D9932B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MUHOKAMA · 5 DAQIQA</a:t>
            </a:r>
            <a:endParaRPr lang="en-US" sz="16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731520"/>
            <a:ext cx="100584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95000"/>
              </a:lnSpc>
              <a:buNone/>
            </a:pPr>
            <a:r>
              <a:rPr lang="en-US" sz="3600" b="1" dirty="0">
                <a:solidFill>
                  <a:srgbClr val="9A5B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Birinchi 24 soat</a:t>
            </a:r>
            <a:endParaRPr lang="en-US" sz="3600" dirty="0"/>
          </a:p>
        </p:txBody>
      </p:sp>
      <p:sp>
        <p:nvSpPr>
          <p:cNvPr id="4" name="Shape 2"/>
          <p:cNvSpPr/>
          <p:nvPr/>
        </p:nvSpPr>
        <p:spPr>
          <a:xfrm>
            <a:off x="10744200" y="411480"/>
            <a:ext cx="868680" cy="868680"/>
          </a:xfrm>
          <a:prstGeom prst="ellipse">
            <a:avLst/>
          </a:prstGeom>
          <a:solidFill>
            <a:srgbClr val="D9932B"/>
          </a:solidFill>
          <a:ln/>
        </p:spPr>
        <p:txBody>
          <a:bodyPr/>
          <a:lstStyle/>
          <a:p>
            <a:endParaRPr lang="ru-RU"/>
          </a:p>
        </p:txBody>
      </p:sp>
      <p:pic>
        <p:nvPicPr>
          <p:cNvPr id="5" name="Image 0" descr="/home/claude/fob-slides/icons_out/users_whit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978744" y="646024"/>
            <a:ext cx="399593" cy="399593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548640" y="1783080"/>
            <a:ext cx="11064240" cy="1051560"/>
          </a:xfrm>
          <a:prstGeom prst="roundRect">
            <a:avLst>
              <a:gd name="adj" fmla="val 7826"/>
            </a:avLst>
          </a:prstGeom>
          <a:solidFill>
            <a:srgbClr val="FFFFFF"/>
          </a:solidFill>
          <a:ln/>
        </p:spPr>
        <p:txBody>
          <a:bodyPr/>
          <a:lstStyle/>
          <a:p>
            <a:endParaRPr lang="ru-RU"/>
          </a:p>
        </p:txBody>
      </p:sp>
      <p:sp>
        <p:nvSpPr>
          <p:cNvPr id="7" name="Text 4"/>
          <p:cNvSpPr txBox="1"/>
          <p:nvPr/>
        </p:nvSpPr>
        <p:spPr>
          <a:xfrm>
            <a:off x="868680" y="1783080"/>
            <a:ext cx="1042416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800" dirty="0">
                <a:solidFill>
                  <a:srgbClr val="1B1B2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Kafedrangizdagi dotsent bugun ishdan bo'shadi. Siz — fakultetning IT mas'ulisiz.</a:t>
            </a:r>
            <a:endParaRPr lang="en-US" sz="1800" dirty="0"/>
          </a:p>
        </p:txBody>
      </p:sp>
      <p:sp>
        <p:nvSpPr>
          <p:cNvPr id="8" name="Shape 5"/>
          <p:cNvSpPr/>
          <p:nvPr/>
        </p:nvSpPr>
        <p:spPr>
          <a:xfrm>
            <a:off x="548640" y="3063240"/>
            <a:ext cx="11064240" cy="868680"/>
          </a:xfrm>
          <a:prstGeom prst="roundRect">
            <a:avLst>
              <a:gd name="adj" fmla="val 9474"/>
            </a:avLst>
          </a:prstGeom>
          <a:solidFill>
            <a:srgbClr val="FFFFFF"/>
          </a:solidFill>
          <a:ln/>
        </p:spPr>
        <p:txBody>
          <a:bodyPr/>
          <a:lstStyle/>
          <a:p>
            <a:endParaRPr lang="ru-RU"/>
          </a:p>
        </p:txBody>
      </p:sp>
      <p:sp>
        <p:nvSpPr>
          <p:cNvPr id="9" name="Shape 6"/>
          <p:cNvSpPr/>
          <p:nvPr/>
        </p:nvSpPr>
        <p:spPr>
          <a:xfrm>
            <a:off x="822960" y="3209544"/>
            <a:ext cx="576072" cy="576072"/>
          </a:xfrm>
          <a:prstGeom prst="ellipse">
            <a:avLst/>
          </a:prstGeom>
          <a:solidFill>
            <a:srgbClr val="D9932B"/>
          </a:solidFill>
          <a:ln/>
        </p:spPr>
        <p:txBody>
          <a:bodyPr/>
          <a:lstStyle/>
          <a:p>
            <a:endParaRPr lang="ru-RU"/>
          </a:p>
        </p:txBody>
      </p:sp>
      <p:pic>
        <p:nvPicPr>
          <p:cNvPr id="10" name="Image 1" descr="/home/claude/fob-slides/icons_out/question_whit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81380" y="3367964"/>
            <a:ext cx="259232" cy="259232"/>
          </a:xfrm>
          <a:prstGeom prst="rect">
            <a:avLst/>
          </a:prstGeom>
        </p:spPr>
      </p:pic>
      <p:sp>
        <p:nvSpPr>
          <p:cNvPr id="11" name="Text 7"/>
          <p:cNvSpPr txBox="1"/>
          <p:nvPr/>
        </p:nvSpPr>
        <p:spPr>
          <a:xfrm>
            <a:off x="1600200" y="3063240"/>
            <a:ext cx="94183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700" dirty="0">
                <a:solidFill>
                  <a:srgbClr val="1B1B2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Uning qaysi tizimlardagi qayd yozuvlarini yopish kerak? Kamida 6 tasini ayting.</a:t>
            </a:r>
            <a:endParaRPr lang="en-US" sz="1700" dirty="0"/>
          </a:p>
        </p:txBody>
      </p:sp>
      <p:sp>
        <p:nvSpPr>
          <p:cNvPr id="12" name="Text 8"/>
          <p:cNvSpPr txBox="1"/>
          <p:nvPr/>
        </p:nvSpPr>
        <p:spPr>
          <a:xfrm>
            <a:off x="11018520" y="3063240"/>
            <a:ext cx="4114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lnSpc>
                <a:spcPct val="100000"/>
              </a:lnSpc>
              <a:buNone/>
            </a:pPr>
            <a:r>
              <a:rPr lang="en-US" sz="1800" b="1" dirty="0">
                <a:solidFill>
                  <a:srgbClr val="D9932B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1</a:t>
            </a:r>
            <a:endParaRPr lang="en-US" sz="1800" dirty="0"/>
          </a:p>
        </p:txBody>
      </p:sp>
      <p:sp>
        <p:nvSpPr>
          <p:cNvPr id="13" name="Shape 9"/>
          <p:cNvSpPr/>
          <p:nvPr/>
        </p:nvSpPr>
        <p:spPr>
          <a:xfrm>
            <a:off x="548640" y="4069080"/>
            <a:ext cx="11064240" cy="868680"/>
          </a:xfrm>
          <a:prstGeom prst="roundRect">
            <a:avLst>
              <a:gd name="adj" fmla="val 9474"/>
            </a:avLst>
          </a:prstGeom>
          <a:solidFill>
            <a:srgbClr val="FFFFFF"/>
          </a:solidFill>
          <a:ln/>
        </p:spPr>
        <p:txBody>
          <a:bodyPr/>
          <a:lstStyle/>
          <a:p>
            <a:endParaRPr lang="ru-RU"/>
          </a:p>
        </p:txBody>
      </p:sp>
      <p:sp>
        <p:nvSpPr>
          <p:cNvPr id="14" name="Shape 10"/>
          <p:cNvSpPr/>
          <p:nvPr/>
        </p:nvSpPr>
        <p:spPr>
          <a:xfrm>
            <a:off x="822960" y="4215384"/>
            <a:ext cx="576072" cy="576072"/>
          </a:xfrm>
          <a:prstGeom prst="ellipse">
            <a:avLst/>
          </a:prstGeom>
          <a:solidFill>
            <a:srgbClr val="D9932B"/>
          </a:solidFill>
          <a:ln/>
        </p:spPr>
        <p:txBody>
          <a:bodyPr/>
          <a:lstStyle/>
          <a:p>
            <a:endParaRPr lang="ru-RU"/>
          </a:p>
        </p:txBody>
      </p:sp>
      <p:pic>
        <p:nvPicPr>
          <p:cNvPr id="15" name="Image 2" descr="/home/claude/fob-slides/icons_out/question_whit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81380" y="4373804"/>
            <a:ext cx="259232" cy="259232"/>
          </a:xfrm>
          <a:prstGeom prst="rect">
            <a:avLst/>
          </a:prstGeom>
        </p:spPr>
      </p:pic>
      <p:sp>
        <p:nvSpPr>
          <p:cNvPr id="16" name="Text 11"/>
          <p:cNvSpPr txBox="1"/>
          <p:nvPr/>
        </p:nvSpPr>
        <p:spPr>
          <a:xfrm>
            <a:off x="1600200" y="4069080"/>
            <a:ext cx="94183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700" dirty="0">
                <a:solidFill>
                  <a:srgbClr val="1B1B2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Bu haqda sizga kim va qanday xabar beradi?</a:t>
            </a:r>
            <a:endParaRPr lang="en-US" sz="1700" dirty="0"/>
          </a:p>
        </p:txBody>
      </p:sp>
      <p:sp>
        <p:nvSpPr>
          <p:cNvPr id="17" name="Text 12"/>
          <p:cNvSpPr txBox="1"/>
          <p:nvPr/>
        </p:nvSpPr>
        <p:spPr>
          <a:xfrm>
            <a:off x="11018520" y="4069080"/>
            <a:ext cx="4114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lnSpc>
                <a:spcPct val="100000"/>
              </a:lnSpc>
              <a:buNone/>
            </a:pPr>
            <a:r>
              <a:rPr lang="en-US" sz="1800" b="1" dirty="0">
                <a:solidFill>
                  <a:srgbClr val="D9932B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2</a:t>
            </a:r>
            <a:endParaRPr lang="en-US" sz="1800" dirty="0"/>
          </a:p>
        </p:txBody>
      </p:sp>
      <p:sp>
        <p:nvSpPr>
          <p:cNvPr id="18" name="Shape 13"/>
          <p:cNvSpPr/>
          <p:nvPr/>
        </p:nvSpPr>
        <p:spPr>
          <a:xfrm>
            <a:off x="548640" y="5074920"/>
            <a:ext cx="11064240" cy="868680"/>
          </a:xfrm>
          <a:prstGeom prst="roundRect">
            <a:avLst>
              <a:gd name="adj" fmla="val 9474"/>
            </a:avLst>
          </a:prstGeom>
          <a:solidFill>
            <a:srgbClr val="FFFFFF"/>
          </a:solidFill>
          <a:ln/>
        </p:spPr>
        <p:txBody>
          <a:bodyPr/>
          <a:lstStyle/>
          <a:p>
            <a:endParaRPr lang="ru-RU"/>
          </a:p>
        </p:txBody>
      </p:sp>
      <p:sp>
        <p:nvSpPr>
          <p:cNvPr id="19" name="Shape 14"/>
          <p:cNvSpPr/>
          <p:nvPr/>
        </p:nvSpPr>
        <p:spPr>
          <a:xfrm>
            <a:off x="822960" y="5221224"/>
            <a:ext cx="576072" cy="576072"/>
          </a:xfrm>
          <a:prstGeom prst="ellipse">
            <a:avLst/>
          </a:prstGeom>
          <a:solidFill>
            <a:srgbClr val="D9932B"/>
          </a:solidFill>
          <a:ln/>
        </p:spPr>
        <p:txBody>
          <a:bodyPr/>
          <a:lstStyle/>
          <a:p>
            <a:endParaRPr lang="ru-RU"/>
          </a:p>
        </p:txBody>
      </p:sp>
      <p:pic>
        <p:nvPicPr>
          <p:cNvPr id="20" name="Image 3" descr="/home/claude/fob-slides/icons_out/question_whit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81380" y="5379644"/>
            <a:ext cx="259232" cy="259232"/>
          </a:xfrm>
          <a:prstGeom prst="rect">
            <a:avLst/>
          </a:prstGeom>
        </p:spPr>
      </p:pic>
      <p:sp>
        <p:nvSpPr>
          <p:cNvPr id="21" name="Text 15"/>
          <p:cNvSpPr txBox="1"/>
          <p:nvPr/>
        </p:nvSpPr>
        <p:spPr>
          <a:xfrm>
            <a:off x="1600200" y="5074920"/>
            <a:ext cx="94183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700" dirty="0">
                <a:solidFill>
                  <a:srgbClr val="1B1B2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Qayd yozuvini darhol o'chirish kerakmi yoki blokirovka qilish?</a:t>
            </a:r>
            <a:endParaRPr lang="en-US" sz="1700" dirty="0"/>
          </a:p>
        </p:txBody>
      </p:sp>
      <p:sp>
        <p:nvSpPr>
          <p:cNvPr id="22" name="Text 16"/>
          <p:cNvSpPr txBox="1"/>
          <p:nvPr/>
        </p:nvSpPr>
        <p:spPr>
          <a:xfrm>
            <a:off x="11018520" y="5074920"/>
            <a:ext cx="4114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lnSpc>
                <a:spcPct val="100000"/>
              </a:lnSpc>
              <a:buNone/>
            </a:pPr>
            <a:r>
              <a:rPr lang="en-US" sz="1800" b="1" dirty="0">
                <a:solidFill>
                  <a:srgbClr val="D9932B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3</a:t>
            </a:r>
            <a:endParaRPr lang="en-US" sz="1800" dirty="0"/>
          </a:p>
        </p:txBody>
      </p:sp>
      <p:sp>
        <p:nvSpPr>
          <p:cNvPr id="23" name="Text 17"/>
          <p:cNvSpPr txBox="1"/>
          <p:nvPr/>
        </p:nvSpPr>
        <p:spPr>
          <a:xfrm>
            <a:off x="548640" y="649224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9A5B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Foydalanishlarni boshqarish  ·  2-ma'ruza</a:t>
            </a:r>
            <a:endParaRPr lang="en-US" sz="1100" dirty="0"/>
          </a:p>
        </p:txBody>
      </p:sp>
      <p:sp>
        <p:nvSpPr>
          <p:cNvPr id="24" name="Text 18"/>
          <p:cNvSpPr txBox="1"/>
          <p:nvPr/>
        </p:nvSpPr>
        <p:spPr>
          <a:xfrm>
            <a:off x="11155680" y="649224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9A5B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5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1E276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463040" y="4206240"/>
            <a:ext cx="4572000" cy="4572000"/>
          </a:xfrm>
          <a:prstGeom prst="ellipse">
            <a:avLst/>
          </a:prstGeom>
          <a:solidFill>
            <a:srgbClr val="2A3778"/>
          </a:solidFill>
          <a:ln/>
        </p:spPr>
        <p:txBody>
          <a:bodyPr/>
          <a:lstStyle/>
          <a:p>
            <a:endParaRPr lang="ru-RU"/>
          </a:p>
        </p:txBody>
      </p:sp>
      <p:sp>
        <p:nvSpPr>
          <p:cNvPr id="3" name="Text 1"/>
          <p:cNvSpPr txBox="1"/>
          <p:nvPr/>
        </p:nvSpPr>
        <p:spPr>
          <a:xfrm>
            <a:off x="1005840" y="2286000"/>
            <a:ext cx="5486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kern="0" spc="300" dirty="0">
                <a:solidFill>
                  <a:srgbClr val="9FB0E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I BO'LIM</a:t>
            </a:r>
            <a:endParaRPr lang="en-US" sz="1600" dirty="0"/>
          </a:p>
        </p:txBody>
      </p:sp>
      <p:sp>
        <p:nvSpPr>
          <p:cNvPr id="4" name="Text 2"/>
          <p:cNvSpPr txBox="1"/>
          <p:nvPr/>
        </p:nvSpPr>
        <p:spPr>
          <a:xfrm>
            <a:off x="1005840" y="2724912"/>
            <a:ext cx="8229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400" b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Tamoyillar va tushunchalar</a:t>
            </a:r>
            <a:endParaRPr lang="en-US" sz="4400" dirty="0"/>
          </a:p>
        </p:txBody>
      </p:sp>
      <p:sp>
        <p:nvSpPr>
          <p:cNvPr id="5" name="Text 3"/>
          <p:cNvSpPr txBox="1"/>
          <p:nvPr/>
        </p:nvSpPr>
        <p:spPr>
          <a:xfrm>
            <a:off x="1005840" y="370332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dirty="0">
                <a:solidFill>
                  <a:srgbClr val="CADCFC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Identifikator · Qayd yozuvi · Imtiyoz · Ishonchli manba</a:t>
            </a:r>
            <a:endParaRPr lang="en-US" sz="2000" dirty="0"/>
          </a:p>
        </p:txBody>
      </p:sp>
      <p:sp>
        <p:nvSpPr>
          <p:cNvPr id="6" name="Text 4"/>
          <p:cNvSpPr txBox="1"/>
          <p:nvPr/>
        </p:nvSpPr>
        <p:spPr>
          <a:xfrm>
            <a:off x="9052560" y="1920240"/>
            <a:ext cx="2560320" cy="2743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0" b="1" dirty="0">
                <a:solidFill>
                  <a:srgbClr val="2A3778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I</a:t>
            </a:r>
            <a:endParaRPr lang="en-US" sz="13000" dirty="0"/>
          </a:p>
        </p:txBody>
      </p:sp>
      <p:sp>
        <p:nvSpPr>
          <p:cNvPr id="7" name="Text 5"/>
          <p:cNvSpPr txBox="1"/>
          <p:nvPr/>
        </p:nvSpPr>
        <p:spPr>
          <a:xfrm>
            <a:off x="548640" y="649224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9FB0E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Foydalanishlarni boshqarish  ·  2-ma'ruza</a:t>
            </a:r>
            <a:endParaRPr lang="en-US" sz="1100" dirty="0"/>
          </a:p>
        </p:txBody>
      </p:sp>
      <p:sp>
        <p:nvSpPr>
          <p:cNvPr id="8" name="Text 6"/>
          <p:cNvSpPr txBox="1"/>
          <p:nvPr/>
        </p:nvSpPr>
        <p:spPr>
          <a:xfrm>
            <a:off x="11155680" y="649224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9FB0E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6</a:t>
            </a:r>
            <a:endParaRPr lang="en-US" sz="1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47472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kern="0" spc="220" dirty="0">
                <a:solidFill>
                  <a:srgbClr val="5B627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ASOSIY TUSHUNCHALAR</a:t>
            </a:r>
            <a:endParaRPr lang="en-US" sz="16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731520"/>
            <a:ext cx="100584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95000"/>
              </a:lnSpc>
              <a:buNone/>
            </a:pPr>
            <a:r>
              <a:rPr lang="en-US" sz="3600" b="1" dirty="0">
                <a:solidFill>
                  <a:srgbClr val="1E276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Identifikator, qayd yozuvi va imtiyoz</a:t>
            </a:r>
            <a:endParaRPr lang="en-US" sz="36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737360"/>
            <a:ext cx="29260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600" b="1" dirty="0">
                <a:solidFill>
                  <a:srgbClr val="1E276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IDENTIFIKATOR</a:t>
            </a:r>
            <a:endParaRPr lang="en-US" sz="16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2103120"/>
            <a:ext cx="29260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400" dirty="0">
                <a:solidFill>
                  <a:srgbClr val="5B627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Shaxsning yagona raqamli ifodasi</a:t>
            </a:r>
            <a:endParaRPr lang="en-US" sz="1400" dirty="0"/>
          </a:p>
        </p:txBody>
      </p:sp>
      <p:sp>
        <p:nvSpPr>
          <p:cNvPr id="6" name="Text 4"/>
          <p:cNvSpPr txBox="1"/>
          <p:nvPr/>
        </p:nvSpPr>
        <p:spPr>
          <a:xfrm>
            <a:off x="4160520" y="1737360"/>
            <a:ext cx="35661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600" b="1" dirty="0">
                <a:solidFill>
                  <a:srgbClr val="1E276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QAYD YOZUVLARI</a:t>
            </a:r>
            <a:endParaRPr lang="en-US" sz="1600" dirty="0"/>
          </a:p>
        </p:txBody>
      </p:sp>
      <p:sp>
        <p:nvSpPr>
          <p:cNvPr id="7" name="Text 5"/>
          <p:cNvSpPr txBox="1"/>
          <p:nvPr/>
        </p:nvSpPr>
        <p:spPr>
          <a:xfrm>
            <a:off x="4160520" y="2103120"/>
            <a:ext cx="35661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400" dirty="0">
                <a:solidFill>
                  <a:srgbClr val="5B627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Har bir tizimdagi alohida yozuv</a:t>
            </a:r>
            <a:endParaRPr lang="en-US" sz="1400" dirty="0"/>
          </a:p>
        </p:txBody>
      </p:sp>
      <p:sp>
        <p:nvSpPr>
          <p:cNvPr id="8" name="Text 6"/>
          <p:cNvSpPr txBox="1"/>
          <p:nvPr/>
        </p:nvSpPr>
        <p:spPr>
          <a:xfrm>
            <a:off x="8229600" y="1737360"/>
            <a:ext cx="33832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600" b="1" dirty="0">
                <a:solidFill>
                  <a:srgbClr val="1E276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IMTIYOZLAR</a:t>
            </a:r>
            <a:endParaRPr lang="en-US" sz="1600" dirty="0"/>
          </a:p>
        </p:txBody>
      </p:sp>
      <p:sp>
        <p:nvSpPr>
          <p:cNvPr id="9" name="Text 7"/>
          <p:cNvSpPr txBox="1"/>
          <p:nvPr/>
        </p:nvSpPr>
        <p:spPr>
          <a:xfrm>
            <a:off x="8229600" y="2103120"/>
            <a:ext cx="33832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400" dirty="0">
                <a:solidFill>
                  <a:srgbClr val="5B627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Obyektdan foydalanish uchun aniqlangan ruxsat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548640" y="2743200"/>
            <a:ext cx="2926080" cy="2834640"/>
          </a:xfrm>
          <a:prstGeom prst="roundRect">
            <a:avLst>
              <a:gd name="adj" fmla="val 2903"/>
            </a:avLst>
          </a:prstGeom>
          <a:solidFill>
            <a:srgbClr val="1E2761"/>
          </a:solidFill>
          <a:ln/>
        </p:spPr>
        <p:txBody>
          <a:bodyPr/>
          <a:lstStyle/>
          <a:p>
            <a:endParaRPr lang="ru-RU"/>
          </a:p>
        </p:txBody>
      </p:sp>
      <p:sp>
        <p:nvSpPr>
          <p:cNvPr id="11" name="Shape 9"/>
          <p:cNvSpPr/>
          <p:nvPr/>
        </p:nvSpPr>
        <p:spPr>
          <a:xfrm>
            <a:off x="1673352" y="2926080"/>
            <a:ext cx="685800" cy="685800"/>
          </a:xfrm>
          <a:prstGeom prst="ellipse">
            <a:avLst/>
          </a:prstGeom>
          <a:solidFill>
            <a:srgbClr val="2A3778"/>
          </a:solidFill>
          <a:ln/>
        </p:spPr>
        <p:txBody>
          <a:bodyPr/>
          <a:lstStyle/>
          <a:p>
            <a:endParaRPr lang="ru-RU"/>
          </a:p>
        </p:txBody>
      </p:sp>
      <p:pic>
        <p:nvPicPr>
          <p:cNvPr id="12" name="Image 0" descr="/home/claude/fob-slides/icons_out/idcard_whit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37944" y="3090672"/>
            <a:ext cx="356616" cy="356616"/>
          </a:xfrm>
          <a:prstGeom prst="rect">
            <a:avLst/>
          </a:prstGeom>
        </p:spPr>
      </p:pic>
      <p:sp>
        <p:nvSpPr>
          <p:cNvPr id="13" name="Text 10"/>
          <p:cNvSpPr txBox="1"/>
          <p:nvPr/>
        </p:nvSpPr>
        <p:spPr>
          <a:xfrm>
            <a:off x="548640" y="3703320"/>
            <a:ext cx="2926080" cy="45720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2000" b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Aziz Karimov</a:t>
            </a:r>
            <a:endParaRPr lang="en-US" sz="2000" dirty="0"/>
          </a:p>
        </p:txBody>
      </p:sp>
      <p:sp>
        <p:nvSpPr>
          <p:cNvPr id="14" name="Text 11"/>
          <p:cNvSpPr txBox="1"/>
          <p:nvPr/>
        </p:nvSpPr>
        <p:spPr>
          <a:xfrm>
            <a:off x="548640" y="4160520"/>
            <a:ext cx="2926080" cy="36576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600" dirty="0">
                <a:solidFill>
                  <a:srgbClr val="CADCFC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ID: 10457</a:t>
            </a:r>
            <a:endParaRPr lang="en-US" sz="1600" dirty="0"/>
          </a:p>
        </p:txBody>
      </p:sp>
      <p:sp>
        <p:nvSpPr>
          <p:cNvPr id="15" name="Text 12"/>
          <p:cNvSpPr txBox="1"/>
          <p:nvPr/>
        </p:nvSpPr>
        <p:spPr>
          <a:xfrm>
            <a:off x="548640" y="4526280"/>
            <a:ext cx="2926080" cy="36576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600" dirty="0">
                <a:solidFill>
                  <a:srgbClr val="CADCFC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katta o'qituvchi</a:t>
            </a:r>
            <a:endParaRPr lang="en-US" sz="1600" dirty="0"/>
          </a:p>
        </p:txBody>
      </p:sp>
      <p:sp>
        <p:nvSpPr>
          <p:cNvPr id="16" name="Text 13"/>
          <p:cNvSpPr txBox="1"/>
          <p:nvPr/>
        </p:nvSpPr>
        <p:spPr>
          <a:xfrm>
            <a:off x="548640" y="4983480"/>
            <a:ext cx="2926080" cy="36576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400" dirty="0">
                <a:solidFill>
                  <a:srgbClr val="9FB0E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manba: HR tizimi</a:t>
            </a:r>
            <a:endParaRPr lang="en-US" sz="1400" dirty="0"/>
          </a:p>
        </p:txBody>
      </p:sp>
      <p:sp>
        <p:nvSpPr>
          <p:cNvPr id="17" name="Shape 14"/>
          <p:cNvSpPr/>
          <p:nvPr/>
        </p:nvSpPr>
        <p:spPr>
          <a:xfrm>
            <a:off x="4160520" y="2743200"/>
            <a:ext cx="3566160" cy="585216"/>
          </a:xfrm>
          <a:prstGeom prst="roundRect">
            <a:avLst>
              <a:gd name="adj" fmla="val 14063"/>
            </a:avLst>
          </a:prstGeom>
          <a:solidFill>
            <a:srgbClr val="EEF2FB"/>
          </a:solidFill>
          <a:ln/>
        </p:spPr>
        <p:txBody>
          <a:bodyPr/>
          <a:lstStyle/>
          <a:p>
            <a:endParaRPr lang="ru-RU"/>
          </a:p>
        </p:txBody>
      </p:sp>
      <p:sp>
        <p:nvSpPr>
          <p:cNvPr id="18" name="Text 15"/>
          <p:cNvSpPr txBox="1"/>
          <p:nvPr/>
        </p:nvSpPr>
        <p:spPr>
          <a:xfrm>
            <a:off x="4343400" y="2743200"/>
            <a:ext cx="329184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600" b="1" dirty="0">
                <a:solidFill>
                  <a:srgbClr val="1E276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AD: a.karimov</a:t>
            </a:r>
            <a:endParaRPr lang="en-US" sz="1600" dirty="0"/>
          </a:p>
        </p:txBody>
      </p:sp>
      <p:sp>
        <p:nvSpPr>
          <p:cNvPr id="19" name="Shape 16"/>
          <p:cNvSpPr/>
          <p:nvPr/>
        </p:nvSpPr>
        <p:spPr>
          <a:xfrm>
            <a:off x="8229600" y="2743200"/>
            <a:ext cx="3383280" cy="585216"/>
          </a:xfrm>
          <a:prstGeom prst="roundRect">
            <a:avLst>
              <a:gd name="adj" fmla="val 14063"/>
            </a:avLst>
          </a:prstGeom>
          <a:solidFill>
            <a:srgbClr val="FFFFFF"/>
          </a:solidFill>
          <a:ln w="12700">
            <a:solidFill>
              <a:srgbClr val="CADCFC"/>
            </a:solidFill>
            <a:prstDash val="solid"/>
          </a:ln>
        </p:spPr>
        <p:txBody>
          <a:bodyPr/>
          <a:lstStyle/>
          <a:p>
            <a:endParaRPr lang="ru-RU"/>
          </a:p>
        </p:txBody>
      </p:sp>
      <p:sp>
        <p:nvSpPr>
          <p:cNvPr id="20" name="Text 17"/>
          <p:cNvSpPr txBox="1"/>
          <p:nvPr/>
        </p:nvSpPr>
        <p:spPr>
          <a:xfrm>
            <a:off x="8366760" y="2743200"/>
            <a:ext cx="315468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600" dirty="0">
                <a:solidFill>
                  <a:srgbClr val="1B1B2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Kafedra papkasi: o'qish, yozish</a:t>
            </a:r>
            <a:endParaRPr lang="en-US" sz="1600" dirty="0"/>
          </a:p>
        </p:txBody>
      </p:sp>
      <p:sp>
        <p:nvSpPr>
          <p:cNvPr id="21" name="Shape 18"/>
          <p:cNvSpPr/>
          <p:nvPr/>
        </p:nvSpPr>
        <p:spPr>
          <a:xfrm flipV="1">
            <a:off x="3520440" y="3035808"/>
            <a:ext cx="594360" cy="1124712"/>
          </a:xfrm>
          <a:prstGeom prst="line">
            <a:avLst/>
          </a:prstGeom>
          <a:noFill/>
          <a:ln w="22225">
            <a:solidFill>
              <a:srgbClr val="1E2761"/>
            </a:solidFill>
            <a:prstDash val="solid"/>
            <a:tailEnd type="triangle"/>
          </a:ln>
        </p:spPr>
        <p:txBody>
          <a:bodyPr/>
          <a:lstStyle/>
          <a:p>
            <a:endParaRPr lang="ru-RU"/>
          </a:p>
        </p:txBody>
      </p:sp>
      <p:sp>
        <p:nvSpPr>
          <p:cNvPr id="22" name="Shape 19"/>
          <p:cNvSpPr/>
          <p:nvPr/>
        </p:nvSpPr>
        <p:spPr>
          <a:xfrm>
            <a:off x="7772400" y="3035808"/>
            <a:ext cx="411480" cy="0"/>
          </a:xfrm>
          <a:prstGeom prst="line">
            <a:avLst/>
          </a:prstGeom>
          <a:noFill/>
          <a:ln w="22225">
            <a:solidFill>
              <a:srgbClr val="1E2761"/>
            </a:solidFill>
            <a:prstDash val="solid"/>
            <a:tailEnd type="triangle"/>
          </a:ln>
        </p:spPr>
        <p:txBody>
          <a:bodyPr/>
          <a:lstStyle/>
          <a:p>
            <a:endParaRPr lang="ru-RU"/>
          </a:p>
        </p:txBody>
      </p:sp>
      <p:sp>
        <p:nvSpPr>
          <p:cNvPr id="23" name="Shape 20"/>
          <p:cNvSpPr/>
          <p:nvPr/>
        </p:nvSpPr>
        <p:spPr>
          <a:xfrm>
            <a:off x="4160520" y="3493008"/>
            <a:ext cx="3566160" cy="585216"/>
          </a:xfrm>
          <a:prstGeom prst="roundRect">
            <a:avLst>
              <a:gd name="adj" fmla="val 14063"/>
            </a:avLst>
          </a:prstGeom>
          <a:solidFill>
            <a:srgbClr val="EEF2FB"/>
          </a:solidFill>
          <a:ln/>
        </p:spPr>
        <p:txBody>
          <a:bodyPr/>
          <a:lstStyle/>
          <a:p>
            <a:endParaRPr lang="ru-RU"/>
          </a:p>
        </p:txBody>
      </p:sp>
      <p:sp>
        <p:nvSpPr>
          <p:cNvPr id="24" name="Text 21"/>
          <p:cNvSpPr txBox="1"/>
          <p:nvPr/>
        </p:nvSpPr>
        <p:spPr>
          <a:xfrm>
            <a:off x="4343400" y="3493008"/>
            <a:ext cx="329184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600" b="1" dirty="0">
                <a:solidFill>
                  <a:srgbClr val="1E276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Pochta: a.karimov@…</a:t>
            </a:r>
            <a:endParaRPr lang="en-US" sz="1600" dirty="0"/>
          </a:p>
        </p:txBody>
      </p:sp>
      <p:sp>
        <p:nvSpPr>
          <p:cNvPr id="25" name="Shape 22"/>
          <p:cNvSpPr/>
          <p:nvPr/>
        </p:nvSpPr>
        <p:spPr>
          <a:xfrm>
            <a:off x="8229600" y="3493008"/>
            <a:ext cx="3383280" cy="585216"/>
          </a:xfrm>
          <a:prstGeom prst="roundRect">
            <a:avLst>
              <a:gd name="adj" fmla="val 14063"/>
            </a:avLst>
          </a:prstGeom>
          <a:solidFill>
            <a:srgbClr val="FFFFFF"/>
          </a:solidFill>
          <a:ln w="12700">
            <a:solidFill>
              <a:srgbClr val="CADCFC"/>
            </a:solidFill>
            <a:prstDash val="solid"/>
          </a:ln>
        </p:spPr>
        <p:txBody>
          <a:bodyPr/>
          <a:lstStyle/>
          <a:p>
            <a:endParaRPr lang="ru-RU"/>
          </a:p>
        </p:txBody>
      </p:sp>
      <p:sp>
        <p:nvSpPr>
          <p:cNvPr id="26" name="Text 23"/>
          <p:cNvSpPr txBox="1"/>
          <p:nvPr/>
        </p:nvSpPr>
        <p:spPr>
          <a:xfrm>
            <a:off x="8366760" y="3493008"/>
            <a:ext cx="315468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600" dirty="0">
                <a:solidFill>
                  <a:srgbClr val="1B1B2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Pochta qutisi: to'liq</a:t>
            </a:r>
            <a:endParaRPr lang="en-US" sz="1600" dirty="0"/>
          </a:p>
        </p:txBody>
      </p:sp>
      <p:sp>
        <p:nvSpPr>
          <p:cNvPr id="27" name="Shape 24"/>
          <p:cNvSpPr/>
          <p:nvPr/>
        </p:nvSpPr>
        <p:spPr>
          <a:xfrm flipV="1">
            <a:off x="3520440" y="3785616"/>
            <a:ext cx="594360" cy="374904"/>
          </a:xfrm>
          <a:prstGeom prst="line">
            <a:avLst/>
          </a:prstGeom>
          <a:noFill/>
          <a:ln w="22225">
            <a:solidFill>
              <a:srgbClr val="1E2761"/>
            </a:solidFill>
            <a:prstDash val="solid"/>
            <a:tailEnd type="triangle"/>
          </a:ln>
        </p:spPr>
        <p:txBody>
          <a:bodyPr/>
          <a:lstStyle/>
          <a:p>
            <a:endParaRPr lang="ru-RU"/>
          </a:p>
        </p:txBody>
      </p:sp>
      <p:sp>
        <p:nvSpPr>
          <p:cNvPr id="28" name="Shape 25"/>
          <p:cNvSpPr/>
          <p:nvPr/>
        </p:nvSpPr>
        <p:spPr>
          <a:xfrm>
            <a:off x="7772400" y="3785616"/>
            <a:ext cx="411480" cy="0"/>
          </a:xfrm>
          <a:prstGeom prst="line">
            <a:avLst/>
          </a:prstGeom>
          <a:noFill/>
          <a:ln w="22225">
            <a:solidFill>
              <a:srgbClr val="1E2761"/>
            </a:solidFill>
            <a:prstDash val="solid"/>
            <a:tailEnd type="triangle"/>
          </a:ln>
        </p:spPr>
        <p:txBody>
          <a:bodyPr/>
          <a:lstStyle/>
          <a:p>
            <a:endParaRPr lang="ru-RU"/>
          </a:p>
        </p:txBody>
      </p:sp>
      <p:sp>
        <p:nvSpPr>
          <p:cNvPr id="29" name="Shape 26"/>
          <p:cNvSpPr/>
          <p:nvPr/>
        </p:nvSpPr>
        <p:spPr>
          <a:xfrm>
            <a:off x="4160520" y="4242816"/>
            <a:ext cx="3566160" cy="585216"/>
          </a:xfrm>
          <a:prstGeom prst="roundRect">
            <a:avLst>
              <a:gd name="adj" fmla="val 14063"/>
            </a:avLst>
          </a:prstGeom>
          <a:solidFill>
            <a:srgbClr val="EEF2FB"/>
          </a:solidFill>
          <a:ln/>
        </p:spPr>
        <p:txBody>
          <a:bodyPr/>
          <a:lstStyle/>
          <a:p>
            <a:endParaRPr lang="ru-RU"/>
          </a:p>
        </p:txBody>
      </p:sp>
      <p:sp>
        <p:nvSpPr>
          <p:cNvPr id="30" name="Text 27"/>
          <p:cNvSpPr txBox="1"/>
          <p:nvPr/>
        </p:nvSpPr>
        <p:spPr>
          <a:xfrm>
            <a:off x="4343400" y="4242816"/>
            <a:ext cx="329184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600" b="1" dirty="0">
                <a:solidFill>
                  <a:srgbClr val="1E276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HEMIS: o'qituvchi</a:t>
            </a:r>
            <a:endParaRPr lang="en-US" sz="1600" dirty="0"/>
          </a:p>
        </p:txBody>
      </p:sp>
      <p:sp>
        <p:nvSpPr>
          <p:cNvPr id="31" name="Shape 28"/>
          <p:cNvSpPr/>
          <p:nvPr/>
        </p:nvSpPr>
        <p:spPr>
          <a:xfrm>
            <a:off x="8229600" y="4242816"/>
            <a:ext cx="3383280" cy="585216"/>
          </a:xfrm>
          <a:prstGeom prst="roundRect">
            <a:avLst>
              <a:gd name="adj" fmla="val 14063"/>
            </a:avLst>
          </a:prstGeom>
          <a:solidFill>
            <a:srgbClr val="FFFFFF"/>
          </a:solidFill>
          <a:ln w="12700">
            <a:solidFill>
              <a:srgbClr val="CADCFC"/>
            </a:solidFill>
            <a:prstDash val="solid"/>
          </a:ln>
        </p:spPr>
        <p:txBody>
          <a:bodyPr/>
          <a:lstStyle/>
          <a:p>
            <a:endParaRPr lang="ru-RU"/>
          </a:p>
        </p:txBody>
      </p:sp>
      <p:sp>
        <p:nvSpPr>
          <p:cNvPr id="32" name="Text 29"/>
          <p:cNvSpPr txBox="1"/>
          <p:nvPr/>
        </p:nvSpPr>
        <p:spPr>
          <a:xfrm>
            <a:off x="8366760" y="4242816"/>
            <a:ext cx="315468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600" dirty="0">
                <a:solidFill>
                  <a:srgbClr val="1B1B2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Baho kiritish: 3 guruh</a:t>
            </a:r>
            <a:endParaRPr lang="en-US" sz="1600" dirty="0"/>
          </a:p>
        </p:txBody>
      </p:sp>
      <p:sp>
        <p:nvSpPr>
          <p:cNvPr id="33" name="Shape 30"/>
          <p:cNvSpPr/>
          <p:nvPr/>
        </p:nvSpPr>
        <p:spPr>
          <a:xfrm>
            <a:off x="3520440" y="4160520"/>
            <a:ext cx="594360" cy="374904"/>
          </a:xfrm>
          <a:prstGeom prst="line">
            <a:avLst/>
          </a:prstGeom>
          <a:noFill/>
          <a:ln w="22225">
            <a:solidFill>
              <a:srgbClr val="1E2761"/>
            </a:solidFill>
            <a:prstDash val="solid"/>
            <a:tailEnd type="triangle"/>
          </a:ln>
        </p:spPr>
        <p:txBody>
          <a:bodyPr/>
          <a:lstStyle/>
          <a:p>
            <a:endParaRPr lang="ru-RU"/>
          </a:p>
        </p:txBody>
      </p:sp>
      <p:sp>
        <p:nvSpPr>
          <p:cNvPr id="34" name="Shape 31"/>
          <p:cNvSpPr/>
          <p:nvPr/>
        </p:nvSpPr>
        <p:spPr>
          <a:xfrm>
            <a:off x="7772400" y="4535424"/>
            <a:ext cx="411480" cy="0"/>
          </a:xfrm>
          <a:prstGeom prst="line">
            <a:avLst/>
          </a:prstGeom>
          <a:noFill/>
          <a:ln w="22225">
            <a:solidFill>
              <a:srgbClr val="1E2761"/>
            </a:solidFill>
            <a:prstDash val="solid"/>
            <a:tailEnd type="triangle"/>
          </a:ln>
        </p:spPr>
        <p:txBody>
          <a:bodyPr/>
          <a:lstStyle/>
          <a:p>
            <a:endParaRPr lang="ru-RU"/>
          </a:p>
        </p:txBody>
      </p:sp>
      <p:sp>
        <p:nvSpPr>
          <p:cNvPr id="35" name="Shape 32"/>
          <p:cNvSpPr/>
          <p:nvPr/>
        </p:nvSpPr>
        <p:spPr>
          <a:xfrm>
            <a:off x="4160520" y="4992624"/>
            <a:ext cx="3566160" cy="585216"/>
          </a:xfrm>
          <a:prstGeom prst="roundRect">
            <a:avLst>
              <a:gd name="adj" fmla="val 14063"/>
            </a:avLst>
          </a:prstGeom>
          <a:solidFill>
            <a:srgbClr val="EEF2FB"/>
          </a:solidFill>
          <a:ln/>
        </p:spPr>
        <p:txBody>
          <a:bodyPr/>
          <a:lstStyle/>
          <a:p>
            <a:endParaRPr lang="ru-RU"/>
          </a:p>
        </p:txBody>
      </p:sp>
      <p:sp>
        <p:nvSpPr>
          <p:cNvPr id="36" name="Text 33"/>
          <p:cNvSpPr txBox="1"/>
          <p:nvPr/>
        </p:nvSpPr>
        <p:spPr>
          <a:xfrm>
            <a:off x="4343400" y="4992624"/>
            <a:ext cx="329184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600" b="1" dirty="0">
                <a:solidFill>
                  <a:srgbClr val="1E276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VPN: a.karimov</a:t>
            </a:r>
            <a:endParaRPr lang="en-US" sz="1600" dirty="0"/>
          </a:p>
        </p:txBody>
      </p:sp>
      <p:sp>
        <p:nvSpPr>
          <p:cNvPr id="37" name="Shape 34"/>
          <p:cNvSpPr/>
          <p:nvPr/>
        </p:nvSpPr>
        <p:spPr>
          <a:xfrm>
            <a:off x="8229600" y="4992624"/>
            <a:ext cx="3383280" cy="585216"/>
          </a:xfrm>
          <a:prstGeom prst="roundRect">
            <a:avLst>
              <a:gd name="adj" fmla="val 14063"/>
            </a:avLst>
          </a:prstGeom>
          <a:solidFill>
            <a:srgbClr val="FFFFFF"/>
          </a:solidFill>
          <a:ln w="12700">
            <a:solidFill>
              <a:srgbClr val="CADCFC"/>
            </a:solidFill>
            <a:prstDash val="solid"/>
          </a:ln>
        </p:spPr>
        <p:txBody>
          <a:bodyPr/>
          <a:lstStyle/>
          <a:p>
            <a:endParaRPr lang="ru-RU"/>
          </a:p>
        </p:txBody>
      </p:sp>
      <p:sp>
        <p:nvSpPr>
          <p:cNvPr id="38" name="Text 35"/>
          <p:cNvSpPr txBox="1"/>
          <p:nvPr/>
        </p:nvSpPr>
        <p:spPr>
          <a:xfrm>
            <a:off x="8366760" y="4992624"/>
            <a:ext cx="315468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600" dirty="0">
                <a:solidFill>
                  <a:srgbClr val="1B1B2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Ichki tarmoq: ulanish</a:t>
            </a:r>
            <a:endParaRPr lang="en-US" sz="1600" dirty="0"/>
          </a:p>
        </p:txBody>
      </p:sp>
      <p:sp>
        <p:nvSpPr>
          <p:cNvPr id="39" name="Shape 36"/>
          <p:cNvSpPr/>
          <p:nvPr/>
        </p:nvSpPr>
        <p:spPr>
          <a:xfrm>
            <a:off x="3520440" y="4160520"/>
            <a:ext cx="594360" cy="1124712"/>
          </a:xfrm>
          <a:prstGeom prst="line">
            <a:avLst/>
          </a:prstGeom>
          <a:noFill/>
          <a:ln w="22225">
            <a:solidFill>
              <a:srgbClr val="1E2761"/>
            </a:solidFill>
            <a:prstDash val="solid"/>
            <a:tailEnd type="triangle"/>
          </a:ln>
        </p:spPr>
        <p:txBody>
          <a:bodyPr/>
          <a:lstStyle/>
          <a:p>
            <a:endParaRPr lang="ru-RU"/>
          </a:p>
        </p:txBody>
      </p:sp>
      <p:sp>
        <p:nvSpPr>
          <p:cNvPr id="40" name="Shape 37"/>
          <p:cNvSpPr/>
          <p:nvPr/>
        </p:nvSpPr>
        <p:spPr>
          <a:xfrm>
            <a:off x="7772400" y="5285232"/>
            <a:ext cx="411480" cy="0"/>
          </a:xfrm>
          <a:prstGeom prst="line">
            <a:avLst/>
          </a:prstGeom>
          <a:noFill/>
          <a:ln w="22225">
            <a:solidFill>
              <a:srgbClr val="1E2761"/>
            </a:solidFill>
            <a:prstDash val="solid"/>
            <a:tailEnd type="triangle"/>
          </a:ln>
        </p:spPr>
        <p:txBody>
          <a:bodyPr/>
          <a:lstStyle/>
          <a:p>
            <a:endParaRPr lang="ru-RU"/>
          </a:p>
        </p:txBody>
      </p:sp>
      <p:sp>
        <p:nvSpPr>
          <p:cNvPr id="41" name="Text 38"/>
          <p:cNvSpPr txBox="1"/>
          <p:nvPr/>
        </p:nvSpPr>
        <p:spPr>
          <a:xfrm>
            <a:off x="548640" y="5852160"/>
            <a:ext cx="11064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600" dirty="0">
                <a:solidFill>
                  <a:srgbClr val="1E276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Bitta shaxs → bitta identifikator → ko'p qayd yozuvi → ko'p imtiyoz. Ketganda — hammasi birdan yopilishi kerak.</a:t>
            </a:r>
            <a:endParaRPr lang="en-US" sz="1600" dirty="0"/>
          </a:p>
        </p:txBody>
      </p:sp>
      <p:sp>
        <p:nvSpPr>
          <p:cNvPr id="42" name="Text 39"/>
          <p:cNvSpPr txBox="1"/>
          <p:nvPr/>
        </p:nvSpPr>
        <p:spPr>
          <a:xfrm>
            <a:off x="548640" y="649224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B627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Foydalanishlarni boshqarish  ·  2-ma'ruza</a:t>
            </a:r>
            <a:endParaRPr lang="en-US" sz="1100" dirty="0"/>
          </a:p>
        </p:txBody>
      </p:sp>
      <p:sp>
        <p:nvSpPr>
          <p:cNvPr id="43" name="Text 40"/>
          <p:cNvSpPr txBox="1"/>
          <p:nvPr/>
        </p:nvSpPr>
        <p:spPr>
          <a:xfrm>
            <a:off x="11155680" y="649224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5B627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7</a:t>
            </a:r>
            <a:endParaRPr lang="en-US" sz="11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47472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kern="0" spc="220" dirty="0">
                <a:solidFill>
                  <a:srgbClr val="5B627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TAMOYILLAR</a:t>
            </a:r>
            <a:endParaRPr lang="en-US" sz="16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731520"/>
            <a:ext cx="100584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95000"/>
              </a:lnSpc>
              <a:buNone/>
            </a:pPr>
            <a:r>
              <a:rPr lang="en-US" sz="3600" b="1" dirty="0">
                <a:solidFill>
                  <a:srgbClr val="1E276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Foydalanishni boshqarishning oltita tamoyili</a:t>
            </a:r>
            <a:endParaRPr lang="en-US" sz="3600" dirty="0"/>
          </a:p>
        </p:txBody>
      </p:sp>
      <p:sp>
        <p:nvSpPr>
          <p:cNvPr id="4" name="Shape 2"/>
          <p:cNvSpPr/>
          <p:nvPr/>
        </p:nvSpPr>
        <p:spPr>
          <a:xfrm>
            <a:off x="548640" y="1783080"/>
            <a:ext cx="3566160" cy="1920240"/>
          </a:xfrm>
          <a:prstGeom prst="roundRect">
            <a:avLst>
              <a:gd name="adj" fmla="val 4286"/>
            </a:avLst>
          </a:prstGeom>
          <a:solidFill>
            <a:srgbClr val="EEF2FB"/>
          </a:solidFill>
          <a:ln/>
        </p:spPr>
        <p:txBody>
          <a:bodyPr/>
          <a:lstStyle/>
          <a:p>
            <a:endParaRPr lang="ru-RU"/>
          </a:p>
        </p:txBody>
      </p:sp>
      <p:sp>
        <p:nvSpPr>
          <p:cNvPr id="5" name="Shape 3"/>
          <p:cNvSpPr/>
          <p:nvPr/>
        </p:nvSpPr>
        <p:spPr>
          <a:xfrm>
            <a:off x="777240" y="2011680"/>
            <a:ext cx="566928" cy="566928"/>
          </a:xfrm>
          <a:prstGeom prst="ellipse">
            <a:avLst/>
          </a:prstGeom>
          <a:solidFill>
            <a:srgbClr val="1E2761"/>
          </a:solidFill>
          <a:ln/>
        </p:spPr>
        <p:txBody>
          <a:bodyPr/>
          <a:lstStyle/>
          <a:p>
            <a:endParaRPr lang="ru-RU"/>
          </a:p>
        </p:txBody>
      </p:sp>
      <p:pic>
        <p:nvPicPr>
          <p:cNvPr id="6" name="Image 0" descr="/home/claude/fob-slides/icons_out/key_whit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04799" y="2139239"/>
            <a:ext cx="311810" cy="311810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1508760" y="1965960"/>
            <a:ext cx="24688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2000" b="1" dirty="0">
                <a:solidFill>
                  <a:srgbClr val="1E276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Eng kam imtiyoz</a:t>
            </a:r>
            <a:endParaRPr lang="en-US" sz="2000" dirty="0"/>
          </a:p>
        </p:txBody>
      </p:sp>
      <p:sp>
        <p:nvSpPr>
          <p:cNvPr id="8" name="Text 5"/>
          <p:cNvSpPr txBox="1"/>
          <p:nvPr/>
        </p:nvSpPr>
        <p:spPr>
          <a:xfrm>
            <a:off x="1508760" y="2331720"/>
            <a:ext cx="24688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400" dirty="0">
                <a:solidFill>
                  <a:srgbClr val="5B627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least privilege</a:t>
            </a:r>
            <a:endParaRPr lang="en-US" sz="1400" dirty="0"/>
          </a:p>
        </p:txBody>
      </p:sp>
      <p:sp>
        <p:nvSpPr>
          <p:cNvPr id="9" name="Text 6"/>
          <p:cNvSpPr txBox="1"/>
          <p:nvPr/>
        </p:nvSpPr>
        <p:spPr>
          <a:xfrm>
            <a:off x="777240" y="2743200"/>
            <a:ext cx="3108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5000"/>
              </a:lnSpc>
              <a:buNone/>
            </a:pPr>
            <a:r>
              <a:rPr lang="en-US" sz="1600" dirty="0">
                <a:solidFill>
                  <a:srgbClr val="1B1B2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Faqat vazifa uchun zarur imtiyozlar beriladi.</a:t>
            </a:r>
            <a:endParaRPr lang="en-US" sz="1600" dirty="0"/>
          </a:p>
        </p:txBody>
      </p:sp>
      <p:sp>
        <p:nvSpPr>
          <p:cNvPr id="10" name="Shape 7"/>
          <p:cNvSpPr/>
          <p:nvPr/>
        </p:nvSpPr>
        <p:spPr>
          <a:xfrm>
            <a:off x="4297680" y="1783080"/>
            <a:ext cx="3566160" cy="1920240"/>
          </a:xfrm>
          <a:prstGeom prst="roundRect">
            <a:avLst>
              <a:gd name="adj" fmla="val 4286"/>
            </a:avLst>
          </a:prstGeom>
          <a:solidFill>
            <a:srgbClr val="EEF2FB"/>
          </a:solidFill>
          <a:ln/>
        </p:spPr>
        <p:txBody>
          <a:bodyPr/>
          <a:lstStyle/>
          <a:p>
            <a:endParaRPr lang="ru-RU"/>
          </a:p>
        </p:txBody>
      </p:sp>
      <p:sp>
        <p:nvSpPr>
          <p:cNvPr id="11" name="Shape 8"/>
          <p:cNvSpPr/>
          <p:nvPr/>
        </p:nvSpPr>
        <p:spPr>
          <a:xfrm>
            <a:off x="4526280" y="2011680"/>
            <a:ext cx="566928" cy="566928"/>
          </a:xfrm>
          <a:prstGeom prst="ellipse">
            <a:avLst/>
          </a:prstGeom>
          <a:solidFill>
            <a:srgbClr val="1E2761"/>
          </a:solidFill>
          <a:ln/>
        </p:spPr>
        <p:txBody>
          <a:bodyPr/>
          <a:lstStyle/>
          <a:p>
            <a:endParaRPr lang="ru-RU"/>
          </a:p>
        </p:txBody>
      </p:sp>
      <p:pic>
        <p:nvPicPr>
          <p:cNvPr id="12" name="Image 1" descr="/home/claude/fob-slides/icons_out/balance_whit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653839" y="2139239"/>
            <a:ext cx="311810" cy="311810"/>
          </a:xfrm>
          <a:prstGeom prst="rect">
            <a:avLst/>
          </a:prstGeom>
        </p:spPr>
      </p:pic>
      <p:sp>
        <p:nvSpPr>
          <p:cNvPr id="13" name="Text 9"/>
          <p:cNvSpPr txBox="1"/>
          <p:nvPr/>
        </p:nvSpPr>
        <p:spPr>
          <a:xfrm>
            <a:off x="5257800" y="1965960"/>
            <a:ext cx="24688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2000" b="1" dirty="0">
                <a:solidFill>
                  <a:srgbClr val="1E276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Vazifalarni ajratish</a:t>
            </a:r>
            <a:endParaRPr lang="en-US" sz="2000" dirty="0"/>
          </a:p>
        </p:txBody>
      </p:sp>
      <p:sp>
        <p:nvSpPr>
          <p:cNvPr id="14" name="Text 10"/>
          <p:cNvSpPr txBox="1"/>
          <p:nvPr/>
        </p:nvSpPr>
        <p:spPr>
          <a:xfrm>
            <a:off x="5257800" y="2331720"/>
            <a:ext cx="24688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400" dirty="0">
                <a:solidFill>
                  <a:srgbClr val="5B627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separation of duties</a:t>
            </a:r>
            <a:endParaRPr lang="en-US" sz="1400" dirty="0"/>
          </a:p>
        </p:txBody>
      </p:sp>
      <p:sp>
        <p:nvSpPr>
          <p:cNvPr id="15" name="Text 11"/>
          <p:cNvSpPr txBox="1"/>
          <p:nvPr/>
        </p:nvSpPr>
        <p:spPr>
          <a:xfrm>
            <a:off x="4526280" y="2743200"/>
            <a:ext cx="3108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5000"/>
              </a:lnSpc>
              <a:buNone/>
            </a:pPr>
            <a:r>
              <a:rPr lang="en-US" sz="1600" dirty="0">
                <a:solidFill>
                  <a:srgbClr val="1B1B2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Muhim jarayon bir necha shaxsga bo'linadi.</a:t>
            </a:r>
            <a:endParaRPr lang="en-US" sz="1600" dirty="0"/>
          </a:p>
        </p:txBody>
      </p:sp>
      <p:sp>
        <p:nvSpPr>
          <p:cNvPr id="16" name="Shape 12"/>
          <p:cNvSpPr/>
          <p:nvPr/>
        </p:nvSpPr>
        <p:spPr>
          <a:xfrm>
            <a:off x="8046720" y="1783080"/>
            <a:ext cx="3566160" cy="1920240"/>
          </a:xfrm>
          <a:prstGeom prst="roundRect">
            <a:avLst>
              <a:gd name="adj" fmla="val 4286"/>
            </a:avLst>
          </a:prstGeom>
          <a:solidFill>
            <a:srgbClr val="EEF2FB"/>
          </a:solidFill>
          <a:ln/>
        </p:spPr>
        <p:txBody>
          <a:bodyPr/>
          <a:lstStyle/>
          <a:p>
            <a:endParaRPr lang="ru-RU"/>
          </a:p>
        </p:txBody>
      </p:sp>
      <p:sp>
        <p:nvSpPr>
          <p:cNvPr id="17" name="Shape 13"/>
          <p:cNvSpPr/>
          <p:nvPr/>
        </p:nvSpPr>
        <p:spPr>
          <a:xfrm>
            <a:off x="8275320" y="2011680"/>
            <a:ext cx="566928" cy="566928"/>
          </a:xfrm>
          <a:prstGeom prst="ellipse">
            <a:avLst/>
          </a:prstGeom>
          <a:solidFill>
            <a:srgbClr val="1E2761"/>
          </a:solidFill>
          <a:ln/>
        </p:spPr>
        <p:txBody>
          <a:bodyPr/>
          <a:lstStyle/>
          <a:p>
            <a:endParaRPr lang="ru-RU"/>
          </a:p>
        </p:txBody>
      </p:sp>
      <p:pic>
        <p:nvPicPr>
          <p:cNvPr id="18" name="Image 2" descr="/home/claude/fob-slides/icons_out/file_whit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402879" y="2139239"/>
            <a:ext cx="311810" cy="311810"/>
          </a:xfrm>
          <a:prstGeom prst="rect">
            <a:avLst/>
          </a:prstGeom>
        </p:spPr>
      </p:pic>
      <p:sp>
        <p:nvSpPr>
          <p:cNvPr id="19" name="Text 14"/>
          <p:cNvSpPr txBox="1"/>
          <p:nvPr/>
        </p:nvSpPr>
        <p:spPr>
          <a:xfrm>
            <a:off x="9006840" y="1965960"/>
            <a:ext cx="24688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2000" b="1" dirty="0">
                <a:solidFill>
                  <a:srgbClr val="1E276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Bilish zarurati</a:t>
            </a:r>
            <a:endParaRPr lang="en-US" sz="2000" dirty="0"/>
          </a:p>
        </p:txBody>
      </p:sp>
      <p:sp>
        <p:nvSpPr>
          <p:cNvPr id="20" name="Text 15"/>
          <p:cNvSpPr txBox="1"/>
          <p:nvPr/>
        </p:nvSpPr>
        <p:spPr>
          <a:xfrm>
            <a:off x="9006840" y="2331720"/>
            <a:ext cx="24688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400" dirty="0">
                <a:solidFill>
                  <a:srgbClr val="5B627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need-to-know</a:t>
            </a:r>
            <a:endParaRPr lang="en-US" sz="1400" dirty="0"/>
          </a:p>
        </p:txBody>
      </p:sp>
      <p:sp>
        <p:nvSpPr>
          <p:cNvPr id="21" name="Text 16"/>
          <p:cNvSpPr txBox="1"/>
          <p:nvPr/>
        </p:nvSpPr>
        <p:spPr>
          <a:xfrm>
            <a:off x="8275320" y="2743200"/>
            <a:ext cx="3108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5000"/>
              </a:lnSpc>
              <a:buNone/>
            </a:pPr>
            <a:r>
              <a:rPr lang="en-US" sz="1600" dirty="0">
                <a:solidFill>
                  <a:srgbClr val="1B1B2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Ma'lumotga faqat ish uchun kerak bo'lsa kiriladi.</a:t>
            </a:r>
            <a:endParaRPr lang="en-US" sz="1600" dirty="0"/>
          </a:p>
        </p:txBody>
      </p:sp>
      <p:sp>
        <p:nvSpPr>
          <p:cNvPr id="22" name="Shape 17"/>
          <p:cNvSpPr/>
          <p:nvPr/>
        </p:nvSpPr>
        <p:spPr>
          <a:xfrm>
            <a:off x="548640" y="3931920"/>
            <a:ext cx="3566160" cy="1920240"/>
          </a:xfrm>
          <a:prstGeom prst="roundRect">
            <a:avLst>
              <a:gd name="adj" fmla="val 4286"/>
            </a:avLst>
          </a:prstGeom>
          <a:solidFill>
            <a:srgbClr val="EEF2FB"/>
          </a:solidFill>
          <a:ln/>
        </p:spPr>
        <p:txBody>
          <a:bodyPr/>
          <a:lstStyle/>
          <a:p>
            <a:endParaRPr lang="ru-RU"/>
          </a:p>
        </p:txBody>
      </p:sp>
      <p:sp>
        <p:nvSpPr>
          <p:cNvPr id="23" name="Shape 18"/>
          <p:cNvSpPr/>
          <p:nvPr/>
        </p:nvSpPr>
        <p:spPr>
          <a:xfrm>
            <a:off x="777240" y="4160520"/>
            <a:ext cx="566928" cy="566928"/>
          </a:xfrm>
          <a:prstGeom prst="ellipse">
            <a:avLst/>
          </a:prstGeom>
          <a:solidFill>
            <a:srgbClr val="1E2761"/>
          </a:solidFill>
          <a:ln/>
        </p:spPr>
        <p:txBody>
          <a:bodyPr/>
          <a:lstStyle/>
          <a:p>
            <a:endParaRPr lang="ru-RU"/>
          </a:p>
        </p:txBody>
      </p:sp>
      <p:pic>
        <p:nvPicPr>
          <p:cNvPr id="24" name="Image 3" descr="/home/claude/fob-slides/icons_out/ban_whit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04799" y="4288079"/>
            <a:ext cx="311810" cy="311810"/>
          </a:xfrm>
          <a:prstGeom prst="rect">
            <a:avLst/>
          </a:prstGeom>
        </p:spPr>
      </p:pic>
      <p:sp>
        <p:nvSpPr>
          <p:cNvPr id="25" name="Text 19"/>
          <p:cNvSpPr txBox="1"/>
          <p:nvPr/>
        </p:nvSpPr>
        <p:spPr>
          <a:xfrm>
            <a:off x="1508760" y="4114800"/>
            <a:ext cx="24688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2000" b="1" dirty="0">
                <a:solidFill>
                  <a:srgbClr val="1E276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Standart rad etish</a:t>
            </a:r>
            <a:endParaRPr lang="en-US" sz="2000" dirty="0"/>
          </a:p>
        </p:txBody>
      </p:sp>
      <p:sp>
        <p:nvSpPr>
          <p:cNvPr id="26" name="Text 20"/>
          <p:cNvSpPr txBox="1"/>
          <p:nvPr/>
        </p:nvSpPr>
        <p:spPr>
          <a:xfrm>
            <a:off x="1508760" y="4480560"/>
            <a:ext cx="24688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400" dirty="0">
                <a:solidFill>
                  <a:srgbClr val="5B627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default deny</a:t>
            </a:r>
            <a:endParaRPr lang="en-US" sz="1400" dirty="0"/>
          </a:p>
        </p:txBody>
      </p:sp>
      <p:sp>
        <p:nvSpPr>
          <p:cNvPr id="27" name="Text 21"/>
          <p:cNvSpPr txBox="1"/>
          <p:nvPr/>
        </p:nvSpPr>
        <p:spPr>
          <a:xfrm>
            <a:off x="777240" y="4892040"/>
            <a:ext cx="3108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5000"/>
              </a:lnSpc>
              <a:buNone/>
            </a:pPr>
            <a:r>
              <a:rPr lang="en-US" sz="1600" dirty="0">
                <a:solidFill>
                  <a:srgbClr val="1B1B2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Aniq ruxsat berilmagan hamma narsa taqiqlangan.</a:t>
            </a:r>
            <a:endParaRPr lang="en-US" sz="1600" dirty="0"/>
          </a:p>
        </p:txBody>
      </p:sp>
      <p:sp>
        <p:nvSpPr>
          <p:cNvPr id="28" name="Shape 22"/>
          <p:cNvSpPr/>
          <p:nvPr/>
        </p:nvSpPr>
        <p:spPr>
          <a:xfrm>
            <a:off x="4297680" y="3931920"/>
            <a:ext cx="3566160" cy="1920240"/>
          </a:xfrm>
          <a:prstGeom prst="roundRect">
            <a:avLst>
              <a:gd name="adj" fmla="val 4286"/>
            </a:avLst>
          </a:prstGeom>
          <a:solidFill>
            <a:srgbClr val="EEF2FB"/>
          </a:solidFill>
          <a:ln/>
        </p:spPr>
        <p:txBody>
          <a:bodyPr/>
          <a:lstStyle/>
          <a:p>
            <a:endParaRPr lang="ru-RU"/>
          </a:p>
        </p:txBody>
      </p:sp>
      <p:sp>
        <p:nvSpPr>
          <p:cNvPr id="29" name="Shape 23"/>
          <p:cNvSpPr/>
          <p:nvPr/>
        </p:nvSpPr>
        <p:spPr>
          <a:xfrm>
            <a:off x="4526280" y="4160520"/>
            <a:ext cx="566928" cy="566928"/>
          </a:xfrm>
          <a:prstGeom prst="ellipse">
            <a:avLst/>
          </a:prstGeom>
          <a:solidFill>
            <a:srgbClr val="1E2761"/>
          </a:solidFill>
          <a:ln/>
        </p:spPr>
        <p:txBody>
          <a:bodyPr/>
          <a:lstStyle/>
          <a:p>
            <a:endParaRPr lang="ru-RU"/>
          </a:p>
        </p:txBody>
      </p:sp>
      <p:pic>
        <p:nvPicPr>
          <p:cNvPr id="30" name="Image 4" descr="/home/claude/fob-slides/icons_out/usercheck_whit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653839" y="4288079"/>
            <a:ext cx="311810" cy="311810"/>
          </a:xfrm>
          <a:prstGeom prst="rect">
            <a:avLst/>
          </a:prstGeom>
        </p:spPr>
      </p:pic>
      <p:sp>
        <p:nvSpPr>
          <p:cNvPr id="31" name="Text 24"/>
          <p:cNvSpPr txBox="1"/>
          <p:nvPr/>
        </p:nvSpPr>
        <p:spPr>
          <a:xfrm>
            <a:off x="5257800" y="4114800"/>
            <a:ext cx="24688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2000" b="1" dirty="0">
                <a:solidFill>
                  <a:srgbClr val="1E276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Hisobdorlik</a:t>
            </a:r>
            <a:endParaRPr lang="en-US" sz="2000" dirty="0"/>
          </a:p>
        </p:txBody>
      </p:sp>
      <p:sp>
        <p:nvSpPr>
          <p:cNvPr id="32" name="Text 25"/>
          <p:cNvSpPr txBox="1"/>
          <p:nvPr/>
        </p:nvSpPr>
        <p:spPr>
          <a:xfrm>
            <a:off x="5257800" y="4480560"/>
            <a:ext cx="24688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400" dirty="0">
                <a:solidFill>
                  <a:srgbClr val="5B627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accountability</a:t>
            </a:r>
            <a:endParaRPr lang="en-US" sz="1400" dirty="0"/>
          </a:p>
        </p:txBody>
      </p:sp>
      <p:sp>
        <p:nvSpPr>
          <p:cNvPr id="33" name="Text 26"/>
          <p:cNvSpPr txBox="1"/>
          <p:nvPr/>
        </p:nvSpPr>
        <p:spPr>
          <a:xfrm>
            <a:off x="4526280" y="4892040"/>
            <a:ext cx="3108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5000"/>
              </a:lnSpc>
              <a:buNone/>
            </a:pPr>
            <a:r>
              <a:rPr lang="en-US" sz="1600" dirty="0">
                <a:solidFill>
                  <a:srgbClr val="1B1B2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Har bir qayd yozuvi bitta aniq shaxsga bog'langan.</a:t>
            </a:r>
            <a:endParaRPr lang="en-US" sz="1600" dirty="0"/>
          </a:p>
        </p:txBody>
      </p:sp>
      <p:sp>
        <p:nvSpPr>
          <p:cNvPr id="34" name="Shape 27"/>
          <p:cNvSpPr/>
          <p:nvPr/>
        </p:nvSpPr>
        <p:spPr>
          <a:xfrm>
            <a:off x="8046720" y="3931920"/>
            <a:ext cx="3566160" cy="1920240"/>
          </a:xfrm>
          <a:prstGeom prst="roundRect">
            <a:avLst>
              <a:gd name="adj" fmla="val 4286"/>
            </a:avLst>
          </a:prstGeom>
          <a:solidFill>
            <a:srgbClr val="EEF2FB"/>
          </a:solidFill>
          <a:ln/>
        </p:spPr>
        <p:txBody>
          <a:bodyPr/>
          <a:lstStyle/>
          <a:p>
            <a:endParaRPr lang="ru-RU"/>
          </a:p>
        </p:txBody>
      </p:sp>
      <p:sp>
        <p:nvSpPr>
          <p:cNvPr id="35" name="Shape 28"/>
          <p:cNvSpPr/>
          <p:nvPr/>
        </p:nvSpPr>
        <p:spPr>
          <a:xfrm>
            <a:off x="8275320" y="4160520"/>
            <a:ext cx="566928" cy="566928"/>
          </a:xfrm>
          <a:prstGeom prst="ellipse">
            <a:avLst/>
          </a:prstGeom>
          <a:solidFill>
            <a:srgbClr val="1E2761"/>
          </a:solidFill>
          <a:ln/>
        </p:spPr>
        <p:txBody>
          <a:bodyPr/>
          <a:lstStyle/>
          <a:p>
            <a:endParaRPr lang="ru-RU"/>
          </a:p>
        </p:txBody>
      </p:sp>
      <p:pic>
        <p:nvPicPr>
          <p:cNvPr id="36" name="Image 5" descr="/home/claude/fob-slides/icons_out/clock_whit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402879" y="4288079"/>
            <a:ext cx="311810" cy="311810"/>
          </a:xfrm>
          <a:prstGeom prst="rect">
            <a:avLst/>
          </a:prstGeom>
        </p:spPr>
      </p:pic>
      <p:sp>
        <p:nvSpPr>
          <p:cNvPr id="37" name="Text 29"/>
          <p:cNvSpPr txBox="1"/>
          <p:nvPr/>
        </p:nvSpPr>
        <p:spPr>
          <a:xfrm>
            <a:off x="9006840" y="4114800"/>
            <a:ext cx="24688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2000" b="1" dirty="0">
                <a:solidFill>
                  <a:srgbClr val="1E276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Vaqtinchalik imtiyoz</a:t>
            </a:r>
            <a:endParaRPr lang="en-US" sz="2000" dirty="0"/>
          </a:p>
        </p:txBody>
      </p:sp>
      <p:sp>
        <p:nvSpPr>
          <p:cNvPr id="38" name="Text 30"/>
          <p:cNvSpPr txBox="1"/>
          <p:nvPr/>
        </p:nvSpPr>
        <p:spPr>
          <a:xfrm>
            <a:off x="9006840" y="4480560"/>
            <a:ext cx="24688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400" dirty="0">
                <a:solidFill>
                  <a:srgbClr val="5B627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just-in-time</a:t>
            </a:r>
            <a:endParaRPr lang="en-US" sz="1400" dirty="0"/>
          </a:p>
        </p:txBody>
      </p:sp>
      <p:sp>
        <p:nvSpPr>
          <p:cNvPr id="39" name="Text 31"/>
          <p:cNvSpPr txBox="1"/>
          <p:nvPr/>
        </p:nvSpPr>
        <p:spPr>
          <a:xfrm>
            <a:off x="8275320" y="4892040"/>
            <a:ext cx="3108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5000"/>
              </a:lnSpc>
              <a:buNone/>
            </a:pPr>
            <a:r>
              <a:rPr lang="en-US" sz="1600" dirty="0">
                <a:solidFill>
                  <a:srgbClr val="1B1B2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Yuqori imtiyoz faqat kerakli vaqtga beriladi.</a:t>
            </a:r>
            <a:endParaRPr lang="en-US" sz="1600" dirty="0"/>
          </a:p>
        </p:txBody>
      </p:sp>
      <p:sp>
        <p:nvSpPr>
          <p:cNvPr id="40" name="Text 32"/>
          <p:cNvSpPr txBox="1"/>
          <p:nvPr/>
        </p:nvSpPr>
        <p:spPr>
          <a:xfrm>
            <a:off x="548640" y="5989320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400" dirty="0">
                <a:solidFill>
                  <a:srgbClr val="5B627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Birinchi ikkitasi 1-ma'ruzadan tanish; bugun ular hayotiy sikl jarayonlarining asosiga aylanadi.</a:t>
            </a:r>
            <a:endParaRPr lang="en-US" sz="1400" dirty="0"/>
          </a:p>
        </p:txBody>
      </p:sp>
      <p:sp>
        <p:nvSpPr>
          <p:cNvPr id="41" name="Text 33"/>
          <p:cNvSpPr txBox="1"/>
          <p:nvPr/>
        </p:nvSpPr>
        <p:spPr>
          <a:xfrm>
            <a:off x="548640" y="649224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B627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Foydalanishlarni boshqarish  ·  2-ma'ruza</a:t>
            </a:r>
            <a:endParaRPr lang="en-US" sz="1100" dirty="0"/>
          </a:p>
        </p:txBody>
      </p:sp>
      <p:sp>
        <p:nvSpPr>
          <p:cNvPr id="42" name="Text 34"/>
          <p:cNvSpPr txBox="1"/>
          <p:nvPr/>
        </p:nvSpPr>
        <p:spPr>
          <a:xfrm>
            <a:off x="11155680" y="649224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5B627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8</a:t>
            </a:r>
            <a:endParaRPr lang="en-US" sz="11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47472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kern="0" spc="220" dirty="0">
                <a:solidFill>
                  <a:srgbClr val="5B627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ASOSIY TUSHUNCHA</a:t>
            </a:r>
            <a:endParaRPr lang="en-US" sz="16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731520"/>
            <a:ext cx="100584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95000"/>
              </a:lnSpc>
              <a:buNone/>
            </a:pPr>
            <a:r>
              <a:rPr lang="en-US" sz="3600" b="1" dirty="0">
                <a:solidFill>
                  <a:srgbClr val="1E276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Ishonchli manba (authoritative source)</a:t>
            </a:r>
            <a:endParaRPr lang="en-US" sz="36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73736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5000"/>
              </a:lnSpc>
              <a:buNone/>
            </a:pPr>
            <a:r>
              <a:rPr lang="en-US" sz="1600" dirty="0">
                <a:solidFill>
                  <a:srgbClr val="1B1B2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Shaxs haqidagi rasmiy ma'lumot qayerda paydo bo'lsa — o'sha tizim ishonchli manba. Qayd yozuvlari faqat undagi o'zgarishga javoban yaratiladi, o'zgartiriladi yoki yopiladi.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548640" y="2971800"/>
            <a:ext cx="2926080" cy="1097280"/>
          </a:xfrm>
          <a:prstGeom prst="roundRect">
            <a:avLst>
              <a:gd name="adj" fmla="val 7500"/>
            </a:avLst>
          </a:prstGeom>
          <a:solidFill>
            <a:srgbClr val="CADCFC"/>
          </a:solidFill>
          <a:ln/>
        </p:spPr>
        <p:txBody>
          <a:bodyPr/>
          <a:lstStyle/>
          <a:p>
            <a:endParaRPr lang="ru-RU"/>
          </a:p>
        </p:txBody>
      </p:sp>
      <p:sp>
        <p:nvSpPr>
          <p:cNvPr id="6" name="Text 4"/>
          <p:cNvSpPr txBox="1"/>
          <p:nvPr/>
        </p:nvSpPr>
        <p:spPr>
          <a:xfrm>
            <a:off x="548640" y="3108960"/>
            <a:ext cx="2926080" cy="45720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800" b="1" dirty="0">
                <a:solidFill>
                  <a:srgbClr val="1E276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Kadrlar (HR) tizimi</a:t>
            </a:r>
            <a:endParaRPr lang="en-US" sz="1800" dirty="0"/>
          </a:p>
        </p:txBody>
      </p:sp>
      <p:sp>
        <p:nvSpPr>
          <p:cNvPr id="7" name="Text 5"/>
          <p:cNvSpPr txBox="1"/>
          <p:nvPr/>
        </p:nvSpPr>
        <p:spPr>
          <a:xfrm>
            <a:off x="548640" y="3566160"/>
            <a:ext cx="2926080" cy="36576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400" dirty="0">
                <a:solidFill>
                  <a:srgbClr val="5B627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xodimlar uchun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3520440" y="3520440"/>
            <a:ext cx="731520" cy="621792"/>
          </a:xfrm>
          <a:prstGeom prst="line">
            <a:avLst/>
          </a:prstGeom>
          <a:noFill/>
          <a:ln w="28575">
            <a:solidFill>
              <a:srgbClr val="1E2761"/>
            </a:solidFill>
            <a:prstDash val="solid"/>
            <a:tailEnd type="triangle"/>
          </a:ln>
        </p:spPr>
        <p:txBody>
          <a:bodyPr/>
          <a:lstStyle/>
          <a:p>
            <a:endParaRPr lang="ru-RU"/>
          </a:p>
        </p:txBody>
      </p:sp>
      <p:sp>
        <p:nvSpPr>
          <p:cNvPr id="9" name="Shape 7"/>
          <p:cNvSpPr/>
          <p:nvPr/>
        </p:nvSpPr>
        <p:spPr>
          <a:xfrm>
            <a:off x="548640" y="4343400"/>
            <a:ext cx="2926080" cy="1097280"/>
          </a:xfrm>
          <a:prstGeom prst="roundRect">
            <a:avLst>
              <a:gd name="adj" fmla="val 7500"/>
            </a:avLst>
          </a:prstGeom>
          <a:solidFill>
            <a:srgbClr val="CADCFC"/>
          </a:solidFill>
          <a:ln/>
        </p:spPr>
        <p:txBody>
          <a:bodyPr/>
          <a:lstStyle/>
          <a:p>
            <a:endParaRPr lang="ru-RU"/>
          </a:p>
        </p:txBody>
      </p:sp>
      <p:sp>
        <p:nvSpPr>
          <p:cNvPr id="10" name="Text 8"/>
          <p:cNvSpPr txBox="1"/>
          <p:nvPr/>
        </p:nvSpPr>
        <p:spPr>
          <a:xfrm>
            <a:off x="548640" y="4480560"/>
            <a:ext cx="2926080" cy="45720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800" b="1" dirty="0">
                <a:solidFill>
                  <a:srgbClr val="1E276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HEMIS</a:t>
            </a:r>
            <a:endParaRPr lang="en-US" sz="1800" dirty="0"/>
          </a:p>
        </p:txBody>
      </p:sp>
      <p:sp>
        <p:nvSpPr>
          <p:cNvPr id="11" name="Text 9"/>
          <p:cNvSpPr txBox="1"/>
          <p:nvPr/>
        </p:nvSpPr>
        <p:spPr>
          <a:xfrm>
            <a:off x="548640" y="4937760"/>
            <a:ext cx="2926080" cy="36576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400" dirty="0">
                <a:solidFill>
                  <a:srgbClr val="5B627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talabalar uchun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 flipV="1">
            <a:off x="3520440" y="4142232"/>
            <a:ext cx="731520" cy="749808"/>
          </a:xfrm>
          <a:prstGeom prst="line">
            <a:avLst/>
          </a:prstGeom>
          <a:noFill/>
          <a:ln w="28575">
            <a:solidFill>
              <a:srgbClr val="1E2761"/>
            </a:solidFill>
            <a:prstDash val="solid"/>
            <a:tailEnd type="triangle"/>
          </a:ln>
        </p:spPr>
        <p:txBody>
          <a:bodyPr/>
          <a:lstStyle/>
          <a:p>
            <a:endParaRPr lang="ru-RU"/>
          </a:p>
        </p:txBody>
      </p:sp>
      <p:sp>
        <p:nvSpPr>
          <p:cNvPr id="13" name="Text 11"/>
          <p:cNvSpPr txBox="1"/>
          <p:nvPr/>
        </p:nvSpPr>
        <p:spPr>
          <a:xfrm>
            <a:off x="3566160" y="3154680"/>
            <a:ext cx="822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200" dirty="0">
                <a:solidFill>
                  <a:srgbClr val="5B627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hodisa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4343400" y="3200400"/>
            <a:ext cx="3200400" cy="1874520"/>
          </a:xfrm>
          <a:prstGeom prst="roundRect">
            <a:avLst>
              <a:gd name="adj" fmla="val 4390"/>
            </a:avLst>
          </a:prstGeom>
          <a:solidFill>
            <a:srgbClr val="1E2761"/>
          </a:solidFill>
          <a:ln/>
        </p:spPr>
        <p:txBody>
          <a:bodyPr/>
          <a:lstStyle/>
          <a:p>
            <a:endParaRPr lang="ru-RU"/>
          </a:p>
        </p:txBody>
      </p:sp>
      <p:sp>
        <p:nvSpPr>
          <p:cNvPr id="15" name="Text 13"/>
          <p:cNvSpPr txBox="1"/>
          <p:nvPr/>
        </p:nvSpPr>
        <p:spPr>
          <a:xfrm>
            <a:off x="4343400" y="3337560"/>
            <a:ext cx="3200400" cy="50292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2000" b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IAM / IGA platformasi</a:t>
            </a:r>
            <a:endParaRPr lang="en-US" sz="2000" dirty="0"/>
          </a:p>
        </p:txBody>
      </p:sp>
      <p:sp>
        <p:nvSpPr>
          <p:cNvPr id="16" name="Text 14"/>
          <p:cNvSpPr txBox="1"/>
          <p:nvPr/>
        </p:nvSpPr>
        <p:spPr>
          <a:xfrm>
            <a:off x="4526280" y="3886200"/>
            <a:ext cx="2834640" cy="105156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400" dirty="0">
                <a:solidFill>
                  <a:srgbClr val="CADCFC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hodisani qabul qiladi va qoidalar asosida qayd yozuvini yaratadi yoki yopadi</a:t>
            </a:r>
            <a:endParaRPr lang="en-US" sz="1400" dirty="0"/>
          </a:p>
        </p:txBody>
      </p:sp>
      <p:sp>
        <p:nvSpPr>
          <p:cNvPr id="17" name="Shape 15"/>
          <p:cNvSpPr/>
          <p:nvPr/>
        </p:nvSpPr>
        <p:spPr>
          <a:xfrm>
            <a:off x="8458200" y="2743200"/>
            <a:ext cx="3154680" cy="475488"/>
          </a:xfrm>
          <a:prstGeom prst="roundRect">
            <a:avLst>
              <a:gd name="adj" fmla="val 17308"/>
            </a:avLst>
          </a:prstGeom>
          <a:solidFill>
            <a:srgbClr val="EEF2FB"/>
          </a:solidFill>
          <a:ln/>
        </p:spPr>
        <p:txBody>
          <a:bodyPr/>
          <a:lstStyle/>
          <a:p>
            <a:endParaRPr lang="ru-RU"/>
          </a:p>
        </p:txBody>
      </p:sp>
      <p:sp>
        <p:nvSpPr>
          <p:cNvPr id="18" name="Text 16"/>
          <p:cNvSpPr txBox="1"/>
          <p:nvPr/>
        </p:nvSpPr>
        <p:spPr>
          <a:xfrm>
            <a:off x="8641080" y="2743200"/>
            <a:ext cx="28346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600" b="1" dirty="0">
                <a:solidFill>
                  <a:srgbClr val="1E276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Active Directory</a:t>
            </a:r>
            <a:endParaRPr lang="en-US" sz="1600" dirty="0"/>
          </a:p>
        </p:txBody>
      </p:sp>
      <p:sp>
        <p:nvSpPr>
          <p:cNvPr id="19" name="Shape 17"/>
          <p:cNvSpPr/>
          <p:nvPr/>
        </p:nvSpPr>
        <p:spPr>
          <a:xfrm flipV="1">
            <a:off x="7589520" y="2980944"/>
            <a:ext cx="822960" cy="1161288"/>
          </a:xfrm>
          <a:prstGeom prst="line">
            <a:avLst/>
          </a:prstGeom>
          <a:noFill/>
          <a:ln w="22225">
            <a:solidFill>
              <a:srgbClr val="1E2761"/>
            </a:solidFill>
            <a:prstDash val="solid"/>
            <a:tailEnd type="triangle"/>
          </a:ln>
        </p:spPr>
        <p:txBody>
          <a:bodyPr/>
          <a:lstStyle/>
          <a:p>
            <a:endParaRPr lang="ru-RU"/>
          </a:p>
        </p:txBody>
      </p:sp>
      <p:sp>
        <p:nvSpPr>
          <p:cNvPr id="20" name="Shape 18"/>
          <p:cNvSpPr/>
          <p:nvPr/>
        </p:nvSpPr>
        <p:spPr>
          <a:xfrm>
            <a:off x="8458200" y="3328416"/>
            <a:ext cx="3154680" cy="475488"/>
          </a:xfrm>
          <a:prstGeom prst="roundRect">
            <a:avLst>
              <a:gd name="adj" fmla="val 17308"/>
            </a:avLst>
          </a:prstGeom>
          <a:solidFill>
            <a:srgbClr val="EEF2FB"/>
          </a:solidFill>
          <a:ln/>
        </p:spPr>
        <p:txBody>
          <a:bodyPr/>
          <a:lstStyle/>
          <a:p>
            <a:endParaRPr lang="ru-RU"/>
          </a:p>
        </p:txBody>
      </p:sp>
      <p:sp>
        <p:nvSpPr>
          <p:cNvPr id="21" name="Text 19"/>
          <p:cNvSpPr txBox="1"/>
          <p:nvPr/>
        </p:nvSpPr>
        <p:spPr>
          <a:xfrm>
            <a:off x="8641080" y="3328416"/>
            <a:ext cx="28346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600" b="1" dirty="0">
                <a:solidFill>
                  <a:srgbClr val="1E276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Elektron pochta</a:t>
            </a:r>
            <a:endParaRPr lang="en-US" sz="1600" dirty="0"/>
          </a:p>
        </p:txBody>
      </p:sp>
      <p:sp>
        <p:nvSpPr>
          <p:cNvPr id="22" name="Shape 20"/>
          <p:cNvSpPr/>
          <p:nvPr/>
        </p:nvSpPr>
        <p:spPr>
          <a:xfrm flipV="1">
            <a:off x="7589520" y="3566160"/>
            <a:ext cx="822960" cy="576072"/>
          </a:xfrm>
          <a:prstGeom prst="line">
            <a:avLst/>
          </a:prstGeom>
          <a:noFill/>
          <a:ln w="22225">
            <a:solidFill>
              <a:srgbClr val="1E2761"/>
            </a:solidFill>
            <a:prstDash val="solid"/>
            <a:tailEnd type="triangle"/>
          </a:ln>
        </p:spPr>
        <p:txBody>
          <a:bodyPr/>
          <a:lstStyle/>
          <a:p>
            <a:endParaRPr lang="ru-RU"/>
          </a:p>
        </p:txBody>
      </p:sp>
      <p:sp>
        <p:nvSpPr>
          <p:cNvPr id="23" name="Shape 21"/>
          <p:cNvSpPr/>
          <p:nvPr/>
        </p:nvSpPr>
        <p:spPr>
          <a:xfrm>
            <a:off x="8458200" y="3913632"/>
            <a:ext cx="3154680" cy="475488"/>
          </a:xfrm>
          <a:prstGeom prst="roundRect">
            <a:avLst>
              <a:gd name="adj" fmla="val 17308"/>
            </a:avLst>
          </a:prstGeom>
          <a:solidFill>
            <a:srgbClr val="EEF2FB"/>
          </a:solidFill>
          <a:ln/>
        </p:spPr>
        <p:txBody>
          <a:bodyPr/>
          <a:lstStyle/>
          <a:p>
            <a:endParaRPr lang="ru-RU"/>
          </a:p>
        </p:txBody>
      </p:sp>
      <p:sp>
        <p:nvSpPr>
          <p:cNvPr id="24" name="Text 22"/>
          <p:cNvSpPr txBox="1"/>
          <p:nvPr/>
        </p:nvSpPr>
        <p:spPr>
          <a:xfrm>
            <a:off x="8641080" y="3913632"/>
            <a:ext cx="28346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600" b="1" dirty="0">
                <a:solidFill>
                  <a:srgbClr val="1E276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LMS (Moodle)</a:t>
            </a:r>
            <a:endParaRPr lang="en-US" sz="1600" dirty="0"/>
          </a:p>
        </p:txBody>
      </p:sp>
      <p:sp>
        <p:nvSpPr>
          <p:cNvPr id="25" name="Shape 23"/>
          <p:cNvSpPr/>
          <p:nvPr/>
        </p:nvSpPr>
        <p:spPr>
          <a:xfrm>
            <a:off x="7589520" y="4142232"/>
            <a:ext cx="822960" cy="9144"/>
          </a:xfrm>
          <a:prstGeom prst="line">
            <a:avLst/>
          </a:prstGeom>
          <a:noFill/>
          <a:ln w="22225">
            <a:solidFill>
              <a:srgbClr val="1E2761"/>
            </a:solidFill>
            <a:prstDash val="solid"/>
            <a:tailEnd type="triangle"/>
          </a:ln>
        </p:spPr>
        <p:txBody>
          <a:bodyPr/>
          <a:lstStyle/>
          <a:p>
            <a:endParaRPr lang="ru-RU"/>
          </a:p>
        </p:txBody>
      </p:sp>
      <p:sp>
        <p:nvSpPr>
          <p:cNvPr id="26" name="Shape 24"/>
          <p:cNvSpPr/>
          <p:nvPr/>
        </p:nvSpPr>
        <p:spPr>
          <a:xfrm>
            <a:off x="8458200" y="4498848"/>
            <a:ext cx="3154680" cy="475488"/>
          </a:xfrm>
          <a:prstGeom prst="roundRect">
            <a:avLst>
              <a:gd name="adj" fmla="val 17308"/>
            </a:avLst>
          </a:prstGeom>
          <a:solidFill>
            <a:srgbClr val="EEF2FB"/>
          </a:solidFill>
          <a:ln/>
        </p:spPr>
        <p:txBody>
          <a:bodyPr/>
          <a:lstStyle/>
          <a:p>
            <a:endParaRPr lang="ru-RU"/>
          </a:p>
        </p:txBody>
      </p:sp>
      <p:sp>
        <p:nvSpPr>
          <p:cNvPr id="27" name="Text 25"/>
          <p:cNvSpPr txBox="1"/>
          <p:nvPr/>
        </p:nvSpPr>
        <p:spPr>
          <a:xfrm>
            <a:off x="8641080" y="4498848"/>
            <a:ext cx="28346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600" b="1" dirty="0">
                <a:solidFill>
                  <a:srgbClr val="1E276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VPN</a:t>
            </a:r>
            <a:endParaRPr lang="en-US" sz="1600" dirty="0"/>
          </a:p>
        </p:txBody>
      </p:sp>
      <p:sp>
        <p:nvSpPr>
          <p:cNvPr id="28" name="Shape 26"/>
          <p:cNvSpPr/>
          <p:nvPr/>
        </p:nvSpPr>
        <p:spPr>
          <a:xfrm>
            <a:off x="7589520" y="4142232"/>
            <a:ext cx="822960" cy="594360"/>
          </a:xfrm>
          <a:prstGeom prst="line">
            <a:avLst/>
          </a:prstGeom>
          <a:noFill/>
          <a:ln w="22225">
            <a:solidFill>
              <a:srgbClr val="1E2761"/>
            </a:solidFill>
            <a:prstDash val="solid"/>
            <a:tailEnd type="triangle"/>
          </a:ln>
        </p:spPr>
        <p:txBody>
          <a:bodyPr/>
          <a:lstStyle/>
          <a:p>
            <a:endParaRPr lang="ru-RU"/>
          </a:p>
        </p:txBody>
      </p:sp>
      <p:sp>
        <p:nvSpPr>
          <p:cNvPr id="29" name="Shape 27"/>
          <p:cNvSpPr/>
          <p:nvPr/>
        </p:nvSpPr>
        <p:spPr>
          <a:xfrm>
            <a:off x="8458200" y="5084064"/>
            <a:ext cx="3154680" cy="475488"/>
          </a:xfrm>
          <a:prstGeom prst="roundRect">
            <a:avLst>
              <a:gd name="adj" fmla="val 17308"/>
            </a:avLst>
          </a:prstGeom>
          <a:solidFill>
            <a:srgbClr val="EEF2FB"/>
          </a:solidFill>
          <a:ln/>
        </p:spPr>
        <p:txBody>
          <a:bodyPr/>
          <a:lstStyle/>
          <a:p>
            <a:endParaRPr lang="ru-RU"/>
          </a:p>
        </p:txBody>
      </p:sp>
      <p:sp>
        <p:nvSpPr>
          <p:cNvPr id="30" name="Text 28"/>
          <p:cNvSpPr txBox="1"/>
          <p:nvPr/>
        </p:nvSpPr>
        <p:spPr>
          <a:xfrm>
            <a:off x="8641080" y="5084064"/>
            <a:ext cx="28346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600" b="1" dirty="0">
                <a:solidFill>
                  <a:srgbClr val="1E276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Kutubxona tizimi</a:t>
            </a:r>
            <a:endParaRPr lang="en-US" sz="1600" dirty="0"/>
          </a:p>
        </p:txBody>
      </p:sp>
      <p:sp>
        <p:nvSpPr>
          <p:cNvPr id="31" name="Shape 29"/>
          <p:cNvSpPr/>
          <p:nvPr/>
        </p:nvSpPr>
        <p:spPr>
          <a:xfrm>
            <a:off x="7589520" y="4142232"/>
            <a:ext cx="822960" cy="1179576"/>
          </a:xfrm>
          <a:prstGeom prst="line">
            <a:avLst/>
          </a:prstGeom>
          <a:noFill/>
          <a:ln w="22225">
            <a:solidFill>
              <a:srgbClr val="1E2761"/>
            </a:solidFill>
            <a:prstDash val="solid"/>
            <a:tailEnd type="triangle"/>
          </a:ln>
        </p:spPr>
        <p:txBody>
          <a:bodyPr/>
          <a:lstStyle/>
          <a:p>
            <a:endParaRPr lang="ru-RU"/>
          </a:p>
        </p:txBody>
      </p:sp>
      <p:sp>
        <p:nvSpPr>
          <p:cNvPr id="32" name="Text 30"/>
          <p:cNvSpPr txBox="1"/>
          <p:nvPr/>
        </p:nvSpPr>
        <p:spPr>
          <a:xfrm>
            <a:off x="548640" y="5852160"/>
            <a:ext cx="11064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600" dirty="0">
                <a:solidFill>
                  <a:srgbClr val="1E276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Qoida: qayd yozuvi IT xodimining xotirasidan emas, manba tizimdagi hodisadan kelib chiqadi.</a:t>
            </a:r>
            <a:endParaRPr lang="en-US" sz="1600" dirty="0"/>
          </a:p>
        </p:txBody>
      </p:sp>
      <p:sp>
        <p:nvSpPr>
          <p:cNvPr id="33" name="Text 31"/>
          <p:cNvSpPr txBox="1"/>
          <p:nvPr/>
        </p:nvSpPr>
        <p:spPr>
          <a:xfrm>
            <a:off x="548640" y="649224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B627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Foydalanishlarni boshqarish  ·  2-ma'ruza</a:t>
            </a:r>
            <a:endParaRPr lang="en-US" sz="1100" dirty="0"/>
          </a:p>
        </p:txBody>
      </p:sp>
      <p:sp>
        <p:nvSpPr>
          <p:cNvPr id="34" name="Text 32"/>
          <p:cNvSpPr txBox="1"/>
          <p:nvPr/>
        </p:nvSpPr>
        <p:spPr>
          <a:xfrm>
            <a:off x="11155680" y="649224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5B627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9</a:t>
            </a:r>
            <a:endParaRPr lang="en-US" sz="11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1E276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463040" y="4206240"/>
            <a:ext cx="4572000" cy="4572000"/>
          </a:xfrm>
          <a:prstGeom prst="ellipse">
            <a:avLst/>
          </a:prstGeom>
          <a:solidFill>
            <a:srgbClr val="2A3778"/>
          </a:solidFill>
          <a:ln/>
        </p:spPr>
        <p:txBody>
          <a:bodyPr/>
          <a:lstStyle/>
          <a:p>
            <a:endParaRPr lang="ru-RU"/>
          </a:p>
        </p:txBody>
      </p:sp>
      <p:sp>
        <p:nvSpPr>
          <p:cNvPr id="3" name="Text 1"/>
          <p:cNvSpPr txBox="1"/>
          <p:nvPr/>
        </p:nvSpPr>
        <p:spPr>
          <a:xfrm>
            <a:off x="1005840" y="2286000"/>
            <a:ext cx="5486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kern="0" spc="300" dirty="0">
                <a:solidFill>
                  <a:srgbClr val="9FB0E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II BO'LIM</a:t>
            </a:r>
            <a:endParaRPr lang="en-US" sz="1600" dirty="0"/>
          </a:p>
        </p:txBody>
      </p:sp>
      <p:sp>
        <p:nvSpPr>
          <p:cNvPr id="4" name="Text 2"/>
          <p:cNvSpPr txBox="1"/>
          <p:nvPr/>
        </p:nvSpPr>
        <p:spPr>
          <a:xfrm>
            <a:off x="1005840" y="2724912"/>
            <a:ext cx="8229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400" b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Identifikatorning hayotiy sikli</a:t>
            </a:r>
            <a:endParaRPr lang="en-US" sz="4400" dirty="0"/>
          </a:p>
        </p:txBody>
      </p:sp>
      <p:sp>
        <p:nvSpPr>
          <p:cNvPr id="5" name="Text 3"/>
          <p:cNvSpPr txBox="1"/>
          <p:nvPr/>
        </p:nvSpPr>
        <p:spPr>
          <a:xfrm>
            <a:off x="1005840" y="370332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dirty="0">
                <a:solidFill>
                  <a:srgbClr val="CADCFC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JML · Provisioning · SCIM · Deprovisioning</a:t>
            </a:r>
            <a:endParaRPr lang="en-US" sz="2000" dirty="0"/>
          </a:p>
        </p:txBody>
      </p:sp>
      <p:sp>
        <p:nvSpPr>
          <p:cNvPr id="6" name="Text 4"/>
          <p:cNvSpPr txBox="1"/>
          <p:nvPr/>
        </p:nvSpPr>
        <p:spPr>
          <a:xfrm>
            <a:off x="9052560" y="1920240"/>
            <a:ext cx="2560320" cy="2743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0" b="1" dirty="0">
                <a:solidFill>
                  <a:srgbClr val="2A3778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II</a:t>
            </a:r>
            <a:endParaRPr lang="en-US" sz="13000" dirty="0"/>
          </a:p>
        </p:txBody>
      </p:sp>
      <p:sp>
        <p:nvSpPr>
          <p:cNvPr id="7" name="Text 5"/>
          <p:cNvSpPr txBox="1"/>
          <p:nvPr/>
        </p:nvSpPr>
        <p:spPr>
          <a:xfrm>
            <a:off x="548640" y="649224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9FB0E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Foydalanishlarni boshqarish  ·  2-ma'ruza</a:t>
            </a:r>
            <a:endParaRPr lang="en-US" sz="1100" dirty="0"/>
          </a:p>
        </p:txBody>
      </p:sp>
      <p:sp>
        <p:nvSpPr>
          <p:cNvPr id="8" name="Text 6"/>
          <p:cNvSpPr txBox="1"/>
          <p:nvPr/>
        </p:nvSpPr>
        <p:spPr>
          <a:xfrm>
            <a:off x="11155680" y="649224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9FB0E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10</a:t>
            </a:r>
            <a:endParaRPr lang="en-US" sz="11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47472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kern="0" spc="220" dirty="0">
                <a:solidFill>
                  <a:srgbClr val="5B627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HAYOTIY SIKL</a:t>
            </a:r>
            <a:endParaRPr lang="en-US" sz="16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731520"/>
            <a:ext cx="100584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95000"/>
              </a:lnSpc>
              <a:buNone/>
            </a:pPr>
            <a:r>
              <a:rPr lang="en-US" sz="3600" b="1" dirty="0">
                <a:solidFill>
                  <a:srgbClr val="1E276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Identifikator tug'ilishidan yopilishigacha</a:t>
            </a:r>
            <a:endParaRPr lang="en-US" sz="3600" dirty="0"/>
          </a:p>
        </p:txBody>
      </p:sp>
      <p:sp>
        <p:nvSpPr>
          <p:cNvPr id="4" name="Shape 2"/>
          <p:cNvSpPr/>
          <p:nvPr/>
        </p:nvSpPr>
        <p:spPr>
          <a:xfrm>
            <a:off x="548640" y="1783080"/>
            <a:ext cx="3200400" cy="1463040"/>
          </a:xfrm>
          <a:prstGeom prst="roundRect">
            <a:avLst>
              <a:gd name="adj" fmla="val 5625"/>
            </a:avLst>
          </a:prstGeom>
          <a:solidFill>
            <a:srgbClr val="CADCFC"/>
          </a:solidFill>
          <a:ln/>
        </p:spPr>
        <p:txBody>
          <a:bodyPr/>
          <a:lstStyle/>
          <a:p>
            <a:endParaRPr lang="ru-RU"/>
          </a:p>
        </p:txBody>
      </p:sp>
      <p:sp>
        <p:nvSpPr>
          <p:cNvPr id="5" name="Shape 3"/>
          <p:cNvSpPr/>
          <p:nvPr/>
        </p:nvSpPr>
        <p:spPr>
          <a:xfrm>
            <a:off x="749808" y="1984248"/>
            <a:ext cx="502920" cy="502920"/>
          </a:xfrm>
          <a:prstGeom prst="ellipse">
            <a:avLst/>
          </a:prstGeom>
          <a:solidFill>
            <a:srgbClr val="1E2761"/>
          </a:solidFill>
          <a:ln/>
        </p:spPr>
        <p:txBody>
          <a:bodyPr/>
          <a:lstStyle/>
          <a:p>
            <a:endParaRPr lang="ru-RU"/>
          </a:p>
        </p:txBody>
      </p:sp>
      <p:sp>
        <p:nvSpPr>
          <p:cNvPr id="6" name="Text 4"/>
          <p:cNvSpPr txBox="1"/>
          <p:nvPr/>
        </p:nvSpPr>
        <p:spPr>
          <a:xfrm>
            <a:off x="749808" y="1984248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600" b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1</a:t>
            </a:r>
            <a:endParaRPr lang="en-US" sz="1600" dirty="0"/>
          </a:p>
        </p:txBody>
      </p:sp>
      <p:sp>
        <p:nvSpPr>
          <p:cNvPr id="7" name="Text 5"/>
          <p:cNvSpPr txBox="1"/>
          <p:nvPr/>
        </p:nvSpPr>
        <p:spPr>
          <a:xfrm>
            <a:off x="1417320" y="1984248"/>
            <a:ext cx="21945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800" b="1" dirty="0">
                <a:solidFill>
                  <a:srgbClr val="1E276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Ro'yxatga olish</a:t>
            </a:r>
            <a:endParaRPr lang="en-US" sz="1800" dirty="0"/>
          </a:p>
        </p:txBody>
      </p:sp>
      <p:sp>
        <p:nvSpPr>
          <p:cNvPr id="8" name="Text 6"/>
          <p:cNvSpPr txBox="1"/>
          <p:nvPr/>
        </p:nvSpPr>
        <p:spPr>
          <a:xfrm>
            <a:off x="777240" y="2587752"/>
            <a:ext cx="27889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600" dirty="0">
                <a:solidFill>
                  <a:srgbClr val="1B1B2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Shaxs tasdiqlanadi, yagona ID beriladi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4480560" y="1783080"/>
            <a:ext cx="3200400" cy="1463040"/>
          </a:xfrm>
          <a:prstGeom prst="roundRect">
            <a:avLst>
              <a:gd name="adj" fmla="val 5625"/>
            </a:avLst>
          </a:prstGeom>
          <a:solidFill>
            <a:srgbClr val="EEF2FB"/>
          </a:solidFill>
          <a:ln/>
        </p:spPr>
        <p:txBody>
          <a:bodyPr/>
          <a:lstStyle/>
          <a:p>
            <a:endParaRPr lang="ru-RU"/>
          </a:p>
        </p:txBody>
      </p:sp>
      <p:sp>
        <p:nvSpPr>
          <p:cNvPr id="10" name="Shape 8"/>
          <p:cNvSpPr/>
          <p:nvPr/>
        </p:nvSpPr>
        <p:spPr>
          <a:xfrm>
            <a:off x="4681728" y="1984248"/>
            <a:ext cx="502920" cy="502920"/>
          </a:xfrm>
          <a:prstGeom prst="ellipse">
            <a:avLst/>
          </a:prstGeom>
          <a:solidFill>
            <a:srgbClr val="1E2761"/>
          </a:solidFill>
          <a:ln/>
        </p:spPr>
        <p:txBody>
          <a:bodyPr/>
          <a:lstStyle/>
          <a:p>
            <a:endParaRPr lang="ru-RU"/>
          </a:p>
        </p:txBody>
      </p:sp>
      <p:sp>
        <p:nvSpPr>
          <p:cNvPr id="11" name="Text 9"/>
          <p:cNvSpPr txBox="1"/>
          <p:nvPr/>
        </p:nvSpPr>
        <p:spPr>
          <a:xfrm>
            <a:off x="4681728" y="1984248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600" b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2</a:t>
            </a:r>
            <a:endParaRPr lang="en-US" sz="1600" dirty="0"/>
          </a:p>
        </p:txBody>
      </p:sp>
      <p:sp>
        <p:nvSpPr>
          <p:cNvPr id="12" name="Text 10"/>
          <p:cNvSpPr txBox="1"/>
          <p:nvPr/>
        </p:nvSpPr>
        <p:spPr>
          <a:xfrm>
            <a:off x="5349240" y="1984248"/>
            <a:ext cx="21945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800" b="1" dirty="0">
                <a:solidFill>
                  <a:srgbClr val="1E276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Provisioning</a:t>
            </a:r>
            <a:endParaRPr lang="en-US" sz="1800" dirty="0"/>
          </a:p>
        </p:txBody>
      </p:sp>
      <p:sp>
        <p:nvSpPr>
          <p:cNvPr id="13" name="Text 11"/>
          <p:cNvSpPr txBox="1"/>
          <p:nvPr/>
        </p:nvSpPr>
        <p:spPr>
          <a:xfrm>
            <a:off x="4709160" y="2587752"/>
            <a:ext cx="27889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600" dirty="0">
                <a:solidFill>
                  <a:srgbClr val="1B1B2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Qayd yozuvlari yaratiladi, imtiyozlar tayinlanadi</a:t>
            </a: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8412480" y="1783080"/>
            <a:ext cx="3200400" cy="1463040"/>
          </a:xfrm>
          <a:prstGeom prst="roundRect">
            <a:avLst>
              <a:gd name="adj" fmla="val 5625"/>
            </a:avLst>
          </a:prstGeom>
          <a:solidFill>
            <a:srgbClr val="EEF2FB"/>
          </a:solidFill>
          <a:ln/>
        </p:spPr>
        <p:txBody>
          <a:bodyPr/>
          <a:lstStyle/>
          <a:p>
            <a:endParaRPr lang="ru-RU"/>
          </a:p>
        </p:txBody>
      </p:sp>
      <p:sp>
        <p:nvSpPr>
          <p:cNvPr id="15" name="Shape 13"/>
          <p:cNvSpPr/>
          <p:nvPr/>
        </p:nvSpPr>
        <p:spPr>
          <a:xfrm>
            <a:off x="8613648" y="1984248"/>
            <a:ext cx="502920" cy="502920"/>
          </a:xfrm>
          <a:prstGeom prst="ellipse">
            <a:avLst/>
          </a:prstGeom>
          <a:solidFill>
            <a:srgbClr val="1E2761"/>
          </a:solidFill>
          <a:ln/>
        </p:spPr>
        <p:txBody>
          <a:bodyPr/>
          <a:lstStyle/>
          <a:p>
            <a:endParaRPr lang="ru-RU"/>
          </a:p>
        </p:txBody>
      </p:sp>
      <p:sp>
        <p:nvSpPr>
          <p:cNvPr id="16" name="Text 14"/>
          <p:cNvSpPr txBox="1"/>
          <p:nvPr/>
        </p:nvSpPr>
        <p:spPr>
          <a:xfrm>
            <a:off x="8613648" y="1984248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600" b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3</a:t>
            </a:r>
            <a:endParaRPr lang="en-US" sz="1600" dirty="0"/>
          </a:p>
        </p:txBody>
      </p:sp>
      <p:sp>
        <p:nvSpPr>
          <p:cNvPr id="17" name="Text 15"/>
          <p:cNvSpPr txBox="1"/>
          <p:nvPr/>
        </p:nvSpPr>
        <p:spPr>
          <a:xfrm>
            <a:off x="9281160" y="1984248"/>
            <a:ext cx="21945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800" b="1" dirty="0">
                <a:solidFill>
                  <a:srgbClr val="1E276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Foydalanish</a:t>
            </a:r>
            <a:endParaRPr lang="en-US" sz="1800" dirty="0"/>
          </a:p>
        </p:txBody>
      </p:sp>
      <p:sp>
        <p:nvSpPr>
          <p:cNvPr id="18" name="Text 16"/>
          <p:cNvSpPr txBox="1"/>
          <p:nvPr/>
        </p:nvSpPr>
        <p:spPr>
          <a:xfrm>
            <a:off x="8641080" y="2587752"/>
            <a:ext cx="27889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600" dirty="0">
                <a:solidFill>
                  <a:srgbClr val="1B1B2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Autentifikatsiya, kundalik ish, audit</a:t>
            </a:r>
            <a:endParaRPr lang="en-US" sz="1600" dirty="0"/>
          </a:p>
        </p:txBody>
      </p:sp>
      <p:sp>
        <p:nvSpPr>
          <p:cNvPr id="19" name="Shape 17"/>
          <p:cNvSpPr/>
          <p:nvPr/>
        </p:nvSpPr>
        <p:spPr>
          <a:xfrm>
            <a:off x="8412480" y="3977640"/>
            <a:ext cx="3200400" cy="1463040"/>
          </a:xfrm>
          <a:prstGeom prst="roundRect">
            <a:avLst>
              <a:gd name="adj" fmla="val 5625"/>
            </a:avLst>
          </a:prstGeom>
          <a:solidFill>
            <a:srgbClr val="EEF2FB"/>
          </a:solidFill>
          <a:ln/>
        </p:spPr>
        <p:txBody>
          <a:bodyPr/>
          <a:lstStyle/>
          <a:p>
            <a:endParaRPr lang="ru-RU"/>
          </a:p>
        </p:txBody>
      </p:sp>
      <p:sp>
        <p:nvSpPr>
          <p:cNvPr id="20" name="Shape 18"/>
          <p:cNvSpPr/>
          <p:nvPr/>
        </p:nvSpPr>
        <p:spPr>
          <a:xfrm>
            <a:off x="8613648" y="4178808"/>
            <a:ext cx="502920" cy="502920"/>
          </a:xfrm>
          <a:prstGeom prst="ellipse">
            <a:avLst/>
          </a:prstGeom>
          <a:solidFill>
            <a:srgbClr val="1E2761"/>
          </a:solidFill>
          <a:ln/>
        </p:spPr>
        <p:txBody>
          <a:bodyPr/>
          <a:lstStyle/>
          <a:p>
            <a:endParaRPr lang="ru-RU"/>
          </a:p>
        </p:txBody>
      </p:sp>
      <p:sp>
        <p:nvSpPr>
          <p:cNvPr id="21" name="Text 19"/>
          <p:cNvSpPr txBox="1"/>
          <p:nvPr/>
        </p:nvSpPr>
        <p:spPr>
          <a:xfrm>
            <a:off x="8613648" y="4178808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600" b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4</a:t>
            </a:r>
            <a:endParaRPr lang="en-US" sz="1600" dirty="0"/>
          </a:p>
        </p:txBody>
      </p:sp>
      <p:sp>
        <p:nvSpPr>
          <p:cNvPr id="22" name="Text 20"/>
          <p:cNvSpPr txBox="1"/>
          <p:nvPr/>
        </p:nvSpPr>
        <p:spPr>
          <a:xfrm>
            <a:off x="9281160" y="4178808"/>
            <a:ext cx="21945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800" b="1" dirty="0">
                <a:solidFill>
                  <a:srgbClr val="1E276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O'zgarish</a:t>
            </a:r>
            <a:endParaRPr lang="en-US" sz="1800" dirty="0"/>
          </a:p>
        </p:txBody>
      </p:sp>
      <p:sp>
        <p:nvSpPr>
          <p:cNvPr id="23" name="Text 21"/>
          <p:cNvSpPr txBox="1"/>
          <p:nvPr/>
        </p:nvSpPr>
        <p:spPr>
          <a:xfrm>
            <a:off x="8641080" y="4782312"/>
            <a:ext cx="27889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600" dirty="0">
                <a:solidFill>
                  <a:srgbClr val="1B1B2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Lavozim, bo'lim yoki status o'zgaradi</a:t>
            </a:r>
            <a:endParaRPr lang="en-US" sz="1600" dirty="0"/>
          </a:p>
        </p:txBody>
      </p:sp>
      <p:sp>
        <p:nvSpPr>
          <p:cNvPr id="24" name="Shape 22"/>
          <p:cNvSpPr/>
          <p:nvPr/>
        </p:nvSpPr>
        <p:spPr>
          <a:xfrm>
            <a:off x="4480560" y="3977640"/>
            <a:ext cx="3200400" cy="1463040"/>
          </a:xfrm>
          <a:prstGeom prst="roundRect">
            <a:avLst>
              <a:gd name="adj" fmla="val 5625"/>
            </a:avLst>
          </a:prstGeom>
          <a:solidFill>
            <a:srgbClr val="EEF2FB"/>
          </a:solidFill>
          <a:ln/>
        </p:spPr>
        <p:txBody>
          <a:bodyPr/>
          <a:lstStyle/>
          <a:p>
            <a:endParaRPr lang="ru-RU"/>
          </a:p>
        </p:txBody>
      </p:sp>
      <p:sp>
        <p:nvSpPr>
          <p:cNvPr id="25" name="Shape 23"/>
          <p:cNvSpPr/>
          <p:nvPr/>
        </p:nvSpPr>
        <p:spPr>
          <a:xfrm>
            <a:off x="4681728" y="4178808"/>
            <a:ext cx="502920" cy="502920"/>
          </a:xfrm>
          <a:prstGeom prst="ellipse">
            <a:avLst/>
          </a:prstGeom>
          <a:solidFill>
            <a:srgbClr val="1E2761"/>
          </a:solidFill>
          <a:ln/>
        </p:spPr>
        <p:txBody>
          <a:bodyPr/>
          <a:lstStyle/>
          <a:p>
            <a:endParaRPr lang="ru-RU"/>
          </a:p>
        </p:txBody>
      </p:sp>
      <p:sp>
        <p:nvSpPr>
          <p:cNvPr id="26" name="Text 24"/>
          <p:cNvSpPr txBox="1"/>
          <p:nvPr/>
        </p:nvSpPr>
        <p:spPr>
          <a:xfrm>
            <a:off x="4681728" y="4178808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600" b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5</a:t>
            </a:r>
            <a:endParaRPr lang="en-US" sz="1600" dirty="0"/>
          </a:p>
        </p:txBody>
      </p:sp>
      <p:sp>
        <p:nvSpPr>
          <p:cNvPr id="27" name="Text 25"/>
          <p:cNvSpPr txBox="1"/>
          <p:nvPr/>
        </p:nvSpPr>
        <p:spPr>
          <a:xfrm>
            <a:off x="5349240" y="4178808"/>
            <a:ext cx="21945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800" b="1" dirty="0">
                <a:solidFill>
                  <a:srgbClr val="1E276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Qayta sertifikatlash</a:t>
            </a:r>
            <a:endParaRPr lang="en-US" sz="1800" dirty="0"/>
          </a:p>
        </p:txBody>
      </p:sp>
      <p:sp>
        <p:nvSpPr>
          <p:cNvPr id="28" name="Text 26"/>
          <p:cNvSpPr txBox="1"/>
          <p:nvPr/>
        </p:nvSpPr>
        <p:spPr>
          <a:xfrm>
            <a:off x="4709160" y="4782312"/>
            <a:ext cx="27889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600" dirty="0">
                <a:solidFill>
                  <a:srgbClr val="1B1B2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Imtiyozlar davriy qayta ko'rib chiqiladi</a:t>
            </a:r>
            <a:endParaRPr lang="en-US" sz="1600" dirty="0"/>
          </a:p>
        </p:txBody>
      </p:sp>
      <p:sp>
        <p:nvSpPr>
          <p:cNvPr id="29" name="Shape 27"/>
          <p:cNvSpPr/>
          <p:nvPr/>
        </p:nvSpPr>
        <p:spPr>
          <a:xfrm>
            <a:off x="548640" y="3977640"/>
            <a:ext cx="3200400" cy="1463040"/>
          </a:xfrm>
          <a:prstGeom prst="roundRect">
            <a:avLst>
              <a:gd name="adj" fmla="val 5625"/>
            </a:avLst>
          </a:prstGeom>
          <a:solidFill>
            <a:srgbClr val="F7ECEA"/>
          </a:solidFill>
          <a:ln/>
        </p:spPr>
        <p:txBody>
          <a:bodyPr/>
          <a:lstStyle/>
          <a:p>
            <a:endParaRPr lang="ru-RU"/>
          </a:p>
        </p:txBody>
      </p:sp>
      <p:sp>
        <p:nvSpPr>
          <p:cNvPr id="30" name="Shape 28"/>
          <p:cNvSpPr/>
          <p:nvPr/>
        </p:nvSpPr>
        <p:spPr>
          <a:xfrm>
            <a:off x="749808" y="4178808"/>
            <a:ext cx="502920" cy="502920"/>
          </a:xfrm>
          <a:prstGeom prst="ellipse">
            <a:avLst/>
          </a:prstGeom>
          <a:solidFill>
            <a:srgbClr val="9E3B2E"/>
          </a:solidFill>
          <a:ln/>
        </p:spPr>
        <p:txBody>
          <a:bodyPr/>
          <a:lstStyle/>
          <a:p>
            <a:endParaRPr lang="ru-RU"/>
          </a:p>
        </p:txBody>
      </p:sp>
      <p:sp>
        <p:nvSpPr>
          <p:cNvPr id="31" name="Text 29"/>
          <p:cNvSpPr txBox="1"/>
          <p:nvPr/>
        </p:nvSpPr>
        <p:spPr>
          <a:xfrm>
            <a:off x="749808" y="4178808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600" b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6</a:t>
            </a:r>
            <a:endParaRPr lang="en-US" sz="1600" dirty="0"/>
          </a:p>
        </p:txBody>
      </p:sp>
      <p:sp>
        <p:nvSpPr>
          <p:cNvPr id="32" name="Text 30"/>
          <p:cNvSpPr txBox="1"/>
          <p:nvPr/>
        </p:nvSpPr>
        <p:spPr>
          <a:xfrm>
            <a:off x="1417320" y="4178808"/>
            <a:ext cx="21945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800" b="1" dirty="0">
                <a:solidFill>
                  <a:srgbClr val="9E3B2E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Deprovisioning</a:t>
            </a:r>
            <a:endParaRPr lang="en-US" sz="1800" dirty="0"/>
          </a:p>
        </p:txBody>
      </p:sp>
      <p:sp>
        <p:nvSpPr>
          <p:cNvPr id="33" name="Text 31"/>
          <p:cNvSpPr txBox="1"/>
          <p:nvPr/>
        </p:nvSpPr>
        <p:spPr>
          <a:xfrm>
            <a:off x="777240" y="4782312"/>
            <a:ext cx="27889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600" dirty="0">
                <a:solidFill>
                  <a:srgbClr val="1B1B2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Qayd yozuvlari blokirovka qilinadi va yopiladi</a:t>
            </a:r>
            <a:endParaRPr lang="en-US" sz="1600" dirty="0"/>
          </a:p>
        </p:txBody>
      </p:sp>
      <p:sp>
        <p:nvSpPr>
          <p:cNvPr id="34" name="Shape 32"/>
          <p:cNvSpPr/>
          <p:nvPr/>
        </p:nvSpPr>
        <p:spPr>
          <a:xfrm>
            <a:off x="3794760" y="2514600"/>
            <a:ext cx="640080" cy="0"/>
          </a:xfrm>
          <a:prstGeom prst="line">
            <a:avLst/>
          </a:prstGeom>
          <a:noFill/>
          <a:ln w="28575">
            <a:solidFill>
              <a:srgbClr val="1E2761"/>
            </a:solidFill>
            <a:prstDash val="solid"/>
            <a:tailEnd type="triangle"/>
          </a:ln>
        </p:spPr>
        <p:txBody>
          <a:bodyPr/>
          <a:lstStyle/>
          <a:p>
            <a:endParaRPr lang="ru-RU"/>
          </a:p>
        </p:txBody>
      </p:sp>
      <p:sp>
        <p:nvSpPr>
          <p:cNvPr id="35" name="Shape 33"/>
          <p:cNvSpPr/>
          <p:nvPr/>
        </p:nvSpPr>
        <p:spPr>
          <a:xfrm>
            <a:off x="7726680" y="2514600"/>
            <a:ext cx="640080" cy="0"/>
          </a:xfrm>
          <a:prstGeom prst="line">
            <a:avLst/>
          </a:prstGeom>
          <a:noFill/>
          <a:ln w="28575">
            <a:solidFill>
              <a:srgbClr val="1E2761"/>
            </a:solidFill>
            <a:prstDash val="solid"/>
            <a:tailEnd type="triangle"/>
          </a:ln>
        </p:spPr>
        <p:txBody>
          <a:bodyPr/>
          <a:lstStyle/>
          <a:p>
            <a:endParaRPr lang="ru-RU"/>
          </a:p>
        </p:txBody>
      </p:sp>
      <p:sp>
        <p:nvSpPr>
          <p:cNvPr id="36" name="Shape 34"/>
          <p:cNvSpPr/>
          <p:nvPr/>
        </p:nvSpPr>
        <p:spPr>
          <a:xfrm>
            <a:off x="10012680" y="3291840"/>
            <a:ext cx="0" cy="640080"/>
          </a:xfrm>
          <a:prstGeom prst="line">
            <a:avLst/>
          </a:prstGeom>
          <a:noFill/>
          <a:ln w="28575">
            <a:solidFill>
              <a:srgbClr val="1E2761"/>
            </a:solidFill>
            <a:prstDash val="solid"/>
            <a:tailEnd type="triangle"/>
          </a:ln>
        </p:spPr>
        <p:txBody>
          <a:bodyPr/>
          <a:lstStyle/>
          <a:p>
            <a:endParaRPr lang="ru-RU"/>
          </a:p>
        </p:txBody>
      </p:sp>
      <p:sp>
        <p:nvSpPr>
          <p:cNvPr id="37" name="Shape 35"/>
          <p:cNvSpPr/>
          <p:nvPr/>
        </p:nvSpPr>
        <p:spPr>
          <a:xfrm flipH="1">
            <a:off x="7726680" y="4709160"/>
            <a:ext cx="640080" cy="0"/>
          </a:xfrm>
          <a:prstGeom prst="line">
            <a:avLst/>
          </a:prstGeom>
          <a:noFill/>
          <a:ln w="28575">
            <a:solidFill>
              <a:srgbClr val="1E2761"/>
            </a:solidFill>
            <a:prstDash val="solid"/>
            <a:tailEnd type="triangle"/>
          </a:ln>
        </p:spPr>
        <p:txBody>
          <a:bodyPr/>
          <a:lstStyle/>
          <a:p>
            <a:endParaRPr lang="ru-RU"/>
          </a:p>
        </p:txBody>
      </p:sp>
      <p:sp>
        <p:nvSpPr>
          <p:cNvPr id="38" name="Shape 36"/>
          <p:cNvSpPr/>
          <p:nvPr/>
        </p:nvSpPr>
        <p:spPr>
          <a:xfrm flipH="1">
            <a:off x="3794760" y="4709160"/>
            <a:ext cx="640080" cy="0"/>
          </a:xfrm>
          <a:prstGeom prst="line">
            <a:avLst/>
          </a:prstGeom>
          <a:noFill/>
          <a:ln w="28575">
            <a:solidFill>
              <a:srgbClr val="9E3B2E"/>
            </a:solidFill>
            <a:prstDash val="solid"/>
            <a:tailEnd type="triangle"/>
          </a:ln>
        </p:spPr>
        <p:txBody>
          <a:bodyPr/>
          <a:lstStyle/>
          <a:p>
            <a:endParaRPr lang="ru-RU"/>
          </a:p>
        </p:txBody>
      </p:sp>
      <p:sp>
        <p:nvSpPr>
          <p:cNvPr id="39" name="Text 37"/>
          <p:cNvSpPr txBox="1"/>
          <p:nvPr/>
        </p:nvSpPr>
        <p:spPr>
          <a:xfrm>
            <a:off x="548640" y="5669280"/>
            <a:ext cx="11064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600" dirty="0">
                <a:solidFill>
                  <a:srgbClr val="1E276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3 → 4 → 5 sikl davomida ko'p marta takrorlanadi. Deprovisioning — yagona qaytarib bo'lmaydigan bosqich.</a:t>
            </a:r>
            <a:endParaRPr lang="en-US" sz="1600" dirty="0"/>
          </a:p>
        </p:txBody>
      </p:sp>
      <p:sp>
        <p:nvSpPr>
          <p:cNvPr id="40" name="Text 38"/>
          <p:cNvSpPr txBox="1"/>
          <p:nvPr/>
        </p:nvSpPr>
        <p:spPr>
          <a:xfrm>
            <a:off x="548640" y="649224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B627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Foydalanishlarni boshqarish  ·  2-ma'ruza</a:t>
            </a:r>
            <a:endParaRPr lang="en-US" sz="1100" dirty="0"/>
          </a:p>
        </p:txBody>
      </p:sp>
      <p:sp>
        <p:nvSpPr>
          <p:cNvPr id="41" name="Text 39"/>
          <p:cNvSpPr txBox="1"/>
          <p:nvPr/>
        </p:nvSpPr>
        <p:spPr>
          <a:xfrm>
            <a:off x="11155680" y="649224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5B627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11</a:t>
            </a:r>
            <a:endParaRPr lang="en-US" sz="11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47472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kern="0" spc="220" dirty="0">
                <a:solidFill>
                  <a:srgbClr val="5B627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JOINER · MOVER · LEAVER</a:t>
            </a:r>
            <a:endParaRPr lang="en-US" sz="16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731520"/>
            <a:ext cx="100584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95000"/>
              </a:lnSpc>
              <a:buNone/>
            </a:pPr>
            <a:r>
              <a:rPr lang="en-US" sz="3600" b="1" dirty="0">
                <a:solidFill>
                  <a:srgbClr val="1E276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Hayotiy siklning uchta hodisasi</a:t>
            </a:r>
            <a:endParaRPr lang="en-US" sz="3600" dirty="0"/>
          </a:p>
        </p:txBody>
      </p:sp>
      <p:sp>
        <p:nvSpPr>
          <p:cNvPr id="4" name="Shape 2"/>
          <p:cNvSpPr/>
          <p:nvPr/>
        </p:nvSpPr>
        <p:spPr>
          <a:xfrm>
            <a:off x="548640" y="1783080"/>
            <a:ext cx="3520440" cy="914400"/>
          </a:xfrm>
          <a:prstGeom prst="roundRect">
            <a:avLst>
              <a:gd name="adj" fmla="val 9000"/>
            </a:avLst>
          </a:prstGeom>
          <a:solidFill>
            <a:srgbClr val="1E2761"/>
          </a:solidFill>
          <a:ln/>
        </p:spPr>
        <p:txBody>
          <a:bodyPr/>
          <a:lstStyle/>
          <a:p>
            <a:endParaRPr lang="ru-RU"/>
          </a:p>
        </p:txBody>
      </p:sp>
      <p:sp>
        <p:nvSpPr>
          <p:cNvPr id="5" name="Text 3"/>
          <p:cNvSpPr txBox="1"/>
          <p:nvPr/>
        </p:nvSpPr>
        <p:spPr>
          <a:xfrm>
            <a:off x="731520" y="1783080"/>
            <a:ext cx="6400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4000" b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J</a:t>
            </a:r>
            <a:endParaRPr lang="en-US" sz="4000" dirty="0"/>
          </a:p>
        </p:txBody>
      </p:sp>
      <p:sp>
        <p:nvSpPr>
          <p:cNvPr id="6" name="Text 4"/>
          <p:cNvSpPr txBox="1"/>
          <p:nvPr/>
        </p:nvSpPr>
        <p:spPr>
          <a:xfrm>
            <a:off x="1417320" y="1874520"/>
            <a:ext cx="2514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2000" b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Yangi kelgan</a:t>
            </a:r>
            <a:endParaRPr lang="en-US" sz="2000" dirty="0"/>
          </a:p>
        </p:txBody>
      </p:sp>
      <p:sp>
        <p:nvSpPr>
          <p:cNvPr id="7" name="Text 5"/>
          <p:cNvSpPr txBox="1"/>
          <p:nvPr/>
        </p:nvSpPr>
        <p:spPr>
          <a:xfrm>
            <a:off x="1417320" y="2286000"/>
            <a:ext cx="2514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400" dirty="0">
                <a:solidFill>
                  <a:srgbClr val="CADCFC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Joiner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548640" y="2788920"/>
            <a:ext cx="3520440" cy="3246120"/>
          </a:xfrm>
          <a:prstGeom prst="roundRect">
            <a:avLst>
              <a:gd name="adj" fmla="val 2535"/>
            </a:avLst>
          </a:prstGeom>
          <a:solidFill>
            <a:srgbClr val="EEF2FB"/>
          </a:solidFill>
          <a:ln/>
        </p:spPr>
        <p:txBody>
          <a:bodyPr/>
          <a:lstStyle/>
          <a:p>
            <a:endParaRPr lang="ru-RU"/>
          </a:p>
        </p:txBody>
      </p:sp>
      <p:sp>
        <p:nvSpPr>
          <p:cNvPr id="9" name="Text 7"/>
          <p:cNvSpPr txBox="1"/>
          <p:nvPr/>
        </p:nvSpPr>
        <p:spPr>
          <a:xfrm>
            <a:off x="777240" y="2926080"/>
            <a:ext cx="3063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400" b="1" dirty="0">
                <a:solidFill>
                  <a:srgbClr val="5B627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HODISA</a:t>
            </a:r>
            <a:endParaRPr lang="en-US" sz="1400" dirty="0"/>
          </a:p>
        </p:txBody>
      </p:sp>
      <p:sp>
        <p:nvSpPr>
          <p:cNvPr id="10" name="Text 8"/>
          <p:cNvSpPr txBox="1"/>
          <p:nvPr/>
        </p:nvSpPr>
        <p:spPr>
          <a:xfrm>
            <a:off x="777240" y="3200400"/>
            <a:ext cx="3063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600" dirty="0">
                <a:solidFill>
                  <a:srgbClr val="1B1B2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HR buyrug'i: yangi o'qituvchi qabul qilindi</a:t>
            </a:r>
            <a:endParaRPr lang="en-US" sz="1600" dirty="0"/>
          </a:p>
        </p:txBody>
      </p:sp>
      <p:sp>
        <p:nvSpPr>
          <p:cNvPr id="11" name="Text 9"/>
          <p:cNvSpPr txBox="1"/>
          <p:nvPr/>
        </p:nvSpPr>
        <p:spPr>
          <a:xfrm>
            <a:off x="777240" y="3959352"/>
            <a:ext cx="3063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400" b="1" dirty="0">
                <a:solidFill>
                  <a:srgbClr val="5B627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AMAL</a:t>
            </a:r>
            <a:endParaRPr lang="en-US" sz="1400" dirty="0"/>
          </a:p>
        </p:txBody>
      </p:sp>
      <p:sp>
        <p:nvSpPr>
          <p:cNvPr id="12" name="Text 10"/>
          <p:cNvSpPr txBox="1"/>
          <p:nvPr/>
        </p:nvSpPr>
        <p:spPr>
          <a:xfrm>
            <a:off x="777240" y="4233672"/>
            <a:ext cx="3063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600" dirty="0">
                <a:solidFill>
                  <a:srgbClr val="1B1B2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Qayd yozuvlari va lavozimga mos bazaviy rollar</a:t>
            </a:r>
            <a:endParaRPr lang="en-US" sz="1600" dirty="0"/>
          </a:p>
        </p:txBody>
      </p:sp>
      <p:sp>
        <p:nvSpPr>
          <p:cNvPr id="13" name="Text 11"/>
          <p:cNvSpPr txBox="1"/>
          <p:nvPr/>
        </p:nvSpPr>
        <p:spPr>
          <a:xfrm>
            <a:off x="777240" y="4992624"/>
            <a:ext cx="3063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400" b="1" dirty="0">
                <a:solidFill>
                  <a:srgbClr val="9E3B2E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XAVF</a:t>
            </a:r>
            <a:endParaRPr lang="en-US" sz="1400" dirty="0"/>
          </a:p>
        </p:txBody>
      </p:sp>
      <p:sp>
        <p:nvSpPr>
          <p:cNvPr id="14" name="Text 12"/>
          <p:cNvSpPr txBox="1"/>
          <p:nvPr/>
        </p:nvSpPr>
        <p:spPr>
          <a:xfrm>
            <a:off x="777240" y="5266944"/>
            <a:ext cx="3063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600" dirty="0">
                <a:solidFill>
                  <a:srgbClr val="9E3B2E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«Hamkasbidan nusxa» — ortiqcha imtiyoz</a:t>
            </a:r>
            <a:endParaRPr lang="en-US" sz="1600" dirty="0"/>
          </a:p>
        </p:txBody>
      </p:sp>
      <p:sp>
        <p:nvSpPr>
          <p:cNvPr id="15" name="Shape 13"/>
          <p:cNvSpPr/>
          <p:nvPr/>
        </p:nvSpPr>
        <p:spPr>
          <a:xfrm>
            <a:off x="4325112" y="1783080"/>
            <a:ext cx="3520440" cy="914400"/>
          </a:xfrm>
          <a:prstGeom prst="roundRect">
            <a:avLst>
              <a:gd name="adj" fmla="val 9000"/>
            </a:avLst>
          </a:prstGeom>
          <a:solidFill>
            <a:srgbClr val="1E2761"/>
          </a:solidFill>
          <a:ln/>
        </p:spPr>
        <p:txBody>
          <a:bodyPr/>
          <a:lstStyle/>
          <a:p>
            <a:endParaRPr lang="ru-RU"/>
          </a:p>
        </p:txBody>
      </p:sp>
      <p:sp>
        <p:nvSpPr>
          <p:cNvPr id="16" name="Text 14"/>
          <p:cNvSpPr txBox="1"/>
          <p:nvPr/>
        </p:nvSpPr>
        <p:spPr>
          <a:xfrm>
            <a:off x="4507992" y="1783080"/>
            <a:ext cx="6400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4000" b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M</a:t>
            </a:r>
            <a:endParaRPr lang="en-US" sz="4000" dirty="0"/>
          </a:p>
        </p:txBody>
      </p:sp>
      <p:sp>
        <p:nvSpPr>
          <p:cNvPr id="17" name="Text 15"/>
          <p:cNvSpPr txBox="1"/>
          <p:nvPr/>
        </p:nvSpPr>
        <p:spPr>
          <a:xfrm>
            <a:off x="5193792" y="1874520"/>
            <a:ext cx="2514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2000" b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Lavozimi o'zgargan</a:t>
            </a:r>
            <a:endParaRPr lang="en-US" sz="2000" dirty="0"/>
          </a:p>
        </p:txBody>
      </p:sp>
      <p:sp>
        <p:nvSpPr>
          <p:cNvPr id="18" name="Text 16"/>
          <p:cNvSpPr txBox="1"/>
          <p:nvPr/>
        </p:nvSpPr>
        <p:spPr>
          <a:xfrm>
            <a:off x="5193792" y="2286000"/>
            <a:ext cx="2514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400" dirty="0">
                <a:solidFill>
                  <a:srgbClr val="CADCFC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Mover</a:t>
            </a:r>
            <a:endParaRPr lang="en-US" sz="1400" dirty="0"/>
          </a:p>
        </p:txBody>
      </p:sp>
      <p:sp>
        <p:nvSpPr>
          <p:cNvPr id="19" name="Shape 17"/>
          <p:cNvSpPr/>
          <p:nvPr/>
        </p:nvSpPr>
        <p:spPr>
          <a:xfrm>
            <a:off x="4325112" y="2788920"/>
            <a:ext cx="3520440" cy="3246120"/>
          </a:xfrm>
          <a:prstGeom prst="roundRect">
            <a:avLst>
              <a:gd name="adj" fmla="val 2535"/>
            </a:avLst>
          </a:prstGeom>
          <a:solidFill>
            <a:srgbClr val="EEF2FB"/>
          </a:solidFill>
          <a:ln/>
        </p:spPr>
        <p:txBody>
          <a:bodyPr/>
          <a:lstStyle/>
          <a:p>
            <a:endParaRPr lang="ru-RU"/>
          </a:p>
        </p:txBody>
      </p:sp>
      <p:sp>
        <p:nvSpPr>
          <p:cNvPr id="20" name="Text 18"/>
          <p:cNvSpPr txBox="1"/>
          <p:nvPr/>
        </p:nvSpPr>
        <p:spPr>
          <a:xfrm>
            <a:off x="4553712" y="2926080"/>
            <a:ext cx="3063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400" b="1" dirty="0">
                <a:solidFill>
                  <a:srgbClr val="5B627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HODISA</a:t>
            </a:r>
            <a:endParaRPr lang="en-US" sz="1400" dirty="0"/>
          </a:p>
        </p:txBody>
      </p:sp>
      <p:sp>
        <p:nvSpPr>
          <p:cNvPr id="21" name="Text 19"/>
          <p:cNvSpPr txBox="1"/>
          <p:nvPr/>
        </p:nvSpPr>
        <p:spPr>
          <a:xfrm>
            <a:off x="4553712" y="3200400"/>
            <a:ext cx="3063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600" dirty="0">
                <a:solidFill>
                  <a:srgbClr val="1B1B2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Kafedradan dekanatga o'tkazildi</a:t>
            </a:r>
            <a:endParaRPr lang="en-US" sz="1600" dirty="0"/>
          </a:p>
        </p:txBody>
      </p:sp>
      <p:sp>
        <p:nvSpPr>
          <p:cNvPr id="22" name="Text 20"/>
          <p:cNvSpPr txBox="1"/>
          <p:nvPr/>
        </p:nvSpPr>
        <p:spPr>
          <a:xfrm>
            <a:off x="4553712" y="3959352"/>
            <a:ext cx="3063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400" b="1" dirty="0">
                <a:solidFill>
                  <a:srgbClr val="5B627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AMAL</a:t>
            </a:r>
            <a:endParaRPr lang="en-US" sz="1400" dirty="0"/>
          </a:p>
        </p:txBody>
      </p:sp>
      <p:sp>
        <p:nvSpPr>
          <p:cNvPr id="23" name="Text 21"/>
          <p:cNvSpPr txBox="1"/>
          <p:nvPr/>
        </p:nvSpPr>
        <p:spPr>
          <a:xfrm>
            <a:off x="4553712" y="4233672"/>
            <a:ext cx="3063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600" dirty="0">
                <a:solidFill>
                  <a:srgbClr val="1B1B2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Eski rol olib tashlanadi, yangisi tayinlanadi</a:t>
            </a:r>
            <a:endParaRPr lang="en-US" sz="1600" dirty="0"/>
          </a:p>
        </p:txBody>
      </p:sp>
      <p:sp>
        <p:nvSpPr>
          <p:cNvPr id="24" name="Text 22"/>
          <p:cNvSpPr txBox="1"/>
          <p:nvPr/>
        </p:nvSpPr>
        <p:spPr>
          <a:xfrm>
            <a:off x="4553712" y="4992624"/>
            <a:ext cx="3063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400" b="1" dirty="0">
                <a:solidFill>
                  <a:srgbClr val="9E3B2E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XAVF</a:t>
            </a:r>
            <a:endParaRPr lang="en-US" sz="1400" dirty="0"/>
          </a:p>
        </p:txBody>
      </p:sp>
      <p:sp>
        <p:nvSpPr>
          <p:cNvPr id="25" name="Text 23"/>
          <p:cNvSpPr txBox="1"/>
          <p:nvPr/>
        </p:nvSpPr>
        <p:spPr>
          <a:xfrm>
            <a:off x="4553712" y="5266944"/>
            <a:ext cx="3063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600" dirty="0">
                <a:solidFill>
                  <a:srgbClr val="9E3B2E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Ortiqcha imtiyozlar to'planishi</a:t>
            </a:r>
            <a:endParaRPr lang="en-US" sz="1600" dirty="0"/>
          </a:p>
        </p:txBody>
      </p:sp>
      <p:sp>
        <p:nvSpPr>
          <p:cNvPr id="26" name="Shape 24"/>
          <p:cNvSpPr/>
          <p:nvPr/>
        </p:nvSpPr>
        <p:spPr>
          <a:xfrm>
            <a:off x="8101584" y="1783080"/>
            <a:ext cx="3520440" cy="914400"/>
          </a:xfrm>
          <a:prstGeom prst="roundRect">
            <a:avLst>
              <a:gd name="adj" fmla="val 9000"/>
            </a:avLst>
          </a:prstGeom>
          <a:solidFill>
            <a:srgbClr val="1E2761"/>
          </a:solidFill>
          <a:ln/>
        </p:spPr>
        <p:txBody>
          <a:bodyPr/>
          <a:lstStyle/>
          <a:p>
            <a:endParaRPr lang="ru-RU"/>
          </a:p>
        </p:txBody>
      </p:sp>
      <p:sp>
        <p:nvSpPr>
          <p:cNvPr id="27" name="Text 25"/>
          <p:cNvSpPr txBox="1"/>
          <p:nvPr/>
        </p:nvSpPr>
        <p:spPr>
          <a:xfrm>
            <a:off x="8284464" y="1783080"/>
            <a:ext cx="6400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4000" b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L</a:t>
            </a:r>
            <a:endParaRPr lang="en-US" sz="4000" dirty="0"/>
          </a:p>
        </p:txBody>
      </p:sp>
      <p:sp>
        <p:nvSpPr>
          <p:cNvPr id="28" name="Text 26"/>
          <p:cNvSpPr txBox="1"/>
          <p:nvPr/>
        </p:nvSpPr>
        <p:spPr>
          <a:xfrm>
            <a:off x="8970264" y="1874520"/>
            <a:ext cx="2514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2000" b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Ketayotgan</a:t>
            </a:r>
            <a:endParaRPr lang="en-US" sz="2000" dirty="0"/>
          </a:p>
        </p:txBody>
      </p:sp>
      <p:sp>
        <p:nvSpPr>
          <p:cNvPr id="29" name="Text 27"/>
          <p:cNvSpPr txBox="1"/>
          <p:nvPr/>
        </p:nvSpPr>
        <p:spPr>
          <a:xfrm>
            <a:off x="8970264" y="2286000"/>
            <a:ext cx="2514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400" dirty="0">
                <a:solidFill>
                  <a:srgbClr val="CADCFC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Leaver</a:t>
            </a:r>
            <a:endParaRPr lang="en-US" sz="1400" dirty="0"/>
          </a:p>
        </p:txBody>
      </p:sp>
      <p:sp>
        <p:nvSpPr>
          <p:cNvPr id="30" name="Shape 28"/>
          <p:cNvSpPr/>
          <p:nvPr/>
        </p:nvSpPr>
        <p:spPr>
          <a:xfrm>
            <a:off x="8101584" y="2788920"/>
            <a:ext cx="3520440" cy="3246120"/>
          </a:xfrm>
          <a:prstGeom prst="roundRect">
            <a:avLst>
              <a:gd name="adj" fmla="val 2535"/>
            </a:avLst>
          </a:prstGeom>
          <a:solidFill>
            <a:srgbClr val="EEF2FB"/>
          </a:solidFill>
          <a:ln/>
        </p:spPr>
        <p:txBody>
          <a:bodyPr/>
          <a:lstStyle/>
          <a:p>
            <a:endParaRPr lang="ru-RU"/>
          </a:p>
        </p:txBody>
      </p:sp>
      <p:sp>
        <p:nvSpPr>
          <p:cNvPr id="31" name="Text 29"/>
          <p:cNvSpPr txBox="1"/>
          <p:nvPr/>
        </p:nvSpPr>
        <p:spPr>
          <a:xfrm>
            <a:off x="8330184" y="2926080"/>
            <a:ext cx="3063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400" b="1" dirty="0">
                <a:solidFill>
                  <a:srgbClr val="5B627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HODISA</a:t>
            </a:r>
            <a:endParaRPr lang="en-US" sz="1400" dirty="0"/>
          </a:p>
        </p:txBody>
      </p:sp>
      <p:sp>
        <p:nvSpPr>
          <p:cNvPr id="32" name="Text 30"/>
          <p:cNvSpPr txBox="1"/>
          <p:nvPr/>
        </p:nvSpPr>
        <p:spPr>
          <a:xfrm>
            <a:off x="8330184" y="3200400"/>
            <a:ext cx="3063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600" dirty="0">
                <a:solidFill>
                  <a:srgbClr val="1B1B2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Bo'shatish buyrug'i yoki shartnoma tugashi</a:t>
            </a:r>
            <a:endParaRPr lang="en-US" sz="1600" dirty="0"/>
          </a:p>
        </p:txBody>
      </p:sp>
      <p:sp>
        <p:nvSpPr>
          <p:cNvPr id="33" name="Text 31"/>
          <p:cNvSpPr txBox="1"/>
          <p:nvPr/>
        </p:nvSpPr>
        <p:spPr>
          <a:xfrm>
            <a:off x="8330184" y="3959352"/>
            <a:ext cx="3063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400" b="1" dirty="0">
                <a:solidFill>
                  <a:srgbClr val="5B627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AMAL</a:t>
            </a:r>
            <a:endParaRPr lang="en-US" sz="1400" dirty="0"/>
          </a:p>
        </p:txBody>
      </p:sp>
      <p:sp>
        <p:nvSpPr>
          <p:cNvPr id="34" name="Text 32"/>
          <p:cNvSpPr txBox="1"/>
          <p:nvPr/>
        </p:nvSpPr>
        <p:spPr>
          <a:xfrm>
            <a:off x="8330184" y="4233672"/>
            <a:ext cx="3063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600" dirty="0">
                <a:solidFill>
                  <a:srgbClr val="1B1B2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Blokirovka qilish, seans va tokenlarni bekor qilish</a:t>
            </a:r>
            <a:endParaRPr lang="en-US" sz="1600" dirty="0"/>
          </a:p>
        </p:txBody>
      </p:sp>
      <p:sp>
        <p:nvSpPr>
          <p:cNvPr id="35" name="Text 33"/>
          <p:cNvSpPr txBox="1"/>
          <p:nvPr/>
        </p:nvSpPr>
        <p:spPr>
          <a:xfrm>
            <a:off x="8330184" y="4992624"/>
            <a:ext cx="3063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400" b="1" dirty="0">
                <a:solidFill>
                  <a:srgbClr val="9E3B2E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XAVF</a:t>
            </a:r>
            <a:endParaRPr lang="en-US" sz="1400" dirty="0"/>
          </a:p>
        </p:txBody>
      </p:sp>
      <p:sp>
        <p:nvSpPr>
          <p:cNvPr id="36" name="Text 34"/>
          <p:cNvSpPr txBox="1"/>
          <p:nvPr/>
        </p:nvSpPr>
        <p:spPr>
          <a:xfrm>
            <a:off x="8330184" y="5266944"/>
            <a:ext cx="3063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600" dirty="0">
                <a:solidFill>
                  <a:srgbClr val="9E3B2E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Egasiz qayd yozuvlari</a:t>
            </a:r>
            <a:endParaRPr lang="en-US" sz="1600" dirty="0"/>
          </a:p>
        </p:txBody>
      </p:sp>
      <p:sp>
        <p:nvSpPr>
          <p:cNvPr id="37" name="Text 35"/>
          <p:cNvSpPr txBox="1"/>
          <p:nvPr/>
        </p:nvSpPr>
        <p:spPr>
          <a:xfrm>
            <a:off x="548640" y="649224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B627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Foydalanishlarni boshqarish  ·  2-ma'ruza</a:t>
            </a:r>
            <a:endParaRPr lang="en-US" sz="1100" dirty="0"/>
          </a:p>
        </p:txBody>
      </p:sp>
      <p:sp>
        <p:nvSpPr>
          <p:cNvPr id="38" name="Text 36"/>
          <p:cNvSpPr txBox="1"/>
          <p:nvPr/>
        </p:nvSpPr>
        <p:spPr>
          <a:xfrm>
            <a:off x="11155680" y="649224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5B627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12</a:t>
            </a:r>
            <a:endParaRPr lang="en-US" sz="11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DF3E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47472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kern="0" spc="220" dirty="0">
                <a:solidFill>
                  <a:srgbClr val="D9932B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MINI-VAZIFA · 4 DAQIQA</a:t>
            </a:r>
            <a:endParaRPr lang="en-US" sz="16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731520"/>
            <a:ext cx="100584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95000"/>
              </a:lnSpc>
              <a:buNone/>
            </a:pPr>
            <a:r>
              <a:rPr lang="en-US" sz="3600" b="1" dirty="0">
                <a:solidFill>
                  <a:srgbClr val="9A5B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Bu qaysi hodisa: J, M yoki L?</a:t>
            </a:r>
            <a:endParaRPr lang="en-US" sz="3600" dirty="0"/>
          </a:p>
        </p:txBody>
      </p:sp>
      <p:sp>
        <p:nvSpPr>
          <p:cNvPr id="4" name="Shape 2"/>
          <p:cNvSpPr/>
          <p:nvPr/>
        </p:nvSpPr>
        <p:spPr>
          <a:xfrm>
            <a:off x="10744200" y="411480"/>
            <a:ext cx="868680" cy="868680"/>
          </a:xfrm>
          <a:prstGeom prst="ellipse">
            <a:avLst/>
          </a:prstGeom>
          <a:solidFill>
            <a:srgbClr val="D9932B"/>
          </a:solidFill>
          <a:ln/>
        </p:spPr>
        <p:txBody>
          <a:bodyPr/>
          <a:lstStyle/>
          <a:p>
            <a:endParaRPr lang="ru-RU"/>
          </a:p>
        </p:txBody>
      </p:sp>
      <p:pic>
        <p:nvPicPr>
          <p:cNvPr id="5" name="Image 0" descr="/home/claude/fob-slides/icons_out/pencil_whit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978744" y="646024"/>
            <a:ext cx="399593" cy="399593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548640" y="1783080"/>
            <a:ext cx="11064240" cy="731520"/>
          </a:xfrm>
          <a:prstGeom prst="roundRect">
            <a:avLst>
              <a:gd name="adj" fmla="val 11250"/>
            </a:avLst>
          </a:prstGeom>
          <a:solidFill>
            <a:srgbClr val="FFFFFF"/>
          </a:solidFill>
          <a:ln/>
        </p:spPr>
        <p:txBody>
          <a:bodyPr/>
          <a:lstStyle/>
          <a:p>
            <a:endParaRPr lang="ru-RU"/>
          </a:p>
        </p:txBody>
      </p:sp>
      <p:sp>
        <p:nvSpPr>
          <p:cNvPr id="7" name="Text 4"/>
          <p:cNvSpPr txBox="1"/>
          <p:nvPr/>
        </p:nvSpPr>
        <p:spPr>
          <a:xfrm>
            <a:off x="868680" y="1783080"/>
            <a:ext cx="104241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800" dirty="0">
                <a:solidFill>
                  <a:srgbClr val="1B1B2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Har bir holat uchun hodisa turini aniqlang va bitta aniq amalni yozing.</a:t>
            </a:r>
            <a:endParaRPr lang="en-US" sz="1800" dirty="0"/>
          </a:p>
        </p:txBody>
      </p:sp>
      <p:sp>
        <p:nvSpPr>
          <p:cNvPr id="8" name="Shape 5"/>
          <p:cNvSpPr/>
          <p:nvPr/>
        </p:nvSpPr>
        <p:spPr>
          <a:xfrm>
            <a:off x="548640" y="2697480"/>
            <a:ext cx="11064240" cy="731520"/>
          </a:xfrm>
          <a:prstGeom prst="roundRect">
            <a:avLst>
              <a:gd name="adj" fmla="val 11250"/>
            </a:avLst>
          </a:prstGeom>
          <a:solidFill>
            <a:srgbClr val="FFFFFF"/>
          </a:solidFill>
          <a:ln/>
        </p:spPr>
        <p:txBody>
          <a:bodyPr/>
          <a:lstStyle/>
          <a:p>
            <a:endParaRPr lang="ru-RU"/>
          </a:p>
        </p:txBody>
      </p:sp>
      <p:sp>
        <p:nvSpPr>
          <p:cNvPr id="9" name="Shape 6"/>
          <p:cNvSpPr/>
          <p:nvPr/>
        </p:nvSpPr>
        <p:spPr>
          <a:xfrm>
            <a:off x="548640" y="2697480"/>
            <a:ext cx="685800" cy="731520"/>
          </a:xfrm>
          <a:prstGeom prst="roundRect">
            <a:avLst>
              <a:gd name="adj" fmla="val 12000"/>
            </a:avLst>
          </a:prstGeom>
          <a:solidFill>
            <a:srgbClr val="D9932B"/>
          </a:solidFill>
          <a:ln/>
        </p:spPr>
        <p:txBody>
          <a:bodyPr/>
          <a:lstStyle/>
          <a:p>
            <a:endParaRPr lang="ru-RU"/>
          </a:p>
        </p:txBody>
      </p:sp>
      <p:sp>
        <p:nvSpPr>
          <p:cNvPr id="10" name="Text 7"/>
          <p:cNvSpPr txBox="1"/>
          <p:nvPr/>
        </p:nvSpPr>
        <p:spPr>
          <a:xfrm>
            <a:off x="548640" y="2697480"/>
            <a:ext cx="685800" cy="73152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800" b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</a:t>
            </a:r>
            <a:endParaRPr lang="en-US" sz="1800" dirty="0"/>
          </a:p>
        </p:txBody>
      </p:sp>
      <p:sp>
        <p:nvSpPr>
          <p:cNvPr id="11" name="Text 8"/>
          <p:cNvSpPr txBox="1"/>
          <p:nvPr/>
        </p:nvSpPr>
        <p:spPr>
          <a:xfrm>
            <a:off x="1417320" y="2697480"/>
            <a:ext cx="84124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700" dirty="0">
                <a:solidFill>
                  <a:srgbClr val="1B1B2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Yangi laborant ishga qabul qilindi va kompyuter sinfiga biriktirildi.</a:t>
            </a:r>
            <a:endParaRPr lang="en-US" sz="1700" dirty="0"/>
          </a:p>
        </p:txBody>
      </p:sp>
      <p:sp>
        <p:nvSpPr>
          <p:cNvPr id="12" name="Shape 9"/>
          <p:cNvSpPr/>
          <p:nvPr/>
        </p:nvSpPr>
        <p:spPr>
          <a:xfrm>
            <a:off x="10012680" y="2816352"/>
            <a:ext cx="1417320" cy="493776"/>
          </a:xfrm>
          <a:prstGeom prst="roundRect">
            <a:avLst>
              <a:gd name="adj" fmla="val 16667"/>
            </a:avLst>
          </a:prstGeom>
          <a:solidFill>
            <a:srgbClr val="FDF3E2"/>
          </a:solidFill>
          <a:ln w="12700">
            <a:solidFill>
              <a:srgbClr val="D9932B"/>
            </a:solidFill>
            <a:prstDash val="solid"/>
          </a:ln>
        </p:spPr>
        <p:txBody>
          <a:bodyPr/>
          <a:lstStyle/>
          <a:p>
            <a:endParaRPr lang="ru-RU"/>
          </a:p>
        </p:txBody>
      </p:sp>
      <p:sp>
        <p:nvSpPr>
          <p:cNvPr id="13" name="Text 10"/>
          <p:cNvSpPr txBox="1"/>
          <p:nvPr/>
        </p:nvSpPr>
        <p:spPr>
          <a:xfrm>
            <a:off x="10012680" y="2816352"/>
            <a:ext cx="1417320" cy="493776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600" b="1" dirty="0">
                <a:solidFill>
                  <a:srgbClr val="9A5B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J / M / L</a:t>
            </a:r>
            <a:endParaRPr lang="en-US" sz="1600" dirty="0"/>
          </a:p>
        </p:txBody>
      </p:sp>
      <p:sp>
        <p:nvSpPr>
          <p:cNvPr id="14" name="Shape 11"/>
          <p:cNvSpPr/>
          <p:nvPr/>
        </p:nvSpPr>
        <p:spPr>
          <a:xfrm>
            <a:off x="548640" y="3547872"/>
            <a:ext cx="11064240" cy="731520"/>
          </a:xfrm>
          <a:prstGeom prst="roundRect">
            <a:avLst>
              <a:gd name="adj" fmla="val 11250"/>
            </a:avLst>
          </a:prstGeom>
          <a:solidFill>
            <a:srgbClr val="FFFFFF"/>
          </a:solidFill>
          <a:ln/>
        </p:spPr>
        <p:txBody>
          <a:bodyPr/>
          <a:lstStyle/>
          <a:p>
            <a:endParaRPr lang="ru-RU"/>
          </a:p>
        </p:txBody>
      </p:sp>
      <p:sp>
        <p:nvSpPr>
          <p:cNvPr id="15" name="Shape 12"/>
          <p:cNvSpPr/>
          <p:nvPr/>
        </p:nvSpPr>
        <p:spPr>
          <a:xfrm>
            <a:off x="548640" y="3547872"/>
            <a:ext cx="685800" cy="731520"/>
          </a:xfrm>
          <a:prstGeom prst="roundRect">
            <a:avLst>
              <a:gd name="adj" fmla="val 12000"/>
            </a:avLst>
          </a:prstGeom>
          <a:solidFill>
            <a:srgbClr val="D9932B"/>
          </a:solidFill>
          <a:ln/>
        </p:spPr>
        <p:txBody>
          <a:bodyPr/>
          <a:lstStyle/>
          <a:p>
            <a:endParaRPr lang="ru-RU"/>
          </a:p>
        </p:txBody>
      </p:sp>
      <p:sp>
        <p:nvSpPr>
          <p:cNvPr id="16" name="Text 13"/>
          <p:cNvSpPr txBox="1"/>
          <p:nvPr/>
        </p:nvSpPr>
        <p:spPr>
          <a:xfrm>
            <a:off x="548640" y="3547872"/>
            <a:ext cx="685800" cy="73152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800" b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b</a:t>
            </a:r>
            <a:endParaRPr lang="en-US" sz="1800" dirty="0"/>
          </a:p>
        </p:txBody>
      </p:sp>
      <p:sp>
        <p:nvSpPr>
          <p:cNvPr id="17" name="Text 14"/>
          <p:cNvSpPr txBox="1"/>
          <p:nvPr/>
        </p:nvSpPr>
        <p:spPr>
          <a:xfrm>
            <a:off x="1417320" y="3547872"/>
            <a:ext cx="84124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700" dirty="0">
                <a:solidFill>
                  <a:srgbClr val="1B1B2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Talaba 2-kursdan 3-kursga o'tdi va yangi fanlarga yozildi.</a:t>
            </a:r>
            <a:endParaRPr lang="en-US" sz="1700" dirty="0"/>
          </a:p>
        </p:txBody>
      </p:sp>
      <p:sp>
        <p:nvSpPr>
          <p:cNvPr id="18" name="Shape 15"/>
          <p:cNvSpPr/>
          <p:nvPr/>
        </p:nvSpPr>
        <p:spPr>
          <a:xfrm>
            <a:off x="10012680" y="3666744"/>
            <a:ext cx="1417320" cy="493776"/>
          </a:xfrm>
          <a:prstGeom prst="roundRect">
            <a:avLst>
              <a:gd name="adj" fmla="val 16667"/>
            </a:avLst>
          </a:prstGeom>
          <a:solidFill>
            <a:srgbClr val="FDF3E2"/>
          </a:solidFill>
          <a:ln w="12700">
            <a:solidFill>
              <a:srgbClr val="D9932B"/>
            </a:solidFill>
            <a:prstDash val="solid"/>
          </a:ln>
        </p:spPr>
        <p:txBody>
          <a:bodyPr/>
          <a:lstStyle/>
          <a:p>
            <a:endParaRPr lang="ru-RU"/>
          </a:p>
        </p:txBody>
      </p:sp>
      <p:sp>
        <p:nvSpPr>
          <p:cNvPr id="19" name="Text 16"/>
          <p:cNvSpPr txBox="1"/>
          <p:nvPr/>
        </p:nvSpPr>
        <p:spPr>
          <a:xfrm>
            <a:off x="10012680" y="3666744"/>
            <a:ext cx="1417320" cy="493776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600" b="1" dirty="0">
                <a:solidFill>
                  <a:srgbClr val="9A5B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J / M / L</a:t>
            </a:r>
            <a:endParaRPr lang="en-US" sz="1600" dirty="0"/>
          </a:p>
        </p:txBody>
      </p:sp>
      <p:sp>
        <p:nvSpPr>
          <p:cNvPr id="20" name="Shape 17"/>
          <p:cNvSpPr/>
          <p:nvPr/>
        </p:nvSpPr>
        <p:spPr>
          <a:xfrm>
            <a:off x="548640" y="4398264"/>
            <a:ext cx="11064240" cy="731520"/>
          </a:xfrm>
          <a:prstGeom prst="roundRect">
            <a:avLst>
              <a:gd name="adj" fmla="val 11250"/>
            </a:avLst>
          </a:prstGeom>
          <a:solidFill>
            <a:srgbClr val="FFFFFF"/>
          </a:solidFill>
          <a:ln/>
        </p:spPr>
        <p:txBody>
          <a:bodyPr/>
          <a:lstStyle/>
          <a:p>
            <a:endParaRPr lang="ru-RU"/>
          </a:p>
        </p:txBody>
      </p:sp>
      <p:sp>
        <p:nvSpPr>
          <p:cNvPr id="21" name="Shape 18"/>
          <p:cNvSpPr/>
          <p:nvPr/>
        </p:nvSpPr>
        <p:spPr>
          <a:xfrm>
            <a:off x="548640" y="4398264"/>
            <a:ext cx="685800" cy="731520"/>
          </a:xfrm>
          <a:prstGeom prst="roundRect">
            <a:avLst>
              <a:gd name="adj" fmla="val 12000"/>
            </a:avLst>
          </a:prstGeom>
          <a:solidFill>
            <a:srgbClr val="D9932B"/>
          </a:solidFill>
          <a:ln/>
        </p:spPr>
        <p:txBody>
          <a:bodyPr/>
          <a:lstStyle/>
          <a:p>
            <a:endParaRPr lang="ru-RU"/>
          </a:p>
        </p:txBody>
      </p:sp>
      <p:sp>
        <p:nvSpPr>
          <p:cNvPr id="22" name="Text 19"/>
          <p:cNvSpPr txBox="1"/>
          <p:nvPr/>
        </p:nvSpPr>
        <p:spPr>
          <a:xfrm>
            <a:off x="548640" y="4398264"/>
            <a:ext cx="685800" cy="73152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800" b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c</a:t>
            </a:r>
            <a:endParaRPr lang="en-US" sz="1800" dirty="0"/>
          </a:p>
        </p:txBody>
      </p:sp>
      <p:sp>
        <p:nvSpPr>
          <p:cNvPr id="23" name="Text 20"/>
          <p:cNvSpPr txBox="1"/>
          <p:nvPr/>
        </p:nvSpPr>
        <p:spPr>
          <a:xfrm>
            <a:off x="1417320" y="4398264"/>
            <a:ext cx="84124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700" dirty="0">
                <a:solidFill>
                  <a:srgbClr val="1B1B2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Dotsent boshqa universitetga ishga o'tdi.</a:t>
            </a:r>
            <a:endParaRPr lang="en-US" sz="1700" dirty="0"/>
          </a:p>
        </p:txBody>
      </p:sp>
      <p:sp>
        <p:nvSpPr>
          <p:cNvPr id="24" name="Shape 21"/>
          <p:cNvSpPr/>
          <p:nvPr/>
        </p:nvSpPr>
        <p:spPr>
          <a:xfrm>
            <a:off x="10012680" y="4517136"/>
            <a:ext cx="1417320" cy="493776"/>
          </a:xfrm>
          <a:prstGeom prst="roundRect">
            <a:avLst>
              <a:gd name="adj" fmla="val 16667"/>
            </a:avLst>
          </a:prstGeom>
          <a:solidFill>
            <a:srgbClr val="FDF3E2"/>
          </a:solidFill>
          <a:ln w="12700">
            <a:solidFill>
              <a:srgbClr val="D9932B"/>
            </a:solidFill>
            <a:prstDash val="solid"/>
          </a:ln>
        </p:spPr>
        <p:txBody>
          <a:bodyPr/>
          <a:lstStyle/>
          <a:p>
            <a:endParaRPr lang="ru-RU"/>
          </a:p>
        </p:txBody>
      </p:sp>
      <p:sp>
        <p:nvSpPr>
          <p:cNvPr id="25" name="Text 22"/>
          <p:cNvSpPr txBox="1"/>
          <p:nvPr/>
        </p:nvSpPr>
        <p:spPr>
          <a:xfrm>
            <a:off x="10012680" y="4517136"/>
            <a:ext cx="1417320" cy="493776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600" b="1" dirty="0">
                <a:solidFill>
                  <a:srgbClr val="9A5B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J / M / L</a:t>
            </a:r>
            <a:endParaRPr lang="en-US" sz="1600" dirty="0"/>
          </a:p>
        </p:txBody>
      </p:sp>
      <p:sp>
        <p:nvSpPr>
          <p:cNvPr id="26" name="Shape 23"/>
          <p:cNvSpPr/>
          <p:nvPr/>
        </p:nvSpPr>
        <p:spPr>
          <a:xfrm>
            <a:off x="548640" y="5248656"/>
            <a:ext cx="11064240" cy="731520"/>
          </a:xfrm>
          <a:prstGeom prst="roundRect">
            <a:avLst>
              <a:gd name="adj" fmla="val 11250"/>
            </a:avLst>
          </a:prstGeom>
          <a:solidFill>
            <a:srgbClr val="FFFFFF"/>
          </a:solidFill>
          <a:ln/>
        </p:spPr>
        <p:txBody>
          <a:bodyPr/>
          <a:lstStyle/>
          <a:p>
            <a:endParaRPr lang="ru-RU"/>
          </a:p>
        </p:txBody>
      </p:sp>
      <p:sp>
        <p:nvSpPr>
          <p:cNvPr id="27" name="Shape 24"/>
          <p:cNvSpPr/>
          <p:nvPr/>
        </p:nvSpPr>
        <p:spPr>
          <a:xfrm>
            <a:off x="548640" y="5248656"/>
            <a:ext cx="685800" cy="731520"/>
          </a:xfrm>
          <a:prstGeom prst="roundRect">
            <a:avLst>
              <a:gd name="adj" fmla="val 12000"/>
            </a:avLst>
          </a:prstGeom>
          <a:solidFill>
            <a:srgbClr val="D9932B"/>
          </a:solidFill>
          <a:ln/>
        </p:spPr>
        <p:txBody>
          <a:bodyPr/>
          <a:lstStyle/>
          <a:p>
            <a:endParaRPr lang="ru-RU"/>
          </a:p>
        </p:txBody>
      </p:sp>
      <p:sp>
        <p:nvSpPr>
          <p:cNvPr id="28" name="Text 25"/>
          <p:cNvSpPr txBox="1"/>
          <p:nvPr/>
        </p:nvSpPr>
        <p:spPr>
          <a:xfrm>
            <a:off x="548640" y="5248656"/>
            <a:ext cx="685800" cy="73152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800" b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d</a:t>
            </a:r>
            <a:endParaRPr lang="en-US" sz="1800" dirty="0"/>
          </a:p>
        </p:txBody>
      </p:sp>
      <p:sp>
        <p:nvSpPr>
          <p:cNvPr id="29" name="Text 26"/>
          <p:cNvSpPr txBox="1"/>
          <p:nvPr/>
        </p:nvSpPr>
        <p:spPr>
          <a:xfrm>
            <a:off x="1417320" y="5248656"/>
            <a:ext cx="84124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700" dirty="0">
                <a:solidFill>
                  <a:srgbClr val="1B1B2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O'qituvchi dekan o'rinbosari etib tayinlandi, lekin dars berishni davom ettiradi.</a:t>
            </a:r>
            <a:endParaRPr lang="en-US" sz="1700" dirty="0"/>
          </a:p>
        </p:txBody>
      </p:sp>
      <p:sp>
        <p:nvSpPr>
          <p:cNvPr id="30" name="Shape 27"/>
          <p:cNvSpPr/>
          <p:nvPr/>
        </p:nvSpPr>
        <p:spPr>
          <a:xfrm>
            <a:off x="10012680" y="5367528"/>
            <a:ext cx="1417320" cy="493776"/>
          </a:xfrm>
          <a:prstGeom prst="roundRect">
            <a:avLst>
              <a:gd name="adj" fmla="val 16667"/>
            </a:avLst>
          </a:prstGeom>
          <a:solidFill>
            <a:srgbClr val="FDF3E2"/>
          </a:solidFill>
          <a:ln w="12700">
            <a:solidFill>
              <a:srgbClr val="D9932B"/>
            </a:solidFill>
            <a:prstDash val="solid"/>
          </a:ln>
        </p:spPr>
        <p:txBody>
          <a:bodyPr/>
          <a:lstStyle/>
          <a:p>
            <a:endParaRPr lang="ru-RU"/>
          </a:p>
        </p:txBody>
      </p:sp>
      <p:sp>
        <p:nvSpPr>
          <p:cNvPr id="31" name="Text 28"/>
          <p:cNvSpPr txBox="1"/>
          <p:nvPr/>
        </p:nvSpPr>
        <p:spPr>
          <a:xfrm>
            <a:off x="10012680" y="5367528"/>
            <a:ext cx="1417320" cy="493776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600" b="1" dirty="0">
                <a:solidFill>
                  <a:srgbClr val="9A5B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J / M / L</a:t>
            </a:r>
            <a:endParaRPr lang="en-US" sz="1600" dirty="0"/>
          </a:p>
        </p:txBody>
      </p:sp>
      <p:sp>
        <p:nvSpPr>
          <p:cNvPr id="32" name="Text 29"/>
          <p:cNvSpPr txBox="1"/>
          <p:nvPr/>
        </p:nvSpPr>
        <p:spPr>
          <a:xfrm>
            <a:off x="548640" y="6126480"/>
            <a:ext cx="11064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400" dirty="0">
                <a:solidFill>
                  <a:srgbClr val="9A5B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Qiyin savol: d) holatida qaysi tamoyil xavf ostida qoladi?</a:t>
            </a:r>
            <a:endParaRPr lang="en-US" sz="1400" dirty="0"/>
          </a:p>
        </p:txBody>
      </p:sp>
      <p:sp>
        <p:nvSpPr>
          <p:cNvPr id="33" name="Text 30"/>
          <p:cNvSpPr txBox="1"/>
          <p:nvPr/>
        </p:nvSpPr>
        <p:spPr>
          <a:xfrm>
            <a:off x="548640" y="649224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9A5B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Foydalanishlarni boshqarish  ·  2-ma'ruza</a:t>
            </a:r>
            <a:endParaRPr lang="en-US" sz="1100" dirty="0"/>
          </a:p>
        </p:txBody>
      </p:sp>
      <p:sp>
        <p:nvSpPr>
          <p:cNvPr id="34" name="Text 31"/>
          <p:cNvSpPr txBox="1"/>
          <p:nvPr/>
        </p:nvSpPr>
        <p:spPr>
          <a:xfrm>
            <a:off x="11155680" y="649224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9A5B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13</a:t>
            </a:r>
            <a:endParaRPr lang="en-US" sz="11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47472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kern="0" spc="220" dirty="0">
                <a:solidFill>
                  <a:srgbClr val="5B627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PROVISIONING</a:t>
            </a:r>
            <a:endParaRPr lang="en-US" sz="16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731520"/>
            <a:ext cx="100584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95000"/>
              </a:lnSpc>
              <a:buNone/>
            </a:pPr>
            <a:r>
              <a:rPr lang="en-US" sz="3600" b="1" dirty="0">
                <a:solidFill>
                  <a:srgbClr val="1E276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Qayd yozuvi va imtiyozlarni berish usullari</a:t>
            </a:r>
            <a:endParaRPr lang="en-US" sz="36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737360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700" dirty="0">
                <a:solidFill>
                  <a:srgbClr val="1B1B2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Provisioning — identifikator uchun kerakli tizimlarda qayd yozuvi yaratish va imtiyozlarni tayinlash jarayoni.</a:t>
            </a:r>
            <a:endParaRPr lang="en-US" sz="1700" dirty="0"/>
          </a:p>
        </p:txBody>
      </p:sp>
      <p:sp>
        <p:nvSpPr>
          <p:cNvPr id="5" name="Shape 3"/>
          <p:cNvSpPr/>
          <p:nvPr/>
        </p:nvSpPr>
        <p:spPr>
          <a:xfrm>
            <a:off x="548640" y="2606040"/>
            <a:ext cx="3566160" cy="3429000"/>
          </a:xfrm>
          <a:prstGeom prst="roundRect">
            <a:avLst>
              <a:gd name="adj" fmla="val 2400"/>
            </a:avLst>
          </a:prstGeom>
          <a:solidFill>
            <a:srgbClr val="EEF2FB"/>
          </a:solidFill>
          <a:ln/>
        </p:spPr>
        <p:txBody>
          <a:bodyPr/>
          <a:lstStyle/>
          <a:p>
            <a:endParaRPr lang="ru-RU"/>
          </a:p>
        </p:txBody>
      </p:sp>
      <p:sp>
        <p:nvSpPr>
          <p:cNvPr id="6" name="Shape 4"/>
          <p:cNvSpPr/>
          <p:nvPr/>
        </p:nvSpPr>
        <p:spPr>
          <a:xfrm>
            <a:off x="804672" y="2862072"/>
            <a:ext cx="640080" cy="640080"/>
          </a:xfrm>
          <a:prstGeom prst="ellipse">
            <a:avLst/>
          </a:prstGeom>
          <a:solidFill>
            <a:srgbClr val="1E2761"/>
          </a:solidFill>
          <a:ln/>
        </p:spPr>
        <p:txBody>
          <a:bodyPr/>
          <a:lstStyle/>
          <a:p>
            <a:endParaRPr lang="ru-RU"/>
          </a:p>
        </p:txBody>
      </p:sp>
      <p:pic>
        <p:nvPicPr>
          <p:cNvPr id="7" name="Image 0" descr="/home/claude/fob-slides/icons_out/pencil_whit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48690" y="3006090"/>
            <a:ext cx="352044" cy="352044"/>
          </a:xfrm>
          <a:prstGeom prst="rect">
            <a:avLst/>
          </a:prstGeom>
        </p:spPr>
      </p:pic>
      <p:sp>
        <p:nvSpPr>
          <p:cNvPr id="8" name="Text 5"/>
          <p:cNvSpPr txBox="1"/>
          <p:nvPr/>
        </p:nvSpPr>
        <p:spPr>
          <a:xfrm>
            <a:off x="1600200" y="2935224"/>
            <a:ext cx="2377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2000" b="1" dirty="0">
                <a:solidFill>
                  <a:srgbClr val="1E276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Qo'lda</a:t>
            </a:r>
            <a:endParaRPr lang="en-US" sz="2000" dirty="0"/>
          </a:p>
        </p:txBody>
      </p:sp>
      <p:sp>
        <p:nvSpPr>
          <p:cNvPr id="9" name="Text 6"/>
          <p:cNvSpPr txBox="1"/>
          <p:nvPr/>
        </p:nvSpPr>
        <p:spPr>
          <a:xfrm>
            <a:off x="804672" y="3703320"/>
            <a:ext cx="3108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600" b="1" dirty="0">
                <a:solidFill>
                  <a:srgbClr val="1E276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Ariza → ma'mur → qayd yozuvi yaratiladi</a:t>
            </a:r>
            <a:endParaRPr lang="en-US" sz="1600" dirty="0"/>
          </a:p>
        </p:txBody>
      </p:sp>
      <p:sp>
        <p:nvSpPr>
          <p:cNvPr id="10" name="Text 7"/>
          <p:cNvSpPr txBox="1"/>
          <p:nvPr/>
        </p:nvSpPr>
        <p:spPr>
          <a:xfrm>
            <a:off x="804672" y="4526280"/>
            <a:ext cx="3108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400" b="1" dirty="0">
                <a:solidFill>
                  <a:srgbClr val="5B627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Qachon mos:</a:t>
            </a:r>
            <a:endParaRPr lang="en-US" sz="1400" dirty="0"/>
          </a:p>
        </p:txBody>
      </p:sp>
      <p:sp>
        <p:nvSpPr>
          <p:cNvPr id="11" name="Text 8"/>
          <p:cNvSpPr txBox="1"/>
          <p:nvPr/>
        </p:nvSpPr>
        <p:spPr>
          <a:xfrm>
            <a:off x="804672" y="4846320"/>
            <a:ext cx="31089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600" dirty="0">
                <a:solidFill>
                  <a:srgbClr val="1B1B2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Kichik tashkilot, kam tizim. Lekin sekin va xatoga moyil.</a:t>
            </a:r>
            <a:endParaRPr lang="en-US" sz="1600" dirty="0"/>
          </a:p>
        </p:txBody>
      </p:sp>
      <p:sp>
        <p:nvSpPr>
          <p:cNvPr id="12" name="Shape 9"/>
          <p:cNvSpPr/>
          <p:nvPr/>
        </p:nvSpPr>
        <p:spPr>
          <a:xfrm>
            <a:off x="4297680" y="2606040"/>
            <a:ext cx="3566160" cy="3429000"/>
          </a:xfrm>
          <a:prstGeom prst="roundRect">
            <a:avLst>
              <a:gd name="adj" fmla="val 2400"/>
            </a:avLst>
          </a:prstGeom>
          <a:solidFill>
            <a:srgbClr val="1E2761"/>
          </a:solidFill>
          <a:ln/>
        </p:spPr>
        <p:txBody>
          <a:bodyPr/>
          <a:lstStyle/>
          <a:p>
            <a:endParaRPr lang="ru-RU"/>
          </a:p>
        </p:txBody>
      </p:sp>
      <p:sp>
        <p:nvSpPr>
          <p:cNvPr id="13" name="Shape 10"/>
          <p:cNvSpPr/>
          <p:nvPr/>
        </p:nvSpPr>
        <p:spPr>
          <a:xfrm>
            <a:off x="4553712" y="2862072"/>
            <a:ext cx="640080" cy="640080"/>
          </a:xfrm>
          <a:prstGeom prst="ellipse">
            <a:avLst/>
          </a:prstGeom>
          <a:solidFill>
            <a:srgbClr val="2A3778"/>
          </a:solidFill>
          <a:ln/>
        </p:spPr>
        <p:txBody>
          <a:bodyPr/>
          <a:lstStyle/>
          <a:p>
            <a:endParaRPr lang="ru-RU"/>
          </a:p>
        </p:txBody>
      </p:sp>
      <p:pic>
        <p:nvPicPr>
          <p:cNvPr id="14" name="Image 1" descr="/home/claude/fob-slides/icons_out/cogs_whit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697730" y="3006090"/>
            <a:ext cx="352044" cy="352044"/>
          </a:xfrm>
          <a:prstGeom prst="rect">
            <a:avLst/>
          </a:prstGeom>
        </p:spPr>
      </p:pic>
      <p:sp>
        <p:nvSpPr>
          <p:cNvPr id="15" name="Text 11"/>
          <p:cNvSpPr txBox="1"/>
          <p:nvPr/>
        </p:nvSpPr>
        <p:spPr>
          <a:xfrm>
            <a:off x="5349240" y="2935224"/>
            <a:ext cx="2377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2000" b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Avtomatik</a:t>
            </a:r>
            <a:endParaRPr lang="en-US" sz="2000" dirty="0"/>
          </a:p>
        </p:txBody>
      </p:sp>
      <p:sp>
        <p:nvSpPr>
          <p:cNvPr id="16" name="Text 12"/>
          <p:cNvSpPr txBox="1"/>
          <p:nvPr/>
        </p:nvSpPr>
        <p:spPr>
          <a:xfrm>
            <a:off x="4553712" y="3703320"/>
            <a:ext cx="3108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600" b="1" dirty="0">
                <a:solidFill>
                  <a:srgbClr val="CADCFC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HR hodisasi → IGA → tizim konnektorlari</a:t>
            </a:r>
            <a:endParaRPr lang="en-US" sz="1600" dirty="0"/>
          </a:p>
        </p:txBody>
      </p:sp>
      <p:sp>
        <p:nvSpPr>
          <p:cNvPr id="17" name="Text 13"/>
          <p:cNvSpPr txBox="1"/>
          <p:nvPr/>
        </p:nvSpPr>
        <p:spPr>
          <a:xfrm>
            <a:off x="4553712" y="4526280"/>
            <a:ext cx="3108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400" b="1" dirty="0">
                <a:solidFill>
                  <a:srgbClr val="9FB0E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Qachon mos:</a:t>
            </a:r>
            <a:endParaRPr lang="en-US" sz="1400" dirty="0"/>
          </a:p>
        </p:txBody>
      </p:sp>
      <p:sp>
        <p:nvSpPr>
          <p:cNvPr id="18" name="Text 14"/>
          <p:cNvSpPr txBox="1"/>
          <p:nvPr/>
        </p:nvSpPr>
        <p:spPr>
          <a:xfrm>
            <a:off x="4553712" y="4846320"/>
            <a:ext cx="31089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600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Tizimlar ko'p va o'zgarishlar tez-tez bo'lganda.</a:t>
            </a:r>
            <a:endParaRPr lang="en-US" sz="1600" dirty="0"/>
          </a:p>
        </p:txBody>
      </p:sp>
      <p:sp>
        <p:nvSpPr>
          <p:cNvPr id="19" name="Shape 15"/>
          <p:cNvSpPr/>
          <p:nvPr/>
        </p:nvSpPr>
        <p:spPr>
          <a:xfrm>
            <a:off x="8046720" y="2606040"/>
            <a:ext cx="3566160" cy="3429000"/>
          </a:xfrm>
          <a:prstGeom prst="roundRect">
            <a:avLst>
              <a:gd name="adj" fmla="val 2400"/>
            </a:avLst>
          </a:prstGeom>
          <a:solidFill>
            <a:srgbClr val="EEF2FB"/>
          </a:solidFill>
          <a:ln/>
        </p:spPr>
        <p:txBody>
          <a:bodyPr/>
          <a:lstStyle/>
          <a:p>
            <a:endParaRPr lang="ru-RU"/>
          </a:p>
        </p:txBody>
      </p:sp>
      <p:sp>
        <p:nvSpPr>
          <p:cNvPr id="20" name="Shape 16"/>
          <p:cNvSpPr/>
          <p:nvPr/>
        </p:nvSpPr>
        <p:spPr>
          <a:xfrm>
            <a:off x="8302752" y="2862072"/>
            <a:ext cx="640080" cy="640080"/>
          </a:xfrm>
          <a:prstGeom prst="ellipse">
            <a:avLst/>
          </a:prstGeom>
          <a:solidFill>
            <a:srgbClr val="1E2761"/>
          </a:solidFill>
          <a:ln/>
        </p:spPr>
        <p:txBody>
          <a:bodyPr/>
          <a:lstStyle/>
          <a:p>
            <a:endParaRPr lang="ru-RU"/>
          </a:p>
        </p:txBody>
      </p:sp>
      <p:pic>
        <p:nvPicPr>
          <p:cNvPr id="21" name="Image 2" descr="/home/claude/fob-slides/icons_out/layers_whit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446770" y="3006090"/>
            <a:ext cx="352044" cy="352044"/>
          </a:xfrm>
          <a:prstGeom prst="rect">
            <a:avLst/>
          </a:prstGeom>
        </p:spPr>
      </p:pic>
      <p:sp>
        <p:nvSpPr>
          <p:cNvPr id="22" name="Text 17"/>
          <p:cNvSpPr txBox="1"/>
          <p:nvPr/>
        </p:nvSpPr>
        <p:spPr>
          <a:xfrm>
            <a:off x="9098280" y="2935224"/>
            <a:ext cx="2377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2000" b="1" dirty="0">
                <a:solidFill>
                  <a:srgbClr val="1E276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Rolli model</a:t>
            </a:r>
            <a:endParaRPr lang="en-US" sz="2000" dirty="0"/>
          </a:p>
        </p:txBody>
      </p:sp>
      <p:sp>
        <p:nvSpPr>
          <p:cNvPr id="23" name="Text 18"/>
          <p:cNvSpPr txBox="1"/>
          <p:nvPr/>
        </p:nvSpPr>
        <p:spPr>
          <a:xfrm>
            <a:off x="8302752" y="3703320"/>
            <a:ext cx="3108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600" b="1" dirty="0">
                <a:solidFill>
                  <a:srgbClr val="1E276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Lavozim → bazaviy rollar to'plami (birthright)</a:t>
            </a:r>
            <a:endParaRPr lang="en-US" sz="1600" dirty="0"/>
          </a:p>
        </p:txBody>
      </p:sp>
      <p:sp>
        <p:nvSpPr>
          <p:cNvPr id="24" name="Text 19"/>
          <p:cNvSpPr txBox="1"/>
          <p:nvPr/>
        </p:nvSpPr>
        <p:spPr>
          <a:xfrm>
            <a:off x="8302752" y="4526280"/>
            <a:ext cx="3108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400" b="1" dirty="0">
                <a:solidFill>
                  <a:srgbClr val="5B627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Qachon mos:</a:t>
            </a:r>
            <a:endParaRPr lang="en-US" sz="1400" dirty="0"/>
          </a:p>
        </p:txBody>
      </p:sp>
      <p:sp>
        <p:nvSpPr>
          <p:cNvPr id="25" name="Text 20"/>
          <p:cNvSpPr txBox="1"/>
          <p:nvPr/>
        </p:nvSpPr>
        <p:spPr>
          <a:xfrm>
            <a:off x="8302752" y="4846320"/>
            <a:ext cx="31089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600" dirty="0">
                <a:solidFill>
                  <a:srgbClr val="1B1B2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Bir xil vazifali xodimlar ko'p bo'lganda.</a:t>
            </a:r>
            <a:endParaRPr lang="en-US" sz="1600" dirty="0"/>
          </a:p>
        </p:txBody>
      </p:sp>
      <p:sp>
        <p:nvSpPr>
          <p:cNvPr id="26" name="Text 21"/>
          <p:cNvSpPr txBox="1"/>
          <p:nvPr/>
        </p:nvSpPr>
        <p:spPr>
          <a:xfrm>
            <a:off x="548640" y="649224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B627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Foydalanishlarni boshqarish  ·  2-ma'ruza</a:t>
            </a:r>
            <a:endParaRPr lang="en-US" sz="1100" dirty="0"/>
          </a:p>
        </p:txBody>
      </p:sp>
      <p:sp>
        <p:nvSpPr>
          <p:cNvPr id="27" name="Text 22"/>
          <p:cNvSpPr txBox="1"/>
          <p:nvPr/>
        </p:nvSpPr>
        <p:spPr>
          <a:xfrm>
            <a:off x="11155680" y="649224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5B627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14</a:t>
            </a:r>
            <a:endParaRPr lang="en-US" sz="11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47472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kern="0" spc="220" dirty="0">
                <a:solidFill>
                  <a:srgbClr val="5B627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STANDART</a:t>
            </a:r>
            <a:endParaRPr lang="en-US" sz="16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731520"/>
            <a:ext cx="100584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95000"/>
              </a:lnSpc>
              <a:buNone/>
            </a:pPr>
            <a:r>
              <a:rPr lang="en-US" sz="3600" b="1" dirty="0">
                <a:solidFill>
                  <a:srgbClr val="1E276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SCIM: provisioningni avtomatlashtirish</a:t>
            </a:r>
            <a:endParaRPr lang="en-US" sz="36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737360"/>
            <a:ext cx="521208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5000"/>
              </a:lnSpc>
              <a:buNone/>
            </a:pPr>
            <a:r>
              <a:rPr lang="en-US" sz="1600" dirty="0">
                <a:solidFill>
                  <a:srgbClr val="1B1B2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SCIM (System for Cross-domain Identity Management) — qayd yozuvlarini tizimlar o'rtasida yaratish, o'zgartirish va yopish uchun ochiq standart.</a:t>
            </a:r>
            <a:endParaRPr lang="en-US" sz="16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3154680"/>
            <a:ext cx="521208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1B1B2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RFC 7643 — ma'lumot sxemasi (User, Group)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1B1B2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RFC 7644 — REST protokoli: POST, PATCH, DELETE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1B1B2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Leaver = «active»: false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1B1B2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Microsoft Entra ID, Okta va boshqalar qo'llab-quvvatlaydi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6035040" y="1737360"/>
            <a:ext cx="5577840" cy="4251960"/>
          </a:xfrm>
          <a:prstGeom prst="roundRect">
            <a:avLst>
              <a:gd name="adj" fmla="val 1935"/>
            </a:avLst>
          </a:prstGeom>
          <a:solidFill>
            <a:srgbClr val="162048"/>
          </a:solidFill>
          <a:ln/>
        </p:spPr>
        <p:txBody>
          <a:bodyPr/>
          <a:lstStyle/>
          <a:p>
            <a:endParaRPr lang="ru-RU"/>
          </a:p>
        </p:txBody>
      </p:sp>
      <p:sp>
        <p:nvSpPr>
          <p:cNvPr id="7" name="Text 5"/>
          <p:cNvSpPr txBox="1"/>
          <p:nvPr/>
        </p:nvSpPr>
        <p:spPr>
          <a:xfrm>
            <a:off x="6263640" y="1920240"/>
            <a:ext cx="5212080" cy="3886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5000"/>
              </a:lnSpc>
              <a:buNone/>
            </a:pPr>
            <a:r>
              <a:rPr lang="en-US" sz="1400" dirty="0">
                <a:solidFill>
                  <a:srgbClr val="9FB0E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1) Joiner: qayd yozuvi yaratish</a:t>
            </a:r>
            <a:endParaRPr lang="en-US" sz="1400" dirty="0"/>
          </a:p>
          <a:p>
            <a:pPr marL="0" indent="0">
              <a:lnSpc>
                <a:spcPct val="105000"/>
              </a:lnSpc>
              <a:buNone/>
            </a:pPr>
            <a:r>
              <a:rPr lang="en-US" sz="1400" b="1" dirty="0">
                <a:solidFill>
                  <a:srgbClr val="F2B54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POST /scim/v2/Users</a:t>
            </a:r>
            <a:endParaRPr lang="en-US" sz="1400" dirty="0"/>
          </a:p>
          <a:p>
            <a:pPr marL="0" indent="0">
              <a:lnSpc>
                <a:spcPct val="105000"/>
              </a:lnSpc>
              <a:buNone/>
            </a:pPr>
            <a:r>
              <a:rPr lang="en-US" sz="14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</a:t>
            </a:r>
            <a:endParaRPr lang="en-US" sz="1400" dirty="0"/>
          </a:p>
          <a:p>
            <a:pPr marL="0" indent="0">
              <a:lnSpc>
                <a:spcPct val="105000"/>
              </a:lnSpc>
              <a:buNone/>
            </a:pPr>
            <a:r>
              <a:rPr lang="en-US" sz="14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"userName": "a.karimov",</a:t>
            </a:r>
            <a:endParaRPr lang="en-US" sz="1400" dirty="0"/>
          </a:p>
          <a:p>
            <a:pPr marL="0" indent="0">
              <a:lnSpc>
                <a:spcPct val="105000"/>
              </a:lnSpc>
              <a:buNone/>
            </a:pPr>
            <a:r>
              <a:rPr lang="en-US" sz="14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"name": {"givenName": "Aziz",</a:t>
            </a:r>
            <a:endParaRPr lang="en-US" sz="1400" dirty="0"/>
          </a:p>
          <a:p>
            <a:pPr marL="0" indent="0">
              <a:lnSpc>
                <a:spcPct val="105000"/>
              </a:lnSpc>
              <a:buNone/>
            </a:pPr>
            <a:r>
              <a:rPr lang="en-US" sz="14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"familyName": "Karimov"},</a:t>
            </a:r>
            <a:endParaRPr lang="en-US" sz="1400" dirty="0"/>
          </a:p>
          <a:p>
            <a:pPr marL="0" indent="0">
              <a:lnSpc>
                <a:spcPct val="105000"/>
              </a:lnSpc>
              <a:buNone/>
            </a:pPr>
            <a:r>
              <a:rPr lang="en-US" sz="14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"active": true</a:t>
            </a:r>
            <a:endParaRPr lang="en-US" sz="1400" dirty="0"/>
          </a:p>
          <a:p>
            <a:pPr marL="0" indent="0">
              <a:lnSpc>
                <a:spcPct val="105000"/>
              </a:lnSpc>
              <a:buNone/>
            </a:pPr>
            <a:r>
              <a:rPr lang="en-US" sz="14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400" dirty="0"/>
          </a:p>
          <a:p>
            <a:pPr marL="0" indent="0">
              <a:lnSpc>
                <a:spcPct val="105000"/>
              </a:lnSpc>
              <a:buNone/>
            </a:pPr>
            <a:r>
              <a:rPr lang="en-US" sz="1400" dirty="0">
                <a:solidFill>
                  <a:srgbClr val="9FB0E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2) Leaver: blokirovka qilish</a:t>
            </a:r>
            <a:endParaRPr lang="en-US" sz="1400" dirty="0"/>
          </a:p>
          <a:p>
            <a:pPr marL="0" indent="0">
              <a:lnSpc>
                <a:spcPct val="105000"/>
              </a:lnSpc>
              <a:buNone/>
            </a:pPr>
            <a:r>
              <a:rPr lang="en-US" sz="1400" b="1" dirty="0">
                <a:solidFill>
                  <a:srgbClr val="F2B54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PATCH /scim/v2/Users/2819c223</a:t>
            </a:r>
            <a:endParaRPr lang="en-US" sz="1400" dirty="0"/>
          </a:p>
          <a:p>
            <a:pPr marL="0" indent="0">
              <a:lnSpc>
                <a:spcPct val="105000"/>
              </a:lnSpc>
              <a:buNone/>
            </a:pPr>
            <a:r>
              <a:rPr lang="en-US" sz="14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{"Operations": [{"op": "replace",</a:t>
            </a:r>
            <a:endParaRPr lang="en-US" sz="1400" dirty="0"/>
          </a:p>
          <a:p>
            <a:pPr marL="0" indent="0">
              <a:lnSpc>
                <a:spcPct val="105000"/>
              </a:lnSpc>
              <a:buNone/>
            </a:pPr>
            <a:r>
              <a:rPr lang="en-US" sz="14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"path": "active", "value": false}]}</a:t>
            </a:r>
            <a:endParaRPr lang="en-US" sz="1400" dirty="0"/>
          </a:p>
        </p:txBody>
      </p:sp>
      <p:sp>
        <p:nvSpPr>
          <p:cNvPr id="8" name="Text 6"/>
          <p:cNvSpPr txBox="1"/>
          <p:nvPr/>
        </p:nvSpPr>
        <p:spPr>
          <a:xfrm>
            <a:off x="6035040" y="6053328"/>
            <a:ext cx="5577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200" dirty="0">
                <a:solidFill>
                  <a:srgbClr val="5B627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«schemas» maydonlari soddalashtirish uchun tushirib qoldirilgan</a:t>
            </a:r>
            <a:endParaRPr lang="en-US" sz="1200" dirty="0"/>
          </a:p>
        </p:txBody>
      </p:sp>
      <p:sp>
        <p:nvSpPr>
          <p:cNvPr id="9" name="Text 7"/>
          <p:cNvSpPr txBox="1"/>
          <p:nvPr/>
        </p:nvSpPr>
        <p:spPr>
          <a:xfrm>
            <a:off x="548640" y="649224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B627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Foydalanishlarni boshqarish  ·  2-ma'ruza</a:t>
            </a:r>
            <a:endParaRPr lang="en-US" sz="1100" dirty="0"/>
          </a:p>
        </p:txBody>
      </p:sp>
      <p:sp>
        <p:nvSpPr>
          <p:cNvPr id="10" name="Text 8"/>
          <p:cNvSpPr txBox="1"/>
          <p:nvPr/>
        </p:nvSpPr>
        <p:spPr>
          <a:xfrm>
            <a:off x="11155680" y="649224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5B627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15</a:t>
            </a:r>
            <a:endParaRPr lang="en-US" sz="11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DF3E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47472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kern="0" spc="220" dirty="0">
                <a:solidFill>
                  <a:srgbClr val="D9932B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MINI-VAZIFA · 3 DAQIQA</a:t>
            </a:r>
            <a:endParaRPr lang="en-US" sz="16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731520"/>
            <a:ext cx="100584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95000"/>
              </a:lnSpc>
              <a:buNone/>
            </a:pPr>
            <a:r>
              <a:rPr lang="en-US" sz="3600" b="1" dirty="0">
                <a:solidFill>
                  <a:srgbClr val="9A5B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Deprovisioning qadamlarini tartiblang</a:t>
            </a:r>
            <a:endParaRPr lang="en-US" sz="3600" dirty="0"/>
          </a:p>
        </p:txBody>
      </p:sp>
      <p:sp>
        <p:nvSpPr>
          <p:cNvPr id="4" name="Shape 2"/>
          <p:cNvSpPr/>
          <p:nvPr/>
        </p:nvSpPr>
        <p:spPr>
          <a:xfrm>
            <a:off x="10744200" y="411480"/>
            <a:ext cx="868680" cy="868680"/>
          </a:xfrm>
          <a:prstGeom prst="ellipse">
            <a:avLst/>
          </a:prstGeom>
          <a:solidFill>
            <a:srgbClr val="D9932B"/>
          </a:solidFill>
          <a:ln/>
        </p:spPr>
        <p:txBody>
          <a:bodyPr/>
          <a:lstStyle/>
          <a:p>
            <a:endParaRPr lang="ru-RU"/>
          </a:p>
        </p:txBody>
      </p:sp>
      <p:pic>
        <p:nvPicPr>
          <p:cNvPr id="5" name="Image 0" descr="/home/claude/fob-slides/icons_out/listol_whit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978744" y="646024"/>
            <a:ext cx="399593" cy="399593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548640" y="1783080"/>
            <a:ext cx="11064240" cy="731520"/>
          </a:xfrm>
          <a:prstGeom prst="roundRect">
            <a:avLst>
              <a:gd name="adj" fmla="val 11250"/>
            </a:avLst>
          </a:prstGeom>
          <a:solidFill>
            <a:srgbClr val="FFFFFF"/>
          </a:solidFill>
          <a:ln/>
        </p:spPr>
        <p:txBody>
          <a:bodyPr/>
          <a:lstStyle/>
          <a:p>
            <a:endParaRPr lang="ru-RU"/>
          </a:p>
        </p:txBody>
      </p:sp>
      <p:sp>
        <p:nvSpPr>
          <p:cNvPr id="7" name="Text 4"/>
          <p:cNvSpPr txBox="1"/>
          <p:nvPr/>
        </p:nvSpPr>
        <p:spPr>
          <a:xfrm>
            <a:off x="868680" y="1783080"/>
            <a:ext cx="104241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800" dirty="0">
                <a:solidFill>
                  <a:srgbClr val="1B1B2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Dotsent ketdi (5-slayd). Quyidagi qadamlarni to'g'ri ketma-ketlikka qo'ying: 1 dan 6 gacha.</a:t>
            </a:r>
            <a:endParaRPr lang="en-US" sz="1800" dirty="0"/>
          </a:p>
        </p:txBody>
      </p:sp>
      <p:sp>
        <p:nvSpPr>
          <p:cNvPr id="8" name="Shape 5"/>
          <p:cNvSpPr/>
          <p:nvPr/>
        </p:nvSpPr>
        <p:spPr>
          <a:xfrm>
            <a:off x="548640" y="2697480"/>
            <a:ext cx="5440680" cy="804672"/>
          </a:xfrm>
          <a:prstGeom prst="roundRect">
            <a:avLst>
              <a:gd name="adj" fmla="val 10227"/>
            </a:avLst>
          </a:prstGeom>
          <a:solidFill>
            <a:srgbClr val="FFFFFF"/>
          </a:solidFill>
          <a:ln/>
        </p:spPr>
        <p:txBody>
          <a:bodyPr/>
          <a:lstStyle/>
          <a:p>
            <a:endParaRPr lang="ru-RU"/>
          </a:p>
        </p:txBody>
      </p:sp>
      <p:sp>
        <p:nvSpPr>
          <p:cNvPr id="9" name="Shape 6"/>
          <p:cNvSpPr/>
          <p:nvPr/>
        </p:nvSpPr>
        <p:spPr>
          <a:xfrm>
            <a:off x="713232" y="2825496"/>
            <a:ext cx="548640" cy="548640"/>
          </a:xfrm>
          <a:prstGeom prst="roundRect">
            <a:avLst>
              <a:gd name="adj" fmla="val 11667"/>
            </a:avLst>
          </a:prstGeom>
          <a:solidFill>
            <a:srgbClr val="FDF3E2"/>
          </a:solidFill>
          <a:ln w="15875">
            <a:solidFill>
              <a:srgbClr val="D9932B"/>
            </a:solidFill>
            <a:prstDash val="solid"/>
          </a:ln>
        </p:spPr>
        <p:txBody>
          <a:bodyPr/>
          <a:lstStyle/>
          <a:p>
            <a:endParaRPr lang="ru-RU"/>
          </a:p>
        </p:txBody>
      </p:sp>
      <p:sp>
        <p:nvSpPr>
          <p:cNvPr id="10" name="Text 7"/>
          <p:cNvSpPr txBox="1"/>
          <p:nvPr/>
        </p:nvSpPr>
        <p:spPr>
          <a:xfrm>
            <a:off x="713232" y="2825496"/>
            <a:ext cx="548640" cy="54864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800" b="1" dirty="0">
                <a:solidFill>
                  <a:srgbClr val="9A5B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?</a:t>
            </a:r>
            <a:endParaRPr lang="en-US" sz="1800" dirty="0"/>
          </a:p>
        </p:txBody>
      </p:sp>
      <p:sp>
        <p:nvSpPr>
          <p:cNvPr id="11" name="Text 8"/>
          <p:cNvSpPr txBox="1"/>
          <p:nvPr/>
        </p:nvSpPr>
        <p:spPr>
          <a:xfrm>
            <a:off x="1463040" y="2697480"/>
            <a:ext cx="438912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700" dirty="0">
                <a:solidFill>
                  <a:srgbClr val="1B1B2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Ma'lumot va fayllarni rahbarga o'tkazish</a:t>
            </a:r>
            <a:endParaRPr lang="en-US" sz="1700" dirty="0"/>
          </a:p>
        </p:txBody>
      </p:sp>
      <p:sp>
        <p:nvSpPr>
          <p:cNvPr id="12" name="Shape 9"/>
          <p:cNvSpPr/>
          <p:nvPr/>
        </p:nvSpPr>
        <p:spPr>
          <a:xfrm>
            <a:off x="6172200" y="2697480"/>
            <a:ext cx="5440680" cy="804672"/>
          </a:xfrm>
          <a:prstGeom prst="roundRect">
            <a:avLst>
              <a:gd name="adj" fmla="val 10227"/>
            </a:avLst>
          </a:prstGeom>
          <a:solidFill>
            <a:srgbClr val="FFFFFF"/>
          </a:solidFill>
          <a:ln/>
        </p:spPr>
        <p:txBody>
          <a:bodyPr/>
          <a:lstStyle/>
          <a:p>
            <a:endParaRPr lang="ru-RU"/>
          </a:p>
        </p:txBody>
      </p:sp>
      <p:sp>
        <p:nvSpPr>
          <p:cNvPr id="13" name="Shape 10"/>
          <p:cNvSpPr/>
          <p:nvPr/>
        </p:nvSpPr>
        <p:spPr>
          <a:xfrm>
            <a:off x="6336792" y="2825496"/>
            <a:ext cx="548640" cy="548640"/>
          </a:xfrm>
          <a:prstGeom prst="roundRect">
            <a:avLst>
              <a:gd name="adj" fmla="val 11667"/>
            </a:avLst>
          </a:prstGeom>
          <a:solidFill>
            <a:srgbClr val="FDF3E2"/>
          </a:solidFill>
          <a:ln w="15875">
            <a:solidFill>
              <a:srgbClr val="D9932B"/>
            </a:solidFill>
            <a:prstDash val="solid"/>
          </a:ln>
        </p:spPr>
        <p:txBody>
          <a:bodyPr/>
          <a:lstStyle/>
          <a:p>
            <a:endParaRPr lang="ru-RU"/>
          </a:p>
        </p:txBody>
      </p:sp>
      <p:sp>
        <p:nvSpPr>
          <p:cNvPr id="14" name="Text 11"/>
          <p:cNvSpPr txBox="1"/>
          <p:nvPr/>
        </p:nvSpPr>
        <p:spPr>
          <a:xfrm>
            <a:off x="6336792" y="2825496"/>
            <a:ext cx="548640" cy="54864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800" b="1" dirty="0">
                <a:solidFill>
                  <a:srgbClr val="9A5B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?</a:t>
            </a:r>
            <a:endParaRPr lang="en-US" sz="1800" dirty="0"/>
          </a:p>
        </p:txBody>
      </p:sp>
      <p:sp>
        <p:nvSpPr>
          <p:cNvPr id="15" name="Text 12"/>
          <p:cNvSpPr txBox="1"/>
          <p:nvPr/>
        </p:nvSpPr>
        <p:spPr>
          <a:xfrm>
            <a:off x="7086600" y="2697480"/>
            <a:ext cx="438912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700" dirty="0">
                <a:solidFill>
                  <a:srgbClr val="1B1B2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Qayd yozuvini blokirovka qilish</a:t>
            </a:r>
            <a:endParaRPr lang="en-US" sz="1700" dirty="0"/>
          </a:p>
        </p:txBody>
      </p:sp>
      <p:sp>
        <p:nvSpPr>
          <p:cNvPr id="16" name="Shape 13"/>
          <p:cNvSpPr/>
          <p:nvPr/>
        </p:nvSpPr>
        <p:spPr>
          <a:xfrm>
            <a:off x="548640" y="3657600"/>
            <a:ext cx="5440680" cy="804672"/>
          </a:xfrm>
          <a:prstGeom prst="roundRect">
            <a:avLst>
              <a:gd name="adj" fmla="val 10227"/>
            </a:avLst>
          </a:prstGeom>
          <a:solidFill>
            <a:srgbClr val="FFFFFF"/>
          </a:solidFill>
          <a:ln/>
        </p:spPr>
        <p:txBody>
          <a:bodyPr/>
          <a:lstStyle/>
          <a:p>
            <a:endParaRPr lang="ru-RU"/>
          </a:p>
        </p:txBody>
      </p:sp>
      <p:sp>
        <p:nvSpPr>
          <p:cNvPr id="17" name="Shape 14"/>
          <p:cNvSpPr/>
          <p:nvPr/>
        </p:nvSpPr>
        <p:spPr>
          <a:xfrm>
            <a:off x="713232" y="3785616"/>
            <a:ext cx="548640" cy="548640"/>
          </a:xfrm>
          <a:prstGeom prst="roundRect">
            <a:avLst>
              <a:gd name="adj" fmla="val 11667"/>
            </a:avLst>
          </a:prstGeom>
          <a:solidFill>
            <a:srgbClr val="FDF3E2"/>
          </a:solidFill>
          <a:ln w="15875">
            <a:solidFill>
              <a:srgbClr val="D9932B"/>
            </a:solidFill>
            <a:prstDash val="solid"/>
          </a:ln>
        </p:spPr>
        <p:txBody>
          <a:bodyPr/>
          <a:lstStyle/>
          <a:p>
            <a:endParaRPr lang="ru-RU"/>
          </a:p>
        </p:txBody>
      </p:sp>
      <p:sp>
        <p:nvSpPr>
          <p:cNvPr id="18" name="Text 15"/>
          <p:cNvSpPr txBox="1"/>
          <p:nvPr/>
        </p:nvSpPr>
        <p:spPr>
          <a:xfrm>
            <a:off x="713232" y="3785616"/>
            <a:ext cx="548640" cy="54864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800" b="1" dirty="0">
                <a:solidFill>
                  <a:srgbClr val="9A5B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?</a:t>
            </a:r>
            <a:endParaRPr lang="en-US" sz="1800" dirty="0"/>
          </a:p>
        </p:txBody>
      </p:sp>
      <p:sp>
        <p:nvSpPr>
          <p:cNvPr id="19" name="Text 16"/>
          <p:cNvSpPr txBox="1"/>
          <p:nvPr/>
        </p:nvSpPr>
        <p:spPr>
          <a:xfrm>
            <a:off x="1463040" y="3657600"/>
            <a:ext cx="438912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700" dirty="0">
                <a:solidFill>
                  <a:srgbClr val="1B1B2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Umumiy parol va kalitlarni almashtirish</a:t>
            </a:r>
            <a:endParaRPr lang="en-US" sz="1700" dirty="0"/>
          </a:p>
        </p:txBody>
      </p:sp>
      <p:sp>
        <p:nvSpPr>
          <p:cNvPr id="20" name="Shape 17"/>
          <p:cNvSpPr/>
          <p:nvPr/>
        </p:nvSpPr>
        <p:spPr>
          <a:xfrm>
            <a:off x="6172200" y="3657600"/>
            <a:ext cx="5440680" cy="804672"/>
          </a:xfrm>
          <a:prstGeom prst="roundRect">
            <a:avLst>
              <a:gd name="adj" fmla="val 10227"/>
            </a:avLst>
          </a:prstGeom>
          <a:solidFill>
            <a:srgbClr val="FFFFFF"/>
          </a:solidFill>
          <a:ln/>
        </p:spPr>
        <p:txBody>
          <a:bodyPr/>
          <a:lstStyle/>
          <a:p>
            <a:endParaRPr lang="ru-RU"/>
          </a:p>
        </p:txBody>
      </p:sp>
      <p:sp>
        <p:nvSpPr>
          <p:cNvPr id="21" name="Shape 18"/>
          <p:cNvSpPr/>
          <p:nvPr/>
        </p:nvSpPr>
        <p:spPr>
          <a:xfrm>
            <a:off x="6336792" y="3785616"/>
            <a:ext cx="548640" cy="548640"/>
          </a:xfrm>
          <a:prstGeom prst="roundRect">
            <a:avLst>
              <a:gd name="adj" fmla="val 11667"/>
            </a:avLst>
          </a:prstGeom>
          <a:solidFill>
            <a:srgbClr val="FDF3E2"/>
          </a:solidFill>
          <a:ln w="15875">
            <a:solidFill>
              <a:srgbClr val="D9932B"/>
            </a:solidFill>
            <a:prstDash val="solid"/>
          </a:ln>
        </p:spPr>
        <p:txBody>
          <a:bodyPr/>
          <a:lstStyle/>
          <a:p>
            <a:endParaRPr lang="ru-RU"/>
          </a:p>
        </p:txBody>
      </p:sp>
      <p:sp>
        <p:nvSpPr>
          <p:cNvPr id="22" name="Text 19"/>
          <p:cNvSpPr txBox="1"/>
          <p:nvPr/>
        </p:nvSpPr>
        <p:spPr>
          <a:xfrm>
            <a:off x="6336792" y="3785616"/>
            <a:ext cx="548640" cy="54864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800" b="1" dirty="0">
                <a:solidFill>
                  <a:srgbClr val="9A5B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?</a:t>
            </a:r>
            <a:endParaRPr lang="en-US" sz="1800" dirty="0"/>
          </a:p>
        </p:txBody>
      </p:sp>
      <p:sp>
        <p:nvSpPr>
          <p:cNvPr id="23" name="Text 20"/>
          <p:cNvSpPr txBox="1"/>
          <p:nvPr/>
        </p:nvSpPr>
        <p:spPr>
          <a:xfrm>
            <a:off x="7086600" y="3657600"/>
            <a:ext cx="438912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700" dirty="0">
                <a:solidFill>
                  <a:srgbClr val="1B1B2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HR dan bo'shatish haqida xabar olish</a:t>
            </a:r>
            <a:endParaRPr lang="en-US" sz="1700" dirty="0"/>
          </a:p>
        </p:txBody>
      </p:sp>
      <p:sp>
        <p:nvSpPr>
          <p:cNvPr id="24" name="Shape 21"/>
          <p:cNvSpPr/>
          <p:nvPr/>
        </p:nvSpPr>
        <p:spPr>
          <a:xfrm>
            <a:off x="548640" y="4617720"/>
            <a:ext cx="5440680" cy="804672"/>
          </a:xfrm>
          <a:prstGeom prst="roundRect">
            <a:avLst>
              <a:gd name="adj" fmla="val 10227"/>
            </a:avLst>
          </a:prstGeom>
          <a:solidFill>
            <a:srgbClr val="FFFFFF"/>
          </a:solidFill>
          <a:ln/>
        </p:spPr>
        <p:txBody>
          <a:bodyPr/>
          <a:lstStyle/>
          <a:p>
            <a:endParaRPr lang="ru-RU"/>
          </a:p>
        </p:txBody>
      </p:sp>
      <p:sp>
        <p:nvSpPr>
          <p:cNvPr id="25" name="Shape 22"/>
          <p:cNvSpPr/>
          <p:nvPr/>
        </p:nvSpPr>
        <p:spPr>
          <a:xfrm>
            <a:off x="713232" y="4745736"/>
            <a:ext cx="548640" cy="548640"/>
          </a:xfrm>
          <a:prstGeom prst="roundRect">
            <a:avLst>
              <a:gd name="adj" fmla="val 11667"/>
            </a:avLst>
          </a:prstGeom>
          <a:solidFill>
            <a:srgbClr val="FDF3E2"/>
          </a:solidFill>
          <a:ln w="15875">
            <a:solidFill>
              <a:srgbClr val="D9932B"/>
            </a:solidFill>
            <a:prstDash val="solid"/>
          </a:ln>
        </p:spPr>
        <p:txBody>
          <a:bodyPr/>
          <a:lstStyle/>
          <a:p>
            <a:endParaRPr lang="ru-RU"/>
          </a:p>
        </p:txBody>
      </p:sp>
      <p:sp>
        <p:nvSpPr>
          <p:cNvPr id="26" name="Text 23"/>
          <p:cNvSpPr txBox="1"/>
          <p:nvPr/>
        </p:nvSpPr>
        <p:spPr>
          <a:xfrm>
            <a:off x="713232" y="4745736"/>
            <a:ext cx="548640" cy="54864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800" b="1" dirty="0">
                <a:solidFill>
                  <a:srgbClr val="9A5B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?</a:t>
            </a:r>
            <a:endParaRPr lang="en-US" sz="1800" dirty="0"/>
          </a:p>
        </p:txBody>
      </p:sp>
      <p:sp>
        <p:nvSpPr>
          <p:cNvPr id="27" name="Text 24"/>
          <p:cNvSpPr txBox="1"/>
          <p:nvPr/>
        </p:nvSpPr>
        <p:spPr>
          <a:xfrm>
            <a:off x="1463040" y="4617720"/>
            <a:ext cx="438912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700" dirty="0">
                <a:solidFill>
                  <a:srgbClr val="1B1B2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Qayd yozuvini arxivlash va o'chirish</a:t>
            </a:r>
            <a:endParaRPr lang="en-US" sz="1700" dirty="0"/>
          </a:p>
        </p:txBody>
      </p:sp>
      <p:sp>
        <p:nvSpPr>
          <p:cNvPr id="28" name="Shape 25"/>
          <p:cNvSpPr/>
          <p:nvPr/>
        </p:nvSpPr>
        <p:spPr>
          <a:xfrm>
            <a:off x="6172200" y="4617720"/>
            <a:ext cx="5440680" cy="804672"/>
          </a:xfrm>
          <a:prstGeom prst="roundRect">
            <a:avLst>
              <a:gd name="adj" fmla="val 10227"/>
            </a:avLst>
          </a:prstGeom>
          <a:solidFill>
            <a:srgbClr val="FFFFFF"/>
          </a:solidFill>
          <a:ln/>
        </p:spPr>
        <p:txBody>
          <a:bodyPr/>
          <a:lstStyle/>
          <a:p>
            <a:endParaRPr lang="ru-RU"/>
          </a:p>
        </p:txBody>
      </p:sp>
      <p:sp>
        <p:nvSpPr>
          <p:cNvPr id="29" name="Shape 26"/>
          <p:cNvSpPr/>
          <p:nvPr/>
        </p:nvSpPr>
        <p:spPr>
          <a:xfrm>
            <a:off x="6336792" y="4745736"/>
            <a:ext cx="548640" cy="548640"/>
          </a:xfrm>
          <a:prstGeom prst="roundRect">
            <a:avLst>
              <a:gd name="adj" fmla="val 11667"/>
            </a:avLst>
          </a:prstGeom>
          <a:solidFill>
            <a:srgbClr val="FDF3E2"/>
          </a:solidFill>
          <a:ln w="15875">
            <a:solidFill>
              <a:srgbClr val="D9932B"/>
            </a:solidFill>
            <a:prstDash val="solid"/>
          </a:ln>
        </p:spPr>
        <p:txBody>
          <a:bodyPr/>
          <a:lstStyle/>
          <a:p>
            <a:endParaRPr lang="ru-RU"/>
          </a:p>
        </p:txBody>
      </p:sp>
      <p:sp>
        <p:nvSpPr>
          <p:cNvPr id="30" name="Text 27"/>
          <p:cNvSpPr txBox="1"/>
          <p:nvPr/>
        </p:nvSpPr>
        <p:spPr>
          <a:xfrm>
            <a:off x="6336792" y="4745736"/>
            <a:ext cx="548640" cy="54864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800" b="1" dirty="0">
                <a:solidFill>
                  <a:srgbClr val="9A5B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?</a:t>
            </a:r>
            <a:endParaRPr lang="en-US" sz="1800" dirty="0"/>
          </a:p>
        </p:txBody>
      </p:sp>
      <p:sp>
        <p:nvSpPr>
          <p:cNvPr id="31" name="Text 28"/>
          <p:cNvSpPr txBox="1"/>
          <p:nvPr/>
        </p:nvSpPr>
        <p:spPr>
          <a:xfrm>
            <a:off x="7086600" y="4617720"/>
            <a:ext cx="438912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700" dirty="0">
                <a:solidFill>
                  <a:srgbClr val="1B1B2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Faol seans va tokenlarni bekor qilish</a:t>
            </a:r>
            <a:endParaRPr lang="en-US" sz="1700" dirty="0"/>
          </a:p>
        </p:txBody>
      </p:sp>
      <p:sp>
        <p:nvSpPr>
          <p:cNvPr id="32" name="Text 29"/>
          <p:cNvSpPr txBox="1"/>
          <p:nvPr/>
        </p:nvSpPr>
        <p:spPr>
          <a:xfrm>
            <a:off x="548640" y="5715000"/>
            <a:ext cx="11064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600" dirty="0">
                <a:solidFill>
                  <a:srgbClr val="9A5B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To'g'ri ketma-ketlik va vaqt oraliqlari — keyingi slaydda.</a:t>
            </a:r>
            <a:endParaRPr lang="en-US" sz="1600" dirty="0"/>
          </a:p>
        </p:txBody>
      </p:sp>
      <p:sp>
        <p:nvSpPr>
          <p:cNvPr id="33" name="Text 30"/>
          <p:cNvSpPr txBox="1"/>
          <p:nvPr/>
        </p:nvSpPr>
        <p:spPr>
          <a:xfrm>
            <a:off x="548640" y="649224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9A5B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Foydalanishlarni boshqarish  ·  2-ma'ruza</a:t>
            </a:r>
            <a:endParaRPr lang="en-US" sz="1100" dirty="0"/>
          </a:p>
        </p:txBody>
      </p:sp>
      <p:sp>
        <p:nvSpPr>
          <p:cNvPr id="34" name="Text 31"/>
          <p:cNvSpPr txBox="1"/>
          <p:nvPr/>
        </p:nvSpPr>
        <p:spPr>
          <a:xfrm>
            <a:off x="11155680" y="649224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9A5B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16</a:t>
            </a:r>
            <a:endParaRPr lang="en-US" sz="11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47472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kern="0" spc="220" dirty="0">
                <a:solidFill>
                  <a:srgbClr val="5B627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JAVOB</a:t>
            </a:r>
            <a:endParaRPr lang="en-US" sz="16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731520"/>
            <a:ext cx="100584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95000"/>
              </a:lnSpc>
              <a:buNone/>
            </a:pPr>
            <a:r>
              <a:rPr lang="en-US" sz="3600" b="1" dirty="0">
                <a:solidFill>
                  <a:srgbClr val="1E276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Deprovisioning: to'g'ri ketma-ketlik</a:t>
            </a:r>
            <a:endParaRPr lang="en-US" sz="3600" dirty="0"/>
          </a:p>
        </p:txBody>
      </p:sp>
      <p:sp>
        <p:nvSpPr>
          <p:cNvPr id="4" name="Shape 2"/>
          <p:cNvSpPr/>
          <p:nvPr/>
        </p:nvSpPr>
        <p:spPr>
          <a:xfrm>
            <a:off x="548640" y="1737360"/>
            <a:ext cx="11064240" cy="576072"/>
          </a:xfrm>
          <a:prstGeom prst="roundRect">
            <a:avLst>
              <a:gd name="adj" fmla="val 14286"/>
            </a:avLst>
          </a:prstGeom>
          <a:solidFill>
            <a:srgbClr val="EEF2FB"/>
          </a:solidFill>
          <a:ln/>
        </p:spPr>
        <p:txBody>
          <a:bodyPr/>
          <a:lstStyle/>
          <a:p>
            <a:endParaRPr lang="ru-RU"/>
          </a:p>
        </p:txBody>
      </p:sp>
      <p:sp>
        <p:nvSpPr>
          <p:cNvPr id="5" name="Shape 3"/>
          <p:cNvSpPr/>
          <p:nvPr/>
        </p:nvSpPr>
        <p:spPr>
          <a:xfrm>
            <a:off x="548640" y="1737360"/>
            <a:ext cx="1737360" cy="576072"/>
          </a:xfrm>
          <a:prstGeom prst="roundRect">
            <a:avLst>
              <a:gd name="adj" fmla="val 14286"/>
            </a:avLst>
          </a:prstGeom>
          <a:solidFill>
            <a:srgbClr val="1E2761"/>
          </a:solidFill>
          <a:ln/>
        </p:spPr>
        <p:txBody>
          <a:bodyPr/>
          <a:lstStyle/>
          <a:p>
            <a:endParaRPr lang="ru-RU"/>
          </a:p>
        </p:txBody>
      </p:sp>
      <p:sp>
        <p:nvSpPr>
          <p:cNvPr id="6" name="Text 4"/>
          <p:cNvSpPr txBox="1"/>
          <p:nvPr/>
        </p:nvSpPr>
        <p:spPr>
          <a:xfrm>
            <a:off x="548640" y="1737360"/>
            <a:ext cx="1737360" cy="576072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600" b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0 soat</a:t>
            </a:r>
            <a:endParaRPr lang="en-US" sz="1600" dirty="0"/>
          </a:p>
        </p:txBody>
      </p:sp>
      <p:sp>
        <p:nvSpPr>
          <p:cNvPr id="7" name="Text 5"/>
          <p:cNvSpPr txBox="1"/>
          <p:nvPr/>
        </p:nvSpPr>
        <p:spPr>
          <a:xfrm>
            <a:off x="2514600" y="1737360"/>
            <a:ext cx="6126480" cy="5760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600" dirty="0">
                <a:solidFill>
                  <a:srgbClr val="1B1B2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HR tizimidan bo'shatish hodisasi keladi</a:t>
            </a:r>
            <a:endParaRPr lang="en-US" sz="1600" dirty="0"/>
          </a:p>
        </p:txBody>
      </p:sp>
      <p:sp>
        <p:nvSpPr>
          <p:cNvPr id="8" name="Text 6"/>
          <p:cNvSpPr txBox="1"/>
          <p:nvPr/>
        </p:nvSpPr>
        <p:spPr>
          <a:xfrm>
            <a:off x="8686800" y="1737360"/>
            <a:ext cx="2743200" cy="5760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lnSpc>
                <a:spcPct val="100000"/>
              </a:lnSpc>
              <a:buNone/>
            </a:pPr>
            <a:r>
              <a:rPr lang="en-US" sz="1400" dirty="0">
                <a:solidFill>
                  <a:srgbClr val="5B627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manba: kadrlar buyrug'i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548640" y="2404872"/>
            <a:ext cx="11064240" cy="576072"/>
          </a:xfrm>
          <a:prstGeom prst="roundRect">
            <a:avLst>
              <a:gd name="adj" fmla="val 14286"/>
            </a:avLst>
          </a:prstGeom>
          <a:solidFill>
            <a:srgbClr val="CADCFC"/>
          </a:solidFill>
          <a:ln/>
        </p:spPr>
        <p:txBody>
          <a:bodyPr/>
          <a:lstStyle/>
          <a:p>
            <a:endParaRPr lang="ru-RU"/>
          </a:p>
        </p:txBody>
      </p:sp>
      <p:sp>
        <p:nvSpPr>
          <p:cNvPr id="10" name="Shape 8"/>
          <p:cNvSpPr/>
          <p:nvPr/>
        </p:nvSpPr>
        <p:spPr>
          <a:xfrm>
            <a:off x="548640" y="2404872"/>
            <a:ext cx="1737360" cy="576072"/>
          </a:xfrm>
          <a:prstGeom prst="roundRect">
            <a:avLst>
              <a:gd name="adj" fmla="val 14286"/>
            </a:avLst>
          </a:prstGeom>
          <a:solidFill>
            <a:srgbClr val="1E2761"/>
          </a:solidFill>
          <a:ln/>
        </p:spPr>
        <p:txBody>
          <a:bodyPr/>
          <a:lstStyle/>
          <a:p>
            <a:endParaRPr lang="ru-RU"/>
          </a:p>
        </p:txBody>
      </p:sp>
      <p:sp>
        <p:nvSpPr>
          <p:cNvPr id="11" name="Text 9"/>
          <p:cNvSpPr txBox="1"/>
          <p:nvPr/>
        </p:nvSpPr>
        <p:spPr>
          <a:xfrm>
            <a:off x="548640" y="2404872"/>
            <a:ext cx="1737360" cy="576072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600" b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≤ 1 soat</a:t>
            </a:r>
            <a:endParaRPr lang="en-US" sz="1600" dirty="0"/>
          </a:p>
        </p:txBody>
      </p:sp>
      <p:sp>
        <p:nvSpPr>
          <p:cNvPr id="12" name="Text 10"/>
          <p:cNvSpPr txBox="1"/>
          <p:nvPr/>
        </p:nvSpPr>
        <p:spPr>
          <a:xfrm>
            <a:off x="2514600" y="2404872"/>
            <a:ext cx="6126480" cy="5760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600" b="1" dirty="0">
                <a:solidFill>
                  <a:srgbClr val="1E276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Qayd yozuvini blokirovka qilish (o'chirish emas!)</a:t>
            </a:r>
            <a:endParaRPr lang="en-US" sz="1600" dirty="0"/>
          </a:p>
        </p:txBody>
      </p:sp>
      <p:sp>
        <p:nvSpPr>
          <p:cNvPr id="13" name="Text 11"/>
          <p:cNvSpPr txBox="1"/>
          <p:nvPr/>
        </p:nvSpPr>
        <p:spPr>
          <a:xfrm>
            <a:off x="8686800" y="2404872"/>
            <a:ext cx="2743200" cy="5760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lnSpc>
                <a:spcPct val="100000"/>
              </a:lnSpc>
              <a:buNone/>
            </a:pPr>
            <a:r>
              <a:rPr lang="en-US" sz="1400" dirty="0">
                <a:solidFill>
                  <a:srgbClr val="5B627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audit izi saqlanadi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548640" y="3072384"/>
            <a:ext cx="11064240" cy="576072"/>
          </a:xfrm>
          <a:prstGeom prst="roundRect">
            <a:avLst>
              <a:gd name="adj" fmla="val 14286"/>
            </a:avLst>
          </a:prstGeom>
          <a:solidFill>
            <a:srgbClr val="EEF2FB"/>
          </a:solidFill>
          <a:ln/>
        </p:spPr>
        <p:txBody>
          <a:bodyPr/>
          <a:lstStyle/>
          <a:p>
            <a:endParaRPr lang="ru-RU"/>
          </a:p>
        </p:txBody>
      </p:sp>
      <p:sp>
        <p:nvSpPr>
          <p:cNvPr id="15" name="Shape 13"/>
          <p:cNvSpPr/>
          <p:nvPr/>
        </p:nvSpPr>
        <p:spPr>
          <a:xfrm>
            <a:off x="548640" y="3072384"/>
            <a:ext cx="1737360" cy="576072"/>
          </a:xfrm>
          <a:prstGeom prst="roundRect">
            <a:avLst>
              <a:gd name="adj" fmla="val 14286"/>
            </a:avLst>
          </a:prstGeom>
          <a:solidFill>
            <a:srgbClr val="1E2761"/>
          </a:solidFill>
          <a:ln/>
        </p:spPr>
        <p:txBody>
          <a:bodyPr/>
          <a:lstStyle/>
          <a:p>
            <a:endParaRPr lang="ru-RU"/>
          </a:p>
        </p:txBody>
      </p:sp>
      <p:sp>
        <p:nvSpPr>
          <p:cNvPr id="16" name="Text 14"/>
          <p:cNvSpPr txBox="1"/>
          <p:nvPr/>
        </p:nvSpPr>
        <p:spPr>
          <a:xfrm>
            <a:off x="548640" y="3072384"/>
            <a:ext cx="1737360" cy="576072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600" b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≤ 1 soat</a:t>
            </a:r>
            <a:endParaRPr lang="en-US" sz="1600" dirty="0"/>
          </a:p>
        </p:txBody>
      </p:sp>
      <p:sp>
        <p:nvSpPr>
          <p:cNvPr id="17" name="Text 15"/>
          <p:cNvSpPr txBox="1"/>
          <p:nvPr/>
        </p:nvSpPr>
        <p:spPr>
          <a:xfrm>
            <a:off x="2514600" y="3072384"/>
            <a:ext cx="6126480" cy="5760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600" dirty="0">
                <a:solidFill>
                  <a:srgbClr val="1B1B2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Faol seans, token va VPN ulanishlarini bekor qilish</a:t>
            </a:r>
            <a:endParaRPr lang="en-US" sz="1600" dirty="0"/>
          </a:p>
        </p:txBody>
      </p:sp>
      <p:sp>
        <p:nvSpPr>
          <p:cNvPr id="18" name="Text 16"/>
          <p:cNvSpPr txBox="1"/>
          <p:nvPr/>
        </p:nvSpPr>
        <p:spPr>
          <a:xfrm>
            <a:off x="8686800" y="3072384"/>
            <a:ext cx="2743200" cy="5760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lnSpc>
                <a:spcPct val="100000"/>
              </a:lnSpc>
              <a:buNone/>
            </a:pPr>
            <a:r>
              <a:rPr lang="en-US" sz="1400" dirty="0">
                <a:solidFill>
                  <a:srgbClr val="5B627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SSO, OAuth tokenlar</a:t>
            </a:r>
            <a:endParaRPr lang="en-US" sz="1400" dirty="0"/>
          </a:p>
        </p:txBody>
      </p:sp>
      <p:sp>
        <p:nvSpPr>
          <p:cNvPr id="19" name="Shape 17"/>
          <p:cNvSpPr/>
          <p:nvPr/>
        </p:nvSpPr>
        <p:spPr>
          <a:xfrm>
            <a:off x="548640" y="3739896"/>
            <a:ext cx="11064240" cy="576072"/>
          </a:xfrm>
          <a:prstGeom prst="roundRect">
            <a:avLst>
              <a:gd name="adj" fmla="val 14286"/>
            </a:avLst>
          </a:prstGeom>
          <a:solidFill>
            <a:srgbClr val="EEF2FB"/>
          </a:solidFill>
          <a:ln/>
        </p:spPr>
        <p:txBody>
          <a:bodyPr/>
          <a:lstStyle/>
          <a:p>
            <a:endParaRPr lang="ru-RU"/>
          </a:p>
        </p:txBody>
      </p:sp>
      <p:sp>
        <p:nvSpPr>
          <p:cNvPr id="20" name="Shape 18"/>
          <p:cNvSpPr/>
          <p:nvPr/>
        </p:nvSpPr>
        <p:spPr>
          <a:xfrm>
            <a:off x="548640" y="3739896"/>
            <a:ext cx="1737360" cy="576072"/>
          </a:xfrm>
          <a:prstGeom prst="roundRect">
            <a:avLst>
              <a:gd name="adj" fmla="val 14286"/>
            </a:avLst>
          </a:prstGeom>
          <a:solidFill>
            <a:srgbClr val="1E2761"/>
          </a:solidFill>
          <a:ln/>
        </p:spPr>
        <p:txBody>
          <a:bodyPr/>
          <a:lstStyle/>
          <a:p>
            <a:endParaRPr lang="ru-RU"/>
          </a:p>
        </p:txBody>
      </p:sp>
      <p:sp>
        <p:nvSpPr>
          <p:cNvPr id="21" name="Text 19"/>
          <p:cNvSpPr txBox="1"/>
          <p:nvPr/>
        </p:nvSpPr>
        <p:spPr>
          <a:xfrm>
            <a:off x="548640" y="3739896"/>
            <a:ext cx="1737360" cy="576072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600" b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1 kun</a:t>
            </a:r>
            <a:endParaRPr lang="en-US" sz="1600" dirty="0"/>
          </a:p>
        </p:txBody>
      </p:sp>
      <p:sp>
        <p:nvSpPr>
          <p:cNvPr id="22" name="Text 20"/>
          <p:cNvSpPr txBox="1"/>
          <p:nvPr/>
        </p:nvSpPr>
        <p:spPr>
          <a:xfrm>
            <a:off x="2514600" y="3739896"/>
            <a:ext cx="6126480" cy="5760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600" dirty="0">
                <a:solidFill>
                  <a:srgbClr val="1B1B2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Umumiy parol, API kalit va sertifikatlarni almashtirish</a:t>
            </a:r>
            <a:endParaRPr lang="en-US" sz="1600" dirty="0"/>
          </a:p>
        </p:txBody>
      </p:sp>
      <p:sp>
        <p:nvSpPr>
          <p:cNvPr id="23" name="Text 21"/>
          <p:cNvSpPr txBox="1"/>
          <p:nvPr/>
        </p:nvSpPr>
        <p:spPr>
          <a:xfrm>
            <a:off x="8686800" y="3739896"/>
            <a:ext cx="2743200" cy="5760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lnSpc>
                <a:spcPct val="100000"/>
              </a:lnSpc>
              <a:buNone/>
            </a:pPr>
            <a:r>
              <a:rPr lang="en-US" sz="1400" dirty="0">
                <a:solidFill>
                  <a:srgbClr val="5B627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u bilgan sirlar</a:t>
            </a:r>
            <a:endParaRPr lang="en-US" sz="1400" dirty="0"/>
          </a:p>
        </p:txBody>
      </p:sp>
      <p:sp>
        <p:nvSpPr>
          <p:cNvPr id="24" name="Shape 22"/>
          <p:cNvSpPr/>
          <p:nvPr/>
        </p:nvSpPr>
        <p:spPr>
          <a:xfrm>
            <a:off x="548640" y="4407408"/>
            <a:ext cx="11064240" cy="576072"/>
          </a:xfrm>
          <a:prstGeom prst="roundRect">
            <a:avLst>
              <a:gd name="adj" fmla="val 14286"/>
            </a:avLst>
          </a:prstGeom>
          <a:solidFill>
            <a:srgbClr val="EEF2FB"/>
          </a:solidFill>
          <a:ln/>
        </p:spPr>
        <p:txBody>
          <a:bodyPr/>
          <a:lstStyle/>
          <a:p>
            <a:endParaRPr lang="ru-RU"/>
          </a:p>
        </p:txBody>
      </p:sp>
      <p:sp>
        <p:nvSpPr>
          <p:cNvPr id="25" name="Shape 23"/>
          <p:cNvSpPr/>
          <p:nvPr/>
        </p:nvSpPr>
        <p:spPr>
          <a:xfrm>
            <a:off x="548640" y="4407408"/>
            <a:ext cx="1737360" cy="576072"/>
          </a:xfrm>
          <a:prstGeom prst="roundRect">
            <a:avLst>
              <a:gd name="adj" fmla="val 14286"/>
            </a:avLst>
          </a:prstGeom>
          <a:solidFill>
            <a:srgbClr val="1E2761"/>
          </a:solidFill>
          <a:ln/>
        </p:spPr>
        <p:txBody>
          <a:bodyPr/>
          <a:lstStyle/>
          <a:p>
            <a:endParaRPr lang="ru-RU"/>
          </a:p>
        </p:txBody>
      </p:sp>
      <p:sp>
        <p:nvSpPr>
          <p:cNvPr id="26" name="Text 24"/>
          <p:cNvSpPr txBox="1"/>
          <p:nvPr/>
        </p:nvSpPr>
        <p:spPr>
          <a:xfrm>
            <a:off x="548640" y="4407408"/>
            <a:ext cx="1737360" cy="576072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600" b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1–2 hafta</a:t>
            </a:r>
            <a:endParaRPr lang="en-US" sz="1600" dirty="0"/>
          </a:p>
        </p:txBody>
      </p:sp>
      <p:sp>
        <p:nvSpPr>
          <p:cNvPr id="27" name="Text 25"/>
          <p:cNvSpPr txBox="1"/>
          <p:nvPr/>
        </p:nvSpPr>
        <p:spPr>
          <a:xfrm>
            <a:off x="2514600" y="4407408"/>
            <a:ext cx="6126480" cy="5760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600" dirty="0">
                <a:solidFill>
                  <a:srgbClr val="1B1B2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Fayl va pochtani rahbarga o'tkazish</a:t>
            </a:r>
            <a:endParaRPr lang="en-US" sz="1600" dirty="0"/>
          </a:p>
        </p:txBody>
      </p:sp>
      <p:sp>
        <p:nvSpPr>
          <p:cNvPr id="28" name="Text 26"/>
          <p:cNvSpPr txBox="1"/>
          <p:nvPr/>
        </p:nvSpPr>
        <p:spPr>
          <a:xfrm>
            <a:off x="8686800" y="4407408"/>
            <a:ext cx="2743200" cy="5760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lnSpc>
                <a:spcPct val="100000"/>
              </a:lnSpc>
              <a:buNone/>
            </a:pPr>
            <a:r>
              <a:rPr lang="en-US" sz="1400" dirty="0">
                <a:solidFill>
                  <a:srgbClr val="5B627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ma'lumot yo'qolmasin</a:t>
            </a:r>
            <a:endParaRPr lang="en-US" sz="1400" dirty="0"/>
          </a:p>
        </p:txBody>
      </p:sp>
      <p:sp>
        <p:nvSpPr>
          <p:cNvPr id="29" name="Shape 27"/>
          <p:cNvSpPr/>
          <p:nvPr/>
        </p:nvSpPr>
        <p:spPr>
          <a:xfrm>
            <a:off x="548640" y="5074920"/>
            <a:ext cx="11064240" cy="576072"/>
          </a:xfrm>
          <a:prstGeom prst="roundRect">
            <a:avLst>
              <a:gd name="adj" fmla="val 14286"/>
            </a:avLst>
          </a:prstGeom>
          <a:solidFill>
            <a:srgbClr val="EEF2FB"/>
          </a:solidFill>
          <a:ln/>
        </p:spPr>
        <p:txBody>
          <a:bodyPr/>
          <a:lstStyle/>
          <a:p>
            <a:endParaRPr lang="ru-RU"/>
          </a:p>
        </p:txBody>
      </p:sp>
      <p:sp>
        <p:nvSpPr>
          <p:cNvPr id="30" name="Shape 28"/>
          <p:cNvSpPr/>
          <p:nvPr/>
        </p:nvSpPr>
        <p:spPr>
          <a:xfrm>
            <a:off x="548640" y="5074920"/>
            <a:ext cx="1737360" cy="576072"/>
          </a:xfrm>
          <a:prstGeom prst="roundRect">
            <a:avLst>
              <a:gd name="adj" fmla="val 14286"/>
            </a:avLst>
          </a:prstGeom>
          <a:solidFill>
            <a:srgbClr val="1E2761"/>
          </a:solidFill>
          <a:ln/>
        </p:spPr>
        <p:txBody>
          <a:bodyPr/>
          <a:lstStyle/>
          <a:p>
            <a:endParaRPr lang="ru-RU"/>
          </a:p>
        </p:txBody>
      </p:sp>
      <p:sp>
        <p:nvSpPr>
          <p:cNvPr id="31" name="Text 29"/>
          <p:cNvSpPr txBox="1"/>
          <p:nvPr/>
        </p:nvSpPr>
        <p:spPr>
          <a:xfrm>
            <a:off x="548640" y="5074920"/>
            <a:ext cx="1737360" cy="576072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600" b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30–90 kun</a:t>
            </a:r>
            <a:endParaRPr lang="en-US" sz="1600" dirty="0"/>
          </a:p>
        </p:txBody>
      </p:sp>
      <p:sp>
        <p:nvSpPr>
          <p:cNvPr id="32" name="Text 30"/>
          <p:cNvSpPr txBox="1"/>
          <p:nvPr/>
        </p:nvSpPr>
        <p:spPr>
          <a:xfrm>
            <a:off x="2514600" y="5074920"/>
            <a:ext cx="6126480" cy="5760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600" dirty="0">
                <a:solidFill>
                  <a:srgbClr val="1B1B2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Qayd yozuvini arxivlash va o'chirish</a:t>
            </a:r>
            <a:endParaRPr lang="en-US" sz="1600" dirty="0"/>
          </a:p>
        </p:txBody>
      </p:sp>
      <p:sp>
        <p:nvSpPr>
          <p:cNvPr id="33" name="Text 31"/>
          <p:cNvSpPr txBox="1"/>
          <p:nvPr/>
        </p:nvSpPr>
        <p:spPr>
          <a:xfrm>
            <a:off x="8686800" y="5074920"/>
            <a:ext cx="2743200" cy="5760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lnSpc>
                <a:spcPct val="100000"/>
              </a:lnSpc>
              <a:buNone/>
            </a:pPr>
            <a:r>
              <a:rPr lang="en-US" sz="1400" dirty="0">
                <a:solidFill>
                  <a:srgbClr val="5B627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saqlash siyosatiga ko'ra</a:t>
            </a:r>
            <a:endParaRPr lang="en-US" sz="1400" dirty="0"/>
          </a:p>
        </p:txBody>
      </p:sp>
      <p:sp>
        <p:nvSpPr>
          <p:cNvPr id="34" name="Text 32"/>
          <p:cNvSpPr txBox="1"/>
          <p:nvPr/>
        </p:nvSpPr>
        <p:spPr>
          <a:xfrm>
            <a:off x="548640" y="5852160"/>
            <a:ext cx="11064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600" dirty="0">
                <a:solidFill>
                  <a:srgbClr val="1E276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Qoida: avval blokirovka, keyin o'chirish — o'chirilgan qayd yozuvi bilan birga uning audit izi ham yo'qoladi.</a:t>
            </a:r>
            <a:endParaRPr lang="en-US" sz="1600" dirty="0"/>
          </a:p>
        </p:txBody>
      </p:sp>
      <p:sp>
        <p:nvSpPr>
          <p:cNvPr id="35" name="Text 33"/>
          <p:cNvSpPr txBox="1"/>
          <p:nvPr/>
        </p:nvSpPr>
        <p:spPr>
          <a:xfrm>
            <a:off x="548640" y="649224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B627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Foydalanishlarni boshqarish  ·  2-ma'ruza</a:t>
            </a:r>
            <a:endParaRPr lang="en-US" sz="1100" dirty="0"/>
          </a:p>
        </p:txBody>
      </p:sp>
      <p:sp>
        <p:nvSpPr>
          <p:cNvPr id="36" name="Text 34"/>
          <p:cNvSpPr txBox="1"/>
          <p:nvPr/>
        </p:nvSpPr>
        <p:spPr>
          <a:xfrm>
            <a:off x="11155680" y="649224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5B627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17</a:t>
            </a:r>
            <a:endParaRPr lang="en-US" sz="11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47472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kern="0" spc="220" dirty="0">
                <a:solidFill>
                  <a:srgbClr val="5B627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XAVFLAR</a:t>
            </a:r>
            <a:endParaRPr lang="en-US" sz="16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731520"/>
            <a:ext cx="100584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95000"/>
              </a:lnSpc>
              <a:buNone/>
            </a:pPr>
            <a:r>
              <a:rPr lang="en-US" sz="3600" b="1" dirty="0">
                <a:solidFill>
                  <a:srgbClr val="1E276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Hayotiy sikldagi to'rtta tipik xato</a:t>
            </a:r>
            <a:endParaRPr lang="en-US" sz="3600" dirty="0"/>
          </a:p>
        </p:txBody>
      </p:sp>
      <p:sp>
        <p:nvSpPr>
          <p:cNvPr id="4" name="Shape 2"/>
          <p:cNvSpPr/>
          <p:nvPr/>
        </p:nvSpPr>
        <p:spPr>
          <a:xfrm>
            <a:off x="548640" y="1783080"/>
            <a:ext cx="5440680" cy="1965960"/>
          </a:xfrm>
          <a:prstGeom prst="roundRect">
            <a:avLst>
              <a:gd name="adj" fmla="val 4186"/>
            </a:avLst>
          </a:prstGeom>
          <a:solidFill>
            <a:srgbClr val="EEF2FB"/>
          </a:solidFill>
          <a:ln/>
        </p:spPr>
        <p:txBody>
          <a:bodyPr/>
          <a:lstStyle/>
          <a:p>
            <a:endParaRPr lang="ru-RU"/>
          </a:p>
        </p:txBody>
      </p:sp>
      <p:sp>
        <p:nvSpPr>
          <p:cNvPr id="5" name="Shape 3"/>
          <p:cNvSpPr/>
          <p:nvPr/>
        </p:nvSpPr>
        <p:spPr>
          <a:xfrm>
            <a:off x="804672" y="2039112"/>
            <a:ext cx="658368" cy="658368"/>
          </a:xfrm>
          <a:prstGeom prst="ellipse">
            <a:avLst/>
          </a:prstGeom>
          <a:solidFill>
            <a:srgbClr val="9E3B2E"/>
          </a:solidFill>
          <a:ln/>
        </p:spPr>
        <p:txBody>
          <a:bodyPr/>
          <a:lstStyle/>
          <a:p>
            <a:endParaRPr lang="ru-RU"/>
          </a:p>
        </p:txBody>
      </p:sp>
      <p:pic>
        <p:nvPicPr>
          <p:cNvPr id="6" name="Image 0" descr="/home/claude/fob-slides/icons_out/usertimes_whit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52805" y="2187245"/>
            <a:ext cx="362102" cy="362102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1645920" y="2011680"/>
            <a:ext cx="4160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2000" b="1" dirty="0">
                <a:solidFill>
                  <a:srgbClr val="1E276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Egasiz qayd yozuvlari</a:t>
            </a:r>
            <a:endParaRPr lang="en-US" sz="2000" dirty="0"/>
          </a:p>
        </p:txBody>
      </p:sp>
      <p:sp>
        <p:nvSpPr>
          <p:cNvPr id="8" name="Text 5"/>
          <p:cNvSpPr txBox="1"/>
          <p:nvPr/>
        </p:nvSpPr>
        <p:spPr>
          <a:xfrm>
            <a:off x="1645920" y="2404872"/>
            <a:ext cx="4160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400" dirty="0">
                <a:solidFill>
                  <a:srgbClr val="5B627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orphaned accounts</a:t>
            </a:r>
            <a:endParaRPr lang="en-US" sz="1400" dirty="0"/>
          </a:p>
        </p:txBody>
      </p:sp>
      <p:sp>
        <p:nvSpPr>
          <p:cNvPr id="9" name="Text 6"/>
          <p:cNvSpPr txBox="1"/>
          <p:nvPr/>
        </p:nvSpPr>
        <p:spPr>
          <a:xfrm>
            <a:off x="804672" y="2834640"/>
            <a:ext cx="49377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5000"/>
              </a:lnSpc>
              <a:buNone/>
            </a:pPr>
            <a:r>
              <a:rPr lang="en-US" sz="1600" dirty="0">
                <a:solidFill>
                  <a:srgbClr val="1B1B2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Egasi ketgan, lekin faol qolgan qayd yozuvlari — Cisco hodisasining sababi.</a:t>
            </a:r>
            <a:endParaRPr lang="en-US" sz="1600" dirty="0"/>
          </a:p>
        </p:txBody>
      </p:sp>
      <p:sp>
        <p:nvSpPr>
          <p:cNvPr id="10" name="Shape 7"/>
          <p:cNvSpPr/>
          <p:nvPr/>
        </p:nvSpPr>
        <p:spPr>
          <a:xfrm>
            <a:off x="6172200" y="1783080"/>
            <a:ext cx="5440680" cy="1965960"/>
          </a:xfrm>
          <a:prstGeom prst="roundRect">
            <a:avLst>
              <a:gd name="adj" fmla="val 4186"/>
            </a:avLst>
          </a:prstGeom>
          <a:solidFill>
            <a:srgbClr val="EEF2FB"/>
          </a:solidFill>
          <a:ln/>
        </p:spPr>
        <p:txBody>
          <a:bodyPr/>
          <a:lstStyle/>
          <a:p>
            <a:endParaRPr lang="ru-RU"/>
          </a:p>
        </p:txBody>
      </p:sp>
      <p:sp>
        <p:nvSpPr>
          <p:cNvPr id="11" name="Shape 8"/>
          <p:cNvSpPr/>
          <p:nvPr/>
        </p:nvSpPr>
        <p:spPr>
          <a:xfrm>
            <a:off x="6428232" y="2039112"/>
            <a:ext cx="658368" cy="658368"/>
          </a:xfrm>
          <a:prstGeom prst="ellipse">
            <a:avLst/>
          </a:prstGeom>
          <a:solidFill>
            <a:srgbClr val="9E3B2E"/>
          </a:solidFill>
          <a:ln/>
        </p:spPr>
        <p:txBody>
          <a:bodyPr/>
          <a:lstStyle/>
          <a:p>
            <a:endParaRPr lang="ru-RU"/>
          </a:p>
        </p:txBody>
      </p:sp>
      <p:pic>
        <p:nvPicPr>
          <p:cNvPr id="12" name="Image 1" descr="/home/claude/fob-slides/icons_out/layers_whit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76365" y="2187245"/>
            <a:ext cx="362102" cy="362102"/>
          </a:xfrm>
          <a:prstGeom prst="rect">
            <a:avLst/>
          </a:prstGeom>
        </p:spPr>
      </p:pic>
      <p:sp>
        <p:nvSpPr>
          <p:cNvPr id="13" name="Text 9"/>
          <p:cNvSpPr txBox="1"/>
          <p:nvPr/>
        </p:nvSpPr>
        <p:spPr>
          <a:xfrm>
            <a:off x="7269480" y="2011680"/>
            <a:ext cx="4160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2000" b="1" dirty="0">
                <a:solidFill>
                  <a:srgbClr val="1E276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Ortiqcha imtiyozlar</a:t>
            </a:r>
            <a:endParaRPr lang="en-US" sz="2000" dirty="0"/>
          </a:p>
        </p:txBody>
      </p:sp>
      <p:sp>
        <p:nvSpPr>
          <p:cNvPr id="14" name="Text 10"/>
          <p:cNvSpPr txBox="1"/>
          <p:nvPr/>
        </p:nvSpPr>
        <p:spPr>
          <a:xfrm>
            <a:off x="7269480" y="2404872"/>
            <a:ext cx="4160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400" dirty="0">
                <a:solidFill>
                  <a:srgbClr val="5B627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privilege creep</a:t>
            </a:r>
            <a:endParaRPr lang="en-US" sz="1400" dirty="0"/>
          </a:p>
        </p:txBody>
      </p:sp>
      <p:sp>
        <p:nvSpPr>
          <p:cNvPr id="15" name="Text 11"/>
          <p:cNvSpPr txBox="1"/>
          <p:nvPr/>
        </p:nvSpPr>
        <p:spPr>
          <a:xfrm>
            <a:off x="6428232" y="2834640"/>
            <a:ext cx="49377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5000"/>
              </a:lnSpc>
              <a:buNone/>
            </a:pPr>
            <a:r>
              <a:rPr lang="en-US" sz="1600" dirty="0">
                <a:solidFill>
                  <a:srgbClr val="1B1B2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Har lavozim o'zgarishida eski imtiyozlar olib tashlanmay qoladi.</a:t>
            </a:r>
            <a:endParaRPr lang="en-US" sz="1600" dirty="0"/>
          </a:p>
        </p:txBody>
      </p:sp>
      <p:sp>
        <p:nvSpPr>
          <p:cNvPr id="16" name="Shape 12"/>
          <p:cNvSpPr/>
          <p:nvPr/>
        </p:nvSpPr>
        <p:spPr>
          <a:xfrm>
            <a:off x="548640" y="3977640"/>
            <a:ext cx="5440680" cy="1965960"/>
          </a:xfrm>
          <a:prstGeom prst="roundRect">
            <a:avLst>
              <a:gd name="adj" fmla="val 4186"/>
            </a:avLst>
          </a:prstGeom>
          <a:solidFill>
            <a:srgbClr val="EEF2FB"/>
          </a:solidFill>
          <a:ln/>
        </p:spPr>
        <p:txBody>
          <a:bodyPr/>
          <a:lstStyle/>
          <a:p>
            <a:endParaRPr lang="ru-RU"/>
          </a:p>
        </p:txBody>
      </p:sp>
      <p:sp>
        <p:nvSpPr>
          <p:cNvPr id="17" name="Shape 13"/>
          <p:cNvSpPr/>
          <p:nvPr/>
        </p:nvSpPr>
        <p:spPr>
          <a:xfrm>
            <a:off x="804672" y="4233672"/>
            <a:ext cx="658368" cy="658368"/>
          </a:xfrm>
          <a:prstGeom prst="ellipse">
            <a:avLst/>
          </a:prstGeom>
          <a:solidFill>
            <a:srgbClr val="9E3B2E"/>
          </a:solidFill>
          <a:ln/>
        </p:spPr>
        <p:txBody>
          <a:bodyPr/>
          <a:lstStyle/>
          <a:p>
            <a:endParaRPr lang="ru-RU"/>
          </a:p>
        </p:txBody>
      </p:sp>
      <p:pic>
        <p:nvPicPr>
          <p:cNvPr id="18" name="Image 2" descr="/home/claude/fob-slides/icons_out/users_whit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52805" y="4381805"/>
            <a:ext cx="362102" cy="362102"/>
          </a:xfrm>
          <a:prstGeom prst="rect">
            <a:avLst/>
          </a:prstGeom>
        </p:spPr>
      </p:pic>
      <p:sp>
        <p:nvSpPr>
          <p:cNvPr id="19" name="Text 14"/>
          <p:cNvSpPr txBox="1"/>
          <p:nvPr/>
        </p:nvSpPr>
        <p:spPr>
          <a:xfrm>
            <a:off x="1645920" y="4206240"/>
            <a:ext cx="4160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2000" b="1" dirty="0">
                <a:solidFill>
                  <a:srgbClr val="1E276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Umumiy qayd yozuvlari</a:t>
            </a:r>
            <a:endParaRPr lang="en-US" sz="2000" dirty="0"/>
          </a:p>
        </p:txBody>
      </p:sp>
      <p:sp>
        <p:nvSpPr>
          <p:cNvPr id="20" name="Text 15"/>
          <p:cNvSpPr txBox="1"/>
          <p:nvPr/>
        </p:nvSpPr>
        <p:spPr>
          <a:xfrm>
            <a:off x="1645920" y="4599432"/>
            <a:ext cx="4160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400" dirty="0">
                <a:solidFill>
                  <a:srgbClr val="5B627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shared accounts</a:t>
            </a:r>
            <a:endParaRPr lang="en-US" sz="1400" dirty="0"/>
          </a:p>
        </p:txBody>
      </p:sp>
      <p:sp>
        <p:nvSpPr>
          <p:cNvPr id="21" name="Text 16"/>
          <p:cNvSpPr txBox="1"/>
          <p:nvPr/>
        </p:nvSpPr>
        <p:spPr>
          <a:xfrm>
            <a:off x="804672" y="5029200"/>
            <a:ext cx="49377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5000"/>
              </a:lnSpc>
              <a:buNone/>
            </a:pPr>
            <a:r>
              <a:rPr lang="en-US" sz="1600" dirty="0">
                <a:solidFill>
                  <a:srgbClr val="1B1B2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Bir qayd yozuvidan bir necha kishi foydalanadi — kim nima qilgani noma'lum.</a:t>
            </a:r>
            <a:endParaRPr lang="en-US" sz="1600" dirty="0"/>
          </a:p>
        </p:txBody>
      </p:sp>
      <p:sp>
        <p:nvSpPr>
          <p:cNvPr id="22" name="Shape 17"/>
          <p:cNvSpPr/>
          <p:nvPr/>
        </p:nvSpPr>
        <p:spPr>
          <a:xfrm>
            <a:off x="6172200" y="3977640"/>
            <a:ext cx="5440680" cy="1965960"/>
          </a:xfrm>
          <a:prstGeom prst="roundRect">
            <a:avLst>
              <a:gd name="adj" fmla="val 4186"/>
            </a:avLst>
          </a:prstGeom>
          <a:solidFill>
            <a:srgbClr val="EEF2FB"/>
          </a:solidFill>
          <a:ln/>
        </p:spPr>
        <p:txBody>
          <a:bodyPr/>
          <a:lstStyle/>
          <a:p>
            <a:endParaRPr lang="ru-RU"/>
          </a:p>
        </p:txBody>
      </p:sp>
      <p:sp>
        <p:nvSpPr>
          <p:cNvPr id="23" name="Shape 18"/>
          <p:cNvSpPr/>
          <p:nvPr/>
        </p:nvSpPr>
        <p:spPr>
          <a:xfrm>
            <a:off x="6428232" y="4233672"/>
            <a:ext cx="658368" cy="658368"/>
          </a:xfrm>
          <a:prstGeom prst="ellipse">
            <a:avLst/>
          </a:prstGeom>
          <a:solidFill>
            <a:srgbClr val="9E3B2E"/>
          </a:solidFill>
          <a:ln/>
        </p:spPr>
        <p:txBody>
          <a:bodyPr/>
          <a:lstStyle/>
          <a:p>
            <a:endParaRPr lang="ru-RU"/>
          </a:p>
        </p:txBody>
      </p:sp>
      <p:pic>
        <p:nvPicPr>
          <p:cNvPr id="24" name="Image 3" descr="/home/claude/fob-slides/icons_out/server_whit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576365" y="4381805"/>
            <a:ext cx="362102" cy="362102"/>
          </a:xfrm>
          <a:prstGeom prst="rect">
            <a:avLst/>
          </a:prstGeom>
        </p:spPr>
      </p:pic>
      <p:sp>
        <p:nvSpPr>
          <p:cNvPr id="25" name="Text 19"/>
          <p:cNvSpPr txBox="1"/>
          <p:nvPr/>
        </p:nvSpPr>
        <p:spPr>
          <a:xfrm>
            <a:off x="7269480" y="4206240"/>
            <a:ext cx="4160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2000" b="1" dirty="0">
                <a:solidFill>
                  <a:srgbClr val="1E276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Ilova qayd yozuvlari</a:t>
            </a:r>
            <a:endParaRPr lang="en-US" sz="2000" dirty="0"/>
          </a:p>
        </p:txBody>
      </p:sp>
      <p:sp>
        <p:nvSpPr>
          <p:cNvPr id="26" name="Text 20"/>
          <p:cNvSpPr txBox="1"/>
          <p:nvPr/>
        </p:nvSpPr>
        <p:spPr>
          <a:xfrm>
            <a:off x="7269480" y="4599432"/>
            <a:ext cx="4160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400" dirty="0">
                <a:solidFill>
                  <a:srgbClr val="5B627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service accounts</a:t>
            </a:r>
            <a:endParaRPr lang="en-US" sz="1400" dirty="0"/>
          </a:p>
        </p:txBody>
      </p:sp>
      <p:sp>
        <p:nvSpPr>
          <p:cNvPr id="27" name="Text 21"/>
          <p:cNvSpPr txBox="1"/>
          <p:nvPr/>
        </p:nvSpPr>
        <p:spPr>
          <a:xfrm>
            <a:off x="6428232" y="5029200"/>
            <a:ext cx="49377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5000"/>
              </a:lnSpc>
              <a:buNone/>
            </a:pPr>
            <a:r>
              <a:rPr lang="en-US" sz="1600" dirty="0">
                <a:solidFill>
                  <a:srgbClr val="1B1B2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Dastur uchun yaratilgan, egasi yo'q, paroli yillab o'zgarmagan.</a:t>
            </a:r>
            <a:endParaRPr lang="en-US" sz="1600" dirty="0"/>
          </a:p>
        </p:txBody>
      </p:sp>
      <p:sp>
        <p:nvSpPr>
          <p:cNvPr id="28" name="Text 22"/>
          <p:cNvSpPr txBox="1"/>
          <p:nvPr/>
        </p:nvSpPr>
        <p:spPr>
          <a:xfrm>
            <a:off x="548640" y="6035040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400" dirty="0">
                <a:solidFill>
                  <a:srgbClr val="5B627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Har biri keyingi bo'limdagi IGA vositalari bilan aniqlanadi va bartaraf etiladi.</a:t>
            </a:r>
            <a:endParaRPr lang="en-US" sz="1400" dirty="0"/>
          </a:p>
        </p:txBody>
      </p:sp>
      <p:sp>
        <p:nvSpPr>
          <p:cNvPr id="29" name="Text 23"/>
          <p:cNvSpPr txBox="1"/>
          <p:nvPr/>
        </p:nvSpPr>
        <p:spPr>
          <a:xfrm>
            <a:off x="548640" y="649224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B627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Foydalanishlarni boshqarish  ·  2-ma'ruza</a:t>
            </a:r>
            <a:endParaRPr lang="en-US" sz="1100" dirty="0"/>
          </a:p>
        </p:txBody>
      </p:sp>
      <p:sp>
        <p:nvSpPr>
          <p:cNvPr id="30" name="Text 24"/>
          <p:cNvSpPr txBox="1"/>
          <p:nvPr/>
        </p:nvSpPr>
        <p:spPr>
          <a:xfrm>
            <a:off x="11155680" y="649224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5B627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18</a:t>
            </a:r>
            <a:endParaRPr lang="en-US" sz="11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1E276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463040" y="4206240"/>
            <a:ext cx="4572000" cy="4572000"/>
          </a:xfrm>
          <a:prstGeom prst="ellipse">
            <a:avLst/>
          </a:prstGeom>
          <a:solidFill>
            <a:srgbClr val="2A3778"/>
          </a:solidFill>
          <a:ln/>
        </p:spPr>
        <p:txBody>
          <a:bodyPr/>
          <a:lstStyle/>
          <a:p>
            <a:endParaRPr lang="ru-RU"/>
          </a:p>
        </p:txBody>
      </p:sp>
      <p:sp>
        <p:nvSpPr>
          <p:cNvPr id="3" name="Text 1"/>
          <p:cNvSpPr txBox="1"/>
          <p:nvPr/>
        </p:nvSpPr>
        <p:spPr>
          <a:xfrm>
            <a:off x="1005840" y="2286000"/>
            <a:ext cx="5486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kern="0" spc="300" dirty="0">
                <a:solidFill>
                  <a:srgbClr val="9FB0E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III BO'LIM</a:t>
            </a:r>
            <a:endParaRPr lang="en-US" sz="1600" dirty="0"/>
          </a:p>
        </p:txBody>
      </p:sp>
      <p:sp>
        <p:nvSpPr>
          <p:cNvPr id="4" name="Text 2"/>
          <p:cNvSpPr txBox="1"/>
          <p:nvPr/>
        </p:nvSpPr>
        <p:spPr>
          <a:xfrm>
            <a:off x="1005840" y="2724912"/>
            <a:ext cx="8229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400" b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IGA: huquqlarni nazorat qilish</a:t>
            </a:r>
            <a:endParaRPr lang="en-US" sz="4400" dirty="0"/>
          </a:p>
        </p:txBody>
      </p:sp>
      <p:sp>
        <p:nvSpPr>
          <p:cNvPr id="5" name="Text 3"/>
          <p:cNvSpPr txBox="1"/>
          <p:nvPr/>
        </p:nvSpPr>
        <p:spPr>
          <a:xfrm>
            <a:off x="1005840" y="370332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dirty="0">
                <a:solidFill>
                  <a:srgbClr val="CADCFC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Qayta sertifikatlash · Vazifalarni ajratish · Audit</a:t>
            </a:r>
            <a:endParaRPr lang="en-US" sz="2000" dirty="0"/>
          </a:p>
        </p:txBody>
      </p:sp>
      <p:sp>
        <p:nvSpPr>
          <p:cNvPr id="6" name="Text 4"/>
          <p:cNvSpPr txBox="1"/>
          <p:nvPr/>
        </p:nvSpPr>
        <p:spPr>
          <a:xfrm>
            <a:off x="9052560" y="1920240"/>
            <a:ext cx="2560320" cy="2743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0" b="1" dirty="0">
                <a:solidFill>
                  <a:srgbClr val="2A3778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III</a:t>
            </a:r>
            <a:endParaRPr lang="en-US" sz="13000" dirty="0"/>
          </a:p>
        </p:txBody>
      </p:sp>
      <p:sp>
        <p:nvSpPr>
          <p:cNvPr id="7" name="Text 5"/>
          <p:cNvSpPr txBox="1"/>
          <p:nvPr/>
        </p:nvSpPr>
        <p:spPr>
          <a:xfrm>
            <a:off x="548640" y="649224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9FB0E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Foydalanishlarni boshqarish  ·  2-ma'ruza</a:t>
            </a:r>
            <a:endParaRPr lang="en-US" sz="1100" dirty="0"/>
          </a:p>
        </p:txBody>
      </p:sp>
      <p:sp>
        <p:nvSpPr>
          <p:cNvPr id="8" name="Text 6"/>
          <p:cNvSpPr txBox="1"/>
          <p:nvPr/>
        </p:nvSpPr>
        <p:spPr>
          <a:xfrm>
            <a:off x="11155680" y="649224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9FB0E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19</a:t>
            </a:r>
            <a:endParaRPr lang="en-US" sz="11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47472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kern="0" spc="220" dirty="0">
                <a:solidFill>
                  <a:srgbClr val="5B627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TA'RIF</a:t>
            </a:r>
            <a:endParaRPr lang="en-US" sz="16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731520"/>
            <a:ext cx="100584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95000"/>
              </a:lnSpc>
              <a:buNone/>
            </a:pPr>
            <a:r>
              <a:rPr lang="en-US" sz="3600" b="1" dirty="0">
                <a:solidFill>
                  <a:srgbClr val="1E276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IGA va IAM: farqi nimada?</a:t>
            </a:r>
            <a:endParaRPr lang="en-US" sz="36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73736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5000"/>
              </a:lnSpc>
              <a:buNone/>
            </a:pPr>
            <a:r>
              <a:rPr lang="en-US" sz="1600" dirty="0">
                <a:solidFill>
                  <a:srgbClr val="1B1B2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IGA (Identity Governance and Administration) — identifikatorlar hayotiy siklini boshqarish va foydalanish huquqlari ustidan nazoratni birlashtiruvchi yondashuv. IAM — identifikatsiya va foydalanishni boshqarish tizimlari.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548640" y="2788920"/>
            <a:ext cx="5440680" cy="3246120"/>
          </a:xfrm>
          <a:prstGeom prst="roundRect">
            <a:avLst>
              <a:gd name="adj" fmla="val 2535"/>
            </a:avLst>
          </a:prstGeom>
          <a:solidFill>
            <a:srgbClr val="EEF2FB"/>
          </a:solidFill>
          <a:ln/>
        </p:spPr>
        <p:txBody>
          <a:bodyPr/>
          <a:lstStyle/>
          <a:p>
            <a:endParaRPr lang="ru-RU"/>
          </a:p>
        </p:txBody>
      </p:sp>
      <p:sp>
        <p:nvSpPr>
          <p:cNvPr id="6" name="Text 4"/>
          <p:cNvSpPr txBox="1"/>
          <p:nvPr/>
        </p:nvSpPr>
        <p:spPr>
          <a:xfrm>
            <a:off x="868680" y="2971800"/>
            <a:ext cx="4800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2200" b="1" dirty="0">
                <a:solidFill>
                  <a:srgbClr val="1E276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IAM — foydalanishni ta'minlaydi</a:t>
            </a:r>
            <a:endParaRPr lang="en-US" sz="2200" dirty="0"/>
          </a:p>
        </p:txBody>
      </p:sp>
      <p:sp>
        <p:nvSpPr>
          <p:cNvPr id="7" name="Text 5"/>
          <p:cNvSpPr txBox="1"/>
          <p:nvPr/>
        </p:nvSpPr>
        <p:spPr>
          <a:xfrm>
            <a:off x="868680" y="3474720"/>
            <a:ext cx="4800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800" dirty="0">
                <a:solidFill>
                  <a:srgbClr val="1E276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«Kim foydalana oladi?»</a:t>
            </a:r>
            <a:endParaRPr lang="en-US" sz="1800" dirty="0"/>
          </a:p>
        </p:txBody>
      </p:sp>
      <p:sp>
        <p:nvSpPr>
          <p:cNvPr id="8" name="Text 6"/>
          <p:cNvSpPr txBox="1"/>
          <p:nvPr/>
        </p:nvSpPr>
        <p:spPr>
          <a:xfrm>
            <a:off x="868680" y="4069080"/>
            <a:ext cx="4800600" cy="1783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1B1B2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Autentifikatsiya, SSO, MFA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1B1B2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Har bir murojaatda real vaqtda ishlaydi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1B1B2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Misol: Active Directory, Keycloak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6172200" y="2788920"/>
            <a:ext cx="5440680" cy="3246120"/>
          </a:xfrm>
          <a:prstGeom prst="roundRect">
            <a:avLst>
              <a:gd name="adj" fmla="val 2535"/>
            </a:avLst>
          </a:prstGeom>
          <a:solidFill>
            <a:srgbClr val="1E2761"/>
          </a:solidFill>
          <a:ln/>
        </p:spPr>
        <p:txBody>
          <a:bodyPr/>
          <a:lstStyle/>
          <a:p>
            <a:endParaRPr lang="ru-RU"/>
          </a:p>
        </p:txBody>
      </p:sp>
      <p:sp>
        <p:nvSpPr>
          <p:cNvPr id="10" name="Text 8"/>
          <p:cNvSpPr txBox="1"/>
          <p:nvPr/>
        </p:nvSpPr>
        <p:spPr>
          <a:xfrm>
            <a:off x="6492240" y="2971800"/>
            <a:ext cx="4800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2200" b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IGA — foydalanishni nazorat qiladi</a:t>
            </a:r>
            <a:endParaRPr lang="en-US" sz="2200" dirty="0"/>
          </a:p>
        </p:txBody>
      </p:sp>
      <p:sp>
        <p:nvSpPr>
          <p:cNvPr id="11" name="Text 9"/>
          <p:cNvSpPr txBox="1"/>
          <p:nvPr/>
        </p:nvSpPr>
        <p:spPr>
          <a:xfrm>
            <a:off x="6492240" y="3474720"/>
            <a:ext cx="4800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800" dirty="0">
                <a:solidFill>
                  <a:srgbClr val="CADCFC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«Kim foydalanishi kerak va nega?»</a:t>
            </a:r>
            <a:endParaRPr lang="en-US" sz="1800" dirty="0"/>
          </a:p>
        </p:txBody>
      </p:sp>
      <p:sp>
        <p:nvSpPr>
          <p:cNvPr id="12" name="Text 10"/>
          <p:cNvSpPr txBox="1"/>
          <p:nvPr/>
        </p:nvSpPr>
        <p:spPr>
          <a:xfrm>
            <a:off x="6492240" y="4069080"/>
            <a:ext cx="4800600" cy="1783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Provisioning, qayta sertifikatlash, SoD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Davriy va jarayonga asoslangan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Misol: SailPoint, Saviynt, midPoint</a:t>
            </a:r>
            <a:endParaRPr lang="en-US" sz="1600" dirty="0"/>
          </a:p>
        </p:txBody>
      </p:sp>
      <p:sp>
        <p:nvSpPr>
          <p:cNvPr id="13" name="Text 11"/>
          <p:cNvSpPr txBox="1"/>
          <p:nvPr/>
        </p:nvSpPr>
        <p:spPr>
          <a:xfrm>
            <a:off x="548640" y="649224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B627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Foydalanishlarni boshqarish  ·  2-ma'ruza</a:t>
            </a:r>
            <a:endParaRPr lang="en-US" sz="1100" dirty="0"/>
          </a:p>
        </p:txBody>
      </p:sp>
      <p:sp>
        <p:nvSpPr>
          <p:cNvPr id="14" name="Text 12"/>
          <p:cNvSpPr txBox="1"/>
          <p:nvPr/>
        </p:nvSpPr>
        <p:spPr>
          <a:xfrm>
            <a:off x="11155680" y="649224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5B627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20</a:t>
            </a:r>
            <a:endParaRPr lang="en-US" sz="11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47472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kern="0" spc="220" dirty="0">
                <a:solidFill>
                  <a:srgbClr val="5B627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IGA IMKONIYATLARI</a:t>
            </a:r>
            <a:endParaRPr lang="en-US" sz="16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731520"/>
            <a:ext cx="100584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95000"/>
              </a:lnSpc>
              <a:buNone/>
            </a:pPr>
            <a:r>
              <a:rPr lang="en-US" sz="3600" b="1" dirty="0">
                <a:solidFill>
                  <a:srgbClr val="1E276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IGA platformasi nimalarni bajaradi?</a:t>
            </a:r>
            <a:endParaRPr lang="en-US" sz="3600" dirty="0"/>
          </a:p>
        </p:txBody>
      </p:sp>
      <p:sp>
        <p:nvSpPr>
          <p:cNvPr id="4" name="Shape 2"/>
          <p:cNvSpPr/>
          <p:nvPr/>
        </p:nvSpPr>
        <p:spPr>
          <a:xfrm>
            <a:off x="548640" y="1783080"/>
            <a:ext cx="3566160" cy="1965960"/>
          </a:xfrm>
          <a:prstGeom prst="roundRect">
            <a:avLst>
              <a:gd name="adj" fmla="val 4186"/>
            </a:avLst>
          </a:prstGeom>
          <a:solidFill>
            <a:srgbClr val="EEF2FB"/>
          </a:solidFill>
          <a:ln/>
        </p:spPr>
        <p:txBody>
          <a:bodyPr/>
          <a:lstStyle/>
          <a:p>
            <a:endParaRPr lang="ru-RU"/>
          </a:p>
        </p:txBody>
      </p:sp>
      <p:sp>
        <p:nvSpPr>
          <p:cNvPr id="5" name="Shape 3"/>
          <p:cNvSpPr/>
          <p:nvPr/>
        </p:nvSpPr>
        <p:spPr>
          <a:xfrm>
            <a:off x="777240" y="2011680"/>
            <a:ext cx="566928" cy="566928"/>
          </a:xfrm>
          <a:prstGeom prst="ellipse">
            <a:avLst/>
          </a:prstGeom>
          <a:solidFill>
            <a:srgbClr val="1E2761"/>
          </a:solidFill>
          <a:ln/>
        </p:spPr>
        <p:txBody>
          <a:bodyPr/>
          <a:lstStyle/>
          <a:p>
            <a:endParaRPr lang="ru-RU"/>
          </a:p>
        </p:txBody>
      </p:sp>
      <p:pic>
        <p:nvPicPr>
          <p:cNvPr id="6" name="Image 0" descr="/home/claude/fob-slides/icons_out/cliplist_whit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04799" y="2139239"/>
            <a:ext cx="311810" cy="311810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1508760" y="2011680"/>
            <a:ext cx="24688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2000" b="1" dirty="0">
                <a:solidFill>
                  <a:srgbClr val="1E276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Imtiyoz so'rovi</a:t>
            </a:r>
            <a:endParaRPr lang="en-US" sz="2000" dirty="0"/>
          </a:p>
        </p:txBody>
      </p:sp>
      <p:sp>
        <p:nvSpPr>
          <p:cNvPr id="8" name="Text 5"/>
          <p:cNvSpPr txBox="1"/>
          <p:nvPr/>
        </p:nvSpPr>
        <p:spPr>
          <a:xfrm>
            <a:off x="777240" y="2743200"/>
            <a:ext cx="31089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5000"/>
              </a:lnSpc>
              <a:buNone/>
            </a:pPr>
            <a:r>
              <a:rPr lang="en-US" sz="1600" dirty="0">
                <a:solidFill>
                  <a:srgbClr val="1B1B2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Xodim imtiyoz so'raydi, rahbar va resurs egasi tasdiqlaydi.</a:t>
            </a:r>
            <a:endParaRPr lang="en-US" sz="1600" dirty="0"/>
          </a:p>
        </p:txBody>
      </p:sp>
      <p:sp>
        <p:nvSpPr>
          <p:cNvPr id="9" name="Shape 6"/>
          <p:cNvSpPr/>
          <p:nvPr/>
        </p:nvSpPr>
        <p:spPr>
          <a:xfrm>
            <a:off x="4297680" y="1783080"/>
            <a:ext cx="3566160" cy="1965960"/>
          </a:xfrm>
          <a:prstGeom prst="roundRect">
            <a:avLst>
              <a:gd name="adj" fmla="val 4186"/>
            </a:avLst>
          </a:prstGeom>
          <a:solidFill>
            <a:srgbClr val="EEF2FB"/>
          </a:solidFill>
          <a:ln/>
        </p:spPr>
        <p:txBody>
          <a:bodyPr/>
          <a:lstStyle/>
          <a:p>
            <a:endParaRPr lang="ru-RU"/>
          </a:p>
        </p:txBody>
      </p:sp>
      <p:sp>
        <p:nvSpPr>
          <p:cNvPr id="10" name="Shape 7"/>
          <p:cNvSpPr/>
          <p:nvPr/>
        </p:nvSpPr>
        <p:spPr>
          <a:xfrm>
            <a:off x="4526280" y="2011680"/>
            <a:ext cx="566928" cy="566928"/>
          </a:xfrm>
          <a:prstGeom prst="ellipse">
            <a:avLst/>
          </a:prstGeom>
          <a:solidFill>
            <a:srgbClr val="1E2761"/>
          </a:solidFill>
          <a:ln/>
        </p:spPr>
        <p:txBody>
          <a:bodyPr/>
          <a:lstStyle/>
          <a:p>
            <a:endParaRPr lang="ru-RU"/>
          </a:p>
        </p:txBody>
      </p:sp>
      <p:pic>
        <p:nvPicPr>
          <p:cNvPr id="11" name="Image 1" descr="/home/claude/fob-slides/icons_out/usercheck_whit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653839" y="2139239"/>
            <a:ext cx="311810" cy="311810"/>
          </a:xfrm>
          <a:prstGeom prst="rect">
            <a:avLst/>
          </a:prstGeom>
        </p:spPr>
      </p:pic>
      <p:sp>
        <p:nvSpPr>
          <p:cNvPr id="12" name="Text 8"/>
          <p:cNvSpPr txBox="1"/>
          <p:nvPr/>
        </p:nvSpPr>
        <p:spPr>
          <a:xfrm>
            <a:off x="5257800" y="2011680"/>
            <a:ext cx="24688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2000" b="1" dirty="0">
                <a:solidFill>
                  <a:srgbClr val="1E276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Qayta sertifikatlash</a:t>
            </a:r>
            <a:endParaRPr lang="en-US" sz="2000" dirty="0"/>
          </a:p>
        </p:txBody>
      </p:sp>
      <p:sp>
        <p:nvSpPr>
          <p:cNvPr id="13" name="Text 9"/>
          <p:cNvSpPr txBox="1"/>
          <p:nvPr/>
        </p:nvSpPr>
        <p:spPr>
          <a:xfrm>
            <a:off x="4526280" y="2743200"/>
            <a:ext cx="31089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5000"/>
              </a:lnSpc>
              <a:buNone/>
            </a:pPr>
            <a:r>
              <a:rPr lang="en-US" sz="1600" dirty="0">
                <a:solidFill>
                  <a:srgbClr val="1B1B2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Imtiyozlar davriy qayta tasdiqlanadi yoki bekor qilinadi.</a:t>
            </a:r>
            <a:endParaRPr lang="en-US" sz="1600" dirty="0"/>
          </a:p>
        </p:txBody>
      </p:sp>
      <p:sp>
        <p:nvSpPr>
          <p:cNvPr id="14" name="Shape 10"/>
          <p:cNvSpPr/>
          <p:nvPr/>
        </p:nvSpPr>
        <p:spPr>
          <a:xfrm>
            <a:off x="8046720" y="1783080"/>
            <a:ext cx="3566160" cy="1965960"/>
          </a:xfrm>
          <a:prstGeom prst="roundRect">
            <a:avLst>
              <a:gd name="adj" fmla="val 4186"/>
            </a:avLst>
          </a:prstGeom>
          <a:solidFill>
            <a:srgbClr val="EEF2FB"/>
          </a:solidFill>
          <a:ln/>
        </p:spPr>
        <p:txBody>
          <a:bodyPr/>
          <a:lstStyle/>
          <a:p>
            <a:endParaRPr lang="ru-RU"/>
          </a:p>
        </p:txBody>
      </p:sp>
      <p:sp>
        <p:nvSpPr>
          <p:cNvPr id="15" name="Shape 11"/>
          <p:cNvSpPr/>
          <p:nvPr/>
        </p:nvSpPr>
        <p:spPr>
          <a:xfrm>
            <a:off x="8275320" y="2011680"/>
            <a:ext cx="566928" cy="566928"/>
          </a:xfrm>
          <a:prstGeom prst="ellipse">
            <a:avLst/>
          </a:prstGeom>
          <a:solidFill>
            <a:srgbClr val="1E2761"/>
          </a:solidFill>
          <a:ln/>
        </p:spPr>
        <p:txBody>
          <a:bodyPr/>
          <a:lstStyle/>
          <a:p>
            <a:endParaRPr lang="ru-RU"/>
          </a:p>
        </p:txBody>
      </p:sp>
      <p:pic>
        <p:nvPicPr>
          <p:cNvPr id="16" name="Image 2" descr="/home/claude/fob-slides/icons_out/balance_whit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402879" y="2139239"/>
            <a:ext cx="311810" cy="311810"/>
          </a:xfrm>
          <a:prstGeom prst="rect">
            <a:avLst/>
          </a:prstGeom>
        </p:spPr>
      </p:pic>
      <p:sp>
        <p:nvSpPr>
          <p:cNvPr id="17" name="Text 12"/>
          <p:cNvSpPr txBox="1"/>
          <p:nvPr/>
        </p:nvSpPr>
        <p:spPr>
          <a:xfrm>
            <a:off x="9006840" y="2011680"/>
            <a:ext cx="24688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2000" b="1" dirty="0">
                <a:solidFill>
                  <a:srgbClr val="1E276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Vazifalarni ajratish</a:t>
            </a:r>
            <a:endParaRPr lang="en-US" sz="2000" dirty="0"/>
          </a:p>
        </p:txBody>
      </p:sp>
      <p:sp>
        <p:nvSpPr>
          <p:cNvPr id="18" name="Text 13"/>
          <p:cNvSpPr txBox="1"/>
          <p:nvPr/>
        </p:nvSpPr>
        <p:spPr>
          <a:xfrm>
            <a:off x="8275320" y="2743200"/>
            <a:ext cx="31089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5000"/>
              </a:lnSpc>
              <a:buNone/>
            </a:pPr>
            <a:r>
              <a:rPr lang="en-US" sz="1600" dirty="0">
                <a:solidFill>
                  <a:srgbClr val="1B1B2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Mos kelmaydigan imtiyozlar bir kishida birlashmaydi.</a:t>
            </a:r>
            <a:endParaRPr lang="en-US" sz="1600" dirty="0"/>
          </a:p>
        </p:txBody>
      </p:sp>
      <p:sp>
        <p:nvSpPr>
          <p:cNvPr id="19" name="Shape 14"/>
          <p:cNvSpPr/>
          <p:nvPr/>
        </p:nvSpPr>
        <p:spPr>
          <a:xfrm>
            <a:off x="548640" y="3977640"/>
            <a:ext cx="3566160" cy="1965960"/>
          </a:xfrm>
          <a:prstGeom prst="roundRect">
            <a:avLst>
              <a:gd name="adj" fmla="val 4186"/>
            </a:avLst>
          </a:prstGeom>
          <a:solidFill>
            <a:srgbClr val="EEF2FB"/>
          </a:solidFill>
          <a:ln/>
        </p:spPr>
        <p:txBody>
          <a:bodyPr/>
          <a:lstStyle/>
          <a:p>
            <a:endParaRPr lang="ru-RU"/>
          </a:p>
        </p:txBody>
      </p:sp>
      <p:sp>
        <p:nvSpPr>
          <p:cNvPr id="20" name="Shape 15"/>
          <p:cNvSpPr/>
          <p:nvPr/>
        </p:nvSpPr>
        <p:spPr>
          <a:xfrm>
            <a:off x="777240" y="4206240"/>
            <a:ext cx="566928" cy="566928"/>
          </a:xfrm>
          <a:prstGeom prst="ellipse">
            <a:avLst/>
          </a:prstGeom>
          <a:solidFill>
            <a:srgbClr val="1E2761"/>
          </a:solidFill>
          <a:ln/>
        </p:spPr>
        <p:txBody>
          <a:bodyPr/>
          <a:lstStyle/>
          <a:p>
            <a:endParaRPr lang="ru-RU"/>
          </a:p>
        </p:txBody>
      </p:sp>
      <p:pic>
        <p:nvPicPr>
          <p:cNvPr id="21" name="Image 3" descr="/home/claude/fob-slides/icons_out/sitemap_whit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04799" y="4333799"/>
            <a:ext cx="311810" cy="311810"/>
          </a:xfrm>
          <a:prstGeom prst="rect">
            <a:avLst/>
          </a:prstGeom>
        </p:spPr>
      </p:pic>
      <p:sp>
        <p:nvSpPr>
          <p:cNvPr id="22" name="Text 16"/>
          <p:cNvSpPr txBox="1"/>
          <p:nvPr/>
        </p:nvSpPr>
        <p:spPr>
          <a:xfrm>
            <a:off x="1508760" y="4206240"/>
            <a:ext cx="24688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2000" b="1" dirty="0">
                <a:solidFill>
                  <a:srgbClr val="1E276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Rollarni boshqarish</a:t>
            </a:r>
            <a:endParaRPr lang="en-US" sz="2000" dirty="0"/>
          </a:p>
        </p:txBody>
      </p:sp>
      <p:sp>
        <p:nvSpPr>
          <p:cNvPr id="23" name="Text 17"/>
          <p:cNvSpPr txBox="1"/>
          <p:nvPr/>
        </p:nvSpPr>
        <p:spPr>
          <a:xfrm>
            <a:off x="777240" y="4937760"/>
            <a:ext cx="31089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5000"/>
              </a:lnSpc>
              <a:buNone/>
            </a:pPr>
            <a:r>
              <a:rPr lang="en-US" sz="1600" dirty="0">
                <a:solidFill>
                  <a:srgbClr val="1B1B2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Rollar yaratiladi, egasi va tarkibi nazorat qilinadi.</a:t>
            </a:r>
            <a:endParaRPr lang="en-US" sz="1600" dirty="0"/>
          </a:p>
        </p:txBody>
      </p:sp>
      <p:sp>
        <p:nvSpPr>
          <p:cNvPr id="24" name="Shape 18"/>
          <p:cNvSpPr/>
          <p:nvPr/>
        </p:nvSpPr>
        <p:spPr>
          <a:xfrm>
            <a:off x="4297680" y="3977640"/>
            <a:ext cx="3566160" cy="1965960"/>
          </a:xfrm>
          <a:prstGeom prst="roundRect">
            <a:avLst>
              <a:gd name="adj" fmla="val 4186"/>
            </a:avLst>
          </a:prstGeom>
          <a:solidFill>
            <a:srgbClr val="EEF2FB"/>
          </a:solidFill>
          <a:ln/>
        </p:spPr>
        <p:txBody>
          <a:bodyPr/>
          <a:lstStyle/>
          <a:p>
            <a:endParaRPr lang="ru-RU"/>
          </a:p>
        </p:txBody>
      </p:sp>
      <p:sp>
        <p:nvSpPr>
          <p:cNvPr id="25" name="Shape 19"/>
          <p:cNvSpPr/>
          <p:nvPr/>
        </p:nvSpPr>
        <p:spPr>
          <a:xfrm>
            <a:off x="4526280" y="4206240"/>
            <a:ext cx="566928" cy="566928"/>
          </a:xfrm>
          <a:prstGeom prst="ellipse">
            <a:avLst/>
          </a:prstGeom>
          <a:solidFill>
            <a:srgbClr val="1E2761"/>
          </a:solidFill>
          <a:ln/>
        </p:spPr>
        <p:txBody>
          <a:bodyPr/>
          <a:lstStyle/>
          <a:p>
            <a:endParaRPr lang="ru-RU"/>
          </a:p>
        </p:txBody>
      </p:sp>
      <p:pic>
        <p:nvPicPr>
          <p:cNvPr id="26" name="Image 4" descr="/home/claude/fob-slides/icons_out/search_whit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653839" y="4333799"/>
            <a:ext cx="311810" cy="311810"/>
          </a:xfrm>
          <a:prstGeom prst="rect">
            <a:avLst/>
          </a:prstGeom>
        </p:spPr>
      </p:pic>
      <p:sp>
        <p:nvSpPr>
          <p:cNvPr id="27" name="Text 20"/>
          <p:cNvSpPr txBox="1"/>
          <p:nvPr/>
        </p:nvSpPr>
        <p:spPr>
          <a:xfrm>
            <a:off x="5257800" y="4206240"/>
            <a:ext cx="24688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2000" b="1" dirty="0">
                <a:solidFill>
                  <a:srgbClr val="1E276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Audit va hisobot</a:t>
            </a:r>
            <a:endParaRPr lang="en-US" sz="2000" dirty="0"/>
          </a:p>
        </p:txBody>
      </p:sp>
      <p:sp>
        <p:nvSpPr>
          <p:cNvPr id="28" name="Text 21"/>
          <p:cNvSpPr txBox="1"/>
          <p:nvPr/>
        </p:nvSpPr>
        <p:spPr>
          <a:xfrm>
            <a:off x="4526280" y="4937760"/>
            <a:ext cx="31089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5000"/>
              </a:lnSpc>
              <a:buNone/>
            </a:pPr>
            <a:r>
              <a:rPr lang="en-US" sz="1600" dirty="0">
                <a:solidFill>
                  <a:srgbClr val="1B1B2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Kim, qachon, kimning ruxsati bilan imtiyoz olgani.</a:t>
            </a:r>
            <a:endParaRPr lang="en-US" sz="1600" dirty="0"/>
          </a:p>
        </p:txBody>
      </p:sp>
      <p:sp>
        <p:nvSpPr>
          <p:cNvPr id="29" name="Shape 22"/>
          <p:cNvSpPr/>
          <p:nvPr/>
        </p:nvSpPr>
        <p:spPr>
          <a:xfrm>
            <a:off x="8046720" y="3977640"/>
            <a:ext cx="3566160" cy="1965960"/>
          </a:xfrm>
          <a:prstGeom prst="roundRect">
            <a:avLst>
              <a:gd name="adj" fmla="val 4186"/>
            </a:avLst>
          </a:prstGeom>
          <a:solidFill>
            <a:srgbClr val="1E2761"/>
          </a:solidFill>
          <a:ln/>
        </p:spPr>
        <p:txBody>
          <a:bodyPr/>
          <a:lstStyle/>
          <a:p>
            <a:endParaRPr lang="ru-RU"/>
          </a:p>
        </p:txBody>
      </p:sp>
      <p:sp>
        <p:nvSpPr>
          <p:cNvPr id="30" name="Shape 23"/>
          <p:cNvSpPr/>
          <p:nvPr/>
        </p:nvSpPr>
        <p:spPr>
          <a:xfrm>
            <a:off x="8275320" y="4206240"/>
            <a:ext cx="566928" cy="566928"/>
          </a:xfrm>
          <a:prstGeom prst="ellipse">
            <a:avLst/>
          </a:prstGeom>
          <a:solidFill>
            <a:srgbClr val="2A3778"/>
          </a:solidFill>
          <a:ln/>
        </p:spPr>
        <p:txBody>
          <a:bodyPr/>
          <a:lstStyle/>
          <a:p>
            <a:endParaRPr lang="ru-RU"/>
          </a:p>
        </p:txBody>
      </p:sp>
      <p:pic>
        <p:nvPicPr>
          <p:cNvPr id="31" name="Image 5" descr="/home/claude/fob-slides/icons_out/server_whit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402879" y="4333799"/>
            <a:ext cx="311810" cy="311810"/>
          </a:xfrm>
          <a:prstGeom prst="rect">
            <a:avLst/>
          </a:prstGeom>
        </p:spPr>
      </p:pic>
      <p:sp>
        <p:nvSpPr>
          <p:cNvPr id="32" name="Text 24"/>
          <p:cNvSpPr txBox="1"/>
          <p:nvPr/>
        </p:nvSpPr>
        <p:spPr>
          <a:xfrm>
            <a:off x="9006840" y="4206240"/>
            <a:ext cx="24688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2000" b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Platformalar</a:t>
            </a:r>
            <a:endParaRPr lang="en-US" sz="2000" dirty="0"/>
          </a:p>
        </p:txBody>
      </p:sp>
      <p:sp>
        <p:nvSpPr>
          <p:cNvPr id="33" name="Text 25"/>
          <p:cNvSpPr txBox="1"/>
          <p:nvPr/>
        </p:nvSpPr>
        <p:spPr>
          <a:xfrm>
            <a:off x="8275320" y="4937760"/>
            <a:ext cx="31089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5000"/>
              </a:lnSpc>
              <a:buNone/>
            </a:pPr>
            <a:r>
              <a:rPr lang="en-US" sz="1600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SailPoint, Saviynt, Omada; ochiq kodli — midPoint.</a:t>
            </a:r>
            <a:endParaRPr lang="en-US" sz="1600" dirty="0"/>
          </a:p>
        </p:txBody>
      </p:sp>
      <p:sp>
        <p:nvSpPr>
          <p:cNvPr id="34" name="Text 26"/>
          <p:cNvSpPr txBox="1"/>
          <p:nvPr/>
        </p:nvSpPr>
        <p:spPr>
          <a:xfrm>
            <a:off x="548640" y="649224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B627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Foydalanishlarni boshqarish  ·  2-ma'ruza</a:t>
            </a:r>
            <a:endParaRPr lang="en-US" sz="1100" dirty="0"/>
          </a:p>
        </p:txBody>
      </p:sp>
      <p:sp>
        <p:nvSpPr>
          <p:cNvPr id="35" name="Text 27"/>
          <p:cNvSpPr txBox="1"/>
          <p:nvPr/>
        </p:nvSpPr>
        <p:spPr>
          <a:xfrm>
            <a:off x="11155680" y="649224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5B627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21</a:t>
            </a:r>
            <a:endParaRPr lang="en-US" sz="11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47472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kern="0" spc="220" dirty="0">
                <a:solidFill>
                  <a:srgbClr val="5B627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QAYTA SERTIFIKATLASH</a:t>
            </a:r>
            <a:endParaRPr lang="en-US" sz="16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731520"/>
            <a:ext cx="100584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95000"/>
              </a:lnSpc>
              <a:buNone/>
            </a:pPr>
            <a:r>
              <a:rPr lang="en-US" sz="3600" b="1" dirty="0">
                <a:solidFill>
                  <a:srgbClr val="1E276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Huquqlarni qayta sertifikatlash (access review)</a:t>
            </a:r>
            <a:endParaRPr lang="en-US" sz="3600" dirty="0"/>
          </a:p>
        </p:txBody>
      </p:sp>
      <p:sp>
        <p:nvSpPr>
          <p:cNvPr id="4" name="Shape 2"/>
          <p:cNvSpPr/>
          <p:nvPr/>
        </p:nvSpPr>
        <p:spPr>
          <a:xfrm>
            <a:off x="548640" y="1783080"/>
            <a:ext cx="1920240" cy="1325880"/>
          </a:xfrm>
          <a:prstGeom prst="roundRect">
            <a:avLst>
              <a:gd name="adj" fmla="val 6207"/>
            </a:avLst>
          </a:prstGeom>
          <a:solidFill>
            <a:srgbClr val="EEF2FB"/>
          </a:solidFill>
          <a:ln/>
        </p:spPr>
        <p:txBody>
          <a:bodyPr/>
          <a:lstStyle/>
          <a:p>
            <a:endParaRPr lang="ru-RU"/>
          </a:p>
        </p:txBody>
      </p:sp>
      <p:sp>
        <p:nvSpPr>
          <p:cNvPr id="5" name="Text 3"/>
          <p:cNvSpPr txBox="1"/>
          <p:nvPr/>
        </p:nvSpPr>
        <p:spPr>
          <a:xfrm>
            <a:off x="621792" y="1783080"/>
            <a:ext cx="1773936" cy="132588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600" b="1" dirty="0">
                <a:solidFill>
                  <a:srgbClr val="1E276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Kampaniya boshlanadi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2514600" y="2446020"/>
            <a:ext cx="274320" cy="0"/>
          </a:xfrm>
          <a:prstGeom prst="line">
            <a:avLst/>
          </a:prstGeom>
          <a:noFill/>
          <a:ln w="28575">
            <a:solidFill>
              <a:srgbClr val="1E2761"/>
            </a:solidFill>
            <a:prstDash val="solid"/>
            <a:tailEnd type="triangle"/>
          </a:ln>
        </p:spPr>
        <p:txBody>
          <a:bodyPr/>
          <a:lstStyle/>
          <a:p>
            <a:endParaRPr lang="ru-RU"/>
          </a:p>
        </p:txBody>
      </p:sp>
      <p:sp>
        <p:nvSpPr>
          <p:cNvPr id="7" name="Shape 5"/>
          <p:cNvSpPr/>
          <p:nvPr/>
        </p:nvSpPr>
        <p:spPr>
          <a:xfrm>
            <a:off x="2834640" y="1783080"/>
            <a:ext cx="1920240" cy="1325880"/>
          </a:xfrm>
          <a:prstGeom prst="roundRect">
            <a:avLst>
              <a:gd name="adj" fmla="val 6207"/>
            </a:avLst>
          </a:prstGeom>
          <a:solidFill>
            <a:srgbClr val="EEF2FB"/>
          </a:solidFill>
          <a:ln/>
        </p:spPr>
        <p:txBody>
          <a:bodyPr/>
          <a:lstStyle/>
          <a:p>
            <a:endParaRPr lang="ru-RU"/>
          </a:p>
        </p:txBody>
      </p:sp>
      <p:sp>
        <p:nvSpPr>
          <p:cNvPr id="8" name="Text 6"/>
          <p:cNvSpPr txBox="1"/>
          <p:nvPr/>
        </p:nvSpPr>
        <p:spPr>
          <a:xfrm>
            <a:off x="2907792" y="1783080"/>
            <a:ext cx="1773936" cy="132588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600" b="1" dirty="0">
                <a:solidFill>
                  <a:srgbClr val="1E276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Rahbar ro'yxatni ko'radi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4800600" y="2446020"/>
            <a:ext cx="274320" cy="0"/>
          </a:xfrm>
          <a:prstGeom prst="line">
            <a:avLst/>
          </a:prstGeom>
          <a:noFill/>
          <a:ln w="28575">
            <a:solidFill>
              <a:srgbClr val="1E2761"/>
            </a:solidFill>
            <a:prstDash val="solid"/>
            <a:tailEnd type="triangle"/>
          </a:ln>
        </p:spPr>
        <p:txBody>
          <a:bodyPr/>
          <a:lstStyle/>
          <a:p>
            <a:endParaRPr lang="ru-RU"/>
          </a:p>
        </p:txBody>
      </p:sp>
      <p:sp>
        <p:nvSpPr>
          <p:cNvPr id="10" name="Shape 8"/>
          <p:cNvSpPr/>
          <p:nvPr/>
        </p:nvSpPr>
        <p:spPr>
          <a:xfrm>
            <a:off x="5120640" y="1783080"/>
            <a:ext cx="1920240" cy="1325880"/>
          </a:xfrm>
          <a:prstGeom prst="roundRect">
            <a:avLst>
              <a:gd name="adj" fmla="val 6207"/>
            </a:avLst>
          </a:prstGeom>
          <a:solidFill>
            <a:srgbClr val="1E2761"/>
          </a:solidFill>
          <a:ln/>
        </p:spPr>
        <p:txBody>
          <a:bodyPr/>
          <a:lstStyle/>
          <a:p>
            <a:endParaRPr lang="ru-RU"/>
          </a:p>
        </p:txBody>
      </p:sp>
      <p:sp>
        <p:nvSpPr>
          <p:cNvPr id="11" name="Text 9"/>
          <p:cNvSpPr txBox="1"/>
          <p:nvPr/>
        </p:nvSpPr>
        <p:spPr>
          <a:xfrm>
            <a:off x="5193792" y="1783080"/>
            <a:ext cx="1773936" cy="132588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600" b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Tasdiqlash yoki bekor qilish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7086600" y="2446020"/>
            <a:ext cx="274320" cy="0"/>
          </a:xfrm>
          <a:prstGeom prst="line">
            <a:avLst/>
          </a:prstGeom>
          <a:noFill/>
          <a:ln w="28575">
            <a:solidFill>
              <a:srgbClr val="1E2761"/>
            </a:solidFill>
            <a:prstDash val="solid"/>
            <a:tailEnd type="triangle"/>
          </a:ln>
        </p:spPr>
        <p:txBody>
          <a:bodyPr/>
          <a:lstStyle/>
          <a:p>
            <a:endParaRPr lang="ru-RU"/>
          </a:p>
        </p:txBody>
      </p:sp>
      <p:sp>
        <p:nvSpPr>
          <p:cNvPr id="13" name="Shape 11"/>
          <p:cNvSpPr/>
          <p:nvPr/>
        </p:nvSpPr>
        <p:spPr>
          <a:xfrm>
            <a:off x="7406640" y="1783080"/>
            <a:ext cx="1920240" cy="1325880"/>
          </a:xfrm>
          <a:prstGeom prst="roundRect">
            <a:avLst>
              <a:gd name="adj" fmla="val 6207"/>
            </a:avLst>
          </a:prstGeom>
          <a:solidFill>
            <a:srgbClr val="EEF2FB"/>
          </a:solidFill>
          <a:ln/>
        </p:spPr>
        <p:txBody>
          <a:bodyPr/>
          <a:lstStyle/>
          <a:p>
            <a:endParaRPr lang="ru-RU"/>
          </a:p>
        </p:txBody>
      </p:sp>
      <p:sp>
        <p:nvSpPr>
          <p:cNvPr id="14" name="Text 12"/>
          <p:cNvSpPr txBox="1"/>
          <p:nvPr/>
        </p:nvSpPr>
        <p:spPr>
          <a:xfrm>
            <a:off x="7479792" y="1783080"/>
            <a:ext cx="1773936" cy="132588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600" b="1" dirty="0">
                <a:solidFill>
                  <a:srgbClr val="1E276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Bekor qilingan imtiyoz avtomatik olinadi</a:t>
            </a:r>
            <a:endParaRPr lang="en-US" sz="1600" dirty="0"/>
          </a:p>
        </p:txBody>
      </p:sp>
      <p:sp>
        <p:nvSpPr>
          <p:cNvPr id="15" name="Shape 13"/>
          <p:cNvSpPr/>
          <p:nvPr/>
        </p:nvSpPr>
        <p:spPr>
          <a:xfrm>
            <a:off x="9372600" y="2446020"/>
            <a:ext cx="274320" cy="0"/>
          </a:xfrm>
          <a:prstGeom prst="line">
            <a:avLst/>
          </a:prstGeom>
          <a:noFill/>
          <a:ln w="28575">
            <a:solidFill>
              <a:srgbClr val="1E2761"/>
            </a:solidFill>
            <a:prstDash val="solid"/>
            <a:tailEnd type="triangle"/>
          </a:ln>
        </p:spPr>
        <p:txBody>
          <a:bodyPr/>
          <a:lstStyle/>
          <a:p>
            <a:endParaRPr lang="ru-RU"/>
          </a:p>
        </p:txBody>
      </p:sp>
      <p:sp>
        <p:nvSpPr>
          <p:cNvPr id="16" name="Shape 14"/>
          <p:cNvSpPr/>
          <p:nvPr/>
        </p:nvSpPr>
        <p:spPr>
          <a:xfrm>
            <a:off x="9692640" y="1783080"/>
            <a:ext cx="1920240" cy="1325880"/>
          </a:xfrm>
          <a:prstGeom prst="roundRect">
            <a:avLst>
              <a:gd name="adj" fmla="val 6207"/>
            </a:avLst>
          </a:prstGeom>
          <a:solidFill>
            <a:srgbClr val="EEF2FB"/>
          </a:solidFill>
          <a:ln/>
        </p:spPr>
        <p:txBody>
          <a:bodyPr/>
          <a:lstStyle/>
          <a:p>
            <a:endParaRPr lang="ru-RU"/>
          </a:p>
        </p:txBody>
      </p:sp>
      <p:sp>
        <p:nvSpPr>
          <p:cNvPr id="17" name="Text 15"/>
          <p:cNvSpPr txBox="1"/>
          <p:nvPr/>
        </p:nvSpPr>
        <p:spPr>
          <a:xfrm>
            <a:off x="9765792" y="1783080"/>
            <a:ext cx="1773936" cy="132588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600" b="1" dirty="0">
                <a:solidFill>
                  <a:srgbClr val="1E276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Audit hisoboti tayyorlanadi</a:t>
            </a:r>
            <a:endParaRPr lang="en-US" sz="1600" dirty="0"/>
          </a:p>
        </p:txBody>
      </p:sp>
      <p:sp>
        <p:nvSpPr>
          <p:cNvPr id="18" name="Shape 16"/>
          <p:cNvSpPr/>
          <p:nvPr/>
        </p:nvSpPr>
        <p:spPr>
          <a:xfrm>
            <a:off x="548640" y="3429000"/>
            <a:ext cx="5440680" cy="2606040"/>
          </a:xfrm>
          <a:prstGeom prst="roundRect">
            <a:avLst>
              <a:gd name="adj" fmla="val 3158"/>
            </a:avLst>
          </a:prstGeom>
          <a:solidFill>
            <a:srgbClr val="EEF2FB"/>
          </a:solidFill>
          <a:ln/>
        </p:spPr>
        <p:txBody>
          <a:bodyPr/>
          <a:lstStyle/>
          <a:p>
            <a:endParaRPr lang="ru-RU"/>
          </a:p>
        </p:txBody>
      </p:sp>
      <p:sp>
        <p:nvSpPr>
          <p:cNvPr id="19" name="Shape 17"/>
          <p:cNvSpPr/>
          <p:nvPr/>
        </p:nvSpPr>
        <p:spPr>
          <a:xfrm>
            <a:off x="822960" y="3657600"/>
            <a:ext cx="566928" cy="566928"/>
          </a:xfrm>
          <a:prstGeom prst="ellipse">
            <a:avLst/>
          </a:prstGeom>
          <a:solidFill>
            <a:srgbClr val="1E2761"/>
          </a:solidFill>
          <a:ln/>
        </p:spPr>
        <p:txBody>
          <a:bodyPr/>
          <a:lstStyle/>
          <a:p>
            <a:endParaRPr lang="ru-RU"/>
          </a:p>
        </p:txBody>
      </p:sp>
      <p:pic>
        <p:nvPicPr>
          <p:cNvPr id="20" name="Image 0" descr="/home/claude/fob-slides/icons_out/clock_whit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50519" y="3785159"/>
            <a:ext cx="311810" cy="311810"/>
          </a:xfrm>
          <a:prstGeom prst="rect">
            <a:avLst/>
          </a:prstGeom>
        </p:spPr>
      </p:pic>
      <p:sp>
        <p:nvSpPr>
          <p:cNvPr id="21" name="Text 18"/>
          <p:cNvSpPr txBox="1"/>
          <p:nvPr/>
        </p:nvSpPr>
        <p:spPr>
          <a:xfrm>
            <a:off x="1554480" y="3703320"/>
            <a:ext cx="4206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2000" b="1" dirty="0">
                <a:solidFill>
                  <a:srgbClr val="1E276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Qanchalik tez-tez?</a:t>
            </a:r>
            <a:endParaRPr lang="en-US" sz="2000" dirty="0"/>
          </a:p>
        </p:txBody>
      </p:sp>
      <p:sp>
        <p:nvSpPr>
          <p:cNvPr id="22" name="Text 19"/>
          <p:cNvSpPr txBox="1"/>
          <p:nvPr/>
        </p:nvSpPr>
        <p:spPr>
          <a:xfrm>
            <a:off x="822960" y="4343400"/>
            <a:ext cx="493776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1B1B2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Imtiyozli qayd yozuvlari — har chorakda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1B1B2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Oddiy imtiyozlar — yiliga 1–2 marta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1B1B2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Lavozim o'zgarganda — darhol</a:t>
            </a:r>
            <a:endParaRPr lang="en-US" sz="1600" dirty="0"/>
          </a:p>
        </p:txBody>
      </p:sp>
      <p:sp>
        <p:nvSpPr>
          <p:cNvPr id="23" name="Shape 20"/>
          <p:cNvSpPr/>
          <p:nvPr/>
        </p:nvSpPr>
        <p:spPr>
          <a:xfrm>
            <a:off x="6172200" y="3429000"/>
            <a:ext cx="5440680" cy="2606040"/>
          </a:xfrm>
          <a:prstGeom prst="roundRect">
            <a:avLst>
              <a:gd name="adj" fmla="val 3158"/>
            </a:avLst>
          </a:prstGeom>
          <a:solidFill>
            <a:srgbClr val="F7ECEA"/>
          </a:solidFill>
          <a:ln/>
        </p:spPr>
        <p:txBody>
          <a:bodyPr/>
          <a:lstStyle/>
          <a:p>
            <a:endParaRPr lang="ru-RU"/>
          </a:p>
        </p:txBody>
      </p:sp>
      <p:sp>
        <p:nvSpPr>
          <p:cNvPr id="24" name="Shape 21"/>
          <p:cNvSpPr/>
          <p:nvPr/>
        </p:nvSpPr>
        <p:spPr>
          <a:xfrm>
            <a:off x="6446520" y="3657600"/>
            <a:ext cx="566928" cy="566928"/>
          </a:xfrm>
          <a:prstGeom prst="ellipse">
            <a:avLst/>
          </a:prstGeom>
          <a:solidFill>
            <a:srgbClr val="9E3B2E"/>
          </a:solidFill>
          <a:ln/>
        </p:spPr>
        <p:txBody>
          <a:bodyPr/>
          <a:lstStyle/>
          <a:p>
            <a:endParaRPr lang="ru-RU"/>
          </a:p>
        </p:txBody>
      </p:sp>
      <p:pic>
        <p:nvPicPr>
          <p:cNvPr id="25" name="Image 1" descr="/home/claude/fob-slides/icons_out/warn_whit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74079" y="3785159"/>
            <a:ext cx="311810" cy="311810"/>
          </a:xfrm>
          <a:prstGeom prst="rect">
            <a:avLst/>
          </a:prstGeom>
        </p:spPr>
      </p:pic>
      <p:sp>
        <p:nvSpPr>
          <p:cNvPr id="26" name="Text 22"/>
          <p:cNvSpPr txBox="1"/>
          <p:nvPr/>
        </p:nvSpPr>
        <p:spPr>
          <a:xfrm>
            <a:off x="7178040" y="3703320"/>
            <a:ext cx="4206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2000" b="1" dirty="0">
                <a:solidFill>
                  <a:srgbClr val="9E3B2E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Xavf: «rubber-stamping»</a:t>
            </a:r>
            <a:endParaRPr lang="en-US" sz="2000" dirty="0"/>
          </a:p>
        </p:txBody>
      </p:sp>
      <p:sp>
        <p:nvSpPr>
          <p:cNvPr id="27" name="Text 23"/>
          <p:cNvSpPr txBox="1"/>
          <p:nvPr/>
        </p:nvSpPr>
        <p:spPr>
          <a:xfrm>
            <a:off x="6446520" y="4343400"/>
            <a:ext cx="4937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600" dirty="0">
                <a:solidFill>
                  <a:srgbClr val="1B1B2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Rahbar barcha imtiyozlarni ko'r-ko'rona tasdiqlaydi.</a:t>
            </a:r>
            <a:endParaRPr lang="en-US" sz="1600" dirty="0"/>
          </a:p>
        </p:txBody>
      </p:sp>
      <p:sp>
        <p:nvSpPr>
          <p:cNvPr id="28" name="Text 24"/>
          <p:cNvSpPr txBox="1"/>
          <p:nvPr/>
        </p:nvSpPr>
        <p:spPr>
          <a:xfrm>
            <a:off x="6446520" y="4754880"/>
            <a:ext cx="49377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600" b="1" dirty="0">
                <a:solidFill>
                  <a:srgbClr val="9E3B2E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Yechim: </a:t>
            </a:r>
            <a:r>
              <a:rPr lang="en-US" sz="1600" dirty="0">
                <a:solidFill>
                  <a:srgbClr val="1B1B2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faqat o'zgarishlarni ko'rsatish, ishlatilmagan imtiyozlarni belgilash, risk bo'yicha saralash.</a:t>
            </a:r>
            <a:endParaRPr lang="en-US" sz="1600" dirty="0"/>
          </a:p>
        </p:txBody>
      </p:sp>
      <p:sp>
        <p:nvSpPr>
          <p:cNvPr id="29" name="Text 25"/>
          <p:cNvSpPr txBox="1"/>
          <p:nvPr/>
        </p:nvSpPr>
        <p:spPr>
          <a:xfrm>
            <a:off x="548640" y="649224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B627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Foydalanishlarni boshqarish  ·  2-ma'ruza</a:t>
            </a:r>
            <a:endParaRPr lang="en-US" sz="1100" dirty="0"/>
          </a:p>
        </p:txBody>
      </p:sp>
      <p:sp>
        <p:nvSpPr>
          <p:cNvPr id="30" name="Text 26"/>
          <p:cNvSpPr txBox="1"/>
          <p:nvPr/>
        </p:nvSpPr>
        <p:spPr>
          <a:xfrm>
            <a:off x="11155680" y="649224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5B627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22</a:t>
            </a:r>
            <a:endParaRPr lang="en-US" sz="11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FDF3E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47472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kern="0" spc="220" dirty="0">
                <a:solidFill>
                  <a:srgbClr val="D9932B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MUHOKAMA · 6 DAQIQA</a:t>
            </a:r>
            <a:endParaRPr lang="en-US" sz="16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731520"/>
            <a:ext cx="100584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95000"/>
              </a:lnSpc>
              <a:buNone/>
            </a:pPr>
            <a:r>
              <a:rPr lang="en-US" sz="3600" b="1" dirty="0">
                <a:solidFill>
                  <a:srgbClr val="9A5B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Audit natijalari: qaysidan boshlaysiz?</a:t>
            </a:r>
            <a:endParaRPr lang="en-US" sz="3600" dirty="0"/>
          </a:p>
        </p:txBody>
      </p:sp>
      <p:sp>
        <p:nvSpPr>
          <p:cNvPr id="4" name="Shape 2"/>
          <p:cNvSpPr/>
          <p:nvPr/>
        </p:nvSpPr>
        <p:spPr>
          <a:xfrm>
            <a:off x="10744200" y="411480"/>
            <a:ext cx="868680" cy="868680"/>
          </a:xfrm>
          <a:prstGeom prst="ellipse">
            <a:avLst/>
          </a:prstGeom>
          <a:solidFill>
            <a:srgbClr val="D9932B"/>
          </a:solidFill>
          <a:ln/>
        </p:spPr>
        <p:txBody>
          <a:bodyPr/>
          <a:lstStyle/>
          <a:p>
            <a:endParaRPr lang="ru-RU"/>
          </a:p>
        </p:txBody>
      </p:sp>
      <p:pic>
        <p:nvPicPr>
          <p:cNvPr id="5" name="Image 0" descr="/home/claude/fob-slides/icons_out/search_whit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978744" y="646024"/>
            <a:ext cx="399593" cy="399593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548640" y="1783080"/>
            <a:ext cx="11064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800" dirty="0">
                <a:solidFill>
                  <a:srgbClr val="1B1B2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Shartli universitetda IGA auditi quyidagilarni aniqladi:</a:t>
            </a:r>
            <a:endParaRPr lang="en-US" sz="1800" dirty="0"/>
          </a:p>
        </p:txBody>
      </p:sp>
      <p:sp>
        <p:nvSpPr>
          <p:cNvPr id="7" name="Shape 4"/>
          <p:cNvSpPr/>
          <p:nvPr/>
        </p:nvSpPr>
        <p:spPr>
          <a:xfrm>
            <a:off x="548640" y="2377440"/>
            <a:ext cx="2651760" cy="2148840"/>
          </a:xfrm>
          <a:prstGeom prst="roundRect">
            <a:avLst>
              <a:gd name="adj" fmla="val 3830"/>
            </a:avLst>
          </a:prstGeom>
          <a:solidFill>
            <a:srgbClr val="FFFFFF"/>
          </a:solidFill>
          <a:ln/>
        </p:spPr>
        <p:txBody>
          <a:bodyPr/>
          <a:lstStyle/>
          <a:p>
            <a:endParaRPr lang="ru-RU"/>
          </a:p>
        </p:txBody>
      </p:sp>
      <p:sp>
        <p:nvSpPr>
          <p:cNvPr id="8" name="Text 5"/>
          <p:cNvSpPr txBox="1"/>
          <p:nvPr/>
        </p:nvSpPr>
        <p:spPr>
          <a:xfrm>
            <a:off x="548640" y="2514600"/>
            <a:ext cx="2651760" cy="73152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4400" b="1" dirty="0">
                <a:solidFill>
                  <a:srgbClr val="D9932B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147</a:t>
            </a:r>
            <a:endParaRPr lang="en-US" sz="4400" dirty="0"/>
          </a:p>
        </p:txBody>
      </p:sp>
      <p:sp>
        <p:nvSpPr>
          <p:cNvPr id="9" name="Text 6"/>
          <p:cNvSpPr txBox="1"/>
          <p:nvPr/>
        </p:nvSpPr>
        <p:spPr>
          <a:xfrm>
            <a:off x="731520" y="3291840"/>
            <a:ext cx="2286000" cy="109728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600" dirty="0">
                <a:solidFill>
                  <a:srgbClr val="1B1B2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HR ro'yxatida yo'q, lekin faol AD qayd yozuvlari</a:t>
            </a:r>
            <a:endParaRPr lang="en-US" sz="1600" dirty="0"/>
          </a:p>
        </p:txBody>
      </p:sp>
      <p:sp>
        <p:nvSpPr>
          <p:cNvPr id="10" name="Shape 7"/>
          <p:cNvSpPr/>
          <p:nvPr/>
        </p:nvSpPr>
        <p:spPr>
          <a:xfrm>
            <a:off x="3355848" y="2377440"/>
            <a:ext cx="2651760" cy="2148840"/>
          </a:xfrm>
          <a:prstGeom prst="roundRect">
            <a:avLst>
              <a:gd name="adj" fmla="val 3830"/>
            </a:avLst>
          </a:prstGeom>
          <a:solidFill>
            <a:srgbClr val="FFFFFF"/>
          </a:solidFill>
          <a:ln/>
        </p:spPr>
        <p:txBody>
          <a:bodyPr/>
          <a:lstStyle/>
          <a:p>
            <a:endParaRPr lang="ru-RU"/>
          </a:p>
        </p:txBody>
      </p:sp>
      <p:sp>
        <p:nvSpPr>
          <p:cNvPr id="11" name="Text 8"/>
          <p:cNvSpPr txBox="1"/>
          <p:nvPr/>
        </p:nvSpPr>
        <p:spPr>
          <a:xfrm>
            <a:off x="3355848" y="2514600"/>
            <a:ext cx="2651760" cy="73152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4400" b="1" dirty="0">
                <a:solidFill>
                  <a:srgbClr val="D9932B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38</a:t>
            </a:r>
            <a:endParaRPr lang="en-US" sz="4400" dirty="0"/>
          </a:p>
        </p:txBody>
      </p:sp>
      <p:sp>
        <p:nvSpPr>
          <p:cNvPr id="12" name="Text 9"/>
          <p:cNvSpPr txBox="1"/>
          <p:nvPr/>
        </p:nvSpPr>
        <p:spPr>
          <a:xfrm>
            <a:off x="3538728" y="3291840"/>
            <a:ext cx="2286000" cy="109728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600" dirty="0">
                <a:solidFill>
                  <a:srgbClr val="1B1B2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O'qituvchi roli tayinlangan talaba qayd yozuvlari</a:t>
            </a:r>
            <a:endParaRPr lang="en-US" sz="1600" dirty="0"/>
          </a:p>
        </p:txBody>
      </p:sp>
      <p:sp>
        <p:nvSpPr>
          <p:cNvPr id="13" name="Shape 10"/>
          <p:cNvSpPr/>
          <p:nvPr/>
        </p:nvSpPr>
        <p:spPr>
          <a:xfrm>
            <a:off x="6163056" y="2377440"/>
            <a:ext cx="2651760" cy="2148840"/>
          </a:xfrm>
          <a:prstGeom prst="roundRect">
            <a:avLst>
              <a:gd name="adj" fmla="val 3830"/>
            </a:avLst>
          </a:prstGeom>
          <a:solidFill>
            <a:srgbClr val="FFFFFF"/>
          </a:solidFill>
          <a:ln/>
        </p:spPr>
        <p:txBody>
          <a:bodyPr/>
          <a:lstStyle/>
          <a:p>
            <a:endParaRPr lang="ru-RU"/>
          </a:p>
        </p:txBody>
      </p:sp>
      <p:sp>
        <p:nvSpPr>
          <p:cNvPr id="14" name="Text 11"/>
          <p:cNvSpPr txBox="1"/>
          <p:nvPr/>
        </p:nvSpPr>
        <p:spPr>
          <a:xfrm>
            <a:off x="6163056" y="2514600"/>
            <a:ext cx="2651760" cy="73152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4400" b="1" dirty="0">
                <a:solidFill>
                  <a:srgbClr val="D9932B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12</a:t>
            </a:r>
            <a:endParaRPr lang="en-US" sz="4400" dirty="0"/>
          </a:p>
        </p:txBody>
      </p:sp>
      <p:sp>
        <p:nvSpPr>
          <p:cNvPr id="15" name="Text 12"/>
          <p:cNvSpPr txBox="1"/>
          <p:nvPr/>
        </p:nvSpPr>
        <p:spPr>
          <a:xfrm>
            <a:off x="6345936" y="3291840"/>
            <a:ext cx="2286000" cy="109728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600" dirty="0">
                <a:solidFill>
                  <a:srgbClr val="1B1B2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Egasi noma'lum ilova qayd yozuvlari</a:t>
            </a:r>
            <a:endParaRPr lang="en-US" sz="1600" dirty="0"/>
          </a:p>
        </p:txBody>
      </p:sp>
      <p:sp>
        <p:nvSpPr>
          <p:cNvPr id="16" name="Shape 13"/>
          <p:cNvSpPr/>
          <p:nvPr/>
        </p:nvSpPr>
        <p:spPr>
          <a:xfrm>
            <a:off x="8970264" y="2377440"/>
            <a:ext cx="2651760" cy="2148840"/>
          </a:xfrm>
          <a:prstGeom prst="roundRect">
            <a:avLst>
              <a:gd name="adj" fmla="val 3830"/>
            </a:avLst>
          </a:prstGeom>
          <a:solidFill>
            <a:srgbClr val="FFFFFF"/>
          </a:solidFill>
          <a:ln/>
        </p:spPr>
        <p:txBody>
          <a:bodyPr/>
          <a:lstStyle/>
          <a:p>
            <a:endParaRPr lang="ru-RU"/>
          </a:p>
        </p:txBody>
      </p:sp>
      <p:sp>
        <p:nvSpPr>
          <p:cNvPr id="17" name="Text 14"/>
          <p:cNvSpPr txBox="1"/>
          <p:nvPr/>
        </p:nvSpPr>
        <p:spPr>
          <a:xfrm>
            <a:off x="8970264" y="2514600"/>
            <a:ext cx="2651760" cy="73152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4400" b="1" dirty="0">
                <a:solidFill>
                  <a:srgbClr val="D9932B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5</a:t>
            </a:r>
            <a:endParaRPr lang="en-US" sz="4400" dirty="0"/>
          </a:p>
        </p:txBody>
      </p:sp>
      <p:sp>
        <p:nvSpPr>
          <p:cNvPr id="18" name="Text 15"/>
          <p:cNvSpPr txBox="1"/>
          <p:nvPr/>
        </p:nvSpPr>
        <p:spPr>
          <a:xfrm>
            <a:off x="9153144" y="3291840"/>
            <a:ext cx="2286000" cy="109728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600" dirty="0">
                <a:solidFill>
                  <a:srgbClr val="1B1B2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kishi bitta umumiy «admin» qayd yozuvidan foydalanadi</a:t>
            </a:r>
            <a:endParaRPr lang="en-US" sz="1600" dirty="0"/>
          </a:p>
        </p:txBody>
      </p:sp>
      <p:sp>
        <p:nvSpPr>
          <p:cNvPr id="19" name="Shape 16"/>
          <p:cNvSpPr/>
          <p:nvPr/>
        </p:nvSpPr>
        <p:spPr>
          <a:xfrm>
            <a:off x="548640" y="4754880"/>
            <a:ext cx="11064240" cy="1325880"/>
          </a:xfrm>
          <a:prstGeom prst="roundRect">
            <a:avLst>
              <a:gd name="adj" fmla="val 6207"/>
            </a:avLst>
          </a:prstGeom>
          <a:solidFill>
            <a:srgbClr val="FFFFFF"/>
          </a:solidFill>
          <a:ln/>
        </p:spPr>
        <p:txBody>
          <a:bodyPr/>
          <a:lstStyle/>
          <a:p>
            <a:endParaRPr lang="ru-RU"/>
          </a:p>
        </p:txBody>
      </p:sp>
      <p:sp>
        <p:nvSpPr>
          <p:cNvPr id="20" name="Shape 17"/>
          <p:cNvSpPr/>
          <p:nvPr/>
        </p:nvSpPr>
        <p:spPr>
          <a:xfrm>
            <a:off x="822960" y="5047488"/>
            <a:ext cx="731520" cy="731520"/>
          </a:xfrm>
          <a:prstGeom prst="ellipse">
            <a:avLst/>
          </a:prstGeom>
          <a:solidFill>
            <a:srgbClr val="D9932B"/>
          </a:solidFill>
          <a:ln/>
        </p:spPr>
        <p:txBody>
          <a:bodyPr/>
          <a:lstStyle/>
          <a:p>
            <a:endParaRPr lang="ru-RU"/>
          </a:p>
        </p:txBody>
      </p:sp>
      <p:pic>
        <p:nvPicPr>
          <p:cNvPr id="21" name="Image 1" descr="/home/claude/fob-slides/icons_out/question_whit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24128" y="5248656"/>
            <a:ext cx="329184" cy="329184"/>
          </a:xfrm>
          <a:prstGeom prst="rect">
            <a:avLst/>
          </a:prstGeom>
        </p:spPr>
      </p:pic>
      <p:sp>
        <p:nvSpPr>
          <p:cNvPr id="22" name="Text 18"/>
          <p:cNvSpPr txBox="1"/>
          <p:nvPr/>
        </p:nvSpPr>
        <p:spPr>
          <a:xfrm>
            <a:off x="1783080" y="4846320"/>
            <a:ext cx="9601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800" b="1" dirty="0">
                <a:solidFill>
                  <a:srgbClr val="1B1B2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Resurs cheklangan: birinchi navbatda qaysi ikkitasini hal qilasiz va nega?</a:t>
            </a:r>
            <a:endParaRPr lang="en-US" sz="1800" dirty="0"/>
          </a:p>
        </p:txBody>
      </p:sp>
      <p:sp>
        <p:nvSpPr>
          <p:cNvPr id="23" name="Text 19"/>
          <p:cNvSpPr txBox="1"/>
          <p:nvPr/>
        </p:nvSpPr>
        <p:spPr>
          <a:xfrm>
            <a:off x="1783080" y="5440680"/>
            <a:ext cx="9601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600" dirty="0">
                <a:solidFill>
                  <a:srgbClr val="9A5B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Yordamchi formula: xavf = ehtimollik × ta'sir</a:t>
            </a:r>
            <a:endParaRPr lang="en-US" sz="1600" dirty="0"/>
          </a:p>
        </p:txBody>
      </p:sp>
      <p:sp>
        <p:nvSpPr>
          <p:cNvPr id="24" name="Text 20"/>
          <p:cNvSpPr txBox="1"/>
          <p:nvPr/>
        </p:nvSpPr>
        <p:spPr>
          <a:xfrm>
            <a:off x="548640" y="649224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9A5B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Foydalanishlarni boshqarish  ·  2-ma'ruza</a:t>
            </a:r>
            <a:endParaRPr lang="en-US" sz="1100" dirty="0"/>
          </a:p>
        </p:txBody>
      </p:sp>
      <p:sp>
        <p:nvSpPr>
          <p:cNvPr id="25" name="Text 21"/>
          <p:cNvSpPr txBox="1"/>
          <p:nvPr/>
        </p:nvSpPr>
        <p:spPr>
          <a:xfrm>
            <a:off x="11155680" y="649224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9A5B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23</a:t>
            </a:r>
            <a:endParaRPr lang="en-US" sz="110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47472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kern="0" spc="220" dirty="0">
                <a:solidFill>
                  <a:srgbClr val="5B627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ME'YORIY ASOS</a:t>
            </a:r>
            <a:endParaRPr lang="en-US" sz="16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731520"/>
            <a:ext cx="100584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95000"/>
              </a:lnSpc>
              <a:buNone/>
            </a:pPr>
            <a:r>
              <a:rPr lang="en-US" sz="3600" b="1" dirty="0">
                <a:solidFill>
                  <a:srgbClr val="1E276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Standartlar nima talab qiladi?</a:t>
            </a:r>
            <a:endParaRPr lang="en-US" sz="3600" dirty="0"/>
          </a:p>
        </p:txBody>
      </p:sp>
      <p:sp>
        <p:nvSpPr>
          <p:cNvPr id="4" name="Shape 2"/>
          <p:cNvSpPr/>
          <p:nvPr/>
        </p:nvSpPr>
        <p:spPr>
          <a:xfrm>
            <a:off x="548640" y="1783080"/>
            <a:ext cx="11064240" cy="896112"/>
          </a:xfrm>
          <a:prstGeom prst="roundRect">
            <a:avLst>
              <a:gd name="adj" fmla="val 9184"/>
            </a:avLst>
          </a:prstGeom>
          <a:solidFill>
            <a:srgbClr val="EEF2FB"/>
          </a:solidFill>
          <a:ln/>
        </p:spPr>
        <p:txBody>
          <a:bodyPr/>
          <a:lstStyle/>
          <a:p>
            <a:endParaRPr lang="ru-RU"/>
          </a:p>
        </p:txBody>
      </p:sp>
      <p:sp>
        <p:nvSpPr>
          <p:cNvPr id="5" name="Shape 3"/>
          <p:cNvSpPr/>
          <p:nvPr/>
        </p:nvSpPr>
        <p:spPr>
          <a:xfrm>
            <a:off x="548640" y="1783080"/>
            <a:ext cx="3017520" cy="896112"/>
          </a:xfrm>
          <a:prstGeom prst="roundRect">
            <a:avLst>
              <a:gd name="adj" fmla="val 9184"/>
            </a:avLst>
          </a:prstGeom>
          <a:solidFill>
            <a:srgbClr val="1E2761"/>
          </a:solidFill>
          <a:ln/>
        </p:spPr>
        <p:txBody>
          <a:bodyPr/>
          <a:lstStyle/>
          <a:p>
            <a:endParaRPr lang="ru-RU"/>
          </a:p>
        </p:txBody>
      </p:sp>
      <p:sp>
        <p:nvSpPr>
          <p:cNvPr id="6" name="Text 4"/>
          <p:cNvSpPr txBox="1"/>
          <p:nvPr/>
        </p:nvSpPr>
        <p:spPr>
          <a:xfrm>
            <a:off x="548640" y="1783080"/>
            <a:ext cx="3017520" cy="896112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600" b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ISO/IEC 27001:2022</a:t>
            </a:r>
            <a:endParaRPr lang="en-US" sz="1600" dirty="0"/>
          </a:p>
        </p:txBody>
      </p:sp>
      <p:sp>
        <p:nvSpPr>
          <p:cNvPr id="7" name="Text 5"/>
          <p:cNvSpPr txBox="1"/>
          <p:nvPr/>
        </p:nvSpPr>
        <p:spPr>
          <a:xfrm>
            <a:off x="3794760" y="1874520"/>
            <a:ext cx="7680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600" b="1" dirty="0">
                <a:solidFill>
                  <a:srgbClr val="1E276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A.5.16 Identifikatorlarni boshqarish  ·  A.5.18 Foydalanish huquqlari</a:t>
            </a:r>
            <a:endParaRPr lang="en-US" sz="1600" dirty="0"/>
          </a:p>
        </p:txBody>
      </p:sp>
      <p:sp>
        <p:nvSpPr>
          <p:cNvPr id="8" name="Text 6"/>
          <p:cNvSpPr txBox="1"/>
          <p:nvPr/>
        </p:nvSpPr>
        <p:spPr>
          <a:xfrm>
            <a:off x="3794760" y="2258568"/>
            <a:ext cx="76809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400" dirty="0">
                <a:solidFill>
                  <a:srgbClr val="5B627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Axborot xavfsizligini boshqarish tizimi (ISMS) talablari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548640" y="2807208"/>
            <a:ext cx="11064240" cy="896112"/>
          </a:xfrm>
          <a:prstGeom prst="roundRect">
            <a:avLst>
              <a:gd name="adj" fmla="val 9184"/>
            </a:avLst>
          </a:prstGeom>
          <a:solidFill>
            <a:srgbClr val="EEF2FB"/>
          </a:solidFill>
          <a:ln/>
        </p:spPr>
        <p:txBody>
          <a:bodyPr/>
          <a:lstStyle/>
          <a:p>
            <a:endParaRPr lang="ru-RU"/>
          </a:p>
        </p:txBody>
      </p:sp>
      <p:sp>
        <p:nvSpPr>
          <p:cNvPr id="10" name="Shape 8"/>
          <p:cNvSpPr/>
          <p:nvPr/>
        </p:nvSpPr>
        <p:spPr>
          <a:xfrm>
            <a:off x="548640" y="2807208"/>
            <a:ext cx="3017520" cy="896112"/>
          </a:xfrm>
          <a:prstGeom prst="roundRect">
            <a:avLst>
              <a:gd name="adj" fmla="val 9184"/>
            </a:avLst>
          </a:prstGeom>
          <a:solidFill>
            <a:srgbClr val="1E2761"/>
          </a:solidFill>
          <a:ln/>
        </p:spPr>
        <p:txBody>
          <a:bodyPr/>
          <a:lstStyle/>
          <a:p>
            <a:endParaRPr lang="ru-RU"/>
          </a:p>
        </p:txBody>
      </p:sp>
      <p:sp>
        <p:nvSpPr>
          <p:cNvPr id="11" name="Text 9"/>
          <p:cNvSpPr txBox="1"/>
          <p:nvPr/>
        </p:nvSpPr>
        <p:spPr>
          <a:xfrm>
            <a:off x="548640" y="2807208"/>
            <a:ext cx="3017520" cy="896112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600" b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NIST SP 800-53 Rev. 5</a:t>
            </a:r>
            <a:endParaRPr lang="en-US" sz="1600" dirty="0"/>
          </a:p>
        </p:txBody>
      </p:sp>
      <p:sp>
        <p:nvSpPr>
          <p:cNvPr id="12" name="Text 10"/>
          <p:cNvSpPr txBox="1"/>
          <p:nvPr/>
        </p:nvSpPr>
        <p:spPr>
          <a:xfrm>
            <a:off x="3794760" y="2898648"/>
            <a:ext cx="7680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600" b="1" dirty="0">
                <a:solidFill>
                  <a:srgbClr val="1E276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AC-2 Qayd yozuvlarini boshqarish  ·  AC-6 Eng kam imtiyoz</a:t>
            </a:r>
            <a:endParaRPr lang="en-US" sz="1600" dirty="0"/>
          </a:p>
        </p:txBody>
      </p:sp>
      <p:sp>
        <p:nvSpPr>
          <p:cNvPr id="13" name="Text 11"/>
          <p:cNvSpPr txBox="1"/>
          <p:nvPr/>
        </p:nvSpPr>
        <p:spPr>
          <a:xfrm>
            <a:off x="3794760" y="3282696"/>
            <a:ext cx="76809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400" dirty="0">
                <a:solidFill>
                  <a:srgbClr val="5B627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Xavfsizlik nazoratlari katalogi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548640" y="3831336"/>
            <a:ext cx="11064240" cy="896112"/>
          </a:xfrm>
          <a:prstGeom prst="roundRect">
            <a:avLst>
              <a:gd name="adj" fmla="val 9184"/>
            </a:avLst>
          </a:prstGeom>
          <a:solidFill>
            <a:srgbClr val="EEF2FB"/>
          </a:solidFill>
          <a:ln/>
        </p:spPr>
        <p:txBody>
          <a:bodyPr/>
          <a:lstStyle/>
          <a:p>
            <a:endParaRPr lang="ru-RU"/>
          </a:p>
        </p:txBody>
      </p:sp>
      <p:sp>
        <p:nvSpPr>
          <p:cNvPr id="15" name="Shape 13"/>
          <p:cNvSpPr/>
          <p:nvPr/>
        </p:nvSpPr>
        <p:spPr>
          <a:xfrm>
            <a:off x="548640" y="3831336"/>
            <a:ext cx="3017520" cy="896112"/>
          </a:xfrm>
          <a:prstGeom prst="roundRect">
            <a:avLst>
              <a:gd name="adj" fmla="val 9184"/>
            </a:avLst>
          </a:prstGeom>
          <a:solidFill>
            <a:srgbClr val="1E2761"/>
          </a:solidFill>
          <a:ln/>
        </p:spPr>
        <p:txBody>
          <a:bodyPr/>
          <a:lstStyle/>
          <a:p>
            <a:endParaRPr lang="ru-RU"/>
          </a:p>
        </p:txBody>
      </p:sp>
      <p:sp>
        <p:nvSpPr>
          <p:cNvPr id="16" name="Text 14"/>
          <p:cNvSpPr txBox="1"/>
          <p:nvPr/>
        </p:nvSpPr>
        <p:spPr>
          <a:xfrm>
            <a:off x="548640" y="3831336"/>
            <a:ext cx="3017520" cy="896112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600" b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ISO/IEC 24760-1</a:t>
            </a:r>
            <a:endParaRPr lang="en-US" sz="1600" dirty="0"/>
          </a:p>
        </p:txBody>
      </p:sp>
      <p:sp>
        <p:nvSpPr>
          <p:cNvPr id="17" name="Text 15"/>
          <p:cNvSpPr txBox="1"/>
          <p:nvPr/>
        </p:nvSpPr>
        <p:spPr>
          <a:xfrm>
            <a:off x="3794760" y="3922776"/>
            <a:ext cx="7680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600" b="1" dirty="0">
                <a:solidFill>
                  <a:srgbClr val="1E276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Identifikatorlarni boshqarish ramkasi: atamalar va hayotiy sikl</a:t>
            </a:r>
            <a:endParaRPr lang="en-US" sz="1600" dirty="0"/>
          </a:p>
        </p:txBody>
      </p:sp>
      <p:sp>
        <p:nvSpPr>
          <p:cNvPr id="18" name="Text 16"/>
          <p:cNvSpPr txBox="1"/>
          <p:nvPr/>
        </p:nvSpPr>
        <p:spPr>
          <a:xfrm>
            <a:off x="3794760" y="4306824"/>
            <a:ext cx="76809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400" dirty="0">
                <a:solidFill>
                  <a:srgbClr val="5B627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Ushbu ma'ruzadagi atamalar manbasi</a:t>
            </a:r>
            <a:endParaRPr lang="en-US" sz="1400" dirty="0"/>
          </a:p>
        </p:txBody>
      </p:sp>
      <p:sp>
        <p:nvSpPr>
          <p:cNvPr id="19" name="Shape 17"/>
          <p:cNvSpPr/>
          <p:nvPr/>
        </p:nvSpPr>
        <p:spPr>
          <a:xfrm>
            <a:off x="548640" y="4855464"/>
            <a:ext cx="11064240" cy="896112"/>
          </a:xfrm>
          <a:prstGeom prst="roundRect">
            <a:avLst>
              <a:gd name="adj" fmla="val 9184"/>
            </a:avLst>
          </a:prstGeom>
          <a:solidFill>
            <a:srgbClr val="EEF2FB"/>
          </a:solidFill>
          <a:ln/>
        </p:spPr>
        <p:txBody>
          <a:bodyPr/>
          <a:lstStyle/>
          <a:p>
            <a:endParaRPr lang="ru-RU"/>
          </a:p>
        </p:txBody>
      </p:sp>
      <p:sp>
        <p:nvSpPr>
          <p:cNvPr id="20" name="Shape 18"/>
          <p:cNvSpPr/>
          <p:nvPr/>
        </p:nvSpPr>
        <p:spPr>
          <a:xfrm>
            <a:off x="548640" y="4855464"/>
            <a:ext cx="3017520" cy="896112"/>
          </a:xfrm>
          <a:prstGeom prst="roundRect">
            <a:avLst>
              <a:gd name="adj" fmla="val 9184"/>
            </a:avLst>
          </a:prstGeom>
          <a:solidFill>
            <a:srgbClr val="1E2761"/>
          </a:solidFill>
          <a:ln/>
        </p:spPr>
        <p:txBody>
          <a:bodyPr/>
          <a:lstStyle/>
          <a:p>
            <a:endParaRPr lang="ru-RU"/>
          </a:p>
        </p:txBody>
      </p:sp>
      <p:sp>
        <p:nvSpPr>
          <p:cNvPr id="21" name="Text 19"/>
          <p:cNvSpPr txBox="1"/>
          <p:nvPr/>
        </p:nvSpPr>
        <p:spPr>
          <a:xfrm>
            <a:off x="548640" y="4855464"/>
            <a:ext cx="3017520" cy="896112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600" b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RFC 7643 / 7644</a:t>
            </a:r>
            <a:endParaRPr lang="en-US" sz="1600" dirty="0"/>
          </a:p>
        </p:txBody>
      </p:sp>
      <p:sp>
        <p:nvSpPr>
          <p:cNvPr id="22" name="Text 20"/>
          <p:cNvSpPr txBox="1"/>
          <p:nvPr/>
        </p:nvSpPr>
        <p:spPr>
          <a:xfrm>
            <a:off x="3794760" y="4946904"/>
            <a:ext cx="7680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600" b="1" dirty="0">
                <a:solidFill>
                  <a:srgbClr val="1E276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SCIM 2.0: sxema va protokol</a:t>
            </a:r>
            <a:endParaRPr lang="en-US" sz="1600" dirty="0"/>
          </a:p>
        </p:txBody>
      </p:sp>
      <p:sp>
        <p:nvSpPr>
          <p:cNvPr id="23" name="Text 21"/>
          <p:cNvSpPr txBox="1"/>
          <p:nvPr/>
        </p:nvSpPr>
        <p:spPr>
          <a:xfrm>
            <a:off x="3794760" y="5330952"/>
            <a:ext cx="76809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400" dirty="0">
                <a:solidFill>
                  <a:srgbClr val="5B627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Provisioningni avtomatlashtirish standarti</a:t>
            </a:r>
            <a:endParaRPr lang="en-US" sz="1400" dirty="0"/>
          </a:p>
        </p:txBody>
      </p:sp>
      <p:sp>
        <p:nvSpPr>
          <p:cNvPr id="24" name="Text 22"/>
          <p:cNvSpPr txBox="1"/>
          <p:nvPr/>
        </p:nvSpPr>
        <p:spPr>
          <a:xfrm>
            <a:off x="548640" y="5943600"/>
            <a:ext cx="11064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600" dirty="0">
                <a:solidFill>
                  <a:srgbClr val="1E276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Amaliyotda auditor aynan shu nazoratlar bo'yicha JML jarayoningizni tekshiradi.</a:t>
            </a:r>
            <a:endParaRPr lang="en-US" sz="1600" dirty="0"/>
          </a:p>
        </p:txBody>
      </p:sp>
      <p:sp>
        <p:nvSpPr>
          <p:cNvPr id="25" name="Text 23"/>
          <p:cNvSpPr txBox="1"/>
          <p:nvPr/>
        </p:nvSpPr>
        <p:spPr>
          <a:xfrm>
            <a:off x="548640" y="649224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B627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Foydalanishlarni boshqarish  ·  2-ma'ruza</a:t>
            </a:r>
            <a:endParaRPr lang="en-US" sz="1100" dirty="0"/>
          </a:p>
        </p:txBody>
      </p:sp>
      <p:sp>
        <p:nvSpPr>
          <p:cNvPr id="26" name="Text 24"/>
          <p:cNvSpPr txBox="1"/>
          <p:nvPr/>
        </p:nvSpPr>
        <p:spPr>
          <a:xfrm>
            <a:off x="11155680" y="649224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5B627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24</a:t>
            </a:r>
            <a:endParaRPr lang="en-US" sz="110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1E276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692640" y="-1371600"/>
            <a:ext cx="4114800" cy="4114800"/>
          </a:xfrm>
          <a:prstGeom prst="ellipse">
            <a:avLst/>
          </a:prstGeom>
          <a:solidFill>
            <a:srgbClr val="2A3778"/>
          </a:solidFill>
          <a:ln/>
        </p:spPr>
        <p:txBody>
          <a:bodyPr/>
          <a:lstStyle/>
          <a:p>
            <a:endParaRPr lang="ru-RU"/>
          </a:p>
        </p:txBody>
      </p:sp>
      <p:sp>
        <p:nvSpPr>
          <p:cNvPr id="3" name="Text 1"/>
          <p:cNvSpPr txBox="1"/>
          <p:nvPr/>
        </p:nvSpPr>
        <p:spPr>
          <a:xfrm>
            <a:off x="548640" y="347472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kern="0" spc="220" dirty="0">
                <a:solidFill>
                  <a:srgbClr val="9FB0E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XULOSA</a:t>
            </a:r>
            <a:endParaRPr lang="en-US" sz="16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731520"/>
            <a:ext cx="100584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95000"/>
              </a:lnSpc>
              <a:buNone/>
            </a:pPr>
            <a:r>
              <a:rPr lang="en-US" sz="3600" b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Bugungi darsning besh asosiy xulosasi</a:t>
            </a:r>
            <a:endParaRPr lang="en-US" sz="3600" dirty="0"/>
          </a:p>
        </p:txBody>
      </p:sp>
      <p:sp>
        <p:nvSpPr>
          <p:cNvPr id="5" name="Shape 3"/>
          <p:cNvSpPr/>
          <p:nvPr/>
        </p:nvSpPr>
        <p:spPr>
          <a:xfrm>
            <a:off x="548640" y="1856232"/>
            <a:ext cx="548640" cy="548640"/>
          </a:xfrm>
          <a:prstGeom prst="roundRect">
            <a:avLst>
              <a:gd name="adj" fmla="val 13333"/>
            </a:avLst>
          </a:prstGeom>
          <a:solidFill>
            <a:srgbClr val="2A3778"/>
          </a:solidFill>
          <a:ln/>
        </p:spPr>
        <p:txBody>
          <a:bodyPr/>
          <a:lstStyle/>
          <a:p>
            <a:endParaRPr lang="ru-RU"/>
          </a:p>
        </p:txBody>
      </p:sp>
      <p:sp>
        <p:nvSpPr>
          <p:cNvPr id="6" name="Text 4"/>
          <p:cNvSpPr txBox="1"/>
          <p:nvPr/>
        </p:nvSpPr>
        <p:spPr>
          <a:xfrm>
            <a:off x="548640" y="1856232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2000" b="1" dirty="0">
                <a:solidFill>
                  <a:srgbClr val="CADCFC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1</a:t>
            </a:r>
            <a:endParaRPr lang="en-US" sz="2000" dirty="0"/>
          </a:p>
        </p:txBody>
      </p:sp>
      <p:sp>
        <p:nvSpPr>
          <p:cNvPr id="7" name="Text 5"/>
          <p:cNvSpPr txBox="1"/>
          <p:nvPr/>
        </p:nvSpPr>
        <p:spPr>
          <a:xfrm>
            <a:off x="1325880" y="1783080"/>
            <a:ext cx="1028700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800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Bitta shaxs — bitta identifikator; undan ko'plab qayd yozuvlari va imtiyozlar kelib chiqadi.</a:t>
            </a:r>
            <a:endParaRPr lang="en-US" sz="1800" dirty="0"/>
          </a:p>
        </p:txBody>
      </p:sp>
      <p:sp>
        <p:nvSpPr>
          <p:cNvPr id="8" name="Shape 6"/>
          <p:cNvSpPr/>
          <p:nvPr/>
        </p:nvSpPr>
        <p:spPr>
          <a:xfrm>
            <a:off x="548640" y="2679192"/>
            <a:ext cx="548640" cy="548640"/>
          </a:xfrm>
          <a:prstGeom prst="roundRect">
            <a:avLst>
              <a:gd name="adj" fmla="val 13333"/>
            </a:avLst>
          </a:prstGeom>
          <a:solidFill>
            <a:srgbClr val="2A3778"/>
          </a:solidFill>
          <a:ln/>
        </p:spPr>
        <p:txBody>
          <a:bodyPr/>
          <a:lstStyle/>
          <a:p>
            <a:endParaRPr lang="ru-RU"/>
          </a:p>
        </p:txBody>
      </p:sp>
      <p:sp>
        <p:nvSpPr>
          <p:cNvPr id="9" name="Text 7"/>
          <p:cNvSpPr txBox="1"/>
          <p:nvPr/>
        </p:nvSpPr>
        <p:spPr>
          <a:xfrm>
            <a:off x="548640" y="2679192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2000" b="1" dirty="0">
                <a:solidFill>
                  <a:srgbClr val="CADCFC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2</a:t>
            </a:r>
            <a:endParaRPr lang="en-US" sz="2000" dirty="0"/>
          </a:p>
        </p:txBody>
      </p:sp>
      <p:sp>
        <p:nvSpPr>
          <p:cNvPr id="10" name="Text 8"/>
          <p:cNvSpPr txBox="1"/>
          <p:nvPr/>
        </p:nvSpPr>
        <p:spPr>
          <a:xfrm>
            <a:off x="1325880" y="2606040"/>
            <a:ext cx="1028700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800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Qayd yozuvlari faqat ishonchli manbadagi (HR, HEMIS) hodisaga javoban yaratiladi va yopiladi.</a:t>
            </a:r>
            <a:endParaRPr lang="en-US" sz="1800" dirty="0"/>
          </a:p>
        </p:txBody>
      </p:sp>
      <p:sp>
        <p:nvSpPr>
          <p:cNvPr id="11" name="Shape 9"/>
          <p:cNvSpPr/>
          <p:nvPr/>
        </p:nvSpPr>
        <p:spPr>
          <a:xfrm>
            <a:off x="548640" y="3502152"/>
            <a:ext cx="548640" cy="548640"/>
          </a:xfrm>
          <a:prstGeom prst="roundRect">
            <a:avLst>
              <a:gd name="adj" fmla="val 13333"/>
            </a:avLst>
          </a:prstGeom>
          <a:solidFill>
            <a:srgbClr val="2A3778"/>
          </a:solidFill>
          <a:ln/>
        </p:spPr>
        <p:txBody>
          <a:bodyPr/>
          <a:lstStyle/>
          <a:p>
            <a:endParaRPr lang="ru-RU"/>
          </a:p>
        </p:txBody>
      </p:sp>
      <p:sp>
        <p:nvSpPr>
          <p:cNvPr id="12" name="Text 10"/>
          <p:cNvSpPr txBox="1"/>
          <p:nvPr/>
        </p:nvSpPr>
        <p:spPr>
          <a:xfrm>
            <a:off x="548640" y="3502152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2000" b="1" dirty="0">
                <a:solidFill>
                  <a:srgbClr val="CADCFC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3</a:t>
            </a:r>
            <a:endParaRPr lang="en-US" sz="2000" dirty="0"/>
          </a:p>
        </p:txBody>
      </p:sp>
      <p:sp>
        <p:nvSpPr>
          <p:cNvPr id="13" name="Text 11"/>
          <p:cNvSpPr txBox="1"/>
          <p:nvPr/>
        </p:nvSpPr>
        <p:spPr>
          <a:xfrm>
            <a:off x="1325880" y="3429000"/>
            <a:ext cx="1028700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800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JML: har bir kelish, o'zgarish va ketish — aniq amal va aniq xavfga ega hodisa.</a:t>
            </a:r>
            <a:endParaRPr lang="en-US" sz="1800" dirty="0"/>
          </a:p>
        </p:txBody>
      </p:sp>
      <p:sp>
        <p:nvSpPr>
          <p:cNvPr id="14" name="Shape 12"/>
          <p:cNvSpPr/>
          <p:nvPr/>
        </p:nvSpPr>
        <p:spPr>
          <a:xfrm>
            <a:off x="548640" y="4325112"/>
            <a:ext cx="548640" cy="548640"/>
          </a:xfrm>
          <a:prstGeom prst="roundRect">
            <a:avLst>
              <a:gd name="adj" fmla="val 13333"/>
            </a:avLst>
          </a:prstGeom>
          <a:solidFill>
            <a:srgbClr val="2A3778"/>
          </a:solidFill>
          <a:ln/>
        </p:spPr>
        <p:txBody>
          <a:bodyPr/>
          <a:lstStyle/>
          <a:p>
            <a:endParaRPr lang="ru-RU"/>
          </a:p>
        </p:txBody>
      </p:sp>
      <p:sp>
        <p:nvSpPr>
          <p:cNvPr id="15" name="Text 13"/>
          <p:cNvSpPr txBox="1"/>
          <p:nvPr/>
        </p:nvSpPr>
        <p:spPr>
          <a:xfrm>
            <a:off x="548640" y="4325112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2000" b="1" dirty="0">
                <a:solidFill>
                  <a:srgbClr val="CADCFC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4</a:t>
            </a:r>
            <a:endParaRPr lang="en-US" sz="2000" dirty="0"/>
          </a:p>
        </p:txBody>
      </p:sp>
      <p:sp>
        <p:nvSpPr>
          <p:cNvPr id="16" name="Text 14"/>
          <p:cNvSpPr txBox="1"/>
          <p:nvPr/>
        </p:nvSpPr>
        <p:spPr>
          <a:xfrm>
            <a:off x="1325880" y="4251960"/>
            <a:ext cx="1028700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800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Deprovisioning: avval blokirovka, keyin o'chirish; seans va umumiy sirlarni unutmaslik.</a:t>
            </a:r>
            <a:endParaRPr lang="en-US" sz="1800" dirty="0"/>
          </a:p>
        </p:txBody>
      </p:sp>
      <p:sp>
        <p:nvSpPr>
          <p:cNvPr id="17" name="Shape 15"/>
          <p:cNvSpPr/>
          <p:nvPr/>
        </p:nvSpPr>
        <p:spPr>
          <a:xfrm>
            <a:off x="548640" y="5148072"/>
            <a:ext cx="548640" cy="548640"/>
          </a:xfrm>
          <a:prstGeom prst="roundRect">
            <a:avLst>
              <a:gd name="adj" fmla="val 13333"/>
            </a:avLst>
          </a:prstGeom>
          <a:solidFill>
            <a:srgbClr val="2A3778"/>
          </a:solidFill>
          <a:ln/>
        </p:spPr>
        <p:txBody>
          <a:bodyPr/>
          <a:lstStyle/>
          <a:p>
            <a:endParaRPr lang="ru-RU"/>
          </a:p>
        </p:txBody>
      </p:sp>
      <p:sp>
        <p:nvSpPr>
          <p:cNvPr id="18" name="Text 16"/>
          <p:cNvSpPr txBox="1"/>
          <p:nvPr/>
        </p:nvSpPr>
        <p:spPr>
          <a:xfrm>
            <a:off x="548640" y="5148072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2000" b="1" dirty="0">
                <a:solidFill>
                  <a:srgbClr val="CADCFC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5</a:t>
            </a:r>
            <a:endParaRPr lang="en-US" sz="2000" dirty="0"/>
          </a:p>
        </p:txBody>
      </p:sp>
      <p:sp>
        <p:nvSpPr>
          <p:cNvPr id="19" name="Text 17"/>
          <p:cNvSpPr txBox="1"/>
          <p:nvPr/>
        </p:nvSpPr>
        <p:spPr>
          <a:xfrm>
            <a:off x="1325880" y="5074920"/>
            <a:ext cx="1028700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800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IGA «kim foydalanishi kerak va nega?» savoliga qayta sertifikatlash va audit orqali javob beradi.</a:t>
            </a:r>
            <a:endParaRPr lang="en-US" sz="1800" dirty="0"/>
          </a:p>
        </p:txBody>
      </p:sp>
      <p:sp>
        <p:nvSpPr>
          <p:cNvPr id="20" name="Text 18"/>
          <p:cNvSpPr txBox="1"/>
          <p:nvPr/>
        </p:nvSpPr>
        <p:spPr>
          <a:xfrm>
            <a:off x="548640" y="649224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9FB0E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Foydalanishlarni boshqarish  ·  2-ma'ruza</a:t>
            </a:r>
            <a:endParaRPr lang="en-US" sz="1100" dirty="0"/>
          </a:p>
        </p:txBody>
      </p:sp>
      <p:sp>
        <p:nvSpPr>
          <p:cNvPr id="21" name="Text 19"/>
          <p:cNvSpPr txBox="1"/>
          <p:nvPr/>
        </p:nvSpPr>
        <p:spPr>
          <a:xfrm>
            <a:off x="11155680" y="649224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9FB0E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25</a:t>
            </a:r>
            <a:endParaRPr lang="en-US" sz="110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FDF3E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47472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kern="0" spc="220" dirty="0">
                <a:solidFill>
                  <a:srgbClr val="D9932B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TEZKOR TEST · 6 DAQIQA</a:t>
            </a:r>
            <a:endParaRPr lang="en-US" sz="16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731520"/>
            <a:ext cx="100584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95000"/>
              </a:lnSpc>
              <a:buNone/>
            </a:pPr>
            <a:r>
              <a:rPr lang="en-US" sz="3600" b="1" dirty="0">
                <a:solidFill>
                  <a:srgbClr val="9A5B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Savollar 1–3</a:t>
            </a:r>
            <a:endParaRPr lang="en-US" sz="3600" dirty="0"/>
          </a:p>
        </p:txBody>
      </p:sp>
      <p:sp>
        <p:nvSpPr>
          <p:cNvPr id="4" name="Shape 2"/>
          <p:cNvSpPr/>
          <p:nvPr/>
        </p:nvSpPr>
        <p:spPr>
          <a:xfrm>
            <a:off x="10744200" y="411480"/>
            <a:ext cx="868680" cy="868680"/>
          </a:xfrm>
          <a:prstGeom prst="ellipse">
            <a:avLst/>
          </a:prstGeom>
          <a:solidFill>
            <a:srgbClr val="D9932B"/>
          </a:solidFill>
          <a:ln/>
        </p:spPr>
        <p:txBody>
          <a:bodyPr/>
          <a:lstStyle/>
          <a:p>
            <a:endParaRPr lang="ru-RU"/>
          </a:p>
        </p:txBody>
      </p:sp>
      <p:pic>
        <p:nvPicPr>
          <p:cNvPr id="5" name="Image 0" descr="/home/claude/fob-slides/icons_out/listol_whit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978744" y="646024"/>
            <a:ext cx="399593" cy="399593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548640" y="1783080"/>
            <a:ext cx="11064240" cy="1353312"/>
          </a:xfrm>
          <a:prstGeom prst="roundRect">
            <a:avLst>
              <a:gd name="adj" fmla="val 6081"/>
            </a:avLst>
          </a:prstGeom>
          <a:solidFill>
            <a:srgbClr val="FFFFFF"/>
          </a:solidFill>
          <a:ln/>
        </p:spPr>
        <p:txBody>
          <a:bodyPr/>
          <a:lstStyle/>
          <a:p>
            <a:endParaRPr lang="ru-RU"/>
          </a:p>
        </p:txBody>
      </p:sp>
      <p:sp>
        <p:nvSpPr>
          <p:cNvPr id="7" name="Shape 4"/>
          <p:cNvSpPr/>
          <p:nvPr/>
        </p:nvSpPr>
        <p:spPr>
          <a:xfrm>
            <a:off x="548640" y="1783080"/>
            <a:ext cx="685800" cy="1353312"/>
          </a:xfrm>
          <a:prstGeom prst="roundRect">
            <a:avLst>
              <a:gd name="adj" fmla="val 12000"/>
            </a:avLst>
          </a:prstGeom>
          <a:solidFill>
            <a:srgbClr val="D9932B"/>
          </a:solidFill>
          <a:ln/>
        </p:spPr>
        <p:txBody>
          <a:bodyPr/>
          <a:lstStyle/>
          <a:p>
            <a:endParaRPr lang="ru-RU"/>
          </a:p>
        </p:txBody>
      </p:sp>
      <p:sp>
        <p:nvSpPr>
          <p:cNvPr id="8" name="Text 5"/>
          <p:cNvSpPr txBox="1"/>
          <p:nvPr/>
        </p:nvSpPr>
        <p:spPr>
          <a:xfrm>
            <a:off x="548640" y="1783080"/>
            <a:ext cx="685800" cy="1353312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2400" b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1</a:t>
            </a:r>
            <a:endParaRPr lang="en-US" sz="2400" dirty="0"/>
          </a:p>
        </p:txBody>
      </p:sp>
      <p:sp>
        <p:nvSpPr>
          <p:cNvPr id="9" name="Text 6"/>
          <p:cNvSpPr txBox="1"/>
          <p:nvPr/>
        </p:nvSpPr>
        <p:spPr>
          <a:xfrm>
            <a:off x="1463040" y="1892808"/>
            <a:ext cx="9966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800" b="1" dirty="0">
                <a:solidFill>
                  <a:srgbClr val="1B1B2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JML modelida «M» nimani anglatadi?</a:t>
            </a:r>
            <a:endParaRPr lang="en-US" sz="1800" dirty="0"/>
          </a:p>
        </p:txBody>
      </p:sp>
      <p:sp>
        <p:nvSpPr>
          <p:cNvPr id="10" name="Text 7"/>
          <p:cNvSpPr txBox="1"/>
          <p:nvPr/>
        </p:nvSpPr>
        <p:spPr>
          <a:xfrm>
            <a:off x="1463040" y="2350008"/>
            <a:ext cx="4937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600" dirty="0">
                <a:solidFill>
                  <a:srgbClr val="5B627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A) Monitor</a:t>
            </a:r>
            <a:endParaRPr lang="en-US" sz="1600" dirty="0"/>
          </a:p>
        </p:txBody>
      </p:sp>
      <p:sp>
        <p:nvSpPr>
          <p:cNvPr id="11" name="Text 8"/>
          <p:cNvSpPr txBox="1"/>
          <p:nvPr/>
        </p:nvSpPr>
        <p:spPr>
          <a:xfrm>
            <a:off x="6492240" y="2350008"/>
            <a:ext cx="4937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600" dirty="0">
                <a:solidFill>
                  <a:srgbClr val="5B627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B) Mover — lavozim o'zgarishi</a:t>
            </a:r>
            <a:endParaRPr lang="en-US" sz="1600" dirty="0"/>
          </a:p>
        </p:txBody>
      </p:sp>
      <p:sp>
        <p:nvSpPr>
          <p:cNvPr id="12" name="Text 9"/>
          <p:cNvSpPr txBox="1"/>
          <p:nvPr/>
        </p:nvSpPr>
        <p:spPr>
          <a:xfrm>
            <a:off x="1463040" y="2715768"/>
            <a:ext cx="4937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600" dirty="0">
                <a:solidFill>
                  <a:srgbClr val="5B627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C) Manager</a:t>
            </a:r>
            <a:endParaRPr lang="en-US" sz="1600" dirty="0"/>
          </a:p>
        </p:txBody>
      </p:sp>
      <p:sp>
        <p:nvSpPr>
          <p:cNvPr id="13" name="Text 10"/>
          <p:cNvSpPr txBox="1"/>
          <p:nvPr/>
        </p:nvSpPr>
        <p:spPr>
          <a:xfrm>
            <a:off x="6492240" y="2715768"/>
            <a:ext cx="4937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600" dirty="0">
                <a:solidFill>
                  <a:srgbClr val="5B627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D) Migration</a:t>
            </a:r>
            <a:endParaRPr lang="en-US" sz="1600" dirty="0"/>
          </a:p>
        </p:txBody>
      </p:sp>
      <p:sp>
        <p:nvSpPr>
          <p:cNvPr id="14" name="Shape 11"/>
          <p:cNvSpPr/>
          <p:nvPr/>
        </p:nvSpPr>
        <p:spPr>
          <a:xfrm>
            <a:off x="548640" y="3264408"/>
            <a:ext cx="11064240" cy="1353312"/>
          </a:xfrm>
          <a:prstGeom prst="roundRect">
            <a:avLst>
              <a:gd name="adj" fmla="val 6081"/>
            </a:avLst>
          </a:prstGeom>
          <a:solidFill>
            <a:srgbClr val="FFFFFF"/>
          </a:solidFill>
          <a:ln/>
        </p:spPr>
        <p:txBody>
          <a:bodyPr/>
          <a:lstStyle/>
          <a:p>
            <a:endParaRPr lang="ru-RU"/>
          </a:p>
        </p:txBody>
      </p:sp>
      <p:sp>
        <p:nvSpPr>
          <p:cNvPr id="15" name="Shape 12"/>
          <p:cNvSpPr/>
          <p:nvPr/>
        </p:nvSpPr>
        <p:spPr>
          <a:xfrm>
            <a:off x="548640" y="3264408"/>
            <a:ext cx="685800" cy="1353312"/>
          </a:xfrm>
          <a:prstGeom prst="roundRect">
            <a:avLst>
              <a:gd name="adj" fmla="val 12000"/>
            </a:avLst>
          </a:prstGeom>
          <a:solidFill>
            <a:srgbClr val="D9932B"/>
          </a:solidFill>
          <a:ln/>
        </p:spPr>
        <p:txBody>
          <a:bodyPr/>
          <a:lstStyle/>
          <a:p>
            <a:endParaRPr lang="ru-RU"/>
          </a:p>
        </p:txBody>
      </p:sp>
      <p:sp>
        <p:nvSpPr>
          <p:cNvPr id="16" name="Text 13"/>
          <p:cNvSpPr txBox="1"/>
          <p:nvPr/>
        </p:nvSpPr>
        <p:spPr>
          <a:xfrm>
            <a:off x="548640" y="3264408"/>
            <a:ext cx="685800" cy="1353312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2400" b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2</a:t>
            </a:r>
            <a:endParaRPr lang="en-US" sz="2400" dirty="0"/>
          </a:p>
        </p:txBody>
      </p:sp>
      <p:sp>
        <p:nvSpPr>
          <p:cNvPr id="17" name="Text 14"/>
          <p:cNvSpPr txBox="1"/>
          <p:nvPr/>
        </p:nvSpPr>
        <p:spPr>
          <a:xfrm>
            <a:off x="1463040" y="3374136"/>
            <a:ext cx="9966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800" b="1" dirty="0">
                <a:solidFill>
                  <a:srgbClr val="1B1B2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Xodim ishdan ketganda birinchi navbatda nima qilinadi?</a:t>
            </a:r>
            <a:endParaRPr lang="en-US" sz="1800" dirty="0"/>
          </a:p>
        </p:txBody>
      </p:sp>
      <p:sp>
        <p:nvSpPr>
          <p:cNvPr id="18" name="Text 15"/>
          <p:cNvSpPr txBox="1"/>
          <p:nvPr/>
        </p:nvSpPr>
        <p:spPr>
          <a:xfrm>
            <a:off x="1463040" y="3831336"/>
            <a:ext cx="4937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600" dirty="0">
                <a:solidFill>
                  <a:srgbClr val="5B627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A) Qayd yozuvi darhol o'chiriladi</a:t>
            </a:r>
            <a:endParaRPr lang="en-US" sz="1600" dirty="0"/>
          </a:p>
        </p:txBody>
      </p:sp>
      <p:sp>
        <p:nvSpPr>
          <p:cNvPr id="19" name="Text 16"/>
          <p:cNvSpPr txBox="1"/>
          <p:nvPr/>
        </p:nvSpPr>
        <p:spPr>
          <a:xfrm>
            <a:off x="6492240" y="3831336"/>
            <a:ext cx="4937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600" dirty="0">
                <a:solidFill>
                  <a:srgbClr val="5B627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B) Parol o'zgartirilib, qayd yozuvi saqlanadi</a:t>
            </a:r>
            <a:endParaRPr lang="en-US" sz="1600" dirty="0"/>
          </a:p>
        </p:txBody>
      </p:sp>
      <p:sp>
        <p:nvSpPr>
          <p:cNvPr id="20" name="Text 17"/>
          <p:cNvSpPr txBox="1"/>
          <p:nvPr/>
        </p:nvSpPr>
        <p:spPr>
          <a:xfrm>
            <a:off x="1463040" y="4197096"/>
            <a:ext cx="4937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600" dirty="0">
                <a:solidFill>
                  <a:srgbClr val="5B627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C) Qayd yozuvi blokirovka qilinadi, seanslar bekor qilinadi</a:t>
            </a:r>
            <a:endParaRPr lang="en-US" sz="1600" dirty="0"/>
          </a:p>
        </p:txBody>
      </p:sp>
      <p:sp>
        <p:nvSpPr>
          <p:cNvPr id="21" name="Text 18"/>
          <p:cNvSpPr txBox="1"/>
          <p:nvPr/>
        </p:nvSpPr>
        <p:spPr>
          <a:xfrm>
            <a:off x="6492240" y="4197096"/>
            <a:ext cx="4937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600" dirty="0">
                <a:solidFill>
                  <a:srgbClr val="5B627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D) Hech narsa — HR hal qiladi</a:t>
            </a:r>
            <a:endParaRPr lang="en-US" sz="1600" dirty="0"/>
          </a:p>
        </p:txBody>
      </p:sp>
      <p:sp>
        <p:nvSpPr>
          <p:cNvPr id="22" name="Shape 19"/>
          <p:cNvSpPr/>
          <p:nvPr/>
        </p:nvSpPr>
        <p:spPr>
          <a:xfrm>
            <a:off x="548640" y="4745736"/>
            <a:ext cx="11064240" cy="1353312"/>
          </a:xfrm>
          <a:prstGeom prst="roundRect">
            <a:avLst>
              <a:gd name="adj" fmla="val 6081"/>
            </a:avLst>
          </a:prstGeom>
          <a:solidFill>
            <a:srgbClr val="FFFFFF"/>
          </a:solidFill>
          <a:ln/>
        </p:spPr>
        <p:txBody>
          <a:bodyPr/>
          <a:lstStyle/>
          <a:p>
            <a:endParaRPr lang="ru-RU"/>
          </a:p>
        </p:txBody>
      </p:sp>
      <p:sp>
        <p:nvSpPr>
          <p:cNvPr id="23" name="Shape 20"/>
          <p:cNvSpPr/>
          <p:nvPr/>
        </p:nvSpPr>
        <p:spPr>
          <a:xfrm>
            <a:off x="548640" y="4745736"/>
            <a:ext cx="685800" cy="1353312"/>
          </a:xfrm>
          <a:prstGeom prst="roundRect">
            <a:avLst>
              <a:gd name="adj" fmla="val 12000"/>
            </a:avLst>
          </a:prstGeom>
          <a:solidFill>
            <a:srgbClr val="D9932B"/>
          </a:solidFill>
          <a:ln/>
        </p:spPr>
        <p:txBody>
          <a:bodyPr/>
          <a:lstStyle/>
          <a:p>
            <a:endParaRPr lang="ru-RU"/>
          </a:p>
        </p:txBody>
      </p:sp>
      <p:sp>
        <p:nvSpPr>
          <p:cNvPr id="24" name="Text 21"/>
          <p:cNvSpPr txBox="1"/>
          <p:nvPr/>
        </p:nvSpPr>
        <p:spPr>
          <a:xfrm>
            <a:off x="548640" y="4745736"/>
            <a:ext cx="685800" cy="1353312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2400" b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3</a:t>
            </a:r>
            <a:endParaRPr lang="en-US" sz="2400" dirty="0"/>
          </a:p>
        </p:txBody>
      </p:sp>
      <p:sp>
        <p:nvSpPr>
          <p:cNvPr id="25" name="Text 22"/>
          <p:cNvSpPr txBox="1"/>
          <p:nvPr/>
        </p:nvSpPr>
        <p:spPr>
          <a:xfrm>
            <a:off x="1463040" y="4855464"/>
            <a:ext cx="9966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800" b="1" dirty="0">
                <a:solidFill>
                  <a:srgbClr val="1B1B2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«Privilege creep» nima?</a:t>
            </a:r>
            <a:endParaRPr lang="en-US" sz="1800" dirty="0"/>
          </a:p>
        </p:txBody>
      </p:sp>
      <p:sp>
        <p:nvSpPr>
          <p:cNvPr id="26" name="Text 23"/>
          <p:cNvSpPr txBox="1"/>
          <p:nvPr/>
        </p:nvSpPr>
        <p:spPr>
          <a:xfrm>
            <a:off x="1463040" y="5312664"/>
            <a:ext cx="4937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600" dirty="0">
                <a:solidFill>
                  <a:srgbClr val="5B627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A) Eski imtiyozlarning to'planib qolishi</a:t>
            </a:r>
            <a:endParaRPr lang="en-US" sz="1600" dirty="0"/>
          </a:p>
        </p:txBody>
      </p:sp>
      <p:sp>
        <p:nvSpPr>
          <p:cNvPr id="27" name="Text 24"/>
          <p:cNvSpPr txBox="1"/>
          <p:nvPr/>
        </p:nvSpPr>
        <p:spPr>
          <a:xfrm>
            <a:off x="6492240" y="5312664"/>
            <a:ext cx="4937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600" dirty="0">
                <a:solidFill>
                  <a:srgbClr val="5B627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B) Parolning eskirishi</a:t>
            </a:r>
            <a:endParaRPr lang="en-US" sz="1600" dirty="0"/>
          </a:p>
        </p:txBody>
      </p:sp>
      <p:sp>
        <p:nvSpPr>
          <p:cNvPr id="28" name="Text 25"/>
          <p:cNvSpPr txBox="1"/>
          <p:nvPr/>
        </p:nvSpPr>
        <p:spPr>
          <a:xfrm>
            <a:off x="1463040" y="5678424"/>
            <a:ext cx="4937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600" dirty="0">
                <a:solidFill>
                  <a:srgbClr val="5B627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C) Brute-force hujumi</a:t>
            </a:r>
            <a:endParaRPr lang="en-US" sz="1600" dirty="0"/>
          </a:p>
        </p:txBody>
      </p:sp>
      <p:sp>
        <p:nvSpPr>
          <p:cNvPr id="29" name="Text 26"/>
          <p:cNvSpPr txBox="1"/>
          <p:nvPr/>
        </p:nvSpPr>
        <p:spPr>
          <a:xfrm>
            <a:off x="6492240" y="5678424"/>
            <a:ext cx="4937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600" dirty="0">
                <a:solidFill>
                  <a:srgbClr val="5B627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D) Qayd yozuvining blokirovkasi</a:t>
            </a:r>
            <a:endParaRPr lang="en-US" sz="1600" dirty="0"/>
          </a:p>
        </p:txBody>
      </p:sp>
      <p:sp>
        <p:nvSpPr>
          <p:cNvPr id="30" name="Text 27"/>
          <p:cNvSpPr txBox="1"/>
          <p:nvPr/>
        </p:nvSpPr>
        <p:spPr>
          <a:xfrm>
            <a:off x="548640" y="649224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9A5B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Foydalanishlarni boshqarish  ·  2-ma'ruza</a:t>
            </a:r>
            <a:endParaRPr lang="en-US" sz="1100" dirty="0"/>
          </a:p>
        </p:txBody>
      </p:sp>
      <p:sp>
        <p:nvSpPr>
          <p:cNvPr id="31" name="Text 28"/>
          <p:cNvSpPr txBox="1"/>
          <p:nvPr/>
        </p:nvSpPr>
        <p:spPr>
          <a:xfrm>
            <a:off x="11155680" y="649224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9A5B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26</a:t>
            </a:r>
            <a:endParaRPr lang="en-US" sz="1100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solidFill>
          <a:srgbClr val="FDF3E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47472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kern="0" spc="220" dirty="0">
                <a:solidFill>
                  <a:srgbClr val="D9932B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TEZKOR TEST · 6 DAQIQA</a:t>
            </a:r>
            <a:endParaRPr lang="en-US" sz="16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731520"/>
            <a:ext cx="100584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95000"/>
              </a:lnSpc>
              <a:buNone/>
            </a:pPr>
            <a:r>
              <a:rPr lang="en-US" sz="3600" b="1" dirty="0">
                <a:solidFill>
                  <a:srgbClr val="9A5B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Savollar 4–6</a:t>
            </a:r>
            <a:endParaRPr lang="en-US" sz="3600" dirty="0"/>
          </a:p>
        </p:txBody>
      </p:sp>
      <p:sp>
        <p:nvSpPr>
          <p:cNvPr id="4" name="Shape 2"/>
          <p:cNvSpPr/>
          <p:nvPr/>
        </p:nvSpPr>
        <p:spPr>
          <a:xfrm>
            <a:off x="10744200" y="411480"/>
            <a:ext cx="868680" cy="868680"/>
          </a:xfrm>
          <a:prstGeom prst="ellipse">
            <a:avLst/>
          </a:prstGeom>
          <a:solidFill>
            <a:srgbClr val="D9932B"/>
          </a:solidFill>
          <a:ln/>
        </p:spPr>
        <p:txBody>
          <a:bodyPr/>
          <a:lstStyle/>
          <a:p>
            <a:endParaRPr lang="ru-RU"/>
          </a:p>
        </p:txBody>
      </p:sp>
      <p:pic>
        <p:nvPicPr>
          <p:cNvPr id="5" name="Image 0" descr="/home/claude/fob-slides/icons_out/listol_whit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978744" y="646024"/>
            <a:ext cx="399593" cy="399593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548640" y="1783080"/>
            <a:ext cx="11064240" cy="1353312"/>
          </a:xfrm>
          <a:prstGeom prst="roundRect">
            <a:avLst>
              <a:gd name="adj" fmla="val 6081"/>
            </a:avLst>
          </a:prstGeom>
          <a:solidFill>
            <a:srgbClr val="FFFFFF"/>
          </a:solidFill>
          <a:ln/>
        </p:spPr>
        <p:txBody>
          <a:bodyPr/>
          <a:lstStyle/>
          <a:p>
            <a:endParaRPr lang="ru-RU"/>
          </a:p>
        </p:txBody>
      </p:sp>
      <p:sp>
        <p:nvSpPr>
          <p:cNvPr id="7" name="Shape 4"/>
          <p:cNvSpPr/>
          <p:nvPr/>
        </p:nvSpPr>
        <p:spPr>
          <a:xfrm>
            <a:off x="548640" y="1783080"/>
            <a:ext cx="685800" cy="1353312"/>
          </a:xfrm>
          <a:prstGeom prst="roundRect">
            <a:avLst>
              <a:gd name="adj" fmla="val 12000"/>
            </a:avLst>
          </a:prstGeom>
          <a:solidFill>
            <a:srgbClr val="D9932B"/>
          </a:solidFill>
          <a:ln/>
        </p:spPr>
        <p:txBody>
          <a:bodyPr/>
          <a:lstStyle/>
          <a:p>
            <a:endParaRPr lang="ru-RU"/>
          </a:p>
        </p:txBody>
      </p:sp>
      <p:sp>
        <p:nvSpPr>
          <p:cNvPr id="8" name="Text 5"/>
          <p:cNvSpPr txBox="1"/>
          <p:nvPr/>
        </p:nvSpPr>
        <p:spPr>
          <a:xfrm>
            <a:off x="548640" y="1783080"/>
            <a:ext cx="685800" cy="1353312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2400" b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4</a:t>
            </a:r>
            <a:endParaRPr lang="en-US" sz="2400" dirty="0"/>
          </a:p>
        </p:txBody>
      </p:sp>
      <p:sp>
        <p:nvSpPr>
          <p:cNvPr id="9" name="Text 6"/>
          <p:cNvSpPr txBox="1"/>
          <p:nvPr/>
        </p:nvSpPr>
        <p:spPr>
          <a:xfrm>
            <a:off x="1463040" y="1892808"/>
            <a:ext cx="9966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800" b="1" dirty="0">
                <a:solidFill>
                  <a:srgbClr val="1B1B2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Xodimlar uchun ishonchli manba odatda qaysi tizim?</a:t>
            </a:r>
            <a:endParaRPr lang="en-US" sz="1800" dirty="0"/>
          </a:p>
        </p:txBody>
      </p:sp>
      <p:sp>
        <p:nvSpPr>
          <p:cNvPr id="10" name="Text 7"/>
          <p:cNvSpPr txBox="1"/>
          <p:nvPr/>
        </p:nvSpPr>
        <p:spPr>
          <a:xfrm>
            <a:off x="1463040" y="2350008"/>
            <a:ext cx="4937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600" dirty="0">
                <a:solidFill>
                  <a:srgbClr val="5B627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A) Elektron pochta</a:t>
            </a:r>
            <a:endParaRPr lang="en-US" sz="1600" dirty="0"/>
          </a:p>
        </p:txBody>
      </p:sp>
      <p:sp>
        <p:nvSpPr>
          <p:cNvPr id="11" name="Text 8"/>
          <p:cNvSpPr txBox="1"/>
          <p:nvPr/>
        </p:nvSpPr>
        <p:spPr>
          <a:xfrm>
            <a:off x="6492240" y="2350008"/>
            <a:ext cx="4937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600" dirty="0">
                <a:solidFill>
                  <a:srgbClr val="5B627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B) VPN serveri</a:t>
            </a:r>
            <a:endParaRPr lang="en-US" sz="1600" dirty="0"/>
          </a:p>
        </p:txBody>
      </p:sp>
      <p:sp>
        <p:nvSpPr>
          <p:cNvPr id="12" name="Text 9"/>
          <p:cNvSpPr txBox="1"/>
          <p:nvPr/>
        </p:nvSpPr>
        <p:spPr>
          <a:xfrm>
            <a:off x="1463040" y="2715768"/>
            <a:ext cx="4937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600" dirty="0">
                <a:solidFill>
                  <a:srgbClr val="5B627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C) Antivirus konsoli</a:t>
            </a:r>
            <a:endParaRPr lang="en-US" sz="1600" dirty="0"/>
          </a:p>
        </p:txBody>
      </p:sp>
      <p:sp>
        <p:nvSpPr>
          <p:cNvPr id="13" name="Text 10"/>
          <p:cNvSpPr txBox="1"/>
          <p:nvPr/>
        </p:nvSpPr>
        <p:spPr>
          <a:xfrm>
            <a:off x="6492240" y="2715768"/>
            <a:ext cx="4937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600" dirty="0">
                <a:solidFill>
                  <a:srgbClr val="5B627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D) Kadrlar (HR) tizimi</a:t>
            </a:r>
            <a:endParaRPr lang="en-US" sz="1600" dirty="0"/>
          </a:p>
        </p:txBody>
      </p:sp>
      <p:sp>
        <p:nvSpPr>
          <p:cNvPr id="14" name="Shape 11"/>
          <p:cNvSpPr/>
          <p:nvPr/>
        </p:nvSpPr>
        <p:spPr>
          <a:xfrm>
            <a:off x="548640" y="3264408"/>
            <a:ext cx="11064240" cy="1353312"/>
          </a:xfrm>
          <a:prstGeom prst="roundRect">
            <a:avLst>
              <a:gd name="adj" fmla="val 6081"/>
            </a:avLst>
          </a:prstGeom>
          <a:solidFill>
            <a:srgbClr val="FFFFFF"/>
          </a:solidFill>
          <a:ln/>
        </p:spPr>
        <p:txBody>
          <a:bodyPr/>
          <a:lstStyle/>
          <a:p>
            <a:endParaRPr lang="ru-RU"/>
          </a:p>
        </p:txBody>
      </p:sp>
      <p:sp>
        <p:nvSpPr>
          <p:cNvPr id="15" name="Shape 12"/>
          <p:cNvSpPr/>
          <p:nvPr/>
        </p:nvSpPr>
        <p:spPr>
          <a:xfrm>
            <a:off x="548640" y="3264408"/>
            <a:ext cx="685800" cy="1353312"/>
          </a:xfrm>
          <a:prstGeom prst="roundRect">
            <a:avLst>
              <a:gd name="adj" fmla="val 12000"/>
            </a:avLst>
          </a:prstGeom>
          <a:solidFill>
            <a:srgbClr val="D9932B"/>
          </a:solidFill>
          <a:ln/>
        </p:spPr>
        <p:txBody>
          <a:bodyPr/>
          <a:lstStyle/>
          <a:p>
            <a:endParaRPr lang="ru-RU"/>
          </a:p>
        </p:txBody>
      </p:sp>
      <p:sp>
        <p:nvSpPr>
          <p:cNvPr id="16" name="Text 13"/>
          <p:cNvSpPr txBox="1"/>
          <p:nvPr/>
        </p:nvSpPr>
        <p:spPr>
          <a:xfrm>
            <a:off x="548640" y="3264408"/>
            <a:ext cx="685800" cy="1353312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2400" b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5</a:t>
            </a:r>
            <a:endParaRPr lang="en-US" sz="2400" dirty="0"/>
          </a:p>
        </p:txBody>
      </p:sp>
      <p:sp>
        <p:nvSpPr>
          <p:cNvPr id="17" name="Text 14"/>
          <p:cNvSpPr txBox="1"/>
          <p:nvPr/>
        </p:nvSpPr>
        <p:spPr>
          <a:xfrm>
            <a:off x="1463040" y="3374136"/>
            <a:ext cx="9966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800" b="1" dirty="0">
                <a:solidFill>
                  <a:srgbClr val="1B1B2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SCIM protokoli nima uchun ishlatiladi?</a:t>
            </a:r>
            <a:endParaRPr lang="en-US" sz="1800" dirty="0"/>
          </a:p>
        </p:txBody>
      </p:sp>
      <p:sp>
        <p:nvSpPr>
          <p:cNvPr id="18" name="Text 15"/>
          <p:cNvSpPr txBox="1"/>
          <p:nvPr/>
        </p:nvSpPr>
        <p:spPr>
          <a:xfrm>
            <a:off x="1463040" y="3831336"/>
            <a:ext cx="4937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600" dirty="0">
                <a:solidFill>
                  <a:srgbClr val="5B627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A) Parollarni xeshlash</a:t>
            </a:r>
            <a:endParaRPr lang="en-US" sz="1600" dirty="0"/>
          </a:p>
        </p:txBody>
      </p:sp>
      <p:sp>
        <p:nvSpPr>
          <p:cNvPr id="19" name="Text 16"/>
          <p:cNvSpPr txBox="1"/>
          <p:nvPr/>
        </p:nvSpPr>
        <p:spPr>
          <a:xfrm>
            <a:off x="6492240" y="3831336"/>
            <a:ext cx="4937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600" dirty="0">
                <a:solidFill>
                  <a:srgbClr val="5B627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B) Qayd yozuvlarini avtomatik yaratish va yopish</a:t>
            </a:r>
            <a:endParaRPr lang="en-US" sz="1600" dirty="0"/>
          </a:p>
        </p:txBody>
      </p:sp>
      <p:sp>
        <p:nvSpPr>
          <p:cNvPr id="20" name="Text 17"/>
          <p:cNvSpPr txBox="1"/>
          <p:nvPr/>
        </p:nvSpPr>
        <p:spPr>
          <a:xfrm>
            <a:off x="1463040" y="4197096"/>
            <a:ext cx="4937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600" dirty="0">
                <a:solidFill>
                  <a:srgbClr val="5B627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C) Trafikni shifrlash</a:t>
            </a:r>
            <a:endParaRPr lang="en-US" sz="1600" dirty="0"/>
          </a:p>
        </p:txBody>
      </p:sp>
      <p:sp>
        <p:nvSpPr>
          <p:cNvPr id="21" name="Text 18"/>
          <p:cNvSpPr txBox="1"/>
          <p:nvPr/>
        </p:nvSpPr>
        <p:spPr>
          <a:xfrm>
            <a:off x="6492240" y="4197096"/>
            <a:ext cx="4937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600" dirty="0">
                <a:solidFill>
                  <a:srgbClr val="5B627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D) Loglarni arxivlash</a:t>
            </a:r>
            <a:endParaRPr lang="en-US" sz="1600" dirty="0"/>
          </a:p>
        </p:txBody>
      </p:sp>
      <p:sp>
        <p:nvSpPr>
          <p:cNvPr id="22" name="Shape 19"/>
          <p:cNvSpPr/>
          <p:nvPr/>
        </p:nvSpPr>
        <p:spPr>
          <a:xfrm>
            <a:off x="548640" y="4745736"/>
            <a:ext cx="11064240" cy="1353312"/>
          </a:xfrm>
          <a:prstGeom prst="roundRect">
            <a:avLst>
              <a:gd name="adj" fmla="val 6081"/>
            </a:avLst>
          </a:prstGeom>
          <a:solidFill>
            <a:srgbClr val="FFFFFF"/>
          </a:solidFill>
          <a:ln/>
        </p:spPr>
        <p:txBody>
          <a:bodyPr/>
          <a:lstStyle/>
          <a:p>
            <a:endParaRPr lang="ru-RU"/>
          </a:p>
        </p:txBody>
      </p:sp>
      <p:sp>
        <p:nvSpPr>
          <p:cNvPr id="23" name="Shape 20"/>
          <p:cNvSpPr/>
          <p:nvPr/>
        </p:nvSpPr>
        <p:spPr>
          <a:xfrm>
            <a:off x="548640" y="4745736"/>
            <a:ext cx="685800" cy="1353312"/>
          </a:xfrm>
          <a:prstGeom prst="roundRect">
            <a:avLst>
              <a:gd name="adj" fmla="val 12000"/>
            </a:avLst>
          </a:prstGeom>
          <a:solidFill>
            <a:srgbClr val="D9932B"/>
          </a:solidFill>
          <a:ln/>
        </p:spPr>
        <p:txBody>
          <a:bodyPr/>
          <a:lstStyle/>
          <a:p>
            <a:endParaRPr lang="ru-RU"/>
          </a:p>
        </p:txBody>
      </p:sp>
      <p:sp>
        <p:nvSpPr>
          <p:cNvPr id="24" name="Text 21"/>
          <p:cNvSpPr txBox="1"/>
          <p:nvPr/>
        </p:nvSpPr>
        <p:spPr>
          <a:xfrm>
            <a:off x="548640" y="4745736"/>
            <a:ext cx="685800" cy="1353312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2400" b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6</a:t>
            </a:r>
            <a:endParaRPr lang="en-US" sz="2400" dirty="0"/>
          </a:p>
        </p:txBody>
      </p:sp>
      <p:sp>
        <p:nvSpPr>
          <p:cNvPr id="25" name="Text 22"/>
          <p:cNvSpPr txBox="1"/>
          <p:nvPr/>
        </p:nvSpPr>
        <p:spPr>
          <a:xfrm>
            <a:off x="1463040" y="4855464"/>
            <a:ext cx="9966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800" b="1" dirty="0">
                <a:solidFill>
                  <a:srgbClr val="1B1B2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IGA ning IAM dan asosiy farqi nimada?</a:t>
            </a:r>
            <a:endParaRPr lang="en-US" sz="1800" dirty="0"/>
          </a:p>
        </p:txBody>
      </p:sp>
      <p:sp>
        <p:nvSpPr>
          <p:cNvPr id="26" name="Text 23"/>
          <p:cNvSpPr txBox="1"/>
          <p:nvPr/>
        </p:nvSpPr>
        <p:spPr>
          <a:xfrm>
            <a:off x="1463040" y="5312664"/>
            <a:ext cx="4937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600" dirty="0">
                <a:solidFill>
                  <a:srgbClr val="5B627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A) Faqat parollar bilan ishlaydi</a:t>
            </a:r>
            <a:endParaRPr lang="en-US" sz="1600" dirty="0"/>
          </a:p>
        </p:txBody>
      </p:sp>
      <p:sp>
        <p:nvSpPr>
          <p:cNvPr id="27" name="Text 24"/>
          <p:cNvSpPr txBox="1"/>
          <p:nvPr/>
        </p:nvSpPr>
        <p:spPr>
          <a:xfrm>
            <a:off x="6492240" y="5312664"/>
            <a:ext cx="4937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600" dirty="0">
                <a:solidFill>
                  <a:srgbClr val="5B627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B) Faqat bulutda ishlaydi</a:t>
            </a:r>
            <a:endParaRPr lang="en-US" sz="1600" dirty="0"/>
          </a:p>
        </p:txBody>
      </p:sp>
      <p:sp>
        <p:nvSpPr>
          <p:cNvPr id="28" name="Text 25"/>
          <p:cNvSpPr txBox="1"/>
          <p:nvPr/>
        </p:nvSpPr>
        <p:spPr>
          <a:xfrm>
            <a:off x="1463040" y="5678424"/>
            <a:ext cx="4937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600" dirty="0">
                <a:solidFill>
                  <a:srgbClr val="5B627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C) «Kim foydalanishi kerak va nega?» deb so'raydi</a:t>
            </a:r>
            <a:endParaRPr lang="en-US" sz="1600" dirty="0"/>
          </a:p>
        </p:txBody>
      </p:sp>
      <p:sp>
        <p:nvSpPr>
          <p:cNvPr id="29" name="Text 26"/>
          <p:cNvSpPr txBox="1"/>
          <p:nvPr/>
        </p:nvSpPr>
        <p:spPr>
          <a:xfrm>
            <a:off x="6492240" y="5678424"/>
            <a:ext cx="4937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600" dirty="0">
                <a:solidFill>
                  <a:srgbClr val="5B627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D) Farqi yo'q</a:t>
            </a:r>
            <a:endParaRPr lang="en-US" sz="1600" dirty="0"/>
          </a:p>
        </p:txBody>
      </p:sp>
      <p:sp>
        <p:nvSpPr>
          <p:cNvPr id="30" name="Text 27"/>
          <p:cNvSpPr txBox="1"/>
          <p:nvPr/>
        </p:nvSpPr>
        <p:spPr>
          <a:xfrm>
            <a:off x="548640" y="649224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9A5B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Foydalanishlarni boshqarish  ·  2-ma'ruza</a:t>
            </a:r>
            <a:endParaRPr lang="en-US" sz="1100" dirty="0"/>
          </a:p>
        </p:txBody>
      </p:sp>
      <p:sp>
        <p:nvSpPr>
          <p:cNvPr id="31" name="Text 28"/>
          <p:cNvSpPr txBox="1"/>
          <p:nvPr/>
        </p:nvSpPr>
        <p:spPr>
          <a:xfrm>
            <a:off x="11155680" y="649224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9A5B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27</a:t>
            </a:r>
            <a:endParaRPr lang="en-US" sz="1100" dirty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bg>
      <p:bgPr>
        <a:solidFill>
          <a:srgbClr val="FDF3E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47472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kern="0" spc="220" dirty="0">
                <a:solidFill>
                  <a:srgbClr val="D9932B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JAVOBLAR KALITI</a:t>
            </a:r>
            <a:endParaRPr lang="en-US" sz="16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731520"/>
            <a:ext cx="100584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95000"/>
              </a:lnSpc>
              <a:buNone/>
            </a:pPr>
            <a:r>
              <a:rPr lang="en-US" sz="3600" b="1" dirty="0">
                <a:solidFill>
                  <a:srgbClr val="9A5B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O'zingizni tekshiring</a:t>
            </a:r>
            <a:endParaRPr lang="en-US" sz="3600" dirty="0"/>
          </a:p>
        </p:txBody>
      </p:sp>
      <p:sp>
        <p:nvSpPr>
          <p:cNvPr id="4" name="Shape 2"/>
          <p:cNvSpPr/>
          <p:nvPr/>
        </p:nvSpPr>
        <p:spPr>
          <a:xfrm>
            <a:off x="10744200" y="411480"/>
            <a:ext cx="868680" cy="868680"/>
          </a:xfrm>
          <a:prstGeom prst="ellipse">
            <a:avLst/>
          </a:prstGeom>
          <a:solidFill>
            <a:srgbClr val="D9932B"/>
          </a:solidFill>
          <a:ln/>
        </p:spPr>
        <p:txBody>
          <a:bodyPr/>
          <a:lstStyle/>
          <a:p>
            <a:endParaRPr lang="ru-RU"/>
          </a:p>
        </p:txBody>
      </p:sp>
      <p:pic>
        <p:nvPicPr>
          <p:cNvPr id="5" name="Image 0" descr="/home/claude/fob-slides/icons_out/check_whit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978744" y="646024"/>
            <a:ext cx="399593" cy="399593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548640" y="1783080"/>
            <a:ext cx="5440680" cy="82296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/>
        </p:spPr>
        <p:txBody>
          <a:bodyPr/>
          <a:lstStyle/>
          <a:p>
            <a:endParaRPr lang="ru-RU"/>
          </a:p>
        </p:txBody>
      </p:sp>
      <p:sp>
        <p:nvSpPr>
          <p:cNvPr id="7" name="Shape 4"/>
          <p:cNvSpPr/>
          <p:nvPr/>
        </p:nvSpPr>
        <p:spPr>
          <a:xfrm>
            <a:off x="685800" y="1929384"/>
            <a:ext cx="530352" cy="530352"/>
          </a:xfrm>
          <a:prstGeom prst="roundRect">
            <a:avLst>
              <a:gd name="adj" fmla="val 12069"/>
            </a:avLst>
          </a:prstGeom>
          <a:solidFill>
            <a:srgbClr val="FDF3E2"/>
          </a:solidFill>
          <a:ln/>
        </p:spPr>
        <p:txBody>
          <a:bodyPr/>
          <a:lstStyle/>
          <a:p>
            <a:endParaRPr lang="ru-RU"/>
          </a:p>
        </p:txBody>
      </p:sp>
      <p:sp>
        <p:nvSpPr>
          <p:cNvPr id="8" name="Text 5"/>
          <p:cNvSpPr txBox="1"/>
          <p:nvPr/>
        </p:nvSpPr>
        <p:spPr>
          <a:xfrm>
            <a:off x="685800" y="1929384"/>
            <a:ext cx="53035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600" b="1" dirty="0">
                <a:solidFill>
                  <a:srgbClr val="9A5B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1</a:t>
            </a:r>
            <a:endParaRPr lang="en-US" sz="1600" dirty="0"/>
          </a:p>
        </p:txBody>
      </p:sp>
      <p:sp>
        <p:nvSpPr>
          <p:cNvPr id="9" name="Shape 6"/>
          <p:cNvSpPr/>
          <p:nvPr/>
        </p:nvSpPr>
        <p:spPr>
          <a:xfrm>
            <a:off x="1325880" y="1929384"/>
            <a:ext cx="530352" cy="530352"/>
          </a:xfrm>
          <a:prstGeom prst="roundRect">
            <a:avLst>
              <a:gd name="adj" fmla="val 12069"/>
            </a:avLst>
          </a:prstGeom>
          <a:solidFill>
            <a:srgbClr val="1F6B4A"/>
          </a:solidFill>
          <a:ln/>
        </p:spPr>
        <p:txBody>
          <a:bodyPr/>
          <a:lstStyle/>
          <a:p>
            <a:endParaRPr lang="ru-RU"/>
          </a:p>
        </p:txBody>
      </p:sp>
      <p:sp>
        <p:nvSpPr>
          <p:cNvPr id="10" name="Text 7"/>
          <p:cNvSpPr txBox="1"/>
          <p:nvPr/>
        </p:nvSpPr>
        <p:spPr>
          <a:xfrm>
            <a:off x="1325880" y="1929384"/>
            <a:ext cx="53035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600" b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B</a:t>
            </a:r>
            <a:endParaRPr lang="en-US" sz="1600" dirty="0"/>
          </a:p>
        </p:txBody>
      </p:sp>
      <p:sp>
        <p:nvSpPr>
          <p:cNvPr id="11" name="Text 8"/>
          <p:cNvSpPr txBox="1"/>
          <p:nvPr/>
        </p:nvSpPr>
        <p:spPr>
          <a:xfrm>
            <a:off x="2057400" y="1783080"/>
            <a:ext cx="37947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600" dirty="0">
                <a:solidFill>
                  <a:srgbClr val="1B1B2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Mover — lavozim yoki bo'lim o'zgarishi</a:t>
            </a:r>
            <a:endParaRPr lang="en-US" sz="1600" dirty="0"/>
          </a:p>
        </p:txBody>
      </p:sp>
      <p:sp>
        <p:nvSpPr>
          <p:cNvPr id="12" name="Shape 9"/>
          <p:cNvSpPr/>
          <p:nvPr/>
        </p:nvSpPr>
        <p:spPr>
          <a:xfrm>
            <a:off x="6172200" y="1783080"/>
            <a:ext cx="5440680" cy="82296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/>
        </p:spPr>
        <p:txBody>
          <a:bodyPr/>
          <a:lstStyle/>
          <a:p>
            <a:endParaRPr lang="ru-RU"/>
          </a:p>
        </p:txBody>
      </p:sp>
      <p:sp>
        <p:nvSpPr>
          <p:cNvPr id="13" name="Shape 10"/>
          <p:cNvSpPr/>
          <p:nvPr/>
        </p:nvSpPr>
        <p:spPr>
          <a:xfrm>
            <a:off x="6309360" y="1929384"/>
            <a:ext cx="530352" cy="530352"/>
          </a:xfrm>
          <a:prstGeom prst="roundRect">
            <a:avLst>
              <a:gd name="adj" fmla="val 12069"/>
            </a:avLst>
          </a:prstGeom>
          <a:solidFill>
            <a:srgbClr val="FDF3E2"/>
          </a:solidFill>
          <a:ln/>
        </p:spPr>
        <p:txBody>
          <a:bodyPr/>
          <a:lstStyle/>
          <a:p>
            <a:endParaRPr lang="ru-RU"/>
          </a:p>
        </p:txBody>
      </p:sp>
      <p:sp>
        <p:nvSpPr>
          <p:cNvPr id="14" name="Text 11"/>
          <p:cNvSpPr txBox="1"/>
          <p:nvPr/>
        </p:nvSpPr>
        <p:spPr>
          <a:xfrm>
            <a:off x="6309360" y="1929384"/>
            <a:ext cx="53035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600" b="1" dirty="0">
                <a:solidFill>
                  <a:srgbClr val="9A5B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2</a:t>
            </a:r>
            <a:endParaRPr lang="en-US" sz="1600" dirty="0"/>
          </a:p>
        </p:txBody>
      </p:sp>
      <p:sp>
        <p:nvSpPr>
          <p:cNvPr id="15" name="Shape 12"/>
          <p:cNvSpPr/>
          <p:nvPr/>
        </p:nvSpPr>
        <p:spPr>
          <a:xfrm>
            <a:off x="6949440" y="1929384"/>
            <a:ext cx="530352" cy="530352"/>
          </a:xfrm>
          <a:prstGeom prst="roundRect">
            <a:avLst>
              <a:gd name="adj" fmla="val 12069"/>
            </a:avLst>
          </a:prstGeom>
          <a:solidFill>
            <a:srgbClr val="1F6B4A"/>
          </a:solidFill>
          <a:ln/>
        </p:spPr>
        <p:txBody>
          <a:bodyPr/>
          <a:lstStyle/>
          <a:p>
            <a:endParaRPr lang="ru-RU"/>
          </a:p>
        </p:txBody>
      </p:sp>
      <p:sp>
        <p:nvSpPr>
          <p:cNvPr id="16" name="Text 13"/>
          <p:cNvSpPr txBox="1"/>
          <p:nvPr/>
        </p:nvSpPr>
        <p:spPr>
          <a:xfrm>
            <a:off x="6949440" y="1929384"/>
            <a:ext cx="53035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600" b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C</a:t>
            </a:r>
            <a:endParaRPr lang="en-US" sz="1600" dirty="0"/>
          </a:p>
        </p:txBody>
      </p:sp>
      <p:sp>
        <p:nvSpPr>
          <p:cNvPr id="17" name="Text 14"/>
          <p:cNvSpPr txBox="1"/>
          <p:nvPr/>
        </p:nvSpPr>
        <p:spPr>
          <a:xfrm>
            <a:off x="7680960" y="1783080"/>
            <a:ext cx="37947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600" dirty="0">
                <a:solidFill>
                  <a:srgbClr val="1B1B2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Avval blokirovka va seanslarni bekor qilish</a:t>
            </a:r>
            <a:endParaRPr lang="en-US" sz="1600" dirty="0"/>
          </a:p>
        </p:txBody>
      </p:sp>
      <p:sp>
        <p:nvSpPr>
          <p:cNvPr id="18" name="Shape 15"/>
          <p:cNvSpPr/>
          <p:nvPr/>
        </p:nvSpPr>
        <p:spPr>
          <a:xfrm>
            <a:off x="548640" y="2770632"/>
            <a:ext cx="5440680" cy="82296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/>
        </p:spPr>
        <p:txBody>
          <a:bodyPr/>
          <a:lstStyle/>
          <a:p>
            <a:endParaRPr lang="ru-RU"/>
          </a:p>
        </p:txBody>
      </p:sp>
      <p:sp>
        <p:nvSpPr>
          <p:cNvPr id="19" name="Shape 16"/>
          <p:cNvSpPr/>
          <p:nvPr/>
        </p:nvSpPr>
        <p:spPr>
          <a:xfrm>
            <a:off x="685800" y="2916936"/>
            <a:ext cx="530352" cy="530352"/>
          </a:xfrm>
          <a:prstGeom prst="roundRect">
            <a:avLst>
              <a:gd name="adj" fmla="val 12069"/>
            </a:avLst>
          </a:prstGeom>
          <a:solidFill>
            <a:srgbClr val="FDF3E2"/>
          </a:solidFill>
          <a:ln/>
        </p:spPr>
        <p:txBody>
          <a:bodyPr/>
          <a:lstStyle/>
          <a:p>
            <a:endParaRPr lang="ru-RU"/>
          </a:p>
        </p:txBody>
      </p:sp>
      <p:sp>
        <p:nvSpPr>
          <p:cNvPr id="20" name="Text 17"/>
          <p:cNvSpPr txBox="1"/>
          <p:nvPr/>
        </p:nvSpPr>
        <p:spPr>
          <a:xfrm>
            <a:off x="685800" y="2916936"/>
            <a:ext cx="53035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600" b="1" dirty="0">
                <a:solidFill>
                  <a:srgbClr val="9A5B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3</a:t>
            </a:r>
            <a:endParaRPr lang="en-US" sz="1600" dirty="0"/>
          </a:p>
        </p:txBody>
      </p:sp>
      <p:sp>
        <p:nvSpPr>
          <p:cNvPr id="21" name="Shape 18"/>
          <p:cNvSpPr/>
          <p:nvPr/>
        </p:nvSpPr>
        <p:spPr>
          <a:xfrm>
            <a:off x="1325880" y="2916936"/>
            <a:ext cx="530352" cy="530352"/>
          </a:xfrm>
          <a:prstGeom prst="roundRect">
            <a:avLst>
              <a:gd name="adj" fmla="val 12069"/>
            </a:avLst>
          </a:prstGeom>
          <a:solidFill>
            <a:srgbClr val="1F6B4A"/>
          </a:solidFill>
          <a:ln/>
        </p:spPr>
        <p:txBody>
          <a:bodyPr/>
          <a:lstStyle/>
          <a:p>
            <a:endParaRPr lang="ru-RU"/>
          </a:p>
        </p:txBody>
      </p:sp>
      <p:sp>
        <p:nvSpPr>
          <p:cNvPr id="22" name="Text 19"/>
          <p:cNvSpPr txBox="1"/>
          <p:nvPr/>
        </p:nvSpPr>
        <p:spPr>
          <a:xfrm>
            <a:off x="1325880" y="2916936"/>
            <a:ext cx="53035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600" b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</a:t>
            </a:r>
            <a:endParaRPr lang="en-US" sz="1600" dirty="0"/>
          </a:p>
        </p:txBody>
      </p:sp>
      <p:sp>
        <p:nvSpPr>
          <p:cNvPr id="23" name="Text 20"/>
          <p:cNvSpPr txBox="1"/>
          <p:nvPr/>
        </p:nvSpPr>
        <p:spPr>
          <a:xfrm>
            <a:off x="2057400" y="2770632"/>
            <a:ext cx="37947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600" dirty="0">
                <a:solidFill>
                  <a:srgbClr val="1B1B2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Eski imtiyozlarning to'planib qolishi</a:t>
            </a:r>
            <a:endParaRPr lang="en-US" sz="1600" dirty="0"/>
          </a:p>
        </p:txBody>
      </p:sp>
      <p:sp>
        <p:nvSpPr>
          <p:cNvPr id="24" name="Shape 21"/>
          <p:cNvSpPr/>
          <p:nvPr/>
        </p:nvSpPr>
        <p:spPr>
          <a:xfrm>
            <a:off x="6172200" y="2770632"/>
            <a:ext cx="5440680" cy="82296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/>
        </p:spPr>
        <p:txBody>
          <a:bodyPr/>
          <a:lstStyle/>
          <a:p>
            <a:endParaRPr lang="ru-RU"/>
          </a:p>
        </p:txBody>
      </p:sp>
      <p:sp>
        <p:nvSpPr>
          <p:cNvPr id="25" name="Shape 22"/>
          <p:cNvSpPr/>
          <p:nvPr/>
        </p:nvSpPr>
        <p:spPr>
          <a:xfrm>
            <a:off x="6309360" y="2916936"/>
            <a:ext cx="530352" cy="530352"/>
          </a:xfrm>
          <a:prstGeom prst="roundRect">
            <a:avLst>
              <a:gd name="adj" fmla="val 12069"/>
            </a:avLst>
          </a:prstGeom>
          <a:solidFill>
            <a:srgbClr val="FDF3E2"/>
          </a:solidFill>
          <a:ln/>
        </p:spPr>
        <p:txBody>
          <a:bodyPr/>
          <a:lstStyle/>
          <a:p>
            <a:endParaRPr lang="ru-RU"/>
          </a:p>
        </p:txBody>
      </p:sp>
      <p:sp>
        <p:nvSpPr>
          <p:cNvPr id="26" name="Text 23"/>
          <p:cNvSpPr txBox="1"/>
          <p:nvPr/>
        </p:nvSpPr>
        <p:spPr>
          <a:xfrm>
            <a:off x="6309360" y="2916936"/>
            <a:ext cx="53035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600" b="1" dirty="0">
                <a:solidFill>
                  <a:srgbClr val="9A5B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4</a:t>
            </a:r>
            <a:endParaRPr lang="en-US" sz="1600" dirty="0"/>
          </a:p>
        </p:txBody>
      </p:sp>
      <p:sp>
        <p:nvSpPr>
          <p:cNvPr id="27" name="Shape 24"/>
          <p:cNvSpPr/>
          <p:nvPr/>
        </p:nvSpPr>
        <p:spPr>
          <a:xfrm>
            <a:off x="6949440" y="2916936"/>
            <a:ext cx="530352" cy="530352"/>
          </a:xfrm>
          <a:prstGeom prst="roundRect">
            <a:avLst>
              <a:gd name="adj" fmla="val 12069"/>
            </a:avLst>
          </a:prstGeom>
          <a:solidFill>
            <a:srgbClr val="1F6B4A"/>
          </a:solidFill>
          <a:ln/>
        </p:spPr>
        <p:txBody>
          <a:bodyPr/>
          <a:lstStyle/>
          <a:p>
            <a:endParaRPr lang="ru-RU"/>
          </a:p>
        </p:txBody>
      </p:sp>
      <p:sp>
        <p:nvSpPr>
          <p:cNvPr id="28" name="Text 25"/>
          <p:cNvSpPr txBox="1"/>
          <p:nvPr/>
        </p:nvSpPr>
        <p:spPr>
          <a:xfrm>
            <a:off x="6949440" y="2916936"/>
            <a:ext cx="53035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600" b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D</a:t>
            </a:r>
            <a:endParaRPr lang="en-US" sz="1600" dirty="0"/>
          </a:p>
        </p:txBody>
      </p:sp>
      <p:sp>
        <p:nvSpPr>
          <p:cNvPr id="29" name="Text 26"/>
          <p:cNvSpPr txBox="1"/>
          <p:nvPr/>
        </p:nvSpPr>
        <p:spPr>
          <a:xfrm>
            <a:off x="7680960" y="2770632"/>
            <a:ext cx="37947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600" dirty="0">
                <a:solidFill>
                  <a:srgbClr val="1B1B2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Kadrlar (HR) tizimi — ishonchli manba</a:t>
            </a:r>
            <a:endParaRPr lang="en-US" sz="1600" dirty="0"/>
          </a:p>
        </p:txBody>
      </p:sp>
      <p:sp>
        <p:nvSpPr>
          <p:cNvPr id="30" name="Shape 27"/>
          <p:cNvSpPr/>
          <p:nvPr/>
        </p:nvSpPr>
        <p:spPr>
          <a:xfrm>
            <a:off x="548640" y="3758184"/>
            <a:ext cx="5440680" cy="82296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/>
        </p:spPr>
        <p:txBody>
          <a:bodyPr/>
          <a:lstStyle/>
          <a:p>
            <a:endParaRPr lang="ru-RU"/>
          </a:p>
        </p:txBody>
      </p:sp>
      <p:sp>
        <p:nvSpPr>
          <p:cNvPr id="31" name="Shape 28"/>
          <p:cNvSpPr/>
          <p:nvPr/>
        </p:nvSpPr>
        <p:spPr>
          <a:xfrm>
            <a:off x="685800" y="3904488"/>
            <a:ext cx="530352" cy="530352"/>
          </a:xfrm>
          <a:prstGeom prst="roundRect">
            <a:avLst>
              <a:gd name="adj" fmla="val 12069"/>
            </a:avLst>
          </a:prstGeom>
          <a:solidFill>
            <a:srgbClr val="FDF3E2"/>
          </a:solidFill>
          <a:ln/>
        </p:spPr>
        <p:txBody>
          <a:bodyPr/>
          <a:lstStyle/>
          <a:p>
            <a:endParaRPr lang="ru-RU"/>
          </a:p>
        </p:txBody>
      </p:sp>
      <p:sp>
        <p:nvSpPr>
          <p:cNvPr id="32" name="Text 29"/>
          <p:cNvSpPr txBox="1"/>
          <p:nvPr/>
        </p:nvSpPr>
        <p:spPr>
          <a:xfrm>
            <a:off x="685800" y="3904488"/>
            <a:ext cx="53035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600" b="1" dirty="0">
                <a:solidFill>
                  <a:srgbClr val="9A5B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5</a:t>
            </a:r>
            <a:endParaRPr lang="en-US" sz="1600" dirty="0"/>
          </a:p>
        </p:txBody>
      </p:sp>
      <p:sp>
        <p:nvSpPr>
          <p:cNvPr id="33" name="Shape 30"/>
          <p:cNvSpPr/>
          <p:nvPr/>
        </p:nvSpPr>
        <p:spPr>
          <a:xfrm>
            <a:off x="1325880" y="3904488"/>
            <a:ext cx="530352" cy="530352"/>
          </a:xfrm>
          <a:prstGeom prst="roundRect">
            <a:avLst>
              <a:gd name="adj" fmla="val 12069"/>
            </a:avLst>
          </a:prstGeom>
          <a:solidFill>
            <a:srgbClr val="1F6B4A"/>
          </a:solidFill>
          <a:ln/>
        </p:spPr>
        <p:txBody>
          <a:bodyPr/>
          <a:lstStyle/>
          <a:p>
            <a:endParaRPr lang="ru-RU"/>
          </a:p>
        </p:txBody>
      </p:sp>
      <p:sp>
        <p:nvSpPr>
          <p:cNvPr id="34" name="Text 31"/>
          <p:cNvSpPr txBox="1"/>
          <p:nvPr/>
        </p:nvSpPr>
        <p:spPr>
          <a:xfrm>
            <a:off x="1325880" y="3904488"/>
            <a:ext cx="53035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600" b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B</a:t>
            </a:r>
            <a:endParaRPr lang="en-US" sz="1600" dirty="0"/>
          </a:p>
        </p:txBody>
      </p:sp>
      <p:sp>
        <p:nvSpPr>
          <p:cNvPr id="35" name="Text 32"/>
          <p:cNvSpPr txBox="1"/>
          <p:nvPr/>
        </p:nvSpPr>
        <p:spPr>
          <a:xfrm>
            <a:off x="2057400" y="3758184"/>
            <a:ext cx="37947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600" dirty="0">
                <a:solidFill>
                  <a:srgbClr val="1B1B2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Qayd yozuvlarini avtomatik yaratish va yopish</a:t>
            </a:r>
            <a:endParaRPr lang="en-US" sz="1600" dirty="0"/>
          </a:p>
        </p:txBody>
      </p:sp>
      <p:sp>
        <p:nvSpPr>
          <p:cNvPr id="36" name="Shape 33"/>
          <p:cNvSpPr/>
          <p:nvPr/>
        </p:nvSpPr>
        <p:spPr>
          <a:xfrm>
            <a:off x="6172200" y="3758184"/>
            <a:ext cx="5440680" cy="82296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/>
        </p:spPr>
        <p:txBody>
          <a:bodyPr/>
          <a:lstStyle/>
          <a:p>
            <a:endParaRPr lang="ru-RU"/>
          </a:p>
        </p:txBody>
      </p:sp>
      <p:sp>
        <p:nvSpPr>
          <p:cNvPr id="37" name="Shape 34"/>
          <p:cNvSpPr/>
          <p:nvPr/>
        </p:nvSpPr>
        <p:spPr>
          <a:xfrm>
            <a:off x="6309360" y="3904488"/>
            <a:ext cx="530352" cy="530352"/>
          </a:xfrm>
          <a:prstGeom prst="roundRect">
            <a:avLst>
              <a:gd name="adj" fmla="val 12069"/>
            </a:avLst>
          </a:prstGeom>
          <a:solidFill>
            <a:srgbClr val="FDF3E2"/>
          </a:solidFill>
          <a:ln/>
        </p:spPr>
        <p:txBody>
          <a:bodyPr/>
          <a:lstStyle/>
          <a:p>
            <a:endParaRPr lang="ru-RU"/>
          </a:p>
        </p:txBody>
      </p:sp>
      <p:sp>
        <p:nvSpPr>
          <p:cNvPr id="38" name="Text 35"/>
          <p:cNvSpPr txBox="1"/>
          <p:nvPr/>
        </p:nvSpPr>
        <p:spPr>
          <a:xfrm>
            <a:off x="6309360" y="3904488"/>
            <a:ext cx="53035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600" b="1" dirty="0">
                <a:solidFill>
                  <a:srgbClr val="9A5B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6</a:t>
            </a:r>
            <a:endParaRPr lang="en-US" sz="1600" dirty="0"/>
          </a:p>
        </p:txBody>
      </p:sp>
      <p:sp>
        <p:nvSpPr>
          <p:cNvPr id="39" name="Shape 36"/>
          <p:cNvSpPr/>
          <p:nvPr/>
        </p:nvSpPr>
        <p:spPr>
          <a:xfrm>
            <a:off x="6949440" y="3904488"/>
            <a:ext cx="530352" cy="530352"/>
          </a:xfrm>
          <a:prstGeom prst="roundRect">
            <a:avLst>
              <a:gd name="adj" fmla="val 12069"/>
            </a:avLst>
          </a:prstGeom>
          <a:solidFill>
            <a:srgbClr val="1F6B4A"/>
          </a:solidFill>
          <a:ln/>
        </p:spPr>
        <p:txBody>
          <a:bodyPr/>
          <a:lstStyle/>
          <a:p>
            <a:endParaRPr lang="ru-RU"/>
          </a:p>
        </p:txBody>
      </p:sp>
      <p:sp>
        <p:nvSpPr>
          <p:cNvPr id="40" name="Text 37"/>
          <p:cNvSpPr txBox="1"/>
          <p:nvPr/>
        </p:nvSpPr>
        <p:spPr>
          <a:xfrm>
            <a:off x="6949440" y="3904488"/>
            <a:ext cx="53035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600" b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C</a:t>
            </a:r>
            <a:endParaRPr lang="en-US" sz="1600" dirty="0"/>
          </a:p>
        </p:txBody>
      </p:sp>
      <p:sp>
        <p:nvSpPr>
          <p:cNvPr id="41" name="Text 38"/>
          <p:cNvSpPr txBox="1"/>
          <p:nvPr/>
        </p:nvSpPr>
        <p:spPr>
          <a:xfrm>
            <a:off x="7680960" y="3758184"/>
            <a:ext cx="37947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600" dirty="0">
                <a:solidFill>
                  <a:srgbClr val="1B1B2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«Kim foydalanishi kerak va nega?»</a:t>
            </a:r>
            <a:endParaRPr lang="en-US" sz="1600" dirty="0"/>
          </a:p>
        </p:txBody>
      </p:sp>
      <p:sp>
        <p:nvSpPr>
          <p:cNvPr id="42" name="Shape 39"/>
          <p:cNvSpPr/>
          <p:nvPr/>
        </p:nvSpPr>
        <p:spPr>
          <a:xfrm>
            <a:off x="548640" y="4892040"/>
            <a:ext cx="11064240" cy="1005840"/>
          </a:xfrm>
          <a:prstGeom prst="roundRect">
            <a:avLst>
              <a:gd name="adj" fmla="val 8182"/>
            </a:avLst>
          </a:prstGeom>
          <a:solidFill>
            <a:srgbClr val="FFFFFF"/>
          </a:solidFill>
          <a:ln/>
        </p:spPr>
        <p:txBody>
          <a:bodyPr/>
          <a:lstStyle/>
          <a:p>
            <a:endParaRPr lang="ru-RU"/>
          </a:p>
        </p:txBody>
      </p:sp>
      <p:sp>
        <p:nvSpPr>
          <p:cNvPr id="43" name="Text 40"/>
          <p:cNvSpPr txBox="1"/>
          <p:nvPr/>
        </p:nvSpPr>
        <p:spPr>
          <a:xfrm>
            <a:off x="868680" y="4892040"/>
            <a:ext cx="104241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F6B4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5–6 to'g'ri javob </a:t>
            </a:r>
            <a:r>
              <a:rPr lang="en-US" sz="1600" dirty="0">
                <a:solidFill>
                  <a:srgbClr val="1B1B2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— mavzu o'zlashtirilgan. 4 va undan kam bo'lsa, konspekt va «Kiberxavfsizlik asoslari» [1] darsligining tegishli bo'limini qayta ko'rib chiqing.</a:t>
            </a:r>
            <a:endParaRPr lang="en-US" sz="1600" dirty="0"/>
          </a:p>
        </p:txBody>
      </p:sp>
      <p:sp>
        <p:nvSpPr>
          <p:cNvPr id="44" name="Text 41"/>
          <p:cNvSpPr txBox="1"/>
          <p:nvPr/>
        </p:nvSpPr>
        <p:spPr>
          <a:xfrm>
            <a:off x="548640" y="649224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9A5B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Foydalanishlarni boshqarish  ·  2-ma'ruza</a:t>
            </a:r>
            <a:endParaRPr lang="en-US" sz="1100" dirty="0"/>
          </a:p>
        </p:txBody>
      </p:sp>
      <p:sp>
        <p:nvSpPr>
          <p:cNvPr id="45" name="Text 42"/>
          <p:cNvSpPr txBox="1"/>
          <p:nvPr/>
        </p:nvSpPr>
        <p:spPr>
          <a:xfrm>
            <a:off x="11155680" y="649224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9A5B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28</a:t>
            </a:r>
            <a:endParaRPr lang="en-US" sz="1100" dirty="0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47472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kern="0" spc="220" dirty="0">
                <a:solidFill>
                  <a:srgbClr val="5B627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MUSTAQIL ISH</a:t>
            </a:r>
            <a:endParaRPr lang="en-US" sz="16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731520"/>
            <a:ext cx="100584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95000"/>
              </a:lnSpc>
              <a:buNone/>
            </a:pPr>
            <a:r>
              <a:rPr lang="en-US" sz="3600" b="1" dirty="0">
                <a:solidFill>
                  <a:srgbClr val="1E276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Uyga vazifa va keyingi mavzu</a:t>
            </a:r>
            <a:endParaRPr lang="en-US" sz="3600" dirty="0"/>
          </a:p>
        </p:txBody>
      </p:sp>
      <p:sp>
        <p:nvSpPr>
          <p:cNvPr id="4" name="Shape 2"/>
          <p:cNvSpPr/>
          <p:nvPr/>
        </p:nvSpPr>
        <p:spPr>
          <a:xfrm>
            <a:off x="548640" y="1783080"/>
            <a:ext cx="7086600" cy="1298448"/>
          </a:xfrm>
          <a:prstGeom prst="roundRect">
            <a:avLst>
              <a:gd name="adj" fmla="val 6338"/>
            </a:avLst>
          </a:prstGeom>
          <a:solidFill>
            <a:srgbClr val="EEF2FB"/>
          </a:solidFill>
          <a:ln/>
        </p:spPr>
        <p:txBody>
          <a:bodyPr/>
          <a:lstStyle/>
          <a:p>
            <a:endParaRPr lang="ru-RU"/>
          </a:p>
        </p:txBody>
      </p:sp>
      <p:sp>
        <p:nvSpPr>
          <p:cNvPr id="5" name="Shape 3"/>
          <p:cNvSpPr/>
          <p:nvPr/>
        </p:nvSpPr>
        <p:spPr>
          <a:xfrm>
            <a:off x="822960" y="2103120"/>
            <a:ext cx="658368" cy="658368"/>
          </a:xfrm>
          <a:prstGeom prst="ellipse">
            <a:avLst/>
          </a:prstGeom>
          <a:solidFill>
            <a:srgbClr val="1E2761"/>
          </a:solidFill>
          <a:ln/>
        </p:spPr>
        <p:txBody>
          <a:bodyPr/>
          <a:lstStyle/>
          <a:p>
            <a:endParaRPr lang="ru-RU"/>
          </a:p>
        </p:txBody>
      </p:sp>
      <p:pic>
        <p:nvPicPr>
          <p:cNvPr id="6" name="Image 0" descr="/home/claude/fob-slides/icons_out/book_whit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71093" y="2251253"/>
            <a:ext cx="362102" cy="362102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1737360" y="1911096"/>
            <a:ext cx="5715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2000" b="1" dirty="0">
                <a:solidFill>
                  <a:srgbClr val="1E276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O'qish</a:t>
            </a:r>
            <a:endParaRPr lang="en-US" sz="2000" dirty="0"/>
          </a:p>
        </p:txBody>
      </p:sp>
      <p:sp>
        <p:nvSpPr>
          <p:cNvPr id="8" name="Text 5"/>
          <p:cNvSpPr txBox="1"/>
          <p:nvPr/>
        </p:nvSpPr>
        <p:spPr>
          <a:xfrm>
            <a:off x="1737360" y="2331720"/>
            <a:ext cx="57150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600" dirty="0">
                <a:solidFill>
                  <a:srgbClr val="1B1B2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«Kiberxavfsizlik asoslari» [1] — foydalanishni boshqarish bo'limi; NIST SP 800-53 AC-2 nazorati.</a:t>
            </a:r>
            <a:endParaRPr lang="en-US" sz="1600" dirty="0"/>
          </a:p>
        </p:txBody>
      </p:sp>
      <p:sp>
        <p:nvSpPr>
          <p:cNvPr id="9" name="Shape 6"/>
          <p:cNvSpPr/>
          <p:nvPr/>
        </p:nvSpPr>
        <p:spPr>
          <a:xfrm>
            <a:off x="548640" y="3227832"/>
            <a:ext cx="7086600" cy="1298448"/>
          </a:xfrm>
          <a:prstGeom prst="roundRect">
            <a:avLst>
              <a:gd name="adj" fmla="val 6338"/>
            </a:avLst>
          </a:prstGeom>
          <a:solidFill>
            <a:srgbClr val="EEF2FB"/>
          </a:solidFill>
          <a:ln/>
        </p:spPr>
        <p:txBody>
          <a:bodyPr/>
          <a:lstStyle/>
          <a:p>
            <a:endParaRPr lang="ru-RU"/>
          </a:p>
        </p:txBody>
      </p:sp>
      <p:sp>
        <p:nvSpPr>
          <p:cNvPr id="10" name="Shape 7"/>
          <p:cNvSpPr/>
          <p:nvPr/>
        </p:nvSpPr>
        <p:spPr>
          <a:xfrm>
            <a:off x="822960" y="3547872"/>
            <a:ext cx="658368" cy="658368"/>
          </a:xfrm>
          <a:prstGeom prst="ellipse">
            <a:avLst/>
          </a:prstGeom>
          <a:solidFill>
            <a:srgbClr val="1E2761"/>
          </a:solidFill>
          <a:ln/>
        </p:spPr>
        <p:txBody>
          <a:bodyPr/>
          <a:lstStyle/>
          <a:p>
            <a:endParaRPr lang="ru-RU"/>
          </a:p>
        </p:txBody>
      </p:sp>
      <p:pic>
        <p:nvPicPr>
          <p:cNvPr id="11" name="Image 1" descr="/home/claude/fob-slides/icons_out/listol_whit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71093" y="3696005"/>
            <a:ext cx="362102" cy="362102"/>
          </a:xfrm>
          <a:prstGeom prst="rect">
            <a:avLst/>
          </a:prstGeom>
        </p:spPr>
      </p:pic>
      <p:sp>
        <p:nvSpPr>
          <p:cNvPr id="12" name="Text 8"/>
          <p:cNvSpPr txBox="1"/>
          <p:nvPr/>
        </p:nvSpPr>
        <p:spPr>
          <a:xfrm>
            <a:off x="1737360" y="3355848"/>
            <a:ext cx="5715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2000" b="1" dirty="0">
                <a:solidFill>
                  <a:srgbClr val="1E276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Amaliyotga tayyorgarlik</a:t>
            </a:r>
            <a:endParaRPr lang="en-US" sz="2000" dirty="0"/>
          </a:p>
        </p:txBody>
      </p:sp>
      <p:sp>
        <p:nvSpPr>
          <p:cNvPr id="13" name="Text 9"/>
          <p:cNvSpPr txBox="1"/>
          <p:nvPr/>
        </p:nvSpPr>
        <p:spPr>
          <a:xfrm>
            <a:off x="1737360" y="3776472"/>
            <a:ext cx="57150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600" dirty="0">
                <a:solidFill>
                  <a:srgbClr val="1B1B2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A2 uchun: A1 dagi variantingiz tashkiloti bo'yicha JML jadvali qoralamasini tuzing.</a:t>
            </a:r>
            <a:endParaRPr lang="en-US" sz="1600" dirty="0"/>
          </a:p>
        </p:txBody>
      </p:sp>
      <p:sp>
        <p:nvSpPr>
          <p:cNvPr id="14" name="Shape 10"/>
          <p:cNvSpPr/>
          <p:nvPr/>
        </p:nvSpPr>
        <p:spPr>
          <a:xfrm>
            <a:off x="548640" y="4672584"/>
            <a:ext cx="7086600" cy="1298448"/>
          </a:xfrm>
          <a:prstGeom prst="roundRect">
            <a:avLst>
              <a:gd name="adj" fmla="val 6338"/>
            </a:avLst>
          </a:prstGeom>
          <a:solidFill>
            <a:srgbClr val="EEF2FB"/>
          </a:solidFill>
          <a:ln/>
        </p:spPr>
        <p:txBody>
          <a:bodyPr/>
          <a:lstStyle/>
          <a:p>
            <a:endParaRPr lang="ru-RU"/>
          </a:p>
        </p:txBody>
      </p:sp>
      <p:sp>
        <p:nvSpPr>
          <p:cNvPr id="15" name="Shape 11"/>
          <p:cNvSpPr/>
          <p:nvPr/>
        </p:nvSpPr>
        <p:spPr>
          <a:xfrm>
            <a:off x="822960" y="4992624"/>
            <a:ext cx="658368" cy="658368"/>
          </a:xfrm>
          <a:prstGeom prst="ellipse">
            <a:avLst/>
          </a:prstGeom>
          <a:solidFill>
            <a:srgbClr val="1E2761"/>
          </a:solidFill>
          <a:ln/>
        </p:spPr>
        <p:txBody>
          <a:bodyPr/>
          <a:lstStyle/>
          <a:p>
            <a:endParaRPr lang="ru-RU"/>
          </a:p>
        </p:txBody>
      </p:sp>
      <p:pic>
        <p:nvPicPr>
          <p:cNvPr id="16" name="Image 2" descr="/home/claude/fob-slides/icons_out/file_whit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71093" y="5140757"/>
            <a:ext cx="362102" cy="362102"/>
          </a:xfrm>
          <a:prstGeom prst="rect">
            <a:avLst/>
          </a:prstGeom>
        </p:spPr>
      </p:pic>
      <p:sp>
        <p:nvSpPr>
          <p:cNvPr id="17" name="Text 12"/>
          <p:cNvSpPr txBox="1"/>
          <p:nvPr/>
        </p:nvSpPr>
        <p:spPr>
          <a:xfrm>
            <a:off x="1737360" y="4800600"/>
            <a:ext cx="5715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2000" b="1" dirty="0">
                <a:solidFill>
                  <a:srgbClr val="1E276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Yozma topshiriq</a:t>
            </a:r>
            <a:endParaRPr lang="en-US" sz="2000" dirty="0"/>
          </a:p>
        </p:txBody>
      </p:sp>
      <p:sp>
        <p:nvSpPr>
          <p:cNvPr id="18" name="Text 13"/>
          <p:cNvSpPr txBox="1"/>
          <p:nvPr/>
        </p:nvSpPr>
        <p:spPr>
          <a:xfrm>
            <a:off x="1737360" y="5221224"/>
            <a:ext cx="57150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600" dirty="0">
                <a:solidFill>
                  <a:srgbClr val="1B1B2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Universitetda xodim ketganda yopilishi kerak bo'lgan 6+ qayd yozuvini va har birining mas'ulini yozing.</a:t>
            </a:r>
            <a:endParaRPr lang="en-US" sz="1600" dirty="0"/>
          </a:p>
        </p:txBody>
      </p:sp>
      <p:sp>
        <p:nvSpPr>
          <p:cNvPr id="19" name="Shape 14"/>
          <p:cNvSpPr/>
          <p:nvPr/>
        </p:nvSpPr>
        <p:spPr>
          <a:xfrm>
            <a:off x="7863840" y="1783080"/>
            <a:ext cx="3749040" cy="4187952"/>
          </a:xfrm>
          <a:prstGeom prst="roundRect">
            <a:avLst>
              <a:gd name="adj" fmla="val 2195"/>
            </a:avLst>
          </a:prstGeom>
          <a:solidFill>
            <a:srgbClr val="1E2761"/>
          </a:solidFill>
          <a:ln/>
        </p:spPr>
        <p:txBody>
          <a:bodyPr/>
          <a:lstStyle/>
          <a:p>
            <a:endParaRPr lang="ru-RU"/>
          </a:p>
        </p:txBody>
      </p:sp>
      <p:sp>
        <p:nvSpPr>
          <p:cNvPr id="20" name="Text 15"/>
          <p:cNvSpPr txBox="1"/>
          <p:nvPr/>
        </p:nvSpPr>
        <p:spPr>
          <a:xfrm>
            <a:off x="7863840" y="2011680"/>
            <a:ext cx="3749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600" b="1" dirty="0">
                <a:solidFill>
                  <a:srgbClr val="CADCFC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KEYINGI MA'RUZA</a:t>
            </a:r>
            <a:endParaRPr lang="en-US" sz="1600" dirty="0"/>
          </a:p>
        </p:txBody>
      </p:sp>
      <p:sp>
        <p:nvSpPr>
          <p:cNvPr id="21" name="Text 16"/>
          <p:cNvSpPr txBox="1"/>
          <p:nvPr/>
        </p:nvSpPr>
        <p:spPr>
          <a:xfrm>
            <a:off x="7863840" y="2468880"/>
            <a:ext cx="3749040" cy="86868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5400" b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M3</a:t>
            </a:r>
            <a:endParaRPr lang="en-US" sz="5400" dirty="0"/>
          </a:p>
        </p:txBody>
      </p:sp>
      <p:sp>
        <p:nvSpPr>
          <p:cNvPr id="22" name="Text 17"/>
          <p:cNvSpPr txBox="1"/>
          <p:nvPr/>
        </p:nvSpPr>
        <p:spPr>
          <a:xfrm>
            <a:off x="8092440" y="3474720"/>
            <a:ext cx="3291840" cy="132588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600" dirty="0">
                <a:solidFill>
                  <a:srgbClr val="CADCFC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Parolga asoslangan autentifikatsiya: xeshlash, salt, Argon2/bcrypt</a:t>
            </a:r>
            <a:endParaRPr lang="en-US" sz="1600" dirty="0"/>
          </a:p>
        </p:txBody>
      </p:sp>
      <p:sp>
        <p:nvSpPr>
          <p:cNvPr id="23" name="Text 18"/>
          <p:cNvSpPr txBox="1"/>
          <p:nvPr/>
        </p:nvSpPr>
        <p:spPr>
          <a:xfrm>
            <a:off x="8092440" y="4892040"/>
            <a:ext cx="3291840" cy="86868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400" dirty="0">
                <a:solidFill>
                  <a:srgbClr val="9FB0E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Bugun qayd yozuvi yaratdik — endi unga qanday xavfsiz kiriladi?</a:t>
            </a:r>
            <a:endParaRPr lang="en-US" sz="1400" dirty="0"/>
          </a:p>
        </p:txBody>
      </p:sp>
      <p:sp>
        <p:nvSpPr>
          <p:cNvPr id="24" name="Text 19"/>
          <p:cNvSpPr txBox="1"/>
          <p:nvPr/>
        </p:nvSpPr>
        <p:spPr>
          <a:xfrm>
            <a:off x="548640" y="649224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B627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Foydalanishlarni boshqarish  ·  2-ma'ruza</a:t>
            </a:r>
            <a:endParaRPr lang="en-US" sz="1100" dirty="0"/>
          </a:p>
        </p:txBody>
      </p:sp>
      <p:sp>
        <p:nvSpPr>
          <p:cNvPr id="25" name="Text 20"/>
          <p:cNvSpPr txBox="1"/>
          <p:nvPr/>
        </p:nvSpPr>
        <p:spPr>
          <a:xfrm>
            <a:off x="11155680" y="649224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5B627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29</a:t>
            </a:r>
            <a:endParaRPr lang="en-US" sz="1100" dirty="0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47472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kern="0" spc="220" dirty="0">
                <a:solidFill>
                  <a:srgbClr val="5B627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ATAMALAR LUG'ATI</a:t>
            </a:r>
            <a:endParaRPr lang="en-US" sz="16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731520"/>
            <a:ext cx="100584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95000"/>
              </a:lnSpc>
              <a:buNone/>
            </a:pPr>
            <a:r>
              <a:rPr lang="en-US" sz="3600" b="1" dirty="0">
                <a:solidFill>
                  <a:srgbClr val="1E276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Ma'ruzadagi atamalar va ularning manbasi</a:t>
            </a:r>
            <a:endParaRPr lang="en-US" sz="3600" dirty="0"/>
          </a:p>
        </p:txBody>
      </p:sp>
      <p:sp>
        <p:nvSpPr>
          <p:cNvPr id="4" name="Shape 2"/>
          <p:cNvSpPr/>
          <p:nvPr/>
        </p:nvSpPr>
        <p:spPr>
          <a:xfrm>
            <a:off x="548640" y="1737360"/>
            <a:ext cx="5440680" cy="530352"/>
          </a:xfrm>
          <a:prstGeom prst="roundRect">
            <a:avLst>
              <a:gd name="adj" fmla="val 10345"/>
            </a:avLst>
          </a:prstGeom>
          <a:solidFill>
            <a:srgbClr val="EEF2FB"/>
          </a:solidFill>
          <a:ln/>
        </p:spPr>
        <p:txBody>
          <a:bodyPr/>
          <a:lstStyle/>
          <a:p>
            <a:endParaRPr lang="ru-RU"/>
          </a:p>
        </p:txBody>
      </p:sp>
      <p:sp>
        <p:nvSpPr>
          <p:cNvPr id="5" name="Text 3"/>
          <p:cNvSpPr txBox="1"/>
          <p:nvPr/>
        </p:nvSpPr>
        <p:spPr>
          <a:xfrm>
            <a:off x="713232" y="1737360"/>
            <a:ext cx="26060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600" b="1" dirty="0">
                <a:solidFill>
                  <a:srgbClr val="1E276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Qayd yozuvi</a:t>
            </a:r>
            <a:endParaRPr lang="en-US" sz="1600" dirty="0"/>
          </a:p>
        </p:txBody>
      </p:sp>
      <p:sp>
        <p:nvSpPr>
          <p:cNvPr id="6" name="Text 4"/>
          <p:cNvSpPr txBox="1"/>
          <p:nvPr/>
        </p:nvSpPr>
        <p:spPr>
          <a:xfrm>
            <a:off x="3383280" y="1737360"/>
            <a:ext cx="16916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400" dirty="0">
                <a:solidFill>
                  <a:srgbClr val="5B627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account</a:t>
            </a:r>
            <a:endParaRPr lang="en-US" sz="1400" dirty="0"/>
          </a:p>
        </p:txBody>
      </p:sp>
      <p:sp>
        <p:nvSpPr>
          <p:cNvPr id="7" name="Text 5"/>
          <p:cNvSpPr txBox="1"/>
          <p:nvPr/>
        </p:nvSpPr>
        <p:spPr>
          <a:xfrm>
            <a:off x="5074920" y="1737360"/>
            <a:ext cx="7772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lnSpc>
                <a:spcPct val="100000"/>
              </a:lnSpc>
              <a:buNone/>
            </a:pPr>
            <a:r>
              <a:rPr lang="en-US" sz="1400" dirty="0">
                <a:solidFill>
                  <a:srgbClr val="1E276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[1]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548640" y="2322576"/>
            <a:ext cx="5440680" cy="530352"/>
          </a:xfrm>
          <a:prstGeom prst="roundRect">
            <a:avLst>
              <a:gd name="adj" fmla="val 10345"/>
            </a:avLst>
          </a:prstGeom>
          <a:solidFill>
            <a:srgbClr val="FFFFFF"/>
          </a:solidFill>
          <a:ln/>
        </p:spPr>
        <p:txBody>
          <a:bodyPr/>
          <a:lstStyle/>
          <a:p>
            <a:endParaRPr lang="ru-RU"/>
          </a:p>
        </p:txBody>
      </p:sp>
      <p:sp>
        <p:nvSpPr>
          <p:cNvPr id="9" name="Text 7"/>
          <p:cNvSpPr txBox="1"/>
          <p:nvPr/>
        </p:nvSpPr>
        <p:spPr>
          <a:xfrm>
            <a:off x="713232" y="2322576"/>
            <a:ext cx="26060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600" b="1" dirty="0">
                <a:solidFill>
                  <a:srgbClr val="1E276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Imtiyoz</a:t>
            </a:r>
            <a:endParaRPr lang="en-US" sz="1600" dirty="0"/>
          </a:p>
        </p:txBody>
      </p:sp>
      <p:sp>
        <p:nvSpPr>
          <p:cNvPr id="10" name="Text 8"/>
          <p:cNvSpPr txBox="1"/>
          <p:nvPr/>
        </p:nvSpPr>
        <p:spPr>
          <a:xfrm>
            <a:off x="3383280" y="2322576"/>
            <a:ext cx="16916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400" dirty="0">
                <a:solidFill>
                  <a:srgbClr val="5B627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privilege, permission</a:t>
            </a:r>
            <a:endParaRPr lang="en-US" sz="1400" dirty="0"/>
          </a:p>
        </p:txBody>
      </p:sp>
      <p:sp>
        <p:nvSpPr>
          <p:cNvPr id="11" name="Text 9"/>
          <p:cNvSpPr txBox="1"/>
          <p:nvPr/>
        </p:nvSpPr>
        <p:spPr>
          <a:xfrm>
            <a:off x="5074920" y="2322576"/>
            <a:ext cx="7772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lnSpc>
                <a:spcPct val="100000"/>
              </a:lnSpc>
              <a:buNone/>
            </a:pPr>
            <a:r>
              <a:rPr lang="en-US" sz="1400" dirty="0">
                <a:solidFill>
                  <a:srgbClr val="1E276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[1], [2]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548640" y="2907792"/>
            <a:ext cx="5440680" cy="530352"/>
          </a:xfrm>
          <a:prstGeom prst="roundRect">
            <a:avLst>
              <a:gd name="adj" fmla="val 10345"/>
            </a:avLst>
          </a:prstGeom>
          <a:solidFill>
            <a:srgbClr val="EEF2FB"/>
          </a:solidFill>
          <a:ln/>
        </p:spPr>
        <p:txBody>
          <a:bodyPr/>
          <a:lstStyle/>
          <a:p>
            <a:endParaRPr lang="ru-RU"/>
          </a:p>
        </p:txBody>
      </p:sp>
      <p:sp>
        <p:nvSpPr>
          <p:cNvPr id="13" name="Text 11"/>
          <p:cNvSpPr txBox="1"/>
          <p:nvPr/>
        </p:nvSpPr>
        <p:spPr>
          <a:xfrm>
            <a:off x="713232" y="2907792"/>
            <a:ext cx="26060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600" b="1" dirty="0">
                <a:solidFill>
                  <a:srgbClr val="1E276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Foydalanish huquqlari</a:t>
            </a:r>
            <a:endParaRPr lang="en-US" sz="1600" dirty="0"/>
          </a:p>
        </p:txBody>
      </p:sp>
      <p:sp>
        <p:nvSpPr>
          <p:cNvPr id="14" name="Text 12"/>
          <p:cNvSpPr txBox="1"/>
          <p:nvPr/>
        </p:nvSpPr>
        <p:spPr>
          <a:xfrm>
            <a:off x="3383280" y="2907792"/>
            <a:ext cx="16916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400" dirty="0">
                <a:solidFill>
                  <a:srgbClr val="5B627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access rights</a:t>
            </a:r>
            <a:endParaRPr lang="en-US" sz="1400" dirty="0"/>
          </a:p>
        </p:txBody>
      </p:sp>
      <p:sp>
        <p:nvSpPr>
          <p:cNvPr id="15" name="Text 13"/>
          <p:cNvSpPr txBox="1"/>
          <p:nvPr/>
        </p:nvSpPr>
        <p:spPr>
          <a:xfrm>
            <a:off x="5074920" y="2907792"/>
            <a:ext cx="7772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lnSpc>
                <a:spcPct val="100000"/>
              </a:lnSpc>
              <a:buNone/>
            </a:pPr>
            <a:r>
              <a:rPr lang="en-US" sz="1400" dirty="0">
                <a:solidFill>
                  <a:srgbClr val="1E276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FD, [2]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548640" y="3493008"/>
            <a:ext cx="5440680" cy="530352"/>
          </a:xfrm>
          <a:prstGeom prst="roundRect">
            <a:avLst>
              <a:gd name="adj" fmla="val 10345"/>
            </a:avLst>
          </a:prstGeom>
          <a:solidFill>
            <a:srgbClr val="FFFFFF"/>
          </a:solidFill>
          <a:ln/>
        </p:spPr>
        <p:txBody>
          <a:bodyPr/>
          <a:lstStyle/>
          <a:p>
            <a:endParaRPr lang="ru-RU"/>
          </a:p>
        </p:txBody>
      </p:sp>
      <p:sp>
        <p:nvSpPr>
          <p:cNvPr id="17" name="Text 15"/>
          <p:cNvSpPr txBox="1"/>
          <p:nvPr/>
        </p:nvSpPr>
        <p:spPr>
          <a:xfrm>
            <a:off x="713232" y="3493008"/>
            <a:ext cx="26060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600" b="1" dirty="0">
                <a:solidFill>
                  <a:srgbClr val="1E276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Imtiyoz tayinlash / bekor qilish</a:t>
            </a:r>
            <a:endParaRPr lang="en-US" sz="1600" dirty="0"/>
          </a:p>
        </p:txBody>
      </p:sp>
      <p:sp>
        <p:nvSpPr>
          <p:cNvPr id="18" name="Text 16"/>
          <p:cNvSpPr txBox="1"/>
          <p:nvPr/>
        </p:nvSpPr>
        <p:spPr>
          <a:xfrm>
            <a:off x="3383280" y="3493008"/>
            <a:ext cx="16916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400" dirty="0">
                <a:solidFill>
                  <a:srgbClr val="5B627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grant / revoke</a:t>
            </a:r>
            <a:endParaRPr lang="en-US" sz="1400" dirty="0"/>
          </a:p>
        </p:txBody>
      </p:sp>
      <p:sp>
        <p:nvSpPr>
          <p:cNvPr id="19" name="Text 17"/>
          <p:cNvSpPr txBox="1"/>
          <p:nvPr/>
        </p:nvSpPr>
        <p:spPr>
          <a:xfrm>
            <a:off x="5074920" y="3493008"/>
            <a:ext cx="7772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lnSpc>
                <a:spcPct val="100000"/>
              </a:lnSpc>
              <a:buNone/>
            </a:pPr>
            <a:r>
              <a:rPr lang="en-US" sz="1400" dirty="0">
                <a:solidFill>
                  <a:srgbClr val="1E276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[1], [2]</a:t>
            </a:r>
            <a:endParaRPr lang="en-US" sz="1400" dirty="0"/>
          </a:p>
        </p:txBody>
      </p:sp>
      <p:sp>
        <p:nvSpPr>
          <p:cNvPr id="20" name="Shape 18"/>
          <p:cNvSpPr/>
          <p:nvPr/>
        </p:nvSpPr>
        <p:spPr>
          <a:xfrm>
            <a:off x="548640" y="4078224"/>
            <a:ext cx="5440680" cy="530352"/>
          </a:xfrm>
          <a:prstGeom prst="roundRect">
            <a:avLst>
              <a:gd name="adj" fmla="val 10345"/>
            </a:avLst>
          </a:prstGeom>
          <a:solidFill>
            <a:srgbClr val="EEF2FB"/>
          </a:solidFill>
          <a:ln/>
        </p:spPr>
        <p:txBody>
          <a:bodyPr/>
          <a:lstStyle/>
          <a:p>
            <a:endParaRPr lang="ru-RU"/>
          </a:p>
        </p:txBody>
      </p:sp>
      <p:sp>
        <p:nvSpPr>
          <p:cNvPr id="21" name="Text 19"/>
          <p:cNvSpPr txBox="1"/>
          <p:nvPr/>
        </p:nvSpPr>
        <p:spPr>
          <a:xfrm>
            <a:off x="713232" y="4078224"/>
            <a:ext cx="26060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600" b="1" dirty="0">
                <a:solidFill>
                  <a:srgbClr val="1E276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Ro'yxatga olish</a:t>
            </a:r>
            <a:endParaRPr lang="en-US" sz="1600" dirty="0"/>
          </a:p>
        </p:txBody>
      </p:sp>
      <p:sp>
        <p:nvSpPr>
          <p:cNvPr id="22" name="Text 20"/>
          <p:cNvSpPr txBox="1"/>
          <p:nvPr/>
        </p:nvSpPr>
        <p:spPr>
          <a:xfrm>
            <a:off x="3383280" y="4078224"/>
            <a:ext cx="16916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400" dirty="0">
                <a:solidFill>
                  <a:srgbClr val="5B627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registration</a:t>
            </a:r>
            <a:endParaRPr lang="en-US" sz="1400" dirty="0"/>
          </a:p>
        </p:txBody>
      </p:sp>
      <p:sp>
        <p:nvSpPr>
          <p:cNvPr id="23" name="Text 21"/>
          <p:cNvSpPr txBox="1"/>
          <p:nvPr/>
        </p:nvSpPr>
        <p:spPr>
          <a:xfrm>
            <a:off x="5074920" y="4078224"/>
            <a:ext cx="7772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lnSpc>
                <a:spcPct val="100000"/>
              </a:lnSpc>
              <a:buNone/>
            </a:pPr>
            <a:r>
              <a:rPr lang="en-US" sz="1400" dirty="0">
                <a:solidFill>
                  <a:srgbClr val="1E276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[2]</a:t>
            </a:r>
            <a:endParaRPr lang="en-US" sz="1400" dirty="0"/>
          </a:p>
        </p:txBody>
      </p:sp>
      <p:sp>
        <p:nvSpPr>
          <p:cNvPr id="24" name="Shape 22"/>
          <p:cNvSpPr/>
          <p:nvPr/>
        </p:nvSpPr>
        <p:spPr>
          <a:xfrm>
            <a:off x="548640" y="4663440"/>
            <a:ext cx="5440680" cy="530352"/>
          </a:xfrm>
          <a:prstGeom prst="roundRect">
            <a:avLst>
              <a:gd name="adj" fmla="val 10345"/>
            </a:avLst>
          </a:prstGeom>
          <a:solidFill>
            <a:srgbClr val="FFFFFF"/>
          </a:solidFill>
          <a:ln/>
        </p:spPr>
        <p:txBody>
          <a:bodyPr/>
          <a:lstStyle/>
          <a:p>
            <a:endParaRPr lang="ru-RU"/>
          </a:p>
        </p:txBody>
      </p:sp>
      <p:sp>
        <p:nvSpPr>
          <p:cNvPr id="25" name="Text 23"/>
          <p:cNvSpPr txBox="1"/>
          <p:nvPr/>
        </p:nvSpPr>
        <p:spPr>
          <a:xfrm>
            <a:off x="713232" y="4663440"/>
            <a:ext cx="26060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600" b="1" dirty="0">
                <a:solidFill>
                  <a:srgbClr val="1E276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Blokirovka qilish</a:t>
            </a:r>
            <a:endParaRPr lang="en-US" sz="1600" dirty="0"/>
          </a:p>
        </p:txBody>
      </p:sp>
      <p:sp>
        <p:nvSpPr>
          <p:cNvPr id="26" name="Text 24"/>
          <p:cNvSpPr txBox="1"/>
          <p:nvPr/>
        </p:nvSpPr>
        <p:spPr>
          <a:xfrm>
            <a:off x="3383280" y="4663440"/>
            <a:ext cx="16916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400" dirty="0">
                <a:solidFill>
                  <a:srgbClr val="5B627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disable, lock</a:t>
            </a:r>
            <a:endParaRPr lang="en-US" sz="1400" dirty="0"/>
          </a:p>
        </p:txBody>
      </p:sp>
      <p:sp>
        <p:nvSpPr>
          <p:cNvPr id="27" name="Text 25"/>
          <p:cNvSpPr txBox="1"/>
          <p:nvPr/>
        </p:nvSpPr>
        <p:spPr>
          <a:xfrm>
            <a:off x="5074920" y="4663440"/>
            <a:ext cx="7772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lnSpc>
                <a:spcPct val="100000"/>
              </a:lnSpc>
              <a:buNone/>
            </a:pPr>
            <a:r>
              <a:rPr lang="en-US" sz="1400" dirty="0">
                <a:solidFill>
                  <a:srgbClr val="1E276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[1], [2]</a:t>
            </a:r>
            <a:endParaRPr lang="en-US" sz="1400" dirty="0"/>
          </a:p>
        </p:txBody>
      </p:sp>
      <p:sp>
        <p:nvSpPr>
          <p:cNvPr id="28" name="Shape 26"/>
          <p:cNvSpPr/>
          <p:nvPr/>
        </p:nvSpPr>
        <p:spPr>
          <a:xfrm>
            <a:off x="548640" y="5248656"/>
            <a:ext cx="5440680" cy="530352"/>
          </a:xfrm>
          <a:prstGeom prst="roundRect">
            <a:avLst>
              <a:gd name="adj" fmla="val 10345"/>
            </a:avLst>
          </a:prstGeom>
          <a:solidFill>
            <a:srgbClr val="EEF2FB"/>
          </a:solidFill>
          <a:ln/>
        </p:spPr>
        <p:txBody>
          <a:bodyPr/>
          <a:lstStyle/>
          <a:p>
            <a:endParaRPr lang="ru-RU"/>
          </a:p>
        </p:txBody>
      </p:sp>
      <p:sp>
        <p:nvSpPr>
          <p:cNvPr id="29" name="Text 27"/>
          <p:cNvSpPr txBox="1"/>
          <p:nvPr/>
        </p:nvSpPr>
        <p:spPr>
          <a:xfrm>
            <a:off x="713232" y="5248656"/>
            <a:ext cx="26060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600" b="1" dirty="0">
                <a:solidFill>
                  <a:srgbClr val="1E276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Seans</a:t>
            </a:r>
            <a:endParaRPr lang="en-US" sz="1600" dirty="0"/>
          </a:p>
        </p:txBody>
      </p:sp>
      <p:sp>
        <p:nvSpPr>
          <p:cNvPr id="30" name="Text 28"/>
          <p:cNvSpPr txBox="1"/>
          <p:nvPr/>
        </p:nvSpPr>
        <p:spPr>
          <a:xfrm>
            <a:off x="3383280" y="5248656"/>
            <a:ext cx="16916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400" dirty="0">
                <a:solidFill>
                  <a:srgbClr val="5B627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session</a:t>
            </a:r>
            <a:endParaRPr lang="en-US" sz="1400" dirty="0"/>
          </a:p>
        </p:txBody>
      </p:sp>
      <p:sp>
        <p:nvSpPr>
          <p:cNvPr id="31" name="Text 29"/>
          <p:cNvSpPr txBox="1"/>
          <p:nvPr/>
        </p:nvSpPr>
        <p:spPr>
          <a:xfrm>
            <a:off x="5074920" y="5248656"/>
            <a:ext cx="7772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lnSpc>
                <a:spcPct val="100000"/>
              </a:lnSpc>
              <a:buNone/>
            </a:pPr>
            <a:r>
              <a:rPr lang="en-US" sz="1400" dirty="0">
                <a:solidFill>
                  <a:srgbClr val="1E276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[1]–[4]</a:t>
            </a:r>
            <a:endParaRPr lang="en-US" sz="1400" dirty="0"/>
          </a:p>
        </p:txBody>
      </p:sp>
      <p:sp>
        <p:nvSpPr>
          <p:cNvPr id="32" name="Shape 30"/>
          <p:cNvSpPr/>
          <p:nvPr/>
        </p:nvSpPr>
        <p:spPr>
          <a:xfrm>
            <a:off x="6172200" y="1737360"/>
            <a:ext cx="5440680" cy="530352"/>
          </a:xfrm>
          <a:prstGeom prst="roundRect">
            <a:avLst>
              <a:gd name="adj" fmla="val 10345"/>
            </a:avLst>
          </a:prstGeom>
          <a:solidFill>
            <a:srgbClr val="FFFFFF"/>
          </a:solidFill>
          <a:ln/>
        </p:spPr>
        <p:txBody>
          <a:bodyPr/>
          <a:lstStyle/>
          <a:p>
            <a:endParaRPr lang="ru-RU"/>
          </a:p>
        </p:txBody>
      </p:sp>
      <p:sp>
        <p:nvSpPr>
          <p:cNvPr id="33" name="Text 31"/>
          <p:cNvSpPr txBox="1"/>
          <p:nvPr/>
        </p:nvSpPr>
        <p:spPr>
          <a:xfrm>
            <a:off x="6336792" y="1737360"/>
            <a:ext cx="26060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600" b="1" dirty="0">
                <a:solidFill>
                  <a:srgbClr val="1E276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Ma'mur</a:t>
            </a:r>
            <a:endParaRPr lang="en-US" sz="1600" dirty="0"/>
          </a:p>
        </p:txBody>
      </p:sp>
      <p:sp>
        <p:nvSpPr>
          <p:cNvPr id="34" name="Text 32"/>
          <p:cNvSpPr txBox="1"/>
          <p:nvPr/>
        </p:nvSpPr>
        <p:spPr>
          <a:xfrm>
            <a:off x="9006840" y="1737360"/>
            <a:ext cx="16916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400" dirty="0">
                <a:solidFill>
                  <a:srgbClr val="5B627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administrator</a:t>
            </a:r>
            <a:endParaRPr lang="en-US" sz="1400" dirty="0"/>
          </a:p>
        </p:txBody>
      </p:sp>
      <p:sp>
        <p:nvSpPr>
          <p:cNvPr id="35" name="Text 33"/>
          <p:cNvSpPr txBox="1"/>
          <p:nvPr/>
        </p:nvSpPr>
        <p:spPr>
          <a:xfrm>
            <a:off x="10698480" y="1737360"/>
            <a:ext cx="7772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lnSpc>
                <a:spcPct val="100000"/>
              </a:lnSpc>
              <a:buNone/>
            </a:pPr>
            <a:r>
              <a:rPr lang="en-US" sz="1400" dirty="0">
                <a:solidFill>
                  <a:srgbClr val="1E276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[1], [2]</a:t>
            </a:r>
            <a:endParaRPr lang="en-US" sz="1400" dirty="0"/>
          </a:p>
        </p:txBody>
      </p:sp>
      <p:sp>
        <p:nvSpPr>
          <p:cNvPr id="36" name="Shape 34"/>
          <p:cNvSpPr/>
          <p:nvPr/>
        </p:nvSpPr>
        <p:spPr>
          <a:xfrm>
            <a:off x="6172200" y="2322576"/>
            <a:ext cx="5440680" cy="530352"/>
          </a:xfrm>
          <a:prstGeom prst="roundRect">
            <a:avLst>
              <a:gd name="adj" fmla="val 10345"/>
            </a:avLst>
          </a:prstGeom>
          <a:solidFill>
            <a:srgbClr val="EEF2FB"/>
          </a:solidFill>
          <a:ln/>
        </p:spPr>
        <p:txBody>
          <a:bodyPr/>
          <a:lstStyle/>
          <a:p>
            <a:endParaRPr lang="ru-RU"/>
          </a:p>
        </p:txBody>
      </p:sp>
      <p:sp>
        <p:nvSpPr>
          <p:cNvPr id="37" name="Text 35"/>
          <p:cNvSpPr txBox="1"/>
          <p:nvPr/>
        </p:nvSpPr>
        <p:spPr>
          <a:xfrm>
            <a:off x="6336792" y="2322576"/>
            <a:ext cx="26060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600" b="1" dirty="0">
                <a:solidFill>
                  <a:srgbClr val="1E276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Hisobdorlik</a:t>
            </a:r>
            <a:endParaRPr lang="en-US" sz="1600" dirty="0"/>
          </a:p>
        </p:txBody>
      </p:sp>
      <p:sp>
        <p:nvSpPr>
          <p:cNvPr id="38" name="Text 36"/>
          <p:cNvSpPr txBox="1"/>
          <p:nvPr/>
        </p:nvSpPr>
        <p:spPr>
          <a:xfrm>
            <a:off x="9006840" y="2322576"/>
            <a:ext cx="16916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400" dirty="0">
                <a:solidFill>
                  <a:srgbClr val="5B627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accountability</a:t>
            </a:r>
            <a:endParaRPr lang="en-US" sz="1400" dirty="0"/>
          </a:p>
        </p:txBody>
      </p:sp>
      <p:sp>
        <p:nvSpPr>
          <p:cNvPr id="39" name="Text 37"/>
          <p:cNvSpPr txBox="1"/>
          <p:nvPr/>
        </p:nvSpPr>
        <p:spPr>
          <a:xfrm>
            <a:off x="10698480" y="2322576"/>
            <a:ext cx="7772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lnSpc>
                <a:spcPct val="100000"/>
              </a:lnSpc>
              <a:buNone/>
            </a:pPr>
            <a:r>
              <a:rPr lang="en-US" sz="1400" dirty="0">
                <a:solidFill>
                  <a:srgbClr val="1E276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[2]</a:t>
            </a:r>
            <a:endParaRPr lang="en-US" sz="1400" dirty="0"/>
          </a:p>
        </p:txBody>
      </p:sp>
      <p:sp>
        <p:nvSpPr>
          <p:cNvPr id="40" name="Shape 38"/>
          <p:cNvSpPr/>
          <p:nvPr/>
        </p:nvSpPr>
        <p:spPr>
          <a:xfrm>
            <a:off x="6172200" y="2907792"/>
            <a:ext cx="5440680" cy="530352"/>
          </a:xfrm>
          <a:prstGeom prst="roundRect">
            <a:avLst>
              <a:gd name="adj" fmla="val 10345"/>
            </a:avLst>
          </a:prstGeom>
          <a:solidFill>
            <a:srgbClr val="FFFFFF"/>
          </a:solidFill>
          <a:ln/>
        </p:spPr>
        <p:txBody>
          <a:bodyPr/>
          <a:lstStyle/>
          <a:p>
            <a:endParaRPr lang="ru-RU"/>
          </a:p>
        </p:txBody>
      </p:sp>
      <p:sp>
        <p:nvSpPr>
          <p:cNvPr id="41" name="Text 39"/>
          <p:cNvSpPr txBox="1"/>
          <p:nvPr/>
        </p:nvSpPr>
        <p:spPr>
          <a:xfrm>
            <a:off x="6336792" y="2907792"/>
            <a:ext cx="26060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600" b="1" dirty="0">
                <a:solidFill>
                  <a:srgbClr val="1E276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Eng kam imtiyoz tamoyili</a:t>
            </a:r>
            <a:endParaRPr lang="en-US" sz="1600" dirty="0"/>
          </a:p>
        </p:txBody>
      </p:sp>
      <p:sp>
        <p:nvSpPr>
          <p:cNvPr id="42" name="Text 40"/>
          <p:cNvSpPr txBox="1"/>
          <p:nvPr/>
        </p:nvSpPr>
        <p:spPr>
          <a:xfrm>
            <a:off x="9006840" y="2907792"/>
            <a:ext cx="16916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400" dirty="0">
                <a:solidFill>
                  <a:srgbClr val="5B627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least privilege</a:t>
            </a:r>
            <a:endParaRPr lang="en-US" sz="1400" dirty="0"/>
          </a:p>
        </p:txBody>
      </p:sp>
      <p:sp>
        <p:nvSpPr>
          <p:cNvPr id="43" name="Text 41"/>
          <p:cNvSpPr txBox="1"/>
          <p:nvPr/>
        </p:nvSpPr>
        <p:spPr>
          <a:xfrm>
            <a:off x="10698480" y="2907792"/>
            <a:ext cx="7772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lnSpc>
                <a:spcPct val="100000"/>
              </a:lnSpc>
              <a:buNone/>
            </a:pPr>
            <a:r>
              <a:rPr lang="en-US" sz="1400" dirty="0">
                <a:solidFill>
                  <a:srgbClr val="1E276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[1]</a:t>
            </a:r>
            <a:endParaRPr lang="en-US" sz="1400" dirty="0"/>
          </a:p>
        </p:txBody>
      </p:sp>
      <p:sp>
        <p:nvSpPr>
          <p:cNvPr id="44" name="Shape 42"/>
          <p:cNvSpPr/>
          <p:nvPr/>
        </p:nvSpPr>
        <p:spPr>
          <a:xfrm>
            <a:off x="6172200" y="3493008"/>
            <a:ext cx="5440680" cy="530352"/>
          </a:xfrm>
          <a:prstGeom prst="roundRect">
            <a:avLst>
              <a:gd name="adj" fmla="val 10345"/>
            </a:avLst>
          </a:prstGeom>
          <a:solidFill>
            <a:srgbClr val="EEF2FB"/>
          </a:solidFill>
          <a:ln/>
        </p:spPr>
        <p:txBody>
          <a:bodyPr/>
          <a:lstStyle/>
          <a:p>
            <a:endParaRPr lang="ru-RU"/>
          </a:p>
        </p:txBody>
      </p:sp>
      <p:sp>
        <p:nvSpPr>
          <p:cNvPr id="45" name="Text 43"/>
          <p:cNvSpPr txBox="1"/>
          <p:nvPr/>
        </p:nvSpPr>
        <p:spPr>
          <a:xfrm>
            <a:off x="6336792" y="3493008"/>
            <a:ext cx="26060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600" b="1" dirty="0">
                <a:solidFill>
                  <a:srgbClr val="1E276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Vazifalarni ajratish</a:t>
            </a:r>
            <a:endParaRPr lang="en-US" sz="1600" dirty="0"/>
          </a:p>
        </p:txBody>
      </p:sp>
      <p:sp>
        <p:nvSpPr>
          <p:cNvPr id="46" name="Text 44"/>
          <p:cNvSpPr txBox="1"/>
          <p:nvPr/>
        </p:nvSpPr>
        <p:spPr>
          <a:xfrm>
            <a:off x="9006840" y="3493008"/>
            <a:ext cx="16916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400" dirty="0">
                <a:solidFill>
                  <a:srgbClr val="5B627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separation of duties</a:t>
            </a:r>
            <a:endParaRPr lang="en-US" sz="1400" dirty="0"/>
          </a:p>
        </p:txBody>
      </p:sp>
      <p:sp>
        <p:nvSpPr>
          <p:cNvPr id="47" name="Text 45"/>
          <p:cNvSpPr txBox="1"/>
          <p:nvPr/>
        </p:nvSpPr>
        <p:spPr>
          <a:xfrm>
            <a:off x="10698480" y="3493008"/>
            <a:ext cx="7772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lnSpc>
                <a:spcPct val="100000"/>
              </a:lnSpc>
              <a:buNone/>
            </a:pPr>
            <a:r>
              <a:rPr lang="en-US" sz="1400" dirty="0">
                <a:solidFill>
                  <a:srgbClr val="1E276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FD, [1]</a:t>
            </a:r>
            <a:endParaRPr lang="en-US" sz="1400" dirty="0"/>
          </a:p>
        </p:txBody>
      </p:sp>
      <p:sp>
        <p:nvSpPr>
          <p:cNvPr id="48" name="Shape 46"/>
          <p:cNvSpPr/>
          <p:nvPr/>
        </p:nvSpPr>
        <p:spPr>
          <a:xfrm>
            <a:off x="6172200" y="4078224"/>
            <a:ext cx="5440680" cy="530352"/>
          </a:xfrm>
          <a:prstGeom prst="roundRect">
            <a:avLst>
              <a:gd name="adj" fmla="val 10345"/>
            </a:avLst>
          </a:prstGeom>
          <a:solidFill>
            <a:srgbClr val="FFFFFF"/>
          </a:solidFill>
          <a:ln/>
        </p:spPr>
        <p:txBody>
          <a:bodyPr/>
          <a:lstStyle/>
          <a:p>
            <a:endParaRPr lang="ru-RU"/>
          </a:p>
        </p:txBody>
      </p:sp>
      <p:sp>
        <p:nvSpPr>
          <p:cNvPr id="49" name="Text 47"/>
          <p:cNvSpPr txBox="1"/>
          <p:nvPr/>
        </p:nvSpPr>
        <p:spPr>
          <a:xfrm>
            <a:off x="6336792" y="4078224"/>
            <a:ext cx="26060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600" b="1" dirty="0">
                <a:solidFill>
                  <a:srgbClr val="1E276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Rolli model</a:t>
            </a:r>
            <a:endParaRPr lang="en-US" sz="1600" dirty="0"/>
          </a:p>
        </p:txBody>
      </p:sp>
      <p:sp>
        <p:nvSpPr>
          <p:cNvPr id="50" name="Text 48"/>
          <p:cNvSpPr txBox="1"/>
          <p:nvPr/>
        </p:nvSpPr>
        <p:spPr>
          <a:xfrm>
            <a:off x="9006840" y="4078224"/>
            <a:ext cx="16916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400" dirty="0">
                <a:solidFill>
                  <a:srgbClr val="5B627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role-based model</a:t>
            </a:r>
            <a:endParaRPr lang="en-US" sz="1400" dirty="0"/>
          </a:p>
        </p:txBody>
      </p:sp>
      <p:sp>
        <p:nvSpPr>
          <p:cNvPr id="51" name="Text 49"/>
          <p:cNvSpPr txBox="1"/>
          <p:nvPr/>
        </p:nvSpPr>
        <p:spPr>
          <a:xfrm>
            <a:off x="10698480" y="4078224"/>
            <a:ext cx="7772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lnSpc>
                <a:spcPct val="100000"/>
              </a:lnSpc>
              <a:buNone/>
            </a:pPr>
            <a:r>
              <a:rPr lang="en-US" sz="1400" dirty="0">
                <a:solidFill>
                  <a:srgbClr val="1E276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[1]</a:t>
            </a:r>
            <a:endParaRPr lang="en-US" sz="1400" dirty="0"/>
          </a:p>
        </p:txBody>
      </p:sp>
      <p:sp>
        <p:nvSpPr>
          <p:cNvPr id="52" name="Shape 50"/>
          <p:cNvSpPr/>
          <p:nvPr/>
        </p:nvSpPr>
        <p:spPr>
          <a:xfrm>
            <a:off x="6172200" y="4663440"/>
            <a:ext cx="5440680" cy="530352"/>
          </a:xfrm>
          <a:prstGeom prst="roundRect">
            <a:avLst>
              <a:gd name="adj" fmla="val 10345"/>
            </a:avLst>
          </a:prstGeom>
          <a:solidFill>
            <a:srgbClr val="EEF2FB"/>
          </a:solidFill>
          <a:ln/>
        </p:spPr>
        <p:txBody>
          <a:bodyPr/>
          <a:lstStyle/>
          <a:p>
            <a:endParaRPr lang="ru-RU"/>
          </a:p>
        </p:txBody>
      </p:sp>
      <p:sp>
        <p:nvSpPr>
          <p:cNvPr id="53" name="Text 51"/>
          <p:cNvSpPr txBox="1"/>
          <p:nvPr/>
        </p:nvSpPr>
        <p:spPr>
          <a:xfrm>
            <a:off x="6336792" y="4663440"/>
            <a:ext cx="26060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600" b="1" dirty="0">
                <a:solidFill>
                  <a:srgbClr val="1E276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Qayta sertifikatlash</a:t>
            </a:r>
            <a:endParaRPr lang="en-US" sz="1600" dirty="0"/>
          </a:p>
        </p:txBody>
      </p:sp>
      <p:sp>
        <p:nvSpPr>
          <p:cNvPr id="54" name="Text 52"/>
          <p:cNvSpPr txBox="1"/>
          <p:nvPr/>
        </p:nvSpPr>
        <p:spPr>
          <a:xfrm>
            <a:off x="9006840" y="4663440"/>
            <a:ext cx="16916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400" dirty="0">
                <a:solidFill>
                  <a:srgbClr val="5B627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access review</a:t>
            </a:r>
            <a:endParaRPr lang="en-US" sz="1400" dirty="0"/>
          </a:p>
        </p:txBody>
      </p:sp>
      <p:sp>
        <p:nvSpPr>
          <p:cNvPr id="55" name="Text 53"/>
          <p:cNvSpPr txBox="1"/>
          <p:nvPr/>
        </p:nvSpPr>
        <p:spPr>
          <a:xfrm>
            <a:off x="10698480" y="4663440"/>
            <a:ext cx="7772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lnSpc>
                <a:spcPct val="100000"/>
              </a:lnSpc>
              <a:buNone/>
            </a:pPr>
            <a:r>
              <a:rPr lang="en-US" sz="1400" dirty="0">
                <a:solidFill>
                  <a:srgbClr val="1E276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FD</a:t>
            </a:r>
            <a:endParaRPr lang="en-US" sz="1400" dirty="0"/>
          </a:p>
        </p:txBody>
      </p:sp>
      <p:sp>
        <p:nvSpPr>
          <p:cNvPr id="56" name="Shape 54"/>
          <p:cNvSpPr/>
          <p:nvPr/>
        </p:nvSpPr>
        <p:spPr>
          <a:xfrm>
            <a:off x="6172200" y="5248656"/>
            <a:ext cx="5440680" cy="530352"/>
          </a:xfrm>
          <a:prstGeom prst="roundRect">
            <a:avLst>
              <a:gd name="adj" fmla="val 10345"/>
            </a:avLst>
          </a:prstGeom>
          <a:solidFill>
            <a:srgbClr val="FFFFFF"/>
          </a:solidFill>
          <a:ln/>
        </p:spPr>
        <p:txBody>
          <a:bodyPr/>
          <a:lstStyle/>
          <a:p>
            <a:endParaRPr lang="ru-RU"/>
          </a:p>
        </p:txBody>
      </p:sp>
      <p:sp>
        <p:nvSpPr>
          <p:cNvPr id="57" name="Text 55"/>
          <p:cNvSpPr txBox="1"/>
          <p:nvPr/>
        </p:nvSpPr>
        <p:spPr>
          <a:xfrm>
            <a:off x="6336792" y="5248656"/>
            <a:ext cx="26060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600" b="1" dirty="0">
                <a:solidFill>
                  <a:srgbClr val="1E276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Ilova qayd yozuvi</a:t>
            </a:r>
            <a:endParaRPr lang="en-US" sz="1600" dirty="0"/>
          </a:p>
        </p:txBody>
      </p:sp>
      <p:sp>
        <p:nvSpPr>
          <p:cNvPr id="58" name="Text 56"/>
          <p:cNvSpPr txBox="1"/>
          <p:nvPr/>
        </p:nvSpPr>
        <p:spPr>
          <a:xfrm>
            <a:off x="9006840" y="5248656"/>
            <a:ext cx="16916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400" dirty="0">
                <a:solidFill>
                  <a:srgbClr val="5B627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service account</a:t>
            </a:r>
            <a:endParaRPr lang="en-US" sz="1400" dirty="0"/>
          </a:p>
        </p:txBody>
      </p:sp>
      <p:sp>
        <p:nvSpPr>
          <p:cNvPr id="59" name="Text 57"/>
          <p:cNvSpPr txBox="1"/>
          <p:nvPr/>
        </p:nvSpPr>
        <p:spPr>
          <a:xfrm>
            <a:off x="10698480" y="5248656"/>
            <a:ext cx="7772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lnSpc>
                <a:spcPct val="100000"/>
              </a:lnSpc>
              <a:buNone/>
            </a:pPr>
            <a:r>
              <a:rPr lang="en-US" sz="1400" dirty="0">
                <a:solidFill>
                  <a:srgbClr val="1E276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[1]</a:t>
            </a:r>
            <a:endParaRPr lang="en-US" sz="1400" dirty="0"/>
          </a:p>
        </p:txBody>
      </p:sp>
      <p:sp>
        <p:nvSpPr>
          <p:cNvPr id="60" name="Text 58"/>
          <p:cNvSpPr txBox="1"/>
          <p:nvPr/>
        </p:nvSpPr>
        <p:spPr>
          <a:xfrm>
            <a:off x="548640" y="5897880"/>
            <a:ext cx="11064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400" dirty="0">
                <a:solidFill>
                  <a:srgbClr val="5B627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FD — fan dasturi (FOB1506); [1]–[4] — keyingi slayddagi o'zbek tilidagi adabiyotlar. Provisioning, deprovisioning va IGA — fan dasturidagi asl atamalar sifatida saqlandi.</a:t>
            </a:r>
            <a:endParaRPr lang="en-US" sz="1400" dirty="0"/>
          </a:p>
        </p:txBody>
      </p:sp>
      <p:sp>
        <p:nvSpPr>
          <p:cNvPr id="61" name="Text 59"/>
          <p:cNvSpPr txBox="1"/>
          <p:nvPr/>
        </p:nvSpPr>
        <p:spPr>
          <a:xfrm>
            <a:off x="548640" y="649224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B627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Foydalanishlarni boshqarish  ·  2-ma'ruza</a:t>
            </a:r>
            <a:endParaRPr lang="en-US" sz="1100" dirty="0"/>
          </a:p>
        </p:txBody>
      </p:sp>
      <p:sp>
        <p:nvSpPr>
          <p:cNvPr id="62" name="Text 60"/>
          <p:cNvSpPr txBox="1"/>
          <p:nvPr/>
        </p:nvSpPr>
        <p:spPr>
          <a:xfrm>
            <a:off x="11155680" y="649224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5B627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30</a:t>
            </a:r>
            <a:endParaRPr lang="en-US" sz="1100" dirty="0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47472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kern="0" spc="220" dirty="0">
                <a:solidFill>
                  <a:srgbClr val="5B627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MANBALAR</a:t>
            </a:r>
            <a:endParaRPr lang="en-US" sz="16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731520"/>
            <a:ext cx="100584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95000"/>
              </a:lnSpc>
              <a:buNone/>
            </a:pPr>
            <a:r>
              <a:rPr lang="en-US" sz="3600" b="1" dirty="0">
                <a:solidFill>
                  <a:srgbClr val="1E276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Tavsiya etilgan adabiyotlar</a:t>
            </a:r>
            <a:endParaRPr lang="en-US" sz="3600" dirty="0"/>
          </a:p>
        </p:txBody>
      </p:sp>
      <p:sp>
        <p:nvSpPr>
          <p:cNvPr id="4" name="Shape 2"/>
          <p:cNvSpPr/>
          <p:nvPr/>
        </p:nvSpPr>
        <p:spPr>
          <a:xfrm>
            <a:off x="548640" y="1773936"/>
            <a:ext cx="566928" cy="566928"/>
          </a:xfrm>
          <a:prstGeom prst="roundRect">
            <a:avLst>
              <a:gd name="adj" fmla="val 12903"/>
            </a:avLst>
          </a:prstGeom>
          <a:solidFill>
            <a:srgbClr val="1E2761"/>
          </a:solidFill>
          <a:ln/>
        </p:spPr>
        <p:txBody>
          <a:bodyPr/>
          <a:lstStyle/>
          <a:p>
            <a:endParaRPr lang="ru-RU"/>
          </a:p>
        </p:txBody>
      </p:sp>
      <p:sp>
        <p:nvSpPr>
          <p:cNvPr id="5" name="Text 3"/>
          <p:cNvSpPr txBox="1"/>
          <p:nvPr/>
        </p:nvSpPr>
        <p:spPr>
          <a:xfrm>
            <a:off x="548640" y="1773936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400" b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[1]</a:t>
            </a:r>
            <a:endParaRPr lang="en-US" sz="1400" dirty="0"/>
          </a:p>
        </p:txBody>
      </p:sp>
      <p:sp>
        <p:nvSpPr>
          <p:cNvPr id="6" name="Text 4"/>
          <p:cNvSpPr txBox="1"/>
          <p:nvPr/>
        </p:nvSpPr>
        <p:spPr>
          <a:xfrm>
            <a:off x="1280160" y="1737360"/>
            <a:ext cx="10332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600" b="1" dirty="0">
                <a:solidFill>
                  <a:srgbClr val="1E276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S.K. Ganiev, A.A. Ganiev, Z.T. Xudoyqulov. Kiberxavfsizlik asoslari. — T.: «Iqtisod-moliya», 2021.</a:t>
            </a:r>
            <a:endParaRPr lang="en-US" sz="1600" dirty="0"/>
          </a:p>
        </p:txBody>
      </p:sp>
      <p:sp>
        <p:nvSpPr>
          <p:cNvPr id="7" name="Text 5"/>
          <p:cNvSpPr txBox="1"/>
          <p:nvPr/>
        </p:nvSpPr>
        <p:spPr>
          <a:xfrm>
            <a:off x="1280160" y="2103120"/>
            <a:ext cx="10332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400" dirty="0">
                <a:solidFill>
                  <a:srgbClr val="5B627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Foydalanishni boshqarish usullari, RBAC, eng kam imtiyoz tamoyili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548640" y="2532888"/>
            <a:ext cx="566928" cy="566928"/>
          </a:xfrm>
          <a:prstGeom prst="roundRect">
            <a:avLst>
              <a:gd name="adj" fmla="val 12903"/>
            </a:avLst>
          </a:prstGeom>
          <a:solidFill>
            <a:srgbClr val="1E2761"/>
          </a:solidFill>
          <a:ln/>
        </p:spPr>
        <p:txBody>
          <a:bodyPr/>
          <a:lstStyle/>
          <a:p>
            <a:endParaRPr lang="ru-RU"/>
          </a:p>
        </p:txBody>
      </p:sp>
      <p:sp>
        <p:nvSpPr>
          <p:cNvPr id="9" name="Text 7"/>
          <p:cNvSpPr txBox="1"/>
          <p:nvPr/>
        </p:nvSpPr>
        <p:spPr>
          <a:xfrm>
            <a:off x="548640" y="2532888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400" b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[2]</a:t>
            </a:r>
            <a:endParaRPr lang="en-US" sz="1400" dirty="0"/>
          </a:p>
        </p:txBody>
      </p:sp>
      <p:sp>
        <p:nvSpPr>
          <p:cNvPr id="10" name="Text 8"/>
          <p:cNvSpPr txBox="1"/>
          <p:nvPr/>
        </p:nvSpPr>
        <p:spPr>
          <a:xfrm>
            <a:off x="1280160" y="2496312"/>
            <a:ext cx="10332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600" b="1" dirty="0">
                <a:solidFill>
                  <a:srgbClr val="1E276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S.K. Ganiyev, A.A. Ganiyev, D.Y. Irgasheva. Ma'lumotlar bazasi xavfsizligi. — T.: «Fan va texnologiya», 2016.</a:t>
            </a:r>
            <a:endParaRPr lang="en-US" sz="1600" dirty="0"/>
          </a:p>
        </p:txBody>
      </p:sp>
      <p:sp>
        <p:nvSpPr>
          <p:cNvPr id="11" name="Text 9"/>
          <p:cNvSpPr txBox="1"/>
          <p:nvPr/>
        </p:nvSpPr>
        <p:spPr>
          <a:xfrm>
            <a:off x="1280160" y="2862072"/>
            <a:ext cx="10332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400" dirty="0">
                <a:solidFill>
                  <a:srgbClr val="5B627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Imtiyozlarni tayinlash va bekor qilish, hisobdorlik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548640" y="3291840"/>
            <a:ext cx="566928" cy="566928"/>
          </a:xfrm>
          <a:prstGeom prst="roundRect">
            <a:avLst>
              <a:gd name="adj" fmla="val 12903"/>
            </a:avLst>
          </a:prstGeom>
          <a:solidFill>
            <a:srgbClr val="1E2761"/>
          </a:solidFill>
          <a:ln/>
        </p:spPr>
        <p:txBody>
          <a:bodyPr/>
          <a:lstStyle/>
          <a:p>
            <a:endParaRPr lang="ru-RU"/>
          </a:p>
        </p:txBody>
      </p:sp>
      <p:sp>
        <p:nvSpPr>
          <p:cNvPr id="13" name="Text 11"/>
          <p:cNvSpPr txBox="1"/>
          <p:nvPr/>
        </p:nvSpPr>
        <p:spPr>
          <a:xfrm>
            <a:off x="548640" y="329184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400" b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[3]</a:t>
            </a:r>
            <a:endParaRPr lang="en-US" sz="1400" dirty="0"/>
          </a:p>
        </p:txBody>
      </p:sp>
      <p:sp>
        <p:nvSpPr>
          <p:cNvPr id="14" name="Text 12"/>
          <p:cNvSpPr txBox="1"/>
          <p:nvPr/>
        </p:nvSpPr>
        <p:spPr>
          <a:xfrm>
            <a:off x="1280160" y="3255264"/>
            <a:ext cx="10332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600" b="1" dirty="0">
                <a:solidFill>
                  <a:srgbClr val="1E276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X. Nigmatov, Q.S. Raxmanov va boshq. Axborot xavfsizligini boshqarishga kirish. — T., 2021.</a:t>
            </a:r>
            <a:endParaRPr lang="en-US" sz="1600" dirty="0"/>
          </a:p>
        </p:txBody>
      </p:sp>
      <p:sp>
        <p:nvSpPr>
          <p:cNvPr id="15" name="Text 13"/>
          <p:cNvSpPr txBox="1"/>
          <p:nvPr/>
        </p:nvSpPr>
        <p:spPr>
          <a:xfrm>
            <a:off x="1280160" y="3621024"/>
            <a:ext cx="10332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400" dirty="0">
                <a:solidFill>
                  <a:srgbClr val="5B627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ISO/IEC 27001 va xavfsizlikni boshqarish tizimi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548640" y="4050792"/>
            <a:ext cx="566928" cy="566928"/>
          </a:xfrm>
          <a:prstGeom prst="roundRect">
            <a:avLst>
              <a:gd name="adj" fmla="val 12903"/>
            </a:avLst>
          </a:prstGeom>
          <a:solidFill>
            <a:srgbClr val="1E2761"/>
          </a:solidFill>
          <a:ln/>
        </p:spPr>
        <p:txBody>
          <a:bodyPr/>
          <a:lstStyle/>
          <a:p>
            <a:endParaRPr lang="ru-RU"/>
          </a:p>
        </p:txBody>
      </p:sp>
      <p:sp>
        <p:nvSpPr>
          <p:cNvPr id="17" name="Text 15"/>
          <p:cNvSpPr txBox="1"/>
          <p:nvPr/>
        </p:nvSpPr>
        <p:spPr>
          <a:xfrm>
            <a:off x="548640" y="4050792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400" b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[4]</a:t>
            </a:r>
            <a:endParaRPr lang="en-US" sz="1400" dirty="0"/>
          </a:p>
        </p:txBody>
      </p:sp>
      <p:sp>
        <p:nvSpPr>
          <p:cNvPr id="18" name="Text 16"/>
          <p:cNvSpPr txBox="1"/>
          <p:nvPr/>
        </p:nvSpPr>
        <p:spPr>
          <a:xfrm>
            <a:off x="1280160" y="4014216"/>
            <a:ext cx="10332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600" b="1" dirty="0">
                <a:solidFill>
                  <a:srgbClr val="1E276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U.R. Xamdamov va boshq. Operatsion tizimlar. — T.: «Nihol print», 2021.</a:t>
            </a:r>
            <a:endParaRPr lang="en-US" sz="1600" dirty="0"/>
          </a:p>
        </p:txBody>
      </p:sp>
      <p:sp>
        <p:nvSpPr>
          <p:cNvPr id="19" name="Text 17"/>
          <p:cNvSpPr txBox="1"/>
          <p:nvPr/>
        </p:nvSpPr>
        <p:spPr>
          <a:xfrm>
            <a:off x="1280160" y="4379976"/>
            <a:ext cx="10332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400" dirty="0">
                <a:solidFill>
                  <a:srgbClr val="5B627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Audit jurnali, operatsion tizimda foydalanish huquqlari</a:t>
            </a:r>
            <a:endParaRPr lang="en-US" sz="1400" dirty="0"/>
          </a:p>
        </p:txBody>
      </p:sp>
      <p:sp>
        <p:nvSpPr>
          <p:cNvPr id="20" name="Shape 18"/>
          <p:cNvSpPr/>
          <p:nvPr/>
        </p:nvSpPr>
        <p:spPr>
          <a:xfrm>
            <a:off x="548640" y="4809744"/>
            <a:ext cx="566928" cy="566928"/>
          </a:xfrm>
          <a:prstGeom prst="roundRect">
            <a:avLst>
              <a:gd name="adj" fmla="val 12903"/>
            </a:avLst>
          </a:prstGeom>
          <a:solidFill>
            <a:srgbClr val="2A3778"/>
          </a:solidFill>
          <a:ln/>
        </p:spPr>
        <p:txBody>
          <a:bodyPr/>
          <a:lstStyle/>
          <a:p>
            <a:endParaRPr lang="ru-RU"/>
          </a:p>
        </p:txBody>
      </p:sp>
      <p:sp>
        <p:nvSpPr>
          <p:cNvPr id="21" name="Text 19"/>
          <p:cNvSpPr txBox="1"/>
          <p:nvPr/>
        </p:nvSpPr>
        <p:spPr>
          <a:xfrm>
            <a:off x="548640" y="4809744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400" b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[5]</a:t>
            </a:r>
            <a:endParaRPr lang="en-US" sz="1400" dirty="0"/>
          </a:p>
        </p:txBody>
      </p:sp>
      <p:sp>
        <p:nvSpPr>
          <p:cNvPr id="22" name="Text 20"/>
          <p:cNvSpPr txBox="1"/>
          <p:nvPr/>
        </p:nvSpPr>
        <p:spPr>
          <a:xfrm>
            <a:off x="1280160" y="4773168"/>
            <a:ext cx="10332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600" b="1" dirty="0">
                <a:solidFill>
                  <a:srgbClr val="1E276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M. Benantar. Access Control Systems: Security, Identity Management and Trust Models. — Springer, 2006.</a:t>
            </a:r>
            <a:endParaRPr lang="en-US" sz="1600" dirty="0"/>
          </a:p>
        </p:txBody>
      </p:sp>
      <p:sp>
        <p:nvSpPr>
          <p:cNvPr id="23" name="Text 21"/>
          <p:cNvSpPr txBox="1"/>
          <p:nvPr/>
        </p:nvSpPr>
        <p:spPr>
          <a:xfrm>
            <a:off x="1280160" y="5138928"/>
            <a:ext cx="10332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400" dirty="0">
                <a:solidFill>
                  <a:srgbClr val="5B627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Identifikatorlarni boshqarish boblari</a:t>
            </a:r>
            <a:endParaRPr lang="en-US" sz="1400" dirty="0"/>
          </a:p>
        </p:txBody>
      </p:sp>
      <p:sp>
        <p:nvSpPr>
          <p:cNvPr id="24" name="Shape 22"/>
          <p:cNvSpPr/>
          <p:nvPr/>
        </p:nvSpPr>
        <p:spPr>
          <a:xfrm>
            <a:off x="548640" y="5568696"/>
            <a:ext cx="566928" cy="566928"/>
          </a:xfrm>
          <a:prstGeom prst="roundRect">
            <a:avLst>
              <a:gd name="adj" fmla="val 12903"/>
            </a:avLst>
          </a:prstGeom>
          <a:solidFill>
            <a:srgbClr val="2A3778"/>
          </a:solidFill>
          <a:ln/>
        </p:spPr>
        <p:txBody>
          <a:bodyPr/>
          <a:lstStyle/>
          <a:p>
            <a:endParaRPr lang="ru-RU"/>
          </a:p>
        </p:txBody>
      </p:sp>
      <p:sp>
        <p:nvSpPr>
          <p:cNvPr id="25" name="Text 23"/>
          <p:cNvSpPr txBox="1"/>
          <p:nvPr/>
        </p:nvSpPr>
        <p:spPr>
          <a:xfrm>
            <a:off x="548640" y="5568696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400" b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[6]</a:t>
            </a:r>
            <a:endParaRPr lang="en-US" sz="1400" dirty="0"/>
          </a:p>
        </p:txBody>
      </p:sp>
      <p:sp>
        <p:nvSpPr>
          <p:cNvPr id="26" name="Text 24"/>
          <p:cNvSpPr txBox="1"/>
          <p:nvPr/>
        </p:nvSpPr>
        <p:spPr>
          <a:xfrm>
            <a:off x="1280160" y="5532120"/>
            <a:ext cx="10332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600" b="1" dirty="0">
                <a:solidFill>
                  <a:srgbClr val="1E276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NIST SP 800-53 Rev. 5 · ISO/IEC 27001:2022 · RFC 7643/7644 (SCIM 2.0)</a:t>
            </a:r>
            <a:endParaRPr lang="en-US" sz="1600" dirty="0"/>
          </a:p>
        </p:txBody>
      </p:sp>
      <p:sp>
        <p:nvSpPr>
          <p:cNvPr id="27" name="Text 25"/>
          <p:cNvSpPr txBox="1"/>
          <p:nvPr/>
        </p:nvSpPr>
        <p:spPr>
          <a:xfrm>
            <a:off x="1280160" y="5897880"/>
            <a:ext cx="10332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400" dirty="0">
                <a:solidFill>
                  <a:srgbClr val="5B627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Standartlar: AC-2, AC-6, A.5.16, A.5.18</a:t>
            </a:r>
            <a:endParaRPr lang="en-US" sz="1400" dirty="0"/>
          </a:p>
        </p:txBody>
      </p:sp>
      <p:sp>
        <p:nvSpPr>
          <p:cNvPr id="28" name="Text 26"/>
          <p:cNvSpPr txBox="1"/>
          <p:nvPr/>
        </p:nvSpPr>
        <p:spPr>
          <a:xfrm>
            <a:off x="548640" y="649224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B627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Foydalanishlarni boshqarish  ·  2-ma'ruza</a:t>
            </a:r>
            <a:endParaRPr lang="en-US" sz="1100" dirty="0"/>
          </a:p>
        </p:txBody>
      </p:sp>
      <p:sp>
        <p:nvSpPr>
          <p:cNvPr id="29" name="Text 27"/>
          <p:cNvSpPr txBox="1"/>
          <p:nvPr/>
        </p:nvSpPr>
        <p:spPr>
          <a:xfrm>
            <a:off x="11155680" y="649224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5B627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31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Стандартная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79</TotalTime>
  <Words>3681</Words>
  <Application>Microsoft Office PowerPoint</Application>
  <PresentationFormat>Произвольный</PresentationFormat>
  <Paragraphs>619</Paragraphs>
  <Slides>31</Slides>
  <Notes>31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3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31</vt:i4>
      </vt:variant>
    </vt:vector>
  </HeadingPairs>
  <TitlesOfParts>
    <vt:vector size="35" baseType="lpstr">
      <vt:lpstr>Arial</vt:lpstr>
      <vt:lpstr>Courier New</vt:lpstr>
      <vt:lpstr>Times New Roman</vt:lpstr>
      <vt:lpstr>Office Theme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2-ma'ruza. Identifikatorlarning hayotiy sikli va IGA</dc:title>
  <dc:subject>PptxGenJS Presentation</dc:subject>
  <dc:creator>PptxGenJS</dc:creator>
  <cp:lastModifiedBy>Obidjon Bozorov</cp:lastModifiedBy>
  <cp:revision>1</cp:revision>
  <dcterms:created xsi:type="dcterms:W3CDTF">2026-09-23T04:46:24Z</dcterms:created>
  <dcterms:modified xsi:type="dcterms:W3CDTF">2026-09-23T06:24:17Z</dcterms:modified>
</cp:coreProperties>
</file>