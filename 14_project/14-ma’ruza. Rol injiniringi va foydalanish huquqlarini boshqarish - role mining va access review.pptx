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13-ma'ruzada RBAC modelini ko'rdik: ruxsat rolga, foydalanuvchi rolga tayinlanadi. Lekin ikki amaliy savol ochiq qoldi: (1) rollarni qayerdan olamiz — ularni kim va qanday loyihalaydi? (2) vaqt o'tishi bilan huquqlar to'planib ketadi (M2: ortiqcha imtiyozlar) — ularni qanday tozalaymiz? Bugun shu ikki jarayon: rol injiniringi va qayta sertifikatlash. Bu 2-ma'ruzadagi IGA mavzusining davomi.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1) Hammasi birga: biznes (kadrlar, bo'lim boshliqlari) rolni biladi, IT uni texnik amalga oshiradi — bu rol injiniringi. 2) Ha — mavjud huquqlarni klasterlash orqali rollarni topish 'rol mining' deb ataladi. 3) Murosa: kam rol — boshqarish oson, lekin ortiqcha imtiyoz; ko'p rol — aniq, lekin rollar portlashi (M13). Optimal — o'rtada.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 injiniringi (role engineering) — RBAC ni joriy etishning eng qiyin va eng ko'p vaqt oladigan qismi. Yuqoridan-past: HR va biznes jarayonlaridan; pastdan-yuqori: mavjud ruxsatlardan (rol mining). Xavf: pastdan-yuqori usuli mavjud 'ortiqcha imtiyozlar'ni (M2) ham rolga aylantirib qo'yishi mumkin — shuning uchun toza boshlanish (green field) yoki tozalash bosqichi kerak.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 mining — matematik jihatdan matritsani rollarga faktorlash masalasi (NP-qiyin), amalda evristik klasterlash algoritmlari ishlatiladi. Bu Obidjon ustozning tahlil sohasiga yaqin. Muhim ogohlantirish: rol mining mavjud holatni aks ettiradi — agar mavjud holatda ortiqcha imtiyozlar bo'lsa, ular ham 'rol' bo'lib qoladi. Shuning uchun natijani biznes bilan tekshirish shart. A14 da talabalar kichik matritsadan qo'lda rol topadi.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Javoblar: a) Ikkita asosiy rol: Rol1 = {P1,P2,P5} (U1,U2), Rol2 = {P3,P4,P5} (U3,U5). b) U4 barcha ruxsatlarga ega — ikkala rolga ham a'zo (masalan, kafedra mudiri) yoki ortiqcha imtiyozga ega — tekshirish kerak. c) P5 hammada bor — uni umumiy («barcha xodimlar») roliga chiqarish yoki har ikki rolga qoldirish mumkin. Bu real rol mining ning soddalashtirilgan modeli.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2-ma'ruzada bu jarayonni IGA doirasida ko'rgan edik — bugun batafsil. Fan dasturida bu 'foydalanish huquqlarini qayta sertifikatlash (access review)' deb nomlangan; o'zbek adabiyotida 'attestatsiya' atamasi himoya obyektining attestatsiyasi ma'nosida band, shu sababli 'qayta sertifikatlash' ishlatilgan. Rubber-stamping — eng katta amaliy muammo: tekshiruv haqiqiy bo'lishi uchun tasdiqlovchiga faqat kerakli ma'lumot ko'rsatilishi kerak.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ro'yxat 2-ma'ruzadagi 'hayotiy sikldagi tipik xatolar' va 9-ma'ruzadagi 'tenant auditi' bilan bir xil — endi ularni davriy tekshiruv orqali topamiz. Ishlatilmagan huquqlar (dormant) — eng samarali toza qilinadigan kategoriya: agar 6 oy ishlatilmagan bo'lsa, ehtimol kerak emas. Toxic combination — SoD ni buzadigan ruxsatlar juftligi.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Tavsiya etilgan javob: 24 egasiz qayd yozuvi (M9: eng katta buzilish xavfi — tashqaridan ekspluatatsiya, blokirovka arzon va tez) va 7 SoD buzilishi (firibgarlik xavfi, oz sonli lekin yuqori ta'sir). 89 Mover — muhim, lekin ko'p vaqt oladi; 156 ishlatilmagan — arzon tozalanadi, lekin xavfi past. Bu M9 dagi tenant auditi mashqining qayta sertifikatlash konteksti.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Javoblar: a) Tasdiqlash — huquq lavozimga mos va faol ishlatilmoqda. b) So'rov yuborish yoki bekor qilish — laborantga xodim qabul qilish mos emas (ortiqcha imtiyoz); sababini so'rab, tasdiqlanmasa bekor qilish. c) Darhol bekor qilish — egasiz qayd yozuvi (M2 deprovisioning; aslida qayd yozuvining o'zi bloklanishi kerak edi). d) Bekor qilish — SoD buzilishi (M13); ikki huquqdan birini olib tashlash. Har bir qaror jurnalga yoziladi (hisobdorlik, M2).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Microsoft Entra ID Governance — Access Reviews. Kampaniyalar bir martalik yoki takrorlanuvchi bo'lishi mumkin. Tasdiqlovchi guruh egasi, foydalanuvchining rahbari yoki foydalanuvchining o'zi (self-review) bo'lishi mumkin. 'Sign-in activity' — rubber-stamping ga qarshi eng kuchli vosita: tasdiqlovchi imtiyozning haqiqatan ishlatilishini ko'radi. Bu Entra ID Governance litsenziyasini talab qiladi.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Entra ID Entitlement Management — Access Packages. Bu RBAC (M13), hayotiy sikl (M2) va qayta sertifikatlashni birlashtiradi: to'plam = biznes roli uchun barcha texnik huquqlar. So'rov-tasdiq jarayoni bilan keladi va muddat belgilash mumkin. Tashqi hamkorlar uchun ham ishlaydi (B2B). Bu 'siyosat kod sifatida' g'oyasiga yaqin — 15-ma'ruza.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Search-ADAccount RSAT ActiveDirectory modulini talab qiladi. LastLogonDate — qayta sertifikatlashda eng muhim ustun: ishlatilmagan huquqni bekor qilish oson qaror. CSV eksport — kichik tashkilotda qayta sertifikatlashni Excel'da qo'lda o'tkazish usuli; katta tashkilotda Entra Access Reviews avtomatlashtiradi. A14 da talabalar shu CSV ni tahlil qilib, qaysi qayd yozuvlarini bekor qilishni belgilaydi.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Javoblar: 1-B, 2-B, 3-B, 4-B.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 injiniringi, rol mining, qayta sertifikatlash — tarjima/moslashtirilgan atamalar. Uyga vazifa amaliy tahlilga qaratilgan; A14 ning tayyorgarligi.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2.png"/><Relationship Id="rId4" Type="http://schemas.openxmlformats.org/officeDocument/2006/relationships/image" Target="../media/image-3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828800"/>
            <a:ext cx="5120640" cy="5120640"/>
          </a:xfrm>
          <a:prstGeom prst="ellipse">
            <a:avLst/>
          </a:prstGeom>
          <a:solidFill>
            <a:srgbClr val="2A3778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4023360"/>
            <a:ext cx="3291840" cy="3291840"/>
          </a:xfrm>
          <a:prstGeom prst="ellipse">
            <a:avLst/>
          </a:prstGeom>
          <a:solidFill>
            <a:srgbClr val="2A3778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685800"/>
            <a:ext cx="868680" cy="868680"/>
          </a:xfrm>
          <a:prstGeom prst="ellipse">
            <a:avLst/>
          </a:prstGeom>
          <a:solidFill>
            <a:srgbClr val="2A3778"/>
          </a:solidFill>
          <a:ln/>
        </p:spPr>
      </p:sp>
      <p:pic>
        <p:nvPicPr>
          <p:cNvPr id="5" name="Image 0" descr="/home/claude/fob-slides/icons_out/cliplist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130" y="902970"/>
            <a:ext cx="434340" cy="4343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178308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FOB1506  ·  14-MA'RUZA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240280"/>
            <a:ext cx="9875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Rol injiniringi va foydalanish huquqlarini boshqarish: role mining va access review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657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Rollar qayerdan olinadi va ular haligacha to'g'rimi? · IGA va Windows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822960" y="4434840"/>
            <a:ext cx="1143000" cy="438912"/>
          </a:xfrm>
          <a:prstGeom prst="roundRect">
            <a:avLst>
              <a:gd name="adj" fmla="val 50000"/>
            </a:avLst>
          </a:prstGeom>
          <a:solidFill>
            <a:srgbClr val="2A377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22960" y="4434840"/>
            <a:ext cx="114300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 soat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148840" y="4434840"/>
            <a:ext cx="2628900" cy="438912"/>
          </a:xfrm>
          <a:prstGeom prst="roundRect">
            <a:avLst>
              <a:gd name="adj" fmla="val 50000"/>
            </a:avLst>
          </a:prstGeom>
          <a:solidFill>
            <a:srgbClr val="2A377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2148840" y="4434840"/>
            <a:ext cx="262890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 ma'ruzadan 14-si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960620" y="4434840"/>
            <a:ext cx="1714500" cy="438912"/>
          </a:xfrm>
          <a:prstGeom prst="roundRect">
            <a:avLst>
              <a:gd name="adj" fmla="val 50000"/>
            </a:avLst>
          </a:prstGeom>
          <a:solidFill>
            <a:srgbClr val="2A377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960620" y="4434840"/>
            <a:ext cx="171450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Amaliy: A14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858000" y="4434840"/>
            <a:ext cx="2400300" cy="438912"/>
          </a:xfrm>
          <a:prstGeom prst="roundRect">
            <a:avLst>
              <a:gd name="adj" fmla="val 50000"/>
            </a:avLst>
          </a:prstGeom>
          <a:solidFill>
            <a:srgbClr val="2A377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858000" y="4434840"/>
            <a:ext cx="240030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Windows namoyishi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822960" y="58978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Mirzo Ulug'bek nomidagi O'zbekiston Milliy universiteti  ·  Axborot xavfsizligi kafedrasi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DARS XARITASI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Bugungi ma'ruza qanday quriladi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7863840" cy="1234440"/>
          </a:xfrm>
          <a:prstGeom prst="roundRect">
            <a:avLst>
              <a:gd name="adj" fmla="val 6667"/>
            </a:avLst>
          </a:prstGeom>
          <a:solidFill>
            <a:srgbClr val="EEF2F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83080"/>
            <a:ext cx="914400" cy="1234440"/>
          </a:xfrm>
          <a:prstGeom prst="roundRect">
            <a:avLst>
              <a:gd name="adj" fmla="val 90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783080"/>
            <a:ext cx="914400" cy="1234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1947672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Rol injiniringi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2423160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Yuqoridan-past, pastdan-yuqori, rol mining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223760" y="18745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~25 daq.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182112"/>
            <a:ext cx="7863840" cy="1234440"/>
          </a:xfrm>
          <a:prstGeom prst="roundRect">
            <a:avLst>
              <a:gd name="adj" fmla="val 6667"/>
            </a:avLst>
          </a:prstGeom>
          <a:solidFill>
            <a:srgbClr val="EEF2FB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3182112"/>
            <a:ext cx="914400" cy="1234440"/>
          </a:xfrm>
          <a:prstGeom prst="roundRect">
            <a:avLst>
              <a:gd name="adj" fmla="val 9000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182112"/>
            <a:ext cx="914400" cy="1234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1691640" y="3346704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Qayta sertifikatlash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691640" y="3822192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Access review, kampaniya, rubber-stamping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223760" y="327355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~30 daq.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581144"/>
            <a:ext cx="7863840" cy="1234440"/>
          </a:xfrm>
          <a:prstGeom prst="roundRect">
            <a:avLst>
              <a:gd name="adj" fmla="val 6667"/>
            </a:avLst>
          </a:prstGeom>
          <a:solidFill>
            <a:srgbClr val="EEF2FB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4581144"/>
            <a:ext cx="914400" cy="1234440"/>
          </a:xfrm>
          <a:prstGeom prst="roundRect">
            <a:avLst>
              <a:gd name="adj" fmla="val 9000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4581144"/>
            <a:ext cx="914400" cy="1234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</a:t>
            </a:r>
            <a:endParaRPr lang="en-US" sz="3200" dirty="0"/>
          </a:p>
        </p:txBody>
      </p:sp>
      <p:sp>
        <p:nvSpPr>
          <p:cNvPr id="19" name="Text 17"/>
          <p:cNvSpPr txBox="1"/>
          <p:nvPr/>
        </p:nvSpPr>
        <p:spPr>
          <a:xfrm>
            <a:off x="1691640" y="4745736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Windows va IGA vositalari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1691640" y="5221224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Access Reviews, Access Packages, audit hisobotlari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223760" y="467258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~25 daq.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686800" y="1783080"/>
            <a:ext cx="2926080" cy="4032504"/>
          </a:xfrm>
          <a:prstGeom prst="roundRect">
            <a:avLst>
              <a:gd name="adj" fmla="val 2813"/>
            </a:avLst>
          </a:prstGeom>
          <a:solidFill>
            <a:srgbClr val="FDF3E2"/>
          </a:solidFill>
          <a:ln/>
        </p:spPr>
      </p:sp>
      <p:sp>
        <p:nvSpPr>
          <p:cNvPr id="23" name="Shape 21"/>
          <p:cNvSpPr/>
          <p:nvPr/>
        </p:nvSpPr>
        <p:spPr>
          <a:xfrm>
            <a:off x="8961120" y="2011680"/>
            <a:ext cx="566928" cy="566928"/>
          </a:xfrm>
          <a:prstGeom prst="ellipse">
            <a:avLst/>
          </a:prstGeom>
          <a:solidFill>
            <a:srgbClr val="D9932B"/>
          </a:solidFill>
          <a:ln/>
        </p:spPr>
      </p:sp>
      <p:pic>
        <p:nvPicPr>
          <p:cNvPr id="24" name="Image 0" descr="/home/claude/fob-slides/icons_out/bulb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8679" y="2139239"/>
            <a:ext cx="311810" cy="311810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8961120" y="26974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Interaktiv nuqtalar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9006840" y="3154680"/>
            <a:ext cx="2514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Muhokama: rollar qayerdan?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Mini-vazifa: rol mining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Muhokama: audit natijasi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Jonli namoyish: hisobot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Tezkor test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14-ma'ruza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3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D99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MUHOKAMA · 5 DAQIQA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Rollar qayerdan paydo bo'ladi?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744200" y="411480"/>
            <a:ext cx="868680" cy="868680"/>
          </a:xfrm>
          <a:prstGeom prst="ellipse">
            <a:avLst/>
          </a:prstGeom>
          <a:solidFill>
            <a:srgbClr val="D9932B"/>
          </a:solidFill>
          <a:ln/>
        </p:spPr>
      </p:sp>
      <p:pic>
        <p:nvPicPr>
          <p:cNvPr id="5" name="Image 0" descr="/home/claude/fob-slides/icons_out/users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8744" y="646024"/>
            <a:ext cx="399593" cy="39959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783080"/>
            <a:ext cx="1106424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68680" y="178308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13-ma'ruzada «O'qituvchi», «Laborant» rollarini o'zimiz o'ylab topdik. Lekin katta tashkilotda minglab ruxsat va yuzlab lavozim bor.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3063240"/>
            <a:ext cx="110642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</p:spPr>
      </p:sp>
      <p:sp>
        <p:nvSpPr>
          <p:cNvPr id="9" name="Shape 6"/>
          <p:cNvSpPr/>
          <p:nvPr/>
        </p:nvSpPr>
        <p:spPr>
          <a:xfrm>
            <a:off x="822960" y="3209544"/>
            <a:ext cx="576072" cy="576072"/>
          </a:xfrm>
          <a:prstGeom prst="ellipse">
            <a:avLst/>
          </a:prstGeom>
          <a:solidFill>
            <a:srgbClr val="D9932B"/>
          </a:solidFill>
          <a:ln/>
        </p:spPr>
      </p:sp>
      <p:pic>
        <p:nvPicPr>
          <p:cNvPr id="10" name="Image 1" descr="/home/claude/fob-slides/icons_out/question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380" y="3367964"/>
            <a:ext cx="259232" cy="25923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600200" y="3063240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Rollarni kim aniqlaydi: IT bo'limi, kadrlar yoki bo'lim boshliqlari?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11018520" y="3063240"/>
            <a:ext cx="411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D99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548640" y="4069080"/>
            <a:ext cx="110642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</p:spPr>
      </p:sp>
      <p:sp>
        <p:nvSpPr>
          <p:cNvPr id="14" name="Shape 10"/>
          <p:cNvSpPr/>
          <p:nvPr/>
        </p:nvSpPr>
        <p:spPr>
          <a:xfrm>
            <a:off x="822960" y="4215384"/>
            <a:ext cx="576072" cy="576072"/>
          </a:xfrm>
          <a:prstGeom prst="ellipse">
            <a:avLst/>
          </a:prstGeom>
          <a:solidFill>
            <a:srgbClr val="D9932B"/>
          </a:solidFill>
          <a:ln/>
        </p:spPr>
      </p:sp>
      <p:pic>
        <p:nvPicPr>
          <p:cNvPr id="15" name="Image 2" descr="/home/claude/fob-slides/icons_out/questio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380" y="4373804"/>
            <a:ext cx="259232" cy="25923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00200" y="4069080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Mavjud tizimdagi huquqlarni tahlil qilib, rollarni «topib» olsa bo'ladimi?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11018520" y="4069080"/>
            <a:ext cx="411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D99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Shape 13"/>
          <p:cNvSpPr/>
          <p:nvPr/>
        </p:nvSpPr>
        <p:spPr>
          <a:xfrm>
            <a:off x="548640" y="5074920"/>
            <a:ext cx="110642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</p:spPr>
      </p:sp>
      <p:sp>
        <p:nvSpPr>
          <p:cNvPr id="19" name="Shape 14"/>
          <p:cNvSpPr/>
          <p:nvPr/>
        </p:nvSpPr>
        <p:spPr>
          <a:xfrm>
            <a:off x="822960" y="5221224"/>
            <a:ext cx="576072" cy="576072"/>
          </a:xfrm>
          <a:prstGeom prst="ellipse">
            <a:avLst/>
          </a:prstGeom>
          <a:solidFill>
            <a:srgbClr val="D9932B"/>
          </a:solidFill>
          <a:ln/>
        </p:spPr>
      </p:sp>
      <p:pic>
        <p:nvPicPr>
          <p:cNvPr id="20" name="Image 3" descr="/home/claude/fob-slides/icons_out/questio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380" y="5379644"/>
            <a:ext cx="259232" cy="25923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600200" y="5074920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Ideal rol nechta bo'lishi kerak: kam (umumiy) yoki ko'p (aniq)?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11018520" y="5074920"/>
            <a:ext cx="411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D99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14-ma'ruza</a:t>
            </a:r>
            <a:endParaRPr lang="en-US" sz="1100" dirty="0"/>
          </a:p>
        </p:txBody>
      </p:sp>
      <p:sp>
        <p:nvSpPr>
          <p:cNvPr id="24" name="Text 18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 · ROL INJINIRINGI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Rollarni loyihalashning ikki yo'nalishi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86400" cy="3794760"/>
          </a:xfrm>
          <a:prstGeom prst="roundRect">
            <a:avLst>
              <a:gd name="adj" fmla="val 2169"/>
            </a:avLst>
          </a:prstGeom>
          <a:solidFill>
            <a:srgbClr val="EEF2FB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1168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fob-slides/icons_out/sitemap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7265" y="2165985"/>
            <a:ext cx="377190" cy="37719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20116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Yuqoridan-past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1691640" y="245059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top-down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97180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Biznes jarayonlaridan boshlanadi: lavozim va vazifalar tahlil qilinib, ular uchun rol tuziladi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22960" y="4114800"/>
            <a:ext cx="4937760" cy="594360"/>
          </a:xfrm>
          <a:prstGeom prst="roundRect">
            <a:avLst>
              <a:gd name="adj" fmla="val 13846"/>
            </a:avLst>
          </a:prstGeom>
          <a:solidFill>
            <a:srgbClr val="E8F3EC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960120" y="411480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F6B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 Biznesga mos, tushunarli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822960" y="4800600"/>
            <a:ext cx="4937760" cy="594360"/>
          </a:xfrm>
          <a:prstGeom prst="roundRect">
            <a:avLst>
              <a:gd name="adj" fmla="val 13846"/>
            </a:avLst>
          </a:prstGeom>
          <a:solidFill>
            <a:srgbClr val="F7ECE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960120" y="480060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9E3B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− Ko'p vaqt; mavjud huquqlarni hisobga olmaydi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126480" y="1783080"/>
            <a:ext cx="5486400" cy="3794760"/>
          </a:xfrm>
          <a:prstGeom prst="roundRect">
            <a:avLst>
              <a:gd name="adj" fmla="val 2169"/>
            </a:avLst>
          </a:prstGeom>
          <a:solidFill>
            <a:srgbClr val="1E2761"/>
          </a:solidFill>
          <a:ln/>
        </p:spPr>
      </p:sp>
      <p:sp>
        <p:nvSpPr>
          <p:cNvPr id="15" name="Shape 12"/>
          <p:cNvSpPr/>
          <p:nvPr/>
        </p:nvSpPr>
        <p:spPr>
          <a:xfrm>
            <a:off x="6400800" y="2011680"/>
            <a:ext cx="685800" cy="685800"/>
          </a:xfrm>
          <a:prstGeom prst="ellipse">
            <a:avLst/>
          </a:prstGeom>
          <a:solidFill>
            <a:srgbClr val="2A3778"/>
          </a:solidFill>
          <a:ln/>
        </p:spPr>
      </p:sp>
      <p:pic>
        <p:nvPicPr>
          <p:cNvPr id="16" name="Image 1" descr="/home/claude/fob-slides/icons_out/database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5105" y="2165985"/>
            <a:ext cx="377190" cy="37719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269480" y="20116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Pastdan-yuqori</a:t>
            </a:r>
            <a:endParaRPr lang="en-US" sz="2200" dirty="0"/>
          </a:p>
        </p:txBody>
      </p:sp>
      <p:sp>
        <p:nvSpPr>
          <p:cNvPr id="18" name="Text 14"/>
          <p:cNvSpPr txBox="1"/>
          <p:nvPr/>
        </p:nvSpPr>
        <p:spPr>
          <a:xfrm>
            <a:off x="7269480" y="245059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bottom-up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6400800" y="297180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Mavjud ruxsatlar tahlil qilinadi: o'xshash huquqlarga ega foydalanuvchilar guruhlanadi (rol mining)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6400800" y="4114800"/>
            <a:ext cx="4937760" cy="594360"/>
          </a:xfrm>
          <a:prstGeom prst="roundRect">
            <a:avLst>
              <a:gd name="adj" fmla="val 13846"/>
            </a:avLst>
          </a:prstGeom>
          <a:solidFill>
            <a:srgbClr val="E8F3EC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6537960" y="411480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F6B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 Real holatdan kelib chiqadi, tez</a:t>
            </a:r>
            <a:endParaRPr lang="en-US" sz="1500" dirty="0"/>
          </a:p>
        </p:txBody>
      </p:sp>
      <p:sp>
        <p:nvSpPr>
          <p:cNvPr id="22" name="Shape 18"/>
          <p:cNvSpPr/>
          <p:nvPr/>
        </p:nvSpPr>
        <p:spPr>
          <a:xfrm>
            <a:off x="6400800" y="4800600"/>
            <a:ext cx="4937760" cy="594360"/>
          </a:xfrm>
          <a:prstGeom prst="roundRect">
            <a:avLst>
              <a:gd name="adj" fmla="val 13846"/>
            </a:avLst>
          </a:prstGeom>
          <a:solidFill>
            <a:srgbClr val="F7ECEA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6537960" y="480060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9E3B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− Mavjud xatolarni ham «rol» qilib qo'yishi mumkin</a:t>
            </a:r>
            <a:endParaRPr lang="en-US" sz="1500" dirty="0"/>
          </a:p>
        </p:txBody>
      </p:sp>
      <p:sp>
        <p:nvSpPr>
          <p:cNvPr id="24" name="Text 20"/>
          <p:cNvSpPr txBox="1"/>
          <p:nvPr/>
        </p:nvSpPr>
        <p:spPr>
          <a:xfrm>
            <a:off x="548640" y="57607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Amalda gibrid: pastdan-yuqori bilan rollarni topib, yuqoridan-past bilan ularni biznesga moslab tozalash.</a:t>
            </a:r>
            <a:endParaRPr lang="en-US" sz="1500" dirty="0"/>
          </a:p>
        </p:txBody>
      </p:sp>
      <p:sp>
        <p:nvSpPr>
          <p:cNvPr id="25" name="Text 21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14-ma'ruza</a:t>
            </a:r>
            <a:endParaRPr lang="en-US" sz="1100" dirty="0"/>
          </a:p>
        </p:txBody>
      </p:sp>
      <p:sp>
        <p:nvSpPr>
          <p:cNvPr id="26" name="Text 22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 · ROL MINING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Foydalanuvchi-ruxsat matritsasidan rollarni topish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417320" cy="50292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2011680" y="1920240"/>
            <a:ext cx="1051560" cy="50292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011680" y="1920240"/>
            <a:ext cx="10515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baho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108960" y="1920240"/>
            <a:ext cx="1051560" cy="50292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108960" y="1920240"/>
            <a:ext cx="10515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jadval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06240" y="1920240"/>
            <a:ext cx="1051560" cy="50292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206240" y="1920240"/>
            <a:ext cx="10515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hisobot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303520" y="1920240"/>
            <a:ext cx="1051560" cy="50292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303520" y="1920240"/>
            <a:ext cx="10515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qabul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2468880"/>
            <a:ext cx="1417320" cy="502920"/>
          </a:xfrm>
          <a:prstGeom prst="roundRect">
            <a:avLst>
              <a:gd name="adj" fmla="val 7273"/>
            </a:avLst>
          </a:prstGeom>
          <a:solidFill>
            <a:srgbClr val="CADC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2468880"/>
            <a:ext cx="14173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Aziz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011680" y="2468880"/>
            <a:ext cx="1051560" cy="502920"/>
          </a:xfrm>
          <a:prstGeom prst="roundRect">
            <a:avLst>
              <a:gd name="adj" fmla="val 7273"/>
            </a:avLst>
          </a:prstGeom>
          <a:solidFill>
            <a:srgbClr val="9FB0E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011680" y="2468880"/>
            <a:ext cx="10515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108960" y="2468880"/>
            <a:ext cx="105156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06240" y="2468880"/>
            <a:ext cx="1051560" cy="502920"/>
          </a:xfrm>
          <a:prstGeom prst="roundRect">
            <a:avLst>
              <a:gd name="adj" fmla="val 7273"/>
            </a:avLst>
          </a:prstGeom>
          <a:solidFill>
            <a:srgbClr val="9FB0E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206240" y="2468880"/>
            <a:ext cx="10515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303520" y="2468880"/>
            <a:ext cx="105156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017520"/>
            <a:ext cx="1417320" cy="502920"/>
          </a:xfrm>
          <a:prstGeom prst="roundRect">
            <a:avLst>
              <a:gd name="adj" fmla="val 7273"/>
            </a:avLst>
          </a:prstGeom>
          <a:solidFill>
            <a:srgbClr val="CADCF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8640" y="3017520"/>
            <a:ext cx="14173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Dilnoza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2011680" y="3017520"/>
            <a:ext cx="1051560" cy="502920"/>
          </a:xfrm>
          <a:prstGeom prst="roundRect">
            <a:avLst>
              <a:gd name="adj" fmla="val 7273"/>
            </a:avLst>
          </a:prstGeom>
          <a:solidFill>
            <a:srgbClr val="9FB0E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2011680" y="3017520"/>
            <a:ext cx="10515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108960" y="3017520"/>
            <a:ext cx="105156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06240" y="3017520"/>
            <a:ext cx="1051560" cy="502920"/>
          </a:xfrm>
          <a:prstGeom prst="roundRect">
            <a:avLst>
              <a:gd name="adj" fmla="val 7273"/>
            </a:avLst>
          </a:prstGeom>
          <a:solidFill>
            <a:srgbClr val="9FB0E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206240" y="3017520"/>
            <a:ext cx="10515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303520" y="3017520"/>
            <a:ext cx="105156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3566160"/>
            <a:ext cx="1417320" cy="502920"/>
          </a:xfrm>
          <a:prstGeom prst="roundRect">
            <a:avLst>
              <a:gd name="adj" fmla="val 7273"/>
            </a:avLst>
          </a:prstGeom>
          <a:solidFill>
            <a:srgbClr val="FDF3E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48640" y="3566160"/>
            <a:ext cx="14173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Bobur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2011680" y="3566160"/>
            <a:ext cx="105156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108960" y="3566160"/>
            <a:ext cx="1051560" cy="502920"/>
          </a:xfrm>
          <a:prstGeom prst="roundRect">
            <a:avLst>
              <a:gd name="adj" fmla="val 7273"/>
            </a:avLst>
          </a:prstGeom>
          <a:solidFill>
            <a:srgbClr val="D9932B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3108960" y="3566160"/>
            <a:ext cx="10515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206240" y="3566160"/>
            <a:ext cx="1051560" cy="502920"/>
          </a:xfrm>
          <a:prstGeom prst="roundRect">
            <a:avLst>
              <a:gd name="adj" fmla="val 7273"/>
            </a:avLst>
          </a:prstGeom>
          <a:solidFill>
            <a:srgbClr val="D9932B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4206240" y="3566160"/>
            <a:ext cx="10515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303520" y="3566160"/>
            <a:ext cx="1051560" cy="502920"/>
          </a:xfrm>
          <a:prstGeom prst="roundRect">
            <a:avLst>
              <a:gd name="adj" fmla="val 7273"/>
            </a:avLst>
          </a:prstGeom>
          <a:solidFill>
            <a:srgbClr val="D9932B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5303520" y="3566160"/>
            <a:ext cx="10515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48640" y="4114800"/>
            <a:ext cx="1417320" cy="502920"/>
          </a:xfrm>
          <a:prstGeom prst="roundRect">
            <a:avLst>
              <a:gd name="adj" fmla="val 7273"/>
            </a:avLst>
          </a:prstGeom>
          <a:solidFill>
            <a:srgbClr val="FDF3E2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548640" y="4114800"/>
            <a:ext cx="14173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Sardor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2011680" y="4114800"/>
            <a:ext cx="105156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108960" y="4114800"/>
            <a:ext cx="1051560" cy="502920"/>
          </a:xfrm>
          <a:prstGeom prst="roundRect">
            <a:avLst>
              <a:gd name="adj" fmla="val 7273"/>
            </a:avLst>
          </a:prstGeom>
          <a:solidFill>
            <a:srgbClr val="D9932B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3108960" y="4114800"/>
            <a:ext cx="10515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206240" y="4114800"/>
            <a:ext cx="1051560" cy="502920"/>
          </a:xfrm>
          <a:prstGeom prst="roundRect">
            <a:avLst>
              <a:gd name="adj" fmla="val 7273"/>
            </a:avLst>
          </a:prstGeom>
          <a:solidFill>
            <a:srgbClr val="D9932B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4206240" y="4114800"/>
            <a:ext cx="10515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5303520" y="4114800"/>
            <a:ext cx="1051560" cy="502920"/>
          </a:xfrm>
          <a:prstGeom prst="roundRect">
            <a:avLst>
              <a:gd name="adj" fmla="val 7273"/>
            </a:avLst>
          </a:prstGeom>
          <a:solidFill>
            <a:srgbClr val="D9932B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5303520" y="4114800"/>
            <a:ext cx="10515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766560" y="1920240"/>
            <a:ext cx="4846320" cy="2194560"/>
          </a:xfrm>
          <a:prstGeom prst="roundRect">
            <a:avLst>
              <a:gd name="adj" fmla="val 3750"/>
            </a:avLst>
          </a:prstGeom>
          <a:solidFill>
            <a:srgbClr val="EEF2FB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6995160" y="201168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Topilgan rollar</a:t>
            </a:r>
            <a:endParaRPr lang="en-US" sz="1800" dirty="0"/>
          </a:p>
        </p:txBody>
      </p:sp>
      <p:sp>
        <p:nvSpPr>
          <p:cNvPr id="49" name="Text 47"/>
          <p:cNvSpPr txBox="1"/>
          <p:nvPr/>
        </p:nvSpPr>
        <p:spPr>
          <a:xfrm>
            <a:off x="6995160" y="2468880"/>
            <a:ext cx="4389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Rol A 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(Aziz, Dilnoza): baho + hisobot → «O'qituvchi»</a:t>
            </a:r>
            <a:pPr indent="0" marL="0">
              <a:lnSpc>
                <a:spcPct val="110000"/>
              </a:lnSpc>
              <a:buNone/>
            </a:pP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Rol B 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(Bobur, Sardor): jadval + hisobot + qabul → «Dekanat»</a:t>
            </a:r>
            <a:pPr indent="0" marL="0">
              <a:lnSpc>
                <a:spcPct val="110000"/>
              </a:lnSpc>
              <a:buNone/>
            </a:pP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Umumiy: hisobot → asosiy rolga yoki alohida</a:t>
            </a:r>
            <a:endParaRPr lang="en-US" sz="1500" dirty="0"/>
          </a:p>
        </p:txBody>
      </p:sp>
      <p:sp>
        <p:nvSpPr>
          <p:cNvPr id="50" name="Shape 48"/>
          <p:cNvSpPr/>
          <p:nvPr/>
        </p:nvSpPr>
        <p:spPr>
          <a:xfrm>
            <a:off x="548640" y="4754880"/>
            <a:ext cx="11064240" cy="1508760"/>
          </a:xfrm>
          <a:prstGeom prst="roundRect">
            <a:avLst>
              <a:gd name="adj" fmla="val 5455"/>
            </a:avLst>
          </a:prstGeom>
          <a:solidFill>
            <a:srgbClr val="CADCFC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777240" y="482803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Jarayon</a:t>
            </a:r>
            <a:endParaRPr lang="en-US" sz="1800" dirty="0"/>
          </a:p>
        </p:txBody>
      </p:sp>
      <p:sp>
        <p:nvSpPr>
          <p:cNvPr id="52" name="Text 50"/>
          <p:cNvSpPr txBox="1"/>
          <p:nvPr/>
        </p:nvSpPr>
        <p:spPr>
          <a:xfrm>
            <a:off x="777240" y="5193792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Bir xil ruxsat naqshiga ega foydalanuvchilarni klasterlash (matematik: klasterlash algoritmlari)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Har bir klasterga nomzod rol; ularni biznes bilan tekshirish va nomlash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«Bir marta ishlatilgan» va tasodifiy ruxsatlarni rolga qo'shmaslik</a:t>
            </a:r>
            <a:endParaRPr lang="en-US" sz="1500" dirty="0"/>
          </a:p>
        </p:txBody>
      </p:sp>
      <p:sp>
        <p:nvSpPr>
          <p:cNvPr id="53" name="Text 51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14-ma'ruza</a:t>
            </a:r>
            <a:endParaRPr lang="en-US" sz="1100" dirty="0"/>
          </a:p>
        </p:txBody>
      </p:sp>
      <p:sp>
        <p:nvSpPr>
          <p:cNvPr id="54" name="Text 52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3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D99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MINI-VAZIFA · 6 DAQIQA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Matritsadan rollarni toping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744200" y="411480"/>
            <a:ext cx="868680" cy="868680"/>
          </a:xfrm>
          <a:prstGeom prst="ellipse">
            <a:avLst/>
          </a:prstGeom>
          <a:solidFill>
            <a:srgbClr val="D9932B"/>
          </a:solidFill>
          <a:ln/>
        </p:spPr>
      </p:sp>
      <p:pic>
        <p:nvPicPr>
          <p:cNvPr id="5" name="Image 0" descr="/home/claude/fob-slides/icons_out/pencil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8744" y="646024"/>
            <a:ext cx="399593" cy="39959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2011680"/>
            <a:ext cx="1143000" cy="521208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1737360" y="2011680"/>
            <a:ext cx="868680" cy="521208"/>
          </a:xfrm>
          <a:prstGeom prst="roundRect">
            <a:avLst>
              <a:gd name="adj" fmla="val 7018"/>
            </a:avLst>
          </a:prstGeom>
          <a:solidFill>
            <a:srgbClr val="1E276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737360" y="2011680"/>
            <a:ext cx="868680" cy="5212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P1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651760" y="2011680"/>
            <a:ext cx="868680" cy="521208"/>
          </a:xfrm>
          <a:prstGeom prst="roundRect">
            <a:avLst>
              <a:gd name="adj" fmla="val 7018"/>
            </a:avLst>
          </a:prstGeom>
          <a:solidFill>
            <a:srgbClr val="1E276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2651760" y="2011680"/>
            <a:ext cx="868680" cy="5212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P2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566160" y="2011680"/>
            <a:ext cx="868680" cy="521208"/>
          </a:xfrm>
          <a:prstGeom prst="roundRect">
            <a:avLst>
              <a:gd name="adj" fmla="val 7018"/>
            </a:avLst>
          </a:prstGeom>
          <a:solidFill>
            <a:srgbClr val="1E276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3566160" y="2011680"/>
            <a:ext cx="868680" cy="5212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P3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480560" y="2011680"/>
            <a:ext cx="868680" cy="521208"/>
          </a:xfrm>
          <a:prstGeom prst="roundRect">
            <a:avLst>
              <a:gd name="adj" fmla="val 7018"/>
            </a:avLst>
          </a:prstGeom>
          <a:solidFill>
            <a:srgbClr val="1E276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480560" y="2011680"/>
            <a:ext cx="868680" cy="5212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P4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394960" y="2011680"/>
            <a:ext cx="868680" cy="521208"/>
          </a:xfrm>
          <a:prstGeom prst="roundRect">
            <a:avLst>
              <a:gd name="adj" fmla="val 7018"/>
            </a:avLst>
          </a:prstGeom>
          <a:solidFill>
            <a:srgbClr val="1E2761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394960" y="2011680"/>
            <a:ext cx="868680" cy="5212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P5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48640" y="2578608"/>
            <a:ext cx="1143000" cy="521208"/>
          </a:xfrm>
          <a:prstGeom prst="roundRect">
            <a:avLst>
              <a:gd name="adj" fmla="val 7018"/>
            </a:avLst>
          </a:prstGeom>
          <a:solidFill>
            <a:srgbClr val="FDF3E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48640" y="2578608"/>
            <a:ext cx="1143000" cy="5212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U1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1737360" y="2578608"/>
            <a:ext cx="868680" cy="521208"/>
          </a:xfrm>
          <a:prstGeom prst="roundRect">
            <a:avLst>
              <a:gd name="adj" fmla="val 7018"/>
            </a:avLst>
          </a:prstGeom>
          <a:solidFill>
            <a:srgbClr val="2A3778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737360" y="2578608"/>
            <a:ext cx="868680" cy="5212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2651760" y="2578608"/>
            <a:ext cx="868680" cy="521208"/>
          </a:xfrm>
          <a:prstGeom prst="roundRect">
            <a:avLst>
              <a:gd name="adj" fmla="val 7018"/>
            </a:avLst>
          </a:prstGeom>
          <a:solidFill>
            <a:srgbClr val="2A3778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2651760" y="2578608"/>
            <a:ext cx="868680" cy="5212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3566160" y="2578608"/>
            <a:ext cx="868680" cy="521208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480560" y="2578608"/>
            <a:ext cx="868680" cy="521208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394960" y="2578608"/>
            <a:ext cx="868680" cy="521208"/>
          </a:xfrm>
          <a:prstGeom prst="roundRect">
            <a:avLst>
              <a:gd name="adj" fmla="val 7018"/>
            </a:avLst>
          </a:prstGeom>
          <a:solidFill>
            <a:srgbClr val="2A3778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5394960" y="2578608"/>
            <a:ext cx="868680" cy="5212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548640" y="3145536"/>
            <a:ext cx="1143000" cy="521208"/>
          </a:xfrm>
          <a:prstGeom prst="roundRect">
            <a:avLst>
              <a:gd name="adj" fmla="val 7018"/>
            </a:avLst>
          </a:prstGeom>
          <a:solidFill>
            <a:srgbClr val="FDF3E2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548640" y="3145536"/>
            <a:ext cx="1143000" cy="5212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U2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1737360" y="3145536"/>
            <a:ext cx="868680" cy="521208"/>
          </a:xfrm>
          <a:prstGeom prst="roundRect">
            <a:avLst>
              <a:gd name="adj" fmla="val 7018"/>
            </a:avLst>
          </a:prstGeom>
          <a:solidFill>
            <a:srgbClr val="2A3778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1737360" y="3145536"/>
            <a:ext cx="868680" cy="5212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2651760" y="3145536"/>
            <a:ext cx="868680" cy="521208"/>
          </a:xfrm>
          <a:prstGeom prst="roundRect">
            <a:avLst>
              <a:gd name="adj" fmla="val 7018"/>
            </a:avLst>
          </a:prstGeom>
          <a:solidFill>
            <a:srgbClr val="2A3778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2651760" y="3145536"/>
            <a:ext cx="868680" cy="5212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3566160" y="3145536"/>
            <a:ext cx="868680" cy="521208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480560" y="3145536"/>
            <a:ext cx="868680" cy="521208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394960" y="3145536"/>
            <a:ext cx="868680" cy="521208"/>
          </a:xfrm>
          <a:prstGeom prst="roundRect">
            <a:avLst>
              <a:gd name="adj" fmla="val 7018"/>
            </a:avLst>
          </a:prstGeom>
          <a:solidFill>
            <a:srgbClr val="2A3778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5394960" y="3145536"/>
            <a:ext cx="868680" cy="5212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548640" y="3712464"/>
            <a:ext cx="1143000" cy="521208"/>
          </a:xfrm>
          <a:prstGeom prst="roundRect">
            <a:avLst>
              <a:gd name="adj" fmla="val 7018"/>
            </a:avLst>
          </a:prstGeom>
          <a:solidFill>
            <a:srgbClr val="FDF3E2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548640" y="3712464"/>
            <a:ext cx="1143000" cy="5212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U3</a:t>
            </a:r>
            <a:endParaRPr lang="en-US" sz="1500" dirty="0"/>
          </a:p>
        </p:txBody>
      </p:sp>
      <p:sp>
        <p:nvSpPr>
          <p:cNvPr id="39" name="Shape 36"/>
          <p:cNvSpPr/>
          <p:nvPr/>
        </p:nvSpPr>
        <p:spPr>
          <a:xfrm>
            <a:off x="1737360" y="3712464"/>
            <a:ext cx="868680" cy="521208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2651760" y="3712464"/>
            <a:ext cx="868680" cy="521208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3566160" y="3712464"/>
            <a:ext cx="868680" cy="521208"/>
          </a:xfrm>
          <a:prstGeom prst="roundRect">
            <a:avLst>
              <a:gd name="adj" fmla="val 7018"/>
            </a:avLst>
          </a:prstGeom>
          <a:solidFill>
            <a:srgbClr val="2A3778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3566160" y="3712464"/>
            <a:ext cx="868680" cy="5212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4480560" y="3712464"/>
            <a:ext cx="868680" cy="521208"/>
          </a:xfrm>
          <a:prstGeom prst="roundRect">
            <a:avLst>
              <a:gd name="adj" fmla="val 7018"/>
            </a:avLst>
          </a:prstGeom>
          <a:solidFill>
            <a:srgbClr val="2A3778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4480560" y="3712464"/>
            <a:ext cx="868680" cy="5212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5394960" y="3712464"/>
            <a:ext cx="868680" cy="521208"/>
          </a:xfrm>
          <a:prstGeom prst="roundRect">
            <a:avLst>
              <a:gd name="adj" fmla="val 7018"/>
            </a:avLst>
          </a:prstGeom>
          <a:solidFill>
            <a:srgbClr val="2A3778"/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5394960" y="3712464"/>
            <a:ext cx="868680" cy="5212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548640" y="4279392"/>
            <a:ext cx="1143000" cy="521208"/>
          </a:xfrm>
          <a:prstGeom prst="roundRect">
            <a:avLst>
              <a:gd name="adj" fmla="val 7018"/>
            </a:avLst>
          </a:prstGeom>
          <a:solidFill>
            <a:srgbClr val="FDF3E2"/>
          </a:solidFill>
          <a:ln/>
        </p:spPr>
      </p:sp>
      <p:sp>
        <p:nvSpPr>
          <p:cNvPr id="48" name="Text 45"/>
          <p:cNvSpPr txBox="1"/>
          <p:nvPr/>
        </p:nvSpPr>
        <p:spPr>
          <a:xfrm>
            <a:off x="548640" y="4279392"/>
            <a:ext cx="1143000" cy="5212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U4</a:t>
            </a:r>
            <a:endParaRPr lang="en-US" sz="1500" dirty="0"/>
          </a:p>
        </p:txBody>
      </p:sp>
      <p:sp>
        <p:nvSpPr>
          <p:cNvPr id="49" name="Shape 46"/>
          <p:cNvSpPr/>
          <p:nvPr/>
        </p:nvSpPr>
        <p:spPr>
          <a:xfrm>
            <a:off x="1737360" y="4279392"/>
            <a:ext cx="868680" cy="521208"/>
          </a:xfrm>
          <a:prstGeom prst="roundRect">
            <a:avLst>
              <a:gd name="adj" fmla="val 7018"/>
            </a:avLst>
          </a:prstGeom>
          <a:solidFill>
            <a:srgbClr val="2A3778"/>
          </a:solidFill>
          <a:ln/>
        </p:spPr>
      </p:sp>
      <p:sp>
        <p:nvSpPr>
          <p:cNvPr id="50" name="Text 47"/>
          <p:cNvSpPr txBox="1"/>
          <p:nvPr/>
        </p:nvSpPr>
        <p:spPr>
          <a:xfrm>
            <a:off x="1737360" y="4279392"/>
            <a:ext cx="868680" cy="5212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</a:t>
            </a:r>
            <a:endParaRPr lang="en-US" sz="1600" dirty="0"/>
          </a:p>
        </p:txBody>
      </p:sp>
      <p:sp>
        <p:nvSpPr>
          <p:cNvPr id="51" name="Shape 48"/>
          <p:cNvSpPr/>
          <p:nvPr/>
        </p:nvSpPr>
        <p:spPr>
          <a:xfrm>
            <a:off x="2651760" y="4279392"/>
            <a:ext cx="868680" cy="521208"/>
          </a:xfrm>
          <a:prstGeom prst="roundRect">
            <a:avLst>
              <a:gd name="adj" fmla="val 7018"/>
            </a:avLst>
          </a:prstGeom>
          <a:solidFill>
            <a:srgbClr val="2A3778"/>
          </a:solidFill>
          <a:ln/>
        </p:spPr>
      </p:sp>
      <p:sp>
        <p:nvSpPr>
          <p:cNvPr id="52" name="Text 49"/>
          <p:cNvSpPr txBox="1"/>
          <p:nvPr/>
        </p:nvSpPr>
        <p:spPr>
          <a:xfrm>
            <a:off x="2651760" y="4279392"/>
            <a:ext cx="868680" cy="5212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</a:t>
            </a:r>
            <a:endParaRPr lang="en-US" sz="1600" dirty="0"/>
          </a:p>
        </p:txBody>
      </p:sp>
      <p:sp>
        <p:nvSpPr>
          <p:cNvPr id="53" name="Shape 50"/>
          <p:cNvSpPr/>
          <p:nvPr/>
        </p:nvSpPr>
        <p:spPr>
          <a:xfrm>
            <a:off x="3566160" y="4279392"/>
            <a:ext cx="868680" cy="521208"/>
          </a:xfrm>
          <a:prstGeom prst="roundRect">
            <a:avLst>
              <a:gd name="adj" fmla="val 7018"/>
            </a:avLst>
          </a:prstGeom>
          <a:solidFill>
            <a:srgbClr val="2A3778"/>
          </a:solidFill>
          <a:ln/>
        </p:spPr>
      </p:sp>
      <p:sp>
        <p:nvSpPr>
          <p:cNvPr id="54" name="Text 51"/>
          <p:cNvSpPr txBox="1"/>
          <p:nvPr/>
        </p:nvSpPr>
        <p:spPr>
          <a:xfrm>
            <a:off x="3566160" y="4279392"/>
            <a:ext cx="868680" cy="5212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</a:t>
            </a:r>
            <a:endParaRPr lang="en-US" sz="1600" dirty="0"/>
          </a:p>
        </p:txBody>
      </p:sp>
      <p:sp>
        <p:nvSpPr>
          <p:cNvPr id="55" name="Shape 52"/>
          <p:cNvSpPr/>
          <p:nvPr/>
        </p:nvSpPr>
        <p:spPr>
          <a:xfrm>
            <a:off x="4480560" y="4279392"/>
            <a:ext cx="868680" cy="521208"/>
          </a:xfrm>
          <a:prstGeom prst="roundRect">
            <a:avLst>
              <a:gd name="adj" fmla="val 7018"/>
            </a:avLst>
          </a:prstGeom>
          <a:solidFill>
            <a:srgbClr val="2A3778"/>
          </a:solidFill>
          <a:ln/>
        </p:spPr>
      </p:sp>
      <p:sp>
        <p:nvSpPr>
          <p:cNvPr id="56" name="Text 53"/>
          <p:cNvSpPr txBox="1"/>
          <p:nvPr/>
        </p:nvSpPr>
        <p:spPr>
          <a:xfrm>
            <a:off x="4480560" y="4279392"/>
            <a:ext cx="868680" cy="5212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</a:t>
            </a:r>
            <a:endParaRPr lang="en-US" sz="1600" dirty="0"/>
          </a:p>
        </p:txBody>
      </p:sp>
      <p:sp>
        <p:nvSpPr>
          <p:cNvPr id="57" name="Shape 54"/>
          <p:cNvSpPr/>
          <p:nvPr/>
        </p:nvSpPr>
        <p:spPr>
          <a:xfrm>
            <a:off x="5394960" y="4279392"/>
            <a:ext cx="868680" cy="521208"/>
          </a:xfrm>
          <a:prstGeom prst="roundRect">
            <a:avLst>
              <a:gd name="adj" fmla="val 7018"/>
            </a:avLst>
          </a:prstGeom>
          <a:solidFill>
            <a:srgbClr val="2A3778"/>
          </a:solidFill>
          <a:ln/>
        </p:spPr>
      </p:sp>
      <p:sp>
        <p:nvSpPr>
          <p:cNvPr id="58" name="Text 55"/>
          <p:cNvSpPr txBox="1"/>
          <p:nvPr/>
        </p:nvSpPr>
        <p:spPr>
          <a:xfrm>
            <a:off x="5394960" y="4279392"/>
            <a:ext cx="868680" cy="5212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</a:t>
            </a:r>
            <a:endParaRPr lang="en-US" sz="1600" dirty="0"/>
          </a:p>
        </p:txBody>
      </p:sp>
      <p:sp>
        <p:nvSpPr>
          <p:cNvPr id="59" name="Shape 56"/>
          <p:cNvSpPr/>
          <p:nvPr/>
        </p:nvSpPr>
        <p:spPr>
          <a:xfrm>
            <a:off x="548640" y="4846320"/>
            <a:ext cx="1143000" cy="521208"/>
          </a:xfrm>
          <a:prstGeom prst="roundRect">
            <a:avLst>
              <a:gd name="adj" fmla="val 7018"/>
            </a:avLst>
          </a:prstGeom>
          <a:solidFill>
            <a:srgbClr val="FDF3E2"/>
          </a:solidFill>
          <a:ln/>
        </p:spPr>
      </p:sp>
      <p:sp>
        <p:nvSpPr>
          <p:cNvPr id="60" name="Text 57"/>
          <p:cNvSpPr txBox="1"/>
          <p:nvPr/>
        </p:nvSpPr>
        <p:spPr>
          <a:xfrm>
            <a:off x="548640" y="4846320"/>
            <a:ext cx="1143000" cy="5212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U5</a:t>
            </a:r>
            <a:endParaRPr lang="en-US" sz="1500" dirty="0"/>
          </a:p>
        </p:txBody>
      </p:sp>
      <p:sp>
        <p:nvSpPr>
          <p:cNvPr id="61" name="Shape 58"/>
          <p:cNvSpPr/>
          <p:nvPr/>
        </p:nvSpPr>
        <p:spPr>
          <a:xfrm>
            <a:off x="1737360" y="4846320"/>
            <a:ext cx="868680" cy="521208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2651760" y="4846320"/>
            <a:ext cx="868680" cy="521208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3566160" y="4846320"/>
            <a:ext cx="868680" cy="521208"/>
          </a:xfrm>
          <a:prstGeom prst="roundRect">
            <a:avLst>
              <a:gd name="adj" fmla="val 7018"/>
            </a:avLst>
          </a:prstGeom>
          <a:solidFill>
            <a:srgbClr val="2A3778"/>
          </a:solidFill>
          <a:ln/>
        </p:spPr>
      </p:sp>
      <p:sp>
        <p:nvSpPr>
          <p:cNvPr id="64" name="Text 61"/>
          <p:cNvSpPr txBox="1"/>
          <p:nvPr/>
        </p:nvSpPr>
        <p:spPr>
          <a:xfrm>
            <a:off x="3566160" y="4846320"/>
            <a:ext cx="868680" cy="5212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</a:t>
            </a:r>
            <a:endParaRPr lang="en-US" sz="1600" dirty="0"/>
          </a:p>
        </p:txBody>
      </p:sp>
      <p:sp>
        <p:nvSpPr>
          <p:cNvPr id="65" name="Shape 62"/>
          <p:cNvSpPr/>
          <p:nvPr/>
        </p:nvSpPr>
        <p:spPr>
          <a:xfrm>
            <a:off x="4480560" y="4846320"/>
            <a:ext cx="868680" cy="521208"/>
          </a:xfrm>
          <a:prstGeom prst="roundRect">
            <a:avLst>
              <a:gd name="adj" fmla="val 7018"/>
            </a:avLst>
          </a:prstGeom>
          <a:solidFill>
            <a:srgbClr val="2A3778"/>
          </a:solidFill>
          <a:ln/>
        </p:spPr>
      </p:sp>
      <p:sp>
        <p:nvSpPr>
          <p:cNvPr id="66" name="Text 63"/>
          <p:cNvSpPr txBox="1"/>
          <p:nvPr/>
        </p:nvSpPr>
        <p:spPr>
          <a:xfrm>
            <a:off x="4480560" y="4846320"/>
            <a:ext cx="868680" cy="5212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</a:t>
            </a:r>
            <a:endParaRPr lang="en-US" sz="1600" dirty="0"/>
          </a:p>
        </p:txBody>
      </p:sp>
      <p:sp>
        <p:nvSpPr>
          <p:cNvPr id="67" name="Shape 64"/>
          <p:cNvSpPr/>
          <p:nvPr/>
        </p:nvSpPr>
        <p:spPr>
          <a:xfrm>
            <a:off x="5394960" y="4846320"/>
            <a:ext cx="868680" cy="521208"/>
          </a:xfrm>
          <a:prstGeom prst="roundRect">
            <a:avLst>
              <a:gd name="adj" fmla="val 7018"/>
            </a:avLst>
          </a:prstGeom>
          <a:solidFill>
            <a:srgbClr val="2A3778"/>
          </a:solidFill>
          <a:ln/>
        </p:spPr>
      </p:sp>
      <p:sp>
        <p:nvSpPr>
          <p:cNvPr id="68" name="Text 65"/>
          <p:cNvSpPr txBox="1"/>
          <p:nvPr/>
        </p:nvSpPr>
        <p:spPr>
          <a:xfrm>
            <a:off x="5394960" y="4846320"/>
            <a:ext cx="868680" cy="5212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</a:t>
            </a:r>
            <a:endParaRPr lang="en-US" sz="1600" dirty="0"/>
          </a:p>
        </p:txBody>
      </p:sp>
      <p:sp>
        <p:nvSpPr>
          <p:cNvPr id="69" name="Shape 66"/>
          <p:cNvSpPr/>
          <p:nvPr/>
        </p:nvSpPr>
        <p:spPr>
          <a:xfrm>
            <a:off x="6858000" y="2103120"/>
            <a:ext cx="475488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</p:spPr>
      </p:sp>
      <p:sp>
        <p:nvSpPr>
          <p:cNvPr id="70" name="Shape 67"/>
          <p:cNvSpPr/>
          <p:nvPr/>
        </p:nvSpPr>
        <p:spPr>
          <a:xfrm>
            <a:off x="6858000" y="2103120"/>
            <a:ext cx="502920" cy="868680"/>
          </a:xfrm>
          <a:prstGeom prst="roundRect">
            <a:avLst>
              <a:gd name="adj" fmla="val 16364"/>
            </a:avLst>
          </a:prstGeom>
          <a:solidFill>
            <a:srgbClr val="D9932B"/>
          </a:solidFill>
          <a:ln/>
        </p:spPr>
      </p:sp>
      <p:sp>
        <p:nvSpPr>
          <p:cNvPr id="71" name="Text 68"/>
          <p:cNvSpPr txBox="1"/>
          <p:nvPr/>
        </p:nvSpPr>
        <p:spPr>
          <a:xfrm>
            <a:off x="6858000" y="2103120"/>
            <a:ext cx="50292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</a:t>
            </a:r>
            <a:endParaRPr lang="en-US" sz="1800" dirty="0"/>
          </a:p>
        </p:txBody>
      </p:sp>
      <p:sp>
        <p:nvSpPr>
          <p:cNvPr id="72" name="Text 69"/>
          <p:cNvSpPr txBox="1"/>
          <p:nvPr/>
        </p:nvSpPr>
        <p:spPr>
          <a:xfrm>
            <a:off x="7498080" y="210312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Nechta rol topa olasiz?</a:t>
            </a:r>
            <a:endParaRPr lang="en-US" sz="1600" dirty="0"/>
          </a:p>
        </p:txBody>
      </p:sp>
      <p:sp>
        <p:nvSpPr>
          <p:cNvPr id="73" name="Shape 70"/>
          <p:cNvSpPr/>
          <p:nvPr/>
        </p:nvSpPr>
        <p:spPr>
          <a:xfrm>
            <a:off x="6858000" y="3108960"/>
            <a:ext cx="475488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</p:spPr>
      </p:sp>
      <p:sp>
        <p:nvSpPr>
          <p:cNvPr id="74" name="Shape 71"/>
          <p:cNvSpPr/>
          <p:nvPr/>
        </p:nvSpPr>
        <p:spPr>
          <a:xfrm>
            <a:off x="6858000" y="3108960"/>
            <a:ext cx="502920" cy="868680"/>
          </a:xfrm>
          <a:prstGeom prst="roundRect">
            <a:avLst>
              <a:gd name="adj" fmla="val 16364"/>
            </a:avLst>
          </a:prstGeom>
          <a:solidFill>
            <a:srgbClr val="D9932B"/>
          </a:solidFill>
          <a:ln/>
        </p:spPr>
      </p:sp>
      <p:sp>
        <p:nvSpPr>
          <p:cNvPr id="75" name="Text 72"/>
          <p:cNvSpPr txBox="1"/>
          <p:nvPr/>
        </p:nvSpPr>
        <p:spPr>
          <a:xfrm>
            <a:off x="6858000" y="3108960"/>
            <a:ext cx="50292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</a:t>
            </a:r>
            <a:endParaRPr lang="en-US" sz="1800" dirty="0"/>
          </a:p>
        </p:txBody>
      </p:sp>
      <p:sp>
        <p:nvSpPr>
          <p:cNvPr id="76" name="Text 73"/>
          <p:cNvSpPr txBox="1"/>
          <p:nvPr/>
        </p:nvSpPr>
        <p:spPr>
          <a:xfrm>
            <a:off x="7498080" y="310896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U4 nima uchun alohida?</a:t>
            </a:r>
            <a:endParaRPr lang="en-US" sz="1600" dirty="0"/>
          </a:p>
        </p:txBody>
      </p:sp>
      <p:sp>
        <p:nvSpPr>
          <p:cNvPr id="77" name="Shape 74"/>
          <p:cNvSpPr/>
          <p:nvPr/>
        </p:nvSpPr>
        <p:spPr>
          <a:xfrm>
            <a:off x="6858000" y="4114800"/>
            <a:ext cx="475488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</p:spPr>
      </p:sp>
      <p:sp>
        <p:nvSpPr>
          <p:cNvPr id="78" name="Shape 75"/>
          <p:cNvSpPr/>
          <p:nvPr/>
        </p:nvSpPr>
        <p:spPr>
          <a:xfrm>
            <a:off x="6858000" y="4114800"/>
            <a:ext cx="502920" cy="868680"/>
          </a:xfrm>
          <a:prstGeom prst="roundRect">
            <a:avLst>
              <a:gd name="adj" fmla="val 16364"/>
            </a:avLst>
          </a:prstGeom>
          <a:solidFill>
            <a:srgbClr val="D9932B"/>
          </a:solidFill>
          <a:ln/>
        </p:spPr>
      </p:sp>
      <p:sp>
        <p:nvSpPr>
          <p:cNvPr id="79" name="Text 76"/>
          <p:cNvSpPr txBox="1"/>
          <p:nvPr/>
        </p:nvSpPr>
        <p:spPr>
          <a:xfrm>
            <a:off x="6858000" y="4114800"/>
            <a:ext cx="50292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endParaRPr lang="en-US" sz="1800" dirty="0"/>
          </a:p>
        </p:txBody>
      </p:sp>
      <p:sp>
        <p:nvSpPr>
          <p:cNvPr id="80" name="Text 77"/>
          <p:cNvSpPr txBox="1"/>
          <p:nvPr/>
        </p:nvSpPr>
        <p:spPr>
          <a:xfrm>
            <a:off x="7498080" y="411480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P5 barcha rollarda — nima qilish kerak?</a:t>
            </a:r>
            <a:endParaRPr lang="en-US" sz="1600" dirty="0"/>
          </a:p>
        </p:txBody>
      </p:sp>
      <p:sp>
        <p:nvSpPr>
          <p:cNvPr id="81" name="Text 78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14-ma'ruza</a:t>
            </a:r>
            <a:endParaRPr lang="en-US" sz="1100" dirty="0"/>
          </a:p>
        </p:txBody>
      </p:sp>
      <p:sp>
        <p:nvSpPr>
          <p:cNvPr id="82" name="Text 79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206240"/>
            <a:ext cx="4572000" cy="4572000"/>
          </a:xfrm>
          <a:prstGeom prst="ellipse">
            <a:avLst/>
          </a:prstGeom>
          <a:solidFill>
            <a:srgbClr val="2A37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05840" y="22860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 BO'LIM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2724912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Qayta sertifikatlash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3703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Access review · Kampaniya · Rubber-stamping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052560" y="1920240"/>
            <a:ext cx="2560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0" b="1" dirty="0">
                <a:solidFill>
                  <a:srgbClr val="2A37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</a:t>
            </a:r>
            <a:endParaRPr lang="en-US" sz="1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14-ma'ruza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 · QAYTA SERTIFIKATLASH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Huquqlar haligacha to'g'rimi? — davriy tekshiruv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084832" cy="1234440"/>
          </a:xfrm>
          <a:prstGeom prst="roundRect">
            <a:avLst>
              <a:gd name="adj" fmla="val 6667"/>
            </a:avLst>
          </a:prstGeom>
          <a:solidFill>
            <a:srgbClr val="EEF2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21792" y="1783080"/>
            <a:ext cx="1938528" cy="1234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Kampaniya boshlanadi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638044" y="2400300"/>
            <a:ext cx="118872" cy="0"/>
          </a:xfrm>
          <a:prstGeom prst="line">
            <a:avLst/>
          </a:prstGeom>
          <a:noFill/>
          <a:ln w="2857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761488" y="1783080"/>
            <a:ext cx="2084832" cy="1234440"/>
          </a:xfrm>
          <a:prstGeom prst="roundRect">
            <a:avLst>
              <a:gd name="adj" fmla="val 6667"/>
            </a:avLst>
          </a:prstGeom>
          <a:solidFill>
            <a:srgbClr val="EEF2F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834640" y="1783080"/>
            <a:ext cx="1938528" cy="1234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Rahbar ro'yxatni ko'radi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850892" y="2400300"/>
            <a:ext cx="118872" cy="0"/>
          </a:xfrm>
          <a:prstGeom prst="line">
            <a:avLst/>
          </a:prstGeom>
          <a:noFill/>
          <a:ln w="2857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974336" y="1783080"/>
            <a:ext cx="2084832" cy="123444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047488" y="1783080"/>
            <a:ext cx="1938528" cy="1234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Tasdiq yoki bekor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063740" y="2400300"/>
            <a:ext cx="118872" cy="0"/>
          </a:xfrm>
          <a:prstGeom prst="line">
            <a:avLst/>
          </a:prstGeom>
          <a:noFill/>
          <a:ln w="2857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187184" y="1783080"/>
            <a:ext cx="2084832" cy="1234440"/>
          </a:xfrm>
          <a:prstGeom prst="roundRect">
            <a:avLst>
              <a:gd name="adj" fmla="val 6667"/>
            </a:avLst>
          </a:prstGeom>
          <a:solidFill>
            <a:srgbClr val="EEF2F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260336" y="1783080"/>
            <a:ext cx="1938528" cy="1234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Bekor qilingan avtomatik olinadi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276588" y="2400300"/>
            <a:ext cx="118872" cy="0"/>
          </a:xfrm>
          <a:prstGeom prst="line">
            <a:avLst/>
          </a:prstGeom>
          <a:noFill/>
          <a:ln w="2857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400032" y="1783080"/>
            <a:ext cx="2084832" cy="1234440"/>
          </a:xfrm>
          <a:prstGeom prst="roundRect">
            <a:avLst>
              <a:gd name="adj" fmla="val 6667"/>
            </a:avLst>
          </a:prstGeom>
          <a:solidFill>
            <a:srgbClr val="EEF2F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73184" y="1783080"/>
            <a:ext cx="1938528" cy="1234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Audit hisoboti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3291840"/>
            <a:ext cx="5440680" cy="2834640"/>
          </a:xfrm>
          <a:prstGeom prst="roundRect">
            <a:avLst>
              <a:gd name="adj" fmla="val 2903"/>
            </a:avLst>
          </a:prstGeom>
          <a:solidFill>
            <a:srgbClr val="EEF2FB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52044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0" descr="/home/claude/fob-slides/icons_out/clock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519" y="3647999"/>
            <a:ext cx="311810" cy="31181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1554480" y="35661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Qanchalik tez-tez?</a:t>
            </a:r>
            <a:endParaRPr lang="en-US" sz="2000" dirty="0"/>
          </a:p>
        </p:txBody>
      </p:sp>
      <p:sp>
        <p:nvSpPr>
          <p:cNvPr id="22" name="Text 19"/>
          <p:cNvSpPr txBox="1"/>
          <p:nvPr/>
        </p:nvSpPr>
        <p:spPr>
          <a:xfrm>
            <a:off x="822960" y="420624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Imtiyozli qayd yozuvlari — har chorakda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Oddiy imtiyozlar — yiliga 1-2 marta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Lavozim o'zgarganda — darhol (M2: Mover)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Tashqi hamkorlar — tez-tez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172200" y="3291840"/>
            <a:ext cx="5440680" cy="2834640"/>
          </a:xfrm>
          <a:prstGeom prst="roundRect">
            <a:avLst>
              <a:gd name="adj" fmla="val 2903"/>
            </a:avLst>
          </a:prstGeom>
          <a:solidFill>
            <a:srgbClr val="F7ECEA"/>
          </a:solidFill>
          <a:ln/>
        </p:spPr>
      </p:sp>
      <p:sp>
        <p:nvSpPr>
          <p:cNvPr id="24" name="Shape 21"/>
          <p:cNvSpPr/>
          <p:nvPr/>
        </p:nvSpPr>
        <p:spPr>
          <a:xfrm>
            <a:off x="6446520" y="3520440"/>
            <a:ext cx="566928" cy="566928"/>
          </a:xfrm>
          <a:prstGeom prst="ellipse">
            <a:avLst/>
          </a:prstGeom>
          <a:solidFill>
            <a:srgbClr val="9E3B2E"/>
          </a:solidFill>
          <a:ln/>
        </p:spPr>
      </p:sp>
      <p:pic>
        <p:nvPicPr>
          <p:cNvPr id="25" name="Image 1" descr="/home/claude/fob-slides/icons_out/warn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4079" y="3647999"/>
            <a:ext cx="311810" cy="311810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7178040" y="35661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9E3B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Xavf: «rubber-stamping»</a:t>
            </a:r>
            <a:endParaRPr lang="en-US" sz="2000" dirty="0"/>
          </a:p>
        </p:txBody>
      </p:sp>
      <p:sp>
        <p:nvSpPr>
          <p:cNvPr id="27" name="Text 23"/>
          <p:cNvSpPr txBox="1"/>
          <p:nvPr/>
        </p:nvSpPr>
        <p:spPr>
          <a:xfrm>
            <a:off x="6446520" y="42062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Rahbar minglab imtiyozni ko'r-ko'rona «tasdiqlash» tugmasini bosib chiqadi — tekshiruv formal bo'lib qoladi.</a:t>
            </a:r>
            <a:endParaRPr lang="en-US" sz="1600" dirty="0"/>
          </a:p>
        </p:txBody>
      </p:sp>
      <p:sp>
        <p:nvSpPr>
          <p:cNvPr id="28" name="Text 24"/>
          <p:cNvSpPr txBox="1"/>
          <p:nvPr/>
        </p:nvSpPr>
        <p:spPr>
          <a:xfrm>
            <a:off x="6446520" y="502920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9E3B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Yechim: 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faqat o'zgarishlarni ko'rsatish; ishlatilmagan imtiyozlarni belgilash; risk bo'yicha saralash; tasdiqlovchini javobgar qilish.</a:t>
            </a:r>
            <a:endParaRPr lang="en-US" sz="1600" dirty="0"/>
          </a:p>
        </p:txBody>
      </p:sp>
      <p:sp>
        <p:nvSpPr>
          <p:cNvPr id="29" name="Text 2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14-ma'ruza</a:t>
            </a:r>
            <a:endParaRPr lang="en-US" sz="1100" dirty="0"/>
          </a:p>
        </p:txBody>
      </p:sp>
      <p:sp>
        <p:nvSpPr>
          <p:cNvPr id="30" name="Text 26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 · NIMANI IZLASH KERAK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Qayta sertifikatlashda topiladigan tipik muammolar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66160" cy="1920240"/>
          </a:xfrm>
          <a:prstGeom prst="roundRect">
            <a:avLst>
              <a:gd name="adj" fmla="val 4286"/>
            </a:avLst>
          </a:prstGeom>
          <a:solidFill>
            <a:srgbClr val="EEF2FB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011680"/>
            <a:ext cx="566928" cy="566928"/>
          </a:xfrm>
          <a:prstGeom prst="ellipse">
            <a:avLst/>
          </a:prstGeom>
          <a:solidFill>
            <a:srgbClr val="9E3B2E"/>
          </a:solidFill>
          <a:ln/>
        </p:spPr>
      </p:sp>
      <p:pic>
        <p:nvPicPr>
          <p:cNvPr id="6" name="Image 0" descr="/home/claude/fob-slides/icons_out/layers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4799" y="2139239"/>
            <a:ext cx="311810" cy="31181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9659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Ortiqcha imtiyozlar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508760" y="235915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privilege creep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74320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Lavozim o'zgargan, lekin eski huquqlar qolgan (M2 Mover)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297680" y="1783080"/>
            <a:ext cx="3566160" cy="1920240"/>
          </a:xfrm>
          <a:prstGeom prst="roundRect">
            <a:avLst>
              <a:gd name="adj" fmla="val 4286"/>
            </a:avLst>
          </a:prstGeom>
          <a:solidFill>
            <a:srgbClr val="EEF2FB"/>
          </a:solidFill>
          <a:ln/>
        </p:spPr>
      </p:sp>
      <p:sp>
        <p:nvSpPr>
          <p:cNvPr id="11" name="Shape 8"/>
          <p:cNvSpPr/>
          <p:nvPr/>
        </p:nvSpPr>
        <p:spPr>
          <a:xfrm>
            <a:off x="4526280" y="2011680"/>
            <a:ext cx="566928" cy="566928"/>
          </a:xfrm>
          <a:prstGeom prst="ellipse">
            <a:avLst/>
          </a:prstGeom>
          <a:solidFill>
            <a:srgbClr val="9E3B2E"/>
          </a:solidFill>
          <a:ln/>
        </p:spPr>
      </p:sp>
      <p:pic>
        <p:nvPicPr>
          <p:cNvPr id="12" name="Image 1" descr="/home/claude/fob-slides/icons_out/usertimes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3839" y="2139239"/>
            <a:ext cx="311810" cy="31181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257800" y="19659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Egasiz qayd yozuvlari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5257800" y="235915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orphaned accounts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4526280" y="274320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Foydalanuvchi ketgan, huquqlar faol (M2, M9)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8046720" y="1783080"/>
            <a:ext cx="3566160" cy="1920240"/>
          </a:xfrm>
          <a:prstGeom prst="roundRect">
            <a:avLst>
              <a:gd name="adj" fmla="val 4286"/>
            </a:avLst>
          </a:prstGeom>
          <a:solidFill>
            <a:srgbClr val="EEF2FB"/>
          </a:solidFill>
          <a:ln/>
        </p:spPr>
      </p:sp>
      <p:sp>
        <p:nvSpPr>
          <p:cNvPr id="17" name="Shape 13"/>
          <p:cNvSpPr/>
          <p:nvPr/>
        </p:nvSpPr>
        <p:spPr>
          <a:xfrm>
            <a:off x="8275320" y="2011680"/>
            <a:ext cx="566928" cy="566928"/>
          </a:xfrm>
          <a:prstGeom prst="ellipse">
            <a:avLst/>
          </a:prstGeom>
          <a:solidFill>
            <a:srgbClr val="9E3B2E"/>
          </a:solidFill>
          <a:ln/>
        </p:spPr>
      </p:sp>
      <p:pic>
        <p:nvPicPr>
          <p:cNvPr id="18" name="Image 2" descr="/home/claude/fob-slides/icons_out/clo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2879" y="2139239"/>
            <a:ext cx="311810" cy="31181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006840" y="19659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Ishlatilmagan huquqlar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9006840" y="235915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dormant access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8275320" y="274320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 oydan beri ishlatilmagan imtiyoz — ehtimol kerak emas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548640" y="3931920"/>
            <a:ext cx="3566160" cy="1920240"/>
          </a:xfrm>
          <a:prstGeom prst="roundRect">
            <a:avLst>
              <a:gd name="adj" fmla="val 4286"/>
            </a:avLst>
          </a:prstGeom>
          <a:solidFill>
            <a:srgbClr val="EEF2FB"/>
          </a:solidFill>
          <a:ln/>
        </p:spPr>
      </p:sp>
      <p:sp>
        <p:nvSpPr>
          <p:cNvPr id="23" name="Shape 18"/>
          <p:cNvSpPr/>
          <p:nvPr/>
        </p:nvSpPr>
        <p:spPr>
          <a:xfrm>
            <a:off x="777240" y="4160520"/>
            <a:ext cx="566928" cy="566928"/>
          </a:xfrm>
          <a:prstGeom prst="ellipse">
            <a:avLst/>
          </a:prstGeom>
          <a:solidFill>
            <a:srgbClr val="9E3B2E"/>
          </a:solidFill>
          <a:ln/>
        </p:spPr>
      </p:sp>
      <p:pic>
        <p:nvPicPr>
          <p:cNvPr id="24" name="Image 3" descr="/home/claude/fob-slides/icons_out/balanc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799" y="4288079"/>
            <a:ext cx="311810" cy="31181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508760" y="41148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SoD buzilishi</a:t>
            </a:r>
            <a:endParaRPr lang="en-US" sz="1700" dirty="0"/>
          </a:p>
        </p:txBody>
      </p:sp>
      <p:sp>
        <p:nvSpPr>
          <p:cNvPr id="26" name="Text 20"/>
          <p:cNvSpPr txBox="1"/>
          <p:nvPr/>
        </p:nvSpPr>
        <p:spPr>
          <a:xfrm>
            <a:off x="1508760" y="450799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toxic combinations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777240" y="48920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Mos kelmaydigan rollar bir shaxsda (M13)</a:t>
            </a:r>
            <a:endParaRPr lang="en-US" sz="1500" dirty="0"/>
          </a:p>
        </p:txBody>
      </p:sp>
      <p:sp>
        <p:nvSpPr>
          <p:cNvPr id="28" name="Shape 22"/>
          <p:cNvSpPr/>
          <p:nvPr/>
        </p:nvSpPr>
        <p:spPr>
          <a:xfrm>
            <a:off x="4297680" y="3931920"/>
            <a:ext cx="3566160" cy="1920240"/>
          </a:xfrm>
          <a:prstGeom prst="roundRect">
            <a:avLst>
              <a:gd name="adj" fmla="val 4286"/>
            </a:avLst>
          </a:prstGeom>
          <a:solidFill>
            <a:srgbClr val="EEF2FB"/>
          </a:solidFill>
          <a:ln/>
        </p:spPr>
      </p:sp>
      <p:sp>
        <p:nvSpPr>
          <p:cNvPr id="29" name="Shape 23"/>
          <p:cNvSpPr/>
          <p:nvPr/>
        </p:nvSpPr>
        <p:spPr>
          <a:xfrm>
            <a:off x="4526280" y="4160520"/>
            <a:ext cx="566928" cy="566928"/>
          </a:xfrm>
          <a:prstGeom prst="ellipse">
            <a:avLst/>
          </a:prstGeom>
          <a:solidFill>
            <a:srgbClr val="9E3B2E"/>
          </a:solidFill>
          <a:ln/>
        </p:spPr>
      </p:sp>
      <p:pic>
        <p:nvPicPr>
          <p:cNvPr id="30" name="Image 4" descr="/home/claude/fob-slides/icons_out/user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3839" y="4288079"/>
            <a:ext cx="311810" cy="31181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5257800" y="41148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Umumiy qayd yozuvlari</a:t>
            </a:r>
            <a:endParaRPr lang="en-US" sz="1700" dirty="0"/>
          </a:p>
        </p:txBody>
      </p:sp>
      <p:sp>
        <p:nvSpPr>
          <p:cNvPr id="32" name="Text 25"/>
          <p:cNvSpPr txBox="1"/>
          <p:nvPr/>
        </p:nvSpPr>
        <p:spPr>
          <a:xfrm>
            <a:off x="5257800" y="450799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shared accounts</a:t>
            </a:r>
            <a:endParaRPr lang="en-US" sz="1400" dirty="0"/>
          </a:p>
        </p:txBody>
      </p:sp>
      <p:sp>
        <p:nvSpPr>
          <p:cNvPr id="33" name="Text 26"/>
          <p:cNvSpPr txBox="1"/>
          <p:nvPr/>
        </p:nvSpPr>
        <p:spPr>
          <a:xfrm>
            <a:off x="4526280" y="48920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Bir qayd yozuvidan bir necha kishi (M2)</a:t>
            </a:r>
            <a:endParaRPr lang="en-US" sz="1500" dirty="0"/>
          </a:p>
        </p:txBody>
      </p:sp>
      <p:sp>
        <p:nvSpPr>
          <p:cNvPr id="34" name="Shape 27"/>
          <p:cNvSpPr/>
          <p:nvPr/>
        </p:nvSpPr>
        <p:spPr>
          <a:xfrm>
            <a:off x="8046720" y="3931920"/>
            <a:ext cx="3566160" cy="1920240"/>
          </a:xfrm>
          <a:prstGeom prst="roundRect">
            <a:avLst>
              <a:gd name="adj" fmla="val 4286"/>
            </a:avLst>
          </a:prstGeom>
          <a:solidFill>
            <a:srgbClr val="EEF2FB"/>
          </a:solidFill>
          <a:ln/>
        </p:spPr>
      </p:sp>
      <p:sp>
        <p:nvSpPr>
          <p:cNvPr id="35" name="Shape 28"/>
          <p:cNvSpPr/>
          <p:nvPr/>
        </p:nvSpPr>
        <p:spPr>
          <a:xfrm>
            <a:off x="8275320" y="4160520"/>
            <a:ext cx="566928" cy="566928"/>
          </a:xfrm>
          <a:prstGeom prst="ellipse">
            <a:avLst/>
          </a:prstGeom>
          <a:solidFill>
            <a:srgbClr val="9E3B2E"/>
          </a:solidFill>
          <a:ln/>
        </p:spPr>
      </p:sp>
      <p:pic>
        <p:nvPicPr>
          <p:cNvPr id="36" name="Image 5" descr="/home/claude/fob-slides/icons_out/glob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2879" y="4288079"/>
            <a:ext cx="311810" cy="31181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9006840" y="41148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Tashqi kirish</a:t>
            </a:r>
            <a:endParaRPr lang="en-US" sz="1700" dirty="0"/>
          </a:p>
        </p:txBody>
      </p:sp>
      <p:sp>
        <p:nvSpPr>
          <p:cNvPr id="38" name="Text 30"/>
          <p:cNvSpPr txBox="1"/>
          <p:nvPr/>
        </p:nvSpPr>
        <p:spPr>
          <a:xfrm>
            <a:off x="9006840" y="450799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guest access</a:t>
            </a:r>
            <a:endParaRPr lang="en-US" sz="1400" dirty="0"/>
          </a:p>
        </p:txBody>
      </p:sp>
      <p:sp>
        <p:nvSpPr>
          <p:cNvPr id="39" name="Text 31"/>
          <p:cNvSpPr txBox="1"/>
          <p:nvPr/>
        </p:nvSpPr>
        <p:spPr>
          <a:xfrm>
            <a:off x="8275320" y="48920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Hamkorlar va vaqtinchalik xodimlar huquqlari</a:t>
            </a:r>
            <a:endParaRPr lang="en-US" sz="1500" dirty="0"/>
          </a:p>
        </p:txBody>
      </p:sp>
      <p:sp>
        <p:nvSpPr>
          <p:cNvPr id="40" name="Text 32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Bularning ko'pchiligini avtomatlashtirib topish mumkin — IGA vositalari aynan shu uchun.</a:t>
            </a:r>
            <a:endParaRPr lang="en-US" sz="1500" dirty="0"/>
          </a:p>
        </p:txBody>
      </p:sp>
      <p:sp>
        <p:nvSpPr>
          <p:cNvPr id="41" name="Text 3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14-ma'ruza</a:t>
            </a:r>
            <a:endParaRPr lang="en-US" sz="1100" dirty="0"/>
          </a:p>
        </p:txBody>
      </p:sp>
      <p:sp>
        <p:nvSpPr>
          <p:cNvPr id="42" name="Text 34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3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D99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MUHOKAMA · 6 DAQIQA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Audit natijasi: birinchi nimani hal qilasiz?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744200" y="411480"/>
            <a:ext cx="868680" cy="868680"/>
          </a:xfrm>
          <a:prstGeom prst="ellipse">
            <a:avLst/>
          </a:prstGeom>
          <a:solidFill>
            <a:srgbClr val="D9932B"/>
          </a:solidFill>
          <a:ln/>
        </p:spPr>
      </p:sp>
      <p:pic>
        <p:nvPicPr>
          <p:cNvPr id="5" name="Image 0" descr="/home/claude/fob-slides/icons_out/search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8744" y="646024"/>
            <a:ext cx="399593" cy="39959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17830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Universitet IGA auditi qayta sertifikatlash uchun quyidagilarni aniqladi: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2377440"/>
            <a:ext cx="265176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2514600"/>
            <a:ext cx="265176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D99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89</a:t>
            </a:r>
            <a:endParaRPr lang="en-US" sz="44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291840"/>
            <a:ext cx="228600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o'qituvchi hamon eski kafedra huquqlariga ega (Mover)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355848" y="2377440"/>
            <a:ext cx="265176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355848" y="2514600"/>
            <a:ext cx="265176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D99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24</a:t>
            </a:r>
            <a:endParaRPr lang="en-US" sz="4400" dirty="0"/>
          </a:p>
        </p:txBody>
      </p:sp>
      <p:sp>
        <p:nvSpPr>
          <p:cNvPr id="12" name="Text 9"/>
          <p:cNvSpPr txBox="1"/>
          <p:nvPr/>
        </p:nvSpPr>
        <p:spPr>
          <a:xfrm>
            <a:off x="3538728" y="3291840"/>
            <a:ext cx="228600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egasiz qayd yozuvi, faol imtiyozlar bilan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163056" y="2377440"/>
            <a:ext cx="265176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163056" y="2514600"/>
            <a:ext cx="265176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D99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4400" dirty="0"/>
          </a:p>
        </p:txBody>
      </p:sp>
      <p:sp>
        <p:nvSpPr>
          <p:cNvPr id="15" name="Text 12"/>
          <p:cNvSpPr txBox="1"/>
          <p:nvPr/>
        </p:nvSpPr>
        <p:spPr>
          <a:xfrm>
            <a:off x="6345936" y="3291840"/>
            <a:ext cx="228600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kishi ham baho kiritish, ham tasdiqlash huquqiga ega (SoD)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8970264" y="2377440"/>
            <a:ext cx="265176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970264" y="2514600"/>
            <a:ext cx="265176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D99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156</a:t>
            </a:r>
            <a:endParaRPr lang="en-US" sz="4400" dirty="0"/>
          </a:p>
        </p:txBody>
      </p:sp>
      <p:sp>
        <p:nvSpPr>
          <p:cNvPr id="18" name="Text 15"/>
          <p:cNvSpPr txBox="1"/>
          <p:nvPr/>
        </p:nvSpPr>
        <p:spPr>
          <a:xfrm>
            <a:off x="9153144" y="3291840"/>
            <a:ext cx="228600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imtiyoz 6 oydan beri umuman ishlatilmagan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48640" y="4754880"/>
            <a:ext cx="1106424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/>
        </p:spPr>
      </p:sp>
      <p:sp>
        <p:nvSpPr>
          <p:cNvPr id="20" name="Shape 17"/>
          <p:cNvSpPr/>
          <p:nvPr/>
        </p:nvSpPr>
        <p:spPr>
          <a:xfrm>
            <a:off x="822960" y="5047488"/>
            <a:ext cx="731520" cy="731520"/>
          </a:xfrm>
          <a:prstGeom prst="ellipse">
            <a:avLst/>
          </a:prstGeom>
          <a:solidFill>
            <a:srgbClr val="D9932B"/>
          </a:solidFill>
          <a:ln/>
        </p:spPr>
      </p:sp>
      <p:pic>
        <p:nvPicPr>
          <p:cNvPr id="21" name="Image 1" descr="/home/claude/fob-slides/icons_out/question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5248656"/>
            <a:ext cx="329184" cy="329184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1783080" y="48463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Qaysi ikkitasini birinchi hal qilasiz va nega? Qaysi biri eng katta xavf?</a:t>
            </a:r>
            <a:endParaRPr lang="en-US" sz="1800" dirty="0"/>
          </a:p>
        </p:txBody>
      </p:sp>
      <p:sp>
        <p:nvSpPr>
          <p:cNvPr id="23" name="Text 19"/>
          <p:cNvSpPr txBox="1"/>
          <p:nvPr/>
        </p:nvSpPr>
        <p:spPr>
          <a:xfrm>
            <a:off x="1783080" y="54406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Maslahat: xavf = ehtimollik × ta'sir; qaysi birini tozalash arzon va tez?</a:t>
            </a:r>
            <a:endParaRPr lang="en-US" sz="1600" dirty="0"/>
          </a:p>
        </p:txBody>
      </p:sp>
      <p:sp>
        <p:nvSpPr>
          <p:cNvPr id="24" name="Text 20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14-ma'ruza</a:t>
            </a:r>
            <a:endParaRPr lang="en-US" sz="1100" dirty="0"/>
          </a:p>
        </p:txBody>
      </p:sp>
      <p:sp>
        <p:nvSpPr>
          <p:cNvPr id="25" name="Text 21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3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D99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MINI-VAZIFA · 5 DAQIQA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Qayta sertifikatlash qarori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744200" y="411480"/>
            <a:ext cx="868680" cy="868680"/>
          </a:xfrm>
          <a:prstGeom prst="ellipse">
            <a:avLst/>
          </a:prstGeom>
          <a:solidFill>
            <a:srgbClr val="D9932B"/>
          </a:solidFill>
          <a:ln/>
        </p:spPr>
      </p:sp>
      <p:pic>
        <p:nvPicPr>
          <p:cNvPr id="5" name="Image 0" descr="/home/claude/fob-slides/icons_out/pencil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8744" y="646024"/>
            <a:ext cx="399593" cy="39959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783080"/>
            <a:ext cx="11064240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68680" y="17830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Siz — kafedra mudirisiz. Har bir topilma uchun: tasdiqlash, bekor qilish yoki so'rov yuborish?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48640" y="2606040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606040"/>
            <a:ext cx="685800" cy="731520"/>
          </a:xfrm>
          <a:prstGeom prst="roundRect">
            <a:avLst>
              <a:gd name="adj" fmla="val 12000"/>
            </a:avLst>
          </a:prstGeom>
          <a:solidFill>
            <a:srgbClr val="D9932B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48640" y="2606040"/>
            <a:ext cx="6858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417320" y="26060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O'qituvchi Aziz «baho kiritish» huquqiga ega — hozir dars beryapti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10012680" y="2724912"/>
            <a:ext cx="1417320" cy="493776"/>
          </a:xfrm>
          <a:prstGeom prst="roundRect">
            <a:avLst>
              <a:gd name="adj" fmla="val 16667"/>
            </a:avLst>
          </a:prstGeom>
          <a:solidFill>
            <a:srgbClr val="FDF3E2"/>
          </a:solidFill>
          <a:ln w="12700">
            <a:solidFill>
              <a:srgbClr val="D9932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012680" y="2724912"/>
            <a:ext cx="141732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Qaror?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48640" y="3456432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3456432"/>
            <a:ext cx="685800" cy="731520"/>
          </a:xfrm>
          <a:prstGeom prst="roundRect">
            <a:avLst>
              <a:gd name="adj" fmla="val 12000"/>
            </a:avLst>
          </a:prstGeom>
          <a:solidFill>
            <a:srgbClr val="D9932B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48640" y="3456432"/>
            <a:ext cx="6858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1417320" y="3456432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Laborant Bobur «xodim qabul qilish» huquqiga ega — nega ekani noma'lum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10012680" y="3575304"/>
            <a:ext cx="1417320" cy="493776"/>
          </a:xfrm>
          <a:prstGeom prst="roundRect">
            <a:avLst>
              <a:gd name="adj" fmla="val 16667"/>
            </a:avLst>
          </a:prstGeom>
          <a:solidFill>
            <a:srgbClr val="FDF3E2"/>
          </a:solidFill>
          <a:ln w="12700">
            <a:solidFill>
              <a:srgbClr val="D9932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0012680" y="3575304"/>
            <a:ext cx="141732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Qaror?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48640" y="4306824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/>
        </p:spPr>
      </p:sp>
      <p:sp>
        <p:nvSpPr>
          <p:cNvPr id="21" name="Shape 18"/>
          <p:cNvSpPr/>
          <p:nvPr/>
        </p:nvSpPr>
        <p:spPr>
          <a:xfrm>
            <a:off x="548640" y="4306824"/>
            <a:ext cx="685800" cy="731520"/>
          </a:xfrm>
          <a:prstGeom prst="roundRect">
            <a:avLst>
              <a:gd name="adj" fmla="val 12000"/>
            </a:avLst>
          </a:prstGeom>
          <a:solidFill>
            <a:srgbClr val="D9932B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548640" y="4306824"/>
            <a:ext cx="6858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1417320" y="4306824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Ketgan dotsentning qayd yozuvi hamon faol va «hisobot» huquqiga ega</a:t>
            </a:r>
            <a:endParaRPr lang="en-US" sz="1700" dirty="0"/>
          </a:p>
        </p:txBody>
      </p:sp>
      <p:sp>
        <p:nvSpPr>
          <p:cNvPr id="24" name="Shape 21"/>
          <p:cNvSpPr/>
          <p:nvPr/>
        </p:nvSpPr>
        <p:spPr>
          <a:xfrm>
            <a:off x="10012680" y="4425696"/>
            <a:ext cx="1417320" cy="493776"/>
          </a:xfrm>
          <a:prstGeom prst="roundRect">
            <a:avLst>
              <a:gd name="adj" fmla="val 16667"/>
            </a:avLst>
          </a:prstGeom>
          <a:solidFill>
            <a:srgbClr val="FDF3E2"/>
          </a:solidFill>
          <a:ln w="12700">
            <a:solidFill>
              <a:srgbClr val="D9932B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12680" y="4425696"/>
            <a:ext cx="141732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Qaror?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548640" y="5157216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/>
        </p:spPr>
      </p:sp>
      <p:sp>
        <p:nvSpPr>
          <p:cNvPr id="27" name="Shape 24"/>
          <p:cNvSpPr/>
          <p:nvPr/>
        </p:nvSpPr>
        <p:spPr>
          <a:xfrm>
            <a:off x="548640" y="5157216"/>
            <a:ext cx="685800" cy="731520"/>
          </a:xfrm>
          <a:prstGeom prst="roundRect">
            <a:avLst>
              <a:gd name="adj" fmla="val 12000"/>
            </a:avLst>
          </a:prstGeom>
          <a:solidFill>
            <a:srgbClr val="D9932B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548640" y="5157216"/>
            <a:ext cx="6858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1417320" y="5157216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Aziz ham «baho kiritish», ham «baho tasdiqlash» huquqiga ega</a:t>
            </a:r>
            <a:endParaRPr lang="en-US" sz="1700" dirty="0"/>
          </a:p>
        </p:txBody>
      </p:sp>
      <p:sp>
        <p:nvSpPr>
          <p:cNvPr id="30" name="Shape 27"/>
          <p:cNvSpPr/>
          <p:nvPr/>
        </p:nvSpPr>
        <p:spPr>
          <a:xfrm>
            <a:off x="10012680" y="5276088"/>
            <a:ext cx="1417320" cy="493776"/>
          </a:xfrm>
          <a:prstGeom prst="roundRect">
            <a:avLst>
              <a:gd name="adj" fmla="val 16667"/>
            </a:avLst>
          </a:prstGeom>
          <a:solidFill>
            <a:srgbClr val="FDF3E2"/>
          </a:solidFill>
          <a:ln w="12700">
            <a:solidFill>
              <a:srgbClr val="D9932B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10012680" y="5276088"/>
            <a:ext cx="141732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Qaror?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14-ma'ruza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206240"/>
            <a:ext cx="4572000" cy="4572000"/>
          </a:xfrm>
          <a:prstGeom prst="ellipse">
            <a:avLst/>
          </a:prstGeom>
          <a:solidFill>
            <a:srgbClr val="2A37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05840" y="22860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 BO'LIM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2724912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Windows va IGA vositalari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3703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Access Reviews · Access Packages · Hisobotlar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052560" y="1920240"/>
            <a:ext cx="2560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0" b="1" dirty="0">
                <a:solidFill>
                  <a:srgbClr val="2A37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</a:t>
            </a:r>
            <a:endParaRPr lang="en-US" sz="1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14-ma'ruza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 · MICROSOFT ENTRA ACCESS REVIEWS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Qayta sertifikatlashni avtomatlashtirish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86400" cy="2651760"/>
          </a:xfrm>
          <a:prstGeom prst="roundRect">
            <a:avLst>
              <a:gd name="adj" fmla="val 3103"/>
            </a:avLst>
          </a:prstGeom>
          <a:solidFill>
            <a:srgbClr val="EEF2FB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9659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fob-slides/icons_out/search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690" y="2109978"/>
            <a:ext cx="352044" cy="3520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196596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Nima tekshiriladi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743200"/>
            <a:ext cx="4937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Guruh a'zoligi (rollar)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Ilovaga kirish huquqi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Imtiyozli rollar (PIM bilan)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Tashqi mehmonlar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126480" y="1783080"/>
            <a:ext cx="5486400" cy="2651760"/>
          </a:xfrm>
          <a:prstGeom prst="roundRect">
            <a:avLst>
              <a:gd name="adj" fmla="val 3103"/>
            </a:avLst>
          </a:prstGeom>
          <a:solidFill>
            <a:srgbClr val="1E2761"/>
          </a:solidFill>
          <a:ln/>
        </p:spPr>
      </p:sp>
      <p:sp>
        <p:nvSpPr>
          <p:cNvPr id="10" name="Shape 7"/>
          <p:cNvSpPr/>
          <p:nvPr/>
        </p:nvSpPr>
        <p:spPr>
          <a:xfrm>
            <a:off x="6382512" y="1965960"/>
            <a:ext cx="640080" cy="640080"/>
          </a:xfrm>
          <a:prstGeom prst="ellipse">
            <a:avLst/>
          </a:prstGeom>
          <a:solidFill>
            <a:srgbClr val="2A3778"/>
          </a:solidFill>
          <a:ln/>
        </p:spPr>
      </p:sp>
      <p:pic>
        <p:nvPicPr>
          <p:cNvPr id="11" name="Image 1" descr="/home/claude/fob-slides/icons_out/cogs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6530" y="2109978"/>
            <a:ext cx="352044" cy="3520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178040" y="196596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Qanday</a:t>
            </a:r>
            <a:endParaRPr lang="en-US" sz="2100" dirty="0"/>
          </a:p>
        </p:txBody>
      </p:sp>
      <p:sp>
        <p:nvSpPr>
          <p:cNvPr id="13" name="Text 9"/>
          <p:cNvSpPr txBox="1"/>
          <p:nvPr/>
        </p:nvSpPr>
        <p:spPr>
          <a:xfrm>
            <a:off x="6400800" y="2743200"/>
            <a:ext cx="4937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Kampaniya rejalashtiriladi (davriy)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Tasdiqlovchi: rahbar yoki o'zi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Ishlatilmaganlik ma'lumoti ko'rsatiladi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Javob bermasa — avtomatik qaror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548640" y="4617720"/>
            <a:ext cx="11064240" cy="1645920"/>
          </a:xfrm>
          <a:prstGeom prst="roundRect">
            <a:avLst>
              <a:gd name="adj" fmla="val 5000"/>
            </a:avLst>
          </a:prstGeom>
          <a:solidFill>
            <a:srgbClr val="E8F3EC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77240" y="469087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F6B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Rubber-stamping ga qarshi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777240" y="5074920"/>
            <a:ext cx="10607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«Sign-in activity» ko'rsatkichi: tasdiqlovchi imtiyoz oxirgi marta qachon ishlatilganini ko'radi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Tavsiyalar: tizim «bu imtiyoz ishlatilmagan, bekor qilishni tavsiya etamiz» deydi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Javob bermaslik qoidasi: belgilangan muddatda javob bo'lmasa, imtiyoz avtomatik bekor qilinadi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14-ma'ruza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 · ENTITLEMENT MANAGEMENT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Access Packages: rollarni «to'plam» sifatida berish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Access Package — ma'lum bir lavozim yoki loyiha uchun kerakli barcha huquqlar (guruhlar, ilovalar, rollar) bitta to'plamga jamlanadi.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2514600" cy="2103120"/>
          </a:xfrm>
          <a:prstGeom prst="roundRect">
            <a:avLst>
              <a:gd name="adj" fmla="val 3913"/>
            </a:avLst>
          </a:prstGeom>
          <a:solidFill>
            <a:srgbClr val="EEF2FB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7432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240280" y="27889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0" descr="/home/claude/fob-slides/icons_out/cliplist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63724" y="2912364"/>
            <a:ext cx="301752" cy="30175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31520" y="33832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So'rov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379476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Yangi o'qituvchi «O'qituvchi to'plami»ni so'raydi (yoki HR avtomatik)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090672" y="3611880"/>
            <a:ext cx="265176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3383280" y="2606040"/>
            <a:ext cx="2514600" cy="2103120"/>
          </a:xfrm>
          <a:prstGeom prst="roundRect">
            <a:avLst>
              <a:gd name="adj" fmla="val 3913"/>
            </a:avLst>
          </a:prstGeom>
          <a:solidFill>
            <a:srgbClr val="EEF2FB"/>
          </a:solidFill>
          <a:ln/>
        </p:spPr>
      </p:sp>
      <p:sp>
        <p:nvSpPr>
          <p:cNvPr id="14" name="Shape 11"/>
          <p:cNvSpPr/>
          <p:nvPr/>
        </p:nvSpPr>
        <p:spPr>
          <a:xfrm>
            <a:off x="3566160" y="27432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356616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074920" y="27889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1" descr="/home/claude/fob-slides/icons_out/userchec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8364" y="2912364"/>
            <a:ext cx="301752" cy="301752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3566160" y="33832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Tasdiq</a:t>
            </a:r>
            <a:endParaRPr lang="en-US" sz="1700" dirty="0"/>
          </a:p>
        </p:txBody>
      </p:sp>
      <p:sp>
        <p:nvSpPr>
          <p:cNvPr id="19" name="Text 15"/>
          <p:cNvSpPr txBox="1"/>
          <p:nvPr/>
        </p:nvSpPr>
        <p:spPr>
          <a:xfrm>
            <a:off x="3566160" y="379476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Kafedra mudiri tasdiqlaydi; muddat belgilanadi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5925312" y="3611880"/>
            <a:ext cx="265176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1" name="Shape 17"/>
          <p:cNvSpPr/>
          <p:nvPr/>
        </p:nvSpPr>
        <p:spPr>
          <a:xfrm>
            <a:off x="6217920" y="2606040"/>
            <a:ext cx="2514600" cy="2103120"/>
          </a:xfrm>
          <a:prstGeom prst="roundRect">
            <a:avLst>
              <a:gd name="adj" fmla="val 3913"/>
            </a:avLst>
          </a:prstGeom>
          <a:solidFill>
            <a:srgbClr val="EEF2FB"/>
          </a:solidFill>
          <a:ln/>
        </p:spPr>
      </p:sp>
      <p:sp>
        <p:nvSpPr>
          <p:cNvPr id="22" name="Shape 18"/>
          <p:cNvSpPr/>
          <p:nvPr/>
        </p:nvSpPr>
        <p:spPr>
          <a:xfrm>
            <a:off x="6400800" y="27432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640080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7909560" y="27889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5" name="Image 2" descr="/home/claude/fob-slides/icons_out/lay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3004" y="2912364"/>
            <a:ext cx="301752" cy="301752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6400800" y="33832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Berish</a:t>
            </a:r>
            <a:endParaRPr lang="en-US" sz="1700" dirty="0"/>
          </a:p>
        </p:txBody>
      </p:sp>
      <p:sp>
        <p:nvSpPr>
          <p:cNvPr id="27" name="Text 22"/>
          <p:cNvSpPr txBox="1"/>
          <p:nvPr/>
        </p:nvSpPr>
        <p:spPr>
          <a:xfrm>
            <a:off x="6400800" y="379476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LMS, pochta, kafedra papkasi, Wi-Fi — hammasi birdan</a:t>
            </a:r>
            <a:endParaRPr lang="en-US" sz="1400" dirty="0"/>
          </a:p>
        </p:txBody>
      </p:sp>
      <p:sp>
        <p:nvSpPr>
          <p:cNvPr id="28" name="Shape 23"/>
          <p:cNvSpPr/>
          <p:nvPr/>
        </p:nvSpPr>
        <p:spPr>
          <a:xfrm>
            <a:off x="8759952" y="3611880"/>
            <a:ext cx="265176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9" name="Shape 24"/>
          <p:cNvSpPr/>
          <p:nvPr/>
        </p:nvSpPr>
        <p:spPr>
          <a:xfrm>
            <a:off x="9052560" y="2606040"/>
            <a:ext cx="2514600" cy="2103120"/>
          </a:xfrm>
          <a:prstGeom prst="roundRect">
            <a:avLst>
              <a:gd name="adj" fmla="val 3913"/>
            </a:avLst>
          </a:prstGeom>
          <a:solidFill>
            <a:srgbClr val="E8F3EC"/>
          </a:solidFill>
          <a:ln/>
        </p:spPr>
      </p:sp>
      <p:sp>
        <p:nvSpPr>
          <p:cNvPr id="30" name="Shape 25"/>
          <p:cNvSpPr/>
          <p:nvPr/>
        </p:nvSpPr>
        <p:spPr>
          <a:xfrm>
            <a:off x="9235440" y="27432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923544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  <p:sp>
        <p:nvSpPr>
          <p:cNvPr id="32" name="Shape 27"/>
          <p:cNvSpPr/>
          <p:nvPr/>
        </p:nvSpPr>
        <p:spPr>
          <a:xfrm>
            <a:off x="10744200" y="27889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3" name="Image 3" descr="/home/claude/fob-slides/icons_out/clo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67644" y="2912364"/>
            <a:ext cx="301752" cy="301752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9235440" y="33832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Muddat tugashi</a:t>
            </a:r>
            <a:endParaRPr lang="en-US" sz="1700" dirty="0"/>
          </a:p>
        </p:txBody>
      </p:sp>
      <p:sp>
        <p:nvSpPr>
          <p:cNvPr id="35" name="Text 29"/>
          <p:cNvSpPr txBox="1"/>
          <p:nvPr/>
        </p:nvSpPr>
        <p:spPr>
          <a:xfrm>
            <a:off x="9235440" y="379476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Loyiha tugasa yoki xodim ketsa — avtomatik qaytarib olinadi</a:t>
            </a:r>
            <a:endParaRPr lang="en-US" sz="1400" dirty="0"/>
          </a:p>
        </p:txBody>
      </p:sp>
      <p:sp>
        <p:nvSpPr>
          <p:cNvPr id="36" name="Shape 30"/>
          <p:cNvSpPr/>
          <p:nvPr/>
        </p:nvSpPr>
        <p:spPr>
          <a:xfrm>
            <a:off x="548640" y="4937760"/>
            <a:ext cx="11064240" cy="1325880"/>
          </a:xfrm>
          <a:prstGeom prst="roundRect">
            <a:avLst>
              <a:gd name="adj" fmla="val 6207"/>
            </a:avLst>
          </a:prstGeom>
          <a:solidFill>
            <a:srgbClr val="CADCFC"/>
          </a:solidFill>
          <a:ln/>
        </p:spPr>
      </p:sp>
      <p:sp>
        <p:nvSpPr>
          <p:cNvPr id="37" name="Text 31"/>
          <p:cNvSpPr txBox="1"/>
          <p:nvPr/>
        </p:nvSpPr>
        <p:spPr>
          <a:xfrm>
            <a:off x="777240" y="501091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M2 hayotiy sikli bilan bog'liq</a:t>
            </a:r>
            <a:endParaRPr lang="en-US" sz="1800" dirty="0"/>
          </a:p>
        </p:txBody>
      </p:sp>
      <p:sp>
        <p:nvSpPr>
          <p:cNvPr id="38" name="Text 32"/>
          <p:cNvSpPr txBox="1"/>
          <p:nvPr/>
        </p:nvSpPr>
        <p:spPr>
          <a:xfrm>
            <a:off x="777240" y="539496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Access Package — Joiner (to'plam beriladi), Mover (eski to'plam olinadi, yangisi beriladi) va Leaver (muddat tugaydi) ni avtomatlashtiradi. Har bir to'plamga qayta sertifikatlash biriktirilishi mumkin.</a:t>
            </a:r>
            <a:endParaRPr lang="en-US" sz="1500" dirty="0"/>
          </a:p>
        </p:txBody>
      </p:sp>
      <p:sp>
        <p:nvSpPr>
          <p:cNvPr id="39" name="Text 3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14-ma'ruza</a:t>
            </a:r>
            <a:endParaRPr lang="en-US" sz="1100" dirty="0"/>
          </a:p>
        </p:txBody>
      </p:sp>
      <p:sp>
        <p:nvSpPr>
          <p:cNvPr id="40" name="Text 34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DF3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D99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JONLI NAMOYISH · 10 DAQIQA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Huquqlar hisobotini olamiz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744200" y="411480"/>
            <a:ext cx="868680" cy="868680"/>
          </a:xfrm>
          <a:prstGeom prst="ellipse">
            <a:avLst/>
          </a:prstGeom>
          <a:solidFill>
            <a:srgbClr val="D9932B"/>
          </a:solidFill>
          <a:ln/>
        </p:spPr>
      </p:sp>
      <p:pic>
        <p:nvPicPr>
          <p:cNvPr id="5" name="Image 0" descr="/home/claude/fob-slides/icons_out/terminal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8744" y="646024"/>
            <a:ext cx="399593" cy="39959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783080"/>
            <a:ext cx="7498080" cy="4434840"/>
          </a:xfrm>
          <a:prstGeom prst="roundRect">
            <a:avLst>
              <a:gd name="adj" fmla="val 1856"/>
            </a:avLst>
          </a:prstGeom>
          <a:solidFill>
            <a:srgbClr val="16204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1965960"/>
            <a:ext cx="704088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FB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Guruh a'zolarini eksport qilish (qayta sertifikatlash uchun)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2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Get-LocalGroupMember 'LAB_Oqituvchilar' |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2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Select Name, PrincipalSource |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2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Export-Csv sertifikatlash.csv -Encoding UTF8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FB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AD: ishlatilmagan qayd yozuvlari (90+ kun)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2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Search-ADAccount -AccountInactive -TimeSpan 90 |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2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Where-Object Enabled -eq $true |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2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Select Name, LastLogonDate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FB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Entra ID: guruh a'zolari va oxirgi kirish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2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Get-MgGroupMember -GroupId $id |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2B5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ForEach-Object { Get-MgUser -UserId $_.Id }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229600" y="1783080"/>
            <a:ext cx="3383280" cy="1371600"/>
          </a:xfrm>
          <a:prstGeom prst="roundRect">
            <a:avLst>
              <a:gd name="adj" fmla="val 6000"/>
            </a:avLst>
          </a:prstGeom>
          <a:solidFill>
            <a:srgbClr val="EEF2F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412480" y="1874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Bog'lang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412480" y="224028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CSV — kafedra mudiriga tekshirish uchun ro'yxat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8229600" y="3273552"/>
            <a:ext cx="3383280" cy="1371600"/>
          </a:xfrm>
          <a:prstGeom prst="roundRect">
            <a:avLst>
              <a:gd name="adj" fmla="val 6000"/>
            </a:avLst>
          </a:prstGeom>
          <a:solidFill>
            <a:srgbClr val="EEF2FB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412480" y="33649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Muhim ustun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412480" y="373075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LastLogonDate — ishlatilmaganlikni ko'rsatadi (rubber-stamping ga qarshi)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8229600" y="4764024"/>
            <a:ext cx="3383280" cy="1371600"/>
          </a:xfrm>
          <a:prstGeom prst="roundRect">
            <a:avLst>
              <a:gd name="adj" fmla="val 6000"/>
            </a:avLst>
          </a:prstGeom>
          <a:solidFill>
            <a:srgbClr val="EEF2FB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412480" y="485546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Savol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8412480" y="5221224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Ro'yxatni kimga yuborasiz va u nimaga qarab qaror qiladi?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14-ma'ruza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114800" cy="4114800"/>
          </a:xfrm>
          <a:prstGeom prst="ellipse">
            <a:avLst/>
          </a:prstGeom>
          <a:solidFill>
            <a:srgbClr val="2A37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XULOSA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Bugungi darsning besh asosiy xulosasi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856232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2A377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856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783080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Rol injiniringi: yuqoridan-past (biznesdan) va pastdan-yuqori (rol mining) — amalda gibrid.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2A377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6791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606040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Rol mining mavjud xatolarni ham rolga aylantirishi mumkin — biznes bilan tekshirish shart.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3502152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2A377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5021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3429000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Qayta sertifikatlash huquqlarni davriy tekshiradi; eng katta xavf — rubber-stamping.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4325112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2A377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43251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4251960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Izlanadigan: ortiqcha imtiyoz, egasiz va umumiy qayd yozuvlari, ishlatilmagan huquq, SoD.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48640" y="5148072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2A377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5148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5074920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Entra Access Reviews va Access Packages bu jarayonlarni avtomatlashtiradi.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14-ma'ruza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DF3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D99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TEZKOR TEST · 5 DAQIQA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To'rt savol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744200" y="411480"/>
            <a:ext cx="868680" cy="868680"/>
          </a:xfrm>
          <a:prstGeom prst="ellipse">
            <a:avLst/>
          </a:prstGeom>
          <a:solidFill>
            <a:srgbClr val="D9932B"/>
          </a:solidFill>
          <a:ln/>
        </p:spPr>
      </p:sp>
      <p:pic>
        <p:nvPicPr>
          <p:cNvPr id="5" name="Image 0" descr="/home/claude/fob-slides/icons_out/listol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8744" y="646024"/>
            <a:ext cx="399593" cy="39959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783080"/>
            <a:ext cx="544068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1783080"/>
            <a:ext cx="548640" cy="2103120"/>
          </a:xfrm>
          <a:prstGeom prst="roundRect">
            <a:avLst>
              <a:gd name="adj" fmla="val 15000"/>
            </a:avLst>
          </a:prstGeom>
          <a:solidFill>
            <a:srgbClr val="D9932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783080"/>
            <a:ext cx="548640" cy="2103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1280160" y="189280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«Rol mining» qaysi yo'nalish?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2423160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A) Yuqoridan-past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280160" y="2770632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B) Pastdan-yuqori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280160" y="3118104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C) Ikkalasi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1280160" y="3465576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D) Hech biri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172200" y="1783080"/>
            <a:ext cx="544068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/>
        </p:spPr>
      </p:sp>
      <p:sp>
        <p:nvSpPr>
          <p:cNvPr id="15" name="Shape 12"/>
          <p:cNvSpPr/>
          <p:nvPr/>
        </p:nvSpPr>
        <p:spPr>
          <a:xfrm>
            <a:off x="6172200" y="1783080"/>
            <a:ext cx="548640" cy="2103120"/>
          </a:xfrm>
          <a:prstGeom prst="roundRect">
            <a:avLst>
              <a:gd name="adj" fmla="val 15000"/>
            </a:avLst>
          </a:prstGeom>
          <a:solidFill>
            <a:srgbClr val="D9932B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172200" y="1783080"/>
            <a:ext cx="548640" cy="2103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6903720" y="189280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Qayta sertifikatlashdagi asosiy xavf?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903720" y="2423160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A) Juda tez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6903720" y="2770632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B) Rubber-stamping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6903720" y="3118104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C) Juda qimmat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6903720" y="3465576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D) MFA yo'q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48640" y="4069080"/>
            <a:ext cx="544068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/>
        </p:spPr>
      </p:sp>
      <p:sp>
        <p:nvSpPr>
          <p:cNvPr id="23" name="Shape 20"/>
          <p:cNvSpPr/>
          <p:nvPr/>
        </p:nvSpPr>
        <p:spPr>
          <a:xfrm>
            <a:off x="548640" y="4069080"/>
            <a:ext cx="548640" cy="2103120"/>
          </a:xfrm>
          <a:prstGeom prst="roundRect">
            <a:avLst>
              <a:gd name="adj" fmla="val 15000"/>
            </a:avLst>
          </a:prstGeom>
          <a:solidFill>
            <a:srgbClr val="D9932B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548640" y="4069080"/>
            <a:ext cx="548640" cy="2103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2200" dirty="0"/>
          </a:p>
        </p:txBody>
      </p:sp>
      <p:sp>
        <p:nvSpPr>
          <p:cNvPr id="25" name="Text 22"/>
          <p:cNvSpPr txBox="1"/>
          <p:nvPr/>
        </p:nvSpPr>
        <p:spPr>
          <a:xfrm>
            <a:off x="1280160" y="417880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Ishlatilmagan huquqni topish uchun nima kerak?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1280160" y="4709160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A) Parol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1280160" y="5056632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B) LastLogon / sign-in activity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1280160" y="5404104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C) SID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1280160" y="5751576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D) Token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6172200" y="4069080"/>
            <a:ext cx="544068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/>
        </p:spPr>
      </p:sp>
      <p:sp>
        <p:nvSpPr>
          <p:cNvPr id="31" name="Shape 28"/>
          <p:cNvSpPr/>
          <p:nvPr/>
        </p:nvSpPr>
        <p:spPr>
          <a:xfrm>
            <a:off x="6172200" y="4069080"/>
            <a:ext cx="548640" cy="2103120"/>
          </a:xfrm>
          <a:prstGeom prst="roundRect">
            <a:avLst>
              <a:gd name="adj" fmla="val 15000"/>
            </a:avLst>
          </a:prstGeom>
          <a:solidFill>
            <a:srgbClr val="D9932B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6172200" y="4069080"/>
            <a:ext cx="548640" cy="2103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2200" dirty="0"/>
          </a:p>
        </p:txBody>
      </p:sp>
      <p:sp>
        <p:nvSpPr>
          <p:cNvPr id="33" name="Text 30"/>
          <p:cNvSpPr txBox="1"/>
          <p:nvPr/>
        </p:nvSpPr>
        <p:spPr>
          <a:xfrm>
            <a:off x="6903720" y="417880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Access Package nima jamlaydi?</a:t>
            </a:r>
            <a:endParaRPr lang="en-US" sz="1800" dirty="0"/>
          </a:p>
        </p:txBody>
      </p:sp>
      <p:sp>
        <p:nvSpPr>
          <p:cNvPr id="34" name="Text 31"/>
          <p:cNvSpPr txBox="1"/>
          <p:nvPr/>
        </p:nvSpPr>
        <p:spPr>
          <a:xfrm>
            <a:off x="6903720" y="4709160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A) Fayllarni</a:t>
            </a:r>
            <a:endParaRPr lang="en-US" sz="1600" dirty="0"/>
          </a:p>
        </p:txBody>
      </p:sp>
      <p:sp>
        <p:nvSpPr>
          <p:cNvPr id="35" name="Text 32"/>
          <p:cNvSpPr txBox="1"/>
          <p:nvPr/>
        </p:nvSpPr>
        <p:spPr>
          <a:xfrm>
            <a:off x="6903720" y="5056632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B) Lavozim uchun barcha huquqlarni</a:t>
            </a:r>
            <a:endParaRPr lang="en-US" sz="1600" dirty="0"/>
          </a:p>
        </p:txBody>
      </p:sp>
      <p:sp>
        <p:nvSpPr>
          <p:cNvPr id="36" name="Text 33"/>
          <p:cNvSpPr txBox="1"/>
          <p:nvPr/>
        </p:nvSpPr>
        <p:spPr>
          <a:xfrm>
            <a:off x="6903720" y="5404104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C) Parollarni</a:t>
            </a:r>
            <a:endParaRPr lang="en-US" sz="1600" dirty="0"/>
          </a:p>
        </p:txBody>
      </p:sp>
      <p:sp>
        <p:nvSpPr>
          <p:cNvPr id="37" name="Text 34"/>
          <p:cNvSpPr txBox="1"/>
          <p:nvPr/>
        </p:nvSpPr>
        <p:spPr>
          <a:xfrm>
            <a:off x="6903720" y="5751576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D) Loglarni</a:t>
            </a:r>
            <a:endParaRPr lang="en-US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14-ma'ruza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5B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20" kern="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MUSTAQIL ISH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Uyga vazifa, keyingi mavzu va manbalar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309360" cy="877824"/>
          </a:xfrm>
          <a:prstGeom prst="roundRect">
            <a:avLst>
              <a:gd name="adj" fmla="val 9375"/>
            </a:avLst>
          </a:prstGeom>
          <a:solidFill>
            <a:srgbClr val="EEF2F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93852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fob-slides/icons_out/table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079" y="2066087"/>
            <a:ext cx="311810" cy="31181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819656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Rol mining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2167128"/>
            <a:ext cx="5303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Berilgan 6×6 foydalanuvchi-ruxsat matritsasidan rollarni toping; ortiqcha va umumiy huquqlarni belgilang.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2770632"/>
            <a:ext cx="6309360" cy="877824"/>
          </a:xfrm>
          <a:prstGeom prst="roundRect">
            <a:avLst>
              <a:gd name="adj" fmla="val 9375"/>
            </a:avLst>
          </a:prstGeom>
          <a:solidFill>
            <a:srgbClr val="EEF2FB"/>
          </a:solidFill>
          <a:ln/>
        </p:spPr>
      </p:sp>
      <p:sp>
        <p:nvSpPr>
          <p:cNvPr id="10" name="Shape 7"/>
          <p:cNvSpPr/>
          <p:nvPr/>
        </p:nvSpPr>
        <p:spPr>
          <a:xfrm>
            <a:off x="731520" y="29260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fob-slides/icons_out/terminal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079" y="3053639"/>
            <a:ext cx="311810" cy="31181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63040" y="280720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Windows'da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1463040" y="3154680"/>
            <a:ext cx="5303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PowerShell bilan guruh a'zolarini CSV ga eksport qiling; 90 kun ishlatilmagan qayd yozuvlarini toping.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48640" y="3758184"/>
            <a:ext cx="6309360" cy="877824"/>
          </a:xfrm>
          <a:prstGeom prst="roundRect">
            <a:avLst>
              <a:gd name="adj" fmla="val 9375"/>
            </a:avLst>
          </a:prstGeom>
          <a:solidFill>
            <a:srgbClr val="EEF2FB"/>
          </a:solidFill>
          <a:ln/>
        </p:spPr>
      </p:sp>
      <p:sp>
        <p:nvSpPr>
          <p:cNvPr id="15" name="Shape 11"/>
          <p:cNvSpPr/>
          <p:nvPr/>
        </p:nvSpPr>
        <p:spPr>
          <a:xfrm>
            <a:off x="731520" y="391363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home/claude/fob-slides/icons_out/clipboar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079" y="4041191"/>
            <a:ext cx="311810" cy="31181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63040" y="37947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Loyihalash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1463040" y="4142232"/>
            <a:ext cx="5303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B1B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Kafedra uchun qayta sertifikatlash kampaniyasini rejalashtiring: kim, nimani, qanchalik tez-tez.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7086600" y="1783080"/>
            <a:ext cx="4526280" cy="2816352"/>
          </a:xfrm>
          <a:prstGeom prst="roundRect">
            <a:avLst>
              <a:gd name="adj" fmla="val 2922"/>
            </a:avLst>
          </a:prstGeom>
          <a:solidFill>
            <a:srgbClr val="1E2761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086600" y="192024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KEYINGI MA'RUZA · M15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7315200" y="2377440"/>
            <a:ext cx="406908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Atributlarga asoslangan foydalanish nazorati (ABAC): XACML, OPA va policy-as-code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7315200" y="3657600"/>
            <a:ext cx="40690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9FB0E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Rol yetmasa — kontekst bo'yicha qaror qanday qilinadi?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548640" y="4846320"/>
            <a:ext cx="110642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731520" y="4892040"/>
            <a:ext cx="10698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[1] S.K. Ganiev va boshq. Kiberxavfsizlik asoslari. — T., 2021 (qayta sertifikatlash).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[2] E.J. Coyne. Role Engineering. ACM RBAC Workshop, 1995.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[3] NIST SP 800-53 Rev. 5: AC-2 (qayd yozuvlarini boshqarish), AC-6 (eng kam imtiyoz).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[4] ISO/IEC 27001:2022 A.5.18 (foydalanish huquqlari).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[5] Microsoft Learn. Microsoft Entra ID Governance: Access Reviews; Entitlement Management.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Foydalanishlarni boshqarish  ·  14-ma'ruza</a:t>
            </a:r>
            <a:endParaRPr lang="en-US" sz="1100" dirty="0"/>
          </a:p>
        </p:txBody>
      </p:sp>
      <p:sp>
        <p:nvSpPr>
          <p:cNvPr id="26" name="Text 21"/>
          <p:cNvSpPr txBox="1"/>
          <p:nvPr/>
        </p:nvSpPr>
        <p:spPr>
          <a:xfrm>
            <a:off x="111556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2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14-ma'ruza. Rol injiniringi va foydalanish huquqlarini qayta sertifikatlash</dc:title>
  <dc:subject>PptxGenJS Presentation</dc:subject>
  <dc:creator>PptxGenJS</dc:creator>
  <cp:lastModifiedBy>PptxGenJS</cp:lastModifiedBy>
  <cp:revision>1</cp:revision>
  <dcterms:created xsi:type="dcterms:W3CDTF">2026-09-26T16:56:58Z</dcterms:created>
  <dcterms:modified xsi:type="dcterms:W3CDTF">2026-09-26T16:56:58Z</dcterms:modified>
</cp:coreProperties>
</file>