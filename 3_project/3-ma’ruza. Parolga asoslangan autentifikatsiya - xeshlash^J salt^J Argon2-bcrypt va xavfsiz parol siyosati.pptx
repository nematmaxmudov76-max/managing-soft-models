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bidjon Bozorov" userId="ccb249de5d2a650e" providerId="LiveId" clId="{6F9F34B2-1C11-4B73-BB5F-9B545A900989}"/>
    <pc:docChg chg="modSld">
      <pc:chgData name="Obidjon Bozorov" userId="ccb249de5d2a650e" providerId="LiveId" clId="{6F9F34B2-1C11-4B73-BB5F-9B545A900989}" dt="2026-09-30T04:23:46.492" v="2" actId="20577"/>
      <pc:docMkLst>
        <pc:docMk/>
      </pc:docMkLst>
      <pc:sldChg chg="modSp mod">
        <pc:chgData name="Obidjon Bozorov" userId="ccb249de5d2a650e" providerId="LiveId" clId="{6F9F34B2-1C11-4B73-BB5F-9B545A900989}" dt="2026-09-30T04:23:46.492" v="2" actId="20577"/>
        <pc:sldMkLst>
          <pc:docMk/>
          <pc:sldMk cId="0" sldId="259"/>
        </pc:sldMkLst>
        <pc:spChg chg="mod">
          <ac:chgData name="Obidjon Bozorov" userId="ccb249de5d2a650e" providerId="LiveId" clId="{6F9F34B2-1C11-4B73-BB5F-9B545A900989}" dt="2026-09-30T04:23:46.492" v="2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840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2-ma'ruzada qayd yozuvi qanday yaratilishi va yopilishini ko'rdik. Bugun: foydalanuvchi o'sha qayd yozuviga kirayotganda tizim uning haqiqatan o'zi ekanini qanday tekshiradi va parol serverda qanday saqlanishi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II bo'lim eng katta: parol saqlash usullari bosqichma-bosqich, har bir usulning kamchiligidan keyingisiga o'tiladi.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RockYou (2009, dekabr): 32 mln parol ochiq holda; Imperva tahlili bo'yicha «123456» ni ~290 ming foydalanuvchi tanlagan. LinkedIn (2012, iyun): 6,5 mln tuzsiz SHA-1 xesh forumda e'lon qilingan; 2016-yilda to'liq baza (100 mln dan ortiq) chiqqan. Ashley Madison (2015): parollar bcrypt (cost 12) bilan saqlangan, ammo $loginkey = md5(login::parol) tokeni tufayli CynoSure Prime guruhi 11,2 mln parolni tiklagan. Xulosa: himoya eng zaif bo'g'in darajasida.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Kutilgan javoblar: 1) parol ochiq matn yoki qaytariladigan shifr holida saqlanmoqda — bu jiddiy xato; to'g'ri tizim eski parolni bilmaydi, faqat yangisini o'rnatish havolasini yuboradi. 2) Yo'q — ma'mur parolni almashtira oladi, lekin o'qiy olmasligi kerak (Operatsion tizimlar [2]: «hatto super foydalanuvchi ham parolni topa olmaydi»). 3) Yo'q — bu tuzning (salt) vazifasi; 17-slaydda qaytamiz. Javoblarni doskada qoldiring.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Uchta savol «Kiberxavfsizlik asoslari» [1] darsligidan (87-bet). M1 bilan bog'lang: murojaatlar monitori «kim so'rayapti?» degan savolga ishonchli javob olmasa, eng yaxshi foydalanish siyosati ham befoyda. Bugun o'rtadagi — autentifikatsiya qismi.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Tasnif [1] darsligidan (88-89-betlar). Joylashuvni ba'zi manbalar alohida omil, ba'zilari egalik turiga kiritadi. Ko'p omilli autentifikatsiya 4-ma'ruzada (HOTP/TOTP), FIDO2 5-ma'ruzada ko'riladi.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Fishing va keylogger [1] darsligida batafsil (1-bob). Tarmoq himoyasi — TLS; o'rtada turgan odam hujumi [1] da. Kirish shakliga qarshi hujumlar III bo'limda. Asosiy g'oya: birinchi uch bo'g'in kuchli bo'lsa ham, baza sizib chiqishi mumkin — shuning uchun saqlash usuli oxirgi himoya chizig'i.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Shennon entropiyasi asosida, [1] darslik (91-bet). Hisoblash: 8·log2(94) = 8·6,555 = 52,4 bit; 15·log2(26) = 15·4,70 = 70,5 bit. 7776 so'z — Diceware ro'yxati (5 ta o'yin toshi: 6^5 = 7776), har bir so'z log2(7776) = 12,9 bit. Asosiy fikr: foydalanuvchi o'zi tanlagan parol tasodifiy emas, shuning uchun uning real entropiyasi formuladagidan ancha past.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4·log2(10) = 13,3 bit — faqat 10 000 variant; bank buni 3 urinish cheklovi bilan qoplaydi. b) Formal ravishda 12·log2(62) = 71,5 bit, lekin bu shahar nomi + yil qolipi: lug'at + gibrid hujum uni soniyalarda topadi — real entropiya juda past. Formula aynan shu yerda aldaydi. c) 10·log2(36) = 51,7 bit. d) 4·12,9 = 51,7 bit — c) bilan teng, lekin eslab qolish ancha oson; parol iborasi g'oyasi [1] da ham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Shifrlash va xeshlash farqini alohida ta'kidlang: shifrlash qaytariladi (kalit bor), xesh — bir tomonlama. «Parolni unutdim» xatida eski parol kelgan bo'lsa, tizim 1 yoki 2-bosqichda. 4-bosqichning muammosi keyingi slaydlarda raqamlar bilan ko'rsatiladi.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Ta'rif va xossalar [1] darslikdan (3-bob, xesh funksiyalar). Kiritish usuli — Operatsion tizimlar [2]: Linux da /etc/shadow fayli. Ko'rsatilgan qiymatlar haqiqiy SHA-256 natijalarining boshlang'ich qismi (64 hex belgidan 32 tasi). Muhim burilish nuqtasi: xesh funksiyaning tezligi — parollar uchun zaiflik.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1) 32 ta hex belgi = 128 bit → MD5. 2) aziz.k va jasur.t — xeshlar bir xil, demak parollar ham bir xil. 3) e10adc39... — MD5(«123456»); bu xeshni qidiruv tizimiga kiritishning o'zi yetarli. dilnoza.r — MD5(«qwerty»), malika.s — «Toshkent2024», bobur.x — «Parol123!» (lug'at + gibrid hujum bilan tez topiladi). 4) Tuz bilan bir xil parollar turli xeshlarga ega bo'ladi, tayyor jadvaldan qidirib bo'lmaydi — har bir yozuv alohida buziladi. Lekin tezlik muammosi qoladi — 18-slayd.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Rainbow jadvallari [1] darslikda parolga qaratilgan hujumlar qatorida (139-bet). G'oya: hujumchi xeshlarni bir marta hisoblab, keyin cheksiz ko'p bazaga qo'llaydi. Mini-vazifadagi e10adc39... ni qidiruv tizimida topish — eng oddiy «jadval». Yechim — har bir yozuvga alohida tuz: shunda oldindan hisoblangan jadval ishlamaydi.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Tuz atamasi o'zbek tilidagi darsliklarda uchramadi; 'tuz (salt)' — so'zma-so'z tarjima, shu sababli qavsda inglizchasi berilgan. Slayddagi tuzlar qisqartirilgan (8 hex = 32 bit, NIST minimumi); amalda 16 bayt ishlatiladi. Xesh qiymatlar haqiqiy (boshlang'ich 16 belgi). Pepper: NIST SP 800-63B-4 maxfiy kalit bilan qo'shimcha xeshlashni tavsiya qiladi (SHOULD). 5-slayddagi 3-savolga shu yerda javob beramiz.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Manba: hashcat v6.2.6 benchmark, RTX 4090 (Chick3nman, 2022): NTLM 288,5 GH/s; MD5 164,1 GH/s; SHA2-256 21,98 GH/s; bcrypt 184 kH/s — cost 5 (32 iteratsiya) uchun. cost 12 = 4096 iteratsiya, ya'ni 128 marta sekin → ~1 440 H/s (hisoblangan qiymat). Vaqt: 94^8 / tezlik. NTLM — Windows parol xeshi, tuzsiz; A2 amaliy mashg'uloti bilan bog'lang. Hujumchi odatda barcha variantlarni emas, lug'atni sinaydi — real vaqt ancha qisqa.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Password Storage Cheat Sheet tavsiyalari. Argon2 — 2015-yilgi Password Hashing Competition g'olibi, RFC 9106 (2021). bcrypt — Provos va Mazières, USENIX 1999; Blowfish asosida; 72 baytdan uzun parolni kesib tashlaydi. PBKDF2 — RFC 8018 (PKCS #5 v2.1); FIPS talab qilinadigan joylarda. Oddiy SHA-256 ni bir marta qo'llash — LinkedIn xatosi.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Ikkala satr ham «qwerty» paroli uchun Python bcrypt va argon2-cffi kutubxonalari bilan haqiqatan hosil qilingan; har safar tuz yangi bo'lgani uchun natija boshqacha chiqadi. bcrypt o'zining radix-64 alifbosidan foydalanadi (./A-Za-z0-9). Argon2 xeshi qisqartirilgan. A3 amaliy mashg'ulotida talabalar shunday satrlarni o'zlari hosil qiladi va tahlil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OWASP: m=47104 (46 MiB) t=1 p=1 yoki m=19456 (19 MiB) t=2 p=1 va boshqa teng variantlar. RFC 9106: birinchi tavsiya m=2 GiB, t=1, p=4; ikkinchi (xotira cheklangan bo'lsa) m=64 MiB, t=3, p=4. Juda katta parametr — xizmatdan voz kechishga undash (DoS) xavfi: hujumchi ko'p login so'rovi yuborib serverni band qilishi mumkin. Shu sababli o'lchab tanlash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 sinovdan o'tgan (argon2-cffi 23.x). verify() xeshdagi tuz va parametrlarni o'zi o'qiydi va taqqoslashni xavfsiz bajaradi. Eski bazani migratsiya qilish OWASP tavsiyasi: foydalanuvchi kirishini kutmasdan barcha MD5 xeshlarni Argon2id bilan o'rab qo'yish, keyin kirishda to'liq qayta xeshlash. Uzoq vaqt kirmagan foydalanuvchilar uchun — parolni majburiy tiklash. A3 da shu kod bilan tajriba o'tkaziladi.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Lug'atga asoslangan, qo'pol kuch, gibrid va rainbow jadvali hujumlari [1] darslikda (139-bet) shu nomlar bilan keltirilgan. Credential stuffing va password spraying uchun o'zbekcha o'rnashgan atama topilmadi, inglizcha nomi saqlandi. Password spraying urinishlarni cheklash mexanizmini aylanib o'tadi: har bir qayd yozuviga faqat 1-2 urinish, lekin minglab qayd yozuviga.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 ustun [1] darslikdagi tavsiyalar (91-bet): kamida 8 belgi, 90 kunda almashtirish, bosh harf/raqam/tinish belgilari, 3 urinish. O'ng ustun — NIST SP 800-63B-4, 2025-yil 31-iyul, 3.1.1.2-bo'lim. Bu darslikni inkor etish emas: 2017-yilgacha NIST ham shunday tavsiya bergan; keyingi tadqiqotlar foydalanuvchilar murakkablik talabini oldindan aytib bo'ladigan tarzda bajarishini ko'rsatdi. Bu fanning rivojlanishiga yaxshi misol.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1) o'zgartirish — kamida 15 belgi yoki MFA bilan kamida 8. 2) olib tashlash. 3) olib tashlash — faqat buzilganlik alomati bo'lsa. 4) qoldirish, lekin muhokama qiling: qat'iy bloklash hujumchiga boshqalarni qulflab qo'yish (DoS) imkonini beradi; sekinlashtirish (throttling) yaxshiroq. 5) olib tashlash — NIST taqiqlaydi, javoblar ijtimoiy tarmoqlardan topiladi. 6) olib tashlash — parol menejerlariga xalaqit beradi. Yetishmayotgan qoidalar: sizgan parollar ro'yxati bilan tekshirish; serverda Argon2id; MFA; ma'murlar uchun alohida talablar.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Javoblarni daftarga yozdiring yoki onlayn so'rovnoma orqali to'plang.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Vaqt tugagach javoblar kaliti ochiladi.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 install argon2-cffi bcrypt. Yozma topshiriq uchun: HEMIS, universitet pochtasi, bank ilovasi yoki ijtimoiy tarmoq. Har biri uchun: minimal uzunlik, tarkib qoidalari, almashtirish muddati, MFA bor-yo'qligi.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902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  ·  3-MA'RUZA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Parolga asoslangan autentifikatsiya: xeshlash, salt, Argon2/bcrypt va xavfsiz parol siyosati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Xeshlash  ·  Tuz (salt)  ·  bcrypt  ·  Argon2id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822960" y="4434840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443484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 txBox="1"/>
          <p:nvPr/>
        </p:nvSpPr>
        <p:spPr>
          <a:xfrm>
            <a:off x="2148840" y="4434840"/>
            <a:ext cx="2514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3-si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4434840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4846320" y="4434840"/>
            <a:ext cx="1600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Amaliy: A3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29400" y="4434840"/>
            <a:ext cx="26289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6629400" y="4434840"/>
            <a:ext cx="26289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Interaktiv: 5 nuqta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 va parol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Omillar, hujum yuzasi, parol entropiyasi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965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~20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548640" y="3182112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467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Parollarni xavfsiz saqlash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221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Xesh, tuz, sekin xeshlash: bcrypt, Argon2id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3649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~40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548640" y="4581144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45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Hujumlar va parol siyosati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Oflayn va onlayn hujumlar, NIST SP 800-63B-4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764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~20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4032504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8961120" y="201168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679" y="213923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6112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31546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«Parolni unutdim»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entropiya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sizgan baza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parol siyosati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(6 savol)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MAQSADI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Ushbu mavzuni o'zlashtirgach, talaba...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fingerpr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" y="2197303"/>
            <a:ext cx="341986" cy="3419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57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Tushunchalarni farqlaydi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5603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Identifikatsiya, autentifikatsiya va avtorizatsiyani hamda autentifikatsiya omillarini ajratadi.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92240" y="20574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/home/claude/fob-slides/icons_out/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143" y="2197303"/>
            <a:ext cx="341986" cy="3419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057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Saqlash usullarini baholaydi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5603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Ochiq matn, oddiy xesh, tuzli xesh va sekin xeshlashning zaif tomonlarini tushuntiradi.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822960" y="41148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/home/claude/fob-slides/icons_out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" y="4254703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114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Algoritmni tanlaydi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6177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Argon2id va bcrypt parametrlarini asoslab tanlaydi va kodda to'g'ri qo'llaydi.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5"/>
          <p:cNvSpPr/>
          <p:nvPr/>
        </p:nvSpPr>
        <p:spPr>
          <a:xfrm>
            <a:off x="6492240" y="41148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/home/claude/fob-slides/icons_out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2143" y="4254703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114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siyosatini tuzadi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6177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 turlarini biladi va NIST SP 800-63B-4 ga mos siyosat taklif qiladi.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Bog'liq amaliy mashg'ulot: A3 — parol xeshlarini tahlil qilish.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· REAL HODISALAR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 err="1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Bazadan</a:t>
            </a: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sizib chiqdi. Parollar qancha bardosh berdi?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RockYou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566160" cy="2240280"/>
          </a:xfrm>
          <a:prstGeom prst="roundRect">
            <a:avLst>
              <a:gd name="adj" fmla="val 367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 mln parol ochiq matn holida saqlangan va to'liq sizib chiqqan. Eng ko'p uchragani — «123456».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Xato: parol umuman xeshlanmagan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4572000" y="17830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783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LinkedIn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97680" y="2834640"/>
            <a:ext cx="3566160" cy="2240280"/>
          </a:xfrm>
          <a:prstGeom prst="roundRect">
            <a:avLst>
              <a:gd name="adj" fmla="val 367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4572000" y="29718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6,5 mln tuzsiz SHA-1 xesh internetga chiqdi; ularning ko'p qismi bir necha kunda tiklandi.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Xato: tuz yo'q, tez xesh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8321040" y="17830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1783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Ashley Madison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46720" y="2834640"/>
            <a:ext cx="3566160" cy="2240280"/>
          </a:xfrm>
          <a:prstGeom prst="roundRect">
            <a:avLst>
              <a:gd name="adj" fmla="val 367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8321040" y="29718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bcrypt ishlatilgan, lekin eski kod parolni MD5 bilan ham saqlagan — 11 mln dan ortiq parol ~10 kunda tiklandi.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Xato: eng zaif bo'g'in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 «baza sizib chiqadimi?» emas — «sizib chiqqanda parollar necha kun, necha yil bardosh beradi?». Bugungi ma'ruza shu savolga javob.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«Parolni unutdim»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 saytda «Parolni unutdim» tugmasini bosdingiz — va pochtangizga eski parolingiz keldi.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822960" y="320954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3367964"/>
            <a:ext cx="259232" cy="259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0632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 xat server parolingizni qanday saqlayotgani haqida nima deydi?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1018520" y="30632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822960" y="421538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4373804"/>
            <a:ext cx="259232" cy="2592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690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 ma'muri sizning parolingizni ko'ra olishi kerakmi? Nega?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1018520" y="4069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822960" y="522122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5379644"/>
            <a:ext cx="259232" cy="2592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074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Ikki talaba bir xil parol tanlasa, bazada ikkita bir xil yozuv paydo bo'lishi kerakmi?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1018520" y="50749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 va parol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Omillar · Hujum yuzasi · Entropiya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TUSHUNCHALAR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Uchta savol: kim, haqiqatanmi, ruxsat bormi?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520440"/>
          </a:xfrm>
          <a:prstGeom prst="roundRect">
            <a:avLst>
              <a:gd name="adj" fmla="val 2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1556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Identifikatsiya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«Siz kimsiz?»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o'z identifikatorini taqdim etadi.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57200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96012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HEMIS: login a.karimov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23944" y="3520440"/>
            <a:ext cx="164592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297680" y="1783080"/>
            <a:ext cx="3566160" cy="352044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/home/claude/fob-slides/icons_out/fingerpr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8" y="215569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4924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«Siz haqiqatan ham sizmisiz?»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0" y="3566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Tizim taqdim etilgan identifikatorning haqiqiyligini tekshiradi.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572000" y="457200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6"/>
          <p:cNvSpPr txBox="1"/>
          <p:nvPr/>
        </p:nvSpPr>
        <p:spPr>
          <a:xfrm>
            <a:off x="470916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HEMIS: parol to'g'rimi?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872984" y="3520440"/>
            <a:ext cx="164592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18"/>
          <p:cNvSpPr/>
          <p:nvPr/>
        </p:nvSpPr>
        <p:spPr>
          <a:xfrm>
            <a:off x="8046720" y="1783080"/>
            <a:ext cx="3566160" cy="3520440"/>
          </a:xfrm>
          <a:prstGeom prst="roundRect">
            <a:avLst>
              <a:gd name="adj" fmla="val 2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19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2" descr="/home/claude/fob-slides/icons_out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058" y="2155698"/>
            <a:ext cx="352044" cy="3520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9828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Avtorizatsiya</a:t>
            </a:r>
            <a:endParaRPr lang="en-US" sz="2200" dirty="0"/>
          </a:p>
        </p:txBody>
      </p:sp>
      <p:sp>
        <p:nvSpPr>
          <p:cNvPr id="26" name="Text 21"/>
          <p:cNvSpPr txBox="1"/>
          <p:nvPr/>
        </p:nvSpPr>
        <p:spPr>
          <a:xfrm>
            <a:off x="832104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«Sizga buni bajarishga ruxsat bormi?»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321040" y="3566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Autentifikatsiyadan o'tganga amallarni bajarish huquqi beriladi.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321040" y="457200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4"/>
          <p:cNvSpPr txBox="1"/>
          <p:nvPr/>
        </p:nvSpPr>
        <p:spPr>
          <a:xfrm>
            <a:off x="8458200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HEMIS: 3 guruhga baho kiritish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 — binar qaror: ha yoki yo'q [1]. Uning natijasi 1-ma'ruzadagi murojaatlar monitoriga «sub'ekt kim» degan ma'lumotni beradi.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 OMILLARI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Nimaga asoslanib tekshiramiz?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508760" y="2011680"/>
            <a:ext cx="731520" cy="73152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Bilish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something you know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Parol, PIN-kod, parol iborasi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B5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mavzu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55848" y="178308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4315968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1" descr="/home/claude/fob-slides/icons_out/mob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1762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55848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Egalik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355848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something you have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538728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Smart-karta, telefon, apparat kalit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355848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M4, M5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163056" y="178308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7123176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2" descr="/home/claude/fob-slides/icons_out/fingerpri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217627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163056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Biometrik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6163056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something you are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345936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Barmoq izi, yuz, ko'z yoyi, imzo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163056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M5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970264" y="178308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1"/>
          <p:cNvSpPr/>
          <p:nvPr/>
        </p:nvSpPr>
        <p:spPr>
          <a:xfrm>
            <a:off x="9930384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7" name="Image 3" descr="/home/claude/fob-slides/icons_out/mapmark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4976" y="217627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970264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Joylashuv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8970264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somewhere you are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9153144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IP-manzil, mamlakat, qurilma joyi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8970264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qo'shimcha omil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Shape 27"/>
          <p:cNvSpPr/>
          <p:nvPr/>
        </p:nvSpPr>
        <p:spPr>
          <a:xfrm>
            <a:off x="777240" y="5394960"/>
            <a:ext cx="594360" cy="594360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4" name="Image 4" descr="/home/claude/fob-slides/icons_out/war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971" y="5528691"/>
            <a:ext cx="326898" cy="32689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600200" y="521208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Ko'p omilli autentifikatsiya — turli turdagi omillar birgalikda. Parol + PIN-kod — bu ikki omil emas, ikkalasi ham «bilish».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 YUZASI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qayerlarda qo'lga tushishi mumkin?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31520" y="1956816"/>
            <a:ext cx="566928" cy="566928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key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9" y="2084375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9544" y="2240280"/>
            <a:ext cx="13716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7315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Fishing, keylogger, yozib qo'yilgan parol, takroriy parol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448056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73152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Xabardorlik, parol menejeri, MFA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355848" y="178308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3538728" y="1956816"/>
            <a:ext cx="566928" cy="566928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1" descr="/home/claude/fob-slides/icons_out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287" y="2084375"/>
            <a:ext cx="311810" cy="31181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224528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Tarmoq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016752" y="2240280"/>
            <a:ext cx="13716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6"/>
          <p:cNvSpPr/>
          <p:nvPr/>
        </p:nvSpPr>
        <p:spPr>
          <a:xfrm>
            <a:off x="3355848" y="278892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7"/>
          <p:cNvSpPr txBox="1"/>
          <p:nvPr/>
        </p:nvSpPr>
        <p:spPr>
          <a:xfrm>
            <a:off x="3538728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3538728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Trafikni tinglash, o'rtada turgan odam hujumi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3355848" y="448056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0"/>
          <p:cNvSpPr txBox="1"/>
          <p:nvPr/>
        </p:nvSpPr>
        <p:spPr>
          <a:xfrm>
            <a:off x="3538728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353872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TLS, sertifikatni tekshirish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163056" y="178308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3"/>
          <p:cNvSpPr/>
          <p:nvPr/>
        </p:nvSpPr>
        <p:spPr>
          <a:xfrm>
            <a:off x="6345936" y="1956816"/>
            <a:ext cx="566928" cy="566928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8" name="Image 2" descr="/home/claude/fob-slides/icons_out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495" y="2084375"/>
            <a:ext cx="311810" cy="31181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031736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shakli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8823960" y="2240280"/>
            <a:ext cx="13716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6"/>
          <p:cNvSpPr/>
          <p:nvPr/>
        </p:nvSpPr>
        <p:spPr>
          <a:xfrm>
            <a:off x="6163056" y="278892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7"/>
          <p:cNvSpPr txBox="1"/>
          <p:nvPr/>
        </p:nvSpPr>
        <p:spPr>
          <a:xfrm>
            <a:off x="6345936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6345936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Onlayn taxminlash, sizgan parollarni sinash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6163056" y="448056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 txBox="1"/>
          <p:nvPr/>
        </p:nvSpPr>
        <p:spPr>
          <a:xfrm>
            <a:off x="6345936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6345936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Urinishlarni cheklash, MFA</a:t>
            </a:r>
            <a:endParaRPr lang="en-US" sz="1600" dirty="0"/>
          </a:p>
        </p:txBody>
      </p:sp>
      <p:sp>
        <p:nvSpPr>
          <p:cNvPr id="37" name="Shape 32"/>
          <p:cNvSpPr/>
          <p:nvPr/>
        </p:nvSpPr>
        <p:spPr>
          <a:xfrm>
            <a:off x="8970264" y="178308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Shape 33"/>
          <p:cNvSpPr/>
          <p:nvPr/>
        </p:nvSpPr>
        <p:spPr>
          <a:xfrm>
            <a:off x="9153144" y="195681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9" name="Image 3" descr="/home/claude/fob-slides/icons_out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0703" y="2084375"/>
            <a:ext cx="311810" cy="31181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838944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Parollar bazasi</a:t>
            </a:r>
            <a:endParaRPr lang="en-US" sz="1800" dirty="0"/>
          </a:p>
        </p:txBody>
      </p:sp>
      <p:sp>
        <p:nvSpPr>
          <p:cNvPr id="41" name="Shape 35"/>
          <p:cNvSpPr/>
          <p:nvPr/>
        </p:nvSpPr>
        <p:spPr>
          <a:xfrm>
            <a:off x="8970264" y="278892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36"/>
          <p:cNvSpPr txBox="1"/>
          <p:nvPr/>
        </p:nvSpPr>
        <p:spPr>
          <a:xfrm>
            <a:off x="9153144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9153144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Baza sizib chiqsa — oflayn buzish</a:t>
            </a:r>
            <a:endParaRPr lang="en-US" sz="1600" dirty="0"/>
          </a:p>
        </p:txBody>
      </p:sp>
      <p:sp>
        <p:nvSpPr>
          <p:cNvPr id="44" name="Shape 38"/>
          <p:cNvSpPr/>
          <p:nvPr/>
        </p:nvSpPr>
        <p:spPr>
          <a:xfrm>
            <a:off x="8970264" y="448056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DF3E2"/>
          </a:solidFill>
          <a:ln w="1905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39"/>
          <p:cNvSpPr txBox="1"/>
          <p:nvPr/>
        </p:nvSpPr>
        <p:spPr>
          <a:xfrm>
            <a:off x="9153144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</a:t>
            </a:r>
            <a:endParaRPr lang="en-US" sz="1400" dirty="0"/>
          </a:p>
        </p:txBody>
      </p:sp>
      <p:sp>
        <p:nvSpPr>
          <p:cNvPr id="46" name="Text 40"/>
          <p:cNvSpPr txBox="1"/>
          <p:nvPr/>
        </p:nvSpPr>
        <p:spPr>
          <a:xfrm>
            <a:off x="9153144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 + sekin xesh: Argon2id, bcrypt</a:t>
            </a:r>
            <a:endParaRPr lang="en-US" sz="1600" dirty="0"/>
          </a:p>
        </p:txBody>
      </p:sp>
      <p:sp>
        <p:nvSpPr>
          <p:cNvPr id="47" name="Text 41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 asosan o'ng tomondagi bo'g'in: baza sizib chiqqan taqdirda ham parollarni saqlab qolish.</a:t>
            </a:r>
            <a:endParaRPr lang="en-US" sz="1600" dirty="0"/>
          </a:p>
        </p:txBody>
      </p:sp>
      <p:sp>
        <p:nvSpPr>
          <p:cNvPr id="48" name="Text 4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BARDOSHLIGI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entropiyasi: H = n · log₂|A|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|A| — alfavit quvvati (mumkin bo'lgan belgilar soni), n — paroldagi belgilar soni. Natija bitlarda: har bir qo'shimcha bit tanlash ishini ikki barobar oshiradi.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44805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turi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74920" y="2560320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5212080" y="2560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|A|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2560320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6309360" y="2560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69480" y="2560320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7406640" y="25603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H, bit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685800" y="307238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xonali PIN-kod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74920" y="3072384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5212080" y="307238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3072384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6309360" y="307238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69480" y="3072384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7406640" y="3072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19,9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547872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 txBox="1"/>
          <p:nvPr/>
        </p:nvSpPr>
        <p:spPr>
          <a:xfrm>
            <a:off x="685800" y="354787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ta kichik harf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74920" y="3547872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 txBox="1"/>
          <p:nvPr/>
        </p:nvSpPr>
        <p:spPr>
          <a:xfrm>
            <a:off x="5212080" y="354787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3547872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6309360" y="354787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69480" y="3547872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 txBox="1"/>
          <p:nvPr/>
        </p:nvSpPr>
        <p:spPr>
          <a:xfrm>
            <a:off x="7406640" y="354787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37,6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4023360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 txBox="1"/>
          <p:nvPr/>
        </p:nvSpPr>
        <p:spPr>
          <a:xfrm>
            <a:off x="685800" y="402336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belgi: harf va raqam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74920" y="4023360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 txBox="1"/>
          <p:nvPr/>
        </p:nvSpPr>
        <p:spPr>
          <a:xfrm>
            <a:off x="5212080" y="40233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2200" y="4023360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 txBox="1"/>
          <p:nvPr/>
        </p:nvSpPr>
        <p:spPr>
          <a:xfrm>
            <a:off x="6309360" y="40233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69480" y="4023360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 txBox="1"/>
          <p:nvPr/>
        </p:nvSpPr>
        <p:spPr>
          <a:xfrm>
            <a:off x="7406640" y="40233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47,6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8640" y="4498848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 txBox="1"/>
          <p:nvPr/>
        </p:nvSpPr>
        <p:spPr>
          <a:xfrm>
            <a:off x="685800" y="449884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belgi: barcha 94 belgi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74920" y="4498848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 txBox="1"/>
          <p:nvPr/>
        </p:nvSpPr>
        <p:spPr>
          <a:xfrm>
            <a:off x="5212080" y="44988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94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2200" y="4498848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 txBox="1"/>
          <p:nvPr/>
        </p:nvSpPr>
        <p:spPr>
          <a:xfrm>
            <a:off x="6309360" y="44988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269480" y="4498848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 txBox="1"/>
          <p:nvPr/>
        </p:nvSpPr>
        <p:spPr>
          <a:xfrm>
            <a:off x="7406640" y="44988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52,4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48640" y="4974336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 txBox="1"/>
          <p:nvPr/>
        </p:nvSpPr>
        <p:spPr>
          <a:xfrm>
            <a:off x="685800" y="497433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ta tasodifiy so'z (7776 so'zli ro'yxat)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074920" y="4974336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 txBox="1"/>
          <p:nvPr/>
        </p:nvSpPr>
        <p:spPr>
          <a:xfrm>
            <a:off x="5212080" y="49743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7776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2200" y="4974336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 txBox="1"/>
          <p:nvPr/>
        </p:nvSpPr>
        <p:spPr>
          <a:xfrm>
            <a:off x="6309360" y="49743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69480" y="4974336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 txBox="1"/>
          <p:nvPr/>
        </p:nvSpPr>
        <p:spPr>
          <a:xfrm>
            <a:off x="7406640" y="49743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64,6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48640" y="5449824"/>
            <a:ext cx="4480560" cy="420624"/>
          </a:xfrm>
          <a:prstGeom prst="roundRect">
            <a:avLst>
              <a:gd name="adj" fmla="val 869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 txBox="1"/>
          <p:nvPr/>
        </p:nvSpPr>
        <p:spPr>
          <a:xfrm>
            <a:off x="685800" y="544982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ta kichik harf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074920" y="5449824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6" name="Text 54"/>
          <p:cNvSpPr txBox="1"/>
          <p:nvPr/>
        </p:nvSpPr>
        <p:spPr>
          <a:xfrm>
            <a:off x="5212080" y="544982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72200" y="5449824"/>
            <a:ext cx="1051560" cy="420624"/>
          </a:xfrm>
          <a:prstGeom prst="roundRect">
            <a:avLst>
              <a:gd name="adj" fmla="val 869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8" name="Text 56"/>
          <p:cNvSpPr txBox="1"/>
          <p:nvPr/>
        </p:nvSpPr>
        <p:spPr>
          <a:xfrm>
            <a:off x="6309360" y="544982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269480" y="5449824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0" name="Text 58"/>
          <p:cNvSpPr txBox="1"/>
          <p:nvPr/>
        </p:nvSpPr>
        <p:spPr>
          <a:xfrm>
            <a:off x="7406640" y="544982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70,5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732520" y="2560320"/>
            <a:ext cx="2880360" cy="1600200"/>
          </a:xfrm>
          <a:prstGeom prst="roundRect">
            <a:avLst>
              <a:gd name="adj" fmla="val 5143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2" name="Text 60"/>
          <p:cNvSpPr txBox="1"/>
          <p:nvPr/>
        </p:nvSpPr>
        <p:spPr>
          <a:xfrm>
            <a:off x="891540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Uzunlik murakkablikdan kuchliroq</a:t>
            </a:r>
            <a:endParaRPr lang="en-US" sz="1800" dirty="0"/>
          </a:p>
        </p:txBody>
      </p:sp>
      <p:sp>
        <p:nvSpPr>
          <p:cNvPr id="63" name="Text 61"/>
          <p:cNvSpPr txBox="1"/>
          <p:nvPr/>
        </p:nvSpPr>
        <p:spPr>
          <a:xfrm>
            <a:off x="8915400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ta kichik harf &gt; 8 ta istalgan belgi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732520" y="4297680"/>
            <a:ext cx="2880360" cy="1600200"/>
          </a:xfrm>
          <a:prstGeom prst="roundRect">
            <a:avLst>
              <a:gd name="adj" fmla="val 514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5" name="Text 63"/>
          <p:cNvSpPr txBox="1"/>
          <p:nvPr/>
        </p:nvSpPr>
        <p:spPr>
          <a:xfrm>
            <a:off x="891540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Muhim cheklov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8915400" y="47548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Formula faqat tasodifiy parol uchun to'g'ri. Parol lug'atda bo'lsa, entropiyasi 0 deb olinadi [1].</a:t>
            </a:r>
            <a:endParaRPr lang="en-US" sz="1500" dirty="0"/>
          </a:p>
        </p:txBody>
      </p:sp>
      <p:sp>
        <p:nvSpPr>
          <p:cNvPr id="67" name="Text 6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Entropiyani hisoblang va baholang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parol uchun H ni hisoblang. So'ng: formula qaysi holatda aldaydi?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548640" y="269748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97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xonali bank karta PIN-kodi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81635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10012680" y="281635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= 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54787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48640" y="354787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548640" y="354787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54787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Toshkent2024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66674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10012680" y="366674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= 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98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548640" y="439826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548640" y="439826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9826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ta tasodifiy belgi: kichik harf va raqam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51713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10012680" y="451713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= 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24865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548640" y="524865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548640" y="524865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24865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ta tasodifiy so'z: ot-daftar-bulut-temir (7776 so'zli ro'yxatdan)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36752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10012680" y="536752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= 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Qiyin savol: c) va d) deyarli teng. Qaysi birini eslab qolish oson?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Parollarni xavfsiz saqlash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 · Tuz · Sekin xeshlash · Argon2id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SAQLASH USULLARI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Parolni saqlashning besh bosqichi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5661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159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Ochiq matn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920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Baza sizsa — barcha parollar ochiq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88920" y="3108960"/>
            <a:ext cx="2103120" cy="2651760"/>
          </a:xfrm>
          <a:prstGeom prst="roundRect">
            <a:avLst>
              <a:gd name="adj" fmla="val 3913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971800" y="3291840"/>
            <a:ext cx="502920" cy="502920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29718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8587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Shifrlangan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443484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Kalit ham serverda: ma'mur o'qiy oladi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2651760"/>
            <a:ext cx="2103120" cy="3108960"/>
          </a:xfrm>
          <a:prstGeom prst="roundRect">
            <a:avLst>
              <a:gd name="adj" fmla="val 3913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212080" y="2834640"/>
            <a:ext cx="502920" cy="502920"/>
          </a:xfrm>
          <a:prstGeom prst="ellipse">
            <a:avLst/>
          </a:prstGeom>
          <a:solidFill>
            <a:srgbClr val="9A5B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5212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Oddiy xesh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97764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MD5, SHA-1: bir xil parol — bir xil xesh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69480" y="219456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7452360" y="2377440"/>
            <a:ext cx="502920" cy="502920"/>
          </a:xfrm>
          <a:prstGeom prst="ellipse">
            <a:avLst/>
          </a:prstGeom>
          <a:solidFill>
            <a:srgbClr val="9A5B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74523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29443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Tuzli xesh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520440"/>
            <a:ext cx="1783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Jadvallar yo'q, lekin GPU soniyasiga milliardlab tekshiradi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09760" y="1737360"/>
            <a:ext cx="2103120" cy="4023360"/>
          </a:xfrm>
          <a:prstGeom prst="roundRect">
            <a:avLst>
              <a:gd name="adj" fmla="val 391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9692640" y="1920240"/>
            <a:ext cx="502920" cy="502920"/>
          </a:xfrm>
          <a:prstGeom prst="ellipse">
            <a:avLst/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9692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487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Sekin xesh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3063240"/>
            <a:ext cx="1783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bcrypt, scrypt, Argon2id — to'g'ri yondashuv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bosqich oldingisining zaifligiga javob. RockYou — 1-bosqich, LinkedIn — 3-bosqich, Ashley Madison — 5 va 3 aralash.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 FUNKSIYA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Xesh: parol emas, uning izi saqlanadi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 funksiya — ixtiyoriy uzunlikdagi ma'lumotni belgilangan uzunlikdagi qiymatga akslantiruvchi funksiya [1].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09728" cy="74980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822960" y="27980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tomonlama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 qiymatdan parolni tiklab bo'lmaydi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09728" cy="74980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822960" y="36667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Kolliziyaga bardoshli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959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xil xeshli ikki matn topish amalda imkonsiz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09728" cy="74980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Ko'chki effekti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646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belgi o'zgarsa, xesh butunlay o'zgaradi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Kirishda: kiritilgan parol xeshlanadi va bazadagi xesh bilan taqqoslanadi — parolning o'zi hech qayerda saqlanmaydi [2].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1737360"/>
            <a:ext cx="530352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 txBox="1"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SHA-256: ko'chki effekti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parol123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75120" y="2788920"/>
            <a:ext cx="0" cy="320040"/>
          </a:xfrm>
          <a:prstGeom prst="line">
            <a:avLst/>
          </a:prstGeom>
          <a:noFill/>
          <a:ln w="19050">
            <a:solidFill>
              <a:srgbClr val="9FB0E0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 txBox="1"/>
          <p:nvPr/>
        </p:nvSpPr>
        <p:spPr>
          <a:xfrm>
            <a:off x="6903720" y="27889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a203ba4e9c565ec07ecedc94a54194aa…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parol124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75120" y="4206240"/>
            <a:ext cx="0" cy="320040"/>
          </a:xfrm>
          <a:prstGeom prst="line">
            <a:avLst/>
          </a:prstGeom>
          <a:noFill/>
          <a:ln w="19050">
            <a:solidFill>
              <a:srgbClr val="9FB0E0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6903720" y="42062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00797a5948f0b77cd224add37f3193c3…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521208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 txBox="1"/>
          <p:nvPr/>
        </p:nvSpPr>
        <p:spPr>
          <a:xfrm>
            <a:off x="6675120" y="5212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Lekin: SHA-256 tez bo'lishga mo'ljallangan. Yaxlitlik uchun — afzallik, parol uchun — kamchilik.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Sizib chiqqan baza: nimani ko'ryapsiz?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6309360" cy="4206240"/>
          </a:xfrm>
          <a:prstGeom prst="roundRect">
            <a:avLst>
              <a:gd name="adj" fmla="val 1957"/>
            </a:avLst>
          </a:prstGeom>
          <a:solidFill>
            <a:srgbClr val="16204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777240" y="1920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users.csv   (login ; parol_xeshi)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423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aziz.k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24231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e10adc3949ba59abbe56e057f20f883e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1089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108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dilnoza.r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514600" y="3108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d8578edf8458ce06fbc5bb76a58c5ca4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7947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94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jasur.t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514600" y="37947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e10adc3949ba59abbe56e057f20f883e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05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4805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malika.s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514600" y="44805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f1d8bfa5855ecf21384fec279774249f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1663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166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bobur.x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514600" y="51663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0be3562d33d13205966ad5f8c915e9b4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040880" y="1783080"/>
            <a:ext cx="4572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21"/>
          <p:cNvSpPr/>
          <p:nvPr/>
        </p:nvSpPr>
        <p:spPr>
          <a:xfrm>
            <a:off x="7040880" y="1783080"/>
            <a:ext cx="548640" cy="960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7040880" y="1783080"/>
            <a:ext cx="5486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726680" y="178308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 algoritmini taxmin qiling. Qanday aniqladingiz?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040880" y="2852928"/>
            <a:ext cx="4572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5"/>
          <p:cNvSpPr/>
          <p:nvPr/>
        </p:nvSpPr>
        <p:spPr>
          <a:xfrm>
            <a:off x="7040880" y="2852928"/>
            <a:ext cx="548640" cy="960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7040880" y="2852928"/>
            <a:ext cx="5486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7726680" y="285292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foydalanuvchilarning paroli bir xil?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040880" y="3922776"/>
            <a:ext cx="4572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Shape 29"/>
          <p:cNvSpPr/>
          <p:nvPr/>
        </p:nvSpPr>
        <p:spPr>
          <a:xfrm>
            <a:off x="7040880" y="3922776"/>
            <a:ext cx="548640" cy="960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7040880" y="3922776"/>
            <a:ext cx="5486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7726680" y="3922776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parolni hujumchi birinchi soniyadayoq topadi? Qanday?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040880" y="4992624"/>
            <a:ext cx="4572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Shape 33"/>
          <p:cNvSpPr/>
          <p:nvPr/>
        </p:nvSpPr>
        <p:spPr>
          <a:xfrm>
            <a:off x="7040880" y="4992624"/>
            <a:ext cx="548640" cy="960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4"/>
          <p:cNvSpPr txBox="1"/>
          <p:nvPr/>
        </p:nvSpPr>
        <p:spPr>
          <a:xfrm>
            <a:off x="7040880" y="4992624"/>
            <a:ext cx="5486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7726680" y="4992624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yozuvga tuz qo'shilganda 2- va 3-javob qanday o'zgaradi?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0533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Ma'lumotlar o'quv maqsadida tuzilgan; xeshlar haqiqiy.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OLDINDAN HISOBLASH HUJUMLARI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Lug'at va rainbow jadvallari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329184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ninj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2145411"/>
            <a:ext cx="326898" cy="3268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Bir marta hisoblash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2788920"/>
            <a:ext cx="2926080" cy="1463040"/>
          </a:xfrm>
          <a:prstGeom prst="roundRect">
            <a:avLst>
              <a:gd name="adj" fmla="val 5625"/>
            </a:avLst>
          </a:prstGeom>
          <a:solidFill>
            <a:srgbClr val="16204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100584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123456  → e10adc39…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qwerty  → d8578edf…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parol   → ee95a16d…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 10⁹ ta parol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sizgan parollar ro'yxati asosida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977640" y="3429000"/>
            <a:ext cx="5486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4572000" y="1783080"/>
            <a:ext cx="3383280" cy="3291840"/>
          </a:xfrm>
          <a:prstGeom prst="roundRect">
            <a:avLst>
              <a:gd name="adj" fmla="val 2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846320" y="2011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/home/claude/fob-slides/icons_out/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051" y="2145411"/>
            <a:ext cx="326898" cy="32689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7784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Istalgan bazada qidirish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846320" y="2834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Qidirish — deyarli bir zumda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jadval — barcha tuzsiz bazalar uchun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xil parollar darhol ko'rinadi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001000" y="3429000"/>
            <a:ext cx="5486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4"/>
          <p:cNvSpPr/>
          <p:nvPr/>
        </p:nvSpPr>
        <p:spPr>
          <a:xfrm>
            <a:off x="8595360" y="1783080"/>
            <a:ext cx="3017520" cy="3291840"/>
          </a:xfrm>
          <a:prstGeom prst="roundRect">
            <a:avLst>
              <a:gd name="adj" fmla="val 2727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8869680" y="2011680"/>
            <a:ext cx="594360" cy="594360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2" descr="/home/claude/fob-slides/icons_out/war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3411" y="2145411"/>
            <a:ext cx="326898" cy="32689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601200" y="2011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Natija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869680" y="278892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Hisoblash xarajati barcha qurbonlar o'rtasida bo'linadi: hujum qanchalik ko'p bazaga qo'llansa, shunchalik arzonlashadi.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19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Rainbow jadvali — xesh zanjirlari yordamida xotirani tejaydigan oldindan hisoblangan jadval: vaqt va xotira o'rtasidagi murosa (Oechslin, 2003).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 (SALT)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yozuvga alohida tasodifiy qiymat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 = H(tuz ‖ parol). Tuz tasodifiy tanlanadi, xesh bilan birga ochiq saqlanadi va har bir qayd yozuvi uchun alohida bo'ladi.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58368" y="2606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260604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2121408" y="2606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26060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3584448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2606040"/>
            <a:ext cx="26517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5230368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SHA-256(tuz ‖ parol)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127248"/>
            <a:ext cx="1417320" cy="493776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658368" y="312724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dilnoza.r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0" y="3127248"/>
            <a:ext cx="1417320" cy="493776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2121408" y="312724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qwerty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0" y="3127248"/>
            <a:ext cx="1600200" cy="493776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3584448" y="312724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a3f9c21e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0" y="3127248"/>
            <a:ext cx="2651760" cy="493776"/>
          </a:xfrm>
          <a:prstGeom prst="roundRect">
            <a:avLst>
              <a:gd name="adj" fmla="val 740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5230368" y="312724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483ca15c28c14d20…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675888"/>
            <a:ext cx="1417320" cy="493776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 txBox="1"/>
          <p:nvPr/>
        </p:nvSpPr>
        <p:spPr>
          <a:xfrm>
            <a:off x="658368" y="3675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sardor.m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0" y="3675888"/>
            <a:ext cx="1417320" cy="493776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 txBox="1"/>
          <p:nvPr/>
        </p:nvSpPr>
        <p:spPr>
          <a:xfrm>
            <a:off x="2121408" y="3675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qwerty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74720" y="3675888"/>
            <a:ext cx="1600200" cy="493776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3584448" y="367588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7d04be58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20640" y="3675888"/>
            <a:ext cx="2651760" cy="493776"/>
          </a:xfrm>
          <a:prstGeom prst="roundRect">
            <a:avLst>
              <a:gd name="adj" fmla="val 740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 txBox="1"/>
          <p:nvPr/>
        </p:nvSpPr>
        <p:spPr>
          <a:xfrm>
            <a:off x="5230368" y="367588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8c17e6e98b8d0c47…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25196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bir xil — xesh har xil.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7091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 nimani beradi: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4709160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Rainbow jadvallar ishlamaydi; bir xil parollar yashirinadi; har bir yozuv alohida buziladi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4589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Nimani bermaydi: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651760" y="545896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parolni tanlash tezligi o'zgarmaydi — GPU hali ham milliardlab tekshiradi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92440" y="26060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8321040" y="2788920"/>
            <a:ext cx="566928" cy="566928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6" name="Image 0" descr="/home/claude/fob-slides/icons_out/usersecr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99" y="2916479"/>
            <a:ext cx="311810" cy="31181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9052560" y="2788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Pepper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8321040" y="35204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Maxfiy kalit — barcha yozuvlar uchun bitta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Bazada emas: HSM yoki kalitlar omborida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Baza sizsa ham, pepper'siz tekshirib bo'lmaydi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8321040" y="5394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 uzunligi: NIST — kamida 32 bit; OWASP amaliyoti — 16 bayt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 TEZLIK MUHIM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videokarta qancha vaqtda buzadi?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belgili parollarning barchasini tanlash (94 belgi, 6,1·10¹⁵ variant) · bitta RTX 4090 · hashcat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NTLM (Windows)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377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288,5 mlrd/s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2468880"/>
            <a:ext cx="1876583" cy="502920"/>
          </a:xfrm>
          <a:prstGeom prst="roundRect">
            <a:avLst>
              <a:gd name="adj" fmla="val 9091"/>
            </a:avLst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6494303" y="2377440"/>
            <a:ext cx="51185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~6 soat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MD5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164,1 mlrd/s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3337560"/>
            <a:ext cx="1985182" cy="502920"/>
          </a:xfrm>
          <a:prstGeom prst="roundRect">
            <a:avLst>
              <a:gd name="adj" fmla="val 9091"/>
            </a:avLst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6602902" y="3246120"/>
            <a:ext cx="500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~10 soat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14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SHA-256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4114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22,0 mlrd/s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06240"/>
            <a:ext cx="2363105" cy="502920"/>
          </a:xfrm>
          <a:prstGeom prst="roundRect">
            <a:avLst>
              <a:gd name="adj" fmla="val 9091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6980825" y="4114800"/>
            <a:ext cx="46320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 kun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bcrypt (cost 12)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4983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~1 400 /s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80560" y="507492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10104120" y="49834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~134 000 yil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vaqt, logarifmik shkala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52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 bu raqamlarni o'zgartirmaydi. Faqat har bir tekshirishni ataylab qimmatlashtirish yordam beradi.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MAXSUS ALGORITMLAR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algoritmni tanlash kerak?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78308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77440" y="1783080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2487168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Yil · standart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1783080"/>
            <a:ext cx="283464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4727448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Sozlanadigan parametrlar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1783080"/>
            <a:ext cx="160020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7607808" y="1783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Xotira talab qiladi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0" y="1783080"/>
            <a:ext cx="242316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9253728" y="1783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Tavsiya (OWASP)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359152"/>
            <a:ext cx="178308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658368" y="235915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Argon2id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77440" y="2359152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2487168" y="23591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2015 · RFC 9106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17720" y="2359152"/>
            <a:ext cx="283464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 txBox="1"/>
          <p:nvPr/>
        </p:nvSpPr>
        <p:spPr>
          <a:xfrm>
            <a:off x="4727448" y="23591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xotira m, vaqt t, parallellik 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98080" y="2359152"/>
            <a:ext cx="160020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7607808" y="23591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0" y="2359152"/>
            <a:ext cx="2423160" cy="64008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 txBox="1"/>
          <p:nvPr/>
        </p:nvSpPr>
        <p:spPr>
          <a:xfrm>
            <a:off x="9253728" y="23591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Birinchi tanlov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3072384"/>
            <a:ext cx="17830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658368" y="30723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scrypt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377440" y="3072384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 txBox="1"/>
          <p:nvPr/>
        </p:nvSpPr>
        <p:spPr>
          <a:xfrm>
            <a:off x="2487168" y="30723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2009 · RFC 7914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17720" y="3072384"/>
            <a:ext cx="283464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 txBox="1"/>
          <p:nvPr/>
        </p:nvSpPr>
        <p:spPr>
          <a:xfrm>
            <a:off x="4727448" y="307238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N, r, p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498080" y="3072384"/>
            <a:ext cx="160020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 txBox="1"/>
          <p:nvPr/>
        </p:nvSpPr>
        <p:spPr>
          <a:xfrm>
            <a:off x="7607808" y="307238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44000" y="3072384"/>
            <a:ext cx="24231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 txBox="1"/>
          <p:nvPr/>
        </p:nvSpPr>
        <p:spPr>
          <a:xfrm>
            <a:off x="9253728" y="307238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Argon2id bo'lmasa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3785616"/>
            <a:ext cx="1783080" cy="64008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 txBox="1"/>
          <p:nvPr/>
        </p:nvSpPr>
        <p:spPr>
          <a:xfrm>
            <a:off x="658368" y="378561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bcrypt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377440" y="3785616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 txBox="1"/>
          <p:nvPr/>
        </p:nvSpPr>
        <p:spPr>
          <a:xfrm>
            <a:off x="2487168" y="37856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1999 · USENIX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17720" y="3785616"/>
            <a:ext cx="2834640" cy="64008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 txBox="1"/>
          <p:nvPr/>
        </p:nvSpPr>
        <p:spPr>
          <a:xfrm>
            <a:off x="4727448" y="37856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cost: 2^cost iteratsiya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498080" y="3785616"/>
            <a:ext cx="1600200" cy="64008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 txBox="1"/>
          <p:nvPr/>
        </p:nvSpPr>
        <p:spPr>
          <a:xfrm>
            <a:off x="7607808" y="378561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KB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144000" y="3785616"/>
            <a:ext cx="2423160" cy="64008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 txBox="1"/>
          <p:nvPr/>
        </p:nvSpPr>
        <p:spPr>
          <a:xfrm>
            <a:off x="9253728" y="378561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Eski tizimlar; parol ≤ 72 bayt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8640" y="4498848"/>
            <a:ext cx="17830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 txBox="1"/>
          <p:nvPr/>
        </p:nvSpPr>
        <p:spPr>
          <a:xfrm>
            <a:off x="658368" y="44988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PBKDF2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377440" y="4498848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 txBox="1"/>
          <p:nvPr/>
        </p:nvSpPr>
        <p:spPr>
          <a:xfrm>
            <a:off x="2487168" y="44988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2000 · RFC 8018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617720" y="4498848"/>
            <a:ext cx="283464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 txBox="1"/>
          <p:nvPr/>
        </p:nvSpPr>
        <p:spPr>
          <a:xfrm>
            <a:off x="4727448" y="44988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iteratsiyalar: 600 000 (SHA-256)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498080" y="4498848"/>
            <a:ext cx="160020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1" name="Text 49"/>
          <p:cNvSpPr txBox="1"/>
          <p:nvPr/>
        </p:nvSpPr>
        <p:spPr>
          <a:xfrm>
            <a:off x="7607808" y="449884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Yo'q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144000" y="4498848"/>
            <a:ext cx="24231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3" name="Text 51"/>
          <p:cNvSpPr txBox="1"/>
          <p:nvPr/>
        </p:nvSpPr>
        <p:spPr>
          <a:xfrm>
            <a:off x="9253728" y="44988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FIPS-140 talab qilinsa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8640" y="5212080"/>
            <a:ext cx="1783080" cy="640080"/>
          </a:xfrm>
          <a:prstGeom prst="roundRect">
            <a:avLst>
              <a:gd name="adj" fmla="val 5714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5" name="Text 53"/>
          <p:cNvSpPr txBox="1"/>
          <p:nvPr/>
        </p:nvSpPr>
        <p:spPr>
          <a:xfrm>
            <a:off x="658368" y="5212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MD5, SHA-1, SHA-256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2377440" y="5212080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7" name="Text 55"/>
          <p:cNvSpPr txBox="1"/>
          <p:nvPr/>
        </p:nvSpPr>
        <p:spPr>
          <a:xfrm>
            <a:off x="2487168" y="5212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617720" y="5212080"/>
            <a:ext cx="2834640" cy="640080"/>
          </a:xfrm>
          <a:prstGeom prst="roundRect">
            <a:avLst>
              <a:gd name="adj" fmla="val 5714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9" name="Text 57"/>
          <p:cNvSpPr txBox="1"/>
          <p:nvPr/>
        </p:nvSpPr>
        <p:spPr>
          <a:xfrm>
            <a:off x="4727448" y="5212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7498080" y="5212080"/>
            <a:ext cx="1600200" cy="640080"/>
          </a:xfrm>
          <a:prstGeom prst="roundRect">
            <a:avLst>
              <a:gd name="adj" fmla="val 5714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1" name="Text 59"/>
          <p:cNvSpPr txBox="1"/>
          <p:nvPr/>
        </p:nvSpPr>
        <p:spPr>
          <a:xfrm>
            <a:off x="7607808" y="5212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144000" y="5212080"/>
            <a:ext cx="2423160" cy="640080"/>
          </a:xfrm>
          <a:prstGeom prst="roundRect">
            <a:avLst>
              <a:gd name="adj" fmla="val 5714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3" name="Text 61"/>
          <p:cNvSpPr txBox="1"/>
          <p:nvPr/>
        </p:nvSpPr>
        <p:spPr>
          <a:xfrm>
            <a:off x="9253728" y="5212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uchun ishlatilmaydi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Xotira talab qiladigan algoritmlar (memory-hard) GPU'ning ustunligini yo'qotadi: minglab yadrolar bor, lekin har biriga xotira kam.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SAQLASH FORMATI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 satri o'zi haqida hamma narsani biladi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bcrypt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950976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21792" y="22402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$2b$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99232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54480" y="2240280"/>
            <a:ext cx="1682496" cy="685800"/>
          </a:xfrm>
          <a:prstGeom prst="roundRect">
            <a:avLst>
              <a:gd name="adj" fmla="val 6667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1627632" y="2240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12$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999232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cost: 2¹² iteratsiya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3419856" cy="685800"/>
          </a:xfrm>
          <a:prstGeom prst="roundRect">
            <a:avLst>
              <a:gd name="adj" fmla="val 6667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3364992" y="2240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n3RITYtr7pynOc.IebxGXu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999232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 (22 belgi)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2240280"/>
            <a:ext cx="4791456" cy="685800"/>
          </a:xfrm>
          <a:prstGeom prst="roundRect">
            <a:avLst>
              <a:gd name="adj" fmla="val 6667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6839712" y="22402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1f/s/Cj1Ui3ppEouFvNt4TAlveJyVxi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999232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 (31 belgi)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49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Argon2id (PHC formati)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2276856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 txBox="1"/>
          <p:nvPr/>
        </p:nvSpPr>
        <p:spPr>
          <a:xfrm>
            <a:off x="621792" y="4251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$argon2id$v=19$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1091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algoritm, versiya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80360" y="4251960"/>
            <a:ext cx="2414016" cy="685800"/>
          </a:xfrm>
          <a:prstGeom prst="roundRect">
            <a:avLst>
              <a:gd name="adj" fmla="val 6667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 txBox="1"/>
          <p:nvPr/>
        </p:nvSpPr>
        <p:spPr>
          <a:xfrm>
            <a:off x="2953512" y="4251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m=19456,t=2,p=1$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5010912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parametrlar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49240" y="4251960"/>
            <a:ext cx="2688336" cy="685800"/>
          </a:xfrm>
          <a:prstGeom prst="roundRect">
            <a:avLst>
              <a:gd name="adj" fmla="val 6667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5422392" y="4251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+lNPyvBrsG8kVr7pN4WnUg$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5010912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 (16 bayt)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92440" y="4251960"/>
            <a:ext cx="3465576" cy="685800"/>
          </a:xfrm>
          <a:prstGeom prst="roundRect">
            <a:avLst>
              <a:gd name="adj" fmla="val 6667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 txBox="1"/>
          <p:nvPr/>
        </p:nvSpPr>
        <p:spPr>
          <a:xfrm>
            <a:off x="8165592" y="42519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KSrBumQ+olhXTY3pGi0gwVc2Ug…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5010912"/>
            <a:ext cx="3465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 (32 bayt)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 va parametrlar alohida ustunda saqlanmaydi — ular satr ichida. Shu sababli parametrlarni asta-sekin kuchaytirish va eski yozuvlarni yangilash oson.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ARGON2ID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Uchta parametr — uchta himoya dastagi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240280"/>
          </a:xfrm>
          <a:prstGeom prst="roundRect">
            <a:avLst>
              <a:gd name="adj" fmla="val 367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0" cy="224028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9144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49808" y="3017520"/>
            <a:ext cx="512064" cy="512064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/home/claude/fob-slides/icons_out/memor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3132734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Xotira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3774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xeshlash uchun ajratiladigan xotira (KiB). GPU va ASIC'lar uchun eng qimmat resurs.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1783080"/>
            <a:ext cx="3566160" cy="2240280"/>
          </a:xfrm>
          <a:prstGeom prst="roundRect">
            <a:avLst>
              <a:gd name="adj" fmla="val 367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914400" cy="224028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4297680" y="1783080"/>
            <a:ext cx="9144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498848" y="3017520"/>
            <a:ext cx="512064" cy="512064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/home/claude/fob-slides/icons_out/stopwat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062" y="3132734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9496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Vaqt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5394960" y="23774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Xotira ustidan o'tishlar (iteratsiyalar) soni. Hisoblash vaqtini chiziqli oshiradi.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046720" y="1783080"/>
            <a:ext cx="3566160" cy="2240280"/>
          </a:xfrm>
          <a:prstGeom prst="roundRect">
            <a:avLst>
              <a:gd name="adj" fmla="val 367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8046720" y="1783080"/>
            <a:ext cx="914400" cy="224028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6"/>
          <p:cNvSpPr txBox="1"/>
          <p:nvPr/>
        </p:nvSpPr>
        <p:spPr>
          <a:xfrm>
            <a:off x="8046720" y="1783080"/>
            <a:ext cx="9144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4000" dirty="0"/>
          </a:p>
        </p:txBody>
      </p:sp>
      <p:sp>
        <p:nvSpPr>
          <p:cNvPr id="21" name="Shape 17"/>
          <p:cNvSpPr/>
          <p:nvPr/>
        </p:nvSpPr>
        <p:spPr>
          <a:xfrm>
            <a:off x="8247888" y="3017520"/>
            <a:ext cx="512064" cy="512064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2" descr="/home/claude/fob-slides/icons_out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102" y="3132734"/>
            <a:ext cx="281635" cy="28163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4400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Parallellik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9144000" y="23774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Parallel ishlovchi oqimlar soni. Server yadrolariga moslanadi.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548640" y="420624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 txBox="1"/>
          <p:nvPr/>
        </p:nvSpPr>
        <p:spPr>
          <a:xfrm>
            <a:off x="822960" y="4279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 minimumi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" y="46360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19 MiB,  t = 2,  p = 1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82296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yoki teng kuchli: m = 46 MiB, t = 1, p = 1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126480" y="420624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5"/>
          <p:cNvSpPr txBox="1"/>
          <p:nvPr/>
        </p:nvSpPr>
        <p:spPr>
          <a:xfrm>
            <a:off x="6400800" y="4279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RFC 9106 tavsiyasi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6400800" y="46360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64 MiB,  t = 3,  p = 4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640080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xotira cheklangan muhitlar uchun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 qoida: parametrlarni o'z serveringizda o'lchang — bitta tekshirish foydalanuvchi sezmaydigan darajada (≈0,1–0,5 s) bo'lsin. Argon2id = Argon2i (yon kanalga bardosh) + Argon2d (GPU'ga bardosh).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AMALDA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To'g'ri kod: Python va argon2-cffi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526280"/>
          </a:xfrm>
          <a:prstGeom prst="roundRect">
            <a:avLst>
              <a:gd name="adj" fmla="val 1818"/>
            </a:avLst>
          </a:prstGeom>
          <a:solidFill>
            <a:srgbClr val="16204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62179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argon2 import PasswordHasher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argon2.exceptions import VerifyMismatchError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 = PasswordHasher(time_cost=2, memory_cost=19456,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parallelism=1)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Ro'yxatdan o'tish: tuz avtomatik yaratiladi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xesh = ph.hash(parol)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baza.saqla(login, xesh)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Kirish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ph.verify(xesh, kiritilgan_parol)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ph.check_needs_rehash(xesh):   # parametr yangilangan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baza.saqla(login, ph.hash(kiritilgan_parol))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VerifyMismatchError: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rad_etish()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0" y="1783080"/>
            <a:ext cx="4206240" cy="1042416"/>
          </a:xfrm>
          <a:prstGeom prst="roundRect">
            <a:avLst>
              <a:gd name="adj" fmla="val 789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7571232" y="20025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/home/claude/fob-slides/icons_out/ba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791" y="2130095"/>
            <a:ext cx="311810" cy="3118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75320" y="18562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 algoritmingizni yozmang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2219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Sinovdan o'tgan kutubxonadan foydalaning.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06640" y="2935224"/>
            <a:ext cx="4206240" cy="1042416"/>
          </a:xfrm>
          <a:prstGeom prst="roundRect">
            <a:avLst>
              <a:gd name="adj" fmla="val 789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7571232" y="3154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1" descr="/home/claude/fob-slides/icons_out/di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791" y="328223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275320" y="30083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Tuzni kutubxona yaratadi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275320" y="33741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Kriptografik tasodifiy manbadan, har safar yangi.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406640" y="4087368"/>
            <a:ext cx="4206240" cy="1042416"/>
          </a:xfrm>
          <a:prstGeom prst="roundRect">
            <a:avLst>
              <a:gd name="adj" fmla="val 789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7571232" y="430682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2" descr="/home/claude/fob-slides/icons_out/sync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791" y="4434383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75320" y="4160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Yangilash kirishda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45262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Parametr kuchaysa, eski xesh to'g'ri parol kiritilganda yangilanadi.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406640" y="5239512"/>
            <a:ext cx="4206240" cy="1042416"/>
          </a:xfrm>
          <a:prstGeom prst="roundRect">
            <a:avLst>
              <a:gd name="adj" fmla="val 789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7"/>
          <p:cNvSpPr/>
          <p:nvPr/>
        </p:nvSpPr>
        <p:spPr>
          <a:xfrm>
            <a:off x="7571232" y="54589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3" name="Image 3" descr="/home/claude/fob-slides/icons_out/archiv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8791" y="5586527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75320" y="53126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Eski MD5 baza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275320" y="567842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Argon2id(MD5) bilan o'rab, keyingi kirishda to'liq almashtiriladi.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Hujumlar va parol siyosati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Oflayn · Onlayn · NIST SP 800-63B-4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PAROLGA QARATILGAN HUJUMLAR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Oflayn va onlayn hujumlar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31520" y="1883664"/>
            <a:ext cx="566928" cy="566928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9" y="2011223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Oflayn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1783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baza hujumchi qo'lida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731520" y="26517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Lug'atga asoslangan hujum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971800" y="26517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sizgan va keng tarqalgan parollar ro'yxati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731520" y="33832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Qo'pol kuch hujumi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33832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barcha variantlarni to'liq tanlash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11480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731520" y="41148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Gibrid hujum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971800" y="41148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lug'at + qoidalar: Parol → Parol123!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4632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731520" y="484632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Rainbow jadvallari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971800" y="48463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oldindan hisoblangan xeshlar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623560"/>
            <a:ext cx="5440680" cy="685800"/>
          </a:xfrm>
          <a:prstGeom prst="roundRect">
            <a:avLst>
              <a:gd name="adj" fmla="val 12000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731520" y="5623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Himoya: tuz + sekin xesh (Argon2id), pepper, uzun parol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72200" y="178308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21"/>
          <p:cNvSpPr/>
          <p:nvPr/>
        </p:nvSpPr>
        <p:spPr>
          <a:xfrm>
            <a:off x="6355080" y="1883664"/>
            <a:ext cx="566928" cy="566928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1" descr="/home/claude/fob-slides/icons_out/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639" y="2011223"/>
            <a:ext cx="311810" cy="31181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08660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Onlayn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8549640" y="1783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shakli orqali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172200" y="265176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5"/>
          <p:cNvSpPr txBox="1"/>
          <p:nvPr/>
        </p:nvSpPr>
        <p:spPr>
          <a:xfrm>
            <a:off x="6355080" y="26517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Parolni taxminlash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8595360" y="26517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qayd yozuviga ko'p urinish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6172200" y="338328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8"/>
          <p:cNvSpPr txBox="1"/>
          <p:nvPr/>
        </p:nvSpPr>
        <p:spPr>
          <a:xfrm>
            <a:off x="6355080" y="33832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Credential stuffing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8595360" y="33832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boshqa saytdan sizgan login-parollarni sinash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6172200" y="411480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1"/>
          <p:cNvSpPr txBox="1"/>
          <p:nvPr/>
        </p:nvSpPr>
        <p:spPr>
          <a:xfrm>
            <a:off x="6355080" y="41148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 spraying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8595360" y="41148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ko'p qayd yozuviga bitta keng tarqalgan parol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6172200" y="484632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4"/>
          <p:cNvSpPr txBox="1"/>
          <p:nvPr/>
        </p:nvSpPr>
        <p:spPr>
          <a:xfrm>
            <a:off x="6355080" y="484632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Fishing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8595360" y="48463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parolni foydalanuvchining o'zidan olish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6172200" y="5623560"/>
            <a:ext cx="5440680" cy="685800"/>
          </a:xfrm>
          <a:prstGeom prst="roundRect">
            <a:avLst>
              <a:gd name="adj" fmla="val 12000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7"/>
          <p:cNvSpPr txBox="1"/>
          <p:nvPr/>
        </p:nvSpPr>
        <p:spPr>
          <a:xfrm>
            <a:off x="6355080" y="5623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Himoya: urinishlarni cheklash, MFA, sizgan parollar ro'yxati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SIYOSATI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An'anaviy talablar va zamonaviy yondashuv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4884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Mezon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1783080"/>
            <a:ext cx="3931920" cy="502920"/>
          </a:xfrm>
          <a:prstGeom prst="roundRect">
            <a:avLst>
              <a:gd name="adj" fmla="val 727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2880360" y="17830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An'anaviy talablar [1]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20840" y="1783080"/>
            <a:ext cx="4846320" cy="502920"/>
          </a:xfrm>
          <a:prstGeom prst="roundRect">
            <a:avLst>
              <a:gd name="adj" fmla="val 7273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6858000" y="17830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NIST SP 800-63B-4 (2025)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359152"/>
            <a:ext cx="2148840" cy="5486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685800" y="23591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Uzunlik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2359152"/>
            <a:ext cx="3931920" cy="5486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2880360" y="235915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Kamida 8 belgi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20840" y="2359152"/>
            <a:ext cx="4846320" cy="548640"/>
          </a:xfrm>
          <a:prstGeom prst="roundRect">
            <a:avLst>
              <a:gd name="adj" fmla="val 6667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6858000" y="235915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Kamida 15 (faqat parol bo'lsa), MFA bilan — 8; maksimum ≥ 64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2148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685800" y="29626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Tarkib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0" y="2962656"/>
            <a:ext cx="39319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 txBox="1"/>
          <p:nvPr/>
        </p:nvSpPr>
        <p:spPr>
          <a:xfrm>
            <a:off x="2880360" y="296265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 harf, raqam, maxsus belgi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20840" y="2962656"/>
            <a:ext cx="48463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FE5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6858000" y="296265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Tarkib qoidalari qo'yilmaydi (SHALL NOT)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2148840" cy="5486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 txBox="1"/>
          <p:nvPr/>
        </p:nvSpPr>
        <p:spPr>
          <a:xfrm>
            <a:off x="68580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Almashtirish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0" y="3566160"/>
            <a:ext cx="3931920" cy="5486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2880360" y="35661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90 kunda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20840" y="3566160"/>
            <a:ext cx="4846320" cy="548640"/>
          </a:xfrm>
          <a:prstGeom prst="roundRect">
            <a:avLst>
              <a:gd name="adj" fmla="val 6667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 txBox="1"/>
          <p:nvPr/>
        </p:nvSpPr>
        <p:spPr>
          <a:xfrm>
            <a:off x="6858000" y="35661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Davriy talab qilinmaydi; faqat buzilganlik alomati bo'lsa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169664"/>
            <a:ext cx="2148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 txBox="1"/>
          <p:nvPr/>
        </p:nvSpPr>
        <p:spPr>
          <a:xfrm>
            <a:off x="685800" y="41696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Tekshiruv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43200" y="4169664"/>
            <a:ext cx="39319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 txBox="1"/>
          <p:nvPr/>
        </p:nvSpPr>
        <p:spPr>
          <a:xfrm>
            <a:off x="2880360" y="416966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Lug'at so'zlarini ishlatmaslik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20840" y="4169664"/>
            <a:ext cx="48463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FE5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 txBox="1"/>
          <p:nvPr/>
        </p:nvSpPr>
        <p:spPr>
          <a:xfrm>
            <a:off x="6858000" y="416966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Sizgan, lug'at va kontekst so'zlari qora ro'yxati (SHALL)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4773168"/>
            <a:ext cx="2148840" cy="5486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 txBox="1"/>
          <p:nvPr/>
        </p:nvSpPr>
        <p:spPr>
          <a:xfrm>
            <a:off x="685800" y="47731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Urinishlar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743200" y="4773168"/>
            <a:ext cx="3931920" cy="5486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 txBox="1"/>
          <p:nvPr/>
        </p:nvSpPr>
        <p:spPr>
          <a:xfrm>
            <a:off x="2880360" y="477316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urinishdan keyin bloklash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20840" y="4773168"/>
            <a:ext cx="4846320" cy="548640"/>
          </a:xfrm>
          <a:prstGeom prst="roundRect">
            <a:avLst>
              <a:gd name="adj" fmla="val 6667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 txBox="1"/>
          <p:nvPr/>
        </p:nvSpPr>
        <p:spPr>
          <a:xfrm>
            <a:off x="6858000" y="477316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Muvaffaqiyatsiz urinishlarni cheklash mexanizmi (SHALL)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" y="5376672"/>
            <a:ext cx="2148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 txBox="1"/>
          <p:nvPr/>
        </p:nvSpPr>
        <p:spPr>
          <a:xfrm>
            <a:off x="685800" y="5376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Qulayliklar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743200" y="5376672"/>
            <a:ext cx="39319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 txBox="1"/>
          <p:nvPr/>
        </p:nvSpPr>
        <p:spPr>
          <a:xfrm>
            <a:off x="2880360" y="537667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20840" y="5376672"/>
            <a:ext cx="484632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FE5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 txBox="1"/>
          <p:nvPr/>
        </p:nvSpPr>
        <p:spPr>
          <a:xfrm>
            <a:off x="6858000" y="537667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menejeri va nusxa qo'yish ruxsat; eslatma va maxfiy savol — yo'q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 o'zgardi: murakkablik va davriy almashtirish oldindan aytib bo'ladigan qoliplarni keltirib chiqardi — Parol123! → Parol124!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7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Universitet parol siyosatini tahrirlang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qoidaga baho bering: qoldirish, o'zgartirish yoki olib tashlash. Bitta yetishmayotgan qoidani qo'shing.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94360" cy="896112"/>
          </a:xfrm>
          <a:prstGeom prst="roundRect">
            <a:avLst>
              <a:gd name="adj" fmla="val 13846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548640" y="2377440"/>
            <a:ext cx="59436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377440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kamida 8 belgidan iborat bo'lishi shart.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72200" y="237744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6172200" y="2377440"/>
            <a:ext cx="594360" cy="896112"/>
          </a:xfrm>
          <a:prstGeom prst="roundRect">
            <a:avLst>
              <a:gd name="adj" fmla="val 13846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6172200" y="2377440"/>
            <a:ext cx="59436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2377440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Parolda bosh harf, raqam va maxsus belgi bo'lishi shart.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401568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548640" y="3401568"/>
            <a:ext cx="594360" cy="896112"/>
          </a:xfrm>
          <a:prstGeom prst="roundRect">
            <a:avLst>
              <a:gd name="adj" fmla="val 13846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548640" y="3401568"/>
            <a:ext cx="59436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3401568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har 90 kunda almashtiriladi.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172200" y="3401568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6172200" y="3401568"/>
            <a:ext cx="594360" cy="896112"/>
          </a:xfrm>
          <a:prstGeom prst="roundRect">
            <a:avLst>
              <a:gd name="adj" fmla="val 13846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6172200" y="3401568"/>
            <a:ext cx="59436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3401568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marta noto'g'ri kiritilsa, qayd yozuvi 15 daqiqaga bloklanadi.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21"/>
          <p:cNvSpPr/>
          <p:nvPr/>
        </p:nvSpPr>
        <p:spPr>
          <a:xfrm>
            <a:off x="548640" y="4425696"/>
            <a:ext cx="594360" cy="896112"/>
          </a:xfrm>
          <a:prstGeom prst="roundRect">
            <a:avLst>
              <a:gd name="adj" fmla="val 13846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548640" y="4425696"/>
            <a:ext cx="59436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325880" y="4425696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Parolni tiklash uchun maxfiy savol o'rnatiladi.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172200" y="4425696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5"/>
          <p:cNvSpPr/>
          <p:nvPr/>
        </p:nvSpPr>
        <p:spPr>
          <a:xfrm>
            <a:off x="6172200" y="4425696"/>
            <a:ext cx="594360" cy="896112"/>
          </a:xfrm>
          <a:prstGeom prst="roundRect">
            <a:avLst>
              <a:gd name="adj" fmla="val 13846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6172200" y="4425696"/>
            <a:ext cx="594360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0" y="4425696"/>
            <a:ext cx="452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maydoniga nusxa qo'yish (paste) taqiqlanadi.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DF3E2"/>
          </a:solidFill>
          <a:ln w="15875">
            <a:solidFill>
              <a:srgbClr val="D9932B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Sizning qoidangiz: ______________________________________________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 «siz haqiqatan ham sizmisiz?» savoliga javob beradi; parol — «bilish» omili.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hech qachon ochiq yoki qaytariladigan shifr holida saqlanmaydi — faqat xesh.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 rainbow jadvallarini yo'qqa chiqaradi, lekin tez xeshni sekinlashtirmaydi.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54864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5196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uchun maxsus sekin xesh: Argon2id (m, t, p) yoki eski tizimlarda bcrypt.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7492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Zamonaviy siyosat: uzunlik, qora ro'yxat va MFA — murakkablik va 90 kunlik almashtirish emas.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Savollar 1–3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8928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 qaysi savolga javob beradi?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3500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Siz kimsiz?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3500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Siz haqiqatan ham sizmisiz?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715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Sizga buni bajarishga ruxsat bormi?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715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Tizimga qachon kirdingiz?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264408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48640" y="3264408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548640" y="3264408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37413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 (salt) asosan qaysi hujumga qarshi?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831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Keylogger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3831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Fishing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1970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Oldindan hisoblangan (rainbow) jadvallar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1970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Onlayn taxminlash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745736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548640" y="4745736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548640" y="4745736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8554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 bir martalik SHA-256 parol saqlash uchun yaramaydi?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463040" y="5312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Unda kolliziya topilgan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5312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U juda tez hisoblanadi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63040" y="56784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Natijasi juda uzun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56784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Tuz bilan ishlamaydi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Savollar 4–6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8928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Argon2id da «m» parametri nimani belgilaydi?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3500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Iteratsiyalar sonini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3500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Tuz uzunligini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715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Ishlatiladigan xotira hajmini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715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Oqimlar sonini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264408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48640" y="3264408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548640" y="3264408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37413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NIST SP 800-63B-4 ga ko'ra qaysi talab to'g'ri?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831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Parol har 90 kunda almashtiriladi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3831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Maxsus belgi majburiy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41970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Parol sizganlar ro'yxati bilan solishtiriladi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1970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Maxfiy savol o'rnatiladi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745736"/>
            <a:ext cx="110642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548640" y="4745736"/>
            <a:ext cx="685800" cy="1353312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548640" y="4745736"/>
            <a:ext cx="685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85546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 spraying hujumining mohiyati nima?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463040" y="5312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Bitta qayd yozuviga ko'p parol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5312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Ko'p qayd yozuviga bitta keng tarqalgan parol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63040" y="56784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Rainbow jadvaldan qidirish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56784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Tarmoq trafikini tinglash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JAVOBLAR KALITI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O'zingizni tekshiring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685800" y="1929384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685800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25880" y="1929384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1325880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057400" y="17830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«Siz haqiqatan ham sizmisiz?»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309360" y="1929384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6309360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949440" y="1929384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6949440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17830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Rainbow jadvallar: bir xil parol — turli xesh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2770632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685800" y="291693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 txBox="1"/>
          <p:nvPr/>
        </p:nvSpPr>
        <p:spPr>
          <a:xfrm>
            <a:off x="685800" y="2916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325880" y="291693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1325880" y="2916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057400" y="27706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Juda tez: GPU soniyasiga milliardlab tekshiradi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72200" y="2770632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2"/>
          <p:cNvSpPr/>
          <p:nvPr/>
        </p:nvSpPr>
        <p:spPr>
          <a:xfrm>
            <a:off x="6309360" y="291693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6309360" y="2916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949440" y="2916936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6949440" y="2916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680960" y="27706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Xotira hajmi (KiB) — GPU uchun qimmat resurs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8640" y="3758184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8"/>
          <p:cNvSpPr/>
          <p:nvPr/>
        </p:nvSpPr>
        <p:spPr>
          <a:xfrm>
            <a:off x="685800" y="390448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 txBox="1"/>
          <p:nvPr/>
        </p:nvSpPr>
        <p:spPr>
          <a:xfrm>
            <a:off x="685800" y="3904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325880" y="390448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 txBox="1"/>
          <p:nvPr/>
        </p:nvSpPr>
        <p:spPr>
          <a:xfrm>
            <a:off x="1325880" y="3904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2057400" y="37581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Sizgan va lug'at parollari qora ro'yxati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172200" y="3758184"/>
            <a:ext cx="5440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Shape 34"/>
          <p:cNvSpPr/>
          <p:nvPr/>
        </p:nvSpPr>
        <p:spPr>
          <a:xfrm>
            <a:off x="6309360" y="390448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 txBox="1"/>
          <p:nvPr/>
        </p:nvSpPr>
        <p:spPr>
          <a:xfrm>
            <a:off x="6309360" y="3904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949440" y="3904488"/>
            <a:ext cx="530352" cy="530352"/>
          </a:xfrm>
          <a:prstGeom prst="roundRect">
            <a:avLst>
              <a:gd name="adj" fmla="val 12069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7"/>
          <p:cNvSpPr txBox="1"/>
          <p:nvPr/>
        </p:nvSpPr>
        <p:spPr>
          <a:xfrm>
            <a:off x="6949440" y="3904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7680960" y="375818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Ko'p qayd yozuviga bitta keng tarqalgan parol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40"/>
          <p:cNvSpPr txBox="1"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5–6 to'g'ri javob </a:t>
            </a: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mavzu o'zlashtirilgan. 4 va undan kam bo'lsa, konspekt va «Kiberxavfsizlik asoslari» [1] darsligining autentifikatsiya bo'limini qayta ko'rib chiqing.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 va keyingi mavzu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251253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11096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O'qish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3172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— identifikatsiya va autentifikatsiya bo'limi (87–92-betlar); NIST SP 800-63B-4, 3.1.1-bo'lim.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227832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822960" y="35478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/home/claude/fob-slides/icons_out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3696005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355848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Amaliyotga tayyorgarlik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3776472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A3 uchun: Python 3 ga argon2-cffi va bcrypt kutubxonalarini o'rnatib keling.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672584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822960" y="499262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/home/claude/fob-slides/icons_out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5140757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800600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Yozma topshiriq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5221224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O'zingiz foydalanadigan 3 ta xizmatning parol siyosatini NIST SP 800-63B-4 bilan solishtiring.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863840" y="1783080"/>
            <a:ext cx="3749040" cy="4187952"/>
          </a:xfrm>
          <a:prstGeom prst="roundRect">
            <a:avLst>
              <a:gd name="adj" fmla="val 219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5"/>
          <p:cNvSpPr txBox="1"/>
          <p:nvPr/>
        </p:nvSpPr>
        <p:spPr>
          <a:xfrm>
            <a:off x="78638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MA'RUZA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2468880"/>
            <a:ext cx="3749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M4</a:t>
            </a:r>
            <a:endParaRPr lang="en-US" sz="5400" dirty="0"/>
          </a:p>
        </p:txBody>
      </p:sp>
      <p:sp>
        <p:nvSpPr>
          <p:cNvPr id="22" name="Text 17"/>
          <p:cNvSpPr txBox="1"/>
          <p:nvPr/>
        </p:nvSpPr>
        <p:spPr>
          <a:xfrm>
            <a:off x="8092440" y="3474720"/>
            <a:ext cx="32918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martali parollar: HOTP, TOTP va ko'p omilli autentifikatsiya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092440" y="4892040"/>
            <a:ext cx="32918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sizib chiqsa ham, tizimga kirib bo'lmasin — qanday?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ATAMALAR LUG'ATI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Ma'ruzadagi atamalar va ularning manbasi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713232" y="17373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Identifikatsiya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373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373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713232" y="232257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2257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32257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713232" y="29077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Avtorizatsiya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90779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9077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713232" y="349300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Ko'p omilli autentifikatsiya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49300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multi-factor authentication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4930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78224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713232" y="407822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iborasi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07822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passphrase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407822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713232" y="466344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entropiyasi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46634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 entropy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66344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248656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 txBox="1"/>
          <p:nvPr/>
        </p:nvSpPr>
        <p:spPr>
          <a:xfrm>
            <a:off x="713232" y="524865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martali parol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524865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one-time password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524865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173736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 txBox="1"/>
          <p:nvPr/>
        </p:nvSpPr>
        <p:spPr>
          <a:xfrm>
            <a:off x="6336792" y="17373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Xesh funksiya, xesh qiymat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17373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 function, hash value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744200" y="17373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[1], [2]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72200" y="2322576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 txBox="1"/>
          <p:nvPr/>
        </p:nvSpPr>
        <p:spPr>
          <a:xfrm>
            <a:off x="6336792" y="232257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tomonlama funksiya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006840" y="232257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one-way function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744200" y="232257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72200" y="2907792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 txBox="1"/>
          <p:nvPr/>
        </p:nvSpPr>
        <p:spPr>
          <a:xfrm>
            <a:off x="6336792" y="29077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Tuz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006840" y="290779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salt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744200" y="29077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172200" y="3493008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 txBox="1"/>
          <p:nvPr/>
        </p:nvSpPr>
        <p:spPr>
          <a:xfrm>
            <a:off x="6336792" y="349300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Lug'atga asoslangan hujum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9006840" y="349300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dictionary attack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744200" y="34930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172200" y="4078224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 txBox="1"/>
          <p:nvPr/>
        </p:nvSpPr>
        <p:spPr>
          <a:xfrm>
            <a:off x="6336792" y="407822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Qo'pol kuch hujumi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9006840" y="407822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brute-force attack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10744200" y="407822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172200" y="466344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3" name="Text 51"/>
          <p:cNvSpPr txBox="1"/>
          <p:nvPr/>
        </p:nvSpPr>
        <p:spPr>
          <a:xfrm>
            <a:off x="6336792" y="466344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Gibrid hujum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9006840" y="46634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attack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10744200" y="466344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172200" y="5248656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7" name="Text 55"/>
          <p:cNvSpPr txBox="1"/>
          <p:nvPr/>
        </p:nvSpPr>
        <p:spPr>
          <a:xfrm>
            <a:off x="6336792" y="524865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Rainbow jadvali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9006840" y="524865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rainbow table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10744200" y="524865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[1]–[3] — keyingi slayddagi o'zbek tilidagi adabiyotlar. * «Tuz» o'zbek tilidagi darsliklarda uchramadi — so'zma-so'z tarjima, shu sababli slaydlarda «tuz (salt)» shaklida berildi. Credential stuffing va password spraying asl nomida saqlandi.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MANBALAR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Tavsiya etilgan adabiyotlar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548640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S.K. Ganiev, A.A. Ganiev, Z.T. Xudoyqulov. Kiberxavfsizlik asoslari. — T.: «Iqtisod-moliya», 2021.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 omillari, parol tizimlari, xesh funksiyalar, parolga qaratilgan hujumlar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548640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963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U.R. Xamdamov va boshq. Operatsion tizimlar. — T.: «Nihol print», 2021.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620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Parollarni saqlash: bir tomonlama funksiya, /etc/shadow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25526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S.K. Ganiyev, A.A. Ganiyev, D.Y. Irgasheva. Ma'lumotlar bazasi xavfsizligi. — T.: «Fan va texnologiya», 2016.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tizimlari va ma'lumotlar bazasida autentifikatsiya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548640" y="4050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142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 Stamp. Information Security: Principles and Practice. 2nd ed. — Wiley, 2011.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79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7-bob: autentifikatsiya, parollar, tuz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974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548640" y="4809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7731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NIST SP 800-63B-4 (2025) · OWASP Password Storage Cheat Sheet · RFC 9106 (Argon2)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1389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siyosati va parollarni saqlash bo'yicha amaldagi tavsiyalar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5686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548640" y="5568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532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N. Provos, D. Mazières. A Future-Adaptable Password Scheme. — USENIX, 1999.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8978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bcrypt algoritmining asl maqolasi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3-ma'ruza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4849</Words>
  <Application>Microsoft Office PowerPoint</Application>
  <PresentationFormat>Произвольный</PresentationFormat>
  <Paragraphs>736</Paragraphs>
  <Slides>33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7" baseType="lpstr">
      <vt:lpstr>Arial</vt:lpstr>
      <vt:lpstr>Courier New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3-ma'ruza. Parolga asoslangan autentifikatsiya</dc:title>
  <dc:subject>PptxGenJS Presentation</dc:subject>
  <dc:creator>PptxGenJS</dc:creator>
  <cp:lastModifiedBy>Obidjon Bozorov</cp:lastModifiedBy>
  <cp:revision>1</cp:revision>
  <dcterms:created xsi:type="dcterms:W3CDTF">2026-09-23T07:10:59Z</dcterms:created>
  <dcterms:modified xsi:type="dcterms:W3CDTF">2026-09-30T04:25:26Z</dcterms:modified>
</cp:coreProperties>
</file>