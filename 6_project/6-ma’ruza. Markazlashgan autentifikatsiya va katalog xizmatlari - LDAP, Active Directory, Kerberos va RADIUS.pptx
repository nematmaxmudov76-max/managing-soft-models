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5-ma'ruzada Windows Hello for Business Kerberos TGT va PRT olishini ko'rdik. Bugun shu mexanizmning asosi: foydalanuvchilar qayerda saqlanadi (LDAP, AD), domenda qanday autentifikatsiya qilinadi (Kerberos) va Wi-Fi yoki VPN ga kirishda nima bo'ladi (RADIUS).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Namoyish uchun domenga ulangan Windows kompyuter kerak (masalan, universitet domeni). Domen bo'lmasa, A6 amaliy mashg'ulotida Windows Server virtual mashinasida domen ko'tariladi.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Kutilgan javob: lokal qayd yozuvlari bilan har bir o'zgarish 500 marta takrorlanadi — bu amalda imkonsiz va M2 dagi deprovisioning talablarini buzadi (egasiz qayd yozuvlari). Yechim — markazlashtirilgan katalog: foydalanuvchi bir marta yaratiladi, hamma kompyuterlar unga ishonadi. Windows'da bu Active Directory domeni.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Katalog xizmati — tarmoqdagi obyektlar (foydalanuvchilar, guruhlar, kompyuterlar, printerlar) haqidagi ma'lumotlarni ierarxik saqlaydigan va qidirishga optimallashtirilgan ma'lumotlar bazasi. SAM (Security Account Manager) — lokal qayd yozuvlari bazasi, A2 da ishlatgan New-LocalUser shu yerga yozadi. Domenga ulangan kompyuterda lokal SAM ham saqlanib qoladi (masalan, lokal Administrator) — shuning uchun LAPS kabi vositalar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 Directory Information Tree. LDAP X.500 standartining 'yengillashtirilgan' varianti. Global katalog (3268/3269) — o'rmondagi barcha domenlar obyektlarining qisman nusxasi. Microsoft Learn: Windows Server 2025 da yangi AD o'rnatmalarida 'Domain controller: LDAP server signing requirements enforcement' standart holda yoqilgan; imzolanmagan LDAP trafik replay va o'rtada turgan odam hujumlariga ochiq. Kanal bog'lash (channel binding) LDAPS seansini TLS kanaliga bog'laydi.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 — Distinguished Name. RID 500 — o'rnatilgan Administrator, 512 — Domain Admins guruhi; oddiy foydalanuvchilar 1000 dan boshlanadi. userAccountControl — bit maydoni: 2-bit (ACCOUNTDISABLE) blokirovkani bildiradi, 512 = NORMAL_ACCOUNT, 514 = 512 + 2. Filtrdagi 1.2.840.113556.1.4.803 — AD ning bitli AND qoidasi (LDAP_MATCHING_RULE_BIT_AND); '!' bilan blokirovka qilinmaganlar tanlanadi. M2 bilan bog'lang: leaver jarayonida AD da aynan userAccountControl o'zgaradi (Disable-ADAccount).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Domen kontrolleri AD DS roli o'rnatilgan Windows Server. Muhim: DC ning o'zi eng qimmatli nishon — unda barcha foydalanuvchilarning parol xeshlari (NTDS.dit fayli) va krbtgt kaliti bor. Shu sababli DC larni 'Tier 0' deb himoyalash tavsiya etiladi: ularga faqat maxsus ma'mur qayd yozuvlari bilan, maxsus ishchi stansiyalardan kiriladi. OU ga boshqaruvni topshirish (delegation) — masalan, dekanat talabalar OU sida faqat parolni tiklay oladi — eng kam imtiyoz tamoyilining AD dagi ifodasi.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AGDLP — Microsoft tavsiya qiladigan guruhlash strategiyasi (bir necha o'rmon bo'lsa AGUDLP — Universal guruh qo'shiladi). Bu RBAC ning (M13) amaliy ko'rinishi: G guruh — rol, DL guruh — resursga ruxsatlar to'plami. NTFS ruxsatlari va DACL — 16-ma'ruzada batafsil. Kerberos chiptasi ichida (PAC) aynan shu guruhlarning SID lari keladi — keyingi bo'lim bilan bog'lanadi.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Kerberos — MIT da 1980-yillarda yaratilgan, v5 — RFC 4120 (2005). Windows 2000 dan beri domendagi asosiy protokol, port 88. Analogiya: universitetga kirishda guvohnoma (TGT) olasiz; har bir xonaga kirish uchun guvohnomani ko'rsatib, o'sha xona uchun ruxsatnoma (xizmat chiptasi) olasiz. Guvohnomani har safar qayta tekshirtirish shart emas — bu SSO. Standart domen siyosati: TGT 10 soat, uzaytirish 7 kun, soat og'ishi 5 daqiqa.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Pre-autentifikatsiya: mijoz joriy vaqtni paroldan hosil qilingan kalit bilan shifrlaydi — KDC uni ochib, foydalanuvchi parolni bilishini tekshiradi. 2. TGT krbtgt qayd yozuvining kaliti bilan shifrlangan — mijoz uni ocha olmaydi, faqat saqlaydi. 3–4. SPN (Service Principal Name) — xizmat nomi, masalan cifs/fs.nuu.uz (fayl almashish), MSSQLSvc/sql.nuu.uz:1433. Xizmat chiptasi xizmat qayd yozuvining kaliti bilan shifrlanadi. 5. Xizmat chiptani o'z kaliti bilan ochadi, PAC dagi guruh SID laridan foydalanib NTFS ruxsatlarini tekshiradi — bu autentifikatsiyadan avtorizatsiyaga ko'prik. KDC xizmat bilan bog'lanmaydi — xizmat chiptaga ishonadi.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a) foydalanuvchi parolidan hosil qilingan kalit. b) krbtgt qayd yozuvining kaliti — shuning uchun krbtgt xeshi o'g'irlansa, hujumchi istalgan TGT ni o'zi yasay oladi (Golden Ticket). c) xizmat qayd yozuvining kaliti. d) Xizmat qayd yozuvining parolini — chiptani turli parollar bilan ochib ko'rish mumkin (Kerberoasting). Bu M3 dagi oflayn buzishning aynan o'zi. Eng xavflisi — odam tomonidan qo'yilgan, qisqa va yillab almashtirilmagan parolli, RC4 ga ruxsat berilgan xizmat qayd yozuvlari (masalan, svc_sql).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Kerberoasting: istalgan domen foydalanuvchisi SPN li xizmat uchun chipta so'ray oladi; chipta xizmat paroli kaliti bilan shifrlangan — oflayn buziladi (M3: lug'at, GPU). RC4 da kalit = NTLM xeshi, tuzsiz va tez — shuning uchun Microsoft RC4 ni o'chirmoqda. gMSA (group Managed Service Account) — parolni AD o'zi yaratadi (120 belgi) va 30 kunda almashtiradi. Protected Users guruhi a'zolari uchun NTLM, RC4 va chiptalarni uzoq saqlash o'chiriladi. Golden Ticket dan keyin krbtgt parolini ikki marta (replikatsiya oralig'i bilan) almashtirish kerak, chunki AD oldingi parolni ham saqlaydi. Manbalar: Microsoft Windows Server Blog (2025-12-03, 'Beyond RC4'); Windows IT Pro Blog (2026, NTLM).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Buyruqlar oddiy foydalanuvchi huquqi bilan ishlaydi (Get-ADUser dan tashqari — RSAT ActiveDirectory moduli kerak). Namuna natijalar tasviriy: domen nomi va server nomlarini o'z tarmog'ingizga moslang. klist 11 ta etype raqamini ham ko'rsatadi: 18 — AES256, 23 — RC4-HMAC. Agar chiptalarda RC4 ko'rinsa — yuqoridagi yo'l xaritasi uchun jonli misol. Domen bo'lmasa, klist 'Cached Tickets: (0)' ko'rsatadi — lokal qayd yozuvi NTLM ishlatadi.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RADIUS — Remote Authentication Dial-In User Service. NAS (Network Access Server) — RADIUS mijozi: foydalanuvchi bilan RADIUS server o'rtasida vositachi. Windows Server'da RADIUS server — Network Policy Server (NPS), 'Network Policy and Access Services' roli. NPS foydalanuvchini AD da tekshiradi va tarmoq siyosatiga ko'ra ruxsat beradi — bu ham foydalanish nazorati: sub'ekt (foydalanuvchi guruhi), obyekt (tarmoq segmenti), amal (ulanish). TACACS+ — tarmoq qurilmalarini boshqarishda muqobil protokol.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802.1X — portga asoslangan tarmoqqa kirish nazorati: foydalanuvchi autentifikatsiyadan o'tmaguncha kirish nuqtasi faqat EAP trafigini o'tkazadi. PEAP-MSCHAPv2 ning eng keng tarqalgan xatosi — mijozda server sertifikatini tekshirish o'chirilgan; shunda 'evil twin' kirish nuqtasi MSCHAPv2 almashuvini yozib olib, parolni oflayn buzadi. EAP-TLS — fishingga bardoshli variant (M5 dagi g'oyaga o'xshash: sir emas, kalit). eduroam — xalqaro universitetlar tarmog'i. Blast-RADIUS (2024-yil iyul): RADIUS javobidagi MD5 ga asoslangan Response Authenticator zaifligi; Microsoft NPS uchun KB5040268 ko'rsatmalarini chiqargan.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1-B, 2-B, 3-B, 4-C.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Atamalar tarjima qilingan; o'zbek tilidagi darsliklar bilan yakuniy solishtirish kerak (Adabiyotlar papkasi ushbu kompyuterda faqat bulutda saqlangani uchun tekshirilmadi).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120640" cy="5120640"/>
          </a:xfrm>
          <a:prstGeom prst="ellipse">
            <a:avLst/>
          </a:prstGeom>
          <a:solidFill>
            <a:srgbClr val="2A3778"/>
          </a:solidFill>
          <a:ln/>
        </p:spPr>
      </p:sp>
      <p:sp>
        <p:nvSpPr>
          <p:cNvPr id="3" name="Shape 1"/>
          <p:cNvSpPr/>
          <p:nvPr/>
        </p:nvSpPr>
        <p:spPr>
          <a:xfrm>
            <a:off x="10515600" y="4023360"/>
            <a:ext cx="3291840" cy="3291840"/>
          </a:xfrm>
          <a:prstGeom prst="ellipse">
            <a:avLst/>
          </a:prstGeom>
          <a:solidFill>
            <a:srgbClr val="2A3778"/>
          </a:solidFill>
          <a:ln/>
        </p:spPr>
      </p:sp>
      <p:sp>
        <p:nvSpPr>
          <p:cNvPr id="4" name="Shape 2"/>
          <p:cNvSpPr/>
          <p:nvPr/>
        </p:nvSpPr>
        <p:spPr>
          <a:xfrm>
            <a:off x="822960" y="685800"/>
            <a:ext cx="868680" cy="868680"/>
          </a:xfrm>
          <a:prstGeom prst="ellipse">
            <a:avLst/>
          </a:prstGeom>
          <a:solidFill>
            <a:srgbClr val="2A3778"/>
          </a:solidFill>
          <a:ln/>
        </p:spPr>
      </p:sp>
      <p:pic>
        <p:nvPicPr>
          <p:cNvPr id="5" name="Image 0" descr="/home/claude/fob-slides/icons_out/sitemap_white.png"/>
          <p:cNvPicPr>
            <a:picLocks noChangeAspect="1"/>
          </p:cNvPicPr>
          <p:nvPr/>
        </p:nvPicPr>
        <p:blipFill>
          <a:blip r:embed="rId1"/>
          <a:stretch>
            <a:fillRect/>
          </a:stretch>
        </p:blipFill>
        <p:spPr>
          <a:xfrm>
            <a:off x="1040130" y="902970"/>
            <a:ext cx="434340" cy="434340"/>
          </a:xfrm>
          <a:prstGeom prst="rect">
            <a:avLst/>
          </a:prstGeom>
        </p:spPr>
      </p:pic>
      <p:sp>
        <p:nvSpPr>
          <p:cNvPr id="6" name="Text 3"/>
          <p:cNvSpPr txBox="1"/>
          <p:nvPr/>
        </p:nvSpPr>
        <p:spPr>
          <a:xfrm>
            <a:off x="822960" y="1783080"/>
            <a:ext cx="10241280" cy="411480"/>
          </a:xfrm>
          <a:prstGeom prst="rect">
            <a:avLst/>
          </a:prstGeom>
          <a:noFill/>
          <a:ln/>
        </p:spPr>
        <p:txBody>
          <a:bodyPr wrap="square" lIns="0" tIns="0" rIns="0" bIns="0" rtlCol="0" anchor="t"/>
          <a:lstStyle/>
          <a:p>
            <a:pPr algn="l" indent="0" marL="0">
              <a:lnSpc>
                <a:spcPct val="100000"/>
              </a:lnSpc>
              <a:buNone/>
            </a:pPr>
            <a:r>
              <a:rPr lang="en-US" sz="1700" b="1" dirty="0">
                <a:solidFill>
                  <a:srgbClr val="CADCFC"/>
                </a:solidFill>
                <a:latin typeface="Times New Roman" pitchFamily="34" charset="0"/>
                <a:ea typeface="Times New Roman" pitchFamily="34" charset="-122"/>
                <a:cs typeface="Times New Roman" pitchFamily="34" charset="-120"/>
              </a:rPr>
              <a:t>FOYDALANISHLARNI BOSHQARISH  ·  FOB1506  ·  6-MA'RUZA</a:t>
            </a:r>
            <a:endParaRPr lang="en-US" sz="1700" dirty="0"/>
          </a:p>
        </p:txBody>
      </p:sp>
      <p:sp>
        <p:nvSpPr>
          <p:cNvPr id="7" name="Text 4"/>
          <p:cNvSpPr txBox="1"/>
          <p:nvPr/>
        </p:nvSpPr>
        <p:spPr>
          <a:xfrm>
            <a:off x="822960" y="2240280"/>
            <a:ext cx="9692640" cy="1371600"/>
          </a:xfrm>
          <a:prstGeom prst="rect">
            <a:avLst/>
          </a:prstGeom>
          <a:noFill/>
          <a:ln/>
        </p:spPr>
        <p:txBody>
          <a:bodyPr wrap="square" lIns="0" tIns="0" rIns="0" bIns="0" rtlCol="0" anchor="t"/>
          <a:lstStyle/>
          <a:p>
            <a:pPr algn="l" indent="0" marL="0">
              <a:lnSpc>
                <a:spcPct val="100000"/>
              </a:lnSpc>
              <a:buNone/>
            </a:pPr>
            <a:r>
              <a:rPr lang="en-US" sz="4400" b="1" dirty="0">
                <a:solidFill>
                  <a:srgbClr val="FFFFFF"/>
                </a:solidFill>
                <a:latin typeface="Times New Roman" pitchFamily="34" charset="0"/>
                <a:ea typeface="Times New Roman" pitchFamily="34" charset="-122"/>
                <a:cs typeface="Times New Roman" pitchFamily="34" charset="-120"/>
              </a:rPr>
              <a:t>Markazlashgan autentifikatsiya va katalog xizmatlari: LDAP, Active Directory, Kerberos va RADIUS</a:t>
            </a:r>
            <a:endParaRPr lang="en-US" sz="4400" dirty="0"/>
          </a:p>
        </p:txBody>
      </p:sp>
      <p:sp>
        <p:nvSpPr>
          <p:cNvPr id="8" name="Text 5"/>
          <p:cNvSpPr txBox="1"/>
          <p:nvPr/>
        </p:nvSpPr>
        <p:spPr>
          <a:xfrm>
            <a:off x="822960" y="3657600"/>
            <a:ext cx="10058400" cy="457200"/>
          </a:xfrm>
          <a:prstGeom prst="rect">
            <a:avLst/>
          </a:prstGeom>
          <a:noFill/>
          <a:ln/>
        </p:spPr>
        <p:txBody>
          <a:bodyPr wrap="square" lIns="0" tIns="0" rIns="0" bIns="0" rtlCol="0" anchor="t"/>
          <a:lstStyle/>
          <a:p>
            <a:pPr algn="l" indent="0" marL="0">
              <a:lnSpc>
                <a:spcPct val="100000"/>
              </a:lnSpc>
              <a:buNone/>
            </a:pPr>
            <a:r>
              <a:rPr lang="en-US" sz="2000" dirty="0">
                <a:solidFill>
                  <a:srgbClr val="CADCFC"/>
                </a:solidFill>
                <a:latin typeface="Times New Roman" pitchFamily="34" charset="0"/>
                <a:ea typeface="Times New Roman" pitchFamily="34" charset="-122"/>
                <a:cs typeface="Times New Roman" pitchFamily="34" charset="-120"/>
              </a:rPr>
              <a:t>LDAP  ·  Active Directory  ·  Kerberos  ·  RADIUS — Windows Server domeni misolida</a:t>
            </a:r>
            <a:endParaRPr lang="en-US" sz="2000" dirty="0"/>
          </a:p>
        </p:txBody>
      </p:sp>
      <p:sp>
        <p:nvSpPr>
          <p:cNvPr id="9" name="Shape 6"/>
          <p:cNvSpPr/>
          <p:nvPr/>
        </p:nvSpPr>
        <p:spPr>
          <a:xfrm>
            <a:off x="822960" y="4434840"/>
            <a:ext cx="1143000" cy="438912"/>
          </a:xfrm>
          <a:prstGeom prst="roundRect">
            <a:avLst>
              <a:gd name="adj" fmla="val 50000"/>
            </a:avLst>
          </a:prstGeom>
          <a:solidFill>
            <a:srgbClr val="2A3778"/>
          </a:solidFill>
          <a:ln/>
        </p:spPr>
      </p:sp>
      <p:sp>
        <p:nvSpPr>
          <p:cNvPr id="10" name="Text 7"/>
          <p:cNvSpPr txBox="1"/>
          <p:nvPr/>
        </p:nvSpPr>
        <p:spPr>
          <a:xfrm>
            <a:off x="822960" y="4434840"/>
            <a:ext cx="11430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2 soat</a:t>
            </a:r>
            <a:endParaRPr lang="en-US" sz="1400" dirty="0"/>
          </a:p>
        </p:txBody>
      </p:sp>
      <p:sp>
        <p:nvSpPr>
          <p:cNvPr id="11" name="Shape 8"/>
          <p:cNvSpPr/>
          <p:nvPr/>
        </p:nvSpPr>
        <p:spPr>
          <a:xfrm>
            <a:off x="2148840" y="4434840"/>
            <a:ext cx="2514600" cy="438912"/>
          </a:xfrm>
          <a:prstGeom prst="roundRect">
            <a:avLst>
              <a:gd name="adj" fmla="val 50000"/>
            </a:avLst>
          </a:prstGeom>
          <a:solidFill>
            <a:srgbClr val="2A3778"/>
          </a:solidFill>
          <a:ln/>
        </p:spPr>
      </p:sp>
      <p:sp>
        <p:nvSpPr>
          <p:cNvPr id="12" name="Text 9"/>
          <p:cNvSpPr txBox="1"/>
          <p:nvPr/>
        </p:nvSpPr>
        <p:spPr>
          <a:xfrm>
            <a:off x="2148840" y="4434840"/>
            <a:ext cx="25146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18 ma'ruzadan 6-si</a:t>
            </a:r>
            <a:endParaRPr lang="en-US" sz="1400" dirty="0"/>
          </a:p>
        </p:txBody>
      </p:sp>
      <p:sp>
        <p:nvSpPr>
          <p:cNvPr id="13" name="Shape 10"/>
          <p:cNvSpPr/>
          <p:nvPr/>
        </p:nvSpPr>
        <p:spPr>
          <a:xfrm>
            <a:off x="4846320" y="4434840"/>
            <a:ext cx="1600200" cy="438912"/>
          </a:xfrm>
          <a:prstGeom prst="roundRect">
            <a:avLst>
              <a:gd name="adj" fmla="val 50000"/>
            </a:avLst>
          </a:prstGeom>
          <a:solidFill>
            <a:srgbClr val="2A3778"/>
          </a:solidFill>
          <a:ln/>
        </p:spPr>
      </p:sp>
      <p:sp>
        <p:nvSpPr>
          <p:cNvPr id="14" name="Text 11"/>
          <p:cNvSpPr txBox="1"/>
          <p:nvPr/>
        </p:nvSpPr>
        <p:spPr>
          <a:xfrm>
            <a:off x="4846320" y="4434840"/>
            <a:ext cx="16002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Amaliy: A6</a:t>
            </a:r>
            <a:endParaRPr lang="en-US" sz="1400" dirty="0"/>
          </a:p>
        </p:txBody>
      </p:sp>
      <p:sp>
        <p:nvSpPr>
          <p:cNvPr id="15" name="Shape 12"/>
          <p:cNvSpPr/>
          <p:nvPr/>
        </p:nvSpPr>
        <p:spPr>
          <a:xfrm>
            <a:off x="6629400" y="4434840"/>
            <a:ext cx="2400300" cy="438912"/>
          </a:xfrm>
          <a:prstGeom prst="roundRect">
            <a:avLst>
              <a:gd name="adj" fmla="val 50000"/>
            </a:avLst>
          </a:prstGeom>
          <a:solidFill>
            <a:srgbClr val="2A3778"/>
          </a:solidFill>
          <a:ln/>
        </p:spPr>
      </p:sp>
      <p:sp>
        <p:nvSpPr>
          <p:cNvPr id="16" name="Text 13"/>
          <p:cNvSpPr txBox="1"/>
          <p:nvPr/>
        </p:nvSpPr>
        <p:spPr>
          <a:xfrm>
            <a:off x="6629400" y="4434840"/>
            <a:ext cx="24003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Windows namoyishi</a:t>
            </a:r>
            <a:endParaRPr lang="en-US" sz="1400" dirty="0"/>
          </a:p>
        </p:txBody>
      </p:sp>
      <p:sp>
        <p:nvSpPr>
          <p:cNvPr id="17" name="Text 14"/>
          <p:cNvSpPr txBox="1"/>
          <p:nvPr/>
        </p:nvSpPr>
        <p:spPr>
          <a:xfrm>
            <a:off x="822960" y="5897880"/>
            <a:ext cx="9144000" cy="365760"/>
          </a:xfrm>
          <a:prstGeom prst="rect">
            <a:avLst/>
          </a:prstGeom>
          <a:noFill/>
          <a:ln/>
        </p:spPr>
        <p:txBody>
          <a:bodyPr wrap="square" lIns="0" tIns="0" rIns="0" bIns="0" rtlCol="0" anchor="t"/>
          <a:lstStyle/>
          <a:p>
            <a:pPr algn="l"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Mirzo Ulug'bek nomidagi O'zbekiston Milliy universiteti  ·  Axborot xavfsizligi kafedrasi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DARS XARITASI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Bugungi ma'ruza qanday quriladi</a:t>
            </a:r>
            <a:endParaRPr lang="en-US" sz="3600" dirty="0"/>
          </a:p>
        </p:txBody>
      </p:sp>
      <p:sp>
        <p:nvSpPr>
          <p:cNvPr id="4" name="Shape 2"/>
          <p:cNvSpPr/>
          <p:nvPr/>
        </p:nvSpPr>
        <p:spPr>
          <a:xfrm>
            <a:off x="548640" y="1783080"/>
            <a:ext cx="7863840" cy="1234440"/>
          </a:xfrm>
          <a:prstGeom prst="roundRect">
            <a:avLst>
              <a:gd name="adj" fmla="val 6667"/>
            </a:avLst>
          </a:prstGeom>
          <a:solidFill>
            <a:srgbClr val="EEF2FB"/>
          </a:solidFill>
          <a:ln/>
        </p:spPr>
      </p:sp>
      <p:sp>
        <p:nvSpPr>
          <p:cNvPr id="5" name="Shape 3"/>
          <p:cNvSpPr/>
          <p:nvPr/>
        </p:nvSpPr>
        <p:spPr>
          <a:xfrm>
            <a:off x="548640" y="1783080"/>
            <a:ext cx="914400" cy="1234440"/>
          </a:xfrm>
          <a:prstGeom prst="roundRect">
            <a:avLst>
              <a:gd name="adj" fmla="val 9000"/>
            </a:avLst>
          </a:prstGeom>
          <a:solidFill>
            <a:srgbClr val="1E2761"/>
          </a:solidFill>
          <a:ln/>
        </p:spPr>
      </p:sp>
      <p:sp>
        <p:nvSpPr>
          <p:cNvPr id="6" name="Text 4"/>
          <p:cNvSpPr txBox="1"/>
          <p:nvPr/>
        </p:nvSpPr>
        <p:spPr>
          <a:xfrm>
            <a:off x="548640" y="1783080"/>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a:t>
            </a:r>
            <a:endParaRPr lang="en-US" sz="3200" dirty="0"/>
          </a:p>
        </p:txBody>
      </p:sp>
      <p:sp>
        <p:nvSpPr>
          <p:cNvPr id="7" name="Text 5"/>
          <p:cNvSpPr txBox="1"/>
          <p:nvPr/>
        </p:nvSpPr>
        <p:spPr>
          <a:xfrm>
            <a:off x="1691640" y="1947672"/>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LDAP va Active Directory</a:t>
            </a:r>
            <a:endParaRPr lang="en-US" sz="2000" dirty="0"/>
          </a:p>
        </p:txBody>
      </p:sp>
      <p:sp>
        <p:nvSpPr>
          <p:cNvPr id="8" name="Text 6"/>
          <p:cNvSpPr txBox="1"/>
          <p:nvPr/>
        </p:nvSpPr>
        <p:spPr>
          <a:xfrm>
            <a:off x="1691640" y="2423160"/>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Katalog, DN, AD tuzilmasi, AGDLP</a:t>
            </a:r>
            <a:endParaRPr lang="en-US" sz="1600" dirty="0"/>
          </a:p>
        </p:txBody>
      </p:sp>
      <p:sp>
        <p:nvSpPr>
          <p:cNvPr id="9" name="Text 7"/>
          <p:cNvSpPr txBox="1"/>
          <p:nvPr/>
        </p:nvSpPr>
        <p:spPr>
          <a:xfrm>
            <a:off x="7223760" y="1965960"/>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~30 daq.</a:t>
            </a:r>
            <a:endParaRPr lang="en-US" sz="1600" dirty="0"/>
          </a:p>
        </p:txBody>
      </p:sp>
      <p:sp>
        <p:nvSpPr>
          <p:cNvPr id="10" name="Shape 8"/>
          <p:cNvSpPr/>
          <p:nvPr/>
        </p:nvSpPr>
        <p:spPr>
          <a:xfrm>
            <a:off x="548640" y="3182112"/>
            <a:ext cx="7863840" cy="1234440"/>
          </a:xfrm>
          <a:prstGeom prst="roundRect">
            <a:avLst>
              <a:gd name="adj" fmla="val 6667"/>
            </a:avLst>
          </a:prstGeom>
          <a:solidFill>
            <a:srgbClr val="EEF2FB"/>
          </a:solidFill>
          <a:ln/>
        </p:spPr>
      </p:sp>
      <p:sp>
        <p:nvSpPr>
          <p:cNvPr id="11" name="Shape 9"/>
          <p:cNvSpPr/>
          <p:nvPr/>
        </p:nvSpPr>
        <p:spPr>
          <a:xfrm>
            <a:off x="548640" y="3182112"/>
            <a:ext cx="914400" cy="1234440"/>
          </a:xfrm>
          <a:prstGeom prst="roundRect">
            <a:avLst>
              <a:gd name="adj" fmla="val 9000"/>
            </a:avLst>
          </a:prstGeom>
          <a:solidFill>
            <a:srgbClr val="1E2761"/>
          </a:solidFill>
          <a:ln/>
        </p:spPr>
      </p:sp>
      <p:sp>
        <p:nvSpPr>
          <p:cNvPr id="12" name="Text 10"/>
          <p:cNvSpPr txBox="1"/>
          <p:nvPr/>
        </p:nvSpPr>
        <p:spPr>
          <a:xfrm>
            <a:off x="548640" y="3182112"/>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a:t>
            </a:r>
            <a:endParaRPr lang="en-US" sz="3200" dirty="0"/>
          </a:p>
        </p:txBody>
      </p:sp>
      <p:sp>
        <p:nvSpPr>
          <p:cNvPr id="13" name="Text 11"/>
          <p:cNvSpPr txBox="1"/>
          <p:nvPr/>
        </p:nvSpPr>
        <p:spPr>
          <a:xfrm>
            <a:off x="1691640" y="3346704"/>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Kerberos</a:t>
            </a:r>
            <a:endParaRPr lang="en-US" sz="2000" dirty="0"/>
          </a:p>
        </p:txBody>
      </p:sp>
      <p:sp>
        <p:nvSpPr>
          <p:cNvPr id="14" name="Text 12"/>
          <p:cNvSpPr txBox="1"/>
          <p:nvPr/>
        </p:nvSpPr>
        <p:spPr>
          <a:xfrm>
            <a:off x="1691640" y="3822192"/>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Chiptalar, 6 xabar, hujumlar, Windows namoyishi</a:t>
            </a:r>
            <a:endParaRPr lang="en-US" sz="1600" dirty="0"/>
          </a:p>
        </p:txBody>
      </p:sp>
      <p:sp>
        <p:nvSpPr>
          <p:cNvPr id="15" name="Text 13"/>
          <p:cNvSpPr txBox="1"/>
          <p:nvPr/>
        </p:nvSpPr>
        <p:spPr>
          <a:xfrm>
            <a:off x="7223760" y="3364992"/>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~35 daq.</a:t>
            </a:r>
            <a:endParaRPr lang="en-US" sz="1600" dirty="0"/>
          </a:p>
        </p:txBody>
      </p:sp>
      <p:sp>
        <p:nvSpPr>
          <p:cNvPr id="16" name="Shape 14"/>
          <p:cNvSpPr/>
          <p:nvPr/>
        </p:nvSpPr>
        <p:spPr>
          <a:xfrm>
            <a:off x="548640" y="4581144"/>
            <a:ext cx="7863840" cy="1234440"/>
          </a:xfrm>
          <a:prstGeom prst="roundRect">
            <a:avLst>
              <a:gd name="adj" fmla="val 6667"/>
            </a:avLst>
          </a:prstGeom>
          <a:solidFill>
            <a:srgbClr val="EEF2FB"/>
          </a:solidFill>
          <a:ln/>
        </p:spPr>
      </p:sp>
      <p:sp>
        <p:nvSpPr>
          <p:cNvPr id="17" name="Shape 15"/>
          <p:cNvSpPr/>
          <p:nvPr/>
        </p:nvSpPr>
        <p:spPr>
          <a:xfrm>
            <a:off x="548640" y="4581144"/>
            <a:ext cx="914400" cy="1234440"/>
          </a:xfrm>
          <a:prstGeom prst="roundRect">
            <a:avLst>
              <a:gd name="adj" fmla="val 9000"/>
            </a:avLst>
          </a:prstGeom>
          <a:solidFill>
            <a:srgbClr val="1E2761"/>
          </a:solidFill>
          <a:ln/>
        </p:spPr>
      </p:sp>
      <p:sp>
        <p:nvSpPr>
          <p:cNvPr id="18" name="Text 16"/>
          <p:cNvSpPr txBox="1"/>
          <p:nvPr/>
        </p:nvSpPr>
        <p:spPr>
          <a:xfrm>
            <a:off x="548640" y="4581144"/>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III</a:t>
            </a:r>
            <a:endParaRPr lang="en-US" sz="3200" dirty="0"/>
          </a:p>
        </p:txBody>
      </p:sp>
      <p:sp>
        <p:nvSpPr>
          <p:cNvPr id="19" name="Text 17"/>
          <p:cNvSpPr txBox="1"/>
          <p:nvPr/>
        </p:nvSpPr>
        <p:spPr>
          <a:xfrm>
            <a:off x="1691640" y="4745736"/>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RADIUS va tarmoqqa kirish</a:t>
            </a:r>
            <a:endParaRPr lang="en-US" sz="2000" dirty="0"/>
          </a:p>
        </p:txBody>
      </p:sp>
      <p:sp>
        <p:nvSpPr>
          <p:cNvPr id="20" name="Text 18"/>
          <p:cNvSpPr txBox="1"/>
          <p:nvPr/>
        </p:nvSpPr>
        <p:spPr>
          <a:xfrm>
            <a:off x="1691640" y="5221224"/>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NPS, 802.1X, Wi-Fi va VPN</a:t>
            </a:r>
            <a:endParaRPr lang="en-US" sz="1600" dirty="0"/>
          </a:p>
        </p:txBody>
      </p:sp>
      <p:sp>
        <p:nvSpPr>
          <p:cNvPr id="21" name="Text 19"/>
          <p:cNvSpPr txBox="1"/>
          <p:nvPr/>
        </p:nvSpPr>
        <p:spPr>
          <a:xfrm>
            <a:off x="7223760" y="4764024"/>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~15 daq.</a:t>
            </a:r>
            <a:endParaRPr lang="en-US" sz="1600" dirty="0"/>
          </a:p>
        </p:txBody>
      </p:sp>
      <p:sp>
        <p:nvSpPr>
          <p:cNvPr id="22" name="Shape 20"/>
          <p:cNvSpPr/>
          <p:nvPr/>
        </p:nvSpPr>
        <p:spPr>
          <a:xfrm>
            <a:off x="8686800" y="1783080"/>
            <a:ext cx="2926080" cy="4032504"/>
          </a:xfrm>
          <a:prstGeom prst="roundRect">
            <a:avLst>
              <a:gd name="adj" fmla="val 2813"/>
            </a:avLst>
          </a:prstGeom>
          <a:solidFill>
            <a:srgbClr val="FDF3E2"/>
          </a:solidFill>
          <a:ln/>
        </p:spPr>
      </p:sp>
      <p:sp>
        <p:nvSpPr>
          <p:cNvPr id="23" name="Shape 21"/>
          <p:cNvSpPr/>
          <p:nvPr/>
        </p:nvSpPr>
        <p:spPr>
          <a:xfrm>
            <a:off x="8961120" y="2011680"/>
            <a:ext cx="566928" cy="566928"/>
          </a:xfrm>
          <a:prstGeom prst="ellipse">
            <a:avLst/>
          </a:prstGeom>
          <a:solidFill>
            <a:srgbClr val="D9932B"/>
          </a:solidFill>
          <a:ln/>
        </p:spPr>
      </p:sp>
      <p:pic>
        <p:nvPicPr>
          <p:cNvPr id="24" name="Image 0" descr="/home/claude/fob-slides/icons_out/bulb_white.png"/>
          <p:cNvPicPr>
            <a:picLocks noChangeAspect="1"/>
          </p:cNvPicPr>
          <p:nvPr/>
        </p:nvPicPr>
        <p:blipFill>
          <a:blip r:embed="rId1"/>
          <a:stretch>
            <a:fillRect/>
          </a:stretch>
        </p:blipFill>
        <p:spPr>
          <a:xfrm>
            <a:off x="9088679" y="2139239"/>
            <a:ext cx="311810" cy="311810"/>
          </a:xfrm>
          <a:prstGeom prst="rect">
            <a:avLst/>
          </a:prstGeom>
        </p:spPr>
      </p:pic>
      <p:sp>
        <p:nvSpPr>
          <p:cNvPr id="25" name="Text 22"/>
          <p:cNvSpPr txBox="1"/>
          <p:nvPr/>
        </p:nvSpPr>
        <p:spPr>
          <a:xfrm>
            <a:off x="8961120" y="2697480"/>
            <a:ext cx="2468880" cy="411480"/>
          </a:xfrm>
          <a:prstGeom prst="rect">
            <a:avLst/>
          </a:prstGeom>
          <a:noFill/>
          <a:ln/>
        </p:spPr>
        <p:txBody>
          <a:bodyPr wrap="square" lIns="0" tIns="0" rIns="0" bIns="0" rtlCol="0" anchor="t"/>
          <a:lstStyle/>
          <a:p>
            <a:pPr algn="l" indent="0" marL="0">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Interaktiv nuqtalar</a:t>
            </a:r>
            <a:endParaRPr lang="en-US" sz="1800" dirty="0"/>
          </a:p>
        </p:txBody>
      </p:sp>
      <p:sp>
        <p:nvSpPr>
          <p:cNvPr id="26" name="Text 23"/>
          <p:cNvSpPr txBox="1"/>
          <p:nvPr/>
        </p:nvSpPr>
        <p:spPr>
          <a:xfrm>
            <a:off x="9006840" y="3154680"/>
            <a:ext cx="2514600" cy="25603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Muhokama: 500 ta kompyuter</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qaysi kalit?</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Jonli namoyish: klist, whoami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Tezkor test (4 savol)</a:t>
            </a:r>
            <a:endParaRPr lang="en-US" sz="1600" dirty="0"/>
          </a:p>
        </p:txBody>
      </p:sp>
      <p:sp>
        <p:nvSpPr>
          <p:cNvPr id="27"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28"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MUHOKAMA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500 ta kompyuter, 3000 ta foydalanuvchi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users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1051560"/>
          </a:xfrm>
          <a:prstGeom prst="roundRect">
            <a:avLst>
              <a:gd name="adj" fmla="val 7826"/>
            </a:avLst>
          </a:prstGeom>
          <a:solidFill>
            <a:srgbClr val="FFFFFF"/>
          </a:solidFill>
          <a:ln/>
        </p:spPr>
      </p:sp>
      <p:sp>
        <p:nvSpPr>
          <p:cNvPr id="7" name="Text 4"/>
          <p:cNvSpPr txBox="1"/>
          <p:nvPr/>
        </p:nvSpPr>
        <p:spPr>
          <a:xfrm>
            <a:off x="868680" y="1783080"/>
            <a:ext cx="10424160" cy="1051560"/>
          </a:xfrm>
          <a:prstGeom prst="rect">
            <a:avLst/>
          </a:prstGeom>
          <a:noFill/>
          <a:ln/>
        </p:spPr>
        <p:txBody>
          <a:bodyPr wrap="square" lIns="0" tIns="0" rIns="0" bIns="0" rtlCol="0" anchor="ctr"/>
          <a:lstStyle/>
          <a:p>
            <a:pPr algn="l" indent="0" marL="0">
              <a:lnSpc>
                <a:spcPct val="100000"/>
              </a:lnSpc>
              <a:buNone/>
            </a:pPr>
            <a:r>
              <a:rPr lang="en-US" sz="1800" dirty="0">
                <a:solidFill>
                  <a:srgbClr val="1B1B2A"/>
                </a:solidFill>
                <a:latin typeface="Times New Roman" pitchFamily="34" charset="0"/>
                <a:ea typeface="Times New Roman" pitchFamily="34" charset="-122"/>
                <a:cs typeface="Times New Roman" pitchFamily="34" charset="-120"/>
              </a:rPr>
              <a:t>A2 da har bir Windows kompyuterida lokal qayd yozuvlarini yaratgan edik. Endi fakultetda 500 ta kompyuter va 3000 ta talaba bor.</a:t>
            </a:r>
            <a:endParaRPr lang="en-US" sz="1800" dirty="0"/>
          </a:p>
        </p:txBody>
      </p:sp>
      <p:sp>
        <p:nvSpPr>
          <p:cNvPr id="8" name="Shape 5"/>
          <p:cNvSpPr/>
          <p:nvPr/>
        </p:nvSpPr>
        <p:spPr>
          <a:xfrm>
            <a:off x="548640" y="3063240"/>
            <a:ext cx="11064240" cy="868680"/>
          </a:xfrm>
          <a:prstGeom prst="roundRect">
            <a:avLst>
              <a:gd name="adj" fmla="val 9474"/>
            </a:avLst>
          </a:prstGeom>
          <a:solidFill>
            <a:srgbClr val="FFFFFF"/>
          </a:solidFill>
          <a:ln/>
        </p:spPr>
      </p:sp>
      <p:sp>
        <p:nvSpPr>
          <p:cNvPr id="9" name="Shape 6"/>
          <p:cNvSpPr/>
          <p:nvPr/>
        </p:nvSpPr>
        <p:spPr>
          <a:xfrm>
            <a:off x="822960" y="3209544"/>
            <a:ext cx="576072" cy="576072"/>
          </a:xfrm>
          <a:prstGeom prst="ellipse">
            <a:avLst/>
          </a:prstGeom>
          <a:solidFill>
            <a:srgbClr val="D9932B"/>
          </a:solidFill>
          <a:ln/>
        </p:spPr>
      </p:sp>
      <p:pic>
        <p:nvPicPr>
          <p:cNvPr id="10" name="Image 1" descr="/home/claude/fob-slides/icons_out/question_white.png"/>
          <p:cNvPicPr>
            <a:picLocks noChangeAspect="1"/>
          </p:cNvPicPr>
          <p:nvPr/>
        </p:nvPicPr>
        <p:blipFill>
          <a:blip r:embed="rId2"/>
          <a:stretch>
            <a:fillRect/>
          </a:stretch>
        </p:blipFill>
        <p:spPr>
          <a:xfrm>
            <a:off x="981380" y="3367964"/>
            <a:ext cx="259232" cy="259232"/>
          </a:xfrm>
          <a:prstGeom prst="rect">
            <a:avLst/>
          </a:prstGeom>
        </p:spPr>
      </p:pic>
      <p:sp>
        <p:nvSpPr>
          <p:cNvPr id="11" name="Text 7"/>
          <p:cNvSpPr txBox="1"/>
          <p:nvPr/>
        </p:nvSpPr>
        <p:spPr>
          <a:xfrm>
            <a:off x="1600200" y="306324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Talaba parolini almashtirdi. Buni necha joyda qilish kerak bo'ladi?</a:t>
            </a:r>
            <a:endParaRPr lang="en-US" sz="1700" dirty="0"/>
          </a:p>
        </p:txBody>
      </p:sp>
      <p:sp>
        <p:nvSpPr>
          <p:cNvPr id="12" name="Text 8"/>
          <p:cNvSpPr txBox="1"/>
          <p:nvPr/>
        </p:nvSpPr>
        <p:spPr>
          <a:xfrm>
            <a:off x="11018520" y="306324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1</a:t>
            </a:r>
            <a:endParaRPr lang="en-US" sz="1800" dirty="0"/>
          </a:p>
        </p:txBody>
      </p:sp>
      <p:sp>
        <p:nvSpPr>
          <p:cNvPr id="13" name="Shape 9"/>
          <p:cNvSpPr/>
          <p:nvPr/>
        </p:nvSpPr>
        <p:spPr>
          <a:xfrm>
            <a:off x="548640" y="4069080"/>
            <a:ext cx="11064240" cy="868680"/>
          </a:xfrm>
          <a:prstGeom prst="roundRect">
            <a:avLst>
              <a:gd name="adj" fmla="val 9474"/>
            </a:avLst>
          </a:prstGeom>
          <a:solidFill>
            <a:srgbClr val="FFFFFF"/>
          </a:solidFill>
          <a:ln/>
        </p:spPr>
      </p:sp>
      <p:sp>
        <p:nvSpPr>
          <p:cNvPr id="14" name="Shape 10"/>
          <p:cNvSpPr/>
          <p:nvPr/>
        </p:nvSpPr>
        <p:spPr>
          <a:xfrm>
            <a:off x="822960" y="4215384"/>
            <a:ext cx="576072" cy="576072"/>
          </a:xfrm>
          <a:prstGeom prst="ellipse">
            <a:avLst/>
          </a:prstGeom>
          <a:solidFill>
            <a:srgbClr val="D9932B"/>
          </a:solidFill>
          <a:ln/>
        </p:spPr>
      </p:sp>
      <p:pic>
        <p:nvPicPr>
          <p:cNvPr id="15" name="Image 2" descr="/home/claude/fob-slides/icons_out/question_white.png"/>
          <p:cNvPicPr>
            <a:picLocks noChangeAspect="1"/>
          </p:cNvPicPr>
          <p:nvPr/>
        </p:nvPicPr>
        <p:blipFill>
          <a:blip r:embed="rId3"/>
          <a:stretch>
            <a:fillRect/>
          </a:stretch>
        </p:blipFill>
        <p:spPr>
          <a:xfrm>
            <a:off x="981380" y="4373804"/>
            <a:ext cx="259232" cy="259232"/>
          </a:xfrm>
          <a:prstGeom prst="rect">
            <a:avLst/>
          </a:prstGeom>
        </p:spPr>
      </p:pic>
      <p:sp>
        <p:nvSpPr>
          <p:cNvPr id="16" name="Text 11"/>
          <p:cNvSpPr txBox="1"/>
          <p:nvPr/>
        </p:nvSpPr>
        <p:spPr>
          <a:xfrm>
            <a:off x="1600200" y="406908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O'qituvchi ishdan ketdi. Uni 500 ta kompyuterdan qanday blokirovka qilasiz?</a:t>
            </a:r>
            <a:endParaRPr lang="en-US" sz="1700" dirty="0"/>
          </a:p>
        </p:txBody>
      </p:sp>
      <p:sp>
        <p:nvSpPr>
          <p:cNvPr id="17" name="Text 12"/>
          <p:cNvSpPr txBox="1"/>
          <p:nvPr/>
        </p:nvSpPr>
        <p:spPr>
          <a:xfrm>
            <a:off x="11018520" y="406908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2</a:t>
            </a:r>
            <a:endParaRPr lang="en-US" sz="1800" dirty="0"/>
          </a:p>
        </p:txBody>
      </p:sp>
      <p:sp>
        <p:nvSpPr>
          <p:cNvPr id="18" name="Shape 13"/>
          <p:cNvSpPr/>
          <p:nvPr/>
        </p:nvSpPr>
        <p:spPr>
          <a:xfrm>
            <a:off x="548640" y="5074920"/>
            <a:ext cx="11064240" cy="868680"/>
          </a:xfrm>
          <a:prstGeom prst="roundRect">
            <a:avLst>
              <a:gd name="adj" fmla="val 9474"/>
            </a:avLst>
          </a:prstGeom>
          <a:solidFill>
            <a:srgbClr val="FFFFFF"/>
          </a:solidFill>
          <a:ln/>
        </p:spPr>
      </p:sp>
      <p:sp>
        <p:nvSpPr>
          <p:cNvPr id="19" name="Shape 14"/>
          <p:cNvSpPr/>
          <p:nvPr/>
        </p:nvSpPr>
        <p:spPr>
          <a:xfrm>
            <a:off x="822960" y="5221224"/>
            <a:ext cx="576072" cy="576072"/>
          </a:xfrm>
          <a:prstGeom prst="ellipse">
            <a:avLst/>
          </a:prstGeom>
          <a:solidFill>
            <a:srgbClr val="D9932B"/>
          </a:solidFill>
          <a:ln/>
        </p:spPr>
      </p:sp>
      <p:pic>
        <p:nvPicPr>
          <p:cNvPr id="20" name="Image 3" descr="/home/claude/fob-slides/icons_out/question_white.png"/>
          <p:cNvPicPr>
            <a:picLocks noChangeAspect="1"/>
          </p:cNvPicPr>
          <p:nvPr/>
        </p:nvPicPr>
        <p:blipFill>
          <a:blip r:embed="rId4"/>
          <a:stretch>
            <a:fillRect/>
          </a:stretch>
        </p:blipFill>
        <p:spPr>
          <a:xfrm>
            <a:off x="981380" y="5379644"/>
            <a:ext cx="259232" cy="259232"/>
          </a:xfrm>
          <a:prstGeom prst="rect">
            <a:avLst/>
          </a:prstGeom>
        </p:spPr>
      </p:pic>
      <p:sp>
        <p:nvSpPr>
          <p:cNvPr id="21" name="Text 15"/>
          <p:cNvSpPr txBox="1"/>
          <p:nvPr/>
        </p:nvSpPr>
        <p:spPr>
          <a:xfrm>
            <a:off x="1600200" y="507492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Talaba istalgan kompyuter sinfida o'z qayd yozuvi bilan kira olishi uchun nima kerak?</a:t>
            </a:r>
            <a:endParaRPr lang="en-US" sz="1700" dirty="0"/>
          </a:p>
        </p:txBody>
      </p:sp>
      <p:sp>
        <p:nvSpPr>
          <p:cNvPr id="22" name="Text 16"/>
          <p:cNvSpPr txBox="1"/>
          <p:nvPr/>
        </p:nvSpPr>
        <p:spPr>
          <a:xfrm>
            <a:off x="11018520" y="507492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3</a:t>
            </a:r>
            <a:endParaRPr lang="en-US" sz="1800" dirty="0"/>
          </a:p>
        </p:txBody>
      </p:sp>
      <p:sp>
        <p:nvSpPr>
          <p:cNvPr id="23" name="Text 1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24" name="Text 1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KATALOG XIZMATI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Lokal qayd yozuvlaridan domenga</a:t>
            </a:r>
            <a:endParaRPr lang="en-US" sz="3600" dirty="0"/>
          </a:p>
        </p:txBody>
      </p:sp>
      <p:sp>
        <p:nvSpPr>
          <p:cNvPr id="4" name="Shape 2"/>
          <p:cNvSpPr/>
          <p:nvPr/>
        </p:nvSpPr>
        <p:spPr>
          <a:xfrm>
            <a:off x="548640" y="1783080"/>
            <a:ext cx="5440680" cy="3291840"/>
          </a:xfrm>
          <a:prstGeom prst="roundRect">
            <a:avLst>
              <a:gd name="adj" fmla="val 2500"/>
            </a:avLst>
          </a:prstGeom>
          <a:solidFill>
            <a:srgbClr val="F7ECEA"/>
          </a:solidFill>
          <a:ln/>
        </p:spPr>
      </p:sp>
      <p:sp>
        <p:nvSpPr>
          <p:cNvPr id="5" name="Text 3"/>
          <p:cNvSpPr txBox="1"/>
          <p:nvPr/>
        </p:nvSpPr>
        <p:spPr>
          <a:xfrm>
            <a:off x="777240" y="1874520"/>
            <a:ext cx="5029200" cy="411480"/>
          </a:xfrm>
          <a:prstGeom prst="rect">
            <a:avLst/>
          </a:prstGeom>
          <a:noFill/>
          <a:ln/>
        </p:spPr>
        <p:txBody>
          <a:bodyPr wrap="square" lIns="0" tIns="0" rIns="0" bIns="0" rtlCol="0" anchor="t"/>
          <a:lstStyle/>
          <a:p>
            <a:pPr algn="l" indent="0" marL="0">
              <a:lnSpc>
                <a:spcPct val="100000"/>
              </a:lnSpc>
              <a:buNone/>
            </a:pPr>
            <a:r>
              <a:rPr lang="en-US" sz="2000" b="1" dirty="0">
                <a:solidFill>
                  <a:srgbClr val="9E3B2E"/>
                </a:solidFill>
                <a:latin typeface="Times New Roman" pitchFamily="34" charset="0"/>
                <a:ea typeface="Times New Roman" pitchFamily="34" charset="-122"/>
                <a:cs typeface="Times New Roman" pitchFamily="34" charset="-120"/>
              </a:rPr>
              <a:t>Ishchi guruh (workgroup)</a:t>
            </a:r>
            <a:endParaRPr lang="en-US" sz="2000" dirty="0"/>
          </a:p>
        </p:txBody>
      </p:sp>
      <p:sp>
        <p:nvSpPr>
          <p:cNvPr id="6" name="Shape 4"/>
          <p:cNvSpPr/>
          <p:nvPr/>
        </p:nvSpPr>
        <p:spPr>
          <a:xfrm>
            <a:off x="868680" y="2468880"/>
            <a:ext cx="1097280" cy="1234440"/>
          </a:xfrm>
          <a:prstGeom prst="roundRect">
            <a:avLst>
              <a:gd name="adj" fmla="val 7500"/>
            </a:avLst>
          </a:prstGeom>
          <a:solidFill>
            <a:srgbClr val="FFFFFF"/>
          </a:solidFill>
          <a:ln/>
        </p:spPr>
      </p:sp>
      <p:sp>
        <p:nvSpPr>
          <p:cNvPr id="7" name="Shape 5"/>
          <p:cNvSpPr/>
          <p:nvPr/>
        </p:nvSpPr>
        <p:spPr>
          <a:xfrm>
            <a:off x="1143000" y="2560320"/>
            <a:ext cx="548640" cy="548640"/>
          </a:xfrm>
          <a:prstGeom prst="ellipse">
            <a:avLst/>
          </a:prstGeom>
          <a:solidFill>
            <a:srgbClr val="1E2761"/>
          </a:solidFill>
          <a:ln/>
        </p:spPr>
      </p:sp>
      <p:pic>
        <p:nvPicPr>
          <p:cNvPr id="8" name="Image 0" descr="/home/claude/fob-slides/icons_out/desktop_white.png"/>
          <p:cNvPicPr>
            <a:picLocks noChangeAspect="1"/>
          </p:cNvPicPr>
          <p:nvPr/>
        </p:nvPicPr>
        <p:blipFill>
          <a:blip r:embed="rId1"/>
          <a:stretch>
            <a:fillRect/>
          </a:stretch>
        </p:blipFill>
        <p:spPr>
          <a:xfrm>
            <a:off x="1266444" y="2683764"/>
            <a:ext cx="301752" cy="301752"/>
          </a:xfrm>
          <a:prstGeom prst="rect">
            <a:avLst/>
          </a:prstGeom>
        </p:spPr>
      </p:pic>
      <p:sp>
        <p:nvSpPr>
          <p:cNvPr id="9" name="Text 6"/>
          <p:cNvSpPr txBox="1"/>
          <p:nvPr/>
        </p:nvSpPr>
        <p:spPr>
          <a:xfrm>
            <a:off x="868680" y="3154680"/>
            <a:ext cx="1097280" cy="45720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9E3B2E"/>
                </a:solidFill>
                <a:latin typeface="Times New Roman" pitchFamily="34" charset="0"/>
                <a:ea typeface="Times New Roman" pitchFamily="34" charset="-122"/>
                <a:cs typeface="Times New Roman" pitchFamily="34" charset="-120"/>
              </a:rPr>
              <a:t>SAM</a:t>
            </a:r>
            <a:endParaRPr lang="en-US" sz="1400" dirty="0"/>
          </a:p>
        </p:txBody>
      </p:sp>
      <p:sp>
        <p:nvSpPr>
          <p:cNvPr id="10" name="Shape 7"/>
          <p:cNvSpPr/>
          <p:nvPr/>
        </p:nvSpPr>
        <p:spPr>
          <a:xfrm>
            <a:off x="2130552" y="2468880"/>
            <a:ext cx="1097280" cy="1234440"/>
          </a:xfrm>
          <a:prstGeom prst="roundRect">
            <a:avLst>
              <a:gd name="adj" fmla="val 7500"/>
            </a:avLst>
          </a:prstGeom>
          <a:solidFill>
            <a:srgbClr val="FFFFFF"/>
          </a:solidFill>
          <a:ln/>
        </p:spPr>
      </p:sp>
      <p:sp>
        <p:nvSpPr>
          <p:cNvPr id="11" name="Shape 8"/>
          <p:cNvSpPr/>
          <p:nvPr/>
        </p:nvSpPr>
        <p:spPr>
          <a:xfrm>
            <a:off x="2404872" y="2560320"/>
            <a:ext cx="548640" cy="548640"/>
          </a:xfrm>
          <a:prstGeom prst="ellipse">
            <a:avLst/>
          </a:prstGeom>
          <a:solidFill>
            <a:srgbClr val="1E2761"/>
          </a:solidFill>
          <a:ln/>
        </p:spPr>
      </p:sp>
      <p:pic>
        <p:nvPicPr>
          <p:cNvPr id="12" name="Image 1" descr="/home/claude/fob-slides/icons_out/desktop_white.png"/>
          <p:cNvPicPr>
            <a:picLocks noChangeAspect="1"/>
          </p:cNvPicPr>
          <p:nvPr/>
        </p:nvPicPr>
        <p:blipFill>
          <a:blip r:embed="rId2"/>
          <a:stretch>
            <a:fillRect/>
          </a:stretch>
        </p:blipFill>
        <p:spPr>
          <a:xfrm>
            <a:off x="2528316" y="2683764"/>
            <a:ext cx="301752" cy="301752"/>
          </a:xfrm>
          <a:prstGeom prst="rect">
            <a:avLst/>
          </a:prstGeom>
        </p:spPr>
      </p:pic>
      <p:sp>
        <p:nvSpPr>
          <p:cNvPr id="13" name="Text 9"/>
          <p:cNvSpPr txBox="1"/>
          <p:nvPr/>
        </p:nvSpPr>
        <p:spPr>
          <a:xfrm>
            <a:off x="2130552" y="3154680"/>
            <a:ext cx="1097280" cy="45720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9E3B2E"/>
                </a:solidFill>
                <a:latin typeface="Times New Roman" pitchFamily="34" charset="0"/>
                <a:ea typeface="Times New Roman" pitchFamily="34" charset="-122"/>
                <a:cs typeface="Times New Roman" pitchFamily="34" charset="-120"/>
              </a:rPr>
              <a:t>SAM</a:t>
            </a:r>
            <a:endParaRPr lang="en-US" sz="1400" dirty="0"/>
          </a:p>
        </p:txBody>
      </p:sp>
      <p:sp>
        <p:nvSpPr>
          <p:cNvPr id="14" name="Shape 10"/>
          <p:cNvSpPr/>
          <p:nvPr/>
        </p:nvSpPr>
        <p:spPr>
          <a:xfrm>
            <a:off x="3392424" y="2468880"/>
            <a:ext cx="1097280" cy="1234440"/>
          </a:xfrm>
          <a:prstGeom prst="roundRect">
            <a:avLst>
              <a:gd name="adj" fmla="val 7500"/>
            </a:avLst>
          </a:prstGeom>
          <a:solidFill>
            <a:srgbClr val="FFFFFF"/>
          </a:solidFill>
          <a:ln/>
        </p:spPr>
      </p:sp>
      <p:sp>
        <p:nvSpPr>
          <p:cNvPr id="15" name="Shape 11"/>
          <p:cNvSpPr/>
          <p:nvPr/>
        </p:nvSpPr>
        <p:spPr>
          <a:xfrm>
            <a:off x="3666744" y="2560320"/>
            <a:ext cx="548640" cy="548640"/>
          </a:xfrm>
          <a:prstGeom prst="ellipse">
            <a:avLst/>
          </a:prstGeom>
          <a:solidFill>
            <a:srgbClr val="1E2761"/>
          </a:solidFill>
          <a:ln/>
        </p:spPr>
      </p:sp>
      <p:pic>
        <p:nvPicPr>
          <p:cNvPr id="16" name="Image 2" descr="/home/claude/fob-slides/icons_out/desktop_white.png"/>
          <p:cNvPicPr>
            <a:picLocks noChangeAspect="1"/>
          </p:cNvPicPr>
          <p:nvPr/>
        </p:nvPicPr>
        <p:blipFill>
          <a:blip r:embed="rId3"/>
          <a:stretch>
            <a:fillRect/>
          </a:stretch>
        </p:blipFill>
        <p:spPr>
          <a:xfrm>
            <a:off x="3790188" y="2683764"/>
            <a:ext cx="301752" cy="301752"/>
          </a:xfrm>
          <a:prstGeom prst="rect">
            <a:avLst/>
          </a:prstGeom>
        </p:spPr>
      </p:pic>
      <p:sp>
        <p:nvSpPr>
          <p:cNvPr id="17" name="Text 12"/>
          <p:cNvSpPr txBox="1"/>
          <p:nvPr/>
        </p:nvSpPr>
        <p:spPr>
          <a:xfrm>
            <a:off x="3392424" y="3154680"/>
            <a:ext cx="1097280" cy="45720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9E3B2E"/>
                </a:solidFill>
                <a:latin typeface="Times New Roman" pitchFamily="34" charset="0"/>
                <a:ea typeface="Times New Roman" pitchFamily="34" charset="-122"/>
                <a:cs typeface="Times New Roman" pitchFamily="34" charset="-120"/>
              </a:rPr>
              <a:t>SAM</a:t>
            </a:r>
            <a:endParaRPr lang="en-US" sz="1400" dirty="0"/>
          </a:p>
        </p:txBody>
      </p:sp>
      <p:sp>
        <p:nvSpPr>
          <p:cNvPr id="18" name="Shape 13"/>
          <p:cNvSpPr/>
          <p:nvPr/>
        </p:nvSpPr>
        <p:spPr>
          <a:xfrm>
            <a:off x="4654296" y="2468880"/>
            <a:ext cx="1097280" cy="1234440"/>
          </a:xfrm>
          <a:prstGeom prst="roundRect">
            <a:avLst>
              <a:gd name="adj" fmla="val 7500"/>
            </a:avLst>
          </a:prstGeom>
          <a:solidFill>
            <a:srgbClr val="FFFFFF"/>
          </a:solidFill>
          <a:ln/>
        </p:spPr>
      </p:sp>
      <p:sp>
        <p:nvSpPr>
          <p:cNvPr id="19" name="Shape 14"/>
          <p:cNvSpPr/>
          <p:nvPr/>
        </p:nvSpPr>
        <p:spPr>
          <a:xfrm>
            <a:off x="4928616" y="2560320"/>
            <a:ext cx="548640" cy="548640"/>
          </a:xfrm>
          <a:prstGeom prst="ellipse">
            <a:avLst/>
          </a:prstGeom>
          <a:solidFill>
            <a:srgbClr val="1E2761"/>
          </a:solidFill>
          <a:ln/>
        </p:spPr>
      </p:sp>
      <p:pic>
        <p:nvPicPr>
          <p:cNvPr id="20" name="Image 3" descr="/home/claude/fob-slides/icons_out/desktop_white.png"/>
          <p:cNvPicPr>
            <a:picLocks noChangeAspect="1"/>
          </p:cNvPicPr>
          <p:nvPr/>
        </p:nvPicPr>
        <p:blipFill>
          <a:blip r:embed="rId4"/>
          <a:stretch>
            <a:fillRect/>
          </a:stretch>
        </p:blipFill>
        <p:spPr>
          <a:xfrm>
            <a:off x="5052060" y="2683764"/>
            <a:ext cx="301752" cy="301752"/>
          </a:xfrm>
          <a:prstGeom prst="rect">
            <a:avLst/>
          </a:prstGeom>
        </p:spPr>
      </p:pic>
      <p:sp>
        <p:nvSpPr>
          <p:cNvPr id="21" name="Text 15"/>
          <p:cNvSpPr txBox="1"/>
          <p:nvPr/>
        </p:nvSpPr>
        <p:spPr>
          <a:xfrm>
            <a:off x="4654296" y="3154680"/>
            <a:ext cx="1097280" cy="45720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9E3B2E"/>
                </a:solidFill>
                <a:latin typeface="Times New Roman" pitchFamily="34" charset="0"/>
                <a:ea typeface="Times New Roman" pitchFamily="34" charset="-122"/>
                <a:cs typeface="Times New Roman" pitchFamily="34" charset="-120"/>
              </a:rPr>
              <a:t>SAM</a:t>
            </a:r>
            <a:endParaRPr lang="en-US" sz="1400" dirty="0"/>
          </a:p>
        </p:txBody>
      </p:sp>
      <p:sp>
        <p:nvSpPr>
          <p:cNvPr id="22" name="Text 16"/>
          <p:cNvSpPr txBox="1"/>
          <p:nvPr/>
        </p:nvSpPr>
        <p:spPr>
          <a:xfrm>
            <a:off x="777240" y="3840480"/>
            <a:ext cx="5029200" cy="109728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Har bir kompyuter o'z SAM bazasiga ega. Bitta foydalanuvchi = har kompyuterda alohida qayd yozuvi va parol.</a:t>
            </a:r>
            <a:endParaRPr lang="en-US" sz="1600" dirty="0"/>
          </a:p>
        </p:txBody>
      </p:sp>
      <p:sp>
        <p:nvSpPr>
          <p:cNvPr id="23" name="Shape 17"/>
          <p:cNvSpPr/>
          <p:nvPr/>
        </p:nvSpPr>
        <p:spPr>
          <a:xfrm>
            <a:off x="6172200" y="1783080"/>
            <a:ext cx="5440680" cy="3291840"/>
          </a:xfrm>
          <a:prstGeom prst="roundRect">
            <a:avLst>
              <a:gd name="adj" fmla="val 2500"/>
            </a:avLst>
          </a:prstGeom>
          <a:solidFill>
            <a:srgbClr val="E8F3EC"/>
          </a:solidFill>
          <a:ln/>
        </p:spPr>
      </p:sp>
      <p:sp>
        <p:nvSpPr>
          <p:cNvPr id="24" name="Text 18"/>
          <p:cNvSpPr txBox="1"/>
          <p:nvPr/>
        </p:nvSpPr>
        <p:spPr>
          <a:xfrm>
            <a:off x="6400800" y="1874520"/>
            <a:ext cx="50292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F6B4A"/>
                </a:solidFill>
                <a:latin typeface="Times New Roman" pitchFamily="34" charset="0"/>
                <a:ea typeface="Times New Roman" pitchFamily="34" charset="-122"/>
                <a:cs typeface="Times New Roman" pitchFamily="34" charset="-120"/>
              </a:rPr>
              <a:t>Domen (Active Directory)</a:t>
            </a:r>
            <a:endParaRPr lang="en-US" sz="2000" dirty="0"/>
          </a:p>
        </p:txBody>
      </p:sp>
      <p:sp>
        <p:nvSpPr>
          <p:cNvPr id="25" name="Shape 19"/>
          <p:cNvSpPr/>
          <p:nvPr/>
        </p:nvSpPr>
        <p:spPr>
          <a:xfrm>
            <a:off x="8001000" y="2377440"/>
            <a:ext cx="1783080" cy="685800"/>
          </a:xfrm>
          <a:prstGeom prst="roundRect">
            <a:avLst>
              <a:gd name="adj" fmla="val 12000"/>
            </a:avLst>
          </a:prstGeom>
          <a:solidFill>
            <a:srgbClr val="1E2761"/>
          </a:solidFill>
          <a:ln/>
        </p:spPr>
      </p:sp>
      <p:sp>
        <p:nvSpPr>
          <p:cNvPr id="26" name="Text 20"/>
          <p:cNvSpPr txBox="1"/>
          <p:nvPr/>
        </p:nvSpPr>
        <p:spPr>
          <a:xfrm>
            <a:off x="8001000" y="2377440"/>
            <a:ext cx="1783080" cy="68580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Domen kontrolleri</a:t>
            </a:r>
            <a:endParaRPr lang="en-US" sz="1400" dirty="0"/>
          </a:p>
        </p:txBody>
      </p:sp>
      <p:sp>
        <p:nvSpPr>
          <p:cNvPr id="27" name="Shape 21"/>
          <p:cNvSpPr/>
          <p:nvPr/>
        </p:nvSpPr>
        <p:spPr>
          <a:xfrm>
            <a:off x="6720840" y="3429000"/>
            <a:ext cx="502920" cy="502920"/>
          </a:xfrm>
          <a:prstGeom prst="ellipse">
            <a:avLst/>
          </a:prstGeom>
          <a:solidFill>
            <a:srgbClr val="2A3778"/>
          </a:solidFill>
          <a:ln/>
        </p:spPr>
      </p:sp>
      <p:pic>
        <p:nvPicPr>
          <p:cNvPr id="28" name="Image 4" descr="/home/claude/fob-slides/icons_out/desktop_white.png"/>
          <p:cNvPicPr>
            <a:picLocks noChangeAspect="1"/>
          </p:cNvPicPr>
          <p:nvPr/>
        </p:nvPicPr>
        <p:blipFill>
          <a:blip r:embed="rId5"/>
          <a:stretch>
            <a:fillRect/>
          </a:stretch>
        </p:blipFill>
        <p:spPr>
          <a:xfrm>
            <a:off x="6833997" y="3542157"/>
            <a:ext cx="276606" cy="276606"/>
          </a:xfrm>
          <a:prstGeom prst="rect">
            <a:avLst/>
          </a:prstGeom>
        </p:spPr>
      </p:pic>
      <p:sp>
        <p:nvSpPr>
          <p:cNvPr id="29" name="Shape 22"/>
          <p:cNvSpPr/>
          <p:nvPr/>
        </p:nvSpPr>
        <p:spPr>
          <a:xfrm flipH="1">
            <a:off x="6967728" y="3063240"/>
            <a:ext cx="1920240" cy="365760"/>
          </a:xfrm>
          <a:prstGeom prst="line">
            <a:avLst/>
          </a:prstGeom>
          <a:noFill/>
          <a:ln w="15875">
            <a:solidFill>
              <a:srgbClr val="1F6B4A"/>
            </a:solidFill>
            <a:prstDash val="solid"/>
          </a:ln>
        </p:spPr>
      </p:sp>
      <p:sp>
        <p:nvSpPr>
          <p:cNvPr id="30" name="Shape 23"/>
          <p:cNvSpPr/>
          <p:nvPr/>
        </p:nvSpPr>
        <p:spPr>
          <a:xfrm>
            <a:off x="7955280" y="3429000"/>
            <a:ext cx="502920" cy="502920"/>
          </a:xfrm>
          <a:prstGeom prst="ellipse">
            <a:avLst/>
          </a:prstGeom>
          <a:solidFill>
            <a:srgbClr val="2A3778"/>
          </a:solidFill>
          <a:ln/>
        </p:spPr>
      </p:sp>
      <p:pic>
        <p:nvPicPr>
          <p:cNvPr id="31" name="Image 5" descr="/home/claude/fob-slides/icons_out/desktop_white.png"/>
          <p:cNvPicPr>
            <a:picLocks noChangeAspect="1"/>
          </p:cNvPicPr>
          <p:nvPr/>
        </p:nvPicPr>
        <p:blipFill>
          <a:blip r:embed="rId6"/>
          <a:stretch>
            <a:fillRect/>
          </a:stretch>
        </p:blipFill>
        <p:spPr>
          <a:xfrm>
            <a:off x="8068437" y="3542157"/>
            <a:ext cx="276606" cy="276606"/>
          </a:xfrm>
          <a:prstGeom prst="rect">
            <a:avLst/>
          </a:prstGeom>
        </p:spPr>
      </p:pic>
      <p:sp>
        <p:nvSpPr>
          <p:cNvPr id="32" name="Shape 24"/>
          <p:cNvSpPr/>
          <p:nvPr/>
        </p:nvSpPr>
        <p:spPr>
          <a:xfrm flipH="1">
            <a:off x="8202168" y="3063240"/>
            <a:ext cx="685800" cy="365760"/>
          </a:xfrm>
          <a:prstGeom prst="line">
            <a:avLst/>
          </a:prstGeom>
          <a:noFill/>
          <a:ln w="15875">
            <a:solidFill>
              <a:srgbClr val="1F6B4A"/>
            </a:solidFill>
            <a:prstDash val="solid"/>
          </a:ln>
        </p:spPr>
      </p:sp>
      <p:sp>
        <p:nvSpPr>
          <p:cNvPr id="33" name="Shape 25"/>
          <p:cNvSpPr/>
          <p:nvPr/>
        </p:nvSpPr>
        <p:spPr>
          <a:xfrm>
            <a:off x="9189720" y="3429000"/>
            <a:ext cx="502920" cy="502920"/>
          </a:xfrm>
          <a:prstGeom prst="ellipse">
            <a:avLst/>
          </a:prstGeom>
          <a:solidFill>
            <a:srgbClr val="2A3778"/>
          </a:solidFill>
          <a:ln/>
        </p:spPr>
      </p:sp>
      <p:pic>
        <p:nvPicPr>
          <p:cNvPr id="34" name="Image 6" descr="/home/claude/fob-slides/icons_out/desktop_white.png"/>
          <p:cNvPicPr>
            <a:picLocks noChangeAspect="1"/>
          </p:cNvPicPr>
          <p:nvPr/>
        </p:nvPicPr>
        <p:blipFill>
          <a:blip r:embed="rId7"/>
          <a:stretch>
            <a:fillRect/>
          </a:stretch>
        </p:blipFill>
        <p:spPr>
          <a:xfrm>
            <a:off x="9302877" y="3542157"/>
            <a:ext cx="276606" cy="276606"/>
          </a:xfrm>
          <a:prstGeom prst="rect">
            <a:avLst/>
          </a:prstGeom>
        </p:spPr>
      </p:pic>
      <p:sp>
        <p:nvSpPr>
          <p:cNvPr id="35" name="Shape 26"/>
          <p:cNvSpPr/>
          <p:nvPr/>
        </p:nvSpPr>
        <p:spPr>
          <a:xfrm>
            <a:off x="8887968" y="3063240"/>
            <a:ext cx="548640" cy="365760"/>
          </a:xfrm>
          <a:prstGeom prst="line">
            <a:avLst/>
          </a:prstGeom>
          <a:noFill/>
          <a:ln w="15875">
            <a:solidFill>
              <a:srgbClr val="1F6B4A"/>
            </a:solidFill>
            <a:prstDash val="solid"/>
          </a:ln>
        </p:spPr>
      </p:sp>
      <p:sp>
        <p:nvSpPr>
          <p:cNvPr id="36" name="Shape 27"/>
          <p:cNvSpPr/>
          <p:nvPr/>
        </p:nvSpPr>
        <p:spPr>
          <a:xfrm>
            <a:off x="10424160" y="3429000"/>
            <a:ext cx="502920" cy="502920"/>
          </a:xfrm>
          <a:prstGeom prst="ellipse">
            <a:avLst/>
          </a:prstGeom>
          <a:solidFill>
            <a:srgbClr val="2A3778"/>
          </a:solidFill>
          <a:ln/>
        </p:spPr>
      </p:sp>
      <p:pic>
        <p:nvPicPr>
          <p:cNvPr id="37" name="Image 7" descr="/home/claude/fob-slides/icons_out/desktop_white.png"/>
          <p:cNvPicPr>
            <a:picLocks noChangeAspect="1"/>
          </p:cNvPicPr>
          <p:nvPr/>
        </p:nvPicPr>
        <p:blipFill>
          <a:blip r:embed="rId8"/>
          <a:stretch>
            <a:fillRect/>
          </a:stretch>
        </p:blipFill>
        <p:spPr>
          <a:xfrm>
            <a:off x="10537317" y="3542157"/>
            <a:ext cx="276606" cy="276606"/>
          </a:xfrm>
          <a:prstGeom prst="rect">
            <a:avLst/>
          </a:prstGeom>
        </p:spPr>
      </p:pic>
      <p:sp>
        <p:nvSpPr>
          <p:cNvPr id="38" name="Shape 28"/>
          <p:cNvSpPr/>
          <p:nvPr/>
        </p:nvSpPr>
        <p:spPr>
          <a:xfrm>
            <a:off x="8887968" y="3063240"/>
            <a:ext cx="1783080" cy="365760"/>
          </a:xfrm>
          <a:prstGeom prst="line">
            <a:avLst/>
          </a:prstGeom>
          <a:noFill/>
          <a:ln w="15875">
            <a:solidFill>
              <a:srgbClr val="1F6B4A"/>
            </a:solidFill>
            <a:prstDash val="solid"/>
          </a:ln>
        </p:spPr>
      </p:sp>
      <p:sp>
        <p:nvSpPr>
          <p:cNvPr id="39" name="Text 29"/>
          <p:cNvSpPr txBox="1"/>
          <p:nvPr/>
        </p:nvSpPr>
        <p:spPr>
          <a:xfrm>
            <a:off x="6400800" y="4069080"/>
            <a:ext cx="502920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Foydalanuvchi, guruh va kompyuterlar bitta katalogda. Kompyuterlar domen kontrolleriga ishonadi.</a:t>
            </a:r>
            <a:endParaRPr lang="en-US" sz="1600" dirty="0"/>
          </a:p>
        </p:txBody>
      </p:sp>
      <p:sp>
        <p:nvSpPr>
          <p:cNvPr id="40" name="Shape 30"/>
          <p:cNvSpPr/>
          <p:nvPr/>
        </p:nvSpPr>
        <p:spPr>
          <a:xfrm>
            <a:off x="548640" y="5257800"/>
            <a:ext cx="3566160" cy="960120"/>
          </a:xfrm>
          <a:prstGeom prst="roundRect">
            <a:avLst>
              <a:gd name="adj" fmla="val 8571"/>
            </a:avLst>
          </a:prstGeom>
          <a:solidFill>
            <a:srgbClr val="1E2761"/>
          </a:solidFill>
          <a:ln/>
        </p:spPr>
      </p:sp>
      <p:sp>
        <p:nvSpPr>
          <p:cNvPr id="41" name="Text 31"/>
          <p:cNvSpPr txBox="1"/>
          <p:nvPr/>
        </p:nvSpPr>
        <p:spPr>
          <a:xfrm>
            <a:off x="548640" y="5303520"/>
            <a:ext cx="3566160" cy="41148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Bitta identifikator</a:t>
            </a:r>
            <a:endParaRPr lang="en-US" sz="1800" dirty="0"/>
          </a:p>
        </p:txBody>
      </p:sp>
      <p:sp>
        <p:nvSpPr>
          <p:cNvPr id="42" name="Text 32"/>
          <p:cNvSpPr txBox="1"/>
          <p:nvPr/>
        </p:nvSpPr>
        <p:spPr>
          <a:xfrm>
            <a:off x="548640" y="5715000"/>
            <a:ext cx="3566160" cy="411480"/>
          </a:xfrm>
          <a:prstGeom prst="rect">
            <a:avLst/>
          </a:prstGeom>
          <a:noFill/>
          <a:ln/>
        </p:spPr>
        <p:txBody>
          <a:bodyPr wrap="square" lIns="50800" tIns="50800" rIns="50800" bIns="50800" rtlCol="0" anchor="ctr"/>
          <a:lstStyle/>
          <a:p>
            <a:pPr algn="ctr"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M2: bitta joyda yaratish va blokirovka</a:t>
            </a:r>
            <a:endParaRPr lang="en-US" sz="1500" dirty="0"/>
          </a:p>
        </p:txBody>
      </p:sp>
      <p:sp>
        <p:nvSpPr>
          <p:cNvPr id="43" name="Shape 33"/>
          <p:cNvSpPr/>
          <p:nvPr/>
        </p:nvSpPr>
        <p:spPr>
          <a:xfrm>
            <a:off x="4297680" y="5257800"/>
            <a:ext cx="3566160" cy="960120"/>
          </a:xfrm>
          <a:prstGeom prst="roundRect">
            <a:avLst>
              <a:gd name="adj" fmla="val 8571"/>
            </a:avLst>
          </a:prstGeom>
          <a:solidFill>
            <a:srgbClr val="1E2761"/>
          </a:solidFill>
          <a:ln/>
        </p:spPr>
      </p:sp>
      <p:sp>
        <p:nvSpPr>
          <p:cNvPr id="44" name="Text 34"/>
          <p:cNvSpPr txBox="1"/>
          <p:nvPr/>
        </p:nvSpPr>
        <p:spPr>
          <a:xfrm>
            <a:off x="4297680" y="5303520"/>
            <a:ext cx="3566160" cy="41148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Bitta parol</a:t>
            </a:r>
            <a:endParaRPr lang="en-US" sz="1800" dirty="0"/>
          </a:p>
        </p:txBody>
      </p:sp>
      <p:sp>
        <p:nvSpPr>
          <p:cNvPr id="45" name="Text 35"/>
          <p:cNvSpPr txBox="1"/>
          <p:nvPr/>
        </p:nvSpPr>
        <p:spPr>
          <a:xfrm>
            <a:off x="4297680" y="5715000"/>
            <a:ext cx="3566160" cy="411480"/>
          </a:xfrm>
          <a:prstGeom prst="rect">
            <a:avLst/>
          </a:prstGeom>
          <a:noFill/>
          <a:ln/>
        </p:spPr>
        <p:txBody>
          <a:bodyPr wrap="square" lIns="50800" tIns="50800" rIns="50800" bIns="50800" rtlCol="0" anchor="ctr"/>
          <a:lstStyle/>
          <a:p>
            <a:pPr algn="ctr"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istalgan domen kompyuteriga kirish</a:t>
            </a:r>
            <a:endParaRPr lang="en-US" sz="1500" dirty="0"/>
          </a:p>
        </p:txBody>
      </p:sp>
      <p:sp>
        <p:nvSpPr>
          <p:cNvPr id="46" name="Shape 36"/>
          <p:cNvSpPr/>
          <p:nvPr/>
        </p:nvSpPr>
        <p:spPr>
          <a:xfrm>
            <a:off x="8046720" y="5257800"/>
            <a:ext cx="3566160" cy="960120"/>
          </a:xfrm>
          <a:prstGeom prst="roundRect">
            <a:avLst>
              <a:gd name="adj" fmla="val 8571"/>
            </a:avLst>
          </a:prstGeom>
          <a:solidFill>
            <a:srgbClr val="1E2761"/>
          </a:solidFill>
          <a:ln/>
        </p:spPr>
      </p:sp>
      <p:sp>
        <p:nvSpPr>
          <p:cNvPr id="47" name="Text 37"/>
          <p:cNvSpPr txBox="1"/>
          <p:nvPr/>
        </p:nvSpPr>
        <p:spPr>
          <a:xfrm>
            <a:off x="8046720" y="5303520"/>
            <a:ext cx="3566160" cy="41148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Markaziy siyosat</a:t>
            </a:r>
            <a:endParaRPr lang="en-US" sz="1800" dirty="0"/>
          </a:p>
        </p:txBody>
      </p:sp>
      <p:sp>
        <p:nvSpPr>
          <p:cNvPr id="48" name="Text 38"/>
          <p:cNvSpPr txBox="1"/>
          <p:nvPr/>
        </p:nvSpPr>
        <p:spPr>
          <a:xfrm>
            <a:off x="8046720" y="5715000"/>
            <a:ext cx="3566160" cy="411480"/>
          </a:xfrm>
          <a:prstGeom prst="rect">
            <a:avLst/>
          </a:prstGeom>
          <a:noFill/>
          <a:ln/>
        </p:spPr>
        <p:txBody>
          <a:bodyPr wrap="square" lIns="50800" tIns="50800" rIns="50800" bIns="50800" rtlCol="0" anchor="ctr"/>
          <a:lstStyle/>
          <a:p>
            <a:pPr algn="ctr"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GPO: parol, ekran bloki, dasturlar</a:t>
            </a:r>
            <a:endParaRPr lang="en-US" sz="1500" dirty="0"/>
          </a:p>
        </p:txBody>
      </p:sp>
      <p:sp>
        <p:nvSpPr>
          <p:cNvPr id="49" name="Text 3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50" name="Text 4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LDAP</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LDAP: katalog bilan gaplashish protokoli</a:t>
            </a:r>
            <a:endParaRPr lang="en-US" sz="3600" dirty="0"/>
          </a:p>
        </p:txBody>
      </p:sp>
      <p:sp>
        <p:nvSpPr>
          <p:cNvPr id="4" name="Text 2"/>
          <p:cNvSpPr txBox="1"/>
          <p:nvPr/>
        </p:nvSpPr>
        <p:spPr>
          <a:xfrm>
            <a:off x="548640" y="1783080"/>
            <a:ext cx="5120640" cy="237744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Lightweight Directory Access Protocol, v3 — RFC 4511</a:t>
            </a:r>
            <a:endParaRPr lang="en-US" sz="1700" dirty="0"/>
          </a:p>
          <a:p>
            <a:pPr marL="342900" indent="-342900">
              <a:spcAft>
                <a:spcPts val="10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Amallar: bind, search, add, modify, delete, compare</a:t>
            </a:r>
            <a:endParaRPr lang="en-US" sz="1700" dirty="0"/>
          </a:p>
          <a:p>
            <a:pPr marL="342900" indent="-342900">
              <a:spcAft>
                <a:spcPts val="10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Portlar: 389 (LDAP), 636 (LDAPS), 3268 (global katalog)</a:t>
            </a:r>
            <a:endParaRPr lang="en-US" sz="1700" dirty="0"/>
          </a:p>
          <a:p>
            <a:pPr marL="342900" indent="-342900">
              <a:spcAft>
                <a:spcPts val="10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Active Directory, OpenLDAP, FreeIPA — hammasi LDAP bilan ishlaydi</a:t>
            </a:r>
            <a:endParaRPr lang="en-US" sz="1700" dirty="0"/>
          </a:p>
        </p:txBody>
      </p:sp>
      <p:sp>
        <p:nvSpPr>
          <p:cNvPr id="5" name="Shape 3"/>
          <p:cNvSpPr/>
          <p:nvPr/>
        </p:nvSpPr>
        <p:spPr>
          <a:xfrm>
            <a:off x="7498080" y="1783080"/>
            <a:ext cx="1920240" cy="566928"/>
          </a:xfrm>
          <a:prstGeom prst="roundRect">
            <a:avLst>
              <a:gd name="adj" fmla="val 14516"/>
            </a:avLst>
          </a:prstGeom>
          <a:solidFill>
            <a:srgbClr val="1E2761"/>
          </a:solidFill>
          <a:ln/>
        </p:spPr>
      </p:sp>
      <p:sp>
        <p:nvSpPr>
          <p:cNvPr id="6" name="Text 4"/>
          <p:cNvSpPr txBox="1"/>
          <p:nvPr/>
        </p:nvSpPr>
        <p:spPr>
          <a:xfrm>
            <a:off x="7498080" y="1783080"/>
            <a:ext cx="19202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DC=nuu,DC=uz</a:t>
            </a:r>
            <a:endParaRPr lang="en-US" sz="1400" dirty="0"/>
          </a:p>
        </p:txBody>
      </p:sp>
      <p:sp>
        <p:nvSpPr>
          <p:cNvPr id="7" name="Shape 5"/>
          <p:cNvSpPr/>
          <p:nvPr/>
        </p:nvSpPr>
        <p:spPr>
          <a:xfrm>
            <a:off x="6035040" y="2697480"/>
            <a:ext cx="1920240" cy="566928"/>
          </a:xfrm>
          <a:prstGeom prst="roundRect">
            <a:avLst>
              <a:gd name="adj" fmla="val 14516"/>
            </a:avLst>
          </a:prstGeom>
          <a:solidFill>
            <a:srgbClr val="2A3778"/>
          </a:solidFill>
          <a:ln/>
        </p:spPr>
      </p:sp>
      <p:sp>
        <p:nvSpPr>
          <p:cNvPr id="8" name="Text 6"/>
          <p:cNvSpPr txBox="1"/>
          <p:nvPr/>
        </p:nvSpPr>
        <p:spPr>
          <a:xfrm>
            <a:off x="6035040" y="2697480"/>
            <a:ext cx="19202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OU=Xodimlar</a:t>
            </a:r>
            <a:endParaRPr lang="en-US" sz="1400" dirty="0"/>
          </a:p>
        </p:txBody>
      </p:sp>
      <p:sp>
        <p:nvSpPr>
          <p:cNvPr id="9" name="Shape 7"/>
          <p:cNvSpPr/>
          <p:nvPr/>
        </p:nvSpPr>
        <p:spPr>
          <a:xfrm>
            <a:off x="7818120" y="2697480"/>
            <a:ext cx="1920240" cy="566928"/>
          </a:xfrm>
          <a:prstGeom prst="roundRect">
            <a:avLst>
              <a:gd name="adj" fmla="val 14516"/>
            </a:avLst>
          </a:prstGeom>
          <a:solidFill>
            <a:srgbClr val="2A3778"/>
          </a:solidFill>
          <a:ln/>
        </p:spPr>
      </p:sp>
      <p:sp>
        <p:nvSpPr>
          <p:cNvPr id="10" name="Text 8"/>
          <p:cNvSpPr txBox="1"/>
          <p:nvPr/>
        </p:nvSpPr>
        <p:spPr>
          <a:xfrm>
            <a:off x="7818120" y="2697480"/>
            <a:ext cx="19202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OU=Talabalar</a:t>
            </a:r>
            <a:endParaRPr lang="en-US" sz="1400" dirty="0"/>
          </a:p>
        </p:txBody>
      </p:sp>
      <p:sp>
        <p:nvSpPr>
          <p:cNvPr id="11" name="Shape 9"/>
          <p:cNvSpPr/>
          <p:nvPr/>
        </p:nvSpPr>
        <p:spPr>
          <a:xfrm>
            <a:off x="9601200" y="2697480"/>
            <a:ext cx="1920240" cy="566928"/>
          </a:xfrm>
          <a:prstGeom prst="roundRect">
            <a:avLst>
              <a:gd name="adj" fmla="val 14516"/>
            </a:avLst>
          </a:prstGeom>
          <a:solidFill>
            <a:srgbClr val="2A3778"/>
          </a:solidFill>
          <a:ln/>
        </p:spPr>
      </p:sp>
      <p:sp>
        <p:nvSpPr>
          <p:cNvPr id="12" name="Text 10"/>
          <p:cNvSpPr txBox="1"/>
          <p:nvPr/>
        </p:nvSpPr>
        <p:spPr>
          <a:xfrm>
            <a:off x="9601200" y="2697480"/>
            <a:ext cx="19202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OU=Kompyuterlar</a:t>
            </a:r>
            <a:endParaRPr lang="en-US" sz="1400" dirty="0"/>
          </a:p>
        </p:txBody>
      </p:sp>
      <p:sp>
        <p:nvSpPr>
          <p:cNvPr id="13" name="Shape 11"/>
          <p:cNvSpPr/>
          <p:nvPr/>
        </p:nvSpPr>
        <p:spPr>
          <a:xfrm>
            <a:off x="6035040" y="3611880"/>
            <a:ext cx="1920240" cy="566928"/>
          </a:xfrm>
          <a:prstGeom prst="roundRect">
            <a:avLst>
              <a:gd name="adj" fmla="val 14516"/>
            </a:avLst>
          </a:prstGeom>
          <a:solidFill>
            <a:srgbClr val="CADCFC"/>
          </a:solidFill>
          <a:ln/>
        </p:spPr>
      </p:sp>
      <p:sp>
        <p:nvSpPr>
          <p:cNvPr id="14" name="Text 12"/>
          <p:cNvSpPr txBox="1"/>
          <p:nvPr/>
        </p:nvSpPr>
        <p:spPr>
          <a:xfrm>
            <a:off x="6035040" y="3611880"/>
            <a:ext cx="19202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OU=Axborot xavfsizligi</a:t>
            </a:r>
            <a:endParaRPr lang="en-US" sz="1400" dirty="0"/>
          </a:p>
        </p:txBody>
      </p:sp>
      <p:sp>
        <p:nvSpPr>
          <p:cNvPr id="15" name="Shape 13"/>
          <p:cNvSpPr/>
          <p:nvPr/>
        </p:nvSpPr>
        <p:spPr>
          <a:xfrm>
            <a:off x="6035040" y="4526280"/>
            <a:ext cx="1920240" cy="566928"/>
          </a:xfrm>
          <a:prstGeom prst="roundRect">
            <a:avLst>
              <a:gd name="adj" fmla="val 14516"/>
            </a:avLst>
          </a:prstGeom>
          <a:solidFill>
            <a:srgbClr val="1F6B4A"/>
          </a:solidFill>
          <a:ln/>
        </p:spPr>
      </p:sp>
      <p:sp>
        <p:nvSpPr>
          <p:cNvPr id="16" name="Text 14"/>
          <p:cNvSpPr txBox="1"/>
          <p:nvPr/>
        </p:nvSpPr>
        <p:spPr>
          <a:xfrm>
            <a:off x="6035040" y="4526280"/>
            <a:ext cx="19202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CN=Aziz Karimov</a:t>
            </a:r>
            <a:endParaRPr lang="en-US" sz="1400" dirty="0"/>
          </a:p>
        </p:txBody>
      </p:sp>
      <p:sp>
        <p:nvSpPr>
          <p:cNvPr id="17" name="Shape 15"/>
          <p:cNvSpPr/>
          <p:nvPr/>
        </p:nvSpPr>
        <p:spPr>
          <a:xfrm flipH="1">
            <a:off x="6995160" y="2350008"/>
            <a:ext cx="1463040" cy="347472"/>
          </a:xfrm>
          <a:prstGeom prst="line">
            <a:avLst/>
          </a:prstGeom>
          <a:noFill/>
          <a:ln w="15875">
            <a:solidFill>
              <a:srgbClr val="5B6270"/>
            </a:solidFill>
            <a:prstDash val="solid"/>
          </a:ln>
        </p:spPr>
      </p:sp>
      <p:sp>
        <p:nvSpPr>
          <p:cNvPr id="18" name="Shape 16"/>
          <p:cNvSpPr/>
          <p:nvPr/>
        </p:nvSpPr>
        <p:spPr>
          <a:xfrm>
            <a:off x="8458200" y="2350008"/>
            <a:ext cx="320040" cy="347472"/>
          </a:xfrm>
          <a:prstGeom prst="line">
            <a:avLst/>
          </a:prstGeom>
          <a:noFill/>
          <a:ln w="15875">
            <a:solidFill>
              <a:srgbClr val="5B6270"/>
            </a:solidFill>
            <a:prstDash val="solid"/>
          </a:ln>
        </p:spPr>
      </p:sp>
      <p:sp>
        <p:nvSpPr>
          <p:cNvPr id="19" name="Shape 17"/>
          <p:cNvSpPr/>
          <p:nvPr/>
        </p:nvSpPr>
        <p:spPr>
          <a:xfrm>
            <a:off x="8458200" y="2350008"/>
            <a:ext cx="2103120" cy="347472"/>
          </a:xfrm>
          <a:prstGeom prst="line">
            <a:avLst/>
          </a:prstGeom>
          <a:noFill/>
          <a:ln w="15875">
            <a:solidFill>
              <a:srgbClr val="5B6270"/>
            </a:solidFill>
            <a:prstDash val="solid"/>
          </a:ln>
        </p:spPr>
      </p:sp>
      <p:sp>
        <p:nvSpPr>
          <p:cNvPr id="20" name="Shape 18"/>
          <p:cNvSpPr/>
          <p:nvPr/>
        </p:nvSpPr>
        <p:spPr>
          <a:xfrm>
            <a:off x="6995160" y="3264408"/>
            <a:ext cx="914" cy="347472"/>
          </a:xfrm>
          <a:prstGeom prst="line">
            <a:avLst/>
          </a:prstGeom>
          <a:noFill/>
          <a:ln w="15875">
            <a:solidFill>
              <a:srgbClr val="5B6270"/>
            </a:solidFill>
            <a:prstDash val="solid"/>
          </a:ln>
        </p:spPr>
      </p:sp>
      <p:sp>
        <p:nvSpPr>
          <p:cNvPr id="21" name="Shape 19"/>
          <p:cNvSpPr/>
          <p:nvPr/>
        </p:nvSpPr>
        <p:spPr>
          <a:xfrm>
            <a:off x="6995160" y="4178808"/>
            <a:ext cx="914" cy="347472"/>
          </a:xfrm>
          <a:prstGeom prst="line">
            <a:avLst/>
          </a:prstGeom>
          <a:noFill/>
          <a:ln w="15875">
            <a:solidFill>
              <a:srgbClr val="5B6270"/>
            </a:solidFill>
            <a:prstDash val="solid"/>
          </a:ln>
        </p:spPr>
      </p:sp>
      <p:sp>
        <p:nvSpPr>
          <p:cNvPr id="22" name="Text 20"/>
          <p:cNvSpPr txBox="1"/>
          <p:nvPr/>
        </p:nvSpPr>
        <p:spPr>
          <a:xfrm>
            <a:off x="8229600" y="3840480"/>
            <a:ext cx="3291840" cy="365760"/>
          </a:xfrm>
          <a:prstGeom prst="rect">
            <a:avLst/>
          </a:prstGeom>
          <a:noFill/>
          <a:ln/>
        </p:spPr>
        <p:txBody>
          <a:bodyPr wrap="square" lIns="0" tIns="0" rIns="0" bIns="0" rtlCol="0" anchor="t"/>
          <a:lstStyle/>
          <a:p>
            <a:pPr algn="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Katalog daraxti (DIT)</a:t>
            </a:r>
            <a:endParaRPr lang="en-US" sz="1400" dirty="0"/>
          </a:p>
        </p:txBody>
      </p:sp>
      <p:sp>
        <p:nvSpPr>
          <p:cNvPr id="23" name="Shape 21"/>
          <p:cNvSpPr/>
          <p:nvPr/>
        </p:nvSpPr>
        <p:spPr>
          <a:xfrm>
            <a:off x="548640" y="5303520"/>
            <a:ext cx="11064240" cy="914400"/>
          </a:xfrm>
          <a:prstGeom prst="roundRect">
            <a:avLst>
              <a:gd name="adj" fmla="val 9000"/>
            </a:avLst>
          </a:prstGeom>
          <a:solidFill>
            <a:srgbClr val="F7ECEA"/>
          </a:solidFill>
          <a:ln/>
        </p:spPr>
      </p:sp>
      <p:sp>
        <p:nvSpPr>
          <p:cNvPr id="24" name="Shape 22"/>
          <p:cNvSpPr/>
          <p:nvPr/>
        </p:nvSpPr>
        <p:spPr>
          <a:xfrm>
            <a:off x="777240" y="5468112"/>
            <a:ext cx="585216" cy="585216"/>
          </a:xfrm>
          <a:prstGeom prst="ellipse">
            <a:avLst/>
          </a:prstGeom>
          <a:solidFill>
            <a:srgbClr val="9E3B2E"/>
          </a:solidFill>
          <a:ln/>
        </p:spPr>
      </p:sp>
      <p:pic>
        <p:nvPicPr>
          <p:cNvPr id="25" name="Image 0" descr="/home/claude/fob-slides/icons_out/warn_white.png"/>
          <p:cNvPicPr>
            <a:picLocks noChangeAspect="1"/>
          </p:cNvPicPr>
          <p:nvPr/>
        </p:nvPicPr>
        <p:blipFill>
          <a:blip r:embed="rId1"/>
          <a:stretch>
            <a:fillRect/>
          </a:stretch>
        </p:blipFill>
        <p:spPr>
          <a:xfrm>
            <a:off x="908914" y="5599786"/>
            <a:ext cx="321869" cy="321869"/>
          </a:xfrm>
          <a:prstGeom prst="rect">
            <a:avLst/>
          </a:prstGeom>
        </p:spPr>
      </p:pic>
      <p:sp>
        <p:nvSpPr>
          <p:cNvPr id="26" name="Text 23"/>
          <p:cNvSpPr txBox="1"/>
          <p:nvPr/>
        </p:nvSpPr>
        <p:spPr>
          <a:xfrm>
            <a:off x="1554480" y="5303520"/>
            <a:ext cx="9875520" cy="914400"/>
          </a:xfrm>
          <a:prstGeom prst="rect">
            <a:avLst/>
          </a:prstGeom>
          <a:noFill/>
          <a:ln/>
        </p:spPr>
        <p:txBody>
          <a:bodyPr wrap="square" lIns="0" tIns="0" rIns="0" bIns="0" rtlCol="0" anchor="ctr"/>
          <a:lstStyle/>
          <a:p>
            <a:pPr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Xavfsizlik: </a:t>
            </a:r>
            <a:pP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389-portdagi oddiy (simple) bind parolni ochiq uzatadi. Windows Server 2025 da yangi domenlar LDAP imzolashni standart holda talab qiladi; tavsiya — LDAPS yoki imzolash + kanal bog'lash.</a:t>
            </a:r>
            <a:endParaRPr lang="en-US" sz="1600" dirty="0"/>
          </a:p>
        </p:txBody>
      </p:sp>
      <p:sp>
        <p:nvSpPr>
          <p:cNvPr id="27"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28"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NOM VA ATRIBUTLAR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Farqlovchi nom (DN) va foydalanuvchi atributlari</a:t>
            </a:r>
            <a:endParaRPr lang="en-US" sz="3600" dirty="0"/>
          </a:p>
        </p:txBody>
      </p:sp>
      <p:sp>
        <p:nvSpPr>
          <p:cNvPr id="4" name="Shape 2"/>
          <p:cNvSpPr/>
          <p:nvPr/>
        </p:nvSpPr>
        <p:spPr>
          <a:xfrm>
            <a:off x="548640" y="1783080"/>
            <a:ext cx="2075688" cy="640080"/>
          </a:xfrm>
          <a:prstGeom prst="roundRect">
            <a:avLst>
              <a:gd name="adj" fmla="val 7143"/>
            </a:avLst>
          </a:prstGeom>
          <a:solidFill>
            <a:srgbClr val="1F6B4A"/>
          </a:solidFill>
          <a:ln/>
        </p:spPr>
      </p:sp>
      <p:sp>
        <p:nvSpPr>
          <p:cNvPr id="5" name="Text 3"/>
          <p:cNvSpPr txBox="1"/>
          <p:nvPr/>
        </p:nvSpPr>
        <p:spPr>
          <a:xfrm>
            <a:off x="548640" y="1783080"/>
            <a:ext cx="2075688"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ourier New" pitchFamily="34" charset="0"/>
                <a:ea typeface="Courier New" pitchFamily="34" charset="-122"/>
                <a:cs typeface="Courier New" pitchFamily="34" charset="-120"/>
              </a:rPr>
              <a:t>CN=Aziz Karimov,</a:t>
            </a:r>
            <a:endParaRPr lang="en-US" sz="1300" dirty="0"/>
          </a:p>
        </p:txBody>
      </p:sp>
      <p:sp>
        <p:nvSpPr>
          <p:cNvPr id="6" name="Text 4"/>
          <p:cNvSpPr txBox="1"/>
          <p:nvPr/>
        </p:nvSpPr>
        <p:spPr>
          <a:xfrm>
            <a:off x="548640" y="2468880"/>
            <a:ext cx="2075688" cy="32004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obyekt nomi</a:t>
            </a:r>
            <a:endParaRPr lang="en-US" sz="1400" dirty="0"/>
          </a:p>
        </p:txBody>
      </p:sp>
      <p:sp>
        <p:nvSpPr>
          <p:cNvPr id="7" name="Shape 5"/>
          <p:cNvSpPr/>
          <p:nvPr/>
        </p:nvSpPr>
        <p:spPr>
          <a:xfrm>
            <a:off x="2697480" y="1783080"/>
            <a:ext cx="2670048" cy="640080"/>
          </a:xfrm>
          <a:prstGeom prst="roundRect">
            <a:avLst>
              <a:gd name="adj" fmla="val 7143"/>
            </a:avLst>
          </a:prstGeom>
          <a:solidFill>
            <a:srgbClr val="2A3778"/>
          </a:solidFill>
          <a:ln/>
        </p:spPr>
      </p:sp>
      <p:sp>
        <p:nvSpPr>
          <p:cNvPr id="8" name="Text 6"/>
          <p:cNvSpPr txBox="1"/>
          <p:nvPr/>
        </p:nvSpPr>
        <p:spPr>
          <a:xfrm>
            <a:off x="2697480" y="1783080"/>
            <a:ext cx="2670048"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ourier New" pitchFamily="34" charset="0"/>
                <a:ea typeface="Courier New" pitchFamily="34" charset="-122"/>
                <a:cs typeface="Courier New" pitchFamily="34" charset="-120"/>
              </a:rPr>
              <a:t>OU=Axborot xavfsizligi,</a:t>
            </a:r>
            <a:endParaRPr lang="en-US" sz="1300" dirty="0"/>
          </a:p>
        </p:txBody>
      </p:sp>
      <p:sp>
        <p:nvSpPr>
          <p:cNvPr id="9" name="Text 7"/>
          <p:cNvSpPr txBox="1"/>
          <p:nvPr/>
        </p:nvSpPr>
        <p:spPr>
          <a:xfrm>
            <a:off x="2697480" y="2468880"/>
            <a:ext cx="2670048" cy="32004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bo'linma</a:t>
            </a:r>
            <a:endParaRPr lang="en-US" sz="1400" dirty="0"/>
          </a:p>
        </p:txBody>
      </p:sp>
      <p:sp>
        <p:nvSpPr>
          <p:cNvPr id="10" name="Shape 8"/>
          <p:cNvSpPr/>
          <p:nvPr/>
        </p:nvSpPr>
        <p:spPr>
          <a:xfrm>
            <a:off x="5440680" y="1783080"/>
            <a:ext cx="1664208" cy="640080"/>
          </a:xfrm>
          <a:prstGeom prst="roundRect">
            <a:avLst>
              <a:gd name="adj" fmla="val 7143"/>
            </a:avLst>
          </a:prstGeom>
          <a:solidFill>
            <a:srgbClr val="2A3778"/>
          </a:solidFill>
          <a:ln/>
        </p:spPr>
      </p:sp>
      <p:sp>
        <p:nvSpPr>
          <p:cNvPr id="11" name="Text 9"/>
          <p:cNvSpPr txBox="1"/>
          <p:nvPr/>
        </p:nvSpPr>
        <p:spPr>
          <a:xfrm>
            <a:off x="5440680" y="1783080"/>
            <a:ext cx="1664208"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ourier New" pitchFamily="34" charset="0"/>
                <a:ea typeface="Courier New" pitchFamily="34" charset="-122"/>
                <a:cs typeface="Courier New" pitchFamily="34" charset="-120"/>
              </a:rPr>
              <a:t>OU=Xodimlar,</a:t>
            </a:r>
            <a:endParaRPr lang="en-US" sz="1300" dirty="0"/>
          </a:p>
        </p:txBody>
      </p:sp>
      <p:sp>
        <p:nvSpPr>
          <p:cNvPr id="12" name="Text 10"/>
          <p:cNvSpPr txBox="1"/>
          <p:nvPr/>
        </p:nvSpPr>
        <p:spPr>
          <a:xfrm>
            <a:off x="5440680" y="2468880"/>
            <a:ext cx="1664208" cy="32004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bo'linma</a:t>
            </a:r>
            <a:endParaRPr lang="en-US" sz="1400" dirty="0"/>
          </a:p>
        </p:txBody>
      </p:sp>
      <p:sp>
        <p:nvSpPr>
          <p:cNvPr id="13" name="Shape 11"/>
          <p:cNvSpPr/>
          <p:nvPr/>
        </p:nvSpPr>
        <p:spPr>
          <a:xfrm>
            <a:off x="7178040" y="1783080"/>
            <a:ext cx="1847088" cy="640080"/>
          </a:xfrm>
          <a:prstGeom prst="roundRect">
            <a:avLst>
              <a:gd name="adj" fmla="val 7143"/>
            </a:avLst>
          </a:prstGeom>
          <a:solidFill>
            <a:srgbClr val="1E2761"/>
          </a:solidFill>
          <a:ln/>
        </p:spPr>
      </p:sp>
      <p:sp>
        <p:nvSpPr>
          <p:cNvPr id="14" name="Text 12"/>
          <p:cNvSpPr txBox="1"/>
          <p:nvPr/>
        </p:nvSpPr>
        <p:spPr>
          <a:xfrm>
            <a:off x="7178040" y="1783080"/>
            <a:ext cx="1847088"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ourier New" pitchFamily="34" charset="0"/>
                <a:ea typeface="Courier New" pitchFamily="34" charset="-122"/>
                <a:cs typeface="Courier New" pitchFamily="34" charset="-120"/>
              </a:rPr>
              <a:t>DC=nuu,DC=uz</a:t>
            </a:r>
            <a:endParaRPr lang="en-US" sz="1300" dirty="0"/>
          </a:p>
        </p:txBody>
      </p:sp>
      <p:sp>
        <p:nvSpPr>
          <p:cNvPr id="15" name="Text 13"/>
          <p:cNvSpPr txBox="1"/>
          <p:nvPr/>
        </p:nvSpPr>
        <p:spPr>
          <a:xfrm>
            <a:off x="7178040" y="2468880"/>
            <a:ext cx="1847088" cy="32004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domen</a:t>
            </a:r>
            <a:endParaRPr lang="en-US" sz="1400" dirty="0"/>
          </a:p>
        </p:txBody>
      </p:sp>
      <p:sp>
        <p:nvSpPr>
          <p:cNvPr id="16" name="Text 14"/>
          <p:cNvSpPr txBox="1"/>
          <p:nvPr/>
        </p:nvSpPr>
        <p:spPr>
          <a:xfrm>
            <a:off x="9326880" y="1828800"/>
            <a:ext cx="2286000" cy="45720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 o'qish yo'nalishi: aniqdan umumiyga</a:t>
            </a:r>
            <a:endParaRPr lang="en-US" sz="1400" dirty="0"/>
          </a:p>
        </p:txBody>
      </p:sp>
      <p:sp>
        <p:nvSpPr>
          <p:cNvPr id="17" name="Shape 15"/>
          <p:cNvSpPr/>
          <p:nvPr/>
        </p:nvSpPr>
        <p:spPr>
          <a:xfrm>
            <a:off x="548640" y="3017520"/>
            <a:ext cx="6675120" cy="457200"/>
          </a:xfrm>
          <a:prstGeom prst="roundRect">
            <a:avLst>
              <a:gd name="adj" fmla="val 8000"/>
            </a:avLst>
          </a:prstGeom>
          <a:solidFill>
            <a:srgbClr val="EEF2FB"/>
          </a:solidFill>
          <a:ln/>
        </p:spPr>
      </p:sp>
      <p:sp>
        <p:nvSpPr>
          <p:cNvPr id="18" name="Text 16"/>
          <p:cNvSpPr txBox="1"/>
          <p:nvPr/>
        </p:nvSpPr>
        <p:spPr>
          <a:xfrm>
            <a:off x="685800" y="3017520"/>
            <a:ext cx="2103120" cy="457200"/>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sAMAccountName</a:t>
            </a:r>
            <a:endParaRPr lang="en-US" sz="1400" dirty="0"/>
          </a:p>
        </p:txBody>
      </p:sp>
      <p:sp>
        <p:nvSpPr>
          <p:cNvPr id="19" name="Text 17"/>
          <p:cNvSpPr txBox="1"/>
          <p:nvPr/>
        </p:nvSpPr>
        <p:spPr>
          <a:xfrm>
            <a:off x="2788920" y="3017520"/>
            <a:ext cx="2286000" cy="45720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Courier New" pitchFamily="34" charset="0"/>
                <a:ea typeface="Courier New" pitchFamily="34" charset="-122"/>
                <a:cs typeface="Courier New" pitchFamily="34" charset="-120"/>
              </a:rPr>
              <a:t>a.karimov</a:t>
            </a:r>
            <a:endParaRPr lang="en-US" sz="1400" dirty="0"/>
          </a:p>
        </p:txBody>
      </p:sp>
      <p:sp>
        <p:nvSpPr>
          <p:cNvPr id="20" name="Text 18"/>
          <p:cNvSpPr txBox="1"/>
          <p:nvPr/>
        </p:nvSpPr>
        <p:spPr>
          <a:xfrm>
            <a:off x="5074920" y="3017520"/>
            <a:ext cx="2103120" cy="457200"/>
          </a:xfrm>
          <a:prstGeom prst="rect">
            <a:avLst/>
          </a:prstGeom>
          <a:noFill/>
          <a:ln/>
        </p:spPr>
        <p:txBody>
          <a:bodyPr wrap="square" lIns="0" tIns="0" rIns="0" bIns="0" rtlCol="0" anchor="ctr"/>
          <a:lstStyle/>
          <a:p>
            <a:pPr algn="l" indent="0" marL="0">
              <a:lnSpc>
                <a:spcPct val="95000"/>
              </a:lnSpc>
              <a:buNone/>
            </a:pPr>
            <a:r>
              <a:rPr lang="en-US" sz="1400" dirty="0">
                <a:solidFill>
                  <a:srgbClr val="5B6270"/>
                </a:solidFill>
                <a:latin typeface="Times New Roman" pitchFamily="34" charset="0"/>
                <a:ea typeface="Times New Roman" pitchFamily="34" charset="-122"/>
                <a:cs typeface="Times New Roman" pitchFamily="34" charset="-120"/>
              </a:rPr>
              <a:t>kirish nomi</a:t>
            </a:r>
            <a:endParaRPr lang="en-US" sz="1400" dirty="0"/>
          </a:p>
        </p:txBody>
      </p:sp>
      <p:sp>
        <p:nvSpPr>
          <p:cNvPr id="21" name="Shape 19"/>
          <p:cNvSpPr/>
          <p:nvPr/>
        </p:nvSpPr>
        <p:spPr>
          <a:xfrm>
            <a:off x="548640" y="3520440"/>
            <a:ext cx="6675120" cy="457200"/>
          </a:xfrm>
          <a:prstGeom prst="roundRect">
            <a:avLst>
              <a:gd name="adj" fmla="val 8000"/>
            </a:avLst>
          </a:prstGeom>
          <a:solidFill>
            <a:srgbClr val="FFFFFF"/>
          </a:solidFill>
          <a:ln/>
        </p:spPr>
      </p:sp>
      <p:sp>
        <p:nvSpPr>
          <p:cNvPr id="22" name="Text 20"/>
          <p:cNvSpPr txBox="1"/>
          <p:nvPr/>
        </p:nvSpPr>
        <p:spPr>
          <a:xfrm>
            <a:off x="685800" y="3520440"/>
            <a:ext cx="2103120" cy="457200"/>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userPrincipalName</a:t>
            </a:r>
            <a:endParaRPr lang="en-US" sz="1400" dirty="0"/>
          </a:p>
        </p:txBody>
      </p:sp>
      <p:sp>
        <p:nvSpPr>
          <p:cNvPr id="23" name="Text 21"/>
          <p:cNvSpPr txBox="1"/>
          <p:nvPr/>
        </p:nvSpPr>
        <p:spPr>
          <a:xfrm>
            <a:off x="2788920" y="3520440"/>
            <a:ext cx="2286000" cy="45720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Courier New" pitchFamily="34" charset="0"/>
                <a:ea typeface="Courier New" pitchFamily="34" charset="-122"/>
                <a:cs typeface="Courier New" pitchFamily="34" charset="-120"/>
              </a:rPr>
              <a:t>a.karimov@nuu.uz</a:t>
            </a:r>
            <a:endParaRPr lang="en-US" sz="1400" dirty="0"/>
          </a:p>
        </p:txBody>
      </p:sp>
      <p:sp>
        <p:nvSpPr>
          <p:cNvPr id="24" name="Text 22"/>
          <p:cNvSpPr txBox="1"/>
          <p:nvPr/>
        </p:nvSpPr>
        <p:spPr>
          <a:xfrm>
            <a:off x="5074920" y="3520440"/>
            <a:ext cx="2103120" cy="457200"/>
          </a:xfrm>
          <a:prstGeom prst="rect">
            <a:avLst/>
          </a:prstGeom>
          <a:noFill/>
          <a:ln/>
        </p:spPr>
        <p:txBody>
          <a:bodyPr wrap="square" lIns="0" tIns="0" rIns="0" bIns="0" rtlCol="0" anchor="ctr"/>
          <a:lstStyle/>
          <a:p>
            <a:pPr algn="l" indent="0" marL="0">
              <a:lnSpc>
                <a:spcPct val="95000"/>
              </a:lnSpc>
              <a:buNone/>
            </a:pPr>
            <a:r>
              <a:rPr lang="en-US" sz="1400" dirty="0">
                <a:solidFill>
                  <a:srgbClr val="5B6270"/>
                </a:solidFill>
                <a:latin typeface="Times New Roman" pitchFamily="34" charset="0"/>
                <a:ea typeface="Times New Roman" pitchFamily="34" charset="-122"/>
                <a:cs typeface="Times New Roman" pitchFamily="34" charset="-120"/>
              </a:rPr>
              <a:t>pochta ko'rinishidagi nom</a:t>
            </a:r>
            <a:endParaRPr lang="en-US" sz="1400" dirty="0"/>
          </a:p>
        </p:txBody>
      </p:sp>
      <p:sp>
        <p:nvSpPr>
          <p:cNvPr id="25" name="Shape 23"/>
          <p:cNvSpPr/>
          <p:nvPr/>
        </p:nvSpPr>
        <p:spPr>
          <a:xfrm>
            <a:off x="548640" y="4023360"/>
            <a:ext cx="6675120" cy="457200"/>
          </a:xfrm>
          <a:prstGeom prst="roundRect">
            <a:avLst>
              <a:gd name="adj" fmla="val 8000"/>
            </a:avLst>
          </a:prstGeom>
          <a:solidFill>
            <a:srgbClr val="EEF2FB"/>
          </a:solidFill>
          <a:ln/>
        </p:spPr>
      </p:sp>
      <p:sp>
        <p:nvSpPr>
          <p:cNvPr id="26" name="Text 24"/>
          <p:cNvSpPr txBox="1"/>
          <p:nvPr/>
        </p:nvSpPr>
        <p:spPr>
          <a:xfrm>
            <a:off x="685800" y="4023360"/>
            <a:ext cx="2103120" cy="457200"/>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objectSid</a:t>
            </a:r>
            <a:endParaRPr lang="en-US" sz="1400" dirty="0"/>
          </a:p>
        </p:txBody>
      </p:sp>
      <p:sp>
        <p:nvSpPr>
          <p:cNvPr id="27" name="Text 25"/>
          <p:cNvSpPr txBox="1"/>
          <p:nvPr/>
        </p:nvSpPr>
        <p:spPr>
          <a:xfrm>
            <a:off x="2788920" y="4023360"/>
            <a:ext cx="2286000" cy="45720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Courier New" pitchFamily="34" charset="0"/>
                <a:ea typeface="Courier New" pitchFamily="34" charset="-122"/>
                <a:cs typeface="Courier New" pitchFamily="34" charset="-120"/>
              </a:rPr>
              <a:t>S-1-5-21-…-1107</a:t>
            </a:r>
            <a:endParaRPr lang="en-US" sz="1400" dirty="0"/>
          </a:p>
        </p:txBody>
      </p:sp>
      <p:sp>
        <p:nvSpPr>
          <p:cNvPr id="28" name="Text 26"/>
          <p:cNvSpPr txBox="1"/>
          <p:nvPr/>
        </p:nvSpPr>
        <p:spPr>
          <a:xfrm>
            <a:off x="5074920" y="4023360"/>
            <a:ext cx="2103120" cy="457200"/>
          </a:xfrm>
          <a:prstGeom prst="rect">
            <a:avLst/>
          </a:prstGeom>
          <a:noFill/>
          <a:ln/>
        </p:spPr>
        <p:txBody>
          <a:bodyPr wrap="square" lIns="0" tIns="0" rIns="0" bIns="0" rtlCol="0" anchor="ctr"/>
          <a:lstStyle/>
          <a:p>
            <a:pPr algn="l" indent="0" marL="0">
              <a:lnSpc>
                <a:spcPct val="95000"/>
              </a:lnSpc>
              <a:buNone/>
            </a:pPr>
            <a:r>
              <a:rPr lang="en-US" sz="1400" dirty="0">
                <a:solidFill>
                  <a:srgbClr val="5B6270"/>
                </a:solidFill>
                <a:latin typeface="Times New Roman" pitchFamily="34" charset="0"/>
                <a:ea typeface="Times New Roman" pitchFamily="34" charset="-122"/>
                <a:cs typeface="Times New Roman" pitchFamily="34" charset="-120"/>
              </a:rPr>
              <a:t>domen SID + RID</a:t>
            </a:r>
            <a:endParaRPr lang="en-US" sz="1400" dirty="0"/>
          </a:p>
        </p:txBody>
      </p:sp>
      <p:sp>
        <p:nvSpPr>
          <p:cNvPr id="29" name="Shape 27"/>
          <p:cNvSpPr/>
          <p:nvPr/>
        </p:nvSpPr>
        <p:spPr>
          <a:xfrm>
            <a:off x="548640" y="4526280"/>
            <a:ext cx="6675120" cy="457200"/>
          </a:xfrm>
          <a:prstGeom prst="roundRect">
            <a:avLst>
              <a:gd name="adj" fmla="val 8000"/>
            </a:avLst>
          </a:prstGeom>
          <a:solidFill>
            <a:srgbClr val="FFFFFF"/>
          </a:solidFill>
          <a:ln/>
        </p:spPr>
      </p:sp>
      <p:sp>
        <p:nvSpPr>
          <p:cNvPr id="30" name="Text 28"/>
          <p:cNvSpPr txBox="1"/>
          <p:nvPr/>
        </p:nvSpPr>
        <p:spPr>
          <a:xfrm>
            <a:off x="685800" y="4526280"/>
            <a:ext cx="2103120" cy="457200"/>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memberOf</a:t>
            </a:r>
            <a:endParaRPr lang="en-US" sz="1400" dirty="0"/>
          </a:p>
        </p:txBody>
      </p:sp>
      <p:sp>
        <p:nvSpPr>
          <p:cNvPr id="31" name="Text 29"/>
          <p:cNvSpPr txBox="1"/>
          <p:nvPr/>
        </p:nvSpPr>
        <p:spPr>
          <a:xfrm>
            <a:off x="2788920" y="4526280"/>
            <a:ext cx="2286000" cy="45720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Courier New" pitchFamily="34" charset="0"/>
                <a:ea typeface="Courier New" pitchFamily="34" charset="-122"/>
                <a:cs typeface="Courier New" pitchFamily="34" charset="-120"/>
              </a:rPr>
              <a:t>CN=G-AX-Oqit…</a:t>
            </a:r>
            <a:endParaRPr lang="en-US" sz="1400" dirty="0"/>
          </a:p>
        </p:txBody>
      </p:sp>
      <p:sp>
        <p:nvSpPr>
          <p:cNvPr id="32" name="Text 30"/>
          <p:cNvSpPr txBox="1"/>
          <p:nvPr/>
        </p:nvSpPr>
        <p:spPr>
          <a:xfrm>
            <a:off x="5074920" y="4526280"/>
            <a:ext cx="2103120" cy="457200"/>
          </a:xfrm>
          <a:prstGeom prst="rect">
            <a:avLst/>
          </a:prstGeom>
          <a:noFill/>
          <a:ln/>
        </p:spPr>
        <p:txBody>
          <a:bodyPr wrap="square" lIns="0" tIns="0" rIns="0" bIns="0" rtlCol="0" anchor="ctr"/>
          <a:lstStyle/>
          <a:p>
            <a:pPr algn="l" indent="0" marL="0">
              <a:lnSpc>
                <a:spcPct val="95000"/>
              </a:lnSpc>
              <a:buNone/>
            </a:pPr>
            <a:r>
              <a:rPr lang="en-US" sz="1400" dirty="0">
                <a:solidFill>
                  <a:srgbClr val="5B6270"/>
                </a:solidFill>
                <a:latin typeface="Times New Roman" pitchFamily="34" charset="0"/>
                <a:ea typeface="Times New Roman" pitchFamily="34" charset="-122"/>
                <a:cs typeface="Times New Roman" pitchFamily="34" charset="-120"/>
              </a:rPr>
              <a:t>imtiyozlar manbai</a:t>
            </a:r>
            <a:endParaRPr lang="en-US" sz="1400" dirty="0"/>
          </a:p>
        </p:txBody>
      </p:sp>
      <p:sp>
        <p:nvSpPr>
          <p:cNvPr id="33" name="Shape 31"/>
          <p:cNvSpPr/>
          <p:nvPr/>
        </p:nvSpPr>
        <p:spPr>
          <a:xfrm>
            <a:off x="548640" y="5029200"/>
            <a:ext cx="6675120" cy="457200"/>
          </a:xfrm>
          <a:prstGeom prst="roundRect">
            <a:avLst>
              <a:gd name="adj" fmla="val 8000"/>
            </a:avLst>
          </a:prstGeom>
          <a:solidFill>
            <a:srgbClr val="EEF2FB"/>
          </a:solidFill>
          <a:ln/>
        </p:spPr>
      </p:sp>
      <p:sp>
        <p:nvSpPr>
          <p:cNvPr id="34" name="Text 32"/>
          <p:cNvSpPr txBox="1"/>
          <p:nvPr/>
        </p:nvSpPr>
        <p:spPr>
          <a:xfrm>
            <a:off x="685800" y="5029200"/>
            <a:ext cx="2103120" cy="457200"/>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userAccountControl</a:t>
            </a:r>
            <a:endParaRPr lang="en-US" sz="1400" dirty="0"/>
          </a:p>
        </p:txBody>
      </p:sp>
      <p:sp>
        <p:nvSpPr>
          <p:cNvPr id="35" name="Text 33"/>
          <p:cNvSpPr txBox="1"/>
          <p:nvPr/>
        </p:nvSpPr>
        <p:spPr>
          <a:xfrm>
            <a:off x="2788920" y="5029200"/>
            <a:ext cx="2286000" cy="45720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Courier New" pitchFamily="34" charset="0"/>
                <a:ea typeface="Courier New" pitchFamily="34" charset="-122"/>
                <a:cs typeface="Courier New" pitchFamily="34" charset="-120"/>
              </a:rPr>
              <a:t>512</a:t>
            </a:r>
            <a:endParaRPr lang="en-US" sz="1400" dirty="0"/>
          </a:p>
        </p:txBody>
      </p:sp>
      <p:sp>
        <p:nvSpPr>
          <p:cNvPr id="36" name="Text 34"/>
          <p:cNvSpPr txBox="1"/>
          <p:nvPr/>
        </p:nvSpPr>
        <p:spPr>
          <a:xfrm>
            <a:off x="5074920" y="5029200"/>
            <a:ext cx="2103120" cy="457200"/>
          </a:xfrm>
          <a:prstGeom prst="rect">
            <a:avLst/>
          </a:prstGeom>
          <a:noFill/>
          <a:ln/>
        </p:spPr>
        <p:txBody>
          <a:bodyPr wrap="square" lIns="0" tIns="0" rIns="0" bIns="0" rtlCol="0" anchor="ctr"/>
          <a:lstStyle/>
          <a:p>
            <a:pPr algn="l" indent="0" marL="0">
              <a:lnSpc>
                <a:spcPct val="95000"/>
              </a:lnSpc>
              <a:buNone/>
            </a:pPr>
            <a:r>
              <a:rPr lang="en-US" sz="1400" dirty="0">
                <a:solidFill>
                  <a:srgbClr val="5B6270"/>
                </a:solidFill>
                <a:latin typeface="Times New Roman" pitchFamily="34" charset="0"/>
                <a:ea typeface="Times New Roman" pitchFamily="34" charset="-122"/>
                <a:cs typeface="Times New Roman" pitchFamily="34" charset="-120"/>
              </a:rPr>
              <a:t>512 faol, 514 blok</a:t>
            </a:r>
            <a:endParaRPr lang="en-US" sz="1400" dirty="0"/>
          </a:p>
        </p:txBody>
      </p:sp>
      <p:sp>
        <p:nvSpPr>
          <p:cNvPr id="37" name="Shape 35"/>
          <p:cNvSpPr/>
          <p:nvPr/>
        </p:nvSpPr>
        <p:spPr>
          <a:xfrm>
            <a:off x="7452360" y="3017520"/>
            <a:ext cx="4160520" cy="3154680"/>
          </a:xfrm>
          <a:prstGeom prst="roundRect">
            <a:avLst>
              <a:gd name="adj" fmla="val 2609"/>
            </a:avLst>
          </a:prstGeom>
          <a:solidFill>
            <a:srgbClr val="162048"/>
          </a:solidFill>
          <a:ln/>
        </p:spPr>
      </p:sp>
      <p:sp>
        <p:nvSpPr>
          <p:cNvPr id="38" name="Text 36"/>
          <p:cNvSpPr txBox="1"/>
          <p:nvPr/>
        </p:nvSpPr>
        <p:spPr>
          <a:xfrm>
            <a:off x="7680960" y="3200400"/>
            <a:ext cx="3703320" cy="2788920"/>
          </a:xfrm>
          <a:prstGeom prst="rect">
            <a:avLst/>
          </a:prstGeom>
          <a:noFill/>
          <a:ln/>
        </p:spPr>
        <p:txBody>
          <a:bodyPr wrap="square" lIns="0" tIns="0" rIns="0" bIns="0" rtlCol="0" anchor="t"/>
          <a:lstStyle/>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guruhdagi faol foydalanuvchilar</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(&amp;(objectClass=user)</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(memberOf=CN=G-AX-Oqituvchilar,</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OU=Guruhlar,DC=nuu,DC=uz)</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(!(userAccountControl:</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1.2.840.113556.1.4.803:=2)))</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PowerShell ekvivalenti</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Get-ADGroupMember G-AX-Oqituvchilar |</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Get-ADUser | ? Enabled</a:t>
            </a:r>
            <a:endParaRPr lang="en-US" sz="1200" dirty="0"/>
          </a:p>
        </p:txBody>
      </p:sp>
      <p:sp>
        <p:nvSpPr>
          <p:cNvPr id="39" name="Text 3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40" name="Text 3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ACTIVE DIRECTORY</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Active Directory Domain Services tuzilmasi</a:t>
            </a:r>
            <a:endParaRPr lang="en-US" sz="3600" dirty="0"/>
          </a:p>
        </p:txBody>
      </p:sp>
      <p:sp>
        <p:nvSpPr>
          <p:cNvPr id="4" name="Shape 2"/>
          <p:cNvSpPr/>
          <p:nvPr/>
        </p:nvSpPr>
        <p:spPr>
          <a:xfrm>
            <a:off x="548640" y="1783080"/>
            <a:ext cx="3566160" cy="1920240"/>
          </a:xfrm>
          <a:prstGeom prst="roundRect">
            <a:avLst>
              <a:gd name="adj" fmla="val 4286"/>
            </a:avLst>
          </a:prstGeom>
          <a:solidFill>
            <a:srgbClr val="EEF2FB"/>
          </a:solidFill>
          <a:ln/>
        </p:spPr>
      </p:sp>
      <p:sp>
        <p:nvSpPr>
          <p:cNvPr id="5" name="Shape 3"/>
          <p:cNvSpPr/>
          <p:nvPr/>
        </p:nvSpPr>
        <p:spPr>
          <a:xfrm>
            <a:off x="777240" y="2011680"/>
            <a:ext cx="566928" cy="566928"/>
          </a:xfrm>
          <a:prstGeom prst="ellipse">
            <a:avLst/>
          </a:prstGeom>
          <a:solidFill>
            <a:srgbClr val="1E2761"/>
          </a:solidFill>
          <a:ln/>
        </p:spPr>
      </p:sp>
      <p:pic>
        <p:nvPicPr>
          <p:cNvPr id="6" name="Image 0" descr="/home/claude/fob-slides/icons_out/globe_white.png"/>
          <p:cNvPicPr>
            <a:picLocks noChangeAspect="1"/>
          </p:cNvPicPr>
          <p:nvPr/>
        </p:nvPicPr>
        <p:blipFill>
          <a:blip r:embed="rId1"/>
          <a:stretch>
            <a:fillRect/>
          </a:stretch>
        </p:blipFill>
        <p:spPr>
          <a:xfrm>
            <a:off x="904799" y="2139239"/>
            <a:ext cx="311810" cy="311810"/>
          </a:xfrm>
          <a:prstGeom prst="rect">
            <a:avLst/>
          </a:prstGeom>
        </p:spPr>
      </p:pic>
      <p:sp>
        <p:nvSpPr>
          <p:cNvPr id="7" name="Text 4"/>
          <p:cNvSpPr txBox="1"/>
          <p:nvPr/>
        </p:nvSpPr>
        <p:spPr>
          <a:xfrm>
            <a:off x="1508760" y="201168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O'rmon va domen</a:t>
            </a:r>
            <a:endParaRPr lang="en-US" sz="2000" dirty="0"/>
          </a:p>
        </p:txBody>
      </p:sp>
      <p:sp>
        <p:nvSpPr>
          <p:cNvPr id="8" name="Text 5"/>
          <p:cNvSpPr txBox="1"/>
          <p:nvPr/>
        </p:nvSpPr>
        <p:spPr>
          <a:xfrm>
            <a:off x="777240" y="2697480"/>
            <a:ext cx="310896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O'rmon — xavfsizlik chegarasi; domen — umumiy katalog va siyosat (nuu.uz)</a:t>
            </a:r>
            <a:endParaRPr lang="en-US" sz="1600" dirty="0"/>
          </a:p>
        </p:txBody>
      </p:sp>
      <p:sp>
        <p:nvSpPr>
          <p:cNvPr id="9" name="Shape 6"/>
          <p:cNvSpPr/>
          <p:nvPr/>
        </p:nvSpPr>
        <p:spPr>
          <a:xfrm>
            <a:off x="4297680" y="1783080"/>
            <a:ext cx="3566160" cy="1920240"/>
          </a:xfrm>
          <a:prstGeom prst="roundRect">
            <a:avLst>
              <a:gd name="adj" fmla="val 4286"/>
            </a:avLst>
          </a:prstGeom>
          <a:solidFill>
            <a:srgbClr val="1E2761"/>
          </a:solidFill>
          <a:ln/>
        </p:spPr>
      </p:sp>
      <p:sp>
        <p:nvSpPr>
          <p:cNvPr id="10" name="Shape 7"/>
          <p:cNvSpPr/>
          <p:nvPr/>
        </p:nvSpPr>
        <p:spPr>
          <a:xfrm>
            <a:off x="4526280" y="2011680"/>
            <a:ext cx="566928" cy="566928"/>
          </a:xfrm>
          <a:prstGeom prst="ellipse">
            <a:avLst/>
          </a:prstGeom>
          <a:solidFill>
            <a:srgbClr val="2A3778"/>
          </a:solidFill>
          <a:ln/>
        </p:spPr>
      </p:sp>
      <p:pic>
        <p:nvPicPr>
          <p:cNvPr id="11" name="Image 1" descr="/home/claude/fob-slides/icons_out/server_white.png"/>
          <p:cNvPicPr>
            <a:picLocks noChangeAspect="1"/>
          </p:cNvPicPr>
          <p:nvPr/>
        </p:nvPicPr>
        <p:blipFill>
          <a:blip r:embed="rId2"/>
          <a:stretch>
            <a:fillRect/>
          </a:stretch>
        </p:blipFill>
        <p:spPr>
          <a:xfrm>
            <a:off x="4653839" y="2139239"/>
            <a:ext cx="311810" cy="311810"/>
          </a:xfrm>
          <a:prstGeom prst="rect">
            <a:avLst/>
          </a:prstGeom>
        </p:spPr>
      </p:pic>
      <p:sp>
        <p:nvSpPr>
          <p:cNvPr id="12" name="Text 8"/>
          <p:cNvSpPr txBox="1"/>
          <p:nvPr/>
        </p:nvSpPr>
        <p:spPr>
          <a:xfrm>
            <a:off x="5257800" y="201168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FFFFFF"/>
                </a:solidFill>
                <a:latin typeface="Times New Roman" pitchFamily="34" charset="0"/>
                <a:ea typeface="Times New Roman" pitchFamily="34" charset="-122"/>
                <a:cs typeface="Times New Roman" pitchFamily="34" charset="-120"/>
              </a:rPr>
              <a:t>Domen kontrolleri</a:t>
            </a:r>
            <a:endParaRPr lang="en-US" sz="2000" dirty="0"/>
          </a:p>
        </p:txBody>
      </p:sp>
      <p:sp>
        <p:nvSpPr>
          <p:cNvPr id="13" name="Text 9"/>
          <p:cNvSpPr txBox="1"/>
          <p:nvPr/>
        </p:nvSpPr>
        <p:spPr>
          <a:xfrm>
            <a:off x="4526280" y="2697480"/>
            <a:ext cx="3108960" cy="914400"/>
          </a:xfrm>
          <a:prstGeom prst="rect">
            <a:avLst/>
          </a:prstGeom>
          <a:noFill/>
          <a:ln/>
        </p:spPr>
        <p:txBody>
          <a:bodyPr wrap="square" lIns="0" tIns="0" rIns="0" bIns="0" rtlCol="0" anchor="t"/>
          <a:lstStyle/>
          <a:p>
            <a:pPr algn="l" indent="0" marL="0">
              <a:lnSpc>
                <a:spcPct val="105000"/>
              </a:lnSpc>
              <a:buNone/>
            </a:pPr>
            <a:r>
              <a:rPr lang="en-US" sz="1600" dirty="0">
                <a:solidFill>
                  <a:srgbClr val="CADCFC"/>
                </a:solidFill>
                <a:latin typeface="Times New Roman" pitchFamily="34" charset="0"/>
                <a:ea typeface="Times New Roman" pitchFamily="34" charset="-122"/>
                <a:cs typeface="Times New Roman" pitchFamily="34" charset="-120"/>
              </a:rPr>
              <a:t>Katalog nusxasi, KDC va LDAP xizmati; DC lar o'zaro replikatsiya qiladi</a:t>
            </a:r>
            <a:endParaRPr lang="en-US" sz="1600" dirty="0"/>
          </a:p>
        </p:txBody>
      </p:sp>
      <p:sp>
        <p:nvSpPr>
          <p:cNvPr id="14" name="Shape 10"/>
          <p:cNvSpPr/>
          <p:nvPr/>
        </p:nvSpPr>
        <p:spPr>
          <a:xfrm>
            <a:off x="8046720" y="1783080"/>
            <a:ext cx="3566160" cy="1920240"/>
          </a:xfrm>
          <a:prstGeom prst="roundRect">
            <a:avLst>
              <a:gd name="adj" fmla="val 4286"/>
            </a:avLst>
          </a:prstGeom>
          <a:solidFill>
            <a:srgbClr val="EEF2FB"/>
          </a:solidFill>
          <a:ln/>
        </p:spPr>
      </p:sp>
      <p:sp>
        <p:nvSpPr>
          <p:cNvPr id="15" name="Shape 11"/>
          <p:cNvSpPr/>
          <p:nvPr/>
        </p:nvSpPr>
        <p:spPr>
          <a:xfrm>
            <a:off x="8275320" y="2011680"/>
            <a:ext cx="566928" cy="566928"/>
          </a:xfrm>
          <a:prstGeom prst="ellipse">
            <a:avLst/>
          </a:prstGeom>
          <a:solidFill>
            <a:srgbClr val="1E2761"/>
          </a:solidFill>
          <a:ln/>
        </p:spPr>
      </p:sp>
      <p:pic>
        <p:nvPicPr>
          <p:cNvPr id="16" name="Image 2" descr="/home/claude/fob-slides/icons_out/sitemap_white.png"/>
          <p:cNvPicPr>
            <a:picLocks noChangeAspect="1"/>
          </p:cNvPicPr>
          <p:nvPr/>
        </p:nvPicPr>
        <p:blipFill>
          <a:blip r:embed="rId3"/>
          <a:stretch>
            <a:fillRect/>
          </a:stretch>
        </p:blipFill>
        <p:spPr>
          <a:xfrm>
            <a:off x="8402879" y="2139239"/>
            <a:ext cx="311810" cy="311810"/>
          </a:xfrm>
          <a:prstGeom prst="rect">
            <a:avLst/>
          </a:prstGeom>
        </p:spPr>
      </p:pic>
      <p:sp>
        <p:nvSpPr>
          <p:cNvPr id="17" name="Text 12"/>
          <p:cNvSpPr txBox="1"/>
          <p:nvPr/>
        </p:nvSpPr>
        <p:spPr>
          <a:xfrm>
            <a:off x="9006840" y="201168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Tashkiliy bo'linma (OU)</a:t>
            </a:r>
            <a:endParaRPr lang="en-US" sz="2000" dirty="0"/>
          </a:p>
        </p:txBody>
      </p:sp>
      <p:sp>
        <p:nvSpPr>
          <p:cNvPr id="18" name="Text 13"/>
          <p:cNvSpPr txBox="1"/>
          <p:nvPr/>
        </p:nvSpPr>
        <p:spPr>
          <a:xfrm>
            <a:off x="8275320" y="2697480"/>
            <a:ext cx="310896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Obyektlarni guruhlash va boshqaruvni topshirish uchun konteyner</a:t>
            </a:r>
            <a:endParaRPr lang="en-US" sz="1600" dirty="0"/>
          </a:p>
        </p:txBody>
      </p:sp>
      <p:sp>
        <p:nvSpPr>
          <p:cNvPr id="19" name="Shape 14"/>
          <p:cNvSpPr/>
          <p:nvPr/>
        </p:nvSpPr>
        <p:spPr>
          <a:xfrm>
            <a:off x="548640" y="3931920"/>
            <a:ext cx="3566160" cy="1920240"/>
          </a:xfrm>
          <a:prstGeom prst="roundRect">
            <a:avLst>
              <a:gd name="adj" fmla="val 4286"/>
            </a:avLst>
          </a:prstGeom>
          <a:solidFill>
            <a:srgbClr val="EEF2FB"/>
          </a:solidFill>
          <a:ln/>
        </p:spPr>
      </p:sp>
      <p:sp>
        <p:nvSpPr>
          <p:cNvPr id="20" name="Shape 15"/>
          <p:cNvSpPr/>
          <p:nvPr/>
        </p:nvSpPr>
        <p:spPr>
          <a:xfrm>
            <a:off x="777240" y="4160520"/>
            <a:ext cx="566928" cy="566928"/>
          </a:xfrm>
          <a:prstGeom prst="ellipse">
            <a:avLst/>
          </a:prstGeom>
          <a:solidFill>
            <a:srgbClr val="1E2761"/>
          </a:solidFill>
          <a:ln/>
        </p:spPr>
      </p:sp>
      <p:pic>
        <p:nvPicPr>
          <p:cNvPr id="21" name="Image 3" descr="/home/claude/fob-slides/icons_out/users_white.png"/>
          <p:cNvPicPr>
            <a:picLocks noChangeAspect="1"/>
          </p:cNvPicPr>
          <p:nvPr/>
        </p:nvPicPr>
        <p:blipFill>
          <a:blip r:embed="rId4"/>
          <a:stretch>
            <a:fillRect/>
          </a:stretch>
        </p:blipFill>
        <p:spPr>
          <a:xfrm>
            <a:off x="904799" y="4288079"/>
            <a:ext cx="311810" cy="311810"/>
          </a:xfrm>
          <a:prstGeom prst="rect">
            <a:avLst/>
          </a:prstGeom>
        </p:spPr>
      </p:pic>
      <p:sp>
        <p:nvSpPr>
          <p:cNvPr id="22" name="Text 16"/>
          <p:cNvSpPr txBox="1"/>
          <p:nvPr/>
        </p:nvSpPr>
        <p:spPr>
          <a:xfrm>
            <a:off x="1508760" y="416052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Guruhlar</a:t>
            </a:r>
            <a:endParaRPr lang="en-US" sz="2000" dirty="0"/>
          </a:p>
        </p:txBody>
      </p:sp>
      <p:sp>
        <p:nvSpPr>
          <p:cNvPr id="23" name="Text 17"/>
          <p:cNvSpPr txBox="1"/>
          <p:nvPr/>
        </p:nvSpPr>
        <p:spPr>
          <a:xfrm>
            <a:off x="777240" y="4846320"/>
            <a:ext cx="310896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Xavfsizlik guruhlari orqali imtiyozlar beriladi — RBAC ning Windows shakli</a:t>
            </a:r>
            <a:endParaRPr lang="en-US" sz="1600" dirty="0"/>
          </a:p>
        </p:txBody>
      </p:sp>
      <p:sp>
        <p:nvSpPr>
          <p:cNvPr id="24" name="Shape 18"/>
          <p:cNvSpPr/>
          <p:nvPr/>
        </p:nvSpPr>
        <p:spPr>
          <a:xfrm>
            <a:off x="4297680" y="3931920"/>
            <a:ext cx="3566160" cy="1920240"/>
          </a:xfrm>
          <a:prstGeom prst="roundRect">
            <a:avLst>
              <a:gd name="adj" fmla="val 4286"/>
            </a:avLst>
          </a:prstGeom>
          <a:solidFill>
            <a:srgbClr val="EEF2FB"/>
          </a:solidFill>
          <a:ln/>
        </p:spPr>
      </p:sp>
      <p:sp>
        <p:nvSpPr>
          <p:cNvPr id="25" name="Shape 19"/>
          <p:cNvSpPr/>
          <p:nvPr/>
        </p:nvSpPr>
        <p:spPr>
          <a:xfrm>
            <a:off x="4526280" y="4160520"/>
            <a:ext cx="566928" cy="566928"/>
          </a:xfrm>
          <a:prstGeom prst="ellipse">
            <a:avLst/>
          </a:prstGeom>
          <a:solidFill>
            <a:srgbClr val="1E2761"/>
          </a:solidFill>
          <a:ln/>
        </p:spPr>
      </p:sp>
      <p:pic>
        <p:nvPicPr>
          <p:cNvPr id="26" name="Image 4" descr="/home/claude/fob-slides/icons_out/clipboard_white.png"/>
          <p:cNvPicPr>
            <a:picLocks noChangeAspect="1"/>
          </p:cNvPicPr>
          <p:nvPr/>
        </p:nvPicPr>
        <p:blipFill>
          <a:blip r:embed="rId5"/>
          <a:stretch>
            <a:fillRect/>
          </a:stretch>
        </p:blipFill>
        <p:spPr>
          <a:xfrm>
            <a:off x="4653839" y="4288079"/>
            <a:ext cx="311810" cy="311810"/>
          </a:xfrm>
          <a:prstGeom prst="rect">
            <a:avLst/>
          </a:prstGeom>
        </p:spPr>
      </p:pic>
      <p:sp>
        <p:nvSpPr>
          <p:cNvPr id="27" name="Text 20"/>
          <p:cNvSpPr txBox="1"/>
          <p:nvPr/>
        </p:nvSpPr>
        <p:spPr>
          <a:xfrm>
            <a:off x="5257800" y="416052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Guruh siyosati (GPO)</a:t>
            </a:r>
            <a:endParaRPr lang="en-US" sz="2000" dirty="0"/>
          </a:p>
        </p:txBody>
      </p:sp>
      <p:sp>
        <p:nvSpPr>
          <p:cNvPr id="28" name="Text 21"/>
          <p:cNvSpPr txBox="1"/>
          <p:nvPr/>
        </p:nvSpPr>
        <p:spPr>
          <a:xfrm>
            <a:off x="4526280" y="4846320"/>
            <a:ext cx="310896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OU ga bog'lanadi: parol siyosati, ekran bloki, dasturlarni cheklash</a:t>
            </a:r>
            <a:endParaRPr lang="en-US" sz="1600" dirty="0"/>
          </a:p>
        </p:txBody>
      </p:sp>
      <p:sp>
        <p:nvSpPr>
          <p:cNvPr id="29" name="Shape 22"/>
          <p:cNvSpPr/>
          <p:nvPr/>
        </p:nvSpPr>
        <p:spPr>
          <a:xfrm>
            <a:off x="8046720" y="3931920"/>
            <a:ext cx="3566160" cy="1920240"/>
          </a:xfrm>
          <a:prstGeom prst="roundRect">
            <a:avLst>
              <a:gd name="adj" fmla="val 4286"/>
            </a:avLst>
          </a:prstGeom>
          <a:solidFill>
            <a:srgbClr val="EEF2FB"/>
          </a:solidFill>
          <a:ln/>
        </p:spPr>
      </p:sp>
      <p:sp>
        <p:nvSpPr>
          <p:cNvPr id="30" name="Shape 23"/>
          <p:cNvSpPr/>
          <p:nvPr/>
        </p:nvSpPr>
        <p:spPr>
          <a:xfrm>
            <a:off x="8275320" y="4160520"/>
            <a:ext cx="566928" cy="566928"/>
          </a:xfrm>
          <a:prstGeom prst="ellipse">
            <a:avLst/>
          </a:prstGeom>
          <a:solidFill>
            <a:srgbClr val="1E2761"/>
          </a:solidFill>
          <a:ln/>
        </p:spPr>
      </p:sp>
      <p:pic>
        <p:nvPicPr>
          <p:cNvPr id="31" name="Image 5" descr="/home/claude/fob-slides/icons_out/database_white.png"/>
          <p:cNvPicPr>
            <a:picLocks noChangeAspect="1"/>
          </p:cNvPicPr>
          <p:nvPr/>
        </p:nvPicPr>
        <p:blipFill>
          <a:blip r:embed="rId6"/>
          <a:stretch>
            <a:fillRect/>
          </a:stretch>
        </p:blipFill>
        <p:spPr>
          <a:xfrm>
            <a:off x="8402879" y="4288079"/>
            <a:ext cx="311810" cy="311810"/>
          </a:xfrm>
          <a:prstGeom prst="rect">
            <a:avLst/>
          </a:prstGeom>
        </p:spPr>
      </p:pic>
      <p:sp>
        <p:nvSpPr>
          <p:cNvPr id="32" name="Text 24"/>
          <p:cNvSpPr txBox="1"/>
          <p:nvPr/>
        </p:nvSpPr>
        <p:spPr>
          <a:xfrm>
            <a:off x="9006840" y="416052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Global katalog</a:t>
            </a:r>
            <a:endParaRPr lang="en-US" sz="2000" dirty="0"/>
          </a:p>
        </p:txBody>
      </p:sp>
      <p:sp>
        <p:nvSpPr>
          <p:cNvPr id="33" name="Text 25"/>
          <p:cNvSpPr txBox="1"/>
          <p:nvPr/>
        </p:nvSpPr>
        <p:spPr>
          <a:xfrm>
            <a:off x="8275320" y="4846320"/>
            <a:ext cx="310896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O'rmondagi barcha obyektlarning qisman nusxasi — tez qidirish</a:t>
            </a:r>
            <a:endParaRPr lang="en-US" sz="1600" dirty="0"/>
          </a:p>
        </p:txBody>
      </p:sp>
      <p:sp>
        <p:nvSpPr>
          <p:cNvPr id="34" name="Text 26"/>
          <p:cNvSpPr txBox="1"/>
          <p:nvPr/>
        </p:nvSpPr>
        <p:spPr>
          <a:xfrm>
            <a:off x="548640" y="5989320"/>
            <a:ext cx="11064240" cy="41148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Boshqaruv vositalari: dsa.msc (foydalanuvchilar va kompyuterlar), gpmc.msc (guruh siyosati), PowerShell ActiveDirectory moduli.</a:t>
            </a:r>
            <a:endParaRPr lang="en-US" sz="1500" dirty="0"/>
          </a:p>
        </p:txBody>
      </p:sp>
      <p:sp>
        <p:nvSpPr>
          <p:cNvPr id="35" name="Text 2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36" name="Text 2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AD DA FOYDALANISH NAZORATI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AGDLP: foydalanuvchidan ruxsatgacha</a:t>
            </a:r>
            <a:endParaRPr lang="en-US" sz="3600" dirty="0"/>
          </a:p>
        </p:txBody>
      </p:sp>
      <p:sp>
        <p:nvSpPr>
          <p:cNvPr id="4" name="Shape 2"/>
          <p:cNvSpPr/>
          <p:nvPr/>
        </p:nvSpPr>
        <p:spPr>
          <a:xfrm>
            <a:off x="548640" y="1783080"/>
            <a:ext cx="2514600" cy="2103120"/>
          </a:xfrm>
          <a:prstGeom prst="roundRect">
            <a:avLst>
              <a:gd name="adj" fmla="val 3913"/>
            </a:avLst>
          </a:prstGeom>
          <a:solidFill>
            <a:srgbClr val="1F6B4A"/>
          </a:solidFill>
          <a:ln/>
        </p:spPr>
      </p:sp>
      <p:sp>
        <p:nvSpPr>
          <p:cNvPr id="5" name="Text 3"/>
          <p:cNvSpPr txBox="1"/>
          <p:nvPr/>
        </p:nvSpPr>
        <p:spPr>
          <a:xfrm>
            <a:off x="548640" y="1828800"/>
            <a:ext cx="2514600" cy="685800"/>
          </a:xfrm>
          <a:prstGeom prst="rect">
            <a:avLst/>
          </a:prstGeom>
          <a:noFill/>
          <a:ln/>
        </p:spPr>
        <p:txBody>
          <a:bodyPr wrap="square" lIns="50800" tIns="50800" rIns="50800" bIns="50800" rtlCol="0" anchor="ctr"/>
          <a:lstStyle/>
          <a:p>
            <a:pPr algn="ctr" indent="0" marL="0">
              <a:lnSpc>
                <a:spcPct val="100000"/>
              </a:lnSpc>
              <a:buNone/>
            </a:pPr>
            <a:r>
              <a:rPr lang="en-US" sz="3600" b="1" dirty="0">
                <a:solidFill>
                  <a:srgbClr val="FFFFFF"/>
                </a:solidFill>
                <a:latin typeface="Times New Roman" pitchFamily="34" charset="0"/>
                <a:ea typeface="Times New Roman" pitchFamily="34" charset="-122"/>
                <a:cs typeface="Times New Roman" pitchFamily="34" charset="-120"/>
              </a:rPr>
              <a:t>A</a:t>
            </a:r>
            <a:endParaRPr lang="en-US" sz="3600" dirty="0"/>
          </a:p>
        </p:txBody>
      </p:sp>
      <p:sp>
        <p:nvSpPr>
          <p:cNvPr id="6" name="Text 4"/>
          <p:cNvSpPr txBox="1"/>
          <p:nvPr/>
        </p:nvSpPr>
        <p:spPr>
          <a:xfrm>
            <a:off x="548640" y="2514600"/>
            <a:ext cx="2514600" cy="36576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Account</a:t>
            </a:r>
            <a:endParaRPr lang="en-US" sz="1600" dirty="0"/>
          </a:p>
        </p:txBody>
      </p:sp>
      <p:sp>
        <p:nvSpPr>
          <p:cNvPr id="7" name="Text 5"/>
          <p:cNvSpPr txBox="1"/>
          <p:nvPr/>
        </p:nvSpPr>
        <p:spPr>
          <a:xfrm>
            <a:off x="640080" y="2880360"/>
            <a:ext cx="2331720" cy="8686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FFFFFF"/>
                </a:solidFill>
                <a:latin typeface="Courier New" pitchFamily="34" charset="0"/>
                <a:ea typeface="Courier New" pitchFamily="34" charset="-122"/>
                <a:cs typeface="Courier New" pitchFamily="34" charset="-120"/>
              </a:rPr>
              <a:t>a.karimov</a:t>
            </a:r>
            <a:endParaRPr lang="en-US" sz="1400" dirty="0"/>
          </a:p>
        </p:txBody>
      </p:sp>
      <p:sp>
        <p:nvSpPr>
          <p:cNvPr id="8" name="Shape 6"/>
          <p:cNvSpPr/>
          <p:nvPr/>
        </p:nvSpPr>
        <p:spPr>
          <a:xfrm>
            <a:off x="3090672" y="2834640"/>
            <a:ext cx="265176" cy="0"/>
          </a:xfrm>
          <a:prstGeom prst="line">
            <a:avLst/>
          </a:prstGeom>
          <a:noFill/>
          <a:ln w="31750">
            <a:solidFill>
              <a:srgbClr val="1E2761"/>
            </a:solidFill>
            <a:prstDash val="solid"/>
            <a:tailEnd type="triangle"/>
          </a:ln>
        </p:spPr>
      </p:sp>
      <p:sp>
        <p:nvSpPr>
          <p:cNvPr id="9" name="Shape 7"/>
          <p:cNvSpPr/>
          <p:nvPr/>
        </p:nvSpPr>
        <p:spPr>
          <a:xfrm>
            <a:off x="3383280" y="1783080"/>
            <a:ext cx="2514600" cy="2103120"/>
          </a:xfrm>
          <a:prstGeom prst="roundRect">
            <a:avLst>
              <a:gd name="adj" fmla="val 3913"/>
            </a:avLst>
          </a:prstGeom>
          <a:solidFill>
            <a:srgbClr val="2A3778"/>
          </a:solidFill>
          <a:ln/>
        </p:spPr>
      </p:sp>
      <p:sp>
        <p:nvSpPr>
          <p:cNvPr id="10" name="Text 8"/>
          <p:cNvSpPr txBox="1"/>
          <p:nvPr/>
        </p:nvSpPr>
        <p:spPr>
          <a:xfrm>
            <a:off x="3383280" y="1828800"/>
            <a:ext cx="2514600" cy="685800"/>
          </a:xfrm>
          <a:prstGeom prst="rect">
            <a:avLst/>
          </a:prstGeom>
          <a:noFill/>
          <a:ln/>
        </p:spPr>
        <p:txBody>
          <a:bodyPr wrap="square" lIns="50800" tIns="50800" rIns="50800" bIns="50800" rtlCol="0" anchor="ctr"/>
          <a:lstStyle/>
          <a:p>
            <a:pPr algn="ctr" indent="0" marL="0">
              <a:lnSpc>
                <a:spcPct val="100000"/>
              </a:lnSpc>
              <a:buNone/>
            </a:pPr>
            <a:r>
              <a:rPr lang="en-US" sz="3600" b="1" dirty="0">
                <a:solidFill>
                  <a:srgbClr val="FFFFFF"/>
                </a:solidFill>
                <a:latin typeface="Times New Roman" pitchFamily="34" charset="0"/>
                <a:ea typeface="Times New Roman" pitchFamily="34" charset="-122"/>
                <a:cs typeface="Times New Roman" pitchFamily="34" charset="-120"/>
              </a:rPr>
              <a:t>G</a:t>
            </a:r>
            <a:endParaRPr lang="en-US" sz="3600" dirty="0"/>
          </a:p>
        </p:txBody>
      </p:sp>
      <p:sp>
        <p:nvSpPr>
          <p:cNvPr id="11" name="Text 9"/>
          <p:cNvSpPr txBox="1"/>
          <p:nvPr/>
        </p:nvSpPr>
        <p:spPr>
          <a:xfrm>
            <a:off x="3383280" y="2514600"/>
            <a:ext cx="2514600" cy="36576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Global guruh</a:t>
            </a:r>
            <a:endParaRPr lang="en-US" sz="1600" dirty="0"/>
          </a:p>
        </p:txBody>
      </p:sp>
      <p:sp>
        <p:nvSpPr>
          <p:cNvPr id="12" name="Text 10"/>
          <p:cNvSpPr txBox="1"/>
          <p:nvPr/>
        </p:nvSpPr>
        <p:spPr>
          <a:xfrm>
            <a:off x="3474720" y="2880360"/>
            <a:ext cx="2331720" cy="8686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FFFFFF"/>
                </a:solidFill>
                <a:latin typeface="Courier New" pitchFamily="34" charset="0"/>
                <a:ea typeface="Courier New" pitchFamily="34" charset="-122"/>
                <a:cs typeface="Courier New" pitchFamily="34" charset="-120"/>
              </a:rPr>
              <a:t>G-AX-Oqituvchilar</a:t>
            </a:r>
            <a:endParaRPr lang="en-US" sz="1400" dirty="0"/>
          </a:p>
          <a:p>
            <a:pPr algn="ctr" indent="0" marL="0">
              <a:lnSpc>
                <a:spcPct val="100000"/>
              </a:lnSpc>
              <a:buNone/>
            </a:pPr>
            <a:r>
              <a:rPr lang="en-US" sz="1400" dirty="0">
                <a:solidFill>
                  <a:srgbClr val="FFFFFF"/>
                </a:solidFill>
                <a:latin typeface="Courier New" pitchFamily="34" charset="0"/>
                <a:ea typeface="Courier New" pitchFamily="34" charset="-122"/>
                <a:cs typeface="Courier New" pitchFamily="34" charset="-120"/>
              </a:rPr>
              <a:t>(kim — lavozim)</a:t>
            </a:r>
            <a:endParaRPr lang="en-US" sz="1400" dirty="0"/>
          </a:p>
        </p:txBody>
      </p:sp>
      <p:sp>
        <p:nvSpPr>
          <p:cNvPr id="13" name="Shape 11"/>
          <p:cNvSpPr/>
          <p:nvPr/>
        </p:nvSpPr>
        <p:spPr>
          <a:xfrm>
            <a:off x="5925312" y="2834640"/>
            <a:ext cx="265176" cy="0"/>
          </a:xfrm>
          <a:prstGeom prst="line">
            <a:avLst/>
          </a:prstGeom>
          <a:noFill/>
          <a:ln w="31750">
            <a:solidFill>
              <a:srgbClr val="1E2761"/>
            </a:solidFill>
            <a:prstDash val="solid"/>
            <a:tailEnd type="triangle"/>
          </a:ln>
        </p:spPr>
      </p:sp>
      <p:sp>
        <p:nvSpPr>
          <p:cNvPr id="14" name="Shape 12"/>
          <p:cNvSpPr/>
          <p:nvPr/>
        </p:nvSpPr>
        <p:spPr>
          <a:xfrm>
            <a:off x="6217920" y="1783080"/>
            <a:ext cx="2514600" cy="2103120"/>
          </a:xfrm>
          <a:prstGeom prst="roundRect">
            <a:avLst>
              <a:gd name="adj" fmla="val 3913"/>
            </a:avLst>
          </a:prstGeom>
          <a:solidFill>
            <a:srgbClr val="2A3778"/>
          </a:solidFill>
          <a:ln/>
        </p:spPr>
      </p:sp>
      <p:sp>
        <p:nvSpPr>
          <p:cNvPr id="15" name="Text 13"/>
          <p:cNvSpPr txBox="1"/>
          <p:nvPr/>
        </p:nvSpPr>
        <p:spPr>
          <a:xfrm>
            <a:off x="6217920" y="1828800"/>
            <a:ext cx="2514600" cy="685800"/>
          </a:xfrm>
          <a:prstGeom prst="rect">
            <a:avLst/>
          </a:prstGeom>
          <a:noFill/>
          <a:ln/>
        </p:spPr>
        <p:txBody>
          <a:bodyPr wrap="square" lIns="50800" tIns="50800" rIns="50800" bIns="50800" rtlCol="0" anchor="ctr"/>
          <a:lstStyle/>
          <a:p>
            <a:pPr algn="ctr" indent="0" marL="0">
              <a:lnSpc>
                <a:spcPct val="100000"/>
              </a:lnSpc>
              <a:buNone/>
            </a:pPr>
            <a:r>
              <a:rPr lang="en-US" sz="3600" b="1" dirty="0">
                <a:solidFill>
                  <a:srgbClr val="FFFFFF"/>
                </a:solidFill>
                <a:latin typeface="Times New Roman" pitchFamily="34" charset="0"/>
                <a:ea typeface="Times New Roman" pitchFamily="34" charset="-122"/>
                <a:cs typeface="Times New Roman" pitchFamily="34" charset="-120"/>
              </a:rPr>
              <a:t>DL</a:t>
            </a:r>
            <a:endParaRPr lang="en-US" sz="3600" dirty="0"/>
          </a:p>
        </p:txBody>
      </p:sp>
      <p:sp>
        <p:nvSpPr>
          <p:cNvPr id="16" name="Text 14"/>
          <p:cNvSpPr txBox="1"/>
          <p:nvPr/>
        </p:nvSpPr>
        <p:spPr>
          <a:xfrm>
            <a:off x="6217920" y="2514600"/>
            <a:ext cx="2514600" cy="36576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Domain Local guruh</a:t>
            </a:r>
            <a:endParaRPr lang="en-US" sz="1600" dirty="0"/>
          </a:p>
        </p:txBody>
      </p:sp>
      <p:sp>
        <p:nvSpPr>
          <p:cNvPr id="17" name="Text 15"/>
          <p:cNvSpPr txBox="1"/>
          <p:nvPr/>
        </p:nvSpPr>
        <p:spPr>
          <a:xfrm>
            <a:off x="6309360" y="2880360"/>
            <a:ext cx="2331720" cy="8686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FFFFFF"/>
                </a:solidFill>
                <a:latin typeface="Courier New" pitchFamily="34" charset="0"/>
                <a:ea typeface="Courier New" pitchFamily="34" charset="-122"/>
                <a:cs typeface="Courier New" pitchFamily="34" charset="-120"/>
              </a:rPr>
              <a:t>DL-Kafedra-RW</a:t>
            </a:r>
            <a:endParaRPr lang="en-US" sz="1400" dirty="0"/>
          </a:p>
          <a:p>
            <a:pPr algn="ctr" indent="0" marL="0">
              <a:lnSpc>
                <a:spcPct val="100000"/>
              </a:lnSpc>
              <a:buNone/>
            </a:pPr>
            <a:r>
              <a:rPr lang="en-US" sz="1400" dirty="0">
                <a:solidFill>
                  <a:srgbClr val="FFFFFF"/>
                </a:solidFill>
                <a:latin typeface="Courier New" pitchFamily="34" charset="0"/>
                <a:ea typeface="Courier New" pitchFamily="34" charset="-122"/>
                <a:cs typeface="Courier New" pitchFamily="34" charset="-120"/>
              </a:rPr>
              <a:t>(nima — resurs)</a:t>
            </a:r>
            <a:endParaRPr lang="en-US" sz="1400" dirty="0"/>
          </a:p>
        </p:txBody>
      </p:sp>
      <p:sp>
        <p:nvSpPr>
          <p:cNvPr id="18" name="Shape 16"/>
          <p:cNvSpPr/>
          <p:nvPr/>
        </p:nvSpPr>
        <p:spPr>
          <a:xfrm>
            <a:off x="8759952" y="2834640"/>
            <a:ext cx="265176" cy="0"/>
          </a:xfrm>
          <a:prstGeom prst="line">
            <a:avLst/>
          </a:prstGeom>
          <a:noFill/>
          <a:ln w="31750">
            <a:solidFill>
              <a:srgbClr val="1E2761"/>
            </a:solidFill>
            <a:prstDash val="solid"/>
            <a:tailEnd type="triangle"/>
          </a:ln>
        </p:spPr>
      </p:sp>
      <p:sp>
        <p:nvSpPr>
          <p:cNvPr id="19" name="Shape 17"/>
          <p:cNvSpPr/>
          <p:nvPr/>
        </p:nvSpPr>
        <p:spPr>
          <a:xfrm>
            <a:off x="9052560" y="1783080"/>
            <a:ext cx="2514600" cy="2103120"/>
          </a:xfrm>
          <a:prstGeom prst="roundRect">
            <a:avLst>
              <a:gd name="adj" fmla="val 3913"/>
            </a:avLst>
          </a:prstGeom>
          <a:solidFill>
            <a:srgbClr val="1E2761"/>
          </a:solidFill>
          <a:ln/>
        </p:spPr>
      </p:sp>
      <p:sp>
        <p:nvSpPr>
          <p:cNvPr id="20" name="Text 18"/>
          <p:cNvSpPr txBox="1"/>
          <p:nvPr/>
        </p:nvSpPr>
        <p:spPr>
          <a:xfrm>
            <a:off x="9052560" y="1828800"/>
            <a:ext cx="2514600" cy="685800"/>
          </a:xfrm>
          <a:prstGeom prst="rect">
            <a:avLst/>
          </a:prstGeom>
          <a:noFill/>
          <a:ln/>
        </p:spPr>
        <p:txBody>
          <a:bodyPr wrap="square" lIns="50800" tIns="50800" rIns="50800" bIns="50800" rtlCol="0" anchor="ctr"/>
          <a:lstStyle/>
          <a:p>
            <a:pPr algn="ctr" indent="0" marL="0">
              <a:lnSpc>
                <a:spcPct val="100000"/>
              </a:lnSpc>
              <a:buNone/>
            </a:pPr>
            <a:r>
              <a:rPr lang="en-US" sz="3600" b="1" dirty="0">
                <a:solidFill>
                  <a:srgbClr val="FFFFFF"/>
                </a:solidFill>
                <a:latin typeface="Times New Roman" pitchFamily="34" charset="0"/>
                <a:ea typeface="Times New Roman" pitchFamily="34" charset="-122"/>
                <a:cs typeface="Times New Roman" pitchFamily="34" charset="-120"/>
              </a:rPr>
              <a:t>P</a:t>
            </a:r>
            <a:endParaRPr lang="en-US" sz="3600" dirty="0"/>
          </a:p>
        </p:txBody>
      </p:sp>
      <p:sp>
        <p:nvSpPr>
          <p:cNvPr id="21" name="Text 19"/>
          <p:cNvSpPr txBox="1"/>
          <p:nvPr/>
        </p:nvSpPr>
        <p:spPr>
          <a:xfrm>
            <a:off x="9052560" y="2514600"/>
            <a:ext cx="2514600" cy="36576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Permission</a:t>
            </a:r>
            <a:endParaRPr lang="en-US" sz="1600" dirty="0"/>
          </a:p>
        </p:txBody>
      </p:sp>
      <p:sp>
        <p:nvSpPr>
          <p:cNvPr id="22" name="Text 20"/>
          <p:cNvSpPr txBox="1"/>
          <p:nvPr/>
        </p:nvSpPr>
        <p:spPr>
          <a:xfrm>
            <a:off x="9144000" y="2880360"/>
            <a:ext cx="2331720" cy="8686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FFFFFF"/>
                </a:solidFill>
                <a:latin typeface="Courier New" pitchFamily="34" charset="0"/>
                <a:ea typeface="Courier New" pitchFamily="34" charset="-122"/>
                <a:cs typeface="Courier New" pitchFamily="34" charset="-120"/>
              </a:rPr>
              <a:t>\\fs\kafedra</a:t>
            </a:r>
            <a:endParaRPr lang="en-US" sz="1400" dirty="0"/>
          </a:p>
          <a:p>
            <a:pPr algn="ctr" indent="0" marL="0">
              <a:lnSpc>
                <a:spcPct val="100000"/>
              </a:lnSpc>
              <a:buNone/>
            </a:pPr>
            <a:r>
              <a:rPr lang="en-US" sz="1400" dirty="0">
                <a:solidFill>
                  <a:srgbClr val="FFFFFF"/>
                </a:solidFill>
                <a:latin typeface="Courier New" pitchFamily="34" charset="0"/>
                <a:ea typeface="Courier New" pitchFamily="34" charset="-122"/>
                <a:cs typeface="Courier New" pitchFamily="34" charset="-120"/>
              </a:rPr>
              <a:t>NTFS: o'zgartirish</a:t>
            </a:r>
            <a:endParaRPr lang="en-US" sz="1400" dirty="0"/>
          </a:p>
        </p:txBody>
      </p:sp>
      <p:sp>
        <p:nvSpPr>
          <p:cNvPr id="23" name="Shape 21"/>
          <p:cNvSpPr/>
          <p:nvPr/>
        </p:nvSpPr>
        <p:spPr>
          <a:xfrm>
            <a:off x="548640" y="4114800"/>
            <a:ext cx="11064240" cy="621792"/>
          </a:xfrm>
          <a:prstGeom prst="roundRect">
            <a:avLst>
              <a:gd name="adj" fmla="val 13235"/>
            </a:avLst>
          </a:prstGeom>
          <a:solidFill>
            <a:srgbClr val="EEF2FB"/>
          </a:solidFill>
          <a:ln/>
        </p:spPr>
      </p:sp>
      <p:sp>
        <p:nvSpPr>
          <p:cNvPr id="24" name="Text 22"/>
          <p:cNvSpPr txBox="1"/>
          <p:nvPr/>
        </p:nvSpPr>
        <p:spPr>
          <a:xfrm>
            <a:off x="777240" y="4114800"/>
            <a:ext cx="2377440" cy="621792"/>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Nega ikki qavat?</a:t>
            </a:r>
            <a:endParaRPr lang="en-US" sz="1600" dirty="0"/>
          </a:p>
        </p:txBody>
      </p:sp>
      <p:sp>
        <p:nvSpPr>
          <p:cNvPr id="25" name="Text 23"/>
          <p:cNvSpPr txBox="1"/>
          <p:nvPr/>
        </p:nvSpPr>
        <p:spPr>
          <a:xfrm>
            <a:off x="3154680" y="4114800"/>
            <a:ext cx="8321040" cy="62179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Lavozim o'zgarsa — faqat G guruh a'zoligi o'zgaradi; resurs qo'shilsa — faqat DL guruhiga ruxsat beriladi.</a:t>
            </a:r>
            <a:endParaRPr lang="en-US" sz="1500" dirty="0"/>
          </a:p>
        </p:txBody>
      </p:sp>
      <p:sp>
        <p:nvSpPr>
          <p:cNvPr id="26" name="Shape 24"/>
          <p:cNvSpPr/>
          <p:nvPr/>
        </p:nvSpPr>
        <p:spPr>
          <a:xfrm>
            <a:off x="548640" y="4828032"/>
            <a:ext cx="11064240" cy="621792"/>
          </a:xfrm>
          <a:prstGeom prst="roundRect">
            <a:avLst>
              <a:gd name="adj" fmla="val 13235"/>
            </a:avLst>
          </a:prstGeom>
          <a:solidFill>
            <a:srgbClr val="EEF2FB"/>
          </a:solidFill>
          <a:ln/>
        </p:spPr>
      </p:sp>
      <p:sp>
        <p:nvSpPr>
          <p:cNvPr id="27" name="Text 25"/>
          <p:cNvSpPr txBox="1"/>
          <p:nvPr/>
        </p:nvSpPr>
        <p:spPr>
          <a:xfrm>
            <a:off x="777240" y="4828032"/>
            <a:ext cx="2377440" cy="621792"/>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M2 bilan bog'liq</a:t>
            </a:r>
            <a:endParaRPr lang="en-US" sz="1600" dirty="0"/>
          </a:p>
        </p:txBody>
      </p:sp>
      <p:sp>
        <p:nvSpPr>
          <p:cNvPr id="28" name="Text 26"/>
          <p:cNvSpPr txBox="1"/>
          <p:nvPr/>
        </p:nvSpPr>
        <p:spPr>
          <a:xfrm>
            <a:off x="3154680" y="4828032"/>
            <a:ext cx="8321040" cy="62179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Mover jarayoni = foydalanuvchini bitta G guruhdan boshqasiga o'tkazish. Qayta sertifikatlash = G guruhlar a'zolarini tekshirish.</a:t>
            </a:r>
            <a:endParaRPr lang="en-US" sz="1500" dirty="0"/>
          </a:p>
        </p:txBody>
      </p:sp>
      <p:sp>
        <p:nvSpPr>
          <p:cNvPr id="29" name="Shape 27"/>
          <p:cNvSpPr/>
          <p:nvPr/>
        </p:nvSpPr>
        <p:spPr>
          <a:xfrm>
            <a:off x="548640" y="5541264"/>
            <a:ext cx="11064240" cy="621792"/>
          </a:xfrm>
          <a:prstGeom prst="roundRect">
            <a:avLst>
              <a:gd name="adj" fmla="val 13235"/>
            </a:avLst>
          </a:prstGeom>
          <a:solidFill>
            <a:srgbClr val="F7ECEA"/>
          </a:solidFill>
          <a:ln/>
        </p:spPr>
      </p:sp>
      <p:sp>
        <p:nvSpPr>
          <p:cNvPr id="30" name="Text 28"/>
          <p:cNvSpPr txBox="1"/>
          <p:nvPr/>
        </p:nvSpPr>
        <p:spPr>
          <a:xfrm>
            <a:off x="777240" y="5541264"/>
            <a:ext cx="2377440" cy="621792"/>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Xavf</a:t>
            </a:r>
            <a:endParaRPr lang="en-US" sz="1600" dirty="0"/>
          </a:p>
        </p:txBody>
      </p:sp>
      <p:sp>
        <p:nvSpPr>
          <p:cNvPr id="31" name="Text 29"/>
          <p:cNvSpPr txBox="1"/>
          <p:nvPr/>
        </p:nvSpPr>
        <p:spPr>
          <a:xfrm>
            <a:off x="3154680" y="5541264"/>
            <a:ext cx="8321040" cy="62179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Domain Admins va Enterprise Admins — eng yuqori imtiyoz. A'zolar soni minimal, kundalik ish uchun ishlatilmaydi.</a:t>
            </a:r>
            <a:endParaRPr lang="en-US" sz="1500" dirty="0"/>
          </a:p>
        </p:txBody>
      </p:sp>
      <p:sp>
        <p:nvSpPr>
          <p:cNvPr id="32" name="Text 3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33" name="Text 3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sp>
      <p:sp>
        <p:nvSpPr>
          <p:cNvPr id="3" name="Text 1"/>
          <p:cNvSpPr txBox="1"/>
          <p:nvPr/>
        </p:nvSpPr>
        <p:spPr>
          <a:xfrm>
            <a:off x="1005840" y="2286000"/>
            <a:ext cx="5486400" cy="411480"/>
          </a:xfrm>
          <a:prstGeom prst="rect">
            <a:avLst/>
          </a:prstGeom>
          <a:noFill/>
          <a:ln/>
        </p:spPr>
        <p:txBody>
          <a:bodyPr wrap="square" lIns="0" tIns="0" rIns="0" bIns="0" rtlCol="0" anchor="ctr"/>
          <a:lstStyle/>
          <a:p>
            <a:pPr indent="0" marL="0">
              <a:buNone/>
            </a:pPr>
            <a:r>
              <a:rPr lang="en-US" sz="1600" b="1" spc="300" kern="0" dirty="0">
                <a:solidFill>
                  <a:srgbClr val="9FB0E0"/>
                </a:solidFill>
                <a:latin typeface="Times New Roman" pitchFamily="34" charset="0"/>
                <a:ea typeface="Times New Roman" pitchFamily="34" charset="-122"/>
                <a:cs typeface="Times New Roman" pitchFamily="34" charset="-120"/>
              </a:rPr>
              <a:t>II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Times New Roman" pitchFamily="34" charset="0"/>
                <a:ea typeface="Times New Roman" pitchFamily="34" charset="-122"/>
                <a:cs typeface="Times New Roman" pitchFamily="34" charset="-120"/>
              </a:rPr>
              <a:t>Kerberos</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indent="0" marL="0">
              <a:buNone/>
            </a:pPr>
            <a:r>
              <a:rPr lang="en-US" sz="2000" dirty="0">
                <a:solidFill>
                  <a:srgbClr val="CADCFC"/>
                </a:solidFill>
                <a:latin typeface="Times New Roman" pitchFamily="34" charset="0"/>
                <a:ea typeface="Times New Roman" pitchFamily="34" charset="-122"/>
                <a:cs typeface="Times New Roman" pitchFamily="34" charset="-120"/>
              </a:rPr>
              <a:t>Chiptalar · KDC · Hujumlar · Windows namoyishi</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algn="ctr" indent="0" marL="0">
              <a:buNone/>
            </a:pPr>
            <a:r>
              <a:rPr lang="en-US" sz="13000" b="1" dirty="0">
                <a:solidFill>
                  <a:srgbClr val="2A3778"/>
                </a:solidFill>
                <a:latin typeface="Times New Roman" pitchFamily="34" charset="0"/>
                <a:ea typeface="Times New Roman" pitchFamily="34" charset="-122"/>
                <a:cs typeface="Times New Roman" pitchFamily="34" charset="-120"/>
              </a:rPr>
              <a:t>II</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KERBEROS G'OYASI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Parol bir marta — keyin faqat chiptalar</a:t>
            </a:r>
            <a:endParaRPr lang="en-US" sz="3600" dirty="0"/>
          </a:p>
        </p:txBody>
      </p:sp>
      <p:sp>
        <p:nvSpPr>
          <p:cNvPr id="4" name="Shape 2"/>
          <p:cNvSpPr/>
          <p:nvPr/>
        </p:nvSpPr>
        <p:spPr>
          <a:xfrm>
            <a:off x="548640" y="1783080"/>
            <a:ext cx="3566160" cy="1737360"/>
          </a:xfrm>
          <a:prstGeom prst="roundRect">
            <a:avLst>
              <a:gd name="adj" fmla="val 4737"/>
            </a:avLst>
          </a:prstGeom>
          <a:solidFill>
            <a:srgbClr val="EEF2FB"/>
          </a:solidFill>
          <a:ln/>
        </p:spPr>
      </p:sp>
      <p:sp>
        <p:nvSpPr>
          <p:cNvPr id="5" name="Shape 3"/>
          <p:cNvSpPr/>
          <p:nvPr/>
        </p:nvSpPr>
        <p:spPr>
          <a:xfrm>
            <a:off x="777240" y="2011680"/>
            <a:ext cx="640080" cy="640080"/>
          </a:xfrm>
          <a:prstGeom prst="ellipse">
            <a:avLst/>
          </a:prstGeom>
          <a:solidFill>
            <a:srgbClr val="1E2761"/>
          </a:solidFill>
          <a:ln/>
        </p:spPr>
      </p:sp>
      <p:pic>
        <p:nvPicPr>
          <p:cNvPr id="6" name="Image 0" descr="/home/claude/fob-slides/icons_out/users_white.png"/>
          <p:cNvPicPr>
            <a:picLocks noChangeAspect="1"/>
          </p:cNvPicPr>
          <p:nvPr/>
        </p:nvPicPr>
        <p:blipFill>
          <a:blip r:embed="rId1"/>
          <a:stretch>
            <a:fillRect/>
          </a:stretch>
        </p:blipFill>
        <p:spPr>
          <a:xfrm>
            <a:off x="921258" y="2155698"/>
            <a:ext cx="352044" cy="352044"/>
          </a:xfrm>
          <a:prstGeom prst="rect">
            <a:avLst/>
          </a:prstGeom>
        </p:spPr>
      </p:pic>
      <p:sp>
        <p:nvSpPr>
          <p:cNvPr id="7" name="Text 4"/>
          <p:cNvSpPr txBox="1"/>
          <p:nvPr/>
        </p:nvSpPr>
        <p:spPr>
          <a:xfrm>
            <a:off x="1554480" y="2011680"/>
            <a:ext cx="2377440" cy="640080"/>
          </a:xfrm>
          <a:prstGeom prst="rect">
            <a:avLst/>
          </a:prstGeom>
          <a:noFill/>
          <a:ln/>
        </p:spPr>
        <p:txBody>
          <a:bodyPr wrap="square" lIns="0" tIns="0" rIns="0" bIns="0" rtlCol="0" anchor="ctr"/>
          <a:lstStyle/>
          <a:p>
            <a:pPr algn="l" indent="0" marL="0">
              <a:lnSpc>
                <a:spcPct val="100000"/>
              </a:lnSpc>
              <a:buNone/>
            </a:pPr>
            <a:r>
              <a:rPr lang="en-US" sz="2200" b="1" dirty="0">
                <a:solidFill>
                  <a:srgbClr val="1E2761"/>
                </a:solidFill>
                <a:latin typeface="Times New Roman" pitchFamily="34" charset="0"/>
                <a:ea typeface="Times New Roman" pitchFamily="34" charset="-122"/>
                <a:cs typeface="Times New Roman" pitchFamily="34" charset="-120"/>
              </a:rPr>
              <a:t>Mijoz</a:t>
            </a:r>
            <a:endParaRPr lang="en-US" sz="2200" dirty="0"/>
          </a:p>
        </p:txBody>
      </p:sp>
      <p:sp>
        <p:nvSpPr>
          <p:cNvPr id="8" name="Text 5"/>
          <p:cNvSpPr txBox="1"/>
          <p:nvPr/>
        </p:nvSpPr>
        <p:spPr>
          <a:xfrm>
            <a:off x="777240" y="2743200"/>
            <a:ext cx="3108960" cy="7315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Foydalanuvchi kompyuteri</a:t>
            </a:r>
            <a:endParaRPr lang="en-US" sz="1600" dirty="0"/>
          </a:p>
        </p:txBody>
      </p:sp>
      <p:sp>
        <p:nvSpPr>
          <p:cNvPr id="9" name="Shape 6"/>
          <p:cNvSpPr/>
          <p:nvPr/>
        </p:nvSpPr>
        <p:spPr>
          <a:xfrm>
            <a:off x="4297680" y="1783080"/>
            <a:ext cx="3566160" cy="1737360"/>
          </a:xfrm>
          <a:prstGeom prst="roundRect">
            <a:avLst>
              <a:gd name="adj" fmla="val 4737"/>
            </a:avLst>
          </a:prstGeom>
          <a:solidFill>
            <a:srgbClr val="1E2761"/>
          </a:solidFill>
          <a:ln/>
        </p:spPr>
      </p:sp>
      <p:sp>
        <p:nvSpPr>
          <p:cNvPr id="10" name="Shape 7"/>
          <p:cNvSpPr/>
          <p:nvPr/>
        </p:nvSpPr>
        <p:spPr>
          <a:xfrm>
            <a:off x="4526280" y="2011680"/>
            <a:ext cx="640080" cy="640080"/>
          </a:xfrm>
          <a:prstGeom prst="ellipse">
            <a:avLst/>
          </a:prstGeom>
          <a:solidFill>
            <a:srgbClr val="2A3778"/>
          </a:solidFill>
          <a:ln/>
        </p:spPr>
      </p:sp>
      <p:pic>
        <p:nvPicPr>
          <p:cNvPr id="11" name="Image 1" descr="/home/claude/fob-slides/icons_out/server_white.png"/>
          <p:cNvPicPr>
            <a:picLocks noChangeAspect="1"/>
          </p:cNvPicPr>
          <p:nvPr/>
        </p:nvPicPr>
        <p:blipFill>
          <a:blip r:embed="rId2"/>
          <a:stretch>
            <a:fillRect/>
          </a:stretch>
        </p:blipFill>
        <p:spPr>
          <a:xfrm>
            <a:off x="4670298" y="2155698"/>
            <a:ext cx="352044" cy="352044"/>
          </a:xfrm>
          <a:prstGeom prst="rect">
            <a:avLst/>
          </a:prstGeom>
        </p:spPr>
      </p:pic>
      <p:sp>
        <p:nvSpPr>
          <p:cNvPr id="12" name="Text 8"/>
          <p:cNvSpPr txBox="1"/>
          <p:nvPr/>
        </p:nvSpPr>
        <p:spPr>
          <a:xfrm>
            <a:off x="5303520" y="2011680"/>
            <a:ext cx="2377440" cy="640080"/>
          </a:xfrm>
          <a:prstGeom prst="rect">
            <a:avLst/>
          </a:prstGeom>
          <a:noFill/>
          <a:ln/>
        </p:spPr>
        <p:txBody>
          <a:bodyPr wrap="square" lIns="0" tIns="0" rIns="0" bIns="0" rtlCol="0" anchor="ctr"/>
          <a:lstStyle/>
          <a:p>
            <a:pPr algn="l"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KDC</a:t>
            </a:r>
            <a:endParaRPr lang="en-US" sz="2200" dirty="0"/>
          </a:p>
        </p:txBody>
      </p:sp>
      <p:sp>
        <p:nvSpPr>
          <p:cNvPr id="13" name="Text 9"/>
          <p:cNvSpPr txBox="1"/>
          <p:nvPr/>
        </p:nvSpPr>
        <p:spPr>
          <a:xfrm>
            <a:off x="4526280" y="2743200"/>
            <a:ext cx="3108960" cy="731520"/>
          </a:xfrm>
          <a:prstGeom prst="rect">
            <a:avLst/>
          </a:prstGeom>
          <a:noFill/>
          <a:ln/>
        </p:spPr>
        <p:txBody>
          <a:bodyPr wrap="square" lIns="0" tIns="0" rIns="0" bIns="0" rtlCol="0" anchor="t"/>
          <a:lstStyle/>
          <a:p>
            <a:pPr algn="l"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AS + TGS; Windows'da — har bir domen kontrolleri</a:t>
            </a:r>
            <a:endParaRPr lang="en-US" sz="1600" dirty="0"/>
          </a:p>
        </p:txBody>
      </p:sp>
      <p:sp>
        <p:nvSpPr>
          <p:cNvPr id="14" name="Shape 10"/>
          <p:cNvSpPr/>
          <p:nvPr/>
        </p:nvSpPr>
        <p:spPr>
          <a:xfrm>
            <a:off x="8046720" y="1783080"/>
            <a:ext cx="3566160" cy="1737360"/>
          </a:xfrm>
          <a:prstGeom prst="roundRect">
            <a:avLst>
              <a:gd name="adj" fmla="val 4737"/>
            </a:avLst>
          </a:prstGeom>
          <a:solidFill>
            <a:srgbClr val="EEF2FB"/>
          </a:solidFill>
          <a:ln/>
        </p:spPr>
      </p:sp>
      <p:sp>
        <p:nvSpPr>
          <p:cNvPr id="15" name="Shape 11"/>
          <p:cNvSpPr/>
          <p:nvPr/>
        </p:nvSpPr>
        <p:spPr>
          <a:xfrm>
            <a:off x="8275320" y="2011680"/>
            <a:ext cx="640080" cy="640080"/>
          </a:xfrm>
          <a:prstGeom prst="ellipse">
            <a:avLst/>
          </a:prstGeom>
          <a:solidFill>
            <a:srgbClr val="1E2761"/>
          </a:solidFill>
          <a:ln/>
        </p:spPr>
      </p:sp>
      <p:pic>
        <p:nvPicPr>
          <p:cNvPr id="16" name="Image 2" descr="/home/claude/fob-slides/icons_out/database_white.png"/>
          <p:cNvPicPr>
            <a:picLocks noChangeAspect="1"/>
          </p:cNvPicPr>
          <p:nvPr/>
        </p:nvPicPr>
        <p:blipFill>
          <a:blip r:embed="rId3"/>
          <a:stretch>
            <a:fillRect/>
          </a:stretch>
        </p:blipFill>
        <p:spPr>
          <a:xfrm>
            <a:off x="8419338" y="2155698"/>
            <a:ext cx="352044" cy="352044"/>
          </a:xfrm>
          <a:prstGeom prst="rect">
            <a:avLst/>
          </a:prstGeom>
        </p:spPr>
      </p:pic>
      <p:sp>
        <p:nvSpPr>
          <p:cNvPr id="17" name="Text 12"/>
          <p:cNvSpPr txBox="1"/>
          <p:nvPr/>
        </p:nvSpPr>
        <p:spPr>
          <a:xfrm>
            <a:off x="9052560" y="2011680"/>
            <a:ext cx="2377440" cy="640080"/>
          </a:xfrm>
          <a:prstGeom prst="rect">
            <a:avLst/>
          </a:prstGeom>
          <a:noFill/>
          <a:ln/>
        </p:spPr>
        <p:txBody>
          <a:bodyPr wrap="square" lIns="0" tIns="0" rIns="0" bIns="0" rtlCol="0" anchor="ctr"/>
          <a:lstStyle/>
          <a:p>
            <a:pPr algn="l" indent="0" marL="0">
              <a:lnSpc>
                <a:spcPct val="100000"/>
              </a:lnSpc>
              <a:buNone/>
            </a:pPr>
            <a:r>
              <a:rPr lang="en-US" sz="2200" b="1" dirty="0">
                <a:solidFill>
                  <a:srgbClr val="1E2761"/>
                </a:solidFill>
                <a:latin typeface="Times New Roman" pitchFamily="34" charset="0"/>
                <a:ea typeface="Times New Roman" pitchFamily="34" charset="-122"/>
                <a:cs typeface="Times New Roman" pitchFamily="34" charset="-120"/>
              </a:rPr>
              <a:t>Xizmat</a:t>
            </a:r>
            <a:endParaRPr lang="en-US" sz="2200" dirty="0"/>
          </a:p>
        </p:txBody>
      </p:sp>
      <p:sp>
        <p:nvSpPr>
          <p:cNvPr id="18" name="Text 13"/>
          <p:cNvSpPr txBox="1"/>
          <p:nvPr/>
        </p:nvSpPr>
        <p:spPr>
          <a:xfrm>
            <a:off x="8275320" y="2743200"/>
            <a:ext cx="3108960" cy="7315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Fayl server, SQL, veb-ilova — SPN bilan nomlangan</a:t>
            </a:r>
            <a:endParaRPr lang="en-US" sz="1600" dirty="0"/>
          </a:p>
        </p:txBody>
      </p:sp>
      <p:sp>
        <p:nvSpPr>
          <p:cNvPr id="19" name="Shape 14"/>
          <p:cNvSpPr/>
          <p:nvPr/>
        </p:nvSpPr>
        <p:spPr>
          <a:xfrm>
            <a:off x="548640" y="3749040"/>
            <a:ext cx="5486400" cy="1097280"/>
          </a:xfrm>
          <a:prstGeom prst="roundRect">
            <a:avLst>
              <a:gd name="adj" fmla="val 7500"/>
            </a:avLst>
          </a:prstGeom>
          <a:solidFill>
            <a:srgbClr val="CADCFC"/>
          </a:solidFill>
          <a:ln/>
        </p:spPr>
      </p:sp>
      <p:sp>
        <p:nvSpPr>
          <p:cNvPr id="20" name="Text 15"/>
          <p:cNvSpPr txBox="1"/>
          <p:nvPr/>
        </p:nvSpPr>
        <p:spPr>
          <a:xfrm>
            <a:off x="777240" y="3840480"/>
            <a:ext cx="502920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Parol tarmoqdan uzatilmaydi</a:t>
            </a:r>
            <a:endParaRPr lang="en-US" sz="1800" dirty="0"/>
          </a:p>
        </p:txBody>
      </p:sp>
      <p:sp>
        <p:nvSpPr>
          <p:cNvPr id="21" name="Text 16"/>
          <p:cNvSpPr txBox="1"/>
          <p:nvPr/>
        </p:nvSpPr>
        <p:spPr>
          <a:xfrm>
            <a:off x="777240" y="4251960"/>
            <a:ext cx="5029200" cy="5486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Undan hosil qilingan kalit bilan faqat vaqt tamg'asi shifrlanadi</a:t>
            </a:r>
            <a:endParaRPr lang="en-US" sz="1600" dirty="0"/>
          </a:p>
        </p:txBody>
      </p:sp>
      <p:sp>
        <p:nvSpPr>
          <p:cNvPr id="22" name="Shape 17"/>
          <p:cNvSpPr/>
          <p:nvPr/>
        </p:nvSpPr>
        <p:spPr>
          <a:xfrm>
            <a:off x="6126480" y="3749040"/>
            <a:ext cx="5486400" cy="1097280"/>
          </a:xfrm>
          <a:prstGeom prst="roundRect">
            <a:avLst>
              <a:gd name="adj" fmla="val 7500"/>
            </a:avLst>
          </a:prstGeom>
          <a:solidFill>
            <a:srgbClr val="CADCFC"/>
          </a:solidFill>
          <a:ln/>
        </p:spPr>
      </p:sp>
      <p:sp>
        <p:nvSpPr>
          <p:cNvPr id="23" name="Text 18"/>
          <p:cNvSpPr txBox="1"/>
          <p:nvPr/>
        </p:nvSpPr>
        <p:spPr>
          <a:xfrm>
            <a:off x="6355080" y="3840480"/>
            <a:ext cx="502920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TGT — «chipta beruvchi chipta»</a:t>
            </a:r>
            <a:endParaRPr lang="en-US" sz="1800" dirty="0"/>
          </a:p>
        </p:txBody>
      </p:sp>
      <p:sp>
        <p:nvSpPr>
          <p:cNvPr id="24" name="Text 19"/>
          <p:cNvSpPr txBox="1"/>
          <p:nvPr/>
        </p:nvSpPr>
        <p:spPr>
          <a:xfrm>
            <a:off x="6355080" y="4251960"/>
            <a:ext cx="5029200" cy="5486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Kun davomida (odatda 10 soat) boshqa chiptalarni olish uchun</a:t>
            </a:r>
            <a:endParaRPr lang="en-US" sz="1600" dirty="0"/>
          </a:p>
        </p:txBody>
      </p:sp>
      <p:sp>
        <p:nvSpPr>
          <p:cNvPr id="25" name="Shape 20"/>
          <p:cNvSpPr/>
          <p:nvPr/>
        </p:nvSpPr>
        <p:spPr>
          <a:xfrm>
            <a:off x="548640" y="4983480"/>
            <a:ext cx="5486400" cy="1097280"/>
          </a:xfrm>
          <a:prstGeom prst="roundRect">
            <a:avLst>
              <a:gd name="adj" fmla="val 7500"/>
            </a:avLst>
          </a:prstGeom>
          <a:solidFill>
            <a:srgbClr val="CADCFC"/>
          </a:solidFill>
          <a:ln/>
        </p:spPr>
      </p:sp>
      <p:sp>
        <p:nvSpPr>
          <p:cNvPr id="26" name="Text 21"/>
          <p:cNvSpPr txBox="1"/>
          <p:nvPr/>
        </p:nvSpPr>
        <p:spPr>
          <a:xfrm>
            <a:off x="777240" y="5074920"/>
            <a:ext cx="502920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Xizmat chiptasi</a:t>
            </a:r>
            <a:endParaRPr lang="en-US" sz="1800" dirty="0"/>
          </a:p>
        </p:txBody>
      </p:sp>
      <p:sp>
        <p:nvSpPr>
          <p:cNvPr id="27" name="Text 22"/>
          <p:cNvSpPr txBox="1"/>
          <p:nvPr/>
        </p:nvSpPr>
        <p:spPr>
          <a:xfrm>
            <a:off x="777240" y="5486400"/>
            <a:ext cx="5029200" cy="5486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Har bir xizmat uchun alohida; ichida foydalanuvchi guruhlari (PAC)</a:t>
            </a:r>
            <a:endParaRPr lang="en-US" sz="1600" dirty="0"/>
          </a:p>
        </p:txBody>
      </p:sp>
      <p:sp>
        <p:nvSpPr>
          <p:cNvPr id="28" name="Shape 23"/>
          <p:cNvSpPr/>
          <p:nvPr/>
        </p:nvSpPr>
        <p:spPr>
          <a:xfrm>
            <a:off x="6126480" y="4983480"/>
            <a:ext cx="5486400" cy="1097280"/>
          </a:xfrm>
          <a:prstGeom prst="roundRect">
            <a:avLst>
              <a:gd name="adj" fmla="val 7500"/>
            </a:avLst>
          </a:prstGeom>
          <a:solidFill>
            <a:srgbClr val="FDF3E2"/>
          </a:solidFill>
          <a:ln/>
        </p:spPr>
      </p:sp>
      <p:sp>
        <p:nvSpPr>
          <p:cNvPr id="29" name="Text 24"/>
          <p:cNvSpPr txBox="1"/>
          <p:nvPr/>
        </p:nvSpPr>
        <p:spPr>
          <a:xfrm>
            <a:off x="6355080" y="5074920"/>
            <a:ext cx="5029200" cy="411480"/>
          </a:xfrm>
          <a:prstGeom prst="rect">
            <a:avLst/>
          </a:prstGeom>
          <a:noFill/>
          <a:ln/>
        </p:spPr>
        <p:txBody>
          <a:bodyPr wrap="square" lIns="0" tIns="0" rIns="0" bIns="0" rtlCol="0" anchor="t"/>
          <a:lstStyle/>
          <a:p>
            <a:pPr algn="l" indent="0" marL="0">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Vaqt muhim</a:t>
            </a:r>
            <a:endParaRPr lang="en-US" sz="1800" dirty="0"/>
          </a:p>
        </p:txBody>
      </p:sp>
      <p:sp>
        <p:nvSpPr>
          <p:cNvPr id="30" name="Text 25"/>
          <p:cNvSpPr txBox="1"/>
          <p:nvPr/>
        </p:nvSpPr>
        <p:spPr>
          <a:xfrm>
            <a:off x="6355080" y="5486400"/>
            <a:ext cx="5029200" cy="5486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Soatlar farqi 5 daqiqadan oshsa — kirish rad etiladi</a:t>
            </a:r>
            <a:endParaRPr lang="en-US" sz="1600" dirty="0"/>
          </a:p>
        </p:txBody>
      </p:sp>
      <p:sp>
        <p:nvSpPr>
          <p:cNvPr id="31" name="Text 2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32" name="Text 2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KERBEROS PROTOKOLI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Olti xabar: kirishdan fayl serverigacha</a:t>
            </a:r>
            <a:endParaRPr lang="en-US" sz="3600" dirty="0"/>
          </a:p>
        </p:txBody>
      </p:sp>
      <p:sp>
        <p:nvSpPr>
          <p:cNvPr id="4" name="Shape 2"/>
          <p:cNvSpPr/>
          <p:nvPr/>
        </p:nvSpPr>
        <p:spPr>
          <a:xfrm>
            <a:off x="548640" y="1737360"/>
            <a:ext cx="3017520" cy="502920"/>
          </a:xfrm>
          <a:prstGeom prst="roundRect">
            <a:avLst>
              <a:gd name="adj" fmla="val 16364"/>
            </a:avLst>
          </a:prstGeom>
          <a:solidFill>
            <a:srgbClr val="1E2761"/>
          </a:solidFill>
          <a:ln/>
        </p:spPr>
      </p:sp>
      <p:sp>
        <p:nvSpPr>
          <p:cNvPr id="5" name="Text 3"/>
          <p:cNvSpPr txBox="1"/>
          <p:nvPr/>
        </p:nvSpPr>
        <p:spPr>
          <a:xfrm>
            <a:off x="548640" y="1737360"/>
            <a:ext cx="301752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Mijoz</a:t>
            </a:r>
            <a:endParaRPr lang="en-US" sz="1600" dirty="0"/>
          </a:p>
        </p:txBody>
      </p:sp>
      <p:sp>
        <p:nvSpPr>
          <p:cNvPr id="6" name="Shape 4"/>
          <p:cNvSpPr/>
          <p:nvPr/>
        </p:nvSpPr>
        <p:spPr>
          <a:xfrm>
            <a:off x="2057400" y="2240280"/>
            <a:ext cx="914" cy="3749040"/>
          </a:xfrm>
          <a:prstGeom prst="line">
            <a:avLst/>
          </a:prstGeom>
          <a:noFill/>
          <a:ln w="15875">
            <a:solidFill>
              <a:srgbClr val="9FB0E0"/>
            </a:solidFill>
            <a:prstDash val="dash"/>
          </a:ln>
        </p:spPr>
      </p:sp>
      <p:sp>
        <p:nvSpPr>
          <p:cNvPr id="7" name="Shape 5"/>
          <p:cNvSpPr/>
          <p:nvPr/>
        </p:nvSpPr>
        <p:spPr>
          <a:xfrm>
            <a:off x="4572000" y="1737360"/>
            <a:ext cx="3017520" cy="502920"/>
          </a:xfrm>
          <a:prstGeom prst="roundRect">
            <a:avLst>
              <a:gd name="adj" fmla="val 16364"/>
            </a:avLst>
          </a:prstGeom>
          <a:solidFill>
            <a:srgbClr val="1E2761"/>
          </a:solidFill>
          <a:ln/>
        </p:spPr>
      </p:sp>
      <p:sp>
        <p:nvSpPr>
          <p:cNvPr id="8" name="Text 6"/>
          <p:cNvSpPr txBox="1"/>
          <p:nvPr/>
        </p:nvSpPr>
        <p:spPr>
          <a:xfrm>
            <a:off x="4572000" y="1737360"/>
            <a:ext cx="301752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KDC (domen kontrolleri)</a:t>
            </a:r>
            <a:endParaRPr lang="en-US" sz="1600" dirty="0"/>
          </a:p>
        </p:txBody>
      </p:sp>
      <p:sp>
        <p:nvSpPr>
          <p:cNvPr id="9" name="Shape 7"/>
          <p:cNvSpPr/>
          <p:nvPr/>
        </p:nvSpPr>
        <p:spPr>
          <a:xfrm>
            <a:off x="6080760" y="2240280"/>
            <a:ext cx="914" cy="3749040"/>
          </a:xfrm>
          <a:prstGeom prst="line">
            <a:avLst/>
          </a:prstGeom>
          <a:noFill/>
          <a:ln w="15875">
            <a:solidFill>
              <a:srgbClr val="9FB0E0"/>
            </a:solidFill>
            <a:prstDash val="dash"/>
          </a:ln>
        </p:spPr>
      </p:sp>
      <p:sp>
        <p:nvSpPr>
          <p:cNvPr id="10" name="Shape 8"/>
          <p:cNvSpPr/>
          <p:nvPr/>
        </p:nvSpPr>
        <p:spPr>
          <a:xfrm>
            <a:off x="8595360" y="1737360"/>
            <a:ext cx="3017520" cy="502920"/>
          </a:xfrm>
          <a:prstGeom prst="roundRect">
            <a:avLst>
              <a:gd name="adj" fmla="val 16364"/>
            </a:avLst>
          </a:prstGeom>
          <a:solidFill>
            <a:srgbClr val="1E2761"/>
          </a:solidFill>
          <a:ln/>
        </p:spPr>
      </p:sp>
      <p:sp>
        <p:nvSpPr>
          <p:cNvPr id="11" name="Text 9"/>
          <p:cNvSpPr txBox="1"/>
          <p:nvPr/>
        </p:nvSpPr>
        <p:spPr>
          <a:xfrm>
            <a:off x="8595360" y="1737360"/>
            <a:ext cx="301752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Xizmat (fs.nuu.uz)</a:t>
            </a:r>
            <a:endParaRPr lang="en-US" sz="1600" dirty="0"/>
          </a:p>
        </p:txBody>
      </p:sp>
      <p:sp>
        <p:nvSpPr>
          <p:cNvPr id="12" name="Shape 10"/>
          <p:cNvSpPr/>
          <p:nvPr/>
        </p:nvSpPr>
        <p:spPr>
          <a:xfrm>
            <a:off x="10104120" y="2240280"/>
            <a:ext cx="914" cy="3749040"/>
          </a:xfrm>
          <a:prstGeom prst="line">
            <a:avLst/>
          </a:prstGeom>
          <a:noFill/>
          <a:ln w="15875">
            <a:solidFill>
              <a:srgbClr val="9FB0E0"/>
            </a:solidFill>
            <a:prstDash val="dash"/>
          </a:ln>
        </p:spPr>
      </p:sp>
      <p:sp>
        <p:nvSpPr>
          <p:cNvPr id="13" name="Shape 11"/>
          <p:cNvSpPr/>
          <p:nvPr/>
        </p:nvSpPr>
        <p:spPr>
          <a:xfrm>
            <a:off x="2057400" y="2852928"/>
            <a:ext cx="4023360" cy="0"/>
          </a:xfrm>
          <a:prstGeom prst="line">
            <a:avLst/>
          </a:prstGeom>
          <a:noFill/>
          <a:ln w="25400">
            <a:solidFill>
              <a:srgbClr val="1E2761"/>
            </a:solidFill>
            <a:prstDash val="solid"/>
            <a:tailEnd type="triangle"/>
          </a:ln>
        </p:spPr>
      </p:sp>
      <p:sp>
        <p:nvSpPr>
          <p:cNvPr id="14" name="Shape 12"/>
          <p:cNvSpPr/>
          <p:nvPr/>
        </p:nvSpPr>
        <p:spPr>
          <a:xfrm>
            <a:off x="2194560" y="2487168"/>
            <a:ext cx="310896" cy="310896"/>
          </a:xfrm>
          <a:prstGeom prst="ellipse">
            <a:avLst/>
          </a:prstGeom>
          <a:solidFill>
            <a:srgbClr val="1E2761"/>
          </a:solidFill>
          <a:ln/>
        </p:spPr>
      </p:sp>
      <p:sp>
        <p:nvSpPr>
          <p:cNvPr id="15" name="Text 13"/>
          <p:cNvSpPr txBox="1"/>
          <p:nvPr/>
        </p:nvSpPr>
        <p:spPr>
          <a:xfrm>
            <a:off x="2194560" y="248716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1</a:t>
            </a:r>
            <a:endParaRPr lang="en-US" sz="1100" dirty="0"/>
          </a:p>
        </p:txBody>
      </p:sp>
      <p:sp>
        <p:nvSpPr>
          <p:cNvPr id="16" name="Text 14"/>
          <p:cNvSpPr txBox="1"/>
          <p:nvPr/>
        </p:nvSpPr>
        <p:spPr>
          <a:xfrm>
            <a:off x="2578608" y="2450592"/>
            <a:ext cx="338328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AS-REQ: shifrlangan vaqt tamg'asi</a:t>
            </a:r>
            <a:endParaRPr lang="en-US" sz="1400" dirty="0"/>
          </a:p>
        </p:txBody>
      </p:sp>
      <p:sp>
        <p:nvSpPr>
          <p:cNvPr id="17" name="Shape 15"/>
          <p:cNvSpPr/>
          <p:nvPr/>
        </p:nvSpPr>
        <p:spPr>
          <a:xfrm flipH="1">
            <a:off x="2057400" y="3447288"/>
            <a:ext cx="4023360" cy="0"/>
          </a:xfrm>
          <a:prstGeom prst="line">
            <a:avLst/>
          </a:prstGeom>
          <a:noFill/>
          <a:ln w="25400">
            <a:solidFill>
              <a:srgbClr val="1E2761"/>
            </a:solidFill>
            <a:prstDash val="solid"/>
            <a:tailEnd type="triangle"/>
          </a:ln>
        </p:spPr>
      </p:sp>
      <p:sp>
        <p:nvSpPr>
          <p:cNvPr id="18" name="Shape 16"/>
          <p:cNvSpPr/>
          <p:nvPr/>
        </p:nvSpPr>
        <p:spPr>
          <a:xfrm>
            <a:off x="2194560" y="3081528"/>
            <a:ext cx="310896" cy="310896"/>
          </a:xfrm>
          <a:prstGeom prst="ellipse">
            <a:avLst/>
          </a:prstGeom>
          <a:solidFill>
            <a:srgbClr val="1E2761"/>
          </a:solidFill>
          <a:ln/>
        </p:spPr>
      </p:sp>
      <p:sp>
        <p:nvSpPr>
          <p:cNvPr id="19" name="Text 17"/>
          <p:cNvSpPr txBox="1"/>
          <p:nvPr/>
        </p:nvSpPr>
        <p:spPr>
          <a:xfrm>
            <a:off x="2194560" y="308152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2</a:t>
            </a:r>
            <a:endParaRPr lang="en-US" sz="1100" dirty="0"/>
          </a:p>
        </p:txBody>
      </p:sp>
      <p:sp>
        <p:nvSpPr>
          <p:cNvPr id="20" name="Text 18"/>
          <p:cNvSpPr txBox="1"/>
          <p:nvPr/>
        </p:nvSpPr>
        <p:spPr>
          <a:xfrm>
            <a:off x="2578608" y="3044952"/>
            <a:ext cx="338328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AS-REP: TGT + seans kaliti</a:t>
            </a:r>
            <a:endParaRPr lang="en-US" sz="1400" dirty="0"/>
          </a:p>
        </p:txBody>
      </p:sp>
      <p:sp>
        <p:nvSpPr>
          <p:cNvPr id="21" name="Shape 19"/>
          <p:cNvSpPr/>
          <p:nvPr/>
        </p:nvSpPr>
        <p:spPr>
          <a:xfrm>
            <a:off x="2057400" y="4041648"/>
            <a:ext cx="4023360" cy="0"/>
          </a:xfrm>
          <a:prstGeom prst="line">
            <a:avLst/>
          </a:prstGeom>
          <a:noFill/>
          <a:ln w="25400">
            <a:solidFill>
              <a:srgbClr val="1E2761"/>
            </a:solidFill>
            <a:prstDash val="solid"/>
            <a:tailEnd type="triangle"/>
          </a:ln>
        </p:spPr>
      </p:sp>
      <p:sp>
        <p:nvSpPr>
          <p:cNvPr id="22" name="Shape 20"/>
          <p:cNvSpPr/>
          <p:nvPr/>
        </p:nvSpPr>
        <p:spPr>
          <a:xfrm>
            <a:off x="2194560" y="3675888"/>
            <a:ext cx="310896" cy="310896"/>
          </a:xfrm>
          <a:prstGeom prst="ellipse">
            <a:avLst/>
          </a:prstGeom>
          <a:solidFill>
            <a:srgbClr val="1E2761"/>
          </a:solidFill>
          <a:ln/>
        </p:spPr>
      </p:sp>
      <p:sp>
        <p:nvSpPr>
          <p:cNvPr id="23" name="Text 21"/>
          <p:cNvSpPr txBox="1"/>
          <p:nvPr/>
        </p:nvSpPr>
        <p:spPr>
          <a:xfrm>
            <a:off x="2194560" y="367588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3</a:t>
            </a:r>
            <a:endParaRPr lang="en-US" sz="1100" dirty="0"/>
          </a:p>
        </p:txBody>
      </p:sp>
      <p:sp>
        <p:nvSpPr>
          <p:cNvPr id="24" name="Text 22"/>
          <p:cNvSpPr txBox="1"/>
          <p:nvPr/>
        </p:nvSpPr>
        <p:spPr>
          <a:xfrm>
            <a:off x="2578608" y="3639312"/>
            <a:ext cx="338328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TGS-REQ: TGT + «cifs/fs.nuu.uz» xizmati</a:t>
            </a:r>
            <a:endParaRPr lang="en-US" sz="1400" dirty="0"/>
          </a:p>
        </p:txBody>
      </p:sp>
      <p:sp>
        <p:nvSpPr>
          <p:cNvPr id="25" name="Shape 23"/>
          <p:cNvSpPr/>
          <p:nvPr/>
        </p:nvSpPr>
        <p:spPr>
          <a:xfrm flipH="1">
            <a:off x="2057400" y="4636008"/>
            <a:ext cx="4023360" cy="0"/>
          </a:xfrm>
          <a:prstGeom prst="line">
            <a:avLst/>
          </a:prstGeom>
          <a:noFill/>
          <a:ln w="25400">
            <a:solidFill>
              <a:srgbClr val="1E2761"/>
            </a:solidFill>
            <a:prstDash val="solid"/>
            <a:tailEnd type="triangle"/>
          </a:ln>
        </p:spPr>
      </p:sp>
      <p:sp>
        <p:nvSpPr>
          <p:cNvPr id="26" name="Shape 24"/>
          <p:cNvSpPr/>
          <p:nvPr/>
        </p:nvSpPr>
        <p:spPr>
          <a:xfrm>
            <a:off x="2194560" y="4270248"/>
            <a:ext cx="310896" cy="310896"/>
          </a:xfrm>
          <a:prstGeom prst="ellipse">
            <a:avLst/>
          </a:prstGeom>
          <a:solidFill>
            <a:srgbClr val="1E2761"/>
          </a:solidFill>
          <a:ln/>
        </p:spPr>
      </p:sp>
      <p:sp>
        <p:nvSpPr>
          <p:cNvPr id="27" name="Text 25"/>
          <p:cNvSpPr txBox="1"/>
          <p:nvPr/>
        </p:nvSpPr>
        <p:spPr>
          <a:xfrm>
            <a:off x="2194560" y="427024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4</a:t>
            </a:r>
            <a:endParaRPr lang="en-US" sz="1100" dirty="0"/>
          </a:p>
        </p:txBody>
      </p:sp>
      <p:sp>
        <p:nvSpPr>
          <p:cNvPr id="28" name="Text 26"/>
          <p:cNvSpPr txBox="1"/>
          <p:nvPr/>
        </p:nvSpPr>
        <p:spPr>
          <a:xfrm>
            <a:off x="2578608" y="4233672"/>
            <a:ext cx="338328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TGS-REP: xizmat chiptasi</a:t>
            </a:r>
            <a:endParaRPr lang="en-US" sz="1400" dirty="0"/>
          </a:p>
        </p:txBody>
      </p:sp>
      <p:sp>
        <p:nvSpPr>
          <p:cNvPr id="29" name="Shape 27"/>
          <p:cNvSpPr/>
          <p:nvPr/>
        </p:nvSpPr>
        <p:spPr>
          <a:xfrm>
            <a:off x="2057400" y="5230368"/>
            <a:ext cx="8046720" cy="0"/>
          </a:xfrm>
          <a:prstGeom prst="line">
            <a:avLst/>
          </a:prstGeom>
          <a:noFill/>
          <a:ln w="25400">
            <a:solidFill>
              <a:srgbClr val="1F6B4A"/>
            </a:solidFill>
            <a:prstDash val="solid"/>
            <a:tailEnd type="triangle"/>
          </a:ln>
        </p:spPr>
      </p:sp>
      <p:sp>
        <p:nvSpPr>
          <p:cNvPr id="30" name="Shape 28"/>
          <p:cNvSpPr/>
          <p:nvPr/>
        </p:nvSpPr>
        <p:spPr>
          <a:xfrm>
            <a:off x="2194560" y="4864608"/>
            <a:ext cx="310896" cy="310896"/>
          </a:xfrm>
          <a:prstGeom prst="ellipse">
            <a:avLst/>
          </a:prstGeom>
          <a:solidFill>
            <a:srgbClr val="1F6B4A"/>
          </a:solidFill>
          <a:ln/>
        </p:spPr>
      </p:sp>
      <p:sp>
        <p:nvSpPr>
          <p:cNvPr id="31" name="Text 29"/>
          <p:cNvSpPr txBox="1"/>
          <p:nvPr/>
        </p:nvSpPr>
        <p:spPr>
          <a:xfrm>
            <a:off x="2194560" y="486460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32" name="Text 30"/>
          <p:cNvSpPr txBox="1"/>
          <p:nvPr/>
        </p:nvSpPr>
        <p:spPr>
          <a:xfrm>
            <a:off x="2578608" y="4828032"/>
            <a:ext cx="740664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AP-REQ: xizmat chiptasi + autentifikator</a:t>
            </a:r>
            <a:endParaRPr lang="en-US" sz="1400" dirty="0"/>
          </a:p>
        </p:txBody>
      </p:sp>
      <p:sp>
        <p:nvSpPr>
          <p:cNvPr id="33" name="Shape 31"/>
          <p:cNvSpPr/>
          <p:nvPr/>
        </p:nvSpPr>
        <p:spPr>
          <a:xfrm flipH="1">
            <a:off x="2057400" y="5824728"/>
            <a:ext cx="8046720" cy="0"/>
          </a:xfrm>
          <a:prstGeom prst="line">
            <a:avLst/>
          </a:prstGeom>
          <a:noFill/>
          <a:ln w="25400">
            <a:solidFill>
              <a:srgbClr val="1F6B4A"/>
            </a:solidFill>
            <a:prstDash val="solid"/>
            <a:tailEnd type="triangle"/>
          </a:ln>
        </p:spPr>
      </p:sp>
      <p:sp>
        <p:nvSpPr>
          <p:cNvPr id="34" name="Shape 32"/>
          <p:cNvSpPr/>
          <p:nvPr/>
        </p:nvSpPr>
        <p:spPr>
          <a:xfrm>
            <a:off x="2194560" y="5458968"/>
            <a:ext cx="310896" cy="310896"/>
          </a:xfrm>
          <a:prstGeom prst="ellipse">
            <a:avLst/>
          </a:prstGeom>
          <a:solidFill>
            <a:srgbClr val="1F6B4A"/>
          </a:solidFill>
          <a:ln/>
        </p:spPr>
      </p:sp>
      <p:sp>
        <p:nvSpPr>
          <p:cNvPr id="35" name="Text 33"/>
          <p:cNvSpPr txBox="1"/>
          <p:nvPr/>
        </p:nvSpPr>
        <p:spPr>
          <a:xfrm>
            <a:off x="2194560" y="545896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6</a:t>
            </a:r>
            <a:endParaRPr lang="en-US" sz="1100" dirty="0"/>
          </a:p>
        </p:txBody>
      </p:sp>
      <p:sp>
        <p:nvSpPr>
          <p:cNvPr id="36" name="Text 34"/>
          <p:cNvSpPr txBox="1"/>
          <p:nvPr/>
        </p:nvSpPr>
        <p:spPr>
          <a:xfrm>
            <a:off x="2578608" y="5422392"/>
            <a:ext cx="740664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AP-REP: o'zaro autentifikatsiya (ixtiyoriy)</a:t>
            </a:r>
            <a:endParaRPr lang="en-US" sz="1400" dirty="0"/>
          </a:p>
        </p:txBody>
      </p:sp>
      <p:sp>
        <p:nvSpPr>
          <p:cNvPr id="37" name="Text 35"/>
          <p:cNvSpPr txBox="1"/>
          <p:nvPr/>
        </p:nvSpPr>
        <p:spPr>
          <a:xfrm>
            <a:off x="548640" y="6053328"/>
            <a:ext cx="11064240" cy="36576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1–2: kirishda bir marta  ·  3–4: har bir yangi xizmat uchun  ·  5–6: xizmatga murojaat</a:t>
            </a:r>
            <a:endParaRPr lang="en-US" sz="1500" dirty="0"/>
          </a:p>
        </p:txBody>
      </p:sp>
      <p:sp>
        <p:nvSpPr>
          <p:cNvPr id="38" name="Text 3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39" name="Text 3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6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Qaysi kalit bilan shifrlangan?</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685800"/>
          </a:xfrm>
          <a:prstGeom prst="roundRect">
            <a:avLst>
              <a:gd name="adj" fmla="val 12000"/>
            </a:avLst>
          </a:prstGeom>
          <a:solidFill>
            <a:srgbClr val="FFFFFF"/>
          </a:solidFill>
          <a:ln/>
        </p:spPr>
      </p:sp>
      <p:sp>
        <p:nvSpPr>
          <p:cNvPr id="7" name="Text 4"/>
          <p:cNvSpPr txBox="1"/>
          <p:nvPr/>
        </p:nvSpPr>
        <p:spPr>
          <a:xfrm>
            <a:off x="868680" y="1783080"/>
            <a:ext cx="10424160" cy="685800"/>
          </a:xfrm>
          <a:prstGeom prst="rect">
            <a:avLst/>
          </a:prstGeom>
          <a:noFill/>
          <a:ln/>
        </p:spPr>
        <p:txBody>
          <a:bodyPr wrap="square" lIns="0" tIns="0" rIns="0" bIns="0" rtlCol="0" anchor="ctr"/>
          <a:lstStyle/>
          <a:p>
            <a:pPr algn="l" indent="0" marL="0">
              <a:lnSpc>
                <a:spcPct val="100000"/>
              </a:lnSpc>
              <a:buNone/>
            </a:pPr>
            <a:r>
              <a:rPr lang="en-US" sz="1800" dirty="0">
                <a:solidFill>
                  <a:srgbClr val="1B1B2A"/>
                </a:solidFill>
                <a:latin typeface="Times New Roman" pitchFamily="34" charset="0"/>
                <a:ea typeface="Times New Roman" pitchFamily="34" charset="-122"/>
                <a:cs typeface="Times New Roman" pitchFamily="34" charset="-120"/>
              </a:rPr>
              <a:t>Har bir element uchun kalitni tanlang: foydalanuvchi, krbtgt, xizmat yoki seans kaliti.</a:t>
            </a:r>
            <a:endParaRPr lang="en-US" sz="1800" dirty="0"/>
          </a:p>
        </p:txBody>
      </p:sp>
      <p:sp>
        <p:nvSpPr>
          <p:cNvPr id="8" name="Shape 5"/>
          <p:cNvSpPr/>
          <p:nvPr/>
        </p:nvSpPr>
        <p:spPr>
          <a:xfrm>
            <a:off x="548640" y="2651760"/>
            <a:ext cx="11064240" cy="731520"/>
          </a:xfrm>
          <a:prstGeom prst="roundRect">
            <a:avLst>
              <a:gd name="adj" fmla="val 11250"/>
            </a:avLst>
          </a:prstGeom>
          <a:solidFill>
            <a:srgbClr val="FFFFFF"/>
          </a:solidFill>
          <a:ln/>
        </p:spPr>
      </p:sp>
      <p:sp>
        <p:nvSpPr>
          <p:cNvPr id="9" name="Shape 6"/>
          <p:cNvSpPr/>
          <p:nvPr/>
        </p:nvSpPr>
        <p:spPr>
          <a:xfrm>
            <a:off x="548640" y="2651760"/>
            <a:ext cx="685800" cy="731520"/>
          </a:xfrm>
          <a:prstGeom prst="roundRect">
            <a:avLst>
              <a:gd name="adj" fmla="val 12000"/>
            </a:avLst>
          </a:prstGeom>
          <a:solidFill>
            <a:srgbClr val="D9932B"/>
          </a:solidFill>
          <a:ln/>
        </p:spPr>
      </p:sp>
      <p:sp>
        <p:nvSpPr>
          <p:cNvPr id="10" name="Text 7"/>
          <p:cNvSpPr txBox="1"/>
          <p:nvPr/>
        </p:nvSpPr>
        <p:spPr>
          <a:xfrm>
            <a:off x="548640" y="2651760"/>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1" name="Text 8"/>
          <p:cNvSpPr txBox="1"/>
          <p:nvPr/>
        </p:nvSpPr>
        <p:spPr>
          <a:xfrm>
            <a:off x="1417320" y="2651760"/>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AS-REQ dagi vaqt tamg'asi</a:t>
            </a:r>
            <a:endParaRPr lang="en-US" sz="1700" dirty="0"/>
          </a:p>
        </p:txBody>
      </p:sp>
      <p:sp>
        <p:nvSpPr>
          <p:cNvPr id="12" name="Shape 9"/>
          <p:cNvSpPr/>
          <p:nvPr/>
        </p:nvSpPr>
        <p:spPr>
          <a:xfrm>
            <a:off x="10012680" y="2770632"/>
            <a:ext cx="1417320" cy="493776"/>
          </a:xfrm>
          <a:prstGeom prst="roundRect">
            <a:avLst>
              <a:gd name="adj" fmla="val 16667"/>
            </a:avLst>
          </a:prstGeom>
          <a:solidFill>
            <a:srgbClr val="FDF3E2"/>
          </a:solidFill>
          <a:ln w="12700">
            <a:solidFill>
              <a:srgbClr val="D9932B"/>
            </a:solidFill>
            <a:prstDash val="solid"/>
          </a:ln>
        </p:spPr>
      </p:sp>
      <p:sp>
        <p:nvSpPr>
          <p:cNvPr id="13" name="Text 10"/>
          <p:cNvSpPr txBox="1"/>
          <p:nvPr/>
        </p:nvSpPr>
        <p:spPr>
          <a:xfrm>
            <a:off x="10012680" y="2770632"/>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14" name="Shape 11"/>
          <p:cNvSpPr/>
          <p:nvPr/>
        </p:nvSpPr>
        <p:spPr>
          <a:xfrm>
            <a:off x="548640" y="3502152"/>
            <a:ext cx="11064240" cy="731520"/>
          </a:xfrm>
          <a:prstGeom prst="roundRect">
            <a:avLst>
              <a:gd name="adj" fmla="val 11250"/>
            </a:avLst>
          </a:prstGeom>
          <a:solidFill>
            <a:srgbClr val="FFFFFF"/>
          </a:solidFill>
          <a:ln/>
        </p:spPr>
      </p:sp>
      <p:sp>
        <p:nvSpPr>
          <p:cNvPr id="15" name="Shape 12"/>
          <p:cNvSpPr/>
          <p:nvPr/>
        </p:nvSpPr>
        <p:spPr>
          <a:xfrm>
            <a:off x="548640" y="3502152"/>
            <a:ext cx="685800" cy="731520"/>
          </a:xfrm>
          <a:prstGeom prst="roundRect">
            <a:avLst>
              <a:gd name="adj" fmla="val 12000"/>
            </a:avLst>
          </a:prstGeom>
          <a:solidFill>
            <a:srgbClr val="D9932B"/>
          </a:solidFill>
          <a:ln/>
        </p:spPr>
      </p:sp>
      <p:sp>
        <p:nvSpPr>
          <p:cNvPr id="16" name="Text 13"/>
          <p:cNvSpPr txBox="1"/>
          <p:nvPr/>
        </p:nvSpPr>
        <p:spPr>
          <a:xfrm>
            <a:off x="548640" y="3502152"/>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7" name="Text 14"/>
          <p:cNvSpPr txBox="1"/>
          <p:nvPr/>
        </p:nvSpPr>
        <p:spPr>
          <a:xfrm>
            <a:off x="1417320" y="3502152"/>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TGT (chipta beruvchi chipta)</a:t>
            </a:r>
            <a:endParaRPr lang="en-US" sz="1700" dirty="0"/>
          </a:p>
        </p:txBody>
      </p:sp>
      <p:sp>
        <p:nvSpPr>
          <p:cNvPr id="18" name="Shape 15"/>
          <p:cNvSpPr/>
          <p:nvPr/>
        </p:nvSpPr>
        <p:spPr>
          <a:xfrm>
            <a:off x="10012680" y="3621024"/>
            <a:ext cx="1417320" cy="493776"/>
          </a:xfrm>
          <a:prstGeom prst="roundRect">
            <a:avLst>
              <a:gd name="adj" fmla="val 16667"/>
            </a:avLst>
          </a:prstGeom>
          <a:solidFill>
            <a:srgbClr val="FDF3E2"/>
          </a:solidFill>
          <a:ln w="12700">
            <a:solidFill>
              <a:srgbClr val="D9932B"/>
            </a:solidFill>
            <a:prstDash val="solid"/>
          </a:ln>
        </p:spPr>
      </p:sp>
      <p:sp>
        <p:nvSpPr>
          <p:cNvPr id="19" name="Text 16"/>
          <p:cNvSpPr txBox="1"/>
          <p:nvPr/>
        </p:nvSpPr>
        <p:spPr>
          <a:xfrm>
            <a:off x="10012680" y="362102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20" name="Shape 17"/>
          <p:cNvSpPr/>
          <p:nvPr/>
        </p:nvSpPr>
        <p:spPr>
          <a:xfrm>
            <a:off x="548640" y="4352544"/>
            <a:ext cx="11064240" cy="731520"/>
          </a:xfrm>
          <a:prstGeom prst="roundRect">
            <a:avLst>
              <a:gd name="adj" fmla="val 11250"/>
            </a:avLst>
          </a:prstGeom>
          <a:solidFill>
            <a:srgbClr val="FFFFFF"/>
          </a:solidFill>
          <a:ln/>
        </p:spPr>
      </p:sp>
      <p:sp>
        <p:nvSpPr>
          <p:cNvPr id="21" name="Shape 18"/>
          <p:cNvSpPr/>
          <p:nvPr/>
        </p:nvSpPr>
        <p:spPr>
          <a:xfrm>
            <a:off x="548640" y="4352544"/>
            <a:ext cx="685800" cy="731520"/>
          </a:xfrm>
          <a:prstGeom prst="roundRect">
            <a:avLst>
              <a:gd name="adj" fmla="val 12000"/>
            </a:avLst>
          </a:prstGeom>
          <a:solidFill>
            <a:srgbClr val="D9932B"/>
          </a:solidFill>
          <a:ln/>
        </p:spPr>
      </p:sp>
      <p:sp>
        <p:nvSpPr>
          <p:cNvPr id="22" name="Text 19"/>
          <p:cNvSpPr txBox="1"/>
          <p:nvPr/>
        </p:nvSpPr>
        <p:spPr>
          <a:xfrm>
            <a:off x="548640" y="4352544"/>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3" name="Text 20"/>
          <p:cNvSpPr txBox="1"/>
          <p:nvPr/>
        </p:nvSpPr>
        <p:spPr>
          <a:xfrm>
            <a:off x="1417320" y="4352544"/>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fs.nuu.uz uchun xizmat chiptasi</a:t>
            </a:r>
            <a:endParaRPr lang="en-US" sz="1700" dirty="0"/>
          </a:p>
        </p:txBody>
      </p:sp>
      <p:sp>
        <p:nvSpPr>
          <p:cNvPr id="24" name="Shape 21"/>
          <p:cNvSpPr/>
          <p:nvPr/>
        </p:nvSpPr>
        <p:spPr>
          <a:xfrm>
            <a:off x="10012680" y="4471416"/>
            <a:ext cx="1417320" cy="493776"/>
          </a:xfrm>
          <a:prstGeom prst="roundRect">
            <a:avLst>
              <a:gd name="adj" fmla="val 16667"/>
            </a:avLst>
          </a:prstGeom>
          <a:solidFill>
            <a:srgbClr val="FDF3E2"/>
          </a:solidFill>
          <a:ln w="12700">
            <a:solidFill>
              <a:srgbClr val="D9932B"/>
            </a:solidFill>
            <a:prstDash val="solid"/>
          </a:ln>
        </p:spPr>
      </p:sp>
      <p:sp>
        <p:nvSpPr>
          <p:cNvPr id="25" name="Text 22"/>
          <p:cNvSpPr txBox="1"/>
          <p:nvPr/>
        </p:nvSpPr>
        <p:spPr>
          <a:xfrm>
            <a:off x="10012680" y="447141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26" name="Shape 23"/>
          <p:cNvSpPr/>
          <p:nvPr/>
        </p:nvSpPr>
        <p:spPr>
          <a:xfrm>
            <a:off x="548640" y="5202936"/>
            <a:ext cx="11064240" cy="731520"/>
          </a:xfrm>
          <a:prstGeom prst="roundRect">
            <a:avLst>
              <a:gd name="adj" fmla="val 11250"/>
            </a:avLst>
          </a:prstGeom>
          <a:solidFill>
            <a:srgbClr val="FFFFFF"/>
          </a:solidFill>
          <a:ln/>
        </p:spPr>
      </p:sp>
      <p:sp>
        <p:nvSpPr>
          <p:cNvPr id="27" name="Shape 24"/>
          <p:cNvSpPr/>
          <p:nvPr/>
        </p:nvSpPr>
        <p:spPr>
          <a:xfrm>
            <a:off x="548640" y="5202936"/>
            <a:ext cx="685800" cy="731520"/>
          </a:xfrm>
          <a:prstGeom prst="roundRect">
            <a:avLst>
              <a:gd name="adj" fmla="val 12000"/>
            </a:avLst>
          </a:prstGeom>
          <a:solidFill>
            <a:srgbClr val="D9932B"/>
          </a:solidFill>
          <a:ln/>
        </p:spPr>
      </p:sp>
      <p:sp>
        <p:nvSpPr>
          <p:cNvPr id="28" name="Text 25"/>
          <p:cNvSpPr txBox="1"/>
          <p:nvPr/>
        </p:nvSpPr>
        <p:spPr>
          <a:xfrm>
            <a:off x="548640" y="5202936"/>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9" name="Text 26"/>
          <p:cNvSpPr txBox="1"/>
          <p:nvPr/>
        </p:nvSpPr>
        <p:spPr>
          <a:xfrm>
            <a:off x="1417320" y="5202936"/>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Hujumchi xizmat chiptasini tutib oldi. U nimani oflayn buza oladi?</a:t>
            </a:r>
            <a:endParaRPr lang="en-US" sz="1700" dirty="0"/>
          </a:p>
        </p:txBody>
      </p:sp>
      <p:sp>
        <p:nvSpPr>
          <p:cNvPr id="30" name="Shape 27"/>
          <p:cNvSpPr/>
          <p:nvPr/>
        </p:nvSpPr>
        <p:spPr>
          <a:xfrm>
            <a:off x="10012680" y="5321808"/>
            <a:ext cx="1417320" cy="493776"/>
          </a:xfrm>
          <a:prstGeom prst="roundRect">
            <a:avLst>
              <a:gd name="adj" fmla="val 16667"/>
            </a:avLst>
          </a:prstGeom>
          <a:solidFill>
            <a:srgbClr val="FDF3E2"/>
          </a:solidFill>
          <a:ln w="12700">
            <a:solidFill>
              <a:srgbClr val="D9932B"/>
            </a:solidFill>
            <a:prstDash val="solid"/>
          </a:ln>
        </p:spPr>
      </p:sp>
      <p:sp>
        <p:nvSpPr>
          <p:cNvPr id="31" name="Text 28"/>
          <p:cNvSpPr txBox="1"/>
          <p:nvPr/>
        </p:nvSpPr>
        <p:spPr>
          <a:xfrm>
            <a:off x="10012680" y="5321808"/>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32" name="Text 29"/>
          <p:cNvSpPr txBox="1"/>
          <p:nvPr/>
        </p:nvSpPr>
        <p:spPr>
          <a:xfrm>
            <a:off x="548640" y="6126480"/>
            <a:ext cx="11064240" cy="320040"/>
          </a:xfrm>
          <a:prstGeom prst="rect">
            <a:avLst/>
          </a:prstGeom>
          <a:noFill/>
          <a:ln/>
        </p:spPr>
        <p:txBody>
          <a:bodyPr wrap="square" lIns="0" tIns="0" rIns="0" bIns="0" rtlCol="0" anchor="t"/>
          <a:lstStyle/>
          <a:p>
            <a:pPr algn="l" indent="0" marL="0">
              <a:lnSpc>
                <a:spcPct val="100000"/>
              </a:lnSpc>
              <a:buNone/>
            </a:pPr>
            <a:r>
              <a:rPr lang="en-US" sz="1400" dirty="0">
                <a:solidFill>
                  <a:srgbClr val="9A5B00"/>
                </a:solidFill>
                <a:latin typeface="Times New Roman" pitchFamily="34" charset="0"/>
                <a:ea typeface="Times New Roman" pitchFamily="34" charset="-122"/>
                <a:cs typeface="Times New Roman" pitchFamily="34" charset="-120"/>
              </a:rPr>
              <a:t>Qiyin savol: d) holatida qaysi xizmat qayd yozuvlari eng xavfli?</a:t>
            </a:r>
            <a:endParaRPr lang="en-US" sz="1400" dirty="0"/>
          </a:p>
        </p:txBody>
      </p:sp>
      <p:sp>
        <p:nvSpPr>
          <p:cNvPr id="33" name="Text 3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34" name="Text 3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HUJUMLAR VA HIMOYA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Domendagi autentifikatsiyaga hujumlar</a:t>
            </a:r>
            <a:endParaRPr lang="en-US" sz="3600" dirty="0"/>
          </a:p>
        </p:txBody>
      </p:sp>
      <p:sp>
        <p:nvSpPr>
          <p:cNvPr id="4" name="Shape 2"/>
          <p:cNvSpPr/>
          <p:nvPr/>
        </p:nvSpPr>
        <p:spPr>
          <a:xfrm>
            <a:off x="548640" y="1783080"/>
            <a:ext cx="2423160" cy="457200"/>
          </a:xfrm>
          <a:prstGeom prst="roundRect">
            <a:avLst>
              <a:gd name="adj" fmla="val 8000"/>
            </a:avLst>
          </a:prstGeom>
          <a:solidFill>
            <a:srgbClr val="1E2761"/>
          </a:solidFill>
          <a:ln/>
        </p:spPr>
      </p:sp>
      <p:sp>
        <p:nvSpPr>
          <p:cNvPr id="5" name="Text 3"/>
          <p:cNvSpPr txBox="1"/>
          <p:nvPr/>
        </p:nvSpPr>
        <p:spPr>
          <a:xfrm>
            <a:off x="685800" y="1783080"/>
            <a:ext cx="2194560" cy="45720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Hujum</a:t>
            </a:r>
            <a:endParaRPr lang="en-US" sz="1600" dirty="0"/>
          </a:p>
        </p:txBody>
      </p:sp>
      <p:sp>
        <p:nvSpPr>
          <p:cNvPr id="6" name="Shape 4"/>
          <p:cNvSpPr/>
          <p:nvPr/>
        </p:nvSpPr>
        <p:spPr>
          <a:xfrm>
            <a:off x="3063240" y="1783080"/>
            <a:ext cx="3566160" cy="457200"/>
          </a:xfrm>
          <a:prstGeom prst="roundRect">
            <a:avLst>
              <a:gd name="adj" fmla="val 8000"/>
            </a:avLst>
          </a:prstGeom>
          <a:solidFill>
            <a:srgbClr val="1E2761"/>
          </a:solidFill>
          <a:ln/>
        </p:spPr>
      </p:sp>
      <p:sp>
        <p:nvSpPr>
          <p:cNvPr id="7" name="Text 5"/>
          <p:cNvSpPr txBox="1"/>
          <p:nvPr/>
        </p:nvSpPr>
        <p:spPr>
          <a:xfrm>
            <a:off x="3200400" y="1783080"/>
            <a:ext cx="3337560" cy="45720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Mohiyati</a:t>
            </a:r>
            <a:endParaRPr lang="en-US" sz="1600" dirty="0"/>
          </a:p>
        </p:txBody>
      </p:sp>
      <p:sp>
        <p:nvSpPr>
          <p:cNvPr id="8" name="Shape 6"/>
          <p:cNvSpPr/>
          <p:nvPr/>
        </p:nvSpPr>
        <p:spPr>
          <a:xfrm>
            <a:off x="6720840" y="1783080"/>
            <a:ext cx="4846320" cy="457200"/>
          </a:xfrm>
          <a:prstGeom prst="roundRect">
            <a:avLst>
              <a:gd name="adj" fmla="val 8000"/>
            </a:avLst>
          </a:prstGeom>
          <a:solidFill>
            <a:srgbClr val="1F6B4A"/>
          </a:solidFill>
          <a:ln/>
        </p:spPr>
      </p:sp>
      <p:sp>
        <p:nvSpPr>
          <p:cNvPr id="9" name="Text 7"/>
          <p:cNvSpPr txBox="1"/>
          <p:nvPr/>
        </p:nvSpPr>
        <p:spPr>
          <a:xfrm>
            <a:off x="6858000" y="1783080"/>
            <a:ext cx="4617720" cy="45720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Himoya</a:t>
            </a:r>
            <a:endParaRPr lang="en-US" sz="1600" dirty="0"/>
          </a:p>
        </p:txBody>
      </p:sp>
      <p:sp>
        <p:nvSpPr>
          <p:cNvPr id="10" name="Shape 8"/>
          <p:cNvSpPr/>
          <p:nvPr/>
        </p:nvSpPr>
        <p:spPr>
          <a:xfrm>
            <a:off x="548640" y="2304288"/>
            <a:ext cx="2423160" cy="585216"/>
          </a:xfrm>
          <a:prstGeom prst="roundRect">
            <a:avLst>
              <a:gd name="adj" fmla="val 6250"/>
            </a:avLst>
          </a:prstGeom>
          <a:solidFill>
            <a:srgbClr val="F7ECEA"/>
          </a:solidFill>
          <a:ln/>
        </p:spPr>
      </p:sp>
      <p:sp>
        <p:nvSpPr>
          <p:cNvPr id="11" name="Text 9"/>
          <p:cNvSpPr txBox="1"/>
          <p:nvPr/>
        </p:nvSpPr>
        <p:spPr>
          <a:xfrm>
            <a:off x="685800" y="2304288"/>
            <a:ext cx="219456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Kerberoasting</a:t>
            </a:r>
            <a:endParaRPr lang="en-US" sz="1600" dirty="0"/>
          </a:p>
        </p:txBody>
      </p:sp>
      <p:sp>
        <p:nvSpPr>
          <p:cNvPr id="12" name="Shape 10"/>
          <p:cNvSpPr/>
          <p:nvPr/>
        </p:nvSpPr>
        <p:spPr>
          <a:xfrm>
            <a:off x="3063240" y="2304288"/>
            <a:ext cx="3566160" cy="585216"/>
          </a:xfrm>
          <a:prstGeom prst="roundRect">
            <a:avLst>
              <a:gd name="adj" fmla="val 6250"/>
            </a:avLst>
          </a:prstGeom>
          <a:solidFill>
            <a:srgbClr val="EEF2FB"/>
          </a:solidFill>
          <a:ln/>
        </p:spPr>
      </p:sp>
      <p:sp>
        <p:nvSpPr>
          <p:cNvPr id="13" name="Text 11"/>
          <p:cNvSpPr txBox="1"/>
          <p:nvPr/>
        </p:nvSpPr>
        <p:spPr>
          <a:xfrm>
            <a:off x="3200400" y="2304288"/>
            <a:ext cx="333756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Xizmat chiptasini oflayn buzish</a:t>
            </a:r>
            <a:endParaRPr lang="en-US" sz="1500" dirty="0"/>
          </a:p>
        </p:txBody>
      </p:sp>
      <p:sp>
        <p:nvSpPr>
          <p:cNvPr id="14" name="Shape 12"/>
          <p:cNvSpPr/>
          <p:nvPr/>
        </p:nvSpPr>
        <p:spPr>
          <a:xfrm>
            <a:off x="6720840" y="2304288"/>
            <a:ext cx="4846320" cy="585216"/>
          </a:xfrm>
          <a:prstGeom prst="roundRect">
            <a:avLst>
              <a:gd name="adj" fmla="val 6250"/>
            </a:avLst>
          </a:prstGeom>
          <a:solidFill>
            <a:srgbClr val="E8F3EC"/>
          </a:solidFill>
          <a:ln/>
        </p:spPr>
      </p:sp>
      <p:sp>
        <p:nvSpPr>
          <p:cNvPr id="15" name="Text 13"/>
          <p:cNvSpPr txBox="1"/>
          <p:nvPr/>
        </p:nvSpPr>
        <p:spPr>
          <a:xfrm>
            <a:off x="6858000" y="2304288"/>
            <a:ext cx="461772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gMSA: 120 belgili avtomatik parol; AES</a:t>
            </a:r>
            <a:endParaRPr lang="en-US" sz="1500" dirty="0"/>
          </a:p>
        </p:txBody>
      </p:sp>
      <p:sp>
        <p:nvSpPr>
          <p:cNvPr id="16" name="Shape 14"/>
          <p:cNvSpPr/>
          <p:nvPr/>
        </p:nvSpPr>
        <p:spPr>
          <a:xfrm>
            <a:off x="548640" y="2962656"/>
            <a:ext cx="2423160" cy="585216"/>
          </a:xfrm>
          <a:prstGeom prst="roundRect">
            <a:avLst>
              <a:gd name="adj" fmla="val 6250"/>
            </a:avLst>
          </a:prstGeom>
          <a:solidFill>
            <a:srgbClr val="F7ECEA"/>
          </a:solidFill>
          <a:ln/>
        </p:spPr>
      </p:sp>
      <p:sp>
        <p:nvSpPr>
          <p:cNvPr id="17" name="Text 15"/>
          <p:cNvSpPr txBox="1"/>
          <p:nvPr/>
        </p:nvSpPr>
        <p:spPr>
          <a:xfrm>
            <a:off x="685800" y="2962656"/>
            <a:ext cx="219456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AS-REP roasting</a:t>
            </a:r>
            <a:endParaRPr lang="en-US" sz="1600" dirty="0"/>
          </a:p>
        </p:txBody>
      </p:sp>
      <p:sp>
        <p:nvSpPr>
          <p:cNvPr id="18" name="Shape 16"/>
          <p:cNvSpPr/>
          <p:nvPr/>
        </p:nvSpPr>
        <p:spPr>
          <a:xfrm>
            <a:off x="3063240" y="2962656"/>
            <a:ext cx="3566160" cy="585216"/>
          </a:xfrm>
          <a:prstGeom prst="roundRect">
            <a:avLst>
              <a:gd name="adj" fmla="val 6250"/>
            </a:avLst>
          </a:prstGeom>
          <a:solidFill>
            <a:srgbClr val="FFFFFF"/>
          </a:solidFill>
          <a:ln/>
        </p:spPr>
      </p:sp>
      <p:sp>
        <p:nvSpPr>
          <p:cNvPr id="19" name="Text 17"/>
          <p:cNvSpPr txBox="1"/>
          <p:nvPr/>
        </p:nvSpPr>
        <p:spPr>
          <a:xfrm>
            <a:off x="3200400" y="2962656"/>
            <a:ext cx="333756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Pre-autentifikatsiya o'chirilgan qayd yozuvlari</a:t>
            </a:r>
            <a:endParaRPr lang="en-US" sz="1500" dirty="0"/>
          </a:p>
        </p:txBody>
      </p:sp>
      <p:sp>
        <p:nvSpPr>
          <p:cNvPr id="20" name="Shape 18"/>
          <p:cNvSpPr/>
          <p:nvPr/>
        </p:nvSpPr>
        <p:spPr>
          <a:xfrm>
            <a:off x="6720840" y="2962656"/>
            <a:ext cx="4846320" cy="585216"/>
          </a:xfrm>
          <a:prstGeom prst="roundRect">
            <a:avLst>
              <a:gd name="adj" fmla="val 6250"/>
            </a:avLst>
          </a:prstGeom>
          <a:solidFill>
            <a:srgbClr val="E8F3EC"/>
          </a:solidFill>
          <a:ln/>
        </p:spPr>
      </p:sp>
      <p:sp>
        <p:nvSpPr>
          <p:cNvPr id="21" name="Text 19"/>
          <p:cNvSpPr txBox="1"/>
          <p:nvPr/>
        </p:nvSpPr>
        <p:spPr>
          <a:xfrm>
            <a:off x="6858000" y="2962656"/>
            <a:ext cx="461772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Pre-autentifikatsiyani yoqish</a:t>
            </a:r>
            <a:endParaRPr lang="en-US" sz="1500" dirty="0"/>
          </a:p>
        </p:txBody>
      </p:sp>
      <p:sp>
        <p:nvSpPr>
          <p:cNvPr id="22" name="Shape 20"/>
          <p:cNvSpPr/>
          <p:nvPr/>
        </p:nvSpPr>
        <p:spPr>
          <a:xfrm>
            <a:off x="548640" y="3621024"/>
            <a:ext cx="2423160" cy="585216"/>
          </a:xfrm>
          <a:prstGeom prst="roundRect">
            <a:avLst>
              <a:gd name="adj" fmla="val 6250"/>
            </a:avLst>
          </a:prstGeom>
          <a:solidFill>
            <a:srgbClr val="F7ECEA"/>
          </a:solidFill>
          <a:ln/>
        </p:spPr>
      </p:sp>
      <p:sp>
        <p:nvSpPr>
          <p:cNvPr id="23" name="Text 21"/>
          <p:cNvSpPr txBox="1"/>
          <p:nvPr/>
        </p:nvSpPr>
        <p:spPr>
          <a:xfrm>
            <a:off x="685800" y="3621024"/>
            <a:ext cx="219456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Pass-the-ticket</a:t>
            </a:r>
            <a:endParaRPr lang="en-US" sz="1600" dirty="0"/>
          </a:p>
        </p:txBody>
      </p:sp>
      <p:sp>
        <p:nvSpPr>
          <p:cNvPr id="24" name="Shape 22"/>
          <p:cNvSpPr/>
          <p:nvPr/>
        </p:nvSpPr>
        <p:spPr>
          <a:xfrm>
            <a:off x="3063240" y="3621024"/>
            <a:ext cx="3566160" cy="585216"/>
          </a:xfrm>
          <a:prstGeom prst="roundRect">
            <a:avLst>
              <a:gd name="adj" fmla="val 6250"/>
            </a:avLst>
          </a:prstGeom>
          <a:solidFill>
            <a:srgbClr val="EEF2FB"/>
          </a:solidFill>
          <a:ln/>
        </p:spPr>
      </p:sp>
      <p:sp>
        <p:nvSpPr>
          <p:cNvPr id="25" name="Text 23"/>
          <p:cNvSpPr txBox="1"/>
          <p:nvPr/>
        </p:nvSpPr>
        <p:spPr>
          <a:xfrm>
            <a:off x="3200400" y="3621024"/>
            <a:ext cx="333756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O'g'irlangan chiptani boshqa kompyuterda ishlatish</a:t>
            </a:r>
            <a:endParaRPr lang="en-US" sz="1500" dirty="0"/>
          </a:p>
        </p:txBody>
      </p:sp>
      <p:sp>
        <p:nvSpPr>
          <p:cNvPr id="26" name="Shape 24"/>
          <p:cNvSpPr/>
          <p:nvPr/>
        </p:nvSpPr>
        <p:spPr>
          <a:xfrm>
            <a:off x="6720840" y="3621024"/>
            <a:ext cx="4846320" cy="585216"/>
          </a:xfrm>
          <a:prstGeom prst="roundRect">
            <a:avLst>
              <a:gd name="adj" fmla="val 6250"/>
            </a:avLst>
          </a:prstGeom>
          <a:solidFill>
            <a:srgbClr val="E8F3EC"/>
          </a:solidFill>
          <a:ln/>
        </p:spPr>
      </p:sp>
      <p:sp>
        <p:nvSpPr>
          <p:cNvPr id="27" name="Text 25"/>
          <p:cNvSpPr txBox="1"/>
          <p:nvPr/>
        </p:nvSpPr>
        <p:spPr>
          <a:xfrm>
            <a:off x="6858000" y="3621024"/>
            <a:ext cx="461772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Credential Guard, Protected Users</a:t>
            </a:r>
            <a:endParaRPr lang="en-US" sz="1500" dirty="0"/>
          </a:p>
        </p:txBody>
      </p:sp>
      <p:sp>
        <p:nvSpPr>
          <p:cNvPr id="28" name="Shape 26"/>
          <p:cNvSpPr/>
          <p:nvPr/>
        </p:nvSpPr>
        <p:spPr>
          <a:xfrm>
            <a:off x="548640" y="4279392"/>
            <a:ext cx="2423160" cy="585216"/>
          </a:xfrm>
          <a:prstGeom prst="roundRect">
            <a:avLst>
              <a:gd name="adj" fmla="val 6250"/>
            </a:avLst>
          </a:prstGeom>
          <a:solidFill>
            <a:srgbClr val="F7ECEA"/>
          </a:solidFill>
          <a:ln/>
        </p:spPr>
      </p:sp>
      <p:sp>
        <p:nvSpPr>
          <p:cNvPr id="29" name="Text 27"/>
          <p:cNvSpPr txBox="1"/>
          <p:nvPr/>
        </p:nvSpPr>
        <p:spPr>
          <a:xfrm>
            <a:off x="685800" y="4279392"/>
            <a:ext cx="219456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Golden Ticket</a:t>
            </a:r>
            <a:endParaRPr lang="en-US" sz="1600" dirty="0"/>
          </a:p>
        </p:txBody>
      </p:sp>
      <p:sp>
        <p:nvSpPr>
          <p:cNvPr id="30" name="Shape 28"/>
          <p:cNvSpPr/>
          <p:nvPr/>
        </p:nvSpPr>
        <p:spPr>
          <a:xfrm>
            <a:off x="3063240" y="4279392"/>
            <a:ext cx="3566160" cy="585216"/>
          </a:xfrm>
          <a:prstGeom prst="roundRect">
            <a:avLst>
              <a:gd name="adj" fmla="val 6250"/>
            </a:avLst>
          </a:prstGeom>
          <a:solidFill>
            <a:srgbClr val="FFFFFF"/>
          </a:solidFill>
          <a:ln/>
        </p:spPr>
      </p:sp>
      <p:sp>
        <p:nvSpPr>
          <p:cNvPr id="31" name="Text 29"/>
          <p:cNvSpPr txBox="1"/>
          <p:nvPr/>
        </p:nvSpPr>
        <p:spPr>
          <a:xfrm>
            <a:off x="3200400" y="4279392"/>
            <a:ext cx="333756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krbtgt kaliti bilan soxta TGT yasash</a:t>
            </a:r>
            <a:endParaRPr lang="en-US" sz="1500" dirty="0"/>
          </a:p>
        </p:txBody>
      </p:sp>
      <p:sp>
        <p:nvSpPr>
          <p:cNvPr id="32" name="Shape 30"/>
          <p:cNvSpPr/>
          <p:nvPr/>
        </p:nvSpPr>
        <p:spPr>
          <a:xfrm>
            <a:off x="6720840" y="4279392"/>
            <a:ext cx="4846320" cy="585216"/>
          </a:xfrm>
          <a:prstGeom prst="roundRect">
            <a:avLst>
              <a:gd name="adj" fmla="val 6250"/>
            </a:avLst>
          </a:prstGeom>
          <a:solidFill>
            <a:srgbClr val="E8F3EC"/>
          </a:solidFill>
          <a:ln/>
        </p:spPr>
      </p:sp>
      <p:sp>
        <p:nvSpPr>
          <p:cNvPr id="33" name="Text 31"/>
          <p:cNvSpPr txBox="1"/>
          <p:nvPr/>
        </p:nvSpPr>
        <p:spPr>
          <a:xfrm>
            <a:off x="6858000" y="4279392"/>
            <a:ext cx="4617720" cy="585216"/>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DC himoyasi; krbtgt parolini 2 marta almashtirish</a:t>
            </a:r>
            <a:endParaRPr lang="en-US" sz="1500" dirty="0"/>
          </a:p>
        </p:txBody>
      </p:sp>
      <p:sp>
        <p:nvSpPr>
          <p:cNvPr id="34" name="Shape 32"/>
          <p:cNvSpPr/>
          <p:nvPr/>
        </p:nvSpPr>
        <p:spPr>
          <a:xfrm>
            <a:off x="548640" y="5029200"/>
            <a:ext cx="11064240" cy="1188720"/>
          </a:xfrm>
          <a:prstGeom prst="roundRect">
            <a:avLst>
              <a:gd name="adj" fmla="val 6923"/>
            </a:avLst>
          </a:prstGeom>
          <a:solidFill>
            <a:srgbClr val="1E2761"/>
          </a:solidFill>
          <a:ln/>
        </p:spPr>
      </p:sp>
      <p:sp>
        <p:nvSpPr>
          <p:cNvPr id="35" name="Text 33"/>
          <p:cNvSpPr txBox="1"/>
          <p:nvPr/>
        </p:nvSpPr>
        <p:spPr>
          <a:xfrm>
            <a:off x="777240" y="5102352"/>
            <a:ext cx="3657600" cy="365760"/>
          </a:xfrm>
          <a:prstGeom prst="rect">
            <a:avLst/>
          </a:prstGeom>
          <a:noFill/>
          <a:ln/>
        </p:spPr>
        <p:txBody>
          <a:bodyPr wrap="square" lIns="0" tIns="0" rIns="0" bIns="0" rtlCol="0" anchor="t"/>
          <a:lstStyle/>
          <a:p>
            <a:pPr algn="l" indent="0" marL="0">
              <a:lnSpc>
                <a:spcPct val="100000"/>
              </a:lnSpc>
              <a:buNone/>
            </a:pPr>
            <a:r>
              <a:rPr lang="en-US" sz="1600" b="1" dirty="0">
                <a:solidFill>
                  <a:srgbClr val="F2B544"/>
                </a:solidFill>
                <a:latin typeface="Times New Roman" pitchFamily="34" charset="0"/>
                <a:ea typeface="Times New Roman" pitchFamily="34" charset="-122"/>
                <a:cs typeface="Times New Roman" pitchFamily="34" charset="-120"/>
              </a:rPr>
              <a:t>Microsoft yo'l xaritasi</a:t>
            </a:r>
            <a:endParaRPr lang="en-US" sz="1600" dirty="0"/>
          </a:p>
        </p:txBody>
      </p:sp>
      <p:sp>
        <p:nvSpPr>
          <p:cNvPr id="36" name="Text 34"/>
          <p:cNvSpPr txBox="1"/>
          <p:nvPr/>
        </p:nvSpPr>
        <p:spPr>
          <a:xfrm>
            <a:off x="777240" y="5468112"/>
            <a:ext cx="10698480" cy="73152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rgbClr val="FFFFFF"/>
                </a:solidFill>
                <a:latin typeface="Times New Roman" pitchFamily="34" charset="0"/>
                <a:ea typeface="Times New Roman" pitchFamily="34" charset="-122"/>
                <a:cs typeface="Times New Roman" pitchFamily="34" charset="-120"/>
              </a:rPr>
              <a:t>Kerberos da RC4 — 2026-yil o'rtasidan domen kontrollerlarida standart holda o'chiriladi (faqat AES)</a:t>
            </a:r>
            <a:endParaRPr lang="en-US" sz="1500" dirty="0"/>
          </a:p>
          <a:p>
            <a:pPr marL="342900" indent="-342900">
              <a:spcAft>
                <a:spcPts val="400"/>
              </a:spcAft>
              <a:buSzPct val="100000"/>
              <a:buChar char="•"/>
            </a:pPr>
            <a:r>
              <a:rPr lang="en-US" sz="1500" dirty="0">
                <a:solidFill>
                  <a:srgbClr val="FFFFFF"/>
                </a:solidFill>
                <a:latin typeface="Times New Roman" pitchFamily="34" charset="0"/>
                <a:ea typeface="Times New Roman" pitchFamily="34" charset="-122"/>
                <a:cs typeface="Times New Roman" pitchFamily="34" charset="-120"/>
              </a:rPr>
              <a:t>NTLM — bosqichma-bosqich: audit → 2026-yil II yarmida to'siqlarni bartaraf etish → keyingi versiyada standart holda o'chirish</a:t>
            </a:r>
            <a:endParaRPr lang="en-US" sz="1500" dirty="0"/>
          </a:p>
        </p:txBody>
      </p:sp>
      <p:sp>
        <p:nvSpPr>
          <p:cNvPr id="37"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38"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JONLI NAMOYISH · 10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Domen kompyuterida o'zimiz ko'ramiz</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termina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6949440" cy="4434840"/>
          </a:xfrm>
          <a:prstGeom prst="roundRect">
            <a:avLst>
              <a:gd name="adj" fmla="val 1856"/>
            </a:avLst>
          </a:prstGeom>
          <a:solidFill>
            <a:srgbClr val="162048"/>
          </a:solidFill>
          <a:ln/>
        </p:spPr>
      </p:sp>
      <p:sp>
        <p:nvSpPr>
          <p:cNvPr id="7" name="Text 4"/>
          <p:cNvSpPr txBox="1"/>
          <p:nvPr/>
        </p:nvSpPr>
        <p:spPr>
          <a:xfrm>
            <a:off x="777240" y="1965960"/>
            <a:ext cx="6492240" cy="4069080"/>
          </a:xfrm>
          <a:prstGeom prst="rect">
            <a:avLst/>
          </a:prstGeom>
          <a:noFill/>
          <a:ln/>
        </p:spPr>
        <p:txBody>
          <a:bodyPr wrap="square" lIns="0" tIns="0" rIns="0" bIns="0" rtlCol="0" anchor="t"/>
          <a:lstStyle/>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1. Men kimman: SID va guruhlar</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C:\&gt; whoami /user /groups</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2. Qaysi domen kontrolleri?</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C:\&gt; nltest /dsgetdc:nuu.uz</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3. Mening Kerberos chiptalarim</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C:\&gt; klist</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Server: krbtgt/NUU.UZ @ NUU.UZ</a:t>
            </a:r>
            <a:endParaRPr lang="en-US" sz="1300" dirty="0"/>
          </a:p>
          <a:p>
            <a:pPr indent="0" marL="0">
              <a:lnSpc>
                <a:spcPct val="105000"/>
              </a:lnSpc>
              <a:buNone/>
            </a:pPr>
            <a:r>
              <a:rPr lang="en-US" sz="1300" dirty="0">
                <a:solidFill>
                  <a:srgbClr val="8FD3A8"/>
                </a:solidFill>
                <a:latin typeface="Courier New" pitchFamily="34" charset="0"/>
                <a:ea typeface="Courier New" pitchFamily="34" charset="-122"/>
                <a:cs typeface="Courier New" pitchFamily="34" charset="-120"/>
              </a:rPr>
              <a:t>  KerbTicket Encryption Type: AES-256-CTS-HMAC-SHA1-96</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4. Fayl serveriga murojaat → yangi chipta</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C:\&gt; dir \\fs.nuu.uz\kafedra  &amp;  klist</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Server: cifs/fs.nuu.uz @ NUU.UZ</a:t>
            </a:r>
            <a:endParaRPr lang="en-US" sz="1300" dirty="0"/>
          </a:p>
        </p:txBody>
      </p:sp>
      <p:sp>
        <p:nvSpPr>
          <p:cNvPr id="8" name="Shape 5"/>
          <p:cNvSpPr/>
          <p:nvPr/>
        </p:nvSpPr>
        <p:spPr>
          <a:xfrm>
            <a:off x="7680960" y="1783080"/>
            <a:ext cx="3931920" cy="1005840"/>
          </a:xfrm>
          <a:prstGeom prst="roundRect">
            <a:avLst>
              <a:gd name="adj" fmla="val 8182"/>
            </a:avLst>
          </a:prstGeom>
          <a:solidFill>
            <a:srgbClr val="FFFFFF"/>
          </a:solidFill>
          <a:ln/>
        </p:spPr>
      </p:sp>
      <p:sp>
        <p:nvSpPr>
          <p:cNvPr id="9" name="Text 6"/>
          <p:cNvSpPr txBox="1"/>
          <p:nvPr/>
        </p:nvSpPr>
        <p:spPr>
          <a:xfrm>
            <a:off x="7863840" y="1856232"/>
            <a:ext cx="3566160" cy="32004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Kuzating</a:t>
            </a:r>
            <a:endParaRPr lang="en-US" sz="1600" dirty="0"/>
          </a:p>
        </p:txBody>
      </p:sp>
      <p:sp>
        <p:nvSpPr>
          <p:cNvPr id="10" name="Text 7"/>
          <p:cNvSpPr txBox="1"/>
          <p:nvPr/>
        </p:nvSpPr>
        <p:spPr>
          <a:xfrm>
            <a:off x="7863840" y="2167128"/>
            <a:ext cx="3611880" cy="59436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klist da ikki xil chipta: krbtgt (TGT) va cifs (xizmat)</a:t>
            </a:r>
            <a:endParaRPr lang="en-US" sz="1500" dirty="0"/>
          </a:p>
        </p:txBody>
      </p:sp>
      <p:sp>
        <p:nvSpPr>
          <p:cNvPr id="11" name="Shape 8"/>
          <p:cNvSpPr/>
          <p:nvPr/>
        </p:nvSpPr>
        <p:spPr>
          <a:xfrm>
            <a:off x="7680960" y="2907792"/>
            <a:ext cx="3931920" cy="1005840"/>
          </a:xfrm>
          <a:prstGeom prst="roundRect">
            <a:avLst>
              <a:gd name="adj" fmla="val 8182"/>
            </a:avLst>
          </a:prstGeom>
          <a:solidFill>
            <a:srgbClr val="FFFFFF"/>
          </a:solidFill>
          <a:ln/>
        </p:spPr>
      </p:sp>
      <p:sp>
        <p:nvSpPr>
          <p:cNvPr id="12" name="Text 9"/>
          <p:cNvSpPr txBox="1"/>
          <p:nvPr/>
        </p:nvSpPr>
        <p:spPr>
          <a:xfrm>
            <a:off x="7863840" y="2980944"/>
            <a:ext cx="3566160" cy="32004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Tekshiring</a:t>
            </a:r>
            <a:endParaRPr lang="en-US" sz="1600" dirty="0"/>
          </a:p>
        </p:txBody>
      </p:sp>
      <p:sp>
        <p:nvSpPr>
          <p:cNvPr id="13" name="Text 10"/>
          <p:cNvSpPr txBox="1"/>
          <p:nvPr/>
        </p:nvSpPr>
        <p:spPr>
          <a:xfrm>
            <a:off x="7863840" y="3291840"/>
            <a:ext cx="3611880" cy="59436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Shifrlash turi AES-256 mi yoki RC4 mi?</a:t>
            </a:r>
            <a:endParaRPr lang="en-US" sz="1500" dirty="0"/>
          </a:p>
        </p:txBody>
      </p:sp>
      <p:sp>
        <p:nvSpPr>
          <p:cNvPr id="14" name="Shape 11"/>
          <p:cNvSpPr/>
          <p:nvPr/>
        </p:nvSpPr>
        <p:spPr>
          <a:xfrm>
            <a:off x="7680960" y="4032504"/>
            <a:ext cx="3931920" cy="1005840"/>
          </a:xfrm>
          <a:prstGeom prst="roundRect">
            <a:avLst>
              <a:gd name="adj" fmla="val 8182"/>
            </a:avLst>
          </a:prstGeom>
          <a:solidFill>
            <a:srgbClr val="FFFFFF"/>
          </a:solidFill>
          <a:ln/>
        </p:spPr>
      </p:sp>
      <p:sp>
        <p:nvSpPr>
          <p:cNvPr id="15" name="Text 12"/>
          <p:cNvSpPr txBox="1"/>
          <p:nvPr/>
        </p:nvSpPr>
        <p:spPr>
          <a:xfrm>
            <a:off x="7863840" y="4105656"/>
            <a:ext cx="3566160" cy="32004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Tajriba</a:t>
            </a:r>
            <a:endParaRPr lang="en-US" sz="1600" dirty="0"/>
          </a:p>
        </p:txBody>
      </p:sp>
      <p:sp>
        <p:nvSpPr>
          <p:cNvPr id="16" name="Text 13"/>
          <p:cNvSpPr txBox="1"/>
          <p:nvPr/>
        </p:nvSpPr>
        <p:spPr>
          <a:xfrm>
            <a:off x="7863840" y="4416552"/>
            <a:ext cx="3611880" cy="59436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klist purge — chiptalar o'chadi; faylga qayta murojaat — yangi chipta</a:t>
            </a:r>
            <a:endParaRPr lang="en-US" sz="1500" dirty="0"/>
          </a:p>
        </p:txBody>
      </p:sp>
      <p:sp>
        <p:nvSpPr>
          <p:cNvPr id="17" name="Shape 14"/>
          <p:cNvSpPr/>
          <p:nvPr/>
        </p:nvSpPr>
        <p:spPr>
          <a:xfrm>
            <a:off x="7680960" y="5157216"/>
            <a:ext cx="3931920" cy="1005840"/>
          </a:xfrm>
          <a:prstGeom prst="roundRect">
            <a:avLst>
              <a:gd name="adj" fmla="val 8182"/>
            </a:avLst>
          </a:prstGeom>
          <a:solidFill>
            <a:srgbClr val="FFFFFF"/>
          </a:solidFill>
          <a:ln/>
        </p:spPr>
      </p:sp>
      <p:sp>
        <p:nvSpPr>
          <p:cNvPr id="18" name="Text 15"/>
          <p:cNvSpPr txBox="1"/>
          <p:nvPr/>
        </p:nvSpPr>
        <p:spPr>
          <a:xfrm>
            <a:off x="7863840" y="5230368"/>
            <a:ext cx="3566160" cy="32004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Ma'mur uchun</a:t>
            </a:r>
            <a:endParaRPr lang="en-US" sz="1600" dirty="0"/>
          </a:p>
        </p:txBody>
      </p:sp>
      <p:sp>
        <p:nvSpPr>
          <p:cNvPr id="19" name="Text 16"/>
          <p:cNvSpPr txBox="1"/>
          <p:nvPr/>
        </p:nvSpPr>
        <p:spPr>
          <a:xfrm>
            <a:off x="7863840" y="5541264"/>
            <a:ext cx="3611880" cy="59436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Courier New" pitchFamily="34" charset="0"/>
                <a:ea typeface="Courier New" pitchFamily="34" charset="-122"/>
                <a:cs typeface="Courier New" pitchFamily="34" charset="-120"/>
              </a:rPr>
              <a:t>Get-ADUser a.karimov -Properties memberOf</a:t>
            </a:r>
            <a:endParaRPr lang="en-US" sz="1500" dirty="0"/>
          </a:p>
        </p:txBody>
      </p:sp>
      <p:sp>
        <p:nvSpPr>
          <p:cNvPr id="20" name="Text 1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21" name="Text 1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RADIUS</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Tarmoqqa kirish: Wi-Fi, VPN va kommutatorlar</a:t>
            </a:r>
            <a:endParaRPr lang="en-US" sz="3600" dirty="0"/>
          </a:p>
        </p:txBody>
      </p:sp>
      <p:sp>
        <p:nvSpPr>
          <p:cNvPr id="4" name="Shape 2"/>
          <p:cNvSpPr/>
          <p:nvPr/>
        </p:nvSpPr>
        <p:spPr>
          <a:xfrm>
            <a:off x="548640" y="1783080"/>
            <a:ext cx="2423160" cy="1737360"/>
          </a:xfrm>
          <a:prstGeom prst="roundRect">
            <a:avLst>
              <a:gd name="adj" fmla="val 4737"/>
            </a:avLst>
          </a:prstGeom>
          <a:solidFill>
            <a:srgbClr val="EEF2FB"/>
          </a:solidFill>
          <a:ln/>
        </p:spPr>
      </p:sp>
      <p:sp>
        <p:nvSpPr>
          <p:cNvPr id="5" name="Shape 3"/>
          <p:cNvSpPr/>
          <p:nvPr/>
        </p:nvSpPr>
        <p:spPr>
          <a:xfrm>
            <a:off x="1417320" y="1920240"/>
            <a:ext cx="658368" cy="658368"/>
          </a:xfrm>
          <a:prstGeom prst="ellipse">
            <a:avLst/>
          </a:prstGeom>
          <a:solidFill>
            <a:srgbClr val="1E2761"/>
          </a:solidFill>
          <a:ln/>
        </p:spPr>
      </p:sp>
      <p:pic>
        <p:nvPicPr>
          <p:cNvPr id="6" name="Image 0" descr="/home/claude/fob-slides/icons_out/desktop_white.png"/>
          <p:cNvPicPr>
            <a:picLocks noChangeAspect="1"/>
          </p:cNvPicPr>
          <p:nvPr/>
        </p:nvPicPr>
        <p:blipFill>
          <a:blip r:embed="rId1"/>
          <a:stretch>
            <a:fillRect/>
          </a:stretch>
        </p:blipFill>
        <p:spPr>
          <a:xfrm>
            <a:off x="1565453" y="2068373"/>
            <a:ext cx="362102" cy="362102"/>
          </a:xfrm>
          <a:prstGeom prst="rect">
            <a:avLst/>
          </a:prstGeom>
        </p:spPr>
      </p:pic>
      <p:sp>
        <p:nvSpPr>
          <p:cNvPr id="7" name="Text 4"/>
          <p:cNvSpPr txBox="1"/>
          <p:nvPr/>
        </p:nvSpPr>
        <p:spPr>
          <a:xfrm>
            <a:off x="548640" y="2606040"/>
            <a:ext cx="2423160" cy="41148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Foydalanuvchi</a:t>
            </a:r>
            <a:endParaRPr lang="en-US" sz="1800" dirty="0"/>
          </a:p>
        </p:txBody>
      </p:sp>
      <p:sp>
        <p:nvSpPr>
          <p:cNvPr id="8" name="Text 5"/>
          <p:cNvSpPr txBox="1"/>
          <p:nvPr/>
        </p:nvSpPr>
        <p:spPr>
          <a:xfrm>
            <a:off x="640080" y="2999232"/>
            <a:ext cx="224028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noutbuk, telefon</a:t>
            </a:r>
            <a:endParaRPr lang="en-US" sz="1400" dirty="0"/>
          </a:p>
        </p:txBody>
      </p:sp>
      <p:sp>
        <p:nvSpPr>
          <p:cNvPr id="9" name="Shape 6"/>
          <p:cNvSpPr/>
          <p:nvPr/>
        </p:nvSpPr>
        <p:spPr>
          <a:xfrm>
            <a:off x="3429000" y="1783080"/>
            <a:ext cx="2423160" cy="1737360"/>
          </a:xfrm>
          <a:prstGeom prst="roundRect">
            <a:avLst>
              <a:gd name="adj" fmla="val 4737"/>
            </a:avLst>
          </a:prstGeom>
          <a:solidFill>
            <a:srgbClr val="EEF2FB"/>
          </a:solidFill>
          <a:ln/>
        </p:spPr>
      </p:sp>
      <p:sp>
        <p:nvSpPr>
          <p:cNvPr id="10" name="Shape 7"/>
          <p:cNvSpPr/>
          <p:nvPr/>
        </p:nvSpPr>
        <p:spPr>
          <a:xfrm>
            <a:off x="4297680" y="1920240"/>
            <a:ext cx="658368" cy="658368"/>
          </a:xfrm>
          <a:prstGeom prst="ellipse">
            <a:avLst/>
          </a:prstGeom>
          <a:solidFill>
            <a:srgbClr val="1E2761"/>
          </a:solidFill>
          <a:ln/>
        </p:spPr>
      </p:sp>
      <p:pic>
        <p:nvPicPr>
          <p:cNvPr id="11" name="Image 1" descr="/home/claude/fob-slides/icons_out/network_white.png"/>
          <p:cNvPicPr>
            <a:picLocks noChangeAspect="1"/>
          </p:cNvPicPr>
          <p:nvPr/>
        </p:nvPicPr>
        <p:blipFill>
          <a:blip r:embed="rId2"/>
          <a:stretch>
            <a:fillRect/>
          </a:stretch>
        </p:blipFill>
        <p:spPr>
          <a:xfrm>
            <a:off x="4445813" y="2068373"/>
            <a:ext cx="362102" cy="362102"/>
          </a:xfrm>
          <a:prstGeom prst="rect">
            <a:avLst/>
          </a:prstGeom>
        </p:spPr>
      </p:pic>
      <p:sp>
        <p:nvSpPr>
          <p:cNvPr id="12" name="Text 8"/>
          <p:cNvSpPr txBox="1"/>
          <p:nvPr/>
        </p:nvSpPr>
        <p:spPr>
          <a:xfrm>
            <a:off x="3429000" y="2606040"/>
            <a:ext cx="2423160" cy="41148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NAS</a:t>
            </a:r>
            <a:endParaRPr lang="en-US" sz="1800" dirty="0"/>
          </a:p>
        </p:txBody>
      </p:sp>
      <p:sp>
        <p:nvSpPr>
          <p:cNvPr id="13" name="Text 9"/>
          <p:cNvSpPr txBox="1"/>
          <p:nvPr/>
        </p:nvSpPr>
        <p:spPr>
          <a:xfrm>
            <a:off x="3520440" y="2999232"/>
            <a:ext cx="224028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Wi-Fi nuqtasi, VPN shlyuzi, kommutator</a:t>
            </a:r>
            <a:endParaRPr lang="en-US" sz="1400" dirty="0"/>
          </a:p>
        </p:txBody>
      </p:sp>
      <p:sp>
        <p:nvSpPr>
          <p:cNvPr id="14" name="Shape 10"/>
          <p:cNvSpPr/>
          <p:nvPr/>
        </p:nvSpPr>
        <p:spPr>
          <a:xfrm>
            <a:off x="6309360" y="1783080"/>
            <a:ext cx="2423160" cy="1737360"/>
          </a:xfrm>
          <a:prstGeom prst="roundRect">
            <a:avLst>
              <a:gd name="adj" fmla="val 4737"/>
            </a:avLst>
          </a:prstGeom>
          <a:solidFill>
            <a:srgbClr val="1E2761"/>
          </a:solidFill>
          <a:ln/>
        </p:spPr>
      </p:sp>
      <p:sp>
        <p:nvSpPr>
          <p:cNvPr id="15" name="Shape 11"/>
          <p:cNvSpPr/>
          <p:nvPr/>
        </p:nvSpPr>
        <p:spPr>
          <a:xfrm>
            <a:off x="7178040" y="1920240"/>
            <a:ext cx="658368" cy="658368"/>
          </a:xfrm>
          <a:prstGeom prst="ellipse">
            <a:avLst/>
          </a:prstGeom>
          <a:solidFill>
            <a:srgbClr val="2A3778"/>
          </a:solidFill>
          <a:ln/>
        </p:spPr>
      </p:sp>
      <p:pic>
        <p:nvPicPr>
          <p:cNvPr id="16" name="Image 2" descr="/home/claude/fob-slides/icons_out/server_white.png"/>
          <p:cNvPicPr>
            <a:picLocks noChangeAspect="1"/>
          </p:cNvPicPr>
          <p:nvPr/>
        </p:nvPicPr>
        <p:blipFill>
          <a:blip r:embed="rId3"/>
          <a:stretch>
            <a:fillRect/>
          </a:stretch>
        </p:blipFill>
        <p:spPr>
          <a:xfrm>
            <a:off x="7326173" y="2068373"/>
            <a:ext cx="362102" cy="362102"/>
          </a:xfrm>
          <a:prstGeom prst="rect">
            <a:avLst/>
          </a:prstGeom>
        </p:spPr>
      </p:pic>
      <p:sp>
        <p:nvSpPr>
          <p:cNvPr id="17" name="Text 12"/>
          <p:cNvSpPr txBox="1"/>
          <p:nvPr/>
        </p:nvSpPr>
        <p:spPr>
          <a:xfrm>
            <a:off x="6309360" y="2606040"/>
            <a:ext cx="2423160" cy="41148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RADIUS server</a:t>
            </a:r>
            <a:endParaRPr lang="en-US" sz="1800" dirty="0"/>
          </a:p>
        </p:txBody>
      </p:sp>
      <p:sp>
        <p:nvSpPr>
          <p:cNvPr id="18" name="Text 13"/>
          <p:cNvSpPr txBox="1"/>
          <p:nvPr/>
        </p:nvSpPr>
        <p:spPr>
          <a:xfrm>
            <a:off x="6400800" y="2999232"/>
            <a:ext cx="224028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Windows: NPS roli</a:t>
            </a:r>
            <a:endParaRPr lang="en-US" sz="1400" dirty="0"/>
          </a:p>
        </p:txBody>
      </p:sp>
      <p:sp>
        <p:nvSpPr>
          <p:cNvPr id="19" name="Shape 14"/>
          <p:cNvSpPr/>
          <p:nvPr/>
        </p:nvSpPr>
        <p:spPr>
          <a:xfrm>
            <a:off x="9189720" y="1783080"/>
            <a:ext cx="2423160" cy="1737360"/>
          </a:xfrm>
          <a:prstGeom prst="roundRect">
            <a:avLst>
              <a:gd name="adj" fmla="val 4737"/>
            </a:avLst>
          </a:prstGeom>
          <a:solidFill>
            <a:srgbClr val="EEF2FB"/>
          </a:solidFill>
          <a:ln/>
        </p:spPr>
      </p:sp>
      <p:sp>
        <p:nvSpPr>
          <p:cNvPr id="20" name="Shape 15"/>
          <p:cNvSpPr/>
          <p:nvPr/>
        </p:nvSpPr>
        <p:spPr>
          <a:xfrm>
            <a:off x="10058400" y="1920240"/>
            <a:ext cx="658368" cy="658368"/>
          </a:xfrm>
          <a:prstGeom prst="ellipse">
            <a:avLst/>
          </a:prstGeom>
          <a:solidFill>
            <a:srgbClr val="1E2761"/>
          </a:solidFill>
          <a:ln/>
        </p:spPr>
      </p:sp>
      <p:pic>
        <p:nvPicPr>
          <p:cNvPr id="21" name="Image 3" descr="/home/claude/fob-slides/icons_out/sitemap_white.png"/>
          <p:cNvPicPr>
            <a:picLocks noChangeAspect="1"/>
          </p:cNvPicPr>
          <p:nvPr/>
        </p:nvPicPr>
        <p:blipFill>
          <a:blip r:embed="rId4"/>
          <a:stretch>
            <a:fillRect/>
          </a:stretch>
        </p:blipFill>
        <p:spPr>
          <a:xfrm>
            <a:off x="10206533" y="2068373"/>
            <a:ext cx="362102" cy="362102"/>
          </a:xfrm>
          <a:prstGeom prst="rect">
            <a:avLst/>
          </a:prstGeom>
        </p:spPr>
      </p:pic>
      <p:sp>
        <p:nvSpPr>
          <p:cNvPr id="22" name="Text 16"/>
          <p:cNvSpPr txBox="1"/>
          <p:nvPr/>
        </p:nvSpPr>
        <p:spPr>
          <a:xfrm>
            <a:off x="9189720" y="2606040"/>
            <a:ext cx="2423160" cy="41148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Active Directory</a:t>
            </a:r>
            <a:endParaRPr lang="en-US" sz="1800" dirty="0"/>
          </a:p>
        </p:txBody>
      </p:sp>
      <p:sp>
        <p:nvSpPr>
          <p:cNvPr id="23" name="Text 17"/>
          <p:cNvSpPr txBox="1"/>
          <p:nvPr/>
        </p:nvSpPr>
        <p:spPr>
          <a:xfrm>
            <a:off x="9281160" y="2999232"/>
            <a:ext cx="224028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qayd yozuvi va guruh</a:t>
            </a:r>
            <a:endParaRPr lang="en-US" sz="1400" dirty="0"/>
          </a:p>
        </p:txBody>
      </p:sp>
      <p:sp>
        <p:nvSpPr>
          <p:cNvPr id="24" name="Shape 18"/>
          <p:cNvSpPr/>
          <p:nvPr/>
        </p:nvSpPr>
        <p:spPr>
          <a:xfrm>
            <a:off x="2999232" y="2651760"/>
            <a:ext cx="402336" cy="0"/>
          </a:xfrm>
          <a:prstGeom prst="line">
            <a:avLst/>
          </a:prstGeom>
          <a:noFill/>
          <a:ln w="28575">
            <a:solidFill>
              <a:srgbClr val="1E2761"/>
            </a:solidFill>
            <a:prstDash val="solid"/>
            <a:tailEnd type="triangle"/>
          </a:ln>
        </p:spPr>
      </p:sp>
      <p:sp>
        <p:nvSpPr>
          <p:cNvPr id="25" name="Text 19"/>
          <p:cNvSpPr txBox="1"/>
          <p:nvPr/>
        </p:nvSpPr>
        <p:spPr>
          <a:xfrm>
            <a:off x="2587752" y="3611880"/>
            <a:ext cx="1234440" cy="320040"/>
          </a:xfrm>
          <a:prstGeom prst="rect">
            <a:avLst/>
          </a:prstGeom>
          <a:noFill/>
          <a:ln/>
        </p:spPr>
        <p:txBody>
          <a:bodyPr wrap="square" lIns="0" tIns="0" rIns="0" bIns="0" rtlCol="0" anchor="t"/>
          <a:lstStyle/>
          <a:p>
            <a:pPr algn="ctr" indent="0" marL="0">
              <a:lnSpc>
                <a:spcPct val="100000"/>
              </a:lnSpc>
              <a:buNone/>
            </a:pPr>
            <a:r>
              <a:rPr lang="en-US" sz="1100" b="1" dirty="0">
                <a:solidFill>
                  <a:srgbClr val="9A5B00"/>
                </a:solidFill>
                <a:latin typeface="Times New Roman" pitchFamily="34" charset="0"/>
                <a:ea typeface="Times New Roman" pitchFamily="34" charset="-122"/>
                <a:cs typeface="Times New Roman" pitchFamily="34" charset="-120"/>
              </a:rPr>
              <a:t>EAP</a:t>
            </a:r>
            <a:endParaRPr lang="en-US" sz="1100" dirty="0"/>
          </a:p>
        </p:txBody>
      </p:sp>
      <p:sp>
        <p:nvSpPr>
          <p:cNvPr id="26" name="Shape 20"/>
          <p:cNvSpPr/>
          <p:nvPr/>
        </p:nvSpPr>
        <p:spPr>
          <a:xfrm>
            <a:off x="5879592" y="2651760"/>
            <a:ext cx="402336" cy="0"/>
          </a:xfrm>
          <a:prstGeom prst="line">
            <a:avLst/>
          </a:prstGeom>
          <a:noFill/>
          <a:ln w="28575">
            <a:solidFill>
              <a:srgbClr val="1E2761"/>
            </a:solidFill>
            <a:prstDash val="solid"/>
            <a:tailEnd type="triangle"/>
          </a:ln>
        </p:spPr>
      </p:sp>
      <p:sp>
        <p:nvSpPr>
          <p:cNvPr id="27" name="Text 21"/>
          <p:cNvSpPr txBox="1"/>
          <p:nvPr/>
        </p:nvSpPr>
        <p:spPr>
          <a:xfrm>
            <a:off x="5468112" y="3611880"/>
            <a:ext cx="1234440" cy="320040"/>
          </a:xfrm>
          <a:prstGeom prst="rect">
            <a:avLst/>
          </a:prstGeom>
          <a:noFill/>
          <a:ln/>
        </p:spPr>
        <p:txBody>
          <a:bodyPr wrap="square" lIns="0" tIns="0" rIns="0" bIns="0" rtlCol="0" anchor="t"/>
          <a:lstStyle/>
          <a:p>
            <a:pPr algn="ctr" indent="0" marL="0">
              <a:lnSpc>
                <a:spcPct val="100000"/>
              </a:lnSpc>
              <a:buNone/>
            </a:pPr>
            <a:r>
              <a:rPr lang="en-US" sz="1100" b="1" dirty="0">
                <a:solidFill>
                  <a:srgbClr val="9A5B00"/>
                </a:solidFill>
                <a:latin typeface="Times New Roman" pitchFamily="34" charset="0"/>
                <a:ea typeface="Times New Roman" pitchFamily="34" charset="-122"/>
                <a:cs typeface="Times New Roman" pitchFamily="34" charset="-120"/>
              </a:rPr>
              <a:t>UDP 1812/1813</a:t>
            </a:r>
            <a:endParaRPr lang="en-US" sz="1100" dirty="0"/>
          </a:p>
        </p:txBody>
      </p:sp>
      <p:sp>
        <p:nvSpPr>
          <p:cNvPr id="28" name="Shape 22"/>
          <p:cNvSpPr/>
          <p:nvPr/>
        </p:nvSpPr>
        <p:spPr>
          <a:xfrm>
            <a:off x="8759952" y="2651760"/>
            <a:ext cx="402336" cy="0"/>
          </a:xfrm>
          <a:prstGeom prst="line">
            <a:avLst/>
          </a:prstGeom>
          <a:noFill/>
          <a:ln w="28575">
            <a:solidFill>
              <a:srgbClr val="1E2761"/>
            </a:solidFill>
            <a:prstDash val="solid"/>
            <a:tailEnd type="triangle"/>
          </a:ln>
        </p:spPr>
      </p:sp>
      <p:sp>
        <p:nvSpPr>
          <p:cNvPr id="29" name="Text 23"/>
          <p:cNvSpPr txBox="1"/>
          <p:nvPr/>
        </p:nvSpPr>
        <p:spPr>
          <a:xfrm>
            <a:off x="8348472" y="3611880"/>
            <a:ext cx="1234440" cy="320040"/>
          </a:xfrm>
          <a:prstGeom prst="rect">
            <a:avLst/>
          </a:prstGeom>
          <a:noFill/>
          <a:ln/>
        </p:spPr>
        <p:txBody>
          <a:bodyPr wrap="square" lIns="0" tIns="0" rIns="0" bIns="0" rtlCol="0" anchor="t"/>
          <a:lstStyle/>
          <a:p>
            <a:pPr algn="ctr" indent="0" marL="0">
              <a:lnSpc>
                <a:spcPct val="100000"/>
              </a:lnSpc>
              <a:buNone/>
            </a:pPr>
            <a:r>
              <a:rPr lang="en-US" sz="1100" b="1" dirty="0">
                <a:solidFill>
                  <a:srgbClr val="9A5B00"/>
                </a:solidFill>
                <a:latin typeface="Times New Roman" pitchFamily="34" charset="0"/>
                <a:ea typeface="Times New Roman" pitchFamily="34" charset="-122"/>
                <a:cs typeface="Times New Roman" pitchFamily="34" charset="-120"/>
              </a:rPr>
              <a:t>LDAP / Kerberos</a:t>
            </a:r>
            <a:endParaRPr lang="en-US" sz="1100" dirty="0"/>
          </a:p>
        </p:txBody>
      </p:sp>
      <p:sp>
        <p:nvSpPr>
          <p:cNvPr id="30" name="Shape 24"/>
          <p:cNvSpPr/>
          <p:nvPr/>
        </p:nvSpPr>
        <p:spPr>
          <a:xfrm>
            <a:off x="548640" y="4069080"/>
            <a:ext cx="11064240" cy="621792"/>
          </a:xfrm>
          <a:prstGeom prst="roundRect">
            <a:avLst>
              <a:gd name="adj" fmla="val 13235"/>
            </a:avLst>
          </a:prstGeom>
          <a:solidFill>
            <a:srgbClr val="EEF2FB"/>
          </a:solidFill>
          <a:ln/>
        </p:spPr>
      </p:sp>
      <p:sp>
        <p:nvSpPr>
          <p:cNvPr id="31" name="Text 25"/>
          <p:cNvSpPr txBox="1"/>
          <p:nvPr/>
        </p:nvSpPr>
        <p:spPr>
          <a:xfrm>
            <a:off x="777240" y="4069080"/>
            <a:ext cx="1828800" cy="621792"/>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AAA</a:t>
            </a:r>
            <a:endParaRPr lang="en-US" sz="1600" dirty="0"/>
          </a:p>
        </p:txBody>
      </p:sp>
      <p:sp>
        <p:nvSpPr>
          <p:cNvPr id="32" name="Text 26"/>
          <p:cNvSpPr txBox="1"/>
          <p:nvPr/>
        </p:nvSpPr>
        <p:spPr>
          <a:xfrm>
            <a:off x="2606040" y="4069080"/>
            <a:ext cx="8869680" cy="62179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Autentifikatsiya (kim?), avtorizatsiya (qaysi VLAN, qancha vaqt?), hisob (accounting — kim qancha ulandi)</a:t>
            </a:r>
            <a:endParaRPr lang="en-US" sz="1500" dirty="0"/>
          </a:p>
        </p:txBody>
      </p:sp>
      <p:sp>
        <p:nvSpPr>
          <p:cNvPr id="33" name="Shape 27"/>
          <p:cNvSpPr/>
          <p:nvPr/>
        </p:nvSpPr>
        <p:spPr>
          <a:xfrm>
            <a:off x="548640" y="4782312"/>
            <a:ext cx="11064240" cy="621792"/>
          </a:xfrm>
          <a:prstGeom prst="roundRect">
            <a:avLst>
              <a:gd name="adj" fmla="val 13235"/>
            </a:avLst>
          </a:prstGeom>
          <a:solidFill>
            <a:srgbClr val="FFFFFF"/>
          </a:solidFill>
          <a:ln w="12700">
            <a:solidFill>
              <a:srgbClr val="CADCFC"/>
            </a:solidFill>
            <a:prstDash val="solid"/>
          </a:ln>
        </p:spPr>
      </p:sp>
      <p:sp>
        <p:nvSpPr>
          <p:cNvPr id="34" name="Text 28"/>
          <p:cNvSpPr txBox="1"/>
          <p:nvPr/>
        </p:nvSpPr>
        <p:spPr>
          <a:xfrm>
            <a:off x="777240" y="4782312"/>
            <a:ext cx="1828800" cy="621792"/>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Standart</a:t>
            </a:r>
            <a:endParaRPr lang="en-US" sz="1600" dirty="0"/>
          </a:p>
        </p:txBody>
      </p:sp>
      <p:sp>
        <p:nvSpPr>
          <p:cNvPr id="35" name="Text 29"/>
          <p:cNvSpPr txBox="1"/>
          <p:nvPr/>
        </p:nvSpPr>
        <p:spPr>
          <a:xfrm>
            <a:off x="2606040" y="4782312"/>
            <a:ext cx="8869680" cy="62179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RFC 2865 (autentifikatsiya), RFC 2866 (hisob); NAS va server o'rtasida umumiy sir</a:t>
            </a:r>
            <a:endParaRPr lang="en-US" sz="1500" dirty="0"/>
          </a:p>
        </p:txBody>
      </p:sp>
      <p:sp>
        <p:nvSpPr>
          <p:cNvPr id="36" name="Shape 30"/>
          <p:cNvSpPr/>
          <p:nvPr/>
        </p:nvSpPr>
        <p:spPr>
          <a:xfrm>
            <a:off x="548640" y="5495544"/>
            <a:ext cx="11064240" cy="621792"/>
          </a:xfrm>
          <a:prstGeom prst="roundRect">
            <a:avLst>
              <a:gd name="adj" fmla="val 13235"/>
            </a:avLst>
          </a:prstGeom>
          <a:solidFill>
            <a:srgbClr val="EEF2FB"/>
          </a:solidFill>
          <a:ln/>
        </p:spPr>
      </p:sp>
      <p:sp>
        <p:nvSpPr>
          <p:cNvPr id="37" name="Text 31"/>
          <p:cNvSpPr txBox="1"/>
          <p:nvPr/>
        </p:nvSpPr>
        <p:spPr>
          <a:xfrm>
            <a:off x="777240" y="5495544"/>
            <a:ext cx="1828800" cy="621792"/>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NPS siyosati</a:t>
            </a:r>
            <a:endParaRPr lang="en-US" sz="1600" dirty="0"/>
          </a:p>
        </p:txBody>
      </p:sp>
      <p:sp>
        <p:nvSpPr>
          <p:cNvPr id="38" name="Text 32"/>
          <p:cNvSpPr txBox="1"/>
          <p:nvPr/>
        </p:nvSpPr>
        <p:spPr>
          <a:xfrm>
            <a:off x="2606040" y="5495544"/>
            <a:ext cx="8869680" cy="62179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Masalan: «Talabalar» guruhi → Wi-Fi, VLAN 20; «Xodimlar» → VLAN 10 va VPN</a:t>
            </a:r>
            <a:endParaRPr lang="en-US" sz="1500" dirty="0"/>
          </a:p>
        </p:txBody>
      </p:sp>
      <p:sp>
        <p:nvSpPr>
          <p:cNvPr id="39" name="Text 33"/>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40" name="Text 34"/>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802.1X VA XAVFSIZLIK</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Korporativ Wi-Fi: parol yoki sertifikat?</a:t>
            </a:r>
            <a:endParaRPr lang="en-US" sz="3600" dirty="0"/>
          </a:p>
        </p:txBody>
      </p:sp>
      <p:sp>
        <p:nvSpPr>
          <p:cNvPr id="4" name="Shape 2"/>
          <p:cNvSpPr/>
          <p:nvPr/>
        </p:nvSpPr>
        <p:spPr>
          <a:xfrm>
            <a:off x="548640" y="1783080"/>
            <a:ext cx="5486400" cy="2743200"/>
          </a:xfrm>
          <a:prstGeom prst="roundRect">
            <a:avLst>
              <a:gd name="adj" fmla="val 3000"/>
            </a:avLst>
          </a:prstGeom>
          <a:solidFill>
            <a:srgbClr val="FDF3E2"/>
          </a:solidFill>
          <a:ln/>
        </p:spPr>
      </p:sp>
      <p:sp>
        <p:nvSpPr>
          <p:cNvPr id="5" name="Text 3"/>
          <p:cNvSpPr txBox="1"/>
          <p:nvPr/>
        </p:nvSpPr>
        <p:spPr>
          <a:xfrm>
            <a:off x="822960" y="1874520"/>
            <a:ext cx="2926080" cy="502920"/>
          </a:xfrm>
          <a:prstGeom prst="rect">
            <a:avLst/>
          </a:prstGeom>
          <a:noFill/>
          <a:ln/>
        </p:spPr>
        <p:txBody>
          <a:bodyPr wrap="square" lIns="0" tIns="0" rIns="0" bIns="0" rtlCol="0" anchor="t"/>
          <a:lstStyle/>
          <a:p>
            <a:pPr algn="l" indent="0" marL="0">
              <a:lnSpc>
                <a:spcPct val="100000"/>
              </a:lnSpc>
              <a:buNone/>
            </a:pPr>
            <a:r>
              <a:rPr lang="en-US" sz="2200" b="1" dirty="0">
                <a:solidFill>
                  <a:srgbClr val="9A5B00"/>
                </a:solidFill>
                <a:latin typeface="Times New Roman" pitchFamily="34" charset="0"/>
                <a:ea typeface="Times New Roman" pitchFamily="34" charset="-122"/>
                <a:cs typeface="Times New Roman" pitchFamily="34" charset="-120"/>
              </a:rPr>
              <a:t>PEAP-MSCHAPv2</a:t>
            </a:r>
            <a:endParaRPr lang="en-US" sz="2200" dirty="0"/>
          </a:p>
        </p:txBody>
      </p:sp>
      <p:sp>
        <p:nvSpPr>
          <p:cNvPr id="6" name="Text 4"/>
          <p:cNvSpPr txBox="1"/>
          <p:nvPr/>
        </p:nvSpPr>
        <p:spPr>
          <a:xfrm>
            <a:off x="3657600" y="1874520"/>
            <a:ext cx="2194560" cy="502920"/>
          </a:xfrm>
          <a:prstGeom prst="rect">
            <a:avLst/>
          </a:prstGeom>
          <a:noFill/>
          <a:ln/>
        </p:spPr>
        <p:txBody>
          <a:bodyPr wrap="square" lIns="0" tIns="0" rIns="0" bIns="0" rtlCol="0" anchor="ctr"/>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login + parol</a:t>
            </a:r>
            <a:endParaRPr lang="en-US" sz="1600" dirty="0"/>
          </a:p>
        </p:txBody>
      </p:sp>
      <p:sp>
        <p:nvSpPr>
          <p:cNvPr id="7" name="Text 5"/>
          <p:cNvSpPr txBox="1"/>
          <p:nvPr/>
        </p:nvSpPr>
        <p:spPr>
          <a:xfrm>
            <a:off x="822960" y="2514600"/>
            <a:ext cx="4937760" cy="19202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Foydalanuvchiga qulay, AD paroli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Server sertifikati tekshirilmasa — soxta kirish nuqtasi parol xeshini oladi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MSCHAPv2 — NTLM ga asoslangan</a:t>
            </a:r>
            <a:endParaRPr lang="en-US" sz="1600" dirty="0"/>
          </a:p>
        </p:txBody>
      </p:sp>
      <p:sp>
        <p:nvSpPr>
          <p:cNvPr id="8" name="Shape 6"/>
          <p:cNvSpPr/>
          <p:nvPr/>
        </p:nvSpPr>
        <p:spPr>
          <a:xfrm>
            <a:off x="6126480" y="1783080"/>
            <a:ext cx="5486400" cy="2743200"/>
          </a:xfrm>
          <a:prstGeom prst="roundRect">
            <a:avLst>
              <a:gd name="adj" fmla="val 3000"/>
            </a:avLst>
          </a:prstGeom>
          <a:solidFill>
            <a:srgbClr val="E8F3EC"/>
          </a:solidFill>
          <a:ln/>
        </p:spPr>
      </p:sp>
      <p:sp>
        <p:nvSpPr>
          <p:cNvPr id="9" name="Text 7"/>
          <p:cNvSpPr txBox="1"/>
          <p:nvPr/>
        </p:nvSpPr>
        <p:spPr>
          <a:xfrm>
            <a:off x="6400800" y="1874520"/>
            <a:ext cx="2926080" cy="502920"/>
          </a:xfrm>
          <a:prstGeom prst="rect">
            <a:avLst/>
          </a:prstGeom>
          <a:noFill/>
          <a:ln/>
        </p:spPr>
        <p:txBody>
          <a:bodyPr wrap="square" lIns="0" tIns="0" rIns="0" bIns="0" rtlCol="0" anchor="t"/>
          <a:lstStyle/>
          <a:p>
            <a:pPr algn="l" indent="0" marL="0">
              <a:lnSpc>
                <a:spcPct val="100000"/>
              </a:lnSpc>
              <a:buNone/>
            </a:pPr>
            <a:r>
              <a:rPr lang="en-US" sz="2200" b="1" dirty="0">
                <a:solidFill>
                  <a:srgbClr val="1F6B4A"/>
                </a:solidFill>
                <a:latin typeface="Times New Roman" pitchFamily="34" charset="0"/>
                <a:ea typeface="Times New Roman" pitchFamily="34" charset="-122"/>
                <a:cs typeface="Times New Roman" pitchFamily="34" charset="-120"/>
              </a:rPr>
              <a:t>EAP-TLS</a:t>
            </a:r>
            <a:endParaRPr lang="en-US" sz="2200" dirty="0"/>
          </a:p>
        </p:txBody>
      </p:sp>
      <p:sp>
        <p:nvSpPr>
          <p:cNvPr id="10" name="Text 8"/>
          <p:cNvSpPr txBox="1"/>
          <p:nvPr/>
        </p:nvSpPr>
        <p:spPr>
          <a:xfrm>
            <a:off x="9235440" y="1874520"/>
            <a:ext cx="2194560" cy="502920"/>
          </a:xfrm>
          <a:prstGeom prst="rect">
            <a:avLst/>
          </a:prstGeom>
          <a:noFill/>
          <a:ln/>
        </p:spPr>
        <p:txBody>
          <a:bodyPr wrap="square" lIns="0" tIns="0" rIns="0" bIns="0" rtlCol="0" anchor="ctr"/>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mijoz sertifikati</a:t>
            </a:r>
            <a:endParaRPr lang="en-US" sz="1600" dirty="0"/>
          </a:p>
        </p:txBody>
      </p:sp>
      <p:sp>
        <p:nvSpPr>
          <p:cNvPr id="11" name="Text 9"/>
          <p:cNvSpPr txBox="1"/>
          <p:nvPr/>
        </p:nvSpPr>
        <p:spPr>
          <a:xfrm>
            <a:off x="6400800" y="2514600"/>
            <a:ext cx="4937760" cy="19202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Parol yo'q — ikki tomonlama sertifikat</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Fishing va parol buzishga bardoshli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Sertifikatlarni tarqatish kerak (AD CS, GPO)</a:t>
            </a:r>
            <a:endParaRPr lang="en-US" sz="1600" dirty="0"/>
          </a:p>
        </p:txBody>
      </p:sp>
      <p:sp>
        <p:nvSpPr>
          <p:cNvPr id="12" name="Shape 10"/>
          <p:cNvSpPr/>
          <p:nvPr/>
        </p:nvSpPr>
        <p:spPr>
          <a:xfrm>
            <a:off x="548640" y="4709160"/>
            <a:ext cx="5440680" cy="1508760"/>
          </a:xfrm>
          <a:prstGeom prst="roundRect">
            <a:avLst>
              <a:gd name="adj" fmla="val 5455"/>
            </a:avLst>
          </a:prstGeom>
          <a:solidFill>
            <a:srgbClr val="1E2761"/>
          </a:solidFill>
          <a:ln/>
        </p:spPr>
      </p:sp>
      <p:sp>
        <p:nvSpPr>
          <p:cNvPr id="13" name="Text 11"/>
          <p:cNvSpPr txBox="1"/>
          <p:nvPr/>
        </p:nvSpPr>
        <p:spPr>
          <a:xfrm>
            <a:off x="777240" y="4800600"/>
            <a:ext cx="5029200" cy="411480"/>
          </a:xfrm>
          <a:prstGeom prst="rect">
            <a:avLst/>
          </a:prstGeom>
          <a:noFill/>
          <a:ln/>
        </p:spPr>
        <p:txBody>
          <a:bodyPr wrap="square" lIns="0" tIns="0" rIns="0" bIns="0" rtlCol="0" anchor="t"/>
          <a:lstStyle/>
          <a:p>
            <a:pPr algn="l" indent="0" marL="0">
              <a:lnSpc>
                <a:spcPct val="100000"/>
              </a:lnSpc>
              <a:buNone/>
            </a:pPr>
            <a:r>
              <a:rPr lang="en-US" sz="2000" b="1" dirty="0">
                <a:solidFill>
                  <a:srgbClr val="FFFFFF"/>
                </a:solidFill>
                <a:latin typeface="Times New Roman" pitchFamily="34" charset="0"/>
                <a:ea typeface="Times New Roman" pitchFamily="34" charset="-122"/>
                <a:cs typeface="Times New Roman" pitchFamily="34" charset="-120"/>
              </a:rPr>
              <a:t>eduroam</a:t>
            </a:r>
            <a:endParaRPr lang="en-US" sz="2000" dirty="0"/>
          </a:p>
        </p:txBody>
      </p:sp>
      <p:sp>
        <p:nvSpPr>
          <p:cNvPr id="14" name="Text 12"/>
          <p:cNvSpPr txBox="1"/>
          <p:nvPr/>
        </p:nvSpPr>
        <p:spPr>
          <a:xfrm>
            <a:off x="777240" y="5212080"/>
            <a:ext cx="5029200" cy="960120"/>
          </a:xfrm>
          <a:prstGeom prst="rect">
            <a:avLst/>
          </a:prstGeom>
          <a:noFill/>
          <a:ln/>
        </p:spPr>
        <p:txBody>
          <a:bodyPr wrap="square" lIns="0" tIns="0" rIns="0" bIns="0" rtlCol="0" anchor="t"/>
          <a:lstStyle/>
          <a:p>
            <a:pPr algn="l"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Universitetlararo Wi-Fi: talaba boshqa universitetda o'z login@universitet bilan ulanadi — so'rov RADIUS ierarxiyasi orqali o'z universitetiga boradi.</a:t>
            </a:r>
            <a:endParaRPr lang="en-US" sz="1500" dirty="0"/>
          </a:p>
        </p:txBody>
      </p:sp>
      <p:sp>
        <p:nvSpPr>
          <p:cNvPr id="15" name="Shape 13"/>
          <p:cNvSpPr/>
          <p:nvPr/>
        </p:nvSpPr>
        <p:spPr>
          <a:xfrm>
            <a:off x="6172200" y="4709160"/>
            <a:ext cx="5440680" cy="1508760"/>
          </a:xfrm>
          <a:prstGeom prst="roundRect">
            <a:avLst>
              <a:gd name="adj" fmla="val 5455"/>
            </a:avLst>
          </a:prstGeom>
          <a:solidFill>
            <a:srgbClr val="F7ECEA"/>
          </a:solidFill>
          <a:ln/>
        </p:spPr>
      </p:sp>
      <p:sp>
        <p:nvSpPr>
          <p:cNvPr id="16" name="Text 14"/>
          <p:cNvSpPr txBox="1"/>
          <p:nvPr/>
        </p:nvSpPr>
        <p:spPr>
          <a:xfrm>
            <a:off x="6400800" y="4800600"/>
            <a:ext cx="5029200" cy="411480"/>
          </a:xfrm>
          <a:prstGeom prst="rect">
            <a:avLst/>
          </a:prstGeom>
          <a:noFill/>
          <a:ln/>
        </p:spPr>
        <p:txBody>
          <a:bodyPr wrap="square" lIns="0" tIns="0" rIns="0" bIns="0" rtlCol="0" anchor="t"/>
          <a:lstStyle/>
          <a:p>
            <a:pPr algn="l" indent="0" marL="0">
              <a:lnSpc>
                <a:spcPct val="100000"/>
              </a:lnSpc>
              <a:buNone/>
            </a:pPr>
            <a:r>
              <a:rPr lang="en-US" sz="2000" b="1" dirty="0">
                <a:solidFill>
                  <a:srgbClr val="9E3B2E"/>
                </a:solidFill>
                <a:latin typeface="Times New Roman" pitchFamily="34" charset="0"/>
                <a:ea typeface="Times New Roman" pitchFamily="34" charset="-122"/>
                <a:cs typeface="Times New Roman" pitchFamily="34" charset="-120"/>
              </a:rPr>
              <a:t>Blast-RADIUS (2024)</a:t>
            </a:r>
            <a:endParaRPr lang="en-US" sz="2000" dirty="0"/>
          </a:p>
        </p:txBody>
      </p:sp>
      <p:sp>
        <p:nvSpPr>
          <p:cNvPr id="17" name="Text 15"/>
          <p:cNvSpPr txBox="1"/>
          <p:nvPr/>
        </p:nvSpPr>
        <p:spPr>
          <a:xfrm>
            <a:off x="6400800" y="5212080"/>
            <a:ext cx="5029200" cy="96012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MD5 kolliziyasi orqali server javobini soxtalashtirish (CVE-2024-3596). Himoya: Message-Authenticator atributi (NPS uchun KB5040268), RADIUS over TLS.</a:t>
            </a:r>
            <a:endParaRPr lang="en-US" sz="1500" dirty="0"/>
          </a:p>
        </p:txBody>
      </p:sp>
      <p:sp>
        <p:nvSpPr>
          <p:cNvPr id="18" name="Text 1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19" name="Text 1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A3778"/>
          </a:solidFill>
          <a:ln/>
        </p:spPr>
      </p:sp>
      <p:sp>
        <p:nvSpPr>
          <p:cNvPr id="3" name="Text 1"/>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9FB0E0"/>
                </a:solidFill>
                <a:latin typeface="Times New Roman" pitchFamily="34" charset="0"/>
                <a:ea typeface="Times New Roman" pitchFamily="34" charset="-122"/>
                <a:cs typeface="Times New Roman" pitchFamily="34" charset="-120"/>
              </a:rPr>
              <a:t>XULOSA</a:t>
            </a:r>
            <a:endParaRPr lang="en-US" sz="1600" dirty="0"/>
          </a:p>
        </p:txBody>
      </p:sp>
      <p:sp>
        <p:nvSpPr>
          <p:cNvPr id="4" name="Text 2"/>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FFFFFF"/>
                </a:solidFill>
                <a:latin typeface="Times New Roman" pitchFamily="34" charset="0"/>
                <a:ea typeface="Times New Roman" pitchFamily="34" charset="-122"/>
                <a:cs typeface="Times New Roman" pitchFamily="34" charset="-120"/>
              </a:rPr>
              <a:t>Bugungi darsning besh asosiy xulosasi</a:t>
            </a:r>
            <a:endParaRPr lang="en-US" sz="3600" dirty="0"/>
          </a:p>
        </p:txBody>
      </p:sp>
      <p:sp>
        <p:nvSpPr>
          <p:cNvPr id="5" name="Shape 3"/>
          <p:cNvSpPr/>
          <p:nvPr/>
        </p:nvSpPr>
        <p:spPr>
          <a:xfrm>
            <a:off x="548640" y="1856232"/>
            <a:ext cx="548640" cy="548640"/>
          </a:xfrm>
          <a:prstGeom prst="roundRect">
            <a:avLst>
              <a:gd name="adj" fmla="val 13333"/>
            </a:avLst>
          </a:prstGeom>
          <a:solidFill>
            <a:srgbClr val="2A3778"/>
          </a:solidFill>
          <a:ln/>
        </p:spPr>
      </p:sp>
      <p:sp>
        <p:nvSpPr>
          <p:cNvPr id="6" name="Text 4"/>
          <p:cNvSpPr txBox="1"/>
          <p:nvPr/>
        </p:nvSpPr>
        <p:spPr>
          <a:xfrm>
            <a:off x="548640" y="185623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1</a:t>
            </a:r>
            <a:endParaRPr lang="en-US" sz="2000" dirty="0"/>
          </a:p>
        </p:txBody>
      </p:sp>
      <p:sp>
        <p:nvSpPr>
          <p:cNvPr id="7" name="Text 5"/>
          <p:cNvSpPr txBox="1"/>
          <p:nvPr/>
        </p:nvSpPr>
        <p:spPr>
          <a:xfrm>
            <a:off x="1325880" y="178308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Katalog xizmati identifikatorlarni bitta joyda saqlaydi; LDAP — u bilan ishlash protokoli.</a:t>
            </a:r>
            <a:endParaRPr lang="en-US" sz="1800" dirty="0"/>
          </a:p>
        </p:txBody>
      </p:sp>
      <p:sp>
        <p:nvSpPr>
          <p:cNvPr id="8" name="Shape 6"/>
          <p:cNvSpPr/>
          <p:nvPr/>
        </p:nvSpPr>
        <p:spPr>
          <a:xfrm>
            <a:off x="548640" y="2679192"/>
            <a:ext cx="548640" cy="548640"/>
          </a:xfrm>
          <a:prstGeom prst="roundRect">
            <a:avLst>
              <a:gd name="adj" fmla="val 13333"/>
            </a:avLst>
          </a:prstGeom>
          <a:solidFill>
            <a:srgbClr val="2A3778"/>
          </a:solidFill>
          <a:ln/>
        </p:spPr>
      </p:sp>
      <p:sp>
        <p:nvSpPr>
          <p:cNvPr id="9" name="Text 7"/>
          <p:cNvSpPr txBox="1"/>
          <p:nvPr/>
        </p:nvSpPr>
        <p:spPr>
          <a:xfrm>
            <a:off x="548640" y="267919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txBox="1"/>
          <p:nvPr/>
        </p:nvSpPr>
        <p:spPr>
          <a:xfrm>
            <a:off x="1325880" y="260604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Active Directory: domen, OU, guruhlar va GPO; imtiyozlar AGDLP orqali guruhlarga beriladi.</a:t>
            </a:r>
            <a:endParaRPr lang="en-US" sz="1800" dirty="0"/>
          </a:p>
        </p:txBody>
      </p:sp>
      <p:sp>
        <p:nvSpPr>
          <p:cNvPr id="11" name="Shape 9"/>
          <p:cNvSpPr/>
          <p:nvPr/>
        </p:nvSpPr>
        <p:spPr>
          <a:xfrm>
            <a:off x="548640" y="3502152"/>
            <a:ext cx="548640" cy="548640"/>
          </a:xfrm>
          <a:prstGeom prst="roundRect">
            <a:avLst>
              <a:gd name="adj" fmla="val 13333"/>
            </a:avLst>
          </a:prstGeom>
          <a:solidFill>
            <a:srgbClr val="2A3778"/>
          </a:solidFill>
          <a:ln/>
        </p:spPr>
      </p:sp>
      <p:sp>
        <p:nvSpPr>
          <p:cNvPr id="12" name="Text 10"/>
          <p:cNvSpPr txBox="1"/>
          <p:nvPr/>
        </p:nvSpPr>
        <p:spPr>
          <a:xfrm>
            <a:off x="548640" y="350215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3</a:t>
            </a:r>
            <a:endParaRPr lang="en-US" sz="2000" dirty="0"/>
          </a:p>
        </p:txBody>
      </p:sp>
      <p:sp>
        <p:nvSpPr>
          <p:cNvPr id="13" name="Text 11"/>
          <p:cNvSpPr txBox="1"/>
          <p:nvPr/>
        </p:nvSpPr>
        <p:spPr>
          <a:xfrm>
            <a:off x="1325880" y="342900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Kerberos: parol bir marta ishlatiladi, keyin TGT va xizmat chiptalari; KDC — domen kontrolleri.</a:t>
            </a:r>
            <a:endParaRPr lang="en-US" sz="1800" dirty="0"/>
          </a:p>
        </p:txBody>
      </p:sp>
      <p:sp>
        <p:nvSpPr>
          <p:cNvPr id="14" name="Shape 12"/>
          <p:cNvSpPr/>
          <p:nvPr/>
        </p:nvSpPr>
        <p:spPr>
          <a:xfrm>
            <a:off x="548640" y="4325112"/>
            <a:ext cx="548640" cy="548640"/>
          </a:xfrm>
          <a:prstGeom prst="roundRect">
            <a:avLst>
              <a:gd name="adj" fmla="val 13333"/>
            </a:avLst>
          </a:prstGeom>
          <a:solidFill>
            <a:srgbClr val="2A3778"/>
          </a:solidFill>
          <a:ln/>
        </p:spPr>
      </p:sp>
      <p:sp>
        <p:nvSpPr>
          <p:cNvPr id="15" name="Text 13"/>
          <p:cNvSpPr txBox="1"/>
          <p:nvPr/>
        </p:nvSpPr>
        <p:spPr>
          <a:xfrm>
            <a:off x="548640" y="432511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4</a:t>
            </a:r>
            <a:endParaRPr lang="en-US" sz="2000" dirty="0"/>
          </a:p>
        </p:txBody>
      </p:sp>
      <p:sp>
        <p:nvSpPr>
          <p:cNvPr id="16" name="Text 14"/>
          <p:cNvSpPr txBox="1"/>
          <p:nvPr/>
        </p:nvSpPr>
        <p:spPr>
          <a:xfrm>
            <a:off x="1325880" y="425196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Kerberoasting va Golden Ticket — oflayn buzish va krbtgt; himoya: gMSA, AES, DC himoyasi.</a:t>
            </a:r>
            <a:endParaRPr lang="en-US" sz="1800" dirty="0"/>
          </a:p>
        </p:txBody>
      </p:sp>
      <p:sp>
        <p:nvSpPr>
          <p:cNvPr id="17" name="Shape 15"/>
          <p:cNvSpPr/>
          <p:nvPr/>
        </p:nvSpPr>
        <p:spPr>
          <a:xfrm>
            <a:off x="548640" y="5148072"/>
            <a:ext cx="548640" cy="548640"/>
          </a:xfrm>
          <a:prstGeom prst="roundRect">
            <a:avLst>
              <a:gd name="adj" fmla="val 13333"/>
            </a:avLst>
          </a:prstGeom>
          <a:solidFill>
            <a:srgbClr val="2A3778"/>
          </a:solidFill>
          <a:ln/>
        </p:spPr>
      </p:sp>
      <p:sp>
        <p:nvSpPr>
          <p:cNvPr id="18" name="Text 16"/>
          <p:cNvSpPr txBox="1"/>
          <p:nvPr/>
        </p:nvSpPr>
        <p:spPr>
          <a:xfrm>
            <a:off x="548640" y="514807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5</a:t>
            </a:r>
            <a:endParaRPr lang="en-US" sz="2000" dirty="0"/>
          </a:p>
        </p:txBody>
      </p:sp>
      <p:sp>
        <p:nvSpPr>
          <p:cNvPr id="19" name="Text 17"/>
          <p:cNvSpPr txBox="1"/>
          <p:nvPr/>
        </p:nvSpPr>
        <p:spPr>
          <a:xfrm>
            <a:off x="1325880" y="507492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RADIUS (NPS) Wi-Fi va VPN ga kirishni AD guruhlari asosida boshqaradi; EAP-TLS eng xavfsiz.</a:t>
            </a:r>
            <a:endParaRPr lang="en-US" sz="18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TEZKOR TEST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To'rt savol</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listo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5440680" cy="2103120"/>
          </a:xfrm>
          <a:prstGeom prst="roundRect">
            <a:avLst>
              <a:gd name="adj" fmla="val 3913"/>
            </a:avLst>
          </a:prstGeom>
          <a:solidFill>
            <a:srgbClr val="FFFFFF"/>
          </a:solidFill>
          <a:ln/>
        </p:spPr>
      </p:sp>
      <p:sp>
        <p:nvSpPr>
          <p:cNvPr id="7" name="Shape 4"/>
          <p:cNvSpPr/>
          <p:nvPr/>
        </p:nvSpPr>
        <p:spPr>
          <a:xfrm>
            <a:off x="548640" y="1783080"/>
            <a:ext cx="548640" cy="2103120"/>
          </a:xfrm>
          <a:prstGeom prst="roundRect">
            <a:avLst>
              <a:gd name="adj" fmla="val 15000"/>
            </a:avLst>
          </a:prstGeom>
          <a:solidFill>
            <a:srgbClr val="D9932B"/>
          </a:solidFill>
          <a:ln/>
        </p:spPr>
      </p:sp>
      <p:sp>
        <p:nvSpPr>
          <p:cNvPr id="8" name="Text 5"/>
          <p:cNvSpPr txBox="1"/>
          <p:nvPr/>
        </p:nvSpPr>
        <p:spPr>
          <a:xfrm>
            <a:off x="54864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9" name="Text 6"/>
          <p:cNvSpPr txBox="1"/>
          <p:nvPr/>
        </p:nvSpPr>
        <p:spPr>
          <a:xfrm>
            <a:off x="128016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TGT qaysi kalit bilan shifrlanadi?</a:t>
            </a:r>
            <a:endParaRPr lang="en-US" sz="1800" dirty="0"/>
          </a:p>
        </p:txBody>
      </p:sp>
      <p:sp>
        <p:nvSpPr>
          <p:cNvPr id="10" name="Text 7"/>
          <p:cNvSpPr txBox="1"/>
          <p:nvPr/>
        </p:nvSpPr>
        <p:spPr>
          <a:xfrm>
            <a:off x="128016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Foydalanuvchi paroli</a:t>
            </a:r>
            <a:endParaRPr lang="en-US" sz="1600" dirty="0"/>
          </a:p>
        </p:txBody>
      </p:sp>
      <p:sp>
        <p:nvSpPr>
          <p:cNvPr id="11" name="Text 8"/>
          <p:cNvSpPr txBox="1"/>
          <p:nvPr/>
        </p:nvSpPr>
        <p:spPr>
          <a:xfrm>
            <a:off x="128016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krbtgt qayd yozuvi kaliti</a:t>
            </a:r>
            <a:endParaRPr lang="en-US" sz="1600" dirty="0"/>
          </a:p>
        </p:txBody>
      </p:sp>
      <p:sp>
        <p:nvSpPr>
          <p:cNvPr id="12" name="Text 9"/>
          <p:cNvSpPr txBox="1"/>
          <p:nvPr/>
        </p:nvSpPr>
        <p:spPr>
          <a:xfrm>
            <a:off x="128016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Xizmat kaliti</a:t>
            </a:r>
            <a:endParaRPr lang="en-US" sz="1600" dirty="0"/>
          </a:p>
        </p:txBody>
      </p:sp>
      <p:sp>
        <p:nvSpPr>
          <p:cNvPr id="13" name="Text 10"/>
          <p:cNvSpPr txBox="1"/>
          <p:nvPr/>
        </p:nvSpPr>
        <p:spPr>
          <a:xfrm>
            <a:off x="128016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Shifrlanmaydi</a:t>
            </a:r>
            <a:endParaRPr lang="en-US" sz="1600" dirty="0"/>
          </a:p>
        </p:txBody>
      </p:sp>
      <p:sp>
        <p:nvSpPr>
          <p:cNvPr id="14" name="Shape 11"/>
          <p:cNvSpPr/>
          <p:nvPr/>
        </p:nvSpPr>
        <p:spPr>
          <a:xfrm>
            <a:off x="6172200" y="1783080"/>
            <a:ext cx="5440680" cy="2103120"/>
          </a:xfrm>
          <a:prstGeom prst="roundRect">
            <a:avLst>
              <a:gd name="adj" fmla="val 3913"/>
            </a:avLst>
          </a:prstGeom>
          <a:solidFill>
            <a:srgbClr val="FFFFFF"/>
          </a:solidFill>
          <a:ln/>
        </p:spPr>
      </p:sp>
      <p:sp>
        <p:nvSpPr>
          <p:cNvPr id="15" name="Shape 12"/>
          <p:cNvSpPr/>
          <p:nvPr/>
        </p:nvSpPr>
        <p:spPr>
          <a:xfrm>
            <a:off x="6172200" y="1783080"/>
            <a:ext cx="548640" cy="2103120"/>
          </a:xfrm>
          <a:prstGeom prst="roundRect">
            <a:avLst>
              <a:gd name="adj" fmla="val 15000"/>
            </a:avLst>
          </a:prstGeom>
          <a:solidFill>
            <a:srgbClr val="D9932B"/>
          </a:solidFill>
          <a:ln/>
        </p:spPr>
      </p:sp>
      <p:sp>
        <p:nvSpPr>
          <p:cNvPr id="16" name="Text 13"/>
          <p:cNvSpPr txBox="1"/>
          <p:nvPr/>
        </p:nvSpPr>
        <p:spPr>
          <a:xfrm>
            <a:off x="617220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17" name="Text 14"/>
          <p:cNvSpPr txBox="1"/>
          <p:nvPr/>
        </p:nvSpPr>
        <p:spPr>
          <a:xfrm>
            <a:off x="690372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LDAP da DN nimani bildiradi?</a:t>
            </a:r>
            <a:endParaRPr lang="en-US" sz="1800" dirty="0"/>
          </a:p>
        </p:txBody>
      </p:sp>
      <p:sp>
        <p:nvSpPr>
          <p:cNvPr id="18" name="Text 15"/>
          <p:cNvSpPr txBox="1"/>
          <p:nvPr/>
        </p:nvSpPr>
        <p:spPr>
          <a:xfrm>
            <a:off x="690372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Domen nomi</a:t>
            </a:r>
            <a:endParaRPr lang="en-US" sz="1600" dirty="0"/>
          </a:p>
        </p:txBody>
      </p:sp>
      <p:sp>
        <p:nvSpPr>
          <p:cNvPr id="19" name="Text 16"/>
          <p:cNvSpPr txBox="1"/>
          <p:nvPr/>
        </p:nvSpPr>
        <p:spPr>
          <a:xfrm>
            <a:off x="690372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Obyektning to'liq yo'li</a:t>
            </a:r>
            <a:endParaRPr lang="en-US" sz="1600" dirty="0"/>
          </a:p>
        </p:txBody>
      </p:sp>
      <p:sp>
        <p:nvSpPr>
          <p:cNvPr id="20" name="Text 17"/>
          <p:cNvSpPr txBox="1"/>
          <p:nvPr/>
        </p:nvSpPr>
        <p:spPr>
          <a:xfrm>
            <a:off x="690372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Guruh a'zoligi</a:t>
            </a:r>
            <a:endParaRPr lang="en-US" sz="1600" dirty="0"/>
          </a:p>
        </p:txBody>
      </p:sp>
      <p:sp>
        <p:nvSpPr>
          <p:cNvPr id="21" name="Text 18"/>
          <p:cNvSpPr txBox="1"/>
          <p:nvPr/>
        </p:nvSpPr>
        <p:spPr>
          <a:xfrm>
            <a:off x="690372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Parol xeshi</a:t>
            </a:r>
            <a:endParaRPr lang="en-US" sz="1600" dirty="0"/>
          </a:p>
        </p:txBody>
      </p:sp>
      <p:sp>
        <p:nvSpPr>
          <p:cNvPr id="22" name="Shape 19"/>
          <p:cNvSpPr/>
          <p:nvPr/>
        </p:nvSpPr>
        <p:spPr>
          <a:xfrm>
            <a:off x="548640" y="4069080"/>
            <a:ext cx="5440680" cy="2103120"/>
          </a:xfrm>
          <a:prstGeom prst="roundRect">
            <a:avLst>
              <a:gd name="adj" fmla="val 3913"/>
            </a:avLst>
          </a:prstGeom>
          <a:solidFill>
            <a:srgbClr val="FFFFFF"/>
          </a:solidFill>
          <a:ln/>
        </p:spPr>
      </p:sp>
      <p:sp>
        <p:nvSpPr>
          <p:cNvPr id="23" name="Shape 20"/>
          <p:cNvSpPr/>
          <p:nvPr/>
        </p:nvSpPr>
        <p:spPr>
          <a:xfrm>
            <a:off x="548640" y="4069080"/>
            <a:ext cx="548640" cy="2103120"/>
          </a:xfrm>
          <a:prstGeom prst="roundRect">
            <a:avLst>
              <a:gd name="adj" fmla="val 15000"/>
            </a:avLst>
          </a:prstGeom>
          <a:solidFill>
            <a:srgbClr val="D9932B"/>
          </a:solidFill>
          <a:ln/>
        </p:spPr>
      </p:sp>
      <p:sp>
        <p:nvSpPr>
          <p:cNvPr id="24" name="Text 21"/>
          <p:cNvSpPr txBox="1"/>
          <p:nvPr/>
        </p:nvSpPr>
        <p:spPr>
          <a:xfrm>
            <a:off x="54864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25" name="Text 22"/>
          <p:cNvSpPr txBox="1"/>
          <p:nvPr/>
        </p:nvSpPr>
        <p:spPr>
          <a:xfrm>
            <a:off x="128016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Kerberoasting nimaga asoslangan?</a:t>
            </a:r>
            <a:endParaRPr lang="en-US" sz="1800" dirty="0"/>
          </a:p>
        </p:txBody>
      </p:sp>
      <p:sp>
        <p:nvSpPr>
          <p:cNvPr id="26" name="Text 23"/>
          <p:cNvSpPr txBox="1"/>
          <p:nvPr/>
        </p:nvSpPr>
        <p:spPr>
          <a:xfrm>
            <a:off x="128016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Soat og'ishiga</a:t>
            </a:r>
            <a:endParaRPr lang="en-US" sz="1600" dirty="0"/>
          </a:p>
        </p:txBody>
      </p:sp>
      <p:sp>
        <p:nvSpPr>
          <p:cNvPr id="27" name="Text 24"/>
          <p:cNvSpPr txBox="1"/>
          <p:nvPr/>
        </p:nvSpPr>
        <p:spPr>
          <a:xfrm>
            <a:off x="128016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Xizmat chiptasini oflayn buzishga</a:t>
            </a:r>
            <a:endParaRPr lang="en-US" sz="1600" dirty="0"/>
          </a:p>
        </p:txBody>
      </p:sp>
      <p:sp>
        <p:nvSpPr>
          <p:cNvPr id="28" name="Text 25"/>
          <p:cNvSpPr txBox="1"/>
          <p:nvPr/>
        </p:nvSpPr>
        <p:spPr>
          <a:xfrm>
            <a:off x="128016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LDAP anonim bind</a:t>
            </a:r>
            <a:endParaRPr lang="en-US" sz="1600" dirty="0"/>
          </a:p>
        </p:txBody>
      </p:sp>
      <p:sp>
        <p:nvSpPr>
          <p:cNvPr id="29" name="Text 26"/>
          <p:cNvSpPr txBox="1"/>
          <p:nvPr/>
        </p:nvSpPr>
        <p:spPr>
          <a:xfrm>
            <a:off x="128016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RADIUS umumiy siriga</a:t>
            </a:r>
            <a:endParaRPr lang="en-US" sz="1600" dirty="0"/>
          </a:p>
        </p:txBody>
      </p:sp>
      <p:sp>
        <p:nvSpPr>
          <p:cNvPr id="30" name="Shape 27"/>
          <p:cNvSpPr/>
          <p:nvPr/>
        </p:nvSpPr>
        <p:spPr>
          <a:xfrm>
            <a:off x="6172200" y="4069080"/>
            <a:ext cx="5440680" cy="2103120"/>
          </a:xfrm>
          <a:prstGeom prst="roundRect">
            <a:avLst>
              <a:gd name="adj" fmla="val 3913"/>
            </a:avLst>
          </a:prstGeom>
          <a:solidFill>
            <a:srgbClr val="FFFFFF"/>
          </a:solidFill>
          <a:ln/>
        </p:spPr>
      </p:sp>
      <p:sp>
        <p:nvSpPr>
          <p:cNvPr id="31" name="Shape 28"/>
          <p:cNvSpPr/>
          <p:nvPr/>
        </p:nvSpPr>
        <p:spPr>
          <a:xfrm>
            <a:off x="6172200" y="4069080"/>
            <a:ext cx="548640" cy="2103120"/>
          </a:xfrm>
          <a:prstGeom prst="roundRect">
            <a:avLst>
              <a:gd name="adj" fmla="val 15000"/>
            </a:avLst>
          </a:prstGeom>
          <a:solidFill>
            <a:srgbClr val="D9932B"/>
          </a:solidFill>
          <a:ln/>
        </p:spPr>
      </p:sp>
      <p:sp>
        <p:nvSpPr>
          <p:cNvPr id="32" name="Text 29"/>
          <p:cNvSpPr txBox="1"/>
          <p:nvPr/>
        </p:nvSpPr>
        <p:spPr>
          <a:xfrm>
            <a:off x="617220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33" name="Text 30"/>
          <p:cNvSpPr txBox="1"/>
          <p:nvPr/>
        </p:nvSpPr>
        <p:spPr>
          <a:xfrm>
            <a:off x="690372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Windows Server'da RADIUS server qaysi rol?</a:t>
            </a:r>
            <a:endParaRPr lang="en-US" sz="1800" dirty="0"/>
          </a:p>
        </p:txBody>
      </p:sp>
      <p:sp>
        <p:nvSpPr>
          <p:cNvPr id="34" name="Text 31"/>
          <p:cNvSpPr txBox="1"/>
          <p:nvPr/>
        </p:nvSpPr>
        <p:spPr>
          <a:xfrm>
            <a:off x="690372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AD CS</a:t>
            </a:r>
            <a:endParaRPr lang="en-US" sz="1600" dirty="0"/>
          </a:p>
        </p:txBody>
      </p:sp>
      <p:sp>
        <p:nvSpPr>
          <p:cNvPr id="35" name="Text 32"/>
          <p:cNvSpPr txBox="1"/>
          <p:nvPr/>
        </p:nvSpPr>
        <p:spPr>
          <a:xfrm>
            <a:off x="690372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DHCP</a:t>
            </a:r>
            <a:endParaRPr lang="en-US" sz="1600" dirty="0"/>
          </a:p>
        </p:txBody>
      </p:sp>
      <p:sp>
        <p:nvSpPr>
          <p:cNvPr id="36" name="Text 33"/>
          <p:cNvSpPr txBox="1"/>
          <p:nvPr/>
        </p:nvSpPr>
        <p:spPr>
          <a:xfrm>
            <a:off x="690372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NPS</a:t>
            </a:r>
            <a:endParaRPr lang="en-US" sz="1600" dirty="0"/>
          </a:p>
        </p:txBody>
      </p:sp>
      <p:sp>
        <p:nvSpPr>
          <p:cNvPr id="37" name="Text 34"/>
          <p:cNvSpPr txBox="1"/>
          <p:nvPr/>
        </p:nvSpPr>
        <p:spPr>
          <a:xfrm>
            <a:off x="690372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Hyper-V</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MUSTAQIL 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Uyga vazifa va keyingi mavzu</a:t>
            </a:r>
            <a:endParaRPr lang="en-US" sz="3600" dirty="0"/>
          </a:p>
        </p:txBody>
      </p:sp>
      <p:sp>
        <p:nvSpPr>
          <p:cNvPr id="4" name="Shape 2"/>
          <p:cNvSpPr/>
          <p:nvPr/>
        </p:nvSpPr>
        <p:spPr>
          <a:xfrm>
            <a:off x="548640" y="1783080"/>
            <a:ext cx="7086600" cy="1298448"/>
          </a:xfrm>
          <a:prstGeom prst="roundRect">
            <a:avLst>
              <a:gd name="adj" fmla="val 6338"/>
            </a:avLst>
          </a:prstGeom>
          <a:solidFill>
            <a:srgbClr val="EEF2FB"/>
          </a:solidFill>
          <a:ln/>
        </p:spPr>
      </p:sp>
      <p:sp>
        <p:nvSpPr>
          <p:cNvPr id="5" name="Shape 3"/>
          <p:cNvSpPr/>
          <p:nvPr/>
        </p:nvSpPr>
        <p:spPr>
          <a:xfrm>
            <a:off x="822960" y="2103120"/>
            <a:ext cx="658368" cy="658368"/>
          </a:xfrm>
          <a:prstGeom prst="ellipse">
            <a:avLst/>
          </a:prstGeom>
          <a:solidFill>
            <a:srgbClr val="1E2761"/>
          </a:solidFill>
          <a:ln/>
        </p:spPr>
      </p:sp>
      <p:pic>
        <p:nvPicPr>
          <p:cNvPr id="6" name="Image 0" descr="/home/claude/fob-slides/icons_out/sitemap_white.png"/>
          <p:cNvPicPr>
            <a:picLocks noChangeAspect="1"/>
          </p:cNvPicPr>
          <p:nvPr/>
        </p:nvPicPr>
        <p:blipFill>
          <a:blip r:embed="rId1"/>
          <a:stretch>
            <a:fillRect/>
          </a:stretch>
        </p:blipFill>
        <p:spPr>
          <a:xfrm>
            <a:off x="971093" y="2251253"/>
            <a:ext cx="362102" cy="362102"/>
          </a:xfrm>
          <a:prstGeom prst="rect">
            <a:avLst/>
          </a:prstGeom>
        </p:spPr>
      </p:pic>
      <p:sp>
        <p:nvSpPr>
          <p:cNvPr id="7" name="Text 4"/>
          <p:cNvSpPr txBox="1"/>
          <p:nvPr/>
        </p:nvSpPr>
        <p:spPr>
          <a:xfrm>
            <a:off x="1737360" y="1892808"/>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Loyihalash</a:t>
            </a:r>
            <a:endParaRPr lang="en-US" sz="2000" dirty="0"/>
          </a:p>
        </p:txBody>
      </p:sp>
      <p:sp>
        <p:nvSpPr>
          <p:cNvPr id="8" name="Text 5"/>
          <p:cNvSpPr txBox="1"/>
          <p:nvPr/>
        </p:nvSpPr>
        <p:spPr>
          <a:xfrm>
            <a:off x="1737360" y="2286000"/>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Fakultet uchun OU tuzilmasi va AGDLP guruhlarini chizing: kafedralar, dekanat, talabalar, kompyuter sinflari.</a:t>
            </a:r>
            <a:endParaRPr lang="en-US" sz="1600" dirty="0"/>
          </a:p>
        </p:txBody>
      </p:sp>
      <p:sp>
        <p:nvSpPr>
          <p:cNvPr id="9" name="Shape 6"/>
          <p:cNvSpPr/>
          <p:nvPr/>
        </p:nvSpPr>
        <p:spPr>
          <a:xfrm>
            <a:off x="548640" y="3227832"/>
            <a:ext cx="7086600" cy="1298448"/>
          </a:xfrm>
          <a:prstGeom prst="roundRect">
            <a:avLst>
              <a:gd name="adj" fmla="val 6338"/>
            </a:avLst>
          </a:prstGeom>
          <a:solidFill>
            <a:srgbClr val="EEF2FB"/>
          </a:solidFill>
          <a:ln/>
        </p:spPr>
      </p:sp>
      <p:sp>
        <p:nvSpPr>
          <p:cNvPr id="10" name="Shape 7"/>
          <p:cNvSpPr/>
          <p:nvPr/>
        </p:nvSpPr>
        <p:spPr>
          <a:xfrm>
            <a:off x="822960" y="3547872"/>
            <a:ext cx="658368" cy="658368"/>
          </a:xfrm>
          <a:prstGeom prst="ellipse">
            <a:avLst/>
          </a:prstGeom>
          <a:solidFill>
            <a:srgbClr val="1E2761"/>
          </a:solidFill>
          <a:ln/>
        </p:spPr>
      </p:sp>
      <p:pic>
        <p:nvPicPr>
          <p:cNvPr id="11" name="Image 1" descr="/home/claude/fob-slides/icons_out/terminal_white.png"/>
          <p:cNvPicPr>
            <a:picLocks noChangeAspect="1"/>
          </p:cNvPicPr>
          <p:nvPr/>
        </p:nvPicPr>
        <p:blipFill>
          <a:blip r:embed="rId2"/>
          <a:stretch>
            <a:fillRect/>
          </a:stretch>
        </p:blipFill>
        <p:spPr>
          <a:xfrm>
            <a:off x="971093" y="3696005"/>
            <a:ext cx="362102" cy="362102"/>
          </a:xfrm>
          <a:prstGeom prst="rect">
            <a:avLst/>
          </a:prstGeom>
        </p:spPr>
      </p:pic>
      <p:sp>
        <p:nvSpPr>
          <p:cNvPr id="12" name="Text 8"/>
          <p:cNvSpPr txBox="1"/>
          <p:nvPr/>
        </p:nvSpPr>
        <p:spPr>
          <a:xfrm>
            <a:off x="1737360" y="3337560"/>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Kuzatish</a:t>
            </a:r>
            <a:endParaRPr lang="en-US" sz="2000" dirty="0"/>
          </a:p>
        </p:txBody>
      </p:sp>
      <p:sp>
        <p:nvSpPr>
          <p:cNvPr id="13" name="Text 9"/>
          <p:cNvSpPr txBox="1"/>
          <p:nvPr/>
        </p:nvSpPr>
        <p:spPr>
          <a:xfrm>
            <a:off x="1737360" y="3730752"/>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Domen kompyuterida whoami /groups va klist natijalarini yozib, har bir chiptani izohlang.</a:t>
            </a:r>
            <a:endParaRPr lang="en-US" sz="1600" dirty="0"/>
          </a:p>
        </p:txBody>
      </p:sp>
      <p:sp>
        <p:nvSpPr>
          <p:cNvPr id="14" name="Shape 10"/>
          <p:cNvSpPr/>
          <p:nvPr/>
        </p:nvSpPr>
        <p:spPr>
          <a:xfrm>
            <a:off x="548640" y="4672584"/>
            <a:ext cx="7086600" cy="1298448"/>
          </a:xfrm>
          <a:prstGeom prst="roundRect">
            <a:avLst>
              <a:gd name="adj" fmla="val 6338"/>
            </a:avLst>
          </a:prstGeom>
          <a:solidFill>
            <a:srgbClr val="EEF2FB"/>
          </a:solidFill>
          <a:ln/>
        </p:spPr>
      </p:sp>
      <p:sp>
        <p:nvSpPr>
          <p:cNvPr id="15" name="Shape 11"/>
          <p:cNvSpPr/>
          <p:nvPr/>
        </p:nvSpPr>
        <p:spPr>
          <a:xfrm>
            <a:off x="822960" y="4992624"/>
            <a:ext cx="658368" cy="658368"/>
          </a:xfrm>
          <a:prstGeom prst="ellipse">
            <a:avLst/>
          </a:prstGeom>
          <a:solidFill>
            <a:srgbClr val="1E2761"/>
          </a:solidFill>
          <a:ln/>
        </p:spPr>
      </p:sp>
      <p:pic>
        <p:nvPicPr>
          <p:cNvPr id="16" name="Image 2" descr="/home/claude/fob-slides/icons_out/code_white.png"/>
          <p:cNvPicPr>
            <a:picLocks noChangeAspect="1"/>
          </p:cNvPicPr>
          <p:nvPr/>
        </p:nvPicPr>
        <p:blipFill>
          <a:blip r:embed="rId3"/>
          <a:stretch>
            <a:fillRect/>
          </a:stretch>
        </p:blipFill>
        <p:spPr>
          <a:xfrm>
            <a:off x="971093" y="5140757"/>
            <a:ext cx="362102" cy="362102"/>
          </a:xfrm>
          <a:prstGeom prst="rect">
            <a:avLst/>
          </a:prstGeom>
        </p:spPr>
      </p:pic>
      <p:sp>
        <p:nvSpPr>
          <p:cNvPr id="17" name="Text 12"/>
          <p:cNvSpPr txBox="1"/>
          <p:nvPr/>
        </p:nvSpPr>
        <p:spPr>
          <a:xfrm>
            <a:off x="1737360" y="4782312"/>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A6 ga tayyorgarlik</a:t>
            </a:r>
            <a:endParaRPr lang="en-US" sz="2000" dirty="0"/>
          </a:p>
        </p:txBody>
      </p:sp>
      <p:sp>
        <p:nvSpPr>
          <p:cNvPr id="18" name="Text 13"/>
          <p:cNvSpPr txBox="1"/>
          <p:nvPr/>
        </p:nvSpPr>
        <p:spPr>
          <a:xfrm>
            <a:off x="1737360" y="5175504"/>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Windows Server 2022/2025 ISO va Hyper-V yoki VirtualBox — A6 da domen ko'tariladi.</a:t>
            </a:r>
            <a:endParaRPr lang="en-US" sz="1600" dirty="0"/>
          </a:p>
        </p:txBody>
      </p:sp>
      <p:sp>
        <p:nvSpPr>
          <p:cNvPr id="19" name="Shape 14"/>
          <p:cNvSpPr/>
          <p:nvPr/>
        </p:nvSpPr>
        <p:spPr>
          <a:xfrm>
            <a:off x="7863840" y="1783080"/>
            <a:ext cx="3749040" cy="4187952"/>
          </a:xfrm>
          <a:prstGeom prst="roundRect">
            <a:avLst>
              <a:gd name="adj" fmla="val 2195"/>
            </a:avLst>
          </a:prstGeom>
          <a:solidFill>
            <a:srgbClr val="1E2761"/>
          </a:solidFill>
          <a:ln/>
        </p:spPr>
      </p:sp>
      <p:sp>
        <p:nvSpPr>
          <p:cNvPr id="20" name="Text 15"/>
          <p:cNvSpPr txBox="1"/>
          <p:nvPr/>
        </p:nvSpPr>
        <p:spPr>
          <a:xfrm>
            <a:off x="7863840" y="2011680"/>
            <a:ext cx="374904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KEYINGI MA'RUZA</a:t>
            </a:r>
            <a:endParaRPr lang="en-US" sz="1600" dirty="0"/>
          </a:p>
        </p:txBody>
      </p:sp>
      <p:sp>
        <p:nvSpPr>
          <p:cNvPr id="21" name="Text 16"/>
          <p:cNvSpPr txBox="1"/>
          <p:nvPr/>
        </p:nvSpPr>
        <p:spPr>
          <a:xfrm>
            <a:off x="7863840" y="2468880"/>
            <a:ext cx="3749040" cy="868680"/>
          </a:xfrm>
          <a:prstGeom prst="rect">
            <a:avLst/>
          </a:prstGeom>
          <a:noFill/>
          <a:ln/>
        </p:spPr>
        <p:txBody>
          <a:bodyPr wrap="square" lIns="50800" tIns="50800" rIns="50800" bIns="50800" rtlCol="0" anchor="ctr"/>
          <a:lstStyle/>
          <a:p>
            <a:pPr algn="ctr" indent="0" marL="0">
              <a:lnSpc>
                <a:spcPct val="100000"/>
              </a:lnSpc>
              <a:buNone/>
            </a:pPr>
            <a:r>
              <a:rPr lang="en-US" sz="5400" b="1" dirty="0">
                <a:solidFill>
                  <a:srgbClr val="FFFFFF"/>
                </a:solidFill>
                <a:latin typeface="Times New Roman" pitchFamily="34" charset="0"/>
                <a:ea typeface="Times New Roman" pitchFamily="34" charset="-122"/>
                <a:cs typeface="Times New Roman" pitchFamily="34" charset="-120"/>
              </a:rPr>
              <a:t>M7</a:t>
            </a:r>
            <a:endParaRPr lang="en-US" sz="5400" dirty="0"/>
          </a:p>
        </p:txBody>
      </p:sp>
      <p:sp>
        <p:nvSpPr>
          <p:cNvPr id="22" name="Text 17"/>
          <p:cNvSpPr txBox="1"/>
          <p:nvPr/>
        </p:nvSpPr>
        <p:spPr>
          <a:xfrm>
            <a:off x="8092440" y="3474720"/>
            <a:ext cx="3291840" cy="132588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Yagona kirish (SSO) va SAML 2.0</a:t>
            </a:r>
            <a:endParaRPr lang="en-US" sz="1600" dirty="0"/>
          </a:p>
        </p:txBody>
      </p:sp>
      <p:sp>
        <p:nvSpPr>
          <p:cNvPr id="23" name="Text 18"/>
          <p:cNvSpPr txBox="1"/>
          <p:nvPr/>
        </p:nvSpPr>
        <p:spPr>
          <a:xfrm>
            <a:off x="8092440" y="4892040"/>
            <a:ext cx="3291840" cy="8686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Kerberos domen ichida SSO beradi. Bulut ilovalarida-chi?</a:t>
            </a:r>
            <a:endParaRPr lang="en-US" sz="1400" dirty="0"/>
          </a:p>
        </p:txBody>
      </p:sp>
      <p:sp>
        <p:nvSpPr>
          <p:cNvPr id="24" name="Text 1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25" name="Text 2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ATAMALAR VA MANBALAR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Ma'ruzadagi atamalar va adabiyotlar</a:t>
            </a:r>
            <a:endParaRPr lang="en-US" sz="3600" dirty="0"/>
          </a:p>
        </p:txBody>
      </p:sp>
      <p:sp>
        <p:nvSpPr>
          <p:cNvPr id="4" name="Shape 2"/>
          <p:cNvSpPr/>
          <p:nvPr/>
        </p:nvSpPr>
        <p:spPr>
          <a:xfrm>
            <a:off x="548640" y="1737360"/>
            <a:ext cx="5760720" cy="457200"/>
          </a:xfrm>
          <a:prstGeom prst="roundRect">
            <a:avLst>
              <a:gd name="adj" fmla="val 10000"/>
            </a:avLst>
          </a:prstGeom>
          <a:solidFill>
            <a:srgbClr val="EEF2FB"/>
          </a:solidFill>
          <a:ln/>
        </p:spPr>
      </p:sp>
      <p:sp>
        <p:nvSpPr>
          <p:cNvPr id="5" name="Text 3"/>
          <p:cNvSpPr txBox="1"/>
          <p:nvPr/>
        </p:nvSpPr>
        <p:spPr>
          <a:xfrm>
            <a:off x="685800" y="1737360"/>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Katalog xizmati</a:t>
            </a:r>
            <a:endParaRPr lang="en-US" sz="1500" dirty="0"/>
          </a:p>
        </p:txBody>
      </p:sp>
      <p:sp>
        <p:nvSpPr>
          <p:cNvPr id="6" name="Text 4"/>
          <p:cNvSpPr txBox="1"/>
          <p:nvPr/>
        </p:nvSpPr>
        <p:spPr>
          <a:xfrm>
            <a:off x="3794760" y="1737360"/>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directory service</a:t>
            </a:r>
            <a:endParaRPr lang="en-US" sz="1400" dirty="0"/>
          </a:p>
        </p:txBody>
      </p:sp>
      <p:sp>
        <p:nvSpPr>
          <p:cNvPr id="7" name="Shape 5"/>
          <p:cNvSpPr/>
          <p:nvPr/>
        </p:nvSpPr>
        <p:spPr>
          <a:xfrm>
            <a:off x="548640" y="2249424"/>
            <a:ext cx="5760720" cy="457200"/>
          </a:xfrm>
          <a:prstGeom prst="roundRect">
            <a:avLst>
              <a:gd name="adj" fmla="val 10000"/>
            </a:avLst>
          </a:prstGeom>
          <a:solidFill>
            <a:srgbClr val="FFFFFF"/>
          </a:solidFill>
          <a:ln/>
        </p:spPr>
      </p:sp>
      <p:sp>
        <p:nvSpPr>
          <p:cNvPr id="8" name="Text 6"/>
          <p:cNvSpPr txBox="1"/>
          <p:nvPr/>
        </p:nvSpPr>
        <p:spPr>
          <a:xfrm>
            <a:off x="685800" y="2249424"/>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Domen kontrolleri</a:t>
            </a:r>
            <a:endParaRPr lang="en-US" sz="1500" dirty="0"/>
          </a:p>
        </p:txBody>
      </p:sp>
      <p:sp>
        <p:nvSpPr>
          <p:cNvPr id="9" name="Text 7"/>
          <p:cNvSpPr txBox="1"/>
          <p:nvPr/>
        </p:nvSpPr>
        <p:spPr>
          <a:xfrm>
            <a:off x="3794760" y="2249424"/>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domain controller</a:t>
            </a:r>
            <a:endParaRPr lang="en-US" sz="1400" dirty="0"/>
          </a:p>
        </p:txBody>
      </p:sp>
      <p:sp>
        <p:nvSpPr>
          <p:cNvPr id="10" name="Shape 8"/>
          <p:cNvSpPr/>
          <p:nvPr/>
        </p:nvSpPr>
        <p:spPr>
          <a:xfrm>
            <a:off x="548640" y="2761488"/>
            <a:ext cx="5760720" cy="457200"/>
          </a:xfrm>
          <a:prstGeom prst="roundRect">
            <a:avLst>
              <a:gd name="adj" fmla="val 10000"/>
            </a:avLst>
          </a:prstGeom>
          <a:solidFill>
            <a:srgbClr val="EEF2FB"/>
          </a:solidFill>
          <a:ln/>
        </p:spPr>
      </p:sp>
      <p:sp>
        <p:nvSpPr>
          <p:cNvPr id="11" name="Text 9"/>
          <p:cNvSpPr txBox="1"/>
          <p:nvPr/>
        </p:nvSpPr>
        <p:spPr>
          <a:xfrm>
            <a:off x="685800" y="2761488"/>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Tashkiliy bo'linma</a:t>
            </a:r>
            <a:endParaRPr lang="en-US" sz="1500" dirty="0"/>
          </a:p>
        </p:txBody>
      </p:sp>
      <p:sp>
        <p:nvSpPr>
          <p:cNvPr id="12" name="Text 10"/>
          <p:cNvSpPr txBox="1"/>
          <p:nvPr/>
        </p:nvSpPr>
        <p:spPr>
          <a:xfrm>
            <a:off x="3794760" y="2761488"/>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organizational unit (OU)</a:t>
            </a:r>
            <a:endParaRPr lang="en-US" sz="1400" dirty="0"/>
          </a:p>
        </p:txBody>
      </p:sp>
      <p:sp>
        <p:nvSpPr>
          <p:cNvPr id="13" name="Shape 11"/>
          <p:cNvSpPr/>
          <p:nvPr/>
        </p:nvSpPr>
        <p:spPr>
          <a:xfrm>
            <a:off x="548640" y="3273552"/>
            <a:ext cx="5760720" cy="457200"/>
          </a:xfrm>
          <a:prstGeom prst="roundRect">
            <a:avLst>
              <a:gd name="adj" fmla="val 10000"/>
            </a:avLst>
          </a:prstGeom>
          <a:solidFill>
            <a:srgbClr val="FFFFFF"/>
          </a:solidFill>
          <a:ln/>
        </p:spPr>
      </p:sp>
      <p:sp>
        <p:nvSpPr>
          <p:cNvPr id="14" name="Text 12"/>
          <p:cNvSpPr txBox="1"/>
          <p:nvPr/>
        </p:nvSpPr>
        <p:spPr>
          <a:xfrm>
            <a:off x="685800" y="3273552"/>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Guruh siyosati</a:t>
            </a:r>
            <a:endParaRPr lang="en-US" sz="1500" dirty="0"/>
          </a:p>
        </p:txBody>
      </p:sp>
      <p:sp>
        <p:nvSpPr>
          <p:cNvPr id="15" name="Text 13"/>
          <p:cNvSpPr txBox="1"/>
          <p:nvPr/>
        </p:nvSpPr>
        <p:spPr>
          <a:xfrm>
            <a:off x="3794760" y="3273552"/>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group policy (GPO)</a:t>
            </a:r>
            <a:endParaRPr lang="en-US" sz="1400" dirty="0"/>
          </a:p>
        </p:txBody>
      </p:sp>
      <p:sp>
        <p:nvSpPr>
          <p:cNvPr id="16" name="Shape 14"/>
          <p:cNvSpPr/>
          <p:nvPr/>
        </p:nvSpPr>
        <p:spPr>
          <a:xfrm>
            <a:off x="548640" y="3785616"/>
            <a:ext cx="5760720" cy="457200"/>
          </a:xfrm>
          <a:prstGeom prst="roundRect">
            <a:avLst>
              <a:gd name="adj" fmla="val 10000"/>
            </a:avLst>
          </a:prstGeom>
          <a:solidFill>
            <a:srgbClr val="EEF2FB"/>
          </a:solidFill>
          <a:ln/>
        </p:spPr>
      </p:sp>
      <p:sp>
        <p:nvSpPr>
          <p:cNvPr id="17" name="Text 15"/>
          <p:cNvSpPr txBox="1"/>
          <p:nvPr/>
        </p:nvSpPr>
        <p:spPr>
          <a:xfrm>
            <a:off x="685800" y="3785616"/>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Kalitlarni taqsimlash markazi</a:t>
            </a:r>
            <a:endParaRPr lang="en-US" sz="1500" dirty="0"/>
          </a:p>
        </p:txBody>
      </p:sp>
      <p:sp>
        <p:nvSpPr>
          <p:cNvPr id="18" name="Text 16"/>
          <p:cNvSpPr txBox="1"/>
          <p:nvPr/>
        </p:nvSpPr>
        <p:spPr>
          <a:xfrm>
            <a:off x="3794760" y="3785616"/>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KDC</a:t>
            </a:r>
            <a:endParaRPr lang="en-US" sz="1400" dirty="0"/>
          </a:p>
        </p:txBody>
      </p:sp>
      <p:sp>
        <p:nvSpPr>
          <p:cNvPr id="19" name="Shape 17"/>
          <p:cNvSpPr/>
          <p:nvPr/>
        </p:nvSpPr>
        <p:spPr>
          <a:xfrm>
            <a:off x="548640" y="4297680"/>
            <a:ext cx="5760720" cy="457200"/>
          </a:xfrm>
          <a:prstGeom prst="roundRect">
            <a:avLst>
              <a:gd name="adj" fmla="val 10000"/>
            </a:avLst>
          </a:prstGeom>
          <a:solidFill>
            <a:srgbClr val="FFFFFF"/>
          </a:solidFill>
          <a:ln/>
        </p:spPr>
      </p:sp>
      <p:sp>
        <p:nvSpPr>
          <p:cNvPr id="20" name="Text 18"/>
          <p:cNvSpPr txBox="1"/>
          <p:nvPr/>
        </p:nvSpPr>
        <p:spPr>
          <a:xfrm>
            <a:off x="685800" y="4297680"/>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Chipta beruvchi chipta</a:t>
            </a:r>
            <a:endParaRPr lang="en-US" sz="1500" dirty="0"/>
          </a:p>
        </p:txBody>
      </p:sp>
      <p:sp>
        <p:nvSpPr>
          <p:cNvPr id="21" name="Text 19"/>
          <p:cNvSpPr txBox="1"/>
          <p:nvPr/>
        </p:nvSpPr>
        <p:spPr>
          <a:xfrm>
            <a:off x="3794760" y="4297680"/>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TGT</a:t>
            </a:r>
            <a:endParaRPr lang="en-US" sz="1400" dirty="0"/>
          </a:p>
        </p:txBody>
      </p:sp>
      <p:sp>
        <p:nvSpPr>
          <p:cNvPr id="22" name="Shape 20"/>
          <p:cNvSpPr/>
          <p:nvPr/>
        </p:nvSpPr>
        <p:spPr>
          <a:xfrm>
            <a:off x="548640" y="4809744"/>
            <a:ext cx="5760720" cy="457200"/>
          </a:xfrm>
          <a:prstGeom prst="roundRect">
            <a:avLst>
              <a:gd name="adj" fmla="val 10000"/>
            </a:avLst>
          </a:prstGeom>
          <a:solidFill>
            <a:srgbClr val="EEF2FB"/>
          </a:solidFill>
          <a:ln/>
        </p:spPr>
      </p:sp>
      <p:sp>
        <p:nvSpPr>
          <p:cNvPr id="23" name="Text 21"/>
          <p:cNvSpPr txBox="1"/>
          <p:nvPr/>
        </p:nvSpPr>
        <p:spPr>
          <a:xfrm>
            <a:off x="685800" y="4809744"/>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Xizmat chiptasi</a:t>
            </a:r>
            <a:endParaRPr lang="en-US" sz="1500" dirty="0"/>
          </a:p>
        </p:txBody>
      </p:sp>
      <p:sp>
        <p:nvSpPr>
          <p:cNvPr id="24" name="Text 22"/>
          <p:cNvSpPr txBox="1"/>
          <p:nvPr/>
        </p:nvSpPr>
        <p:spPr>
          <a:xfrm>
            <a:off x="3794760" y="4809744"/>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service ticket</a:t>
            </a:r>
            <a:endParaRPr lang="en-US" sz="1400" dirty="0"/>
          </a:p>
        </p:txBody>
      </p:sp>
      <p:sp>
        <p:nvSpPr>
          <p:cNvPr id="25" name="Shape 23"/>
          <p:cNvSpPr/>
          <p:nvPr/>
        </p:nvSpPr>
        <p:spPr>
          <a:xfrm>
            <a:off x="548640" y="5321808"/>
            <a:ext cx="5760720" cy="457200"/>
          </a:xfrm>
          <a:prstGeom prst="roundRect">
            <a:avLst>
              <a:gd name="adj" fmla="val 10000"/>
            </a:avLst>
          </a:prstGeom>
          <a:solidFill>
            <a:srgbClr val="FFFFFF"/>
          </a:solidFill>
          <a:ln/>
        </p:spPr>
      </p:sp>
      <p:sp>
        <p:nvSpPr>
          <p:cNvPr id="26" name="Text 24"/>
          <p:cNvSpPr txBox="1"/>
          <p:nvPr/>
        </p:nvSpPr>
        <p:spPr>
          <a:xfrm>
            <a:off x="685800" y="5321808"/>
            <a:ext cx="310896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Tarmoqqa kirish serveri</a:t>
            </a:r>
            <a:endParaRPr lang="en-US" sz="1500" dirty="0"/>
          </a:p>
        </p:txBody>
      </p:sp>
      <p:sp>
        <p:nvSpPr>
          <p:cNvPr id="27" name="Text 25"/>
          <p:cNvSpPr txBox="1"/>
          <p:nvPr/>
        </p:nvSpPr>
        <p:spPr>
          <a:xfrm>
            <a:off x="3794760" y="5321808"/>
            <a:ext cx="242316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NAS</a:t>
            </a:r>
            <a:endParaRPr lang="en-US" sz="1400" dirty="0"/>
          </a:p>
        </p:txBody>
      </p:sp>
      <p:sp>
        <p:nvSpPr>
          <p:cNvPr id="28" name="Shape 26"/>
          <p:cNvSpPr/>
          <p:nvPr/>
        </p:nvSpPr>
        <p:spPr>
          <a:xfrm>
            <a:off x="6583680" y="1783080"/>
            <a:ext cx="548640" cy="548640"/>
          </a:xfrm>
          <a:prstGeom prst="roundRect">
            <a:avLst>
              <a:gd name="adj" fmla="val 13333"/>
            </a:avLst>
          </a:prstGeom>
          <a:solidFill>
            <a:srgbClr val="1E2761"/>
          </a:solidFill>
          <a:ln/>
        </p:spPr>
      </p:sp>
      <p:sp>
        <p:nvSpPr>
          <p:cNvPr id="29" name="Text 27"/>
          <p:cNvSpPr txBox="1"/>
          <p:nvPr/>
        </p:nvSpPr>
        <p:spPr>
          <a:xfrm>
            <a:off x="6583680" y="178308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30" name="Text 28"/>
          <p:cNvSpPr txBox="1"/>
          <p:nvPr/>
        </p:nvSpPr>
        <p:spPr>
          <a:xfrm>
            <a:off x="7269480" y="173736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U.R. Xamdamov va boshq. Operatsion tizimlar. — T.: «Nihol print», 2021.</a:t>
            </a:r>
            <a:endParaRPr lang="en-US" sz="1500" dirty="0"/>
          </a:p>
        </p:txBody>
      </p:sp>
      <p:sp>
        <p:nvSpPr>
          <p:cNvPr id="31" name="Shape 29"/>
          <p:cNvSpPr/>
          <p:nvPr/>
        </p:nvSpPr>
        <p:spPr>
          <a:xfrm>
            <a:off x="6583680" y="2606040"/>
            <a:ext cx="548640" cy="548640"/>
          </a:xfrm>
          <a:prstGeom prst="roundRect">
            <a:avLst>
              <a:gd name="adj" fmla="val 13333"/>
            </a:avLst>
          </a:prstGeom>
          <a:solidFill>
            <a:srgbClr val="2A3778"/>
          </a:solidFill>
          <a:ln/>
        </p:spPr>
      </p:sp>
      <p:sp>
        <p:nvSpPr>
          <p:cNvPr id="32" name="Text 30"/>
          <p:cNvSpPr txBox="1"/>
          <p:nvPr/>
        </p:nvSpPr>
        <p:spPr>
          <a:xfrm>
            <a:off x="6583680" y="260604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33" name="Text 31"/>
          <p:cNvSpPr txBox="1"/>
          <p:nvPr/>
        </p:nvSpPr>
        <p:spPr>
          <a:xfrm>
            <a:off x="7269480" y="256032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RFC 4511 (LDAP v3) · RFC 4120 (Kerberos V5) · RFC 2865 (RADIUS)</a:t>
            </a:r>
            <a:endParaRPr lang="en-US" sz="1500" dirty="0"/>
          </a:p>
        </p:txBody>
      </p:sp>
      <p:sp>
        <p:nvSpPr>
          <p:cNvPr id="34" name="Shape 32"/>
          <p:cNvSpPr/>
          <p:nvPr/>
        </p:nvSpPr>
        <p:spPr>
          <a:xfrm>
            <a:off x="6583680" y="3429000"/>
            <a:ext cx="548640" cy="548640"/>
          </a:xfrm>
          <a:prstGeom prst="roundRect">
            <a:avLst>
              <a:gd name="adj" fmla="val 13333"/>
            </a:avLst>
          </a:prstGeom>
          <a:solidFill>
            <a:srgbClr val="2A3778"/>
          </a:solidFill>
          <a:ln/>
        </p:spPr>
      </p:sp>
      <p:sp>
        <p:nvSpPr>
          <p:cNvPr id="35" name="Text 33"/>
          <p:cNvSpPr txBox="1"/>
          <p:nvPr/>
        </p:nvSpPr>
        <p:spPr>
          <a:xfrm>
            <a:off x="6583680" y="342900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36" name="Text 34"/>
          <p:cNvSpPr txBox="1"/>
          <p:nvPr/>
        </p:nvSpPr>
        <p:spPr>
          <a:xfrm>
            <a:off x="7269480" y="338328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Microsoft Learn. Active Directory Domain Services; LDAP signing; NPS.</a:t>
            </a:r>
            <a:endParaRPr lang="en-US" sz="1500" dirty="0"/>
          </a:p>
        </p:txBody>
      </p:sp>
      <p:sp>
        <p:nvSpPr>
          <p:cNvPr id="37" name="Shape 35"/>
          <p:cNvSpPr/>
          <p:nvPr/>
        </p:nvSpPr>
        <p:spPr>
          <a:xfrm>
            <a:off x="6583680" y="4251960"/>
            <a:ext cx="548640" cy="548640"/>
          </a:xfrm>
          <a:prstGeom prst="roundRect">
            <a:avLst>
              <a:gd name="adj" fmla="val 13333"/>
            </a:avLst>
          </a:prstGeom>
          <a:solidFill>
            <a:srgbClr val="2A3778"/>
          </a:solidFill>
          <a:ln/>
        </p:spPr>
      </p:sp>
      <p:sp>
        <p:nvSpPr>
          <p:cNvPr id="38" name="Text 36"/>
          <p:cNvSpPr txBox="1"/>
          <p:nvPr/>
        </p:nvSpPr>
        <p:spPr>
          <a:xfrm>
            <a:off x="6583680" y="425196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39" name="Text 37"/>
          <p:cNvSpPr txBox="1"/>
          <p:nvPr/>
        </p:nvSpPr>
        <p:spPr>
          <a:xfrm>
            <a:off x="7269480" y="420624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Microsoft. Beyond RC4 for Windows authentication, 2025; NTLM phaseout, 2026.</a:t>
            </a:r>
            <a:endParaRPr lang="en-US" sz="1500" dirty="0"/>
          </a:p>
        </p:txBody>
      </p:sp>
      <p:sp>
        <p:nvSpPr>
          <p:cNvPr id="40" name="Shape 38"/>
          <p:cNvSpPr/>
          <p:nvPr/>
        </p:nvSpPr>
        <p:spPr>
          <a:xfrm>
            <a:off x="6583680" y="5074920"/>
            <a:ext cx="548640" cy="548640"/>
          </a:xfrm>
          <a:prstGeom prst="roundRect">
            <a:avLst>
              <a:gd name="adj" fmla="val 13333"/>
            </a:avLst>
          </a:prstGeom>
          <a:solidFill>
            <a:srgbClr val="2A3778"/>
          </a:solidFill>
          <a:ln/>
        </p:spPr>
      </p:sp>
      <p:sp>
        <p:nvSpPr>
          <p:cNvPr id="41" name="Text 39"/>
          <p:cNvSpPr txBox="1"/>
          <p:nvPr/>
        </p:nvSpPr>
        <p:spPr>
          <a:xfrm>
            <a:off x="6583680" y="507492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42" name="Text 40"/>
          <p:cNvSpPr txBox="1"/>
          <p:nvPr/>
        </p:nvSpPr>
        <p:spPr>
          <a:xfrm>
            <a:off x="7269480" y="502920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M. Stamp. Information Security. — Wiley, 2011. Kerberos bo'limi.</a:t>
            </a:r>
            <a:endParaRPr lang="en-US" sz="1500" dirty="0"/>
          </a:p>
        </p:txBody>
      </p:sp>
      <p:sp>
        <p:nvSpPr>
          <p:cNvPr id="43" name="Text 4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6-ma'ruza</a:t>
            </a:r>
            <a:endParaRPr lang="en-US" sz="1100" dirty="0"/>
          </a:p>
        </p:txBody>
      </p:sp>
      <p:sp>
        <p:nvSpPr>
          <p:cNvPr id="44" name="Text 4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6-ma'ruza. LDAP, Active Directory, Kerberos va RADIUS</dc:title>
  <dc:subject>PptxGenJS Presentation</dc:subject>
  <dc:creator>PptxGenJS</dc:creator>
  <cp:lastModifiedBy>PptxGenJS</cp:lastModifiedBy>
  <cp:revision>1</cp:revision>
  <dcterms:created xsi:type="dcterms:W3CDTF">2026-09-26T12:58:43Z</dcterms:created>
  <dcterms:modified xsi:type="dcterms:W3CDTF">2026-09-26T12:58:43Z</dcterms:modified>
</cp:coreProperties>
</file>