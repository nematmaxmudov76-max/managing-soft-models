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bidjon Bozorov" userId="ccb249de5d2a650e" providerId="LiveId" clId="{6F9F34B2-1C11-4B73-BB5F-9B545A900989}"/>
    <pc:docChg chg="modSld">
      <pc:chgData name="Obidjon Bozorov" userId="ccb249de5d2a650e" providerId="LiveId" clId="{6F9F34B2-1C11-4B73-BB5F-9B545A900989}" dt="2026-10-11T19:53:19.159" v="44" actId="1076"/>
      <pc:docMkLst>
        <pc:docMk/>
      </pc:docMkLst>
      <pc:sldChg chg="modSp mod">
        <pc:chgData name="Obidjon Bozorov" userId="ccb249de5d2a650e" providerId="LiveId" clId="{6F9F34B2-1C11-4B73-BB5F-9B545A900989}" dt="2026-10-11T19:53:19.159" v="44" actId="1076"/>
        <pc:sldMkLst>
          <pc:docMk/>
          <pc:sldMk cId="0" sldId="256"/>
        </pc:sldMkLst>
        <pc:spChg chg="mod">
          <ac:chgData name="Obidjon Bozorov" userId="ccb249de5d2a650e" providerId="LiveId" clId="{6F9F34B2-1C11-4B73-BB5F-9B545A900989}" dt="2026-10-11T19:53:19.159" v="44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46.131" v="0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Obidjon Bozorov" userId="ccb249de5d2a650e" providerId="LiveId" clId="{6F9F34B2-1C11-4B73-BB5F-9B545A900989}" dt="2026-10-11T19:52:55.347" v="43" actId="1036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83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7-ma'ruzada SAML brauzer orqali veb-ilovalarga kirishni hal qilishini ko'rdik. Lekin mobil ilova, Windows ilovasi yoki boshqa API ga murojaat qiladigan xizmat uchun XML tasdiqnoma noqulay. Bugun: zamonaviy ilovalar standarti — OAuth (ruxsat berish), OpenID Connect (autentifikatsiya) va ular ishlatadigan JWT tokenlari.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Hammasini: xat yuborish, o'chirish, parolni almashtirish, boshqa tizimlarga kirish (SSO). Parolni almashtirmaguningizcha — cheksiz muddat. Ilova buzilsa, parol ham sizadi. MFA ham ishlamaydi. 2) Faqat 'kalendarni o'qish' huquqi, bir soatlik, istalgan paytda bekor qilinadigan ruxsat — bu OAuth tokenining o'zi. 3) Ikkalasi ham: OAuth — avtorizatsiya (ilovaga ruxsat), OpenID Connect uning ustidagi autentifikatsiya qatlami. II bo'limda farqini ko'ramiz.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OAuth 2.0 — RFC 6749 (2012). Klassik analogiya: mehmonxona xodimiga mashinangizning to'liq kalitini emas, faqat mashinani boshqaradigan, lekin yukxona va bardachokni ochmaydigan 'valet kaliti'ni berasiz. Scope — M1 dagi foydalanish huquqlarining token darajasidagi ifodasi: sub'ekt (mijoz ilova), obyekt (kalendar), amal (o'qish). Entra ID access token umri standart holda 60–90 daqiqa oralig'ida tasodifiy tanlanadi.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SAML dan asosiy farq: foydalanuvchi brauzeri faqat qisqa muddatli bir martalik kodni ko'radi, tokenni emas. 'state' — CSRF himoyasi: mijoz o'zi yuborgan qiymat qaytganini tekshiradi. 3-qadamda foydalanuvchi autentifikatsiyasi AS da bo'ladi — M3–M5 dagi barcha himoya (MFA, Windows Hello, passkey) shu yerda ishlaydi. Rozilik ekrani (consent) — 'Dars jadvali ilovasi kalendaringizni o'qimoqchi. Ruxsat berasizmi?'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PKCE — Proof Key for Code Exchange, RFC 7636 (2015). Slayddagi qiymatlar RFC 7636 B ilovasidagi rasmiy test vektori (tekshirib ko'rilgan). PKCE dastlab mobil ilovalar uchun yaratilgan, OAuth 2.1 da esa barcha mijozlar uchun majburiy. A8 amaliy mashg'ulotida talabalar verifier va challenge ni o'zlari hisoblaydi: Python'da base64.urlsafe_b64encode(hashlib.sha256(v).digest()).rstrip(b'=').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OAuth 2.1 hali IETF qoralamasi (Internet-Draft) — RFC sifatida chiqmagan, lekin 2012-yildan beri alohida RFC larda e'lon qilingan eng yaxshi amaliyotlarni bitta hujjatga jamlaydi; ularning ko'pchiligi OAuth 2.0 xavfsizlik bo'yicha tavsiyalarida (RFC 9700, 2025) allaqachon talab qilinadi. Implicit oqim tokenni URL fragmentida qaytargani uchun brauzer tarixi va Referer orqali sizardi. ROPC (parol grant) — muhokamadagi 'parolni berish' holatining o'zi; MFA bilan ishlamaydi. Device code — RFC 8628; III bo'limda uning fishingda ishlatilishini ko'ramiz.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Kod + PKCE (ochiq mijoz, sir saqlay olmaydi). b) Client credentials — foydalanuvchi yo'q; ilovaga eng kam imtiyoz (faqat Calendars.Read, Application turidagi ruxsat) va sertifikat bilan autentifikatsiya. c) Device code — klaviatura yo'q; lekin foydalanuvchiga kod qayerdan kelganini tushuntirish kerak (III bo'lim). d) ROPC — OAuth 2.1 da olib tashlangan; MFA bilan ishlamaydi, parol ilovaga beriladi — kod + PKCE ga o'tkazish kerak. e) Kod + PKCE (implicit emas!).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OpenID Connect Core 1.0 — 2014-yil, OpenID Foundation. Keng tarqalgan xato: ilova foydalanuvchini access token bo'yicha aniqlaydi — lekin access token boshqa ilova uchun berilgan bo'lishi mumkin (aud boshqa). Foydalanuvchini aniqlash uchun faqat o'zi uchun berilgan id_token ishlatiladi. Discovery hujjati (.well-known) — 7-ma'ruzadagi SAML metama'lumotining OIDC dagi o'xshashi: issuer, authorization_endpoint, token_endpoint, jwks_uri (imzo kalitlari).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JWT — RFC 7519 (2015); imzolash — JWS (RFC 7515). Sarlavhadagi birinchi qism haqiqatan ham {"alg":"RS256","typ":"JWT"} ning Base64URL kodi — deyarli barcha JWT lar 'eyJ' bilan boshlanadi, chunki bu '{"' ning kodi. RS256 — RSA imzo + SHA-256: AS yopiq kalit bilan imzolaydi, API esa ochiq kalit bilan tekshiradi (M5 dagi g'oya). kid — qaysi ochiq kalit bilan tekshirish kerakligini ko'rsatadi; kalitlar jwks_uri manzilida. Microsoft kalitlarni muntazam almashtiradi — shuning uchun kalitni kodga qattiq yozmaslik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aud = api://moodle — token Moodle API uchun; HEMIS uni rad etishi shart. Aks holda Moodle (yoki uni buzgan hujumchi) talaba tokeni bilan HEMIS ga kira olardi. b) exp − iat = 3600 s = 1 soat (Unix vaqt: 2026-10-07 07:00 dan 08:00 gacha UTC). c) Imzo buziladi — API imzoni tekshirsa, token rad etiladi. Agar API imzoni tekshirmasa (faqat Base64 ni ochib o'qisa) — talaba o'zini o'qituvchi qilib qo'yadi. Bu real ilovalarda uchragan xato. d) 'none' — imzosiz token; kutubxona algoritmni tokendan emas, o'z ruxsat ro'yxatidan olishi kerak (2015-yilda bir nechta JWT kutubxonalarida topilgan zaiflik).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 almashtirish (key confusion): server RS256 kutadi, hujumchi sarlavhaga HS256 yozib, tokenni server ochiq kaliti bilan HMAC qiladi; zaif kutubxona ochiq kalitni HMAC siri sifatida ishlatib, imzoni 'to'g'ri' deb topadi. Himoya — algoritmni tokendan emas, konfiguratsiyadan olish. 7-ma'ruzadagi SAML hujumlari bilan solishtiring: format boshqa, xatolar turi bir xil — imzo va auditoriya tekshiruvi. Brauzerda tokenlarni saqlash uchun BFF (backend-for-frontend) naqshi tavsiya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MSAL — Microsoft Authentication Library (.NET, Python, JavaScript va boshqalar). WAM — Windows 10 dan beri mavjud bo'lgan tizim brokeri: ilovalar token so'raganda WAM PRT dan foydalanib Entra ID dan kerakli access token oladi. Bu 5-ma'ruzadagi PRT va Windows Hello ning davomi: bir marta Hello bilan kirish — barcha Microsoft ilovalari uchun SSO. .WithBroker qatori MSAL.NET dagi haqiqiy API (Microsoft.Identity.Client.Broker paketi). A8 da Python MSAL bilan kod + PKCE oqimi amalga oshiriladi.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Security Blog, 2025-yil 13-fevral: Storm-2372 device code fishing kampaniyasi 2024-yil avgustdan faol; Microsoft tavsiyasi — device code oqimini faqat zarur joyda ruxsat berish (Shartli kirish), fishingga bardoshli MFA, xavf siyosatlari. Muhim: device code fishingda foydalanuvchi haqiqiy microsoft.com/devicelogin sahifasida kiradi — shuning uchun FIDO2 ham bu yerda to'liq himoya qilmaydi, chunki origin to'g'ri. Token himoyasi (Token Protection) — Entra Shartli kirish sessiya nazorati; Windows'dagi native ilovalar (Exchange, SharePoint, Teams) uchun umumiy foydalanishda (GA): PRT qurilmaga kriptografik bog'lanadi, o'g'irlangan token boshqa qurilmada ishlamaydi. Qo'shimcha: CAE (Continuous Access Evaluation) — foydalanuvchi blokirovka qilinganda tokenlar deyarli darhol bekor bo'ladi (M2 deprovisioning).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1–2 qadamlar autentifikatsiyasiz ishlaydi — discovery va JWKS ochiq ma'lumot. 'organizations' o'rniga universitet tenant ID si yoki domen nomi (masalan, nuu.uz, agar Entra ID ishlatilsa) qo'yiladi. 3-qadamdagi $jwt ga jwt.ms dan yoki A8 dagi ilovadan olingan token qo'yiladi; Base64URL ni oddiy Base64 ga aylantirish va '=' to'ldirish kerak. Diqqat: haqiqiy tokenlarni jwt.ms dan boshqa begona saytlarga joylamang — token parol bilan teng. jwt.ms dekodlashni brauzerning o'zida bajaradi.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1-B, 2-C, 3-C, 4-B.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8-MA'RUZA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15321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Zamonaviy avtorizatsiya va identifikatsiya protokollari: OAuth 2.1, OpenID Connect va JWT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02586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Delegatsiya  ·  PKCE  ·  Tokenlar — Microsoft Entra ID va Windows misolida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38609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822960" y="438609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38609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 txBox="1"/>
          <p:nvPr/>
        </p:nvSpPr>
        <p:spPr>
          <a:xfrm>
            <a:off x="2148840" y="4386090"/>
            <a:ext cx="2514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8-si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438609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4846320" y="4386090"/>
            <a:ext cx="1600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A8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29400" y="4386090"/>
            <a:ext cx="24003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6629400" y="4386090"/>
            <a:ext cx="24003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namoyishi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OAuth: ruxsatni topshirish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Rollar, kod + PKCE oqimi, grant turlari, 2.1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965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OpenID Connect va JWT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 token, JWT tuzilishi, tekshirish, hujumlar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364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va Microsoft Entra ID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MSAL, WAM, PRT, token o'g'irlash, himoya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764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parolni berasizmi?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qaysi oqim?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JWT ni o'qing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namoyish: Entra ID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(4 savol)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Ilovaga pochta parolingizni berasizmi?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«Dars jadvali» ilovasi universitet pochtangizdagi taklifnomalarni o'qib, jadvalga qo'shmoqchi. Buning uchun u login va parolingizni so'rayapti.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Parolni bersangiz, ilova aslida nimalarni qila oladi? Qachongacha?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Ilovaga nima berish to'g'riroq bo'lardi: qanday cheklov va muddat bilan?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«Microsoft bilan kirish» tugmasi — bu autentifikatsiyami yoki avtorizatsiyami?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OAUTH G'OYASI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emas — cheklangan va muddatli ruxsat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53162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 egasi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owner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Foydalanuvchi: pochtaning egasi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338828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/home/claude/fob-slides/icons_out/mob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133" y="21202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55848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Mijoz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355848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«Dars jadvali» ilovasi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63056" y="17830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7146036" y="1965960"/>
            <a:ext cx="685800" cy="6858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/home/claude/fob-slides/icons_out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0341" y="21202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63056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Avtorizatsiya serveri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163056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 server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00216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Entra ID: token beradi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970264" y="17830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18"/>
          <p:cNvSpPr/>
          <p:nvPr/>
        </p:nvSpPr>
        <p:spPr>
          <a:xfrm>
            <a:off x="9953244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3" descr="/home/claude/fob-slides/icons_out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7549" y="2120265"/>
            <a:ext cx="377190" cy="3771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70264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 serveri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970264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server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107424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Graph API: pochta va kalendar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548640" y="434340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3"/>
          <p:cNvSpPr txBox="1"/>
          <p:nvPr/>
        </p:nvSpPr>
        <p:spPr>
          <a:xfrm>
            <a:off x="77724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token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2880360" y="43434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ga kirish uchun: qisqa muddat (Entra ID da odatda 60–90 daqiqa)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548640" y="498348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6"/>
          <p:cNvSpPr txBox="1"/>
          <p:nvPr/>
        </p:nvSpPr>
        <p:spPr>
          <a:xfrm>
            <a:off x="777240" y="4983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2880360" y="49834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 hajmi: Calendars.Read — faqat kalendarni o'qish, pochtani emas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29"/>
          <p:cNvSpPr txBox="1"/>
          <p:nvPr/>
        </p:nvSpPr>
        <p:spPr>
          <a:xfrm>
            <a:off x="777240" y="5623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token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2880360" y="56235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Foydalanuvchini qayta so'ramasdan yangi access token olish uchun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ASOSIY OQIM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Avtorizatsiya kodi + PKCE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Mijoz ilova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51660" y="2240280"/>
            <a:ext cx="914" cy="3657600"/>
          </a:xfrm>
          <a:prstGeom prst="line">
            <a:avLst/>
          </a:prstGeom>
          <a:noFill/>
          <a:ln w="15875">
            <a:solidFill>
              <a:srgbClr val="9FB0E0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338328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Brauzer / foydalanuvchi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86300" y="2240280"/>
            <a:ext cx="914" cy="3657600"/>
          </a:xfrm>
          <a:prstGeom prst="line">
            <a:avLst/>
          </a:prstGeom>
          <a:noFill/>
          <a:ln w="15875">
            <a:solidFill>
              <a:srgbClr val="9FB0E0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ID (AS)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20940" y="2240280"/>
            <a:ext cx="914" cy="3657600"/>
          </a:xfrm>
          <a:prstGeom prst="line">
            <a:avLst/>
          </a:prstGeom>
          <a:noFill/>
          <a:ln w="15875">
            <a:solidFill>
              <a:srgbClr val="9FB0E0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905256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API (RS)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355580" y="2240280"/>
            <a:ext cx="914" cy="3657600"/>
          </a:xfrm>
          <a:prstGeom prst="line">
            <a:avLst/>
          </a:prstGeom>
          <a:noFill/>
          <a:ln w="15875">
            <a:solidFill>
              <a:srgbClr val="9FB0E0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1851660" y="2715768"/>
            <a:ext cx="28346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961388" y="23500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1961388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45436" y="2313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code_verifier yaratadi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6300" y="3218688"/>
            <a:ext cx="28346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796028" y="285292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479602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180076" y="2816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/authorize + code_challenge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flipH="1">
            <a:off x="4686300" y="3721608"/>
            <a:ext cx="2834640" cy="0"/>
          </a:xfrm>
          <a:prstGeom prst="line">
            <a:avLst/>
          </a:prstGeom>
          <a:noFill/>
          <a:ln w="25400">
            <a:solidFill>
              <a:srgbClr val="D9932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4796028" y="3355848"/>
            <a:ext cx="310896" cy="310896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4796028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80076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(MFA, Hello) va rozilik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 flipH="1">
            <a:off x="1851660" y="4224528"/>
            <a:ext cx="28346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1961388" y="38587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 txBox="1"/>
          <p:nvPr/>
        </p:nvSpPr>
        <p:spPr>
          <a:xfrm>
            <a:off x="1961388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345436" y="3822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redirect_uri?code=…&amp;state=…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851660" y="4727448"/>
            <a:ext cx="56692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1961388" y="43616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 txBox="1"/>
          <p:nvPr/>
        </p:nvSpPr>
        <p:spPr>
          <a:xfrm>
            <a:off x="1961388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345436" y="4325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/token: code + code_verifier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 flipH="1">
            <a:off x="1851660" y="5230368"/>
            <a:ext cx="56692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1961388" y="48646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 txBox="1"/>
          <p:nvPr/>
        </p:nvSpPr>
        <p:spPr>
          <a:xfrm>
            <a:off x="1961388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345436" y="4828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access_token, refresh_token, id_token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851660" y="5733288"/>
            <a:ext cx="8503920" cy="0"/>
          </a:xfrm>
          <a:prstGeom prst="line">
            <a:avLst/>
          </a:prstGeom>
          <a:noFill/>
          <a:ln w="25400">
            <a:solidFill>
              <a:srgbClr val="1F6B4A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41" name="Shape 39"/>
          <p:cNvSpPr/>
          <p:nvPr/>
        </p:nvSpPr>
        <p:spPr>
          <a:xfrm>
            <a:off x="1961388" y="5367528"/>
            <a:ext cx="310896" cy="310896"/>
          </a:xfrm>
          <a:prstGeom prst="ellipse">
            <a:avLst/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 txBox="1"/>
          <p:nvPr/>
        </p:nvSpPr>
        <p:spPr>
          <a:xfrm>
            <a:off x="1961388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2345436" y="53309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Authorization: Bearer &lt;access_token&gt;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Kod brauzer orqali o'tadi (front-channel), token esa mijoz va AS o'rtasida to'g'ridan-to'g'ri (back-channel).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PKCE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PKCE: o'g'irlangan kod foydasiz bo'lishi uchun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Muammo: mobil va desktop ilovalarda redirect_uri (masalan, myapp://callback) ni boshqa zararli ilova ham ro'yxatdan o'tkazib, kodni tutib olishi mumkin.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code_verifier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tasodifiy, 43–128 belgi; faqat ilovada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060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dBjftJeZ4CVP-mB92K27uhbUJU1p1r_wW1gFWFOEjXk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code_challenge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BASE64URL(SHA-256(verifier)) → /authorize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8404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E9Melhoa2OwvFrEMTJguCHaoeK1t8URWbuGJSstw-cM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3721608"/>
            <a:ext cx="0" cy="118872"/>
          </a:xfrm>
          <a:prstGeom prst="line">
            <a:avLst/>
          </a:prstGeom>
          <a:noFill/>
          <a:ln w="28575">
            <a:solidFill>
              <a:srgbClr val="5B62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777240" y="5349240"/>
            <a:ext cx="640080" cy="640080"/>
          </a:xfrm>
          <a:prstGeom prst="ellipse">
            <a:avLst/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0" descr="/home/claude/fob-slides/icons_out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5493258"/>
            <a:ext cx="352044" cy="3520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00200" y="51206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5-qadamda ilova verifier ni yuboradi; AS uning xeshini 2-qadamdagi challenge bilan solishtiradi. Kodni tutib olgan hujumchida verifier yo'q — token olmaydi. SHA-256 bir tomonlama (M3), shuning uchun challenge dan verifier ni tiklab bo'lmaydi.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GRANT TURLARI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 turlari va OAuth 2.1 o'zgarishlari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28016" cy="84124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822960" y="1837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Kod + PKCE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03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bor: veb, SPA, mobil, Windows ilova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8379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128016" cy="8412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6400800" y="1837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credentials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03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Foydalanuvchisiz: xizmat → API (tungi skript)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18379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saqlanadi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28016" cy="841248"/>
          </a:xfrm>
          <a:prstGeom prst="roundRect">
            <a:avLst>
              <a:gd name="adj" fmla="val 1428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822960" y="2798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code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63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Klaviaturasiz qurilma: TV, CLI (az login)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7980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ehtiyotkorlik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128016" cy="8412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6400800" y="2798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Refresh token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163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access token olish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7980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rotatsiya yoki bog'lash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128016" cy="841248"/>
          </a:xfrm>
          <a:prstGeom prst="roundRect">
            <a:avLst>
              <a:gd name="adj" fmla="val 14286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82296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Implicit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123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URL da qaytariladi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3758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olib tashlandi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370332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6126480" y="3703320"/>
            <a:ext cx="128016" cy="841248"/>
          </a:xfrm>
          <a:prstGeom prst="roundRect">
            <a:avLst>
              <a:gd name="adj" fmla="val 14286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640080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owner password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123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foydalanuvchi parolini oladi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3758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olib tashlandi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 txBox="1"/>
          <p:nvPr/>
        </p:nvSpPr>
        <p:spPr>
          <a:xfrm>
            <a:off x="77724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2.1 dagi boshqa talablar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23036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PKCE — barcha mijozlar uchun majburiy  ·  redirect_uri — aniq satr mosligi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Bearer token URL so'rov qatorida uzatilmaydi  ·  ochiq mijozlarda refresh token rotatsiyasi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oqimni tanlaysiz?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holat uchun grant turini tanlang va bitta sabab ayting.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685800" cy="658368"/>
          </a:xfrm>
          <a:prstGeom prst="roundRect">
            <a:avLst>
              <a:gd name="adj" fmla="val 125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548640" y="2606040"/>
            <a:ext cx="685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mobil ilovasi talabaning baholarini ko'rsatadi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68833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10012680" y="268833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36499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3364992"/>
            <a:ext cx="685800" cy="658368"/>
          </a:xfrm>
          <a:prstGeom prst="roundRect">
            <a:avLst>
              <a:gd name="adj" fmla="val 125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3364992"/>
            <a:ext cx="685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3649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Tungi skript barcha kafedra kalendarlarini Graph API dan zaxiralaydi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4472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10012680" y="34472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123944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48640" y="4123944"/>
            <a:ext cx="685800" cy="658368"/>
          </a:xfrm>
          <a:prstGeom prst="roundRect">
            <a:avLst>
              <a:gd name="adj" fmla="val 125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548640" y="4123944"/>
            <a:ext cx="685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12394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Auditoriyadagi aqlli proyektor o'qituvchining OneDrive fayllarini ochadi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206240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10012680" y="4206240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82896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548640" y="4882896"/>
            <a:ext cx="685800" cy="658368"/>
          </a:xfrm>
          <a:prstGeom prst="roundRect">
            <a:avLst>
              <a:gd name="adj" fmla="val 125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548640" y="4882896"/>
            <a:ext cx="685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48828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Eski ilova login va parolni o'z oynasida so'rab, tokenga almashtiradi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496519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10012680" y="496519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48640" y="564184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Shape 30"/>
          <p:cNvSpPr/>
          <p:nvPr/>
        </p:nvSpPr>
        <p:spPr>
          <a:xfrm>
            <a:off x="548640" y="5641848"/>
            <a:ext cx="685800" cy="658368"/>
          </a:xfrm>
          <a:prstGeom prst="roundRect">
            <a:avLst>
              <a:gd name="adj" fmla="val 125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548640" y="5641848"/>
            <a:ext cx="685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1417320" y="564184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Brauzerdagi bir sahifali (SPA) dars jadvali ilovasi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10012680" y="572414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 txBox="1"/>
          <p:nvPr/>
        </p:nvSpPr>
        <p:spPr>
          <a:xfrm>
            <a:off x="10012680" y="572414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OpenID Connect va JWT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 token · JWT tuzilishi · Tekshirish · Hujumlar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OPENID CONNECT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— ruxsat, OpenID Connect — shaxs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777240"/>
          </a:xfrm>
          <a:prstGeom prst="roundRect">
            <a:avLst>
              <a:gd name="adj" fmla="val 10588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2.x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avtorizatsiya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API dan nimani olishi mumkin?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777240" y="32186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218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token — API uchun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777240" y="37856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o'qiydi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7856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 serveri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777240" y="43525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352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 belgilamaydi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1783080"/>
            <a:ext cx="548640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640080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OpenID Connect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qatlami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2651760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635508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kim va qachon kirgan?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3218688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6355080" y="32186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3218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id_token — mijoz uchun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3785616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 txBox="1"/>
          <p:nvPr/>
        </p:nvSpPr>
        <p:spPr>
          <a:xfrm>
            <a:off x="6355080" y="37856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o'qiydi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37856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Mijoz ilovaning o'zi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2544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 txBox="1"/>
          <p:nvPr/>
        </p:nvSpPr>
        <p:spPr>
          <a:xfrm>
            <a:off x="6355080" y="43525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818120" y="4352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doim imzolangan JWT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 txBox="1"/>
          <p:nvPr/>
        </p:nvSpPr>
        <p:spPr>
          <a:xfrm>
            <a:off x="640080" y="5074920"/>
            <a:ext cx="3383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scope=openid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596128"/>
            <a:ext cx="3383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OIDC ni yoqadi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297680" y="502920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 txBox="1"/>
          <p:nvPr/>
        </p:nvSpPr>
        <p:spPr>
          <a:xfrm>
            <a:off x="4389120" y="5074920"/>
            <a:ext cx="3383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/.well-known/openid-configuration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389120" y="5596128"/>
            <a:ext cx="3383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hamma manzillar va kalitlar ro'yxati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046720" y="502920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 txBox="1"/>
          <p:nvPr/>
        </p:nvSpPr>
        <p:spPr>
          <a:xfrm>
            <a:off x="8138160" y="5074920"/>
            <a:ext cx="3383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UserInfo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5596128"/>
            <a:ext cx="3383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 ma'lumotlari API si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JWT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 Web Token: uch qism, ikki nuqta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eyJhbGciOiJSUzI1NiIsInR5cCI6IkpXVCJ9</a:t>
            </a:r>
            <a:r>
              <a:rPr lang="en-US" sz="1500" b="1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b="1" dirty="0">
                <a:solidFill>
                  <a:srgbClr val="2A3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eyJpc3MiOiJodHRwczovL2xvZ2lu…</a:t>
            </a:r>
            <a:r>
              <a:rPr lang="en-US" sz="1500" b="1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b="1" dirty="0">
                <a:solidFill>
                  <a:srgbClr val="1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Nw3kQ1-Zs8vU…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66160" cy="502920"/>
          </a:xfrm>
          <a:prstGeom prst="roundRect">
            <a:avLst>
              <a:gd name="adj" fmla="val 16364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Sarlavha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"alg": "RS256",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"typ": "JWT",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"kid": "nOo3ZDrO…"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Algoritm va kalit identifikatori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3566160" cy="502920"/>
          </a:xfrm>
          <a:prstGeom prst="roundRect">
            <a:avLst>
              <a:gd name="adj" fmla="val 16364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429768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Yuklama (claims)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297680" y="320040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4526280" y="33832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"iss": "https://login…/v2.0",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"aud": "api://hemis",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"a.karimov",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1791360000,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"scp": "grades.read"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bergan, kimga, kim uchun, qachongacha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697480"/>
            <a:ext cx="3566160" cy="502920"/>
          </a:xfrm>
          <a:prstGeom prst="roundRect">
            <a:avLst>
              <a:gd name="adj" fmla="val 16364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804672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Imzo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46720" y="320040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8275320" y="33832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RSASSA(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BASE64URL(sarlavha) + '.' +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BASE64URL(yuklama),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yopiq kaliti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yaxlitlik — shifrlash emas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Base64URL — kodlash, shifrlash emas: yuklamani istalgan kishi o'qiy oladi. Maxfiy ma'lumot JWT ga yozilmaydi.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tokenni HEMIS API qabul qilsinmi?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85216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5394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sarlavha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"alg": "RS256", "kid": "nOo3ZDrO…"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yuklama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"iss": "https://login.microsoftonline.com/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&lt;nuu tenant&gt;/v2.0",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"aud": "api://moodle",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"Qm9iX3N0dWRlbnQ",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"Aziz Karimov",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"roles": ["Talaba"],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"iat": 1791356400,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1791360000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1783080"/>
            <a:ext cx="50292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6583680" y="1783080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6583680" y="1783080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7830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qaysi API uchun berilgan? HEMIS (api://hemis) uni qabul qilishi kerakmi?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0" y="2907792"/>
            <a:ext cx="50292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583680" y="2907792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6583680" y="2907792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90779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qancha vaqt amal qiladi?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0" y="4032504"/>
            <a:ext cx="50292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6583680" y="4032504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6583680" y="4032504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403250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 yuklamada «Talaba» ni «Oqituvchi» ga o'zgartirsa, nima bo'ladi?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0" y="5157216"/>
            <a:ext cx="50292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6583680" y="5157216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583680" y="5157216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5157216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Sarlavhada alg: "none" bo'lsa-chi?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TOKENNI TEKSHIRISH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tokenni qabul qilishdan oldin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Tekshiruv ro'yxati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Imzo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194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jwks_uri dagi kid ga mos ochiq kalit bilan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685800" y="28346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834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ruxsat etilgan ro'yxatdan (RS256); none — hech qachon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68580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3474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 tashkilotingiz IdP si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685800" y="4114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aynan shu API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685800" y="4754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754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/ nbf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4754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muddat ichida (bir necha daqiqa og'ish bilan)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685800" y="5394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5394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 / roles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468880" y="5394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so'ralgan amal uchun yetarli huquq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Tipik hujumlar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83680" y="219456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6812280" y="22494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alg: none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2615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imzosiz tokenni qabul qilish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83680" y="315468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 txBox="1"/>
          <p:nvPr/>
        </p:nvSpPr>
        <p:spPr>
          <a:xfrm>
            <a:off x="6812280" y="3209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Algoritm almashtirish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753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RS256 → HS256: ochiq kalit HMAC siri sifatida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83680" y="411480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 txBox="1"/>
          <p:nvPr/>
        </p:nvSpPr>
        <p:spPr>
          <a:xfrm>
            <a:off x="6812280" y="4169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 tekshirilmagan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45354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 ilova tokeni bilan kirish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583680" y="507492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 txBox="1"/>
          <p:nvPr/>
        </p:nvSpPr>
        <p:spPr>
          <a:xfrm>
            <a:off x="6812280" y="51297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brauzer xotirasida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5495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XSS orqali o'g'irlash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Qoida: tekshirishni o'zingiz yozmang — Microsoft.Identity.Web, MSAL yoki boshqa sinovdan o'tgan kutubxonadan foydalaning.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WINDOWS'DA TOKENLAR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ilovalari tokenni qayerdan oladi?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46304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345" y="20745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Outlook, Teams, o'z ilovangiz — MSAL kutubxonasi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90672" y="288036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3383280" y="17830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297680" y="1920240"/>
            <a:ext cx="685800" cy="6858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/home/claude/fob-slides/icons_out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985" y="20745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WAM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Account Manager — Windows'ning token brokeri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25312" y="288036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713232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/home/claude/fob-slides/icons_out/chi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25" y="207454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PRT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Kirishda olingan, TPM ga bog'langan asosiy token (M5)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759952" y="288036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18"/>
          <p:cNvSpPr/>
          <p:nvPr/>
        </p:nvSpPr>
        <p:spPr>
          <a:xfrm>
            <a:off x="996696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3" descr="/home/claude/fob-slides/icons_out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1265" y="2074545"/>
            <a:ext cx="377190" cy="3771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5256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ID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ilova uchun alohida access token beradi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064240" cy="594360"/>
          </a:xfrm>
          <a:prstGeom prst="roundRect">
            <a:avLst>
              <a:gd name="adj" fmla="val 1384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2"/>
          <p:cNvSpPr txBox="1"/>
          <p:nvPr/>
        </p:nvSpPr>
        <p:spPr>
          <a:xfrm>
            <a:off x="777240" y="4206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Yagona kirish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2788920" y="42062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Windows'ga Hello bilan kirgan foydalanuvchi Outlook, Teams, OneDrive da qayta parol kiritmaydi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548640" y="4892040"/>
            <a:ext cx="11064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5"/>
          <p:cNvSpPr txBox="1"/>
          <p:nvPr/>
        </p:nvSpPr>
        <p:spPr>
          <a:xfrm>
            <a:off x="777240" y="4892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2788920" y="48920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Ilovalar refresh token saqlamaydi — uni WAM boshqaradi; PRT kaliti TPM dan chiqmaydi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384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8"/>
          <p:cNvSpPr txBox="1"/>
          <p:nvPr/>
        </p:nvSpPr>
        <p:spPr>
          <a:xfrm>
            <a:off x="777240" y="5577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Dasturchi uchun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2788920" y="55778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MSAL da broker yoqiladi: .WithBroker(new BrokerOptions(BrokerOptions.OperatingSystems.Windows))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HUJUMLAR VA HIMOYA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Tokenlar — yangi parollar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61872"/>
          </a:xfrm>
          <a:prstGeom prst="roundRect">
            <a:avLst>
              <a:gd name="adj" fmla="val 6522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621792" cy="621792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" y="2243023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562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code fishing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5856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Storm-2372 (2024-yil avgustdan): Teams taklifnomasi niqobida qurbon haqiqiy Microsoft sahifasiga hujumchi kodini kiritadi — tokenlar hujumchiga.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26680" y="1947672"/>
            <a:ext cx="3703320" cy="932688"/>
          </a:xfrm>
          <a:prstGeom prst="roundRect">
            <a:avLst>
              <a:gd name="adj" fmla="val 882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7909560" y="1947672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Shartli kirishda device code oqimini bloklash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11064240" cy="1261872"/>
          </a:xfrm>
          <a:prstGeom prst="roundRect">
            <a:avLst>
              <a:gd name="adj" fmla="val 6522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731520" y="3474720"/>
            <a:ext cx="621792" cy="621792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/home/claude/fob-slides/icons_out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23" y="3614623"/>
            <a:ext cx="341986" cy="3419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3227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Rozilik fishingi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54480" y="363016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Zararli ilova «Mail.Read, offline_access» ruxsatini so'raydi; foydalanuvchi «Ruxsat berish» ni bosadi — parol kerak emas.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726680" y="3319272"/>
            <a:ext cx="3703320" cy="932688"/>
          </a:xfrm>
          <a:prstGeom prst="roundRect">
            <a:avLst>
              <a:gd name="adj" fmla="val 882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 txBox="1"/>
          <p:nvPr/>
        </p:nvSpPr>
        <p:spPr>
          <a:xfrm>
            <a:off x="7909560" y="3319272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roziligini cheklash, ma'mur tasdig'i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4526280"/>
            <a:ext cx="11064240" cy="1261872"/>
          </a:xfrm>
          <a:prstGeom prst="roundRect">
            <a:avLst>
              <a:gd name="adj" fmla="val 6522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731520" y="4846320"/>
            <a:ext cx="621792" cy="621792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2" descr="/home/claude/fob-slides/icons_out/f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" y="4986223"/>
            <a:ext cx="341986" cy="3419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54480" y="45994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o'g'irlash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554480" y="500176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AitM fishing yoki zararli dastur seans va refresh tokenlarini boshqa kompyuterga ko'chiradi.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7726680" y="4690872"/>
            <a:ext cx="3703320" cy="932688"/>
          </a:xfrm>
          <a:prstGeom prst="roundRect">
            <a:avLst>
              <a:gd name="adj" fmla="val 882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19"/>
          <p:cNvSpPr txBox="1"/>
          <p:nvPr/>
        </p:nvSpPr>
        <p:spPr>
          <a:xfrm>
            <a:off x="7909560" y="4690872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himoyasi: PRT qurilmaga bog'lanadi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548640" y="5943600"/>
            <a:ext cx="11064240" cy="4114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 txBox="1"/>
          <p:nvPr/>
        </p:nvSpPr>
        <p:spPr>
          <a:xfrm>
            <a:off x="77724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Uchala hujumda ham parol va MFA to'g'ri ishlagan — hujumchi autentifikatsiyadan keyingi natijani, ya'ni tokenni oladi.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 · 10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Entra ID ni ichidan ko'ramiz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termin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740664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69494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OIDC discovery hujjati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$t = "organizations"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$c = Invoke-RestMethod ("https://login.microsoftonline.com/" +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"$t/v2.0/.well-known/openid-configuration")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$c | Select issuer, authorization_endpoint,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token_endpoint, jwks_uri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Imzo kalitlari (kid lar)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(Invoke-RestMethod $c.jwks_uri).keys | Select kid, kty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JWT yuklamasini ochish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$p = $jwt.Split(".")[1].Replace("-","+").Replace("_","/")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$p += "=" * ((4 - $p.Length % 4) % 4)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[Text.Encoding]::UTF8.GetString([Convert]::FromBase64String($p))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38160" y="17830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Ko'ring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authorization_endpoint va token_endpoint — 5-slayddagi 2- va 5-qadamlar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38160" y="3273552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 txBox="1"/>
          <p:nvPr/>
        </p:nvSpPr>
        <p:spPr>
          <a:xfrm>
            <a:off x="832104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jwt.ms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7307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Microsoft'ning JWT dekoderi: o'z tokeningizni ochib, aud va scp ni toping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38160" y="4764024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8321040" y="4855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Tekshiring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5221224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jurnalida (Entra) qaysi grant turi ishlatilganini ko'ring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— parolni emas, cheklangan (scope) va muddatli ruxsatni (token) topshirish.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oqim — avtorizatsiya kodi + PKCE; implicit va parol grantlari OAuth 2.1 da yo'q.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OpenID Connect — OAuth ustidagi autentifikatsiya: id_token mijoz uchun, access token API uchun.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imzolangan, lekin shifrlanmagan: imzo, alg, iss, aud, exp ni har doim tekshiring.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WAM va TPM ga bog'langan PRT tokenlarni himoyalaydi; device code va rozilik fishingidan ehtiyot bo'ling.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PKCE nimadan himoyalaydi?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Parolni buzishdan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Tutib olingan kodni tokenga almashtirishdan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XSS dan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DoS dan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Foydalanuvchini aniqlash uchun qaysi token?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access token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refresh token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id_token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code_verifier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yuklamasini kim o'qiy oladi?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Faqat AS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Faqat API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Tokenni olgan istalgan kishi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Hech kim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Storm-2372 qaysi oqimdan foydalangan?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Client credentials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Device code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Implicit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SAML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 va keyingi mavzu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51253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9280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Kuzatish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8600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Hisobingizdagi uchinchi tomon ilovalari ruxsatlarini ko'ring, scope larini yozing, keraksizini bekor qiling.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227832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3696005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33756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A8 ga tayyorgarlik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7307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3, msal va PyJWT kutubxonalari; 6-slayddagi PKCE test qiymatini o'zingiz hisoblang.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22960" y="499262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/home/claude/fob-slides/icons_out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140757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782312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Yozma topshiriq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175504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SAML tasdiqnomasi va OIDC id_token ni 6 mezon bo'yicha solishtiring: format, imzo, auditoriya, muddat, tashish, kutubxonalar.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863840" y="1783080"/>
            <a:ext cx="3749040" cy="4187952"/>
          </a:xfrm>
          <a:prstGeom prst="roundRect">
            <a:avLst>
              <a:gd name="adj" fmla="val 219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5"/>
          <p:cNvSpPr txBox="1"/>
          <p:nvPr/>
        </p:nvSpPr>
        <p:spPr>
          <a:xfrm>
            <a:off x="78638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M9</a:t>
            </a:r>
            <a:endParaRPr lang="en-US" sz="5400" dirty="0"/>
          </a:p>
        </p:txBody>
      </p:sp>
      <p:sp>
        <p:nvSpPr>
          <p:cNvPr id="22" name="Text 17"/>
          <p:cNvSpPr txBox="1"/>
          <p:nvPr/>
        </p:nvSpPr>
        <p:spPr>
          <a:xfrm>
            <a:off x="8092440" y="3474720"/>
            <a:ext cx="32918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va OIDC hujumlari: real holatlar tahlili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4892040"/>
            <a:ext cx="32918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 to'g'ri, amalga oshirish xato bo'lsa-chi?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ATAMALAR VA MANBALAR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Ma'ruzadagi atamalar va adabiyotlar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 egasi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737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owner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685800" y="2249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Avtorizatsiya serveri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2494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 server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685800" y="2761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 serveri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61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685800" y="3273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 hajmi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273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685800" y="3785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tokeni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7856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token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68580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Yangilash tokeni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refresh token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09744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685800" y="4809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Rozilik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48097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321808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685800" y="5321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brokeri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703320" y="5321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broker (WAM)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Atamalar tarjima; o'zbek tilidagi darsliklar bilan solishtirish kerak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 txBox="1"/>
          <p:nvPr/>
        </p:nvSpPr>
        <p:spPr>
          <a:xfrm>
            <a:off x="6583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17373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RFC 6749 (OAuth 2.0) · RFC 7636 (PKCE) · RFC 8628 (Device) · RFC 9700 (BCP, 2025)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2606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 txBox="1"/>
          <p:nvPr/>
        </p:nvSpPr>
        <p:spPr>
          <a:xfrm>
            <a:off x="65836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25603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IETF. The OAuth 2.1 Authorization Framework (Internet-Draft).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83680" y="34290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 txBox="1"/>
          <p:nvPr/>
        </p:nvSpPr>
        <p:spPr>
          <a:xfrm>
            <a:off x="65836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269480" y="33832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OpenID Connect Core 1.0 · RFC 7519 (JWT) · RFC 7515 (JWS).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583680" y="4251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 txBox="1"/>
          <p:nvPr/>
        </p:nvSpPr>
        <p:spPr>
          <a:xfrm>
            <a:off x="6583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4206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Learn. Microsoft identity platform; MSAL; Token protection.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583680" y="5074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 txBox="1"/>
          <p:nvPr/>
        </p:nvSpPr>
        <p:spPr>
          <a:xfrm>
            <a:off x="658368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5029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Security Blog. Storm-2372 device code phishing, 2025.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8-ma'ruza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3368</Words>
  <Application>Microsoft Office PowerPoint</Application>
  <PresentationFormat>Произвольный</PresentationFormat>
  <Paragraphs>444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Courier New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8-ma'ruza. OAuth 2.1, OpenID Connect va JWT</dc:title>
  <dc:subject>PptxGenJS Presentation</dc:subject>
  <dc:creator>PptxGenJS</dc:creator>
  <cp:lastModifiedBy>Obidjon Bozorov</cp:lastModifiedBy>
  <cp:revision>1</cp:revision>
  <dcterms:created xsi:type="dcterms:W3CDTF">2026-09-26T16:08:26Z</dcterms:created>
  <dcterms:modified xsi:type="dcterms:W3CDTF">2026-10-11T19:53:24Z</dcterms:modified>
</cp:coreProperties>
</file>