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4-ma'ruza savol bilan tugagan edi: foydalanuvchi soxta saytga kirsa ham, autentifikator ishlamasa-chi? Bugun shu savolga javob — FIDO2 va uning Windows'dagi amalga oshirilishi: Windows Hello va passkey'lar.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II bo'lim eng katta — Windows'ga e'tibor. Namoyish uchun Windows 11 kompyuter, internet va (imkon bo'lsa) FIDO2 USB kalit tayyorlang.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Faqat birinchisi haqiqiy (rang faqat izohda — talabalarga ko'rsatmang). Ikkinchisi — boshqa domen, uchinchisi — login-check.com domenining subdomeni. 2) Yo'q: foydalanuvchi TOTP kodni soxta saytga kiritadi, proksi uni darhol haqiqiy saytga uzatadi (M4, AitM). 3) Javob: sayt manzilini (origin) — inson emas, dastur tekshirishi kerak. FIDO2 aynan shuni qiladi.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M3 va M4 bilan bog'lang: parolni to'g'ri xeshlasak ham (M3) yoki OTP qo'shsak ham (M4), sir yoki kod baribir foydalanuvchi tomonidan kiritiladi — demak, soxta saytga ham kiritilishi mumkin. FIDO2 da foydalanuvchi hech narsa kiritmaydi, faqat qurilmani ochadi (PIN yoki biometrik). ERI [1] darslikning 3-bobida.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FIDO2 = W3C WebAuthn (brauzer va sayt o'rtasidagi API) + FIDO Alliance CTAP2 (brauzer yoki OT bilan tashqi autentifikator o'rtasidagi protokol). Windows 10 1903 dan boshlab brauzerlar autentifikatorlar bilan to'g'ridan-to'g'ri emas, Windows WebAuthn API (webauthn.dll) orqali ishlaydi — shu sababli Windows Security oynasi chiqadi. Windows Hello — platforma autentifikatori; YubiKey, Feitian kabi USB kalitlar — tashqi autentifikator.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rpId — ishonchli tomon identifikatori (domen). alg: -7 — COSE algoritm raqami, ES256 (ECDSA P-256 + SHA-256); -257 — RS256. residentKey: 'required' — kalit autentifikatorda saqlanadi va foydalanuvchi nomini kiritmasdan tanlanadi: aynan shu 'passkey' deb ataladi (discoverable credential). Attestatsiya (autentifikator modelini tasdiqlash) korporativ muhitda ishlatiladi; bu yerda soddalashtirish uchun ko'rsatilmagan.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clientDataJSON ichida brauzer o'zi qo'ygan origin va challenge bor — sahifadagi JavaScript uni soxtalashtira olmaydi. authenticatorData: rpIdHash, bayroqlar (UP — foydalanuvchi mavjud, UV — foydalanuvchi tekshirilgan), imzo hisoblagichi. Imzo = Sign(yopiq kalit, authenticatorData ‖ SHA-256(clientDataJSON)). Challenge har safar yangi — eski imzoni qayta ishlatib bo'lmaydi (replay).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M4 dagi AitM hujumiga javob. 3-slayddagi uchala manzilni qayta ko'rsating: FIDO2 da foydalanuvchi adashsa ham, kalit faqat birinchisida ishlaydi. Cheklov: agar hujumchi foydalanuvchi kompyuterida zararli dastur bilan ishlasa yoki kirishdan keyingi seans cookie'sini o'g'irlasa, FIDO2 buni to'xtatmaydi — autentifikatsiya va seans xavfsizligi alohida masala.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Yo'q — rpId mos emas, kalit taklif qilinmaydi; proksi ham ishlamaydi (origin). b) Yo'q — ochiq kalitdan yopiq kalitni tiklab bo'lmaydi; lekin baza sizishi boshqa ma'lumotlar uchun baribir xavfli. c) Yo'q — yopiq kalit TPM da; PIN noto'g'ri kiritilsa TPM qulflanadi (anti-hammering), kalitni TPM dan eksport qilib bo'lmaydi. d) Qisman ha — kalitni o'g'irlay olmaydi, lekin foydalanuvchi kirgandan keyin seans cookie'sini o'g'irlashi yoki uning nomidan amal bajarishi mumkin. Xulosa: FIDO2 autentifikatsiyani himoyalaydi, yuqtirilgan qurilmani emas.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NIST SP 800-63B-4: sinxronlanadigan autentifikatorlar yopiq kalitning eksport qilinishini talab qiladi, shu sababli AAL3 da ishlatilmaydi (SHALL NOT); AAL1 va AAL2 da ruxsat etiladi. Windows Hello passkey'lari qurilmaga bog'langan; 2025-yil noyabridan Windows 11 uchinchi tomon passkey menejerlarini (1Password, Bitwarden) tizim darajasida qo'llab-quvvatlaydi — ular sinxronlanadigan passkey saqlaydi.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Nega 4 xonali PIN parolga qaraganda xavfsizroq? Chunki PIN faqat shu qurilmaning TPM iga ishlaydi: o'g'irlangan PIN boshqa kompyuterda foydasiz, TPM esa ko'p noto'g'ri urinishdan keyin qulflanadi (anti-hammering). Parol esa istalgan joydan ishlaydi. Biometrik andozalar faqat qurilmada, AES bilan shifrlangan holda saqlanadi va tarmoqqa chiqmaydi; Enhanced Sign-in Security (ESS) da solishtirish izolyatsiya qilingan muhitda (VBS) yoki sensorning o'zida bajariladi.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 — Security Account Manager (%SystemRoot%\System32\config\SAM); LSASS — Local Security Authority Subsystem Service. NTLM xeshi = MD4(UTF-16LE(parol)), tuzsiz — M3 dagi barcha kamchiliklar shu yerda. Himoya: Credential Guard (LSASS sirlarini VBS da izolyatsiya qiladi). Muddatlar: Windows Hello FIDO2 sertifikatini 2019-yilda olgan; passkey boshqaruvi Windows 11 22H2 (KB5030310, 2023-yil sentyabr); 'passwordless by default' — Microsoft, 2025-yil 1-may; uchinchi tomon passkey menejerlari — 2025-yil noyabr yangilanishi.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Learn'dagi tavsif asosida. PRT — Kerberos TGT ning Entra ID dagi analogi, qurilma haqidagi ma'lumotni ham o'z ichiga oladi. Gibrid muhitda ochiq kalit Entra Connect Sync orqali AD dagi msDS-KeyCredentialLink atributiga yoziladi. Kerberos va AD — keyingi, 6-ma'ruza mavzusi: bu slayd ko'prik vazifasini bajaradi. Holatni tekshirish: dsregcmd /status (16-slayd).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Brauzer passkey so'raganda Windows Security oynasi chiqadi va shu to'rt variantdan birini taklif qiladi. Telefon orqali kirish (FIDO 'hybrid' transport) Bluetooth talab qiladi: QR kod masofadan fishing qilishning oldini olish uchun jismoniy yaqinlikni tekshiradi. Korxonada Bluetooth ni faqat FIDO2 xizmatlari bilan cheklash mumkin (Intune siyosati). Windows 11 24H2 dan ilovalarning passkey'ga kirishi uchun maxfiylik ruxsati so'raladi (Sozlamalar → Maxfiylik va xavfsizlik → Passkey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Oldindan sinab ko'ring: universitet kompyuterlarida Get-Tpm uchun administrator huquqi kerak; tpm.msc orqali ham ko'rish mumkin. NgcSet — Windows Hello for Business kaliti o'rnatilganmi (Next Generation Credentials). Domenga ulanmagan kompyuterda AzureAdJoined : NO bo'lishi normal. webauthn.io — ochiq sinov sayti (Duo Security); u yerda yaratilgan passkey faqat shu sayt uchun. Talabalar e'tiborini Windows Security oynasidagi sayt nomiga qarating — bu 8-slayddagi origin bog'lanishining ko'rinadigan qismi. A5 amaliy mashg'ulotida shu jarayon batafsil bajariladi.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Javoblar: 1-B, 2-B, 3-C, 4-C.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2.png"/><Relationship Id="rId4" Type="http://schemas.openxmlformats.org/officeDocument/2006/relationships/image" Target="../media/image-3-2.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2.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326880" y="-1828800"/>
            <a:ext cx="5120640" cy="5120640"/>
          </a:xfrm>
          <a:prstGeom prst="ellipse">
            <a:avLst/>
          </a:prstGeom>
          <a:solidFill>
            <a:srgbClr val="2A3778"/>
          </a:solidFill>
          <a:ln/>
        </p:spPr>
      </p:sp>
      <p:sp>
        <p:nvSpPr>
          <p:cNvPr id="3" name="Shape 1"/>
          <p:cNvSpPr/>
          <p:nvPr/>
        </p:nvSpPr>
        <p:spPr>
          <a:xfrm>
            <a:off x="10515600" y="4023360"/>
            <a:ext cx="3291840" cy="3291840"/>
          </a:xfrm>
          <a:prstGeom prst="ellipse">
            <a:avLst/>
          </a:prstGeom>
          <a:solidFill>
            <a:srgbClr val="2A3778"/>
          </a:solidFill>
          <a:ln/>
        </p:spPr>
      </p:sp>
      <p:sp>
        <p:nvSpPr>
          <p:cNvPr id="4" name="Shape 2"/>
          <p:cNvSpPr/>
          <p:nvPr/>
        </p:nvSpPr>
        <p:spPr>
          <a:xfrm>
            <a:off x="822960" y="685800"/>
            <a:ext cx="868680" cy="868680"/>
          </a:xfrm>
          <a:prstGeom prst="ellipse">
            <a:avLst/>
          </a:prstGeom>
          <a:solidFill>
            <a:srgbClr val="2A3778"/>
          </a:solidFill>
          <a:ln/>
        </p:spPr>
      </p:sp>
      <p:pic>
        <p:nvPicPr>
          <p:cNvPr id="5" name="Image 0" descr="/home/claude/fob-slides/icons_out/fingerprint_white.png"/>
          <p:cNvPicPr>
            <a:picLocks noChangeAspect="1"/>
          </p:cNvPicPr>
          <p:nvPr/>
        </p:nvPicPr>
        <p:blipFill>
          <a:blip r:embed="rId1"/>
          <a:stretch>
            <a:fillRect/>
          </a:stretch>
        </p:blipFill>
        <p:spPr>
          <a:xfrm>
            <a:off x="1040130" y="902970"/>
            <a:ext cx="434340" cy="434340"/>
          </a:xfrm>
          <a:prstGeom prst="rect">
            <a:avLst/>
          </a:prstGeom>
        </p:spPr>
      </p:pic>
      <p:sp>
        <p:nvSpPr>
          <p:cNvPr id="6" name="Text 3"/>
          <p:cNvSpPr txBox="1"/>
          <p:nvPr/>
        </p:nvSpPr>
        <p:spPr>
          <a:xfrm>
            <a:off x="822960" y="1783080"/>
            <a:ext cx="10241280" cy="411480"/>
          </a:xfrm>
          <a:prstGeom prst="rect">
            <a:avLst/>
          </a:prstGeom>
          <a:noFill/>
          <a:ln/>
        </p:spPr>
        <p:txBody>
          <a:bodyPr wrap="square" lIns="0" tIns="0" rIns="0" bIns="0" rtlCol="0" anchor="t"/>
          <a:lstStyle/>
          <a:p>
            <a:pPr algn="l" indent="0" marL="0">
              <a:lnSpc>
                <a:spcPct val="100000"/>
              </a:lnSpc>
              <a:buNone/>
            </a:pPr>
            <a:r>
              <a:rPr lang="en-US" sz="1700" b="1" dirty="0">
                <a:solidFill>
                  <a:srgbClr val="CADCFC"/>
                </a:solidFill>
                <a:latin typeface="Times New Roman" pitchFamily="34" charset="0"/>
                <a:ea typeface="Times New Roman" pitchFamily="34" charset="-122"/>
                <a:cs typeface="Times New Roman" pitchFamily="34" charset="-120"/>
              </a:rPr>
              <a:t>FOYDALANISHLARNI BOSHQARISH  ·  FOB1506  ·  5-MA'RUZA</a:t>
            </a:r>
            <a:endParaRPr lang="en-US" sz="1700" dirty="0"/>
          </a:p>
        </p:txBody>
      </p:sp>
      <p:sp>
        <p:nvSpPr>
          <p:cNvPr id="7" name="Text 4"/>
          <p:cNvSpPr txBox="1"/>
          <p:nvPr/>
        </p:nvSpPr>
        <p:spPr>
          <a:xfrm>
            <a:off x="822960" y="2240280"/>
            <a:ext cx="9692640" cy="1371600"/>
          </a:xfrm>
          <a:prstGeom prst="rect">
            <a:avLst/>
          </a:prstGeom>
          <a:noFill/>
          <a:ln/>
        </p:spPr>
        <p:txBody>
          <a:bodyPr wrap="square" lIns="0" tIns="0" rIns="0" bIns="0" rtlCol="0" anchor="t"/>
          <a:lstStyle/>
          <a:p>
            <a:pPr algn="l" indent="0" marL="0">
              <a:lnSpc>
                <a:spcPct val="100000"/>
              </a:lnSpc>
              <a:buNone/>
            </a:pPr>
            <a:r>
              <a:rPr lang="en-US" sz="4400" b="1" dirty="0">
                <a:solidFill>
                  <a:srgbClr val="FFFFFF"/>
                </a:solidFill>
                <a:latin typeface="Times New Roman" pitchFamily="34" charset="0"/>
                <a:ea typeface="Times New Roman" pitchFamily="34" charset="-122"/>
                <a:cs typeface="Times New Roman" pitchFamily="34" charset="-120"/>
              </a:rPr>
              <a:t>Parolsiz autentifikatsiya: FIDO2, WebAuthn, passkey va biometrik tasdiqlash</a:t>
            </a:r>
            <a:endParaRPr lang="en-US" sz="4400" dirty="0"/>
          </a:p>
        </p:txBody>
      </p:sp>
      <p:sp>
        <p:nvSpPr>
          <p:cNvPr id="8" name="Text 5"/>
          <p:cNvSpPr txBox="1"/>
          <p:nvPr/>
        </p:nvSpPr>
        <p:spPr>
          <a:xfrm>
            <a:off x="822960" y="3657600"/>
            <a:ext cx="9509760" cy="457200"/>
          </a:xfrm>
          <a:prstGeom prst="rect">
            <a:avLst/>
          </a:prstGeom>
          <a:noFill/>
          <a:ln/>
        </p:spPr>
        <p:txBody>
          <a:bodyPr wrap="square" lIns="0" tIns="0" rIns="0" bIns="0" rtlCol="0" anchor="t"/>
          <a:lstStyle/>
          <a:p>
            <a:pPr algn="l" indent="0" marL="0">
              <a:lnSpc>
                <a:spcPct val="100000"/>
              </a:lnSpc>
              <a:buNone/>
            </a:pPr>
            <a:r>
              <a:rPr lang="en-US" sz="2000" dirty="0">
                <a:solidFill>
                  <a:srgbClr val="CADCFC"/>
                </a:solidFill>
                <a:latin typeface="Times New Roman" pitchFamily="34" charset="0"/>
                <a:ea typeface="Times New Roman" pitchFamily="34" charset="-122"/>
                <a:cs typeface="Times New Roman" pitchFamily="34" charset="-120"/>
              </a:rPr>
              <a:t>Passkey  ·  TPM  ·  Windows Hello for Business</a:t>
            </a:r>
            <a:endParaRPr lang="en-US" sz="2000" dirty="0"/>
          </a:p>
        </p:txBody>
      </p:sp>
      <p:sp>
        <p:nvSpPr>
          <p:cNvPr id="9" name="Shape 6"/>
          <p:cNvSpPr/>
          <p:nvPr/>
        </p:nvSpPr>
        <p:spPr>
          <a:xfrm>
            <a:off x="822960" y="4434840"/>
            <a:ext cx="1143000" cy="438912"/>
          </a:xfrm>
          <a:prstGeom prst="roundRect">
            <a:avLst>
              <a:gd name="adj" fmla="val 50000"/>
            </a:avLst>
          </a:prstGeom>
          <a:solidFill>
            <a:srgbClr val="2A3778"/>
          </a:solidFill>
          <a:ln/>
        </p:spPr>
      </p:sp>
      <p:sp>
        <p:nvSpPr>
          <p:cNvPr id="10" name="Text 7"/>
          <p:cNvSpPr txBox="1"/>
          <p:nvPr/>
        </p:nvSpPr>
        <p:spPr>
          <a:xfrm>
            <a:off x="822960" y="4434840"/>
            <a:ext cx="1143000" cy="438912"/>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2 soat</a:t>
            </a:r>
            <a:endParaRPr lang="en-US" sz="1400" dirty="0"/>
          </a:p>
        </p:txBody>
      </p:sp>
      <p:sp>
        <p:nvSpPr>
          <p:cNvPr id="11" name="Shape 8"/>
          <p:cNvSpPr/>
          <p:nvPr/>
        </p:nvSpPr>
        <p:spPr>
          <a:xfrm>
            <a:off x="2148840" y="4434840"/>
            <a:ext cx="2514600" cy="438912"/>
          </a:xfrm>
          <a:prstGeom prst="roundRect">
            <a:avLst>
              <a:gd name="adj" fmla="val 50000"/>
            </a:avLst>
          </a:prstGeom>
          <a:solidFill>
            <a:srgbClr val="2A3778"/>
          </a:solidFill>
          <a:ln/>
        </p:spPr>
      </p:sp>
      <p:sp>
        <p:nvSpPr>
          <p:cNvPr id="12" name="Text 9"/>
          <p:cNvSpPr txBox="1"/>
          <p:nvPr/>
        </p:nvSpPr>
        <p:spPr>
          <a:xfrm>
            <a:off x="2148840" y="4434840"/>
            <a:ext cx="2514600" cy="438912"/>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18 ma'ruzadan 5-si</a:t>
            </a:r>
            <a:endParaRPr lang="en-US" sz="1400" dirty="0"/>
          </a:p>
        </p:txBody>
      </p:sp>
      <p:sp>
        <p:nvSpPr>
          <p:cNvPr id="13" name="Shape 10"/>
          <p:cNvSpPr/>
          <p:nvPr/>
        </p:nvSpPr>
        <p:spPr>
          <a:xfrm>
            <a:off x="4846320" y="4434840"/>
            <a:ext cx="1600200" cy="438912"/>
          </a:xfrm>
          <a:prstGeom prst="roundRect">
            <a:avLst>
              <a:gd name="adj" fmla="val 50000"/>
            </a:avLst>
          </a:prstGeom>
          <a:solidFill>
            <a:srgbClr val="2A3778"/>
          </a:solidFill>
          <a:ln/>
        </p:spPr>
      </p:sp>
      <p:sp>
        <p:nvSpPr>
          <p:cNvPr id="14" name="Text 11"/>
          <p:cNvSpPr txBox="1"/>
          <p:nvPr/>
        </p:nvSpPr>
        <p:spPr>
          <a:xfrm>
            <a:off x="4846320" y="4434840"/>
            <a:ext cx="1600200" cy="438912"/>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Amaliy: A5</a:t>
            </a:r>
            <a:endParaRPr lang="en-US" sz="1400" dirty="0"/>
          </a:p>
        </p:txBody>
      </p:sp>
      <p:sp>
        <p:nvSpPr>
          <p:cNvPr id="15" name="Shape 12"/>
          <p:cNvSpPr/>
          <p:nvPr/>
        </p:nvSpPr>
        <p:spPr>
          <a:xfrm>
            <a:off x="6629400" y="4434840"/>
            <a:ext cx="2400300" cy="438912"/>
          </a:xfrm>
          <a:prstGeom prst="roundRect">
            <a:avLst>
              <a:gd name="adj" fmla="val 50000"/>
            </a:avLst>
          </a:prstGeom>
          <a:solidFill>
            <a:srgbClr val="2A3778"/>
          </a:solidFill>
          <a:ln/>
        </p:spPr>
      </p:sp>
      <p:sp>
        <p:nvSpPr>
          <p:cNvPr id="16" name="Text 13"/>
          <p:cNvSpPr txBox="1"/>
          <p:nvPr/>
        </p:nvSpPr>
        <p:spPr>
          <a:xfrm>
            <a:off x="6629400" y="4434840"/>
            <a:ext cx="2400300" cy="438912"/>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Windows namoyishi</a:t>
            </a:r>
            <a:endParaRPr lang="en-US" sz="1400" dirty="0"/>
          </a:p>
        </p:txBody>
      </p:sp>
      <p:sp>
        <p:nvSpPr>
          <p:cNvPr id="17" name="Text 14"/>
          <p:cNvSpPr txBox="1"/>
          <p:nvPr/>
        </p:nvSpPr>
        <p:spPr>
          <a:xfrm>
            <a:off x="822960" y="5897880"/>
            <a:ext cx="9144000" cy="365760"/>
          </a:xfrm>
          <a:prstGeom prst="rect">
            <a:avLst/>
          </a:prstGeom>
          <a:noFill/>
          <a:ln/>
        </p:spPr>
        <p:txBody>
          <a:bodyPr wrap="square" lIns="0" tIns="0" rIns="0" bIns="0" rtlCol="0" anchor="t"/>
          <a:lstStyle/>
          <a:p>
            <a:pPr algn="l" indent="0" marL="0">
              <a:lnSpc>
                <a:spcPct val="100000"/>
              </a:lnSpc>
              <a:buNone/>
            </a:pPr>
            <a:r>
              <a:rPr lang="en-US" sz="1400" dirty="0">
                <a:solidFill>
                  <a:srgbClr val="9FB0E0"/>
                </a:solidFill>
                <a:latin typeface="Times New Roman" pitchFamily="34" charset="0"/>
                <a:ea typeface="Times New Roman" pitchFamily="34" charset="-122"/>
                <a:cs typeface="Times New Roman" pitchFamily="34" charset="-120"/>
              </a:rPr>
              <a:t>Mirzo Ulug'bek nomidagi O'zbekiston Milliy universiteti  ·  Axborot xavfsizligi kafedrasi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DARS XARITASI</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Bugungi ma'ruza qanday quriladi</a:t>
            </a:r>
            <a:endParaRPr lang="en-US" sz="3600" dirty="0"/>
          </a:p>
        </p:txBody>
      </p:sp>
      <p:sp>
        <p:nvSpPr>
          <p:cNvPr id="4" name="Shape 2"/>
          <p:cNvSpPr/>
          <p:nvPr/>
        </p:nvSpPr>
        <p:spPr>
          <a:xfrm>
            <a:off x="548640" y="1783080"/>
            <a:ext cx="7863840" cy="1234440"/>
          </a:xfrm>
          <a:prstGeom prst="roundRect">
            <a:avLst>
              <a:gd name="adj" fmla="val 6667"/>
            </a:avLst>
          </a:prstGeom>
          <a:solidFill>
            <a:srgbClr val="EEF2FB"/>
          </a:solidFill>
          <a:ln/>
        </p:spPr>
      </p:sp>
      <p:sp>
        <p:nvSpPr>
          <p:cNvPr id="5" name="Shape 3"/>
          <p:cNvSpPr/>
          <p:nvPr/>
        </p:nvSpPr>
        <p:spPr>
          <a:xfrm>
            <a:off x="548640" y="1783080"/>
            <a:ext cx="914400" cy="1234440"/>
          </a:xfrm>
          <a:prstGeom prst="roundRect">
            <a:avLst>
              <a:gd name="adj" fmla="val 9000"/>
            </a:avLst>
          </a:prstGeom>
          <a:solidFill>
            <a:srgbClr val="1E2761"/>
          </a:solidFill>
          <a:ln/>
        </p:spPr>
      </p:sp>
      <p:sp>
        <p:nvSpPr>
          <p:cNvPr id="6" name="Text 4"/>
          <p:cNvSpPr txBox="1"/>
          <p:nvPr/>
        </p:nvSpPr>
        <p:spPr>
          <a:xfrm>
            <a:off x="548640" y="1783080"/>
            <a:ext cx="914400" cy="1234440"/>
          </a:xfrm>
          <a:prstGeom prst="rect">
            <a:avLst/>
          </a:prstGeom>
          <a:noFill/>
          <a:ln/>
        </p:spPr>
        <p:txBody>
          <a:bodyPr wrap="square" lIns="50800" tIns="50800" rIns="50800" bIns="50800" rtlCol="0" anchor="ctr"/>
          <a:lstStyle/>
          <a:p>
            <a:pPr algn="ctr" indent="0" marL="0">
              <a:lnSpc>
                <a:spcPct val="100000"/>
              </a:lnSpc>
              <a:buNone/>
            </a:pPr>
            <a:r>
              <a:rPr lang="en-US" sz="3200" b="1" dirty="0">
                <a:solidFill>
                  <a:srgbClr val="FFFFFF"/>
                </a:solidFill>
                <a:latin typeface="Times New Roman" pitchFamily="34" charset="0"/>
                <a:ea typeface="Times New Roman" pitchFamily="34" charset="-122"/>
                <a:cs typeface="Times New Roman" pitchFamily="34" charset="-120"/>
              </a:rPr>
              <a:t>0</a:t>
            </a:r>
            <a:endParaRPr lang="en-US" sz="3200" dirty="0"/>
          </a:p>
        </p:txBody>
      </p:sp>
      <p:sp>
        <p:nvSpPr>
          <p:cNvPr id="7" name="Text 5"/>
          <p:cNvSpPr txBox="1"/>
          <p:nvPr/>
        </p:nvSpPr>
        <p:spPr>
          <a:xfrm>
            <a:off x="1691640" y="1947672"/>
            <a:ext cx="5394960" cy="411480"/>
          </a:xfrm>
          <a:prstGeom prst="rect">
            <a:avLst/>
          </a:prstGeom>
          <a:noFill/>
          <a:ln/>
        </p:spPr>
        <p:txBody>
          <a:bodyPr wrap="square" lIns="0" tIns="0" rIns="0" bIns="0" rtlCol="0" anchor="t"/>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Kirish: sirni emas, saytni tekshirish</a:t>
            </a:r>
            <a:endParaRPr lang="en-US" sz="2000" dirty="0"/>
          </a:p>
        </p:txBody>
      </p:sp>
      <p:sp>
        <p:nvSpPr>
          <p:cNvPr id="8" name="Text 6"/>
          <p:cNvSpPr txBox="1"/>
          <p:nvPr/>
        </p:nvSpPr>
        <p:spPr>
          <a:xfrm>
            <a:off x="1691640" y="2423160"/>
            <a:ext cx="5669280" cy="411480"/>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Umumiy sir va kalitlar juftligi</a:t>
            </a:r>
            <a:endParaRPr lang="en-US" sz="1600" dirty="0"/>
          </a:p>
        </p:txBody>
      </p:sp>
      <p:sp>
        <p:nvSpPr>
          <p:cNvPr id="9" name="Text 7"/>
          <p:cNvSpPr txBox="1"/>
          <p:nvPr/>
        </p:nvSpPr>
        <p:spPr>
          <a:xfrm>
            <a:off x="7223760" y="1965960"/>
            <a:ext cx="1051560" cy="365760"/>
          </a:xfrm>
          <a:prstGeom prst="rect">
            <a:avLst/>
          </a:prstGeom>
          <a:noFill/>
          <a:ln/>
        </p:spPr>
        <p:txBody>
          <a:bodyPr wrap="square" lIns="0" tIns="0" rIns="0" bIns="0" rtlCol="0" anchor="t"/>
          <a:lstStyle/>
          <a:p>
            <a:pPr algn="r"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~10 daq.</a:t>
            </a:r>
            <a:endParaRPr lang="en-US" sz="1600" dirty="0"/>
          </a:p>
        </p:txBody>
      </p:sp>
      <p:sp>
        <p:nvSpPr>
          <p:cNvPr id="10" name="Shape 8"/>
          <p:cNvSpPr/>
          <p:nvPr/>
        </p:nvSpPr>
        <p:spPr>
          <a:xfrm>
            <a:off x="548640" y="3182112"/>
            <a:ext cx="7863840" cy="1234440"/>
          </a:xfrm>
          <a:prstGeom prst="roundRect">
            <a:avLst>
              <a:gd name="adj" fmla="val 6667"/>
            </a:avLst>
          </a:prstGeom>
          <a:solidFill>
            <a:srgbClr val="EEF2FB"/>
          </a:solidFill>
          <a:ln/>
        </p:spPr>
      </p:sp>
      <p:sp>
        <p:nvSpPr>
          <p:cNvPr id="11" name="Shape 9"/>
          <p:cNvSpPr/>
          <p:nvPr/>
        </p:nvSpPr>
        <p:spPr>
          <a:xfrm>
            <a:off x="548640" y="3182112"/>
            <a:ext cx="914400" cy="1234440"/>
          </a:xfrm>
          <a:prstGeom prst="roundRect">
            <a:avLst>
              <a:gd name="adj" fmla="val 9000"/>
            </a:avLst>
          </a:prstGeom>
          <a:solidFill>
            <a:srgbClr val="1E2761"/>
          </a:solidFill>
          <a:ln/>
        </p:spPr>
      </p:sp>
      <p:sp>
        <p:nvSpPr>
          <p:cNvPr id="12" name="Text 10"/>
          <p:cNvSpPr txBox="1"/>
          <p:nvPr/>
        </p:nvSpPr>
        <p:spPr>
          <a:xfrm>
            <a:off x="548640" y="3182112"/>
            <a:ext cx="914400" cy="1234440"/>
          </a:xfrm>
          <a:prstGeom prst="rect">
            <a:avLst/>
          </a:prstGeom>
          <a:noFill/>
          <a:ln/>
        </p:spPr>
        <p:txBody>
          <a:bodyPr wrap="square" lIns="50800" tIns="50800" rIns="50800" bIns="50800" rtlCol="0" anchor="ctr"/>
          <a:lstStyle/>
          <a:p>
            <a:pPr algn="ctr" indent="0" marL="0">
              <a:lnSpc>
                <a:spcPct val="100000"/>
              </a:lnSpc>
              <a:buNone/>
            </a:pPr>
            <a:r>
              <a:rPr lang="en-US" sz="3200" b="1" dirty="0">
                <a:solidFill>
                  <a:srgbClr val="FFFFFF"/>
                </a:solidFill>
                <a:latin typeface="Times New Roman" pitchFamily="34" charset="0"/>
                <a:ea typeface="Times New Roman" pitchFamily="34" charset="-122"/>
                <a:cs typeface="Times New Roman" pitchFamily="34" charset="-120"/>
              </a:rPr>
              <a:t>I</a:t>
            </a:r>
            <a:endParaRPr lang="en-US" sz="3200" dirty="0"/>
          </a:p>
        </p:txBody>
      </p:sp>
      <p:sp>
        <p:nvSpPr>
          <p:cNvPr id="13" name="Text 11"/>
          <p:cNvSpPr txBox="1"/>
          <p:nvPr/>
        </p:nvSpPr>
        <p:spPr>
          <a:xfrm>
            <a:off x="1691640" y="3346704"/>
            <a:ext cx="5394960" cy="411480"/>
          </a:xfrm>
          <a:prstGeom prst="rect">
            <a:avLst/>
          </a:prstGeom>
          <a:noFill/>
          <a:ln/>
        </p:spPr>
        <p:txBody>
          <a:bodyPr wrap="square" lIns="0" tIns="0" rIns="0" bIns="0" rtlCol="0" anchor="t"/>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FIDO2 va WebAuthn</a:t>
            </a:r>
            <a:endParaRPr lang="en-US" sz="2000" dirty="0"/>
          </a:p>
        </p:txBody>
      </p:sp>
      <p:sp>
        <p:nvSpPr>
          <p:cNvPr id="14" name="Text 12"/>
          <p:cNvSpPr txBox="1"/>
          <p:nvPr/>
        </p:nvSpPr>
        <p:spPr>
          <a:xfrm>
            <a:off x="1691640" y="3822192"/>
            <a:ext cx="5669280" cy="411480"/>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Arxitektura, ro'yxatdan o'tish, kirish, passkey turlari</a:t>
            </a:r>
            <a:endParaRPr lang="en-US" sz="1600" dirty="0"/>
          </a:p>
        </p:txBody>
      </p:sp>
      <p:sp>
        <p:nvSpPr>
          <p:cNvPr id="15" name="Text 13"/>
          <p:cNvSpPr txBox="1"/>
          <p:nvPr/>
        </p:nvSpPr>
        <p:spPr>
          <a:xfrm>
            <a:off x="7223760" y="3364992"/>
            <a:ext cx="1051560" cy="365760"/>
          </a:xfrm>
          <a:prstGeom prst="rect">
            <a:avLst/>
          </a:prstGeom>
          <a:noFill/>
          <a:ln/>
        </p:spPr>
        <p:txBody>
          <a:bodyPr wrap="square" lIns="0" tIns="0" rIns="0" bIns="0" rtlCol="0" anchor="t"/>
          <a:lstStyle/>
          <a:p>
            <a:pPr algn="r"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~30 daq.</a:t>
            </a:r>
            <a:endParaRPr lang="en-US" sz="1600" dirty="0"/>
          </a:p>
        </p:txBody>
      </p:sp>
      <p:sp>
        <p:nvSpPr>
          <p:cNvPr id="16" name="Shape 14"/>
          <p:cNvSpPr/>
          <p:nvPr/>
        </p:nvSpPr>
        <p:spPr>
          <a:xfrm>
            <a:off x="548640" y="4581144"/>
            <a:ext cx="7863840" cy="1234440"/>
          </a:xfrm>
          <a:prstGeom prst="roundRect">
            <a:avLst>
              <a:gd name="adj" fmla="val 6667"/>
            </a:avLst>
          </a:prstGeom>
          <a:solidFill>
            <a:srgbClr val="EEF2FB"/>
          </a:solidFill>
          <a:ln/>
        </p:spPr>
      </p:sp>
      <p:sp>
        <p:nvSpPr>
          <p:cNvPr id="17" name="Shape 15"/>
          <p:cNvSpPr/>
          <p:nvPr/>
        </p:nvSpPr>
        <p:spPr>
          <a:xfrm>
            <a:off x="548640" y="4581144"/>
            <a:ext cx="914400" cy="1234440"/>
          </a:xfrm>
          <a:prstGeom prst="roundRect">
            <a:avLst>
              <a:gd name="adj" fmla="val 9000"/>
            </a:avLst>
          </a:prstGeom>
          <a:solidFill>
            <a:srgbClr val="1E2761"/>
          </a:solidFill>
          <a:ln/>
        </p:spPr>
      </p:sp>
      <p:sp>
        <p:nvSpPr>
          <p:cNvPr id="18" name="Text 16"/>
          <p:cNvSpPr txBox="1"/>
          <p:nvPr/>
        </p:nvSpPr>
        <p:spPr>
          <a:xfrm>
            <a:off x="548640" y="4581144"/>
            <a:ext cx="914400" cy="1234440"/>
          </a:xfrm>
          <a:prstGeom prst="rect">
            <a:avLst/>
          </a:prstGeom>
          <a:noFill/>
          <a:ln/>
        </p:spPr>
        <p:txBody>
          <a:bodyPr wrap="square" lIns="50800" tIns="50800" rIns="50800" bIns="50800" rtlCol="0" anchor="ctr"/>
          <a:lstStyle/>
          <a:p>
            <a:pPr algn="ctr" indent="0" marL="0">
              <a:lnSpc>
                <a:spcPct val="100000"/>
              </a:lnSpc>
              <a:buNone/>
            </a:pPr>
            <a:r>
              <a:rPr lang="en-US" sz="3200" b="1" dirty="0">
                <a:solidFill>
                  <a:srgbClr val="FFFFFF"/>
                </a:solidFill>
                <a:latin typeface="Times New Roman" pitchFamily="34" charset="0"/>
                <a:ea typeface="Times New Roman" pitchFamily="34" charset="-122"/>
                <a:cs typeface="Times New Roman" pitchFamily="34" charset="-120"/>
              </a:rPr>
              <a:t>II</a:t>
            </a:r>
            <a:endParaRPr lang="en-US" sz="3200" dirty="0"/>
          </a:p>
        </p:txBody>
      </p:sp>
      <p:sp>
        <p:nvSpPr>
          <p:cNvPr id="19" name="Text 17"/>
          <p:cNvSpPr txBox="1"/>
          <p:nvPr/>
        </p:nvSpPr>
        <p:spPr>
          <a:xfrm>
            <a:off x="1691640" y="4745736"/>
            <a:ext cx="5394960" cy="411480"/>
          </a:xfrm>
          <a:prstGeom prst="rect">
            <a:avLst/>
          </a:prstGeom>
          <a:noFill/>
          <a:ln/>
        </p:spPr>
        <p:txBody>
          <a:bodyPr wrap="square" lIns="0" tIns="0" rIns="0" bIns="0" rtlCol="0" anchor="t"/>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Windows'da parolsiz autentifikatsiya</a:t>
            </a:r>
            <a:endParaRPr lang="en-US" sz="2000" dirty="0"/>
          </a:p>
        </p:txBody>
      </p:sp>
      <p:sp>
        <p:nvSpPr>
          <p:cNvPr id="20" name="Text 18"/>
          <p:cNvSpPr txBox="1"/>
          <p:nvPr/>
        </p:nvSpPr>
        <p:spPr>
          <a:xfrm>
            <a:off x="1691640" y="5221224"/>
            <a:ext cx="5669280" cy="411480"/>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Windows Hello, TPM, Hello for Business, namoyish</a:t>
            </a:r>
            <a:endParaRPr lang="en-US" sz="1600" dirty="0"/>
          </a:p>
        </p:txBody>
      </p:sp>
      <p:sp>
        <p:nvSpPr>
          <p:cNvPr id="21" name="Text 19"/>
          <p:cNvSpPr txBox="1"/>
          <p:nvPr/>
        </p:nvSpPr>
        <p:spPr>
          <a:xfrm>
            <a:off x="7223760" y="4764024"/>
            <a:ext cx="1051560" cy="365760"/>
          </a:xfrm>
          <a:prstGeom prst="rect">
            <a:avLst/>
          </a:prstGeom>
          <a:noFill/>
          <a:ln/>
        </p:spPr>
        <p:txBody>
          <a:bodyPr wrap="square" lIns="0" tIns="0" rIns="0" bIns="0" rtlCol="0" anchor="t"/>
          <a:lstStyle/>
          <a:p>
            <a:pPr algn="r"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~40 daq.</a:t>
            </a:r>
            <a:endParaRPr lang="en-US" sz="1600" dirty="0"/>
          </a:p>
        </p:txBody>
      </p:sp>
      <p:sp>
        <p:nvSpPr>
          <p:cNvPr id="22" name="Shape 20"/>
          <p:cNvSpPr/>
          <p:nvPr/>
        </p:nvSpPr>
        <p:spPr>
          <a:xfrm>
            <a:off x="8686800" y="1783080"/>
            <a:ext cx="2926080" cy="4032504"/>
          </a:xfrm>
          <a:prstGeom prst="roundRect">
            <a:avLst>
              <a:gd name="adj" fmla="val 2813"/>
            </a:avLst>
          </a:prstGeom>
          <a:solidFill>
            <a:srgbClr val="FDF3E2"/>
          </a:solidFill>
          <a:ln/>
        </p:spPr>
      </p:sp>
      <p:sp>
        <p:nvSpPr>
          <p:cNvPr id="23" name="Shape 21"/>
          <p:cNvSpPr/>
          <p:nvPr/>
        </p:nvSpPr>
        <p:spPr>
          <a:xfrm>
            <a:off x="8961120" y="2011680"/>
            <a:ext cx="566928" cy="566928"/>
          </a:xfrm>
          <a:prstGeom prst="ellipse">
            <a:avLst/>
          </a:prstGeom>
          <a:solidFill>
            <a:srgbClr val="D9932B"/>
          </a:solidFill>
          <a:ln/>
        </p:spPr>
      </p:sp>
      <p:pic>
        <p:nvPicPr>
          <p:cNvPr id="24" name="Image 0" descr="/home/claude/fob-slides/icons_out/bulb_white.png"/>
          <p:cNvPicPr>
            <a:picLocks noChangeAspect="1"/>
          </p:cNvPicPr>
          <p:nvPr/>
        </p:nvPicPr>
        <p:blipFill>
          <a:blip r:embed="rId1"/>
          <a:stretch>
            <a:fillRect/>
          </a:stretch>
        </p:blipFill>
        <p:spPr>
          <a:xfrm>
            <a:off x="9088679" y="2139239"/>
            <a:ext cx="311810" cy="311810"/>
          </a:xfrm>
          <a:prstGeom prst="rect">
            <a:avLst/>
          </a:prstGeom>
        </p:spPr>
      </p:pic>
      <p:sp>
        <p:nvSpPr>
          <p:cNvPr id="25" name="Text 22"/>
          <p:cNvSpPr txBox="1"/>
          <p:nvPr/>
        </p:nvSpPr>
        <p:spPr>
          <a:xfrm>
            <a:off x="8961120" y="2697480"/>
            <a:ext cx="2468880" cy="411480"/>
          </a:xfrm>
          <a:prstGeom prst="rect">
            <a:avLst/>
          </a:prstGeom>
          <a:noFill/>
          <a:ln/>
        </p:spPr>
        <p:txBody>
          <a:bodyPr wrap="square" lIns="0" tIns="0" rIns="0" bIns="0" rtlCol="0" anchor="t"/>
          <a:lstStyle/>
          <a:p>
            <a:pPr algn="l" indent="0" marL="0">
              <a:lnSpc>
                <a:spcPct val="100000"/>
              </a:lnSpc>
              <a:buNone/>
            </a:pPr>
            <a:r>
              <a:rPr lang="en-US" sz="1800" b="1" dirty="0">
                <a:solidFill>
                  <a:srgbClr val="9A5B00"/>
                </a:solidFill>
                <a:latin typeface="Times New Roman" pitchFamily="34" charset="0"/>
                <a:ea typeface="Times New Roman" pitchFamily="34" charset="-122"/>
                <a:cs typeface="Times New Roman" pitchFamily="34" charset="-120"/>
              </a:rPr>
              <a:t>Interaktiv nuqtalar</a:t>
            </a:r>
            <a:endParaRPr lang="en-US" sz="1800" dirty="0"/>
          </a:p>
        </p:txBody>
      </p:sp>
      <p:sp>
        <p:nvSpPr>
          <p:cNvPr id="26" name="Text 23"/>
          <p:cNvSpPr txBox="1"/>
          <p:nvPr/>
        </p:nvSpPr>
        <p:spPr>
          <a:xfrm>
            <a:off x="9006840" y="3154680"/>
            <a:ext cx="2514600" cy="2560320"/>
          </a:xfrm>
          <a:prstGeom prst="rect">
            <a:avLst/>
          </a:prstGeom>
          <a:noFill/>
          <a:ln/>
        </p:spPr>
        <p:txBody>
          <a:bodyPr wrap="square" lIns="0" tIns="0" rIns="0" bIns="0" rtlCol="0" anchor="ctr"/>
          <a:lstStyle/>
          <a:p>
            <a:pPr marL="342900" indent="-342900">
              <a:spcAft>
                <a:spcPts val="6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Muhokama: qaysi sayt haqiqiy?</a:t>
            </a:r>
            <a:endParaRPr lang="en-US" sz="1600" dirty="0"/>
          </a:p>
          <a:p>
            <a:pPr marL="342900" indent="-342900">
              <a:spcAft>
                <a:spcPts val="6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Mini-vazifa: hujum ssenariylari</a:t>
            </a:r>
            <a:endParaRPr lang="en-US" sz="1600" dirty="0"/>
          </a:p>
          <a:p>
            <a:pPr marL="342900" indent="-342900">
              <a:spcAft>
                <a:spcPts val="6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Jonli namoyish: Windows 11</a:t>
            </a:r>
            <a:endParaRPr lang="en-US" sz="1600" dirty="0"/>
          </a:p>
          <a:p>
            <a:pPr marL="342900" indent="-342900">
              <a:spcAft>
                <a:spcPts val="6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Tezkor test (4 savol)</a:t>
            </a:r>
            <a:endParaRPr lang="en-US" sz="1600" dirty="0"/>
          </a:p>
        </p:txBody>
      </p:sp>
      <p:sp>
        <p:nvSpPr>
          <p:cNvPr id="27" name="Text 24"/>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5-ma'ruza</a:t>
            </a:r>
            <a:endParaRPr lang="en-US" sz="1100" dirty="0"/>
          </a:p>
        </p:txBody>
      </p:sp>
      <p:sp>
        <p:nvSpPr>
          <p:cNvPr id="28" name="Text 25"/>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3E2"/>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D9932B"/>
                </a:solidFill>
                <a:latin typeface="Times New Roman" pitchFamily="34" charset="0"/>
                <a:ea typeface="Times New Roman" pitchFamily="34" charset="-122"/>
                <a:cs typeface="Times New Roman" pitchFamily="34" charset="-120"/>
              </a:rPr>
              <a:t>MUHOKAMA · 5 DAQIQA</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9A5B00"/>
                </a:solidFill>
                <a:latin typeface="Times New Roman" pitchFamily="34" charset="0"/>
                <a:ea typeface="Times New Roman" pitchFamily="34" charset="-122"/>
                <a:cs typeface="Times New Roman" pitchFamily="34" charset="-120"/>
              </a:rPr>
              <a:t>Qaysi sayt haqiqiy?</a:t>
            </a:r>
            <a:endParaRPr lang="en-US" sz="3600" dirty="0"/>
          </a:p>
        </p:txBody>
      </p:sp>
      <p:sp>
        <p:nvSpPr>
          <p:cNvPr id="4" name="Shape 2"/>
          <p:cNvSpPr/>
          <p:nvPr/>
        </p:nvSpPr>
        <p:spPr>
          <a:xfrm>
            <a:off x="10744200" y="411480"/>
            <a:ext cx="868680" cy="868680"/>
          </a:xfrm>
          <a:prstGeom prst="ellipse">
            <a:avLst/>
          </a:prstGeom>
          <a:solidFill>
            <a:srgbClr val="D9932B"/>
          </a:solidFill>
          <a:ln/>
        </p:spPr>
      </p:sp>
      <p:pic>
        <p:nvPicPr>
          <p:cNvPr id="5" name="Image 0" descr="/home/claude/fob-slides/icons_out/users_white.png"/>
          <p:cNvPicPr>
            <a:picLocks noChangeAspect="1"/>
          </p:cNvPicPr>
          <p:nvPr/>
        </p:nvPicPr>
        <p:blipFill>
          <a:blip r:embed="rId1"/>
          <a:stretch>
            <a:fillRect/>
          </a:stretch>
        </p:blipFill>
        <p:spPr>
          <a:xfrm>
            <a:off x="10978744" y="646024"/>
            <a:ext cx="399593" cy="399593"/>
          </a:xfrm>
          <a:prstGeom prst="rect">
            <a:avLst/>
          </a:prstGeom>
        </p:spPr>
      </p:pic>
      <p:sp>
        <p:nvSpPr>
          <p:cNvPr id="6" name="Shape 3"/>
          <p:cNvSpPr/>
          <p:nvPr/>
        </p:nvSpPr>
        <p:spPr>
          <a:xfrm>
            <a:off x="548640" y="1783080"/>
            <a:ext cx="11064240" cy="603504"/>
          </a:xfrm>
          <a:prstGeom prst="roundRect">
            <a:avLst>
              <a:gd name="adj" fmla="val 13636"/>
            </a:avLst>
          </a:prstGeom>
          <a:solidFill>
            <a:srgbClr val="FFFFFF"/>
          </a:solidFill>
          <a:ln/>
        </p:spPr>
      </p:sp>
      <p:sp>
        <p:nvSpPr>
          <p:cNvPr id="7" name="Shape 4"/>
          <p:cNvSpPr/>
          <p:nvPr/>
        </p:nvSpPr>
        <p:spPr>
          <a:xfrm>
            <a:off x="731520" y="1856232"/>
            <a:ext cx="457200" cy="457200"/>
          </a:xfrm>
          <a:prstGeom prst="ellipse">
            <a:avLst/>
          </a:prstGeom>
          <a:solidFill>
            <a:srgbClr val="D9932B"/>
          </a:solidFill>
          <a:ln/>
        </p:spPr>
      </p:sp>
      <p:pic>
        <p:nvPicPr>
          <p:cNvPr id="8" name="Image 1" descr="/home/claude/fob-slides/icons_out/lock_white.png"/>
          <p:cNvPicPr>
            <a:picLocks noChangeAspect="1"/>
          </p:cNvPicPr>
          <p:nvPr/>
        </p:nvPicPr>
        <p:blipFill>
          <a:blip r:embed="rId2"/>
          <a:stretch>
            <a:fillRect/>
          </a:stretch>
        </p:blipFill>
        <p:spPr>
          <a:xfrm>
            <a:off x="845820" y="1970532"/>
            <a:ext cx="228600" cy="228600"/>
          </a:xfrm>
          <a:prstGeom prst="rect">
            <a:avLst/>
          </a:prstGeom>
        </p:spPr>
      </p:pic>
      <p:sp>
        <p:nvSpPr>
          <p:cNvPr id="9" name="Text 5"/>
          <p:cNvSpPr txBox="1"/>
          <p:nvPr/>
        </p:nvSpPr>
        <p:spPr>
          <a:xfrm>
            <a:off x="1371600" y="1783080"/>
            <a:ext cx="7772400" cy="603504"/>
          </a:xfrm>
          <a:prstGeom prst="rect">
            <a:avLst/>
          </a:prstGeom>
          <a:noFill/>
          <a:ln/>
        </p:spPr>
        <p:txBody>
          <a:bodyPr wrap="square" lIns="0" tIns="0" rIns="0" bIns="0" rtlCol="0" anchor="ctr"/>
          <a:lstStyle/>
          <a:p>
            <a:pPr algn="l" indent="0" marL="0">
              <a:lnSpc>
                <a:spcPct val="100000"/>
              </a:lnSpc>
              <a:buNone/>
            </a:pPr>
            <a:r>
              <a:rPr lang="en-US" sz="1800" b="1" dirty="0">
                <a:solidFill>
                  <a:srgbClr val="1E2761"/>
                </a:solidFill>
                <a:latin typeface="Courier New" pitchFamily="34" charset="0"/>
                <a:ea typeface="Courier New" pitchFamily="34" charset="-122"/>
                <a:cs typeface="Courier New" pitchFamily="34" charset="-120"/>
              </a:rPr>
              <a:t>https://hemis.nuu.uz/login</a:t>
            </a:r>
            <a:endParaRPr lang="en-US" sz="1800" dirty="0"/>
          </a:p>
        </p:txBody>
      </p:sp>
      <p:sp>
        <p:nvSpPr>
          <p:cNvPr id="10" name="Shape 6"/>
          <p:cNvSpPr/>
          <p:nvPr/>
        </p:nvSpPr>
        <p:spPr>
          <a:xfrm>
            <a:off x="548640" y="2496312"/>
            <a:ext cx="11064240" cy="603504"/>
          </a:xfrm>
          <a:prstGeom prst="roundRect">
            <a:avLst>
              <a:gd name="adj" fmla="val 13636"/>
            </a:avLst>
          </a:prstGeom>
          <a:solidFill>
            <a:srgbClr val="FFFFFF"/>
          </a:solidFill>
          <a:ln/>
        </p:spPr>
      </p:sp>
      <p:sp>
        <p:nvSpPr>
          <p:cNvPr id="11" name="Shape 7"/>
          <p:cNvSpPr/>
          <p:nvPr/>
        </p:nvSpPr>
        <p:spPr>
          <a:xfrm>
            <a:off x="731520" y="2569464"/>
            <a:ext cx="457200" cy="457200"/>
          </a:xfrm>
          <a:prstGeom prst="ellipse">
            <a:avLst/>
          </a:prstGeom>
          <a:solidFill>
            <a:srgbClr val="D9932B"/>
          </a:solidFill>
          <a:ln/>
        </p:spPr>
      </p:sp>
      <p:pic>
        <p:nvPicPr>
          <p:cNvPr id="12" name="Image 2" descr="/home/claude/fob-slides/icons_out/lock_white.png"/>
          <p:cNvPicPr>
            <a:picLocks noChangeAspect="1"/>
          </p:cNvPicPr>
          <p:nvPr/>
        </p:nvPicPr>
        <p:blipFill>
          <a:blip r:embed="rId3"/>
          <a:stretch>
            <a:fillRect/>
          </a:stretch>
        </p:blipFill>
        <p:spPr>
          <a:xfrm>
            <a:off x="845820" y="2683764"/>
            <a:ext cx="228600" cy="228600"/>
          </a:xfrm>
          <a:prstGeom prst="rect">
            <a:avLst/>
          </a:prstGeom>
        </p:spPr>
      </p:pic>
      <p:sp>
        <p:nvSpPr>
          <p:cNvPr id="13" name="Text 8"/>
          <p:cNvSpPr txBox="1"/>
          <p:nvPr/>
        </p:nvSpPr>
        <p:spPr>
          <a:xfrm>
            <a:off x="1371600" y="2496312"/>
            <a:ext cx="7772400" cy="603504"/>
          </a:xfrm>
          <a:prstGeom prst="rect">
            <a:avLst/>
          </a:prstGeom>
          <a:noFill/>
          <a:ln/>
        </p:spPr>
        <p:txBody>
          <a:bodyPr wrap="square" lIns="0" tIns="0" rIns="0" bIns="0" rtlCol="0" anchor="ctr"/>
          <a:lstStyle/>
          <a:p>
            <a:pPr algn="l" indent="0" marL="0">
              <a:lnSpc>
                <a:spcPct val="100000"/>
              </a:lnSpc>
              <a:buNone/>
            </a:pPr>
            <a:r>
              <a:rPr lang="en-US" sz="1800" b="1" dirty="0">
                <a:solidFill>
                  <a:srgbClr val="1E2761"/>
                </a:solidFill>
                <a:latin typeface="Courier New" pitchFamily="34" charset="0"/>
                <a:ea typeface="Courier New" pitchFamily="34" charset="-122"/>
                <a:cs typeface="Courier New" pitchFamily="34" charset="-120"/>
              </a:rPr>
              <a:t>https://hemis-nuu.uz/login</a:t>
            </a:r>
            <a:endParaRPr lang="en-US" sz="1800" dirty="0"/>
          </a:p>
        </p:txBody>
      </p:sp>
      <p:sp>
        <p:nvSpPr>
          <p:cNvPr id="14" name="Shape 9"/>
          <p:cNvSpPr/>
          <p:nvPr/>
        </p:nvSpPr>
        <p:spPr>
          <a:xfrm>
            <a:off x="548640" y="3209544"/>
            <a:ext cx="11064240" cy="603504"/>
          </a:xfrm>
          <a:prstGeom prst="roundRect">
            <a:avLst>
              <a:gd name="adj" fmla="val 13636"/>
            </a:avLst>
          </a:prstGeom>
          <a:solidFill>
            <a:srgbClr val="FFFFFF"/>
          </a:solidFill>
          <a:ln/>
        </p:spPr>
      </p:sp>
      <p:sp>
        <p:nvSpPr>
          <p:cNvPr id="15" name="Shape 10"/>
          <p:cNvSpPr/>
          <p:nvPr/>
        </p:nvSpPr>
        <p:spPr>
          <a:xfrm>
            <a:off x="731520" y="3282696"/>
            <a:ext cx="457200" cy="457200"/>
          </a:xfrm>
          <a:prstGeom prst="ellipse">
            <a:avLst/>
          </a:prstGeom>
          <a:solidFill>
            <a:srgbClr val="D9932B"/>
          </a:solidFill>
          <a:ln/>
        </p:spPr>
      </p:sp>
      <p:pic>
        <p:nvPicPr>
          <p:cNvPr id="16" name="Image 3" descr="/home/claude/fob-slides/icons_out/lock_white.png"/>
          <p:cNvPicPr>
            <a:picLocks noChangeAspect="1"/>
          </p:cNvPicPr>
          <p:nvPr/>
        </p:nvPicPr>
        <p:blipFill>
          <a:blip r:embed="rId4"/>
          <a:stretch>
            <a:fillRect/>
          </a:stretch>
        </p:blipFill>
        <p:spPr>
          <a:xfrm>
            <a:off x="845820" y="3396996"/>
            <a:ext cx="228600" cy="228600"/>
          </a:xfrm>
          <a:prstGeom prst="rect">
            <a:avLst/>
          </a:prstGeom>
        </p:spPr>
      </p:pic>
      <p:sp>
        <p:nvSpPr>
          <p:cNvPr id="17" name="Text 11"/>
          <p:cNvSpPr txBox="1"/>
          <p:nvPr/>
        </p:nvSpPr>
        <p:spPr>
          <a:xfrm>
            <a:off x="1371600" y="3209544"/>
            <a:ext cx="7772400" cy="603504"/>
          </a:xfrm>
          <a:prstGeom prst="rect">
            <a:avLst/>
          </a:prstGeom>
          <a:noFill/>
          <a:ln/>
        </p:spPr>
        <p:txBody>
          <a:bodyPr wrap="square" lIns="0" tIns="0" rIns="0" bIns="0" rtlCol="0" anchor="ctr"/>
          <a:lstStyle/>
          <a:p>
            <a:pPr algn="l" indent="0" marL="0">
              <a:lnSpc>
                <a:spcPct val="100000"/>
              </a:lnSpc>
              <a:buNone/>
            </a:pPr>
            <a:r>
              <a:rPr lang="en-US" sz="1800" b="1" dirty="0">
                <a:solidFill>
                  <a:srgbClr val="1E2761"/>
                </a:solidFill>
                <a:latin typeface="Courier New" pitchFamily="34" charset="0"/>
                <a:ea typeface="Courier New" pitchFamily="34" charset="-122"/>
                <a:cs typeface="Courier New" pitchFamily="34" charset="-120"/>
              </a:rPr>
              <a:t>https://hemis.nuu.uz.login-check.com</a:t>
            </a:r>
            <a:endParaRPr lang="en-US" sz="1800" dirty="0"/>
          </a:p>
        </p:txBody>
      </p:sp>
      <p:sp>
        <p:nvSpPr>
          <p:cNvPr id="18" name="Shape 12"/>
          <p:cNvSpPr/>
          <p:nvPr/>
        </p:nvSpPr>
        <p:spPr>
          <a:xfrm>
            <a:off x="548640" y="4069080"/>
            <a:ext cx="11064240" cy="640080"/>
          </a:xfrm>
          <a:prstGeom prst="roundRect">
            <a:avLst>
              <a:gd name="adj" fmla="val 12857"/>
            </a:avLst>
          </a:prstGeom>
          <a:solidFill>
            <a:srgbClr val="FFFFFF"/>
          </a:solidFill>
          <a:ln/>
        </p:spPr>
      </p:sp>
      <p:sp>
        <p:nvSpPr>
          <p:cNvPr id="19" name="Text 13"/>
          <p:cNvSpPr txBox="1"/>
          <p:nvPr/>
        </p:nvSpPr>
        <p:spPr>
          <a:xfrm>
            <a:off x="731520" y="4069080"/>
            <a:ext cx="365760" cy="640080"/>
          </a:xfrm>
          <a:prstGeom prst="rect">
            <a:avLst/>
          </a:prstGeom>
          <a:noFill/>
          <a:ln/>
        </p:spPr>
        <p:txBody>
          <a:bodyPr wrap="square" lIns="0" tIns="0" rIns="0" bIns="0" rtlCol="0" anchor="ctr"/>
          <a:lstStyle/>
          <a:p>
            <a:pPr algn="l" indent="0" marL="0">
              <a:lnSpc>
                <a:spcPct val="100000"/>
              </a:lnSpc>
              <a:buNone/>
            </a:pPr>
            <a:r>
              <a:rPr lang="en-US" sz="1800" b="1" dirty="0">
                <a:solidFill>
                  <a:srgbClr val="D9932B"/>
                </a:solidFill>
                <a:latin typeface="Times New Roman" pitchFamily="34" charset="0"/>
                <a:ea typeface="Times New Roman" pitchFamily="34" charset="-122"/>
                <a:cs typeface="Times New Roman" pitchFamily="34" charset="-120"/>
              </a:rPr>
              <a:t>1</a:t>
            </a:r>
            <a:endParaRPr lang="en-US" sz="1800" dirty="0"/>
          </a:p>
        </p:txBody>
      </p:sp>
      <p:sp>
        <p:nvSpPr>
          <p:cNvPr id="20" name="Text 14"/>
          <p:cNvSpPr txBox="1"/>
          <p:nvPr/>
        </p:nvSpPr>
        <p:spPr>
          <a:xfrm>
            <a:off x="1188720" y="4069080"/>
            <a:ext cx="10241280" cy="640080"/>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Qizg'in hafta, telefonda ochdingiz. Farqni 2 soniyada sezasizmi?</a:t>
            </a:r>
            <a:endParaRPr lang="en-US" sz="1700" dirty="0"/>
          </a:p>
        </p:txBody>
      </p:sp>
      <p:sp>
        <p:nvSpPr>
          <p:cNvPr id="21" name="Shape 15"/>
          <p:cNvSpPr/>
          <p:nvPr/>
        </p:nvSpPr>
        <p:spPr>
          <a:xfrm>
            <a:off x="548640" y="4800600"/>
            <a:ext cx="11064240" cy="640080"/>
          </a:xfrm>
          <a:prstGeom prst="roundRect">
            <a:avLst>
              <a:gd name="adj" fmla="val 12857"/>
            </a:avLst>
          </a:prstGeom>
          <a:solidFill>
            <a:srgbClr val="FFFFFF"/>
          </a:solidFill>
          <a:ln/>
        </p:spPr>
      </p:sp>
      <p:sp>
        <p:nvSpPr>
          <p:cNvPr id="22" name="Text 16"/>
          <p:cNvSpPr txBox="1"/>
          <p:nvPr/>
        </p:nvSpPr>
        <p:spPr>
          <a:xfrm>
            <a:off x="731520" y="4800600"/>
            <a:ext cx="365760" cy="640080"/>
          </a:xfrm>
          <a:prstGeom prst="rect">
            <a:avLst/>
          </a:prstGeom>
          <a:noFill/>
          <a:ln/>
        </p:spPr>
        <p:txBody>
          <a:bodyPr wrap="square" lIns="0" tIns="0" rIns="0" bIns="0" rtlCol="0" anchor="ctr"/>
          <a:lstStyle/>
          <a:p>
            <a:pPr algn="l" indent="0" marL="0">
              <a:lnSpc>
                <a:spcPct val="100000"/>
              </a:lnSpc>
              <a:buNone/>
            </a:pPr>
            <a:r>
              <a:rPr lang="en-US" sz="1800" b="1" dirty="0">
                <a:solidFill>
                  <a:srgbClr val="D9932B"/>
                </a:solidFill>
                <a:latin typeface="Times New Roman" pitchFamily="34" charset="0"/>
                <a:ea typeface="Times New Roman" pitchFamily="34" charset="-122"/>
                <a:cs typeface="Times New Roman" pitchFamily="34" charset="-120"/>
              </a:rPr>
              <a:t>2</a:t>
            </a:r>
            <a:endParaRPr lang="en-US" sz="1800" dirty="0"/>
          </a:p>
        </p:txBody>
      </p:sp>
      <p:sp>
        <p:nvSpPr>
          <p:cNvPr id="23" name="Text 17"/>
          <p:cNvSpPr txBox="1"/>
          <p:nvPr/>
        </p:nvSpPr>
        <p:spPr>
          <a:xfrm>
            <a:off x="1188720" y="4800600"/>
            <a:ext cx="10241280" cy="640080"/>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4-ma'ruzadagi TOTP kodi sizni ikkinchi saytda himoya qiladimi?</a:t>
            </a:r>
            <a:endParaRPr lang="en-US" sz="1700" dirty="0"/>
          </a:p>
        </p:txBody>
      </p:sp>
      <p:sp>
        <p:nvSpPr>
          <p:cNvPr id="24" name="Shape 18"/>
          <p:cNvSpPr/>
          <p:nvPr/>
        </p:nvSpPr>
        <p:spPr>
          <a:xfrm>
            <a:off x="548640" y="5532120"/>
            <a:ext cx="11064240" cy="640080"/>
          </a:xfrm>
          <a:prstGeom prst="roundRect">
            <a:avLst>
              <a:gd name="adj" fmla="val 12857"/>
            </a:avLst>
          </a:prstGeom>
          <a:solidFill>
            <a:srgbClr val="FFFFFF"/>
          </a:solidFill>
          <a:ln/>
        </p:spPr>
      </p:sp>
      <p:sp>
        <p:nvSpPr>
          <p:cNvPr id="25" name="Text 19"/>
          <p:cNvSpPr txBox="1"/>
          <p:nvPr/>
        </p:nvSpPr>
        <p:spPr>
          <a:xfrm>
            <a:off x="731520" y="5532120"/>
            <a:ext cx="365760" cy="640080"/>
          </a:xfrm>
          <a:prstGeom prst="rect">
            <a:avLst/>
          </a:prstGeom>
          <a:noFill/>
          <a:ln/>
        </p:spPr>
        <p:txBody>
          <a:bodyPr wrap="square" lIns="0" tIns="0" rIns="0" bIns="0" rtlCol="0" anchor="ctr"/>
          <a:lstStyle/>
          <a:p>
            <a:pPr algn="l" indent="0" marL="0">
              <a:lnSpc>
                <a:spcPct val="100000"/>
              </a:lnSpc>
              <a:buNone/>
            </a:pPr>
            <a:r>
              <a:rPr lang="en-US" sz="1800" b="1" dirty="0">
                <a:solidFill>
                  <a:srgbClr val="D9932B"/>
                </a:solidFill>
                <a:latin typeface="Times New Roman" pitchFamily="34" charset="0"/>
                <a:ea typeface="Times New Roman" pitchFamily="34" charset="-122"/>
                <a:cs typeface="Times New Roman" pitchFamily="34" charset="-120"/>
              </a:rPr>
              <a:t>3</a:t>
            </a:r>
            <a:endParaRPr lang="en-US" sz="1800" dirty="0"/>
          </a:p>
        </p:txBody>
      </p:sp>
      <p:sp>
        <p:nvSpPr>
          <p:cNvPr id="26" name="Text 20"/>
          <p:cNvSpPr txBox="1"/>
          <p:nvPr/>
        </p:nvSpPr>
        <p:spPr>
          <a:xfrm>
            <a:off x="1188720" y="5532120"/>
            <a:ext cx="10241280" cy="640080"/>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Autentifikator nimani tekshirsa, foydalanuvchining e'tiborsizligi ahamiyatsiz bo'lib qoladi?</a:t>
            </a:r>
            <a:endParaRPr lang="en-US" sz="1700" dirty="0"/>
          </a:p>
        </p:txBody>
      </p:sp>
      <p:sp>
        <p:nvSpPr>
          <p:cNvPr id="27" name="Text 21"/>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9A5B00"/>
                </a:solidFill>
                <a:latin typeface="Times New Roman" pitchFamily="34" charset="0"/>
                <a:ea typeface="Times New Roman" pitchFamily="34" charset="-122"/>
                <a:cs typeface="Times New Roman" pitchFamily="34" charset="-120"/>
              </a:rPr>
              <a:t>Foydalanishlarni boshqarish  ·  5-ma'ruza</a:t>
            </a:r>
            <a:endParaRPr lang="en-US" sz="1100" dirty="0"/>
          </a:p>
        </p:txBody>
      </p:sp>
      <p:sp>
        <p:nvSpPr>
          <p:cNvPr id="28" name="Text 22"/>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9A5B00"/>
                </a:solidFill>
                <a:latin typeface="Times New Roman" pitchFamily="34" charset="0"/>
                <a:ea typeface="Times New Roman" pitchFamily="34" charset="-122"/>
                <a:cs typeface="Times New Roman"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ASOSIY G'OYA</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Umumiy sirdan kalitlar juftligiga</a:t>
            </a:r>
            <a:endParaRPr lang="en-US" sz="3600" dirty="0"/>
          </a:p>
        </p:txBody>
      </p:sp>
      <p:sp>
        <p:nvSpPr>
          <p:cNvPr id="4" name="Shape 2"/>
          <p:cNvSpPr/>
          <p:nvPr/>
        </p:nvSpPr>
        <p:spPr>
          <a:xfrm>
            <a:off x="548640" y="1783080"/>
            <a:ext cx="5440680" cy="868680"/>
          </a:xfrm>
          <a:prstGeom prst="roundRect">
            <a:avLst>
              <a:gd name="adj" fmla="val 9474"/>
            </a:avLst>
          </a:prstGeom>
          <a:solidFill>
            <a:srgbClr val="2A3778"/>
          </a:solidFill>
          <a:ln/>
        </p:spPr>
      </p:sp>
      <p:sp>
        <p:nvSpPr>
          <p:cNvPr id="5" name="Text 3"/>
          <p:cNvSpPr txBox="1"/>
          <p:nvPr/>
        </p:nvSpPr>
        <p:spPr>
          <a:xfrm>
            <a:off x="822960" y="1783080"/>
            <a:ext cx="2377440" cy="868680"/>
          </a:xfrm>
          <a:prstGeom prst="rect">
            <a:avLst/>
          </a:prstGeom>
          <a:noFill/>
          <a:ln/>
        </p:spPr>
        <p:txBody>
          <a:bodyPr wrap="square" lIns="0" tIns="0" rIns="0" bIns="0" rtlCol="0" anchor="ctr"/>
          <a:lstStyle/>
          <a:p>
            <a:pPr algn="l" indent="0" marL="0">
              <a:lnSpc>
                <a:spcPct val="100000"/>
              </a:lnSpc>
              <a:buNone/>
            </a:pPr>
            <a:r>
              <a:rPr lang="en-US" sz="2400" b="1" dirty="0">
                <a:solidFill>
                  <a:srgbClr val="FFFFFF"/>
                </a:solidFill>
                <a:latin typeface="Times New Roman" pitchFamily="34" charset="0"/>
                <a:ea typeface="Times New Roman" pitchFamily="34" charset="-122"/>
                <a:cs typeface="Times New Roman" pitchFamily="34" charset="-120"/>
              </a:rPr>
              <a:t>Parol va OTP</a:t>
            </a:r>
            <a:endParaRPr lang="en-US" sz="2400" dirty="0"/>
          </a:p>
        </p:txBody>
      </p:sp>
      <p:sp>
        <p:nvSpPr>
          <p:cNvPr id="6" name="Text 4"/>
          <p:cNvSpPr txBox="1"/>
          <p:nvPr/>
        </p:nvSpPr>
        <p:spPr>
          <a:xfrm>
            <a:off x="3200400" y="1783080"/>
            <a:ext cx="2606040" cy="868680"/>
          </a:xfrm>
          <a:prstGeom prst="rect">
            <a:avLst/>
          </a:prstGeom>
          <a:noFill/>
          <a:ln/>
        </p:spPr>
        <p:txBody>
          <a:bodyPr wrap="square" lIns="0" tIns="0" rIns="0" bIns="0" rtlCol="0" anchor="ctr"/>
          <a:lstStyle/>
          <a:p>
            <a:pPr algn="r" indent="0" marL="0">
              <a:lnSpc>
                <a:spcPct val="100000"/>
              </a:lnSpc>
              <a:buNone/>
            </a:pPr>
            <a:r>
              <a:rPr lang="en-US" sz="1600" dirty="0">
                <a:solidFill>
                  <a:srgbClr val="CADCFC"/>
                </a:solidFill>
                <a:latin typeface="Times New Roman" pitchFamily="34" charset="0"/>
                <a:ea typeface="Times New Roman" pitchFamily="34" charset="-122"/>
                <a:cs typeface="Times New Roman" pitchFamily="34" charset="-120"/>
              </a:rPr>
              <a:t>umumiy sir</a:t>
            </a:r>
            <a:endParaRPr lang="en-US" sz="1600" dirty="0"/>
          </a:p>
        </p:txBody>
      </p:sp>
      <p:sp>
        <p:nvSpPr>
          <p:cNvPr id="7" name="Shape 5"/>
          <p:cNvSpPr/>
          <p:nvPr/>
        </p:nvSpPr>
        <p:spPr>
          <a:xfrm>
            <a:off x="548640" y="2743200"/>
            <a:ext cx="5440680" cy="658368"/>
          </a:xfrm>
          <a:prstGeom prst="roundRect">
            <a:avLst>
              <a:gd name="adj" fmla="val 12500"/>
            </a:avLst>
          </a:prstGeom>
          <a:solidFill>
            <a:srgbClr val="F7ECEA"/>
          </a:solidFill>
          <a:ln/>
        </p:spPr>
      </p:sp>
      <p:sp>
        <p:nvSpPr>
          <p:cNvPr id="8" name="Shape 6"/>
          <p:cNvSpPr/>
          <p:nvPr/>
        </p:nvSpPr>
        <p:spPr>
          <a:xfrm>
            <a:off x="731520" y="2935224"/>
            <a:ext cx="274320" cy="274320"/>
          </a:xfrm>
          <a:prstGeom prst="ellipse">
            <a:avLst/>
          </a:prstGeom>
          <a:solidFill>
            <a:srgbClr val="9E3B2E"/>
          </a:solidFill>
          <a:ln/>
        </p:spPr>
      </p:sp>
      <p:sp>
        <p:nvSpPr>
          <p:cNvPr id="9" name="Text 7"/>
          <p:cNvSpPr txBox="1"/>
          <p:nvPr/>
        </p:nvSpPr>
        <p:spPr>
          <a:xfrm>
            <a:off x="1188720" y="2743200"/>
            <a:ext cx="4617720" cy="658368"/>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Sir ham foydalanuvchida, ham serverda</a:t>
            </a:r>
            <a:endParaRPr lang="en-US" sz="1700" dirty="0"/>
          </a:p>
        </p:txBody>
      </p:sp>
      <p:sp>
        <p:nvSpPr>
          <p:cNvPr id="10" name="Shape 8"/>
          <p:cNvSpPr/>
          <p:nvPr/>
        </p:nvSpPr>
        <p:spPr>
          <a:xfrm>
            <a:off x="548640" y="3493008"/>
            <a:ext cx="5440680" cy="658368"/>
          </a:xfrm>
          <a:prstGeom prst="roundRect">
            <a:avLst>
              <a:gd name="adj" fmla="val 12500"/>
            </a:avLst>
          </a:prstGeom>
          <a:solidFill>
            <a:srgbClr val="F7ECEA"/>
          </a:solidFill>
          <a:ln/>
        </p:spPr>
      </p:sp>
      <p:sp>
        <p:nvSpPr>
          <p:cNvPr id="11" name="Shape 9"/>
          <p:cNvSpPr/>
          <p:nvPr/>
        </p:nvSpPr>
        <p:spPr>
          <a:xfrm>
            <a:off x="731520" y="3685032"/>
            <a:ext cx="274320" cy="274320"/>
          </a:xfrm>
          <a:prstGeom prst="ellipse">
            <a:avLst/>
          </a:prstGeom>
          <a:solidFill>
            <a:srgbClr val="9E3B2E"/>
          </a:solidFill>
          <a:ln/>
        </p:spPr>
      </p:sp>
      <p:sp>
        <p:nvSpPr>
          <p:cNvPr id="12" name="Text 10"/>
          <p:cNvSpPr txBox="1"/>
          <p:nvPr/>
        </p:nvSpPr>
        <p:spPr>
          <a:xfrm>
            <a:off x="1188720" y="3493008"/>
            <a:ext cx="4617720" cy="658368"/>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Kirishda sir (yoki kod) tarmoqdan uzatiladi</a:t>
            </a:r>
            <a:endParaRPr lang="en-US" sz="1700" dirty="0"/>
          </a:p>
        </p:txBody>
      </p:sp>
      <p:sp>
        <p:nvSpPr>
          <p:cNvPr id="13" name="Shape 11"/>
          <p:cNvSpPr/>
          <p:nvPr/>
        </p:nvSpPr>
        <p:spPr>
          <a:xfrm>
            <a:off x="548640" y="4242816"/>
            <a:ext cx="5440680" cy="658368"/>
          </a:xfrm>
          <a:prstGeom prst="roundRect">
            <a:avLst>
              <a:gd name="adj" fmla="val 12500"/>
            </a:avLst>
          </a:prstGeom>
          <a:solidFill>
            <a:srgbClr val="F7ECEA"/>
          </a:solidFill>
          <a:ln/>
        </p:spPr>
      </p:sp>
      <p:sp>
        <p:nvSpPr>
          <p:cNvPr id="14" name="Shape 12"/>
          <p:cNvSpPr/>
          <p:nvPr/>
        </p:nvSpPr>
        <p:spPr>
          <a:xfrm>
            <a:off x="731520" y="4434840"/>
            <a:ext cx="274320" cy="274320"/>
          </a:xfrm>
          <a:prstGeom prst="ellipse">
            <a:avLst/>
          </a:prstGeom>
          <a:solidFill>
            <a:srgbClr val="9E3B2E"/>
          </a:solidFill>
          <a:ln/>
        </p:spPr>
      </p:sp>
      <p:sp>
        <p:nvSpPr>
          <p:cNvPr id="15" name="Text 13"/>
          <p:cNvSpPr txBox="1"/>
          <p:nvPr/>
        </p:nvSpPr>
        <p:spPr>
          <a:xfrm>
            <a:off x="1188720" y="4242816"/>
            <a:ext cx="4617720" cy="658368"/>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Soxta saytga ham xuddi shunday kiritiladi</a:t>
            </a:r>
            <a:endParaRPr lang="en-US" sz="1700" dirty="0"/>
          </a:p>
        </p:txBody>
      </p:sp>
      <p:sp>
        <p:nvSpPr>
          <p:cNvPr id="16" name="Shape 14"/>
          <p:cNvSpPr/>
          <p:nvPr/>
        </p:nvSpPr>
        <p:spPr>
          <a:xfrm>
            <a:off x="548640" y="4992624"/>
            <a:ext cx="5440680" cy="658368"/>
          </a:xfrm>
          <a:prstGeom prst="roundRect">
            <a:avLst>
              <a:gd name="adj" fmla="val 12500"/>
            </a:avLst>
          </a:prstGeom>
          <a:solidFill>
            <a:srgbClr val="F7ECEA"/>
          </a:solidFill>
          <a:ln/>
        </p:spPr>
      </p:sp>
      <p:sp>
        <p:nvSpPr>
          <p:cNvPr id="17" name="Shape 15"/>
          <p:cNvSpPr/>
          <p:nvPr/>
        </p:nvSpPr>
        <p:spPr>
          <a:xfrm>
            <a:off x="731520" y="5184648"/>
            <a:ext cx="274320" cy="274320"/>
          </a:xfrm>
          <a:prstGeom prst="ellipse">
            <a:avLst/>
          </a:prstGeom>
          <a:solidFill>
            <a:srgbClr val="9E3B2E"/>
          </a:solidFill>
          <a:ln/>
        </p:spPr>
      </p:sp>
      <p:sp>
        <p:nvSpPr>
          <p:cNvPr id="18" name="Text 16"/>
          <p:cNvSpPr txBox="1"/>
          <p:nvPr/>
        </p:nvSpPr>
        <p:spPr>
          <a:xfrm>
            <a:off x="1188720" y="4992624"/>
            <a:ext cx="4617720" cy="658368"/>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Baza sizsa — sirlar yoki ularning xeshlari sizadi</a:t>
            </a:r>
            <a:endParaRPr lang="en-US" sz="1700" dirty="0"/>
          </a:p>
        </p:txBody>
      </p:sp>
      <p:sp>
        <p:nvSpPr>
          <p:cNvPr id="19" name="Shape 17"/>
          <p:cNvSpPr/>
          <p:nvPr/>
        </p:nvSpPr>
        <p:spPr>
          <a:xfrm>
            <a:off x="6172200" y="1783080"/>
            <a:ext cx="5440680" cy="868680"/>
          </a:xfrm>
          <a:prstGeom prst="roundRect">
            <a:avLst>
              <a:gd name="adj" fmla="val 9474"/>
            </a:avLst>
          </a:prstGeom>
          <a:solidFill>
            <a:srgbClr val="1E2761"/>
          </a:solidFill>
          <a:ln/>
        </p:spPr>
      </p:sp>
      <p:sp>
        <p:nvSpPr>
          <p:cNvPr id="20" name="Text 18"/>
          <p:cNvSpPr txBox="1"/>
          <p:nvPr/>
        </p:nvSpPr>
        <p:spPr>
          <a:xfrm>
            <a:off x="6446520" y="1783080"/>
            <a:ext cx="2377440" cy="868680"/>
          </a:xfrm>
          <a:prstGeom prst="rect">
            <a:avLst/>
          </a:prstGeom>
          <a:noFill/>
          <a:ln/>
        </p:spPr>
        <p:txBody>
          <a:bodyPr wrap="square" lIns="0" tIns="0" rIns="0" bIns="0" rtlCol="0" anchor="ctr"/>
          <a:lstStyle/>
          <a:p>
            <a:pPr algn="l" indent="0" marL="0">
              <a:lnSpc>
                <a:spcPct val="100000"/>
              </a:lnSpc>
              <a:buNone/>
            </a:pPr>
            <a:r>
              <a:rPr lang="en-US" sz="2400" b="1" dirty="0">
                <a:solidFill>
                  <a:srgbClr val="FFFFFF"/>
                </a:solidFill>
                <a:latin typeface="Times New Roman" pitchFamily="34" charset="0"/>
                <a:ea typeface="Times New Roman" pitchFamily="34" charset="-122"/>
                <a:cs typeface="Times New Roman" pitchFamily="34" charset="-120"/>
              </a:rPr>
              <a:t>FIDO2</a:t>
            </a:r>
            <a:endParaRPr lang="en-US" sz="2400" dirty="0"/>
          </a:p>
        </p:txBody>
      </p:sp>
      <p:sp>
        <p:nvSpPr>
          <p:cNvPr id="21" name="Text 19"/>
          <p:cNvSpPr txBox="1"/>
          <p:nvPr/>
        </p:nvSpPr>
        <p:spPr>
          <a:xfrm>
            <a:off x="8823960" y="1783080"/>
            <a:ext cx="2606040" cy="868680"/>
          </a:xfrm>
          <a:prstGeom prst="rect">
            <a:avLst/>
          </a:prstGeom>
          <a:noFill/>
          <a:ln/>
        </p:spPr>
        <p:txBody>
          <a:bodyPr wrap="square" lIns="0" tIns="0" rIns="0" bIns="0" rtlCol="0" anchor="ctr"/>
          <a:lstStyle/>
          <a:p>
            <a:pPr algn="r" indent="0" marL="0">
              <a:lnSpc>
                <a:spcPct val="100000"/>
              </a:lnSpc>
              <a:buNone/>
            </a:pPr>
            <a:r>
              <a:rPr lang="en-US" sz="1600" dirty="0">
                <a:solidFill>
                  <a:srgbClr val="CADCFC"/>
                </a:solidFill>
                <a:latin typeface="Times New Roman" pitchFamily="34" charset="0"/>
                <a:ea typeface="Times New Roman" pitchFamily="34" charset="-122"/>
                <a:cs typeface="Times New Roman" pitchFamily="34" charset="-120"/>
              </a:rPr>
              <a:t>ochiq kalitli kriptografiya</a:t>
            </a:r>
            <a:endParaRPr lang="en-US" sz="1600" dirty="0"/>
          </a:p>
        </p:txBody>
      </p:sp>
      <p:sp>
        <p:nvSpPr>
          <p:cNvPr id="22" name="Shape 20"/>
          <p:cNvSpPr/>
          <p:nvPr/>
        </p:nvSpPr>
        <p:spPr>
          <a:xfrm>
            <a:off x="6172200" y="2743200"/>
            <a:ext cx="5440680" cy="658368"/>
          </a:xfrm>
          <a:prstGeom prst="roundRect">
            <a:avLst>
              <a:gd name="adj" fmla="val 12500"/>
            </a:avLst>
          </a:prstGeom>
          <a:solidFill>
            <a:srgbClr val="E8F3EC"/>
          </a:solidFill>
          <a:ln/>
        </p:spPr>
      </p:sp>
      <p:sp>
        <p:nvSpPr>
          <p:cNvPr id="23" name="Shape 21"/>
          <p:cNvSpPr/>
          <p:nvPr/>
        </p:nvSpPr>
        <p:spPr>
          <a:xfrm>
            <a:off x="6355080" y="2935224"/>
            <a:ext cx="274320" cy="274320"/>
          </a:xfrm>
          <a:prstGeom prst="ellipse">
            <a:avLst/>
          </a:prstGeom>
          <a:solidFill>
            <a:srgbClr val="1F6B4A"/>
          </a:solidFill>
          <a:ln/>
        </p:spPr>
      </p:sp>
      <p:sp>
        <p:nvSpPr>
          <p:cNvPr id="24" name="Text 22"/>
          <p:cNvSpPr txBox="1"/>
          <p:nvPr/>
        </p:nvSpPr>
        <p:spPr>
          <a:xfrm>
            <a:off x="6812280" y="2743200"/>
            <a:ext cx="4617720" cy="658368"/>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Yopiq kalit faqat qurilmada, eksport qilinmaydi</a:t>
            </a:r>
            <a:endParaRPr lang="en-US" sz="1700" dirty="0"/>
          </a:p>
        </p:txBody>
      </p:sp>
      <p:sp>
        <p:nvSpPr>
          <p:cNvPr id="25" name="Shape 23"/>
          <p:cNvSpPr/>
          <p:nvPr/>
        </p:nvSpPr>
        <p:spPr>
          <a:xfrm>
            <a:off x="6172200" y="3493008"/>
            <a:ext cx="5440680" cy="658368"/>
          </a:xfrm>
          <a:prstGeom prst="roundRect">
            <a:avLst>
              <a:gd name="adj" fmla="val 12500"/>
            </a:avLst>
          </a:prstGeom>
          <a:solidFill>
            <a:srgbClr val="E8F3EC"/>
          </a:solidFill>
          <a:ln/>
        </p:spPr>
      </p:sp>
      <p:sp>
        <p:nvSpPr>
          <p:cNvPr id="26" name="Shape 24"/>
          <p:cNvSpPr/>
          <p:nvPr/>
        </p:nvSpPr>
        <p:spPr>
          <a:xfrm>
            <a:off x="6355080" y="3685032"/>
            <a:ext cx="274320" cy="274320"/>
          </a:xfrm>
          <a:prstGeom prst="ellipse">
            <a:avLst/>
          </a:prstGeom>
          <a:solidFill>
            <a:srgbClr val="1F6B4A"/>
          </a:solidFill>
          <a:ln/>
        </p:spPr>
      </p:sp>
      <p:sp>
        <p:nvSpPr>
          <p:cNvPr id="27" name="Text 25"/>
          <p:cNvSpPr txBox="1"/>
          <p:nvPr/>
        </p:nvSpPr>
        <p:spPr>
          <a:xfrm>
            <a:off x="6812280" y="3493008"/>
            <a:ext cx="4617720" cy="658368"/>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Kirishda faqat bir martalik imzo uzatiladi</a:t>
            </a:r>
            <a:endParaRPr lang="en-US" sz="1700" dirty="0"/>
          </a:p>
        </p:txBody>
      </p:sp>
      <p:sp>
        <p:nvSpPr>
          <p:cNvPr id="28" name="Shape 26"/>
          <p:cNvSpPr/>
          <p:nvPr/>
        </p:nvSpPr>
        <p:spPr>
          <a:xfrm>
            <a:off x="6172200" y="4242816"/>
            <a:ext cx="5440680" cy="658368"/>
          </a:xfrm>
          <a:prstGeom prst="roundRect">
            <a:avLst>
              <a:gd name="adj" fmla="val 12500"/>
            </a:avLst>
          </a:prstGeom>
          <a:solidFill>
            <a:srgbClr val="E8F3EC"/>
          </a:solidFill>
          <a:ln/>
        </p:spPr>
      </p:sp>
      <p:sp>
        <p:nvSpPr>
          <p:cNvPr id="29" name="Shape 27"/>
          <p:cNvSpPr/>
          <p:nvPr/>
        </p:nvSpPr>
        <p:spPr>
          <a:xfrm>
            <a:off x="6355080" y="4434840"/>
            <a:ext cx="274320" cy="274320"/>
          </a:xfrm>
          <a:prstGeom prst="ellipse">
            <a:avLst/>
          </a:prstGeom>
          <a:solidFill>
            <a:srgbClr val="1F6B4A"/>
          </a:solidFill>
          <a:ln/>
        </p:spPr>
      </p:sp>
      <p:sp>
        <p:nvSpPr>
          <p:cNvPr id="30" name="Text 28"/>
          <p:cNvSpPr txBox="1"/>
          <p:nvPr/>
        </p:nvSpPr>
        <p:spPr>
          <a:xfrm>
            <a:off x="6812280" y="4242816"/>
            <a:ext cx="4617720" cy="658368"/>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Imzo sayt manziliga bog'langan</a:t>
            </a:r>
            <a:endParaRPr lang="en-US" sz="1700" dirty="0"/>
          </a:p>
        </p:txBody>
      </p:sp>
      <p:sp>
        <p:nvSpPr>
          <p:cNvPr id="31" name="Shape 29"/>
          <p:cNvSpPr/>
          <p:nvPr/>
        </p:nvSpPr>
        <p:spPr>
          <a:xfrm>
            <a:off x="6172200" y="4992624"/>
            <a:ext cx="5440680" cy="658368"/>
          </a:xfrm>
          <a:prstGeom prst="roundRect">
            <a:avLst>
              <a:gd name="adj" fmla="val 12500"/>
            </a:avLst>
          </a:prstGeom>
          <a:solidFill>
            <a:srgbClr val="E8F3EC"/>
          </a:solidFill>
          <a:ln/>
        </p:spPr>
      </p:sp>
      <p:sp>
        <p:nvSpPr>
          <p:cNvPr id="32" name="Shape 30"/>
          <p:cNvSpPr/>
          <p:nvPr/>
        </p:nvSpPr>
        <p:spPr>
          <a:xfrm>
            <a:off x="6355080" y="5184648"/>
            <a:ext cx="274320" cy="274320"/>
          </a:xfrm>
          <a:prstGeom prst="ellipse">
            <a:avLst/>
          </a:prstGeom>
          <a:solidFill>
            <a:srgbClr val="1F6B4A"/>
          </a:solidFill>
          <a:ln/>
        </p:spPr>
      </p:sp>
      <p:sp>
        <p:nvSpPr>
          <p:cNvPr id="33" name="Text 31"/>
          <p:cNvSpPr txBox="1"/>
          <p:nvPr/>
        </p:nvSpPr>
        <p:spPr>
          <a:xfrm>
            <a:off x="6812280" y="4992624"/>
            <a:ext cx="4617720" cy="658368"/>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Baza sizsa — ochiq kalitlar hujumchiga foydasiz</a:t>
            </a:r>
            <a:endParaRPr lang="en-US" sz="1700" dirty="0"/>
          </a:p>
        </p:txBody>
      </p:sp>
      <p:sp>
        <p:nvSpPr>
          <p:cNvPr id="34" name="Text 32"/>
          <p:cNvSpPr txBox="1"/>
          <p:nvPr/>
        </p:nvSpPr>
        <p:spPr>
          <a:xfrm>
            <a:off x="548640" y="5806440"/>
            <a:ext cx="11064240" cy="594360"/>
          </a:xfrm>
          <a:prstGeom prst="rect">
            <a:avLst/>
          </a:prstGeom>
          <a:noFill/>
          <a:ln/>
        </p:spPr>
        <p:txBody>
          <a:bodyPr wrap="square" lIns="0" tIns="0" rIns="0" bIns="0" rtlCol="0" anchor="t"/>
          <a:lstStyle/>
          <a:p>
            <a:pPr algn="ctr" indent="0" marL="0">
              <a:lnSpc>
                <a:spcPct val="100000"/>
              </a:lnSpc>
              <a:buNone/>
            </a:pPr>
            <a:r>
              <a:rPr lang="en-US" sz="1600" dirty="0">
                <a:solidFill>
                  <a:srgbClr val="1E2761"/>
                </a:solidFill>
                <a:latin typeface="Times New Roman" pitchFamily="34" charset="0"/>
                <a:ea typeface="Times New Roman" pitchFamily="34" charset="-122"/>
                <a:cs typeface="Times New Roman" pitchFamily="34" charset="-120"/>
              </a:rPr>
              <a:t>Bu elektron raqamli imzo g'oyasining o'zi [1]: server tasodifiy so'rov beradi, qurilma yopiq kalit bilan imzolaydi, server ochiq kalit bilan tekshiradi.</a:t>
            </a:r>
            <a:endParaRPr lang="en-US" sz="1600" dirty="0"/>
          </a:p>
        </p:txBody>
      </p:sp>
      <p:sp>
        <p:nvSpPr>
          <p:cNvPr id="35" name="Text 33"/>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5-ma'ruza</a:t>
            </a:r>
            <a:endParaRPr lang="en-US" sz="1100" dirty="0"/>
          </a:p>
        </p:txBody>
      </p:sp>
      <p:sp>
        <p:nvSpPr>
          <p:cNvPr id="36" name="Text 34"/>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 · FIDO2 ARXITEKTURASI</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Uchta ishtirokchi, ikkita protokol</a:t>
            </a:r>
            <a:endParaRPr lang="en-US" sz="3600" dirty="0"/>
          </a:p>
        </p:txBody>
      </p:sp>
      <p:sp>
        <p:nvSpPr>
          <p:cNvPr id="4" name="Shape 2"/>
          <p:cNvSpPr/>
          <p:nvPr/>
        </p:nvSpPr>
        <p:spPr>
          <a:xfrm>
            <a:off x="548640" y="1783080"/>
            <a:ext cx="3200400" cy="2468880"/>
          </a:xfrm>
          <a:prstGeom prst="roundRect">
            <a:avLst>
              <a:gd name="adj" fmla="val 3333"/>
            </a:avLst>
          </a:prstGeom>
          <a:solidFill>
            <a:srgbClr val="EEF2FB"/>
          </a:solidFill>
          <a:ln/>
        </p:spPr>
      </p:sp>
      <p:sp>
        <p:nvSpPr>
          <p:cNvPr id="5" name="Shape 3"/>
          <p:cNvSpPr/>
          <p:nvPr/>
        </p:nvSpPr>
        <p:spPr>
          <a:xfrm>
            <a:off x="822960" y="2011680"/>
            <a:ext cx="658368" cy="658368"/>
          </a:xfrm>
          <a:prstGeom prst="ellipse">
            <a:avLst/>
          </a:prstGeom>
          <a:solidFill>
            <a:srgbClr val="1E2761"/>
          </a:solidFill>
          <a:ln/>
        </p:spPr>
      </p:sp>
      <p:pic>
        <p:nvPicPr>
          <p:cNvPr id="6" name="Image 0" descr="/home/claude/fob-slides/icons_out/server_white.png"/>
          <p:cNvPicPr>
            <a:picLocks noChangeAspect="1"/>
          </p:cNvPicPr>
          <p:nvPr/>
        </p:nvPicPr>
        <p:blipFill>
          <a:blip r:embed="rId1"/>
          <a:stretch>
            <a:fillRect/>
          </a:stretch>
        </p:blipFill>
        <p:spPr>
          <a:xfrm>
            <a:off x="971093" y="2159813"/>
            <a:ext cx="362102" cy="362102"/>
          </a:xfrm>
          <a:prstGeom prst="rect">
            <a:avLst/>
          </a:prstGeom>
        </p:spPr>
      </p:pic>
      <p:sp>
        <p:nvSpPr>
          <p:cNvPr id="7" name="Text 4"/>
          <p:cNvSpPr txBox="1"/>
          <p:nvPr/>
        </p:nvSpPr>
        <p:spPr>
          <a:xfrm>
            <a:off x="1645920" y="1965960"/>
            <a:ext cx="2011680" cy="411480"/>
          </a:xfrm>
          <a:prstGeom prst="rect">
            <a:avLst/>
          </a:prstGeom>
          <a:noFill/>
          <a:ln/>
        </p:spPr>
        <p:txBody>
          <a:bodyPr wrap="square" lIns="0" tIns="0" rIns="0" bIns="0" rtlCol="0" anchor="t"/>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Ishonchli tomon</a:t>
            </a:r>
            <a:endParaRPr lang="en-US" sz="2000" dirty="0"/>
          </a:p>
        </p:txBody>
      </p:sp>
      <p:sp>
        <p:nvSpPr>
          <p:cNvPr id="8" name="Text 5"/>
          <p:cNvSpPr txBox="1"/>
          <p:nvPr/>
        </p:nvSpPr>
        <p:spPr>
          <a:xfrm>
            <a:off x="1645920" y="2359152"/>
            <a:ext cx="2011680" cy="320040"/>
          </a:xfrm>
          <a:prstGeom prst="rect">
            <a:avLst/>
          </a:prstGeom>
          <a:noFill/>
          <a:ln/>
        </p:spPr>
        <p:txBody>
          <a:bodyPr wrap="square" lIns="0" tIns="0" rIns="0" bIns="0" rtlCol="0" anchor="t"/>
          <a:lstStyle/>
          <a:p>
            <a:pPr algn="l"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Relying Party (RP)</a:t>
            </a:r>
            <a:endParaRPr lang="en-US" sz="1400" dirty="0"/>
          </a:p>
        </p:txBody>
      </p:sp>
      <p:sp>
        <p:nvSpPr>
          <p:cNvPr id="9" name="Text 6"/>
          <p:cNvSpPr txBox="1"/>
          <p:nvPr/>
        </p:nvSpPr>
        <p:spPr>
          <a:xfrm>
            <a:off x="822960" y="2834640"/>
            <a:ext cx="2697480" cy="1325880"/>
          </a:xfrm>
          <a:prstGeom prst="rect">
            <a:avLst/>
          </a:prstGeom>
          <a:noFill/>
          <a:ln/>
        </p:spPr>
        <p:txBody>
          <a:bodyPr wrap="square" lIns="0" tIns="0" rIns="0" bIns="0" rtlCol="0" anchor="t"/>
          <a:lstStyle/>
          <a:p>
            <a:pPr algn="l" indent="0" marL="0">
              <a:lnSpc>
                <a:spcPct val="105000"/>
              </a:lnSpc>
              <a:buNone/>
            </a:pPr>
            <a:r>
              <a:rPr lang="en-US" sz="1600" dirty="0">
                <a:solidFill>
                  <a:srgbClr val="1B1B2A"/>
                </a:solidFill>
                <a:latin typeface="Times New Roman" pitchFamily="34" charset="0"/>
                <a:ea typeface="Times New Roman" pitchFamily="34" charset="-122"/>
                <a:cs typeface="Times New Roman" pitchFamily="34" charset="-120"/>
              </a:rPr>
              <a:t>Veb-sayt yoki xizmat: hemis.nuu.uz. Ochiq kalitlarni saqlaydi.</a:t>
            </a:r>
            <a:endParaRPr lang="en-US" sz="1600" dirty="0"/>
          </a:p>
        </p:txBody>
      </p:sp>
      <p:sp>
        <p:nvSpPr>
          <p:cNvPr id="10" name="Shape 7"/>
          <p:cNvSpPr/>
          <p:nvPr/>
        </p:nvSpPr>
        <p:spPr>
          <a:xfrm>
            <a:off x="4480560" y="1783080"/>
            <a:ext cx="3200400" cy="2468880"/>
          </a:xfrm>
          <a:prstGeom prst="roundRect">
            <a:avLst>
              <a:gd name="adj" fmla="val 3333"/>
            </a:avLst>
          </a:prstGeom>
          <a:solidFill>
            <a:srgbClr val="1E2761"/>
          </a:solidFill>
          <a:ln/>
        </p:spPr>
      </p:sp>
      <p:sp>
        <p:nvSpPr>
          <p:cNvPr id="11" name="Shape 8"/>
          <p:cNvSpPr/>
          <p:nvPr/>
        </p:nvSpPr>
        <p:spPr>
          <a:xfrm>
            <a:off x="4754880" y="2011680"/>
            <a:ext cx="658368" cy="658368"/>
          </a:xfrm>
          <a:prstGeom prst="ellipse">
            <a:avLst/>
          </a:prstGeom>
          <a:solidFill>
            <a:srgbClr val="2A3778"/>
          </a:solidFill>
          <a:ln/>
        </p:spPr>
      </p:sp>
      <p:pic>
        <p:nvPicPr>
          <p:cNvPr id="12" name="Image 1" descr="/home/claude/fob-slides/icons_out/desktop_white.png"/>
          <p:cNvPicPr>
            <a:picLocks noChangeAspect="1"/>
          </p:cNvPicPr>
          <p:nvPr/>
        </p:nvPicPr>
        <p:blipFill>
          <a:blip r:embed="rId2"/>
          <a:stretch>
            <a:fillRect/>
          </a:stretch>
        </p:blipFill>
        <p:spPr>
          <a:xfrm>
            <a:off x="4903013" y="2159813"/>
            <a:ext cx="362102" cy="362102"/>
          </a:xfrm>
          <a:prstGeom prst="rect">
            <a:avLst/>
          </a:prstGeom>
        </p:spPr>
      </p:pic>
      <p:sp>
        <p:nvSpPr>
          <p:cNvPr id="13" name="Text 9"/>
          <p:cNvSpPr txBox="1"/>
          <p:nvPr/>
        </p:nvSpPr>
        <p:spPr>
          <a:xfrm>
            <a:off x="5577840" y="1965960"/>
            <a:ext cx="2011680" cy="411480"/>
          </a:xfrm>
          <a:prstGeom prst="rect">
            <a:avLst/>
          </a:prstGeom>
          <a:noFill/>
          <a:ln/>
        </p:spPr>
        <p:txBody>
          <a:bodyPr wrap="square" lIns="0" tIns="0" rIns="0" bIns="0" rtlCol="0" anchor="t"/>
          <a:lstStyle/>
          <a:p>
            <a:pPr algn="l" indent="0" marL="0">
              <a:lnSpc>
                <a:spcPct val="100000"/>
              </a:lnSpc>
              <a:buNone/>
            </a:pPr>
            <a:r>
              <a:rPr lang="en-US" sz="2000" b="1" dirty="0">
                <a:solidFill>
                  <a:srgbClr val="FFFFFF"/>
                </a:solidFill>
                <a:latin typeface="Times New Roman" pitchFamily="34" charset="0"/>
                <a:ea typeface="Times New Roman" pitchFamily="34" charset="-122"/>
                <a:cs typeface="Times New Roman" pitchFamily="34" charset="-120"/>
              </a:rPr>
              <a:t>Brauzer va OT</a:t>
            </a:r>
            <a:endParaRPr lang="en-US" sz="2000" dirty="0"/>
          </a:p>
        </p:txBody>
      </p:sp>
      <p:sp>
        <p:nvSpPr>
          <p:cNvPr id="14" name="Text 10"/>
          <p:cNvSpPr txBox="1"/>
          <p:nvPr/>
        </p:nvSpPr>
        <p:spPr>
          <a:xfrm>
            <a:off x="5577840" y="2359152"/>
            <a:ext cx="2011680" cy="320040"/>
          </a:xfrm>
          <a:prstGeom prst="rect">
            <a:avLst/>
          </a:prstGeom>
          <a:noFill/>
          <a:ln/>
        </p:spPr>
        <p:txBody>
          <a:bodyPr wrap="square" lIns="0" tIns="0" rIns="0" bIns="0" rtlCol="0" anchor="t"/>
          <a:lstStyle/>
          <a:p>
            <a:pPr algn="l"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mijoz (client)</a:t>
            </a:r>
            <a:endParaRPr lang="en-US" sz="1400" dirty="0"/>
          </a:p>
        </p:txBody>
      </p:sp>
      <p:sp>
        <p:nvSpPr>
          <p:cNvPr id="15" name="Text 11"/>
          <p:cNvSpPr txBox="1"/>
          <p:nvPr/>
        </p:nvSpPr>
        <p:spPr>
          <a:xfrm>
            <a:off x="4754880" y="2834640"/>
            <a:ext cx="2697480" cy="1325880"/>
          </a:xfrm>
          <a:prstGeom prst="rect">
            <a:avLst/>
          </a:prstGeom>
          <a:noFill/>
          <a:ln/>
        </p:spPr>
        <p:txBody>
          <a:bodyPr wrap="square" lIns="0" tIns="0" rIns="0" bIns="0" rtlCol="0" anchor="t"/>
          <a:lstStyle/>
          <a:p>
            <a:pPr algn="l" indent="0" marL="0">
              <a:lnSpc>
                <a:spcPct val="105000"/>
              </a:lnSpc>
              <a:buNone/>
            </a:pPr>
            <a:r>
              <a:rPr lang="en-US" sz="1600" dirty="0">
                <a:solidFill>
                  <a:srgbClr val="FFFFFF"/>
                </a:solidFill>
                <a:latin typeface="Times New Roman" pitchFamily="34" charset="0"/>
                <a:ea typeface="Times New Roman" pitchFamily="34" charset="-122"/>
                <a:cs typeface="Times New Roman" pitchFamily="34" charset="-120"/>
              </a:rPr>
              <a:t>Edge, Chrome, Firefox. Windows'da — Windows WebAuthn API orqali.</a:t>
            </a:r>
            <a:endParaRPr lang="en-US" sz="1600" dirty="0"/>
          </a:p>
        </p:txBody>
      </p:sp>
      <p:sp>
        <p:nvSpPr>
          <p:cNvPr id="16" name="Shape 12"/>
          <p:cNvSpPr/>
          <p:nvPr/>
        </p:nvSpPr>
        <p:spPr>
          <a:xfrm>
            <a:off x="8412480" y="1783080"/>
            <a:ext cx="3200400" cy="2468880"/>
          </a:xfrm>
          <a:prstGeom prst="roundRect">
            <a:avLst>
              <a:gd name="adj" fmla="val 3333"/>
            </a:avLst>
          </a:prstGeom>
          <a:solidFill>
            <a:srgbClr val="EEF2FB"/>
          </a:solidFill>
          <a:ln/>
        </p:spPr>
      </p:sp>
      <p:sp>
        <p:nvSpPr>
          <p:cNvPr id="17" name="Shape 13"/>
          <p:cNvSpPr/>
          <p:nvPr/>
        </p:nvSpPr>
        <p:spPr>
          <a:xfrm>
            <a:off x="8686800" y="2011680"/>
            <a:ext cx="658368" cy="658368"/>
          </a:xfrm>
          <a:prstGeom prst="ellipse">
            <a:avLst/>
          </a:prstGeom>
          <a:solidFill>
            <a:srgbClr val="1E2761"/>
          </a:solidFill>
          <a:ln/>
        </p:spPr>
      </p:sp>
      <p:pic>
        <p:nvPicPr>
          <p:cNvPr id="18" name="Image 2" descr="/home/claude/fob-slides/icons_out/fingerprint_white.png"/>
          <p:cNvPicPr>
            <a:picLocks noChangeAspect="1"/>
          </p:cNvPicPr>
          <p:nvPr/>
        </p:nvPicPr>
        <p:blipFill>
          <a:blip r:embed="rId3"/>
          <a:stretch>
            <a:fillRect/>
          </a:stretch>
        </p:blipFill>
        <p:spPr>
          <a:xfrm>
            <a:off x="8834933" y="2159813"/>
            <a:ext cx="362102" cy="362102"/>
          </a:xfrm>
          <a:prstGeom prst="rect">
            <a:avLst/>
          </a:prstGeom>
        </p:spPr>
      </p:pic>
      <p:sp>
        <p:nvSpPr>
          <p:cNvPr id="19" name="Text 14"/>
          <p:cNvSpPr txBox="1"/>
          <p:nvPr/>
        </p:nvSpPr>
        <p:spPr>
          <a:xfrm>
            <a:off x="9509760" y="1965960"/>
            <a:ext cx="2011680" cy="411480"/>
          </a:xfrm>
          <a:prstGeom prst="rect">
            <a:avLst/>
          </a:prstGeom>
          <a:noFill/>
          <a:ln/>
        </p:spPr>
        <p:txBody>
          <a:bodyPr wrap="square" lIns="0" tIns="0" rIns="0" bIns="0" rtlCol="0" anchor="t"/>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Autentifikator</a:t>
            </a:r>
            <a:endParaRPr lang="en-US" sz="2000" dirty="0"/>
          </a:p>
        </p:txBody>
      </p:sp>
      <p:sp>
        <p:nvSpPr>
          <p:cNvPr id="20" name="Text 15"/>
          <p:cNvSpPr txBox="1"/>
          <p:nvPr/>
        </p:nvSpPr>
        <p:spPr>
          <a:xfrm>
            <a:off x="9509760" y="2359152"/>
            <a:ext cx="2011680" cy="320040"/>
          </a:xfrm>
          <a:prstGeom prst="rect">
            <a:avLst/>
          </a:prstGeom>
          <a:noFill/>
          <a:ln/>
        </p:spPr>
        <p:txBody>
          <a:bodyPr wrap="square" lIns="0" tIns="0" rIns="0" bIns="0" rtlCol="0" anchor="t"/>
          <a:lstStyle/>
          <a:p>
            <a:pPr algn="l"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authenticator</a:t>
            </a:r>
            <a:endParaRPr lang="en-US" sz="1400" dirty="0"/>
          </a:p>
        </p:txBody>
      </p:sp>
      <p:sp>
        <p:nvSpPr>
          <p:cNvPr id="21" name="Text 16"/>
          <p:cNvSpPr txBox="1"/>
          <p:nvPr/>
        </p:nvSpPr>
        <p:spPr>
          <a:xfrm>
            <a:off x="8686800" y="2834640"/>
            <a:ext cx="2697480" cy="1325880"/>
          </a:xfrm>
          <a:prstGeom prst="rect">
            <a:avLst/>
          </a:prstGeom>
          <a:noFill/>
          <a:ln/>
        </p:spPr>
        <p:txBody>
          <a:bodyPr wrap="square" lIns="0" tIns="0" rIns="0" bIns="0" rtlCol="0" anchor="t"/>
          <a:lstStyle/>
          <a:p>
            <a:pPr algn="l" indent="0" marL="0">
              <a:lnSpc>
                <a:spcPct val="105000"/>
              </a:lnSpc>
              <a:buNone/>
            </a:pPr>
            <a:r>
              <a:rPr lang="en-US" sz="1600" dirty="0">
                <a:solidFill>
                  <a:srgbClr val="1B1B2A"/>
                </a:solidFill>
                <a:latin typeface="Times New Roman" pitchFamily="34" charset="0"/>
                <a:ea typeface="Times New Roman" pitchFamily="34" charset="-122"/>
                <a:cs typeface="Times New Roman" pitchFamily="34" charset="-120"/>
              </a:rPr>
              <a:t>Yopiq kalitni saqlaydi va imzolaydi. Foydalanuvchini tekshiradi.</a:t>
            </a:r>
            <a:endParaRPr lang="en-US" sz="1600" dirty="0"/>
          </a:p>
        </p:txBody>
      </p:sp>
      <p:sp>
        <p:nvSpPr>
          <p:cNvPr id="22" name="Shape 17"/>
          <p:cNvSpPr/>
          <p:nvPr/>
        </p:nvSpPr>
        <p:spPr>
          <a:xfrm>
            <a:off x="3794760" y="2834640"/>
            <a:ext cx="640080" cy="0"/>
          </a:xfrm>
          <a:prstGeom prst="line">
            <a:avLst/>
          </a:prstGeom>
          <a:noFill/>
          <a:ln w="31750">
            <a:solidFill>
              <a:srgbClr val="D9932B"/>
            </a:solidFill>
            <a:prstDash val="solid"/>
            <a:tailEnd type="triangle"/>
          </a:ln>
        </p:spPr>
      </p:sp>
      <p:sp>
        <p:nvSpPr>
          <p:cNvPr id="23" name="Shape 18"/>
          <p:cNvSpPr/>
          <p:nvPr/>
        </p:nvSpPr>
        <p:spPr>
          <a:xfrm flipH="1">
            <a:off x="3794760" y="3154680"/>
            <a:ext cx="640080" cy="0"/>
          </a:xfrm>
          <a:prstGeom prst="line">
            <a:avLst/>
          </a:prstGeom>
          <a:noFill/>
          <a:ln w="31750">
            <a:solidFill>
              <a:srgbClr val="D9932B"/>
            </a:solidFill>
            <a:prstDash val="solid"/>
            <a:tailEnd type="triangle"/>
          </a:ln>
        </p:spPr>
      </p:sp>
      <p:sp>
        <p:nvSpPr>
          <p:cNvPr id="24" name="Shape 19"/>
          <p:cNvSpPr/>
          <p:nvPr/>
        </p:nvSpPr>
        <p:spPr>
          <a:xfrm>
            <a:off x="7726680" y="2834640"/>
            <a:ext cx="640080" cy="0"/>
          </a:xfrm>
          <a:prstGeom prst="line">
            <a:avLst/>
          </a:prstGeom>
          <a:noFill/>
          <a:ln w="31750">
            <a:solidFill>
              <a:srgbClr val="D9932B"/>
            </a:solidFill>
            <a:prstDash val="solid"/>
            <a:tailEnd type="triangle"/>
          </a:ln>
        </p:spPr>
      </p:sp>
      <p:sp>
        <p:nvSpPr>
          <p:cNvPr id="25" name="Shape 20"/>
          <p:cNvSpPr/>
          <p:nvPr/>
        </p:nvSpPr>
        <p:spPr>
          <a:xfrm flipH="1">
            <a:off x="7726680" y="3154680"/>
            <a:ext cx="640080" cy="0"/>
          </a:xfrm>
          <a:prstGeom prst="line">
            <a:avLst/>
          </a:prstGeom>
          <a:noFill/>
          <a:ln w="31750">
            <a:solidFill>
              <a:srgbClr val="D9932B"/>
            </a:solidFill>
            <a:prstDash val="solid"/>
            <a:tailEnd type="triangle"/>
          </a:ln>
        </p:spPr>
      </p:sp>
      <p:sp>
        <p:nvSpPr>
          <p:cNvPr id="26" name="Text 21"/>
          <p:cNvSpPr txBox="1"/>
          <p:nvPr/>
        </p:nvSpPr>
        <p:spPr>
          <a:xfrm>
            <a:off x="3566160" y="4343400"/>
            <a:ext cx="1188720" cy="320040"/>
          </a:xfrm>
          <a:prstGeom prst="rect">
            <a:avLst/>
          </a:prstGeom>
          <a:noFill/>
          <a:ln/>
        </p:spPr>
        <p:txBody>
          <a:bodyPr wrap="square" lIns="0" tIns="0" rIns="0" bIns="0" rtlCol="0" anchor="t"/>
          <a:lstStyle/>
          <a:p>
            <a:pPr algn="ctr"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WebAuthn</a:t>
            </a:r>
            <a:endParaRPr lang="en-US" sz="1600" dirty="0"/>
          </a:p>
        </p:txBody>
      </p:sp>
      <p:sp>
        <p:nvSpPr>
          <p:cNvPr id="27" name="Text 22"/>
          <p:cNvSpPr txBox="1"/>
          <p:nvPr/>
        </p:nvSpPr>
        <p:spPr>
          <a:xfrm>
            <a:off x="7498080" y="4343400"/>
            <a:ext cx="1188720" cy="320040"/>
          </a:xfrm>
          <a:prstGeom prst="rect">
            <a:avLst/>
          </a:prstGeom>
          <a:noFill/>
          <a:ln/>
        </p:spPr>
        <p:txBody>
          <a:bodyPr wrap="square" lIns="0" tIns="0" rIns="0" bIns="0" rtlCol="0" anchor="t"/>
          <a:lstStyle/>
          <a:p>
            <a:pPr algn="ctr"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CTAP2</a:t>
            </a:r>
            <a:endParaRPr lang="en-US" sz="1600" dirty="0"/>
          </a:p>
        </p:txBody>
      </p:sp>
      <p:sp>
        <p:nvSpPr>
          <p:cNvPr id="28" name="Shape 23"/>
          <p:cNvSpPr/>
          <p:nvPr/>
        </p:nvSpPr>
        <p:spPr>
          <a:xfrm>
            <a:off x="548640" y="4846320"/>
            <a:ext cx="5486400" cy="1325880"/>
          </a:xfrm>
          <a:prstGeom prst="roundRect">
            <a:avLst>
              <a:gd name="adj" fmla="val 6207"/>
            </a:avLst>
          </a:prstGeom>
          <a:solidFill>
            <a:srgbClr val="CADCFC"/>
          </a:solidFill>
          <a:ln/>
        </p:spPr>
      </p:sp>
      <p:sp>
        <p:nvSpPr>
          <p:cNvPr id="29" name="Shape 24"/>
          <p:cNvSpPr/>
          <p:nvPr/>
        </p:nvSpPr>
        <p:spPr>
          <a:xfrm>
            <a:off x="777240" y="5138928"/>
            <a:ext cx="731520" cy="731520"/>
          </a:xfrm>
          <a:prstGeom prst="ellipse">
            <a:avLst/>
          </a:prstGeom>
          <a:solidFill>
            <a:srgbClr val="1E2761"/>
          </a:solidFill>
          <a:ln/>
        </p:spPr>
      </p:sp>
      <p:pic>
        <p:nvPicPr>
          <p:cNvPr id="30" name="Image 3" descr="/home/claude/fob-slides/icons_out/desktop_white.png"/>
          <p:cNvPicPr>
            <a:picLocks noChangeAspect="1"/>
          </p:cNvPicPr>
          <p:nvPr/>
        </p:nvPicPr>
        <p:blipFill>
          <a:blip r:embed="rId4"/>
          <a:stretch>
            <a:fillRect/>
          </a:stretch>
        </p:blipFill>
        <p:spPr>
          <a:xfrm>
            <a:off x="941832" y="5303520"/>
            <a:ext cx="402336" cy="402336"/>
          </a:xfrm>
          <a:prstGeom prst="rect">
            <a:avLst/>
          </a:prstGeom>
        </p:spPr>
      </p:pic>
      <p:sp>
        <p:nvSpPr>
          <p:cNvPr id="31" name="Text 25"/>
          <p:cNvSpPr txBox="1"/>
          <p:nvPr/>
        </p:nvSpPr>
        <p:spPr>
          <a:xfrm>
            <a:off x="1691640" y="4937760"/>
            <a:ext cx="4206240" cy="411480"/>
          </a:xfrm>
          <a:prstGeom prst="rect">
            <a:avLst/>
          </a:prstGeom>
          <a:noFill/>
          <a:ln/>
        </p:spPr>
        <p:txBody>
          <a:bodyPr wrap="square" lIns="0" tIns="0" rIns="0" bIns="0" rtlCol="0" anchor="t"/>
          <a:lstStyle/>
          <a:p>
            <a:pPr algn="l" indent="0" marL="0">
              <a:lnSpc>
                <a:spcPct val="100000"/>
              </a:lnSpc>
              <a:buNone/>
            </a:pPr>
            <a:r>
              <a:rPr lang="en-US" sz="1800" b="1" dirty="0">
                <a:solidFill>
                  <a:srgbClr val="1E2761"/>
                </a:solidFill>
                <a:latin typeface="Times New Roman" pitchFamily="34" charset="0"/>
                <a:ea typeface="Times New Roman" pitchFamily="34" charset="-122"/>
                <a:cs typeface="Times New Roman" pitchFamily="34" charset="-120"/>
              </a:rPr>
              <a:t>Platforma autentifikatori</a:t>
            </a:r>
            <a:endParaRPr lang="en-US" sz="1800" dirty="0"/>
          </a:p>
        </p:txBody>
      </p:sp>
      <p:sp>
        <p:nvSpPr>
          <p:cNvPr id="32" name="Text 26"/>
          <p:cNvSpPr txBox="1"/>
          <p:nvPr/>
        </p:nvSpPr>
        <p:spPr>
          <a:xfrm>
            <a:off x="1691640" y="5349240"/>
            <a:ext cx="4206240" cy="731520"/>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Qurilmaga o'rnatilgan: Windows Hello (TPM), Android, iOS</a:t>
            </a:r>
            <a:endParaRPr lang="en-US" sz="1600" dirty="0"/>
          </a:p>
        </p:txBody>
      </p:sp>
      <p:sp>
        <p:nvSpPr>
          <p:cNvPr id="33" name="Shape 27"/>
          <p:cNvSpPr/>
          <p:nvPr/>
        </p:nvSpPr>
        <p:spPr>
          <a:xfrm>
            <a:off x="6126480" y="4846320"/>
            <a:ext cx="5486400" cy="1325880"/>
          </a:xfrm>
          <a:prstGeom prst="roundRect">
            <a:avLst>
              <a:gd name="adj" fmla="val 6207"/>
            </a:avLst>
          </a:prstGeom>
          <a:solidFill>
            <a:srgbClr val="CADCFC"/>
          </a:solidFill>
          <a:ln/>
        </p:spPr>
      </p:sp>
      <p:sp>
        <p:nvSpPr>
          <p:cNvPr id="34" name="Shape 28"/>
          <p:cNvSpPr/>
          <p:nvPr/>
        </p:nvSpPr>
        <p:spPr>
          <a:xfrm>
            <a:off x="6355080" y="5138928"/>
            <a:ext cx="731520" cy="731520"/>
          </a:xfrm>
          <a:prstGeom prst="ellipse">
            <a:avLst/>
          </a:prstGeom>
          <a:solidFill>
            <a:srgbClr val="1E2761"/>
          </a:solidFill>
          <a:ln/>
        </p:spPr>
      </p:sp>
      <p:pic>
        <p:nvPicPr>
          <p:cNvPr id="35" name="Image 4" descr="/home/claude/fob-slides/icons_out/usb_white.png"/>
          <p:cNvPicPr>
            <a:picLocks noChangeAspect="1"/>
          </p:cNvPicPr>
          <p:nvPr/>
        </p:nvPicPr>
        <p:blipFill>
          <a:blip r:embed="rId5"/>
          <a:stretch>
            <a:fillRect/>
          </a:stretch>
        </p:blipFill>
        <p:spPr>
          <a:xfrm>
            <a:off x="6519672" y="5303520"/>
            <a:ext cx="402336" cy="402336"/>
          </a:xfrm>
          <a:prstGeom prst="rect">
            <a:avLst/>
          </a:prstGeom>
        </p:spPr>
      </p:pic>
      <p:sp>
        <p:nvSpPr>
          <p:cNvPr id="36" name="Text 29"/>
          <p:cNvSpPr txBox="1"/>
          <p:nvPr/>
        </p:nvSpPr>
        <p:spPr>
          <a:xfrm>
            <a:off x="7269480" y="4937760"/>
            <a:ext cx="4206240" cy="411480"/>
          </a:xfrm>
          <a:prstGeom prst="rect">
            <a:avLst/>
          </a:prstGeom>
          <a:noFill/>
          <a:ln/>
        </p:spPr>
        <p:txBody>
          <a:bodyPr wrap="square" lIns="0" tIns="0" rIns="0" bIns="0" rtlCol="0" anchor="t"/>
          <a:lstStyle/>
          <a:p>
            <a:pPr algn="l" indent="0" marL="0">
              <a:lnSpc>
                <a:spcPct val="100000"/>
              </a:lnSpc>
              <a:buNone/>
            </a:pPr>
            <a:r>
              <a:rPr lang="en-US" sz="1800" b="1" dirty="0">
                <a:solidFill>
                  <a:srgbClr val="1E2761"/>
                </a:solidFill>
                <a:latin typeface="Times New Roman" pitchFamily="34" charset="0"/>
                <a:ea typeface="Times New Roman" pitchFamily="34" charset="-122"/>
                <a:cs typeface="Times New Roman" pitchFamily="34" charset="-120"/>
              </a:rPr>
              <a:t>Tashqi (roaming) autentifikator</a:t>
            </a:r>
            <a:endParaRPr lang="en-US" sz="1800" dirty="0"/>
          </a:p>
        </p:txBody>
      </p:sp>
      <p:sp>
        <p:nvSpPr>
          <p:cNvPr id="37" name="Text 30"/>
          <p:cNvSpPr txBox="1"/>
          <p:nvPr/>
        </p:nvSpPr>
        <p:spPr>
          <a:xfrm>
            <a:off x="7269480" y="5349240"/>
            <a:ext cx="4206240" cy="731520"/>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USB/NFC kalit yoki boshqa qurilmadagi telefon</a:t>
            </a:r>
            <a:endParaRPr lang="en-US" sz="1600" dirty="0"/>
          </a:p>
        </p:txBody>
      </p:sp>
      <p:sp>
        <p:nvSpPr>
          <p:cNvPr id="38" name="Text 31"/>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5-ma'ruza</a:t>
            </a:r>
            <a:endParaRPr lang="en-US" sz="1100" dirty="0"/>
          </a:p>
        </p:txBody>
      </p:sp>
      <p:sp>
        <p:nvSpPr>
          <p:cNvPr id="39" name="Text 32"/>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 · RO'YXATDAN O'TISH</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Kalitlar juftligi qanday yaratiladi?</a:t>
            </a:r>
            <a:endParaRPr lang="en-US" sz="3600" dirty="0"/>
          </a:p>
        </p:txBody>
      </p:sp>
      <p:sp>
        <p:nvSpPr>
          <p:cNvPr id="4" name="Shape 2"/>
          <p:cNvSpPr/>
          <p:nvPr/>
        </p:nvSpPr>
        <p:spPr>
          <a:xfrm>
            <a:off x="548640" y="1783080"/>
            <a:ext cx="5669280" cy="758952"/>
          </a:xfrm>
          <a:prstGeom prst="roundRect">
            <a:avLst>
              <a:gd name="adj" fmla="val 10843"/>
            </a:avLst>
          </a:prstGeom>
          <a:solidFill>
            <a:srgbClr val="EEF2FB"/>
          </a:solidFill>
          <a:ln/>
        </p:spPr>
      </p:sp>
      <p:sp>
        <p:nvSpPr>
          <p:cNvPr id="5" name="Shape 3"/>
          <p:cNvSpPr/>
          <p:nvPr/>
        </p:nvSpPr>
        <p:spPr>
          <a:xfrm>
            <a:off x="713232" y="1938528"/>
            <a:ext cx="457200" cy="457200"/>
          </a:xfrm>
          <a:prstGeom prst="ellipse">
            <a:avLst/>
          </a:prstGeom>
          <a:solidFill>
            <a:srgbClr val="1E2761"/>
          </a:solidFill>
          <a:ln/>
        </p:spPr>
      </p:sp>
      <p:sp>
        <p:nvSpPr>
          <p:cNvPr id="6" name="Text 4"/>
          <p:cNvSpPr txBox="1"/>
          <p:nvPr/>
        </p:nvSpPr>
        <p:spPr>
          <a:xfrm>
            <a:off x="713232" y="1938528"/>
            <a:ext cx="457200" cy="45720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Times New Roman" pitchFamily="34" charset="0"/>
                <a:ea typeface="Times New Roman" pitchFamily="34" charset="-122"/>
                <a:cs typeface="Times New Roman" pitchFamily="34" charset="-120"/>
              </a:rPr>
              <a:t>1</a:t>
            </a:r>
            <a:endParaRPr lang="en-US" sz="1400" dirty="0"/>
          </a:p>
        </p:txBody>
      </p:sp>
      <p:sp>
        <p:nvSpPr>
          <p:cNvPr id="7" name="Text 5"/>
          <p:cNvSpPr txBox="1"/>
          <p:nvPr/>
        </p:nvSpPr>
        <p:spPr>
          <a:xfrm>
            <a:off x="1325880" y="1783080"/>
            <a:ext cx="1417320" cy="758952"/>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Server</a:t>
            </a:r>
            <a:endParaRPr lang="en-US" sz="1500" dirty="0"/>
          </a:p>
        </p:txBody>
      </p:sp>
      <p:sp>
        <p:nvSpPr>
          <p:cNvPr id="8" name="Text 6"/>
          <p:cNvSpPr txBox="1"/>
          <p:nvPr/>
        </p:nvSpPr>
        <p:spPr>
          <a:xfrm>
            <a:off x="2743200" y="1783080"/>
            <a:ext cx="3383280" cy="758952"/>
          </a:xfrm>
          <a:prstGeom prst="rect">
            <a:avLst/>
          </a:prstGeom>
          <a:noFill/>
          <a:ln/>
        </p:spPr>
        <p:txBody>
          <a:bodyPr wrap="square" lIns="0" tIns="0" rIns="0" bIns="0" rtlCol="0" anchor="ctr"/>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Tasodifiy so'rov (challenge), rpId va foydalanuvchi ID ni yuboradi</a:t>
            </a:r>
            <a:endParaRPr lang="en-US" sz="1500" dirty="0"/>
          </a:p>
        </p:txBody>
      </p:sp>
      <p:sp>
        <p:nvSpPr>
          <p:cNvPr id="9" name="Shape 7"/>
          <p:cNvSpPr/>
          <p:nvPr/>
        </p:nvSpPr>
        <p:spPr>
          <a:xfrm>
            <a:off x="548640" y="2651760"/>
            <a:ext cx="5669280" cy="758952"/>
          </a:xfrm>
          <a:prstGeom prst="roundRect">
            <a:avLst>
              <a:gd name="adj" fmla="val 10843"/>
            </a:avLst>
          </a:prstGeom>
          <a:solidFill>
            <a:srgbClr val="EEF2FB"/>
          </a:solidFill>
          <a:ln/>
        </p:spPr>
      </p:sp>
      <p:sp>
        <p:nvSpPr>
          <p:cNvPr id="10" name="Shape 8"/>
          <p:cNvSpPr/>
          <p:nvPr/>
        </p:nvSpPr>
        <p:spPr>
          <a:xfrm>
            <a:off x="713232" y="2807208"/>
            <a:ext cx="457200" cy="457200"/>
          </a:xfrm>
          <a:prstGeom prst="ellipse">
            <a:avLst/>
          </a:prstGeom>
          <a:solidFill>
            <a:srgbClr val="1E2761"/>
          </a:solidFill>
          <a:ln/>
        </p:spPr>
      </p:sp>
      <p:sp>
        <p:nvSpPr>
          <p:cNvPr id="11" name="Text 9"/>
          <p:cNvSpPr txBox="1"/>
          <p:nvPr/>
        </p:nvSpPr>
        <p:spPr>
          <a:xfrm>
            <a:off x="713232" y="2807208"/>
            <a:ext cx="457200" cy="45720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Times New Roman" pitchFamily="34" charset="0"/>
                <a:ea typeface="Times New Roman" pitchFamily="34" charset="-122"/>
                <a:cs typeface="Times New Roman" pitchFamily="34" charset="-120"/>
              </a:rPr>
              <a:t>2</a:t>
            </a:r>
            <a:endParaRPr lang="en-US" sz="1400" dirty="0"/>
          </a:p>
        </p:txBody>
      </p:sp>
      <p:sp>
        <p:nvSpPr>
          <p:cNvPr id="12" name="Text 10"/>
          <p:cNvSpPr txBox="1"/>
          <p:nvPr/>
        </p:nvSpPr>
        <p:spPr>
          <a:xfrm>
            <a:off x="1325880" y="2651760"/>
            <a:ext cx="1417320" cy="758952"/>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Brauzer</a:t>
            </a:r>
            <a:endParaRPr lang="en-US" sz="1500" dirty="0"/>
          </a:p>
        </p:txBody>
      </p:sp>
      <p:sp>
        <p:nvSpPr>
          <p:cNvPr id="13" name="Text 11"/>
          <p:cNvSpPr txBox="1"/>
          <p:nvPr/>
        </p:nvSpPr>
        <p:spPr>
          <a:xfrm>
            <a:off x="2743200" y="2651760"/>
            <a:ext cx="3383280" cy="758952"/>
          </a:xfrm>
          <a:prstGeom prst="rect">
            <a:avLst/>
          </a:prstGeom>
          <a:noFill/>
          <a:ln/>
        </p:spPr>
        <p:txBody>
          <a:bodyPr wrap="square" lIns="0" tIns="0" rIns="0" bIns="0" rtlCol="0" anchor="ctr"/>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Sahifa manzilini (origin) qo'shib, autentifikatorga uzatadi</a:t>
            </a:r>
            <a:endParaRPr lang="en-US" sz="1500" dirty="0"/>
          </a:p>
        </p:txBody>
      </p:sp>
      <p:sp>
        <p:nvSpPr>
          <p:cNvPr id="14" name="Shape 12"/>
          <p:cNvSpPr/>
          <p:nvPr/>
        </p:nvSpPr>
        <p:spPr>
          <a:xfrm>
            <a:off x="548640" y="3520440"/>
            <a:ext cx="5669280" cy="758952"/>
          </a:xfrm>
          <a:prstGeom prst="roundRect">
            <a:avLst>
              <a:gd name="adj" fmla="val 10843"/>
            </a:avLst>
          </a:prstGeom>
          <a:solidFill>
            <a:srgbClr val="EEF2FB"/>
          </a:solidFill>
          <a:ln/>
        </p:spPr>
      </p:sp>
      <p:sp>
        <p:nvSpPr>
          <p:cNvPr id="15" name="Shape 13"/>
          <p:cNvSpPr/>
          <p:nvPr/>
        </p:nvSpPr>
        <p:spPr>
          <a:xfrm>
            <a:off x="713232" y="3675888"/>
            <a:ext cx="457200" cy="457200"/>
          </a:xfrm>
          <a:prstGeom prst="ellipse">
            <a:avLst/>
          </a:prstGeom>
          <a:solidFill>
            <a:srgbClr val="1F6B4A"/>
          </a:solidFill>
          <a:ln/>
        </p:spPr>
      </p:sp>
      <p:sp>
        <p:nvSpPr>
          <p:cNvPr id="16" name="Text 14"/>
          <p:cNvSpPr txBox="1"/>
          <p:nvPr/>
        </p:nvSpPr>
        <p:spPr>
          <a:xfrm>
            <a:off x="713232" y="3675888"/>
            <a:ext cx="457200" cy="45720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Times New Roman" pitchFamily="34" charset="0"/>
                <a:ea typeface="Times New Roman" pitchFamily="34" charset="-122"/>
                <a:cs typeface="Times New Roman" pitchFamily="34" charset="-120"/>
              </a:rPr>
              <a:t>3</a:t>
            </a:r>
            <a:endParaRPr lang="en-US" sz="1400" dirty="0"/>
          </a:p>
        </p:txBody>
      </p:sp>
      <p:sp>
        <p:nvSpPr>
          <p:cNvPr id="17" name="Text 15"/>
          <p:cNvSpPr txBox="1"/>
          <p:nvPr/>
        </p:nvSpPr>
        <p:spPr>
          <a:xfrm>
            <a:off x="1325880" y="3520440"/>
            <a:ext cx="1417320" cy="758952"/>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Autentifikator</a:t>
            </a:r>
            <a:endParaRPr lang="en-US" sz="1500" dirty="0"/>
          </a:p>
        </p:txBody>
      </p:sp>
      <p:sp>
        <p:nvSpPr>
          <p:cNvPr id="18" name="Text 16"/>
          <p:cNvSpPr txBox="1"/>
          <p:nvPr/>
        </p:nvSpPr>
        <p:spPr>
          <a:xfrm>
            <a:off x="2743200" y="3520440"/>
            <a:ext cx="3383280" cy="758952"/>
          </a:xfrm>
          <a:prstGeom prst="rect">
            <a:avLst/>
          </a:prstGeom>
          <a:noFill/>
          <a:ln/>
        </p:spPr>
        <p:txBody>
          <a:bodyPr wrap="square" lIns="0" tIns="0" rIns="0" bIns="0" rtlCol="0" anchor="ctr"/>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PIN yoki biometrik bilan foydalanuvchini tekshiradi, shu sayt uchun yangi kalitlar juftligini yaratadi</a:t>
            </a:r>
            <a:endParaRPr lang="en-US" sz="1500" dirty="0"/>
          </a:p>
        </p:txBody>
      </p:sp>
      <p:sp>
        <p:nvSpPr>
          <p:cNvPr id="19" name="Shape 17"/>
          <p:cNvSpPr/>
          <p:nvPr/>
        </p:nvSpPr>
        <p:spPr>
          <a:xfrm>
            <a:off x="548640" y="4389120"/>
            <a:ext cx="5669280" cy="758952"/>
          </a:xfrm>
          <a:prstGeom prst="roundRect">
            <a:avLst>
              <a:gd name="adj" fmla="val 10843"/>
            </a:avLst>
          </a:prstGeom>
          <a:solidFill>
            <a:srgbClr val="EEF2FB"/>
          </a:solidFill>
          <a:ln/>
        </p:spPr>
      </p:sp>
      <p:sp>
        <p:nvSpPr>
          <p:cNvPr id="20" name="Shape 18"/>
          <p:cNvSpPr/>
          <p:nvPr/>
        </p:nvSpPr>
        <p:spPr>
          <a:xfrm>
            <a:off x="713232" y="4544568"/>
            <a:ext cx="457200" cy="457200"/>
          </a:xfrm>
          <a:prstGeom prst="ellipse">
            <a:avLst/>
          </a:prstGeom>
          <a:solidFill>
            <a:srgbClr val="1E2761"/>
          </a:solidFill>
          <a:ln/>
        </p:spPr>
      </p:sp>
      <p:sp>
        <p:nvSpPr>
          <p:cNvPr id="21" name="Text 19"/>
          <p:cNvSpPr txBox="1"/>
          <p:nvPr/>
        </p:nvSpPr>
        <p:spPr>
          <a:xfrm>
            <a:off x="713232" y="4544568"/>
            <a:ext cx="457200" cy="45720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Times New Roman" pitchFamily="34" charset="0"/>
                <a:ea typeface="Times New Roman" pitchFamily="34" charset="-122"/>
                <a:cs typeface="Times New Roman" pitchFamily="34" charset="-120"/>
              </a:rPr>
              <a:t>4</a:t>
            </a:r>
            <a:endParaRPr lang="en-US" sz="1400" dirty="0"/>
          </a:p>
        </p:txBody>
      </p:sp>
      <p:sp>
        <p:nvSpPr>
          <p:cNvPr id="22" name="Text 20"/>
          <p:cNvSpPr txBox="1"/>
          <p:nvPr/>
        </p:nvSpPr>
        <p:spPr>
          <a:xfrm>
            <a:off x="1325880" y="4389120"/>
            <a:ext cx="1417320" cy="758952"/>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Autentifikator</a:t>
            </a:r>
            <a:endParaRPr lang="en-US" sz="1500" dirty="0"/>
          </a:p>
        </p:txBody>
      </p:sp>
      <p:sp>
        <p:nvSpPr>
          <p:cNvPr id="23" name="Text 21"/>
          <p:cNvSpPr txBox="1"/>
          <p:nvPr/>
        </p:nvSpPr>
        <p:spPr>
          <a:xfrm>
            <a:off x="2743200" y="4389120"/>
            <a:ext cx="3383280" cy="758952"/>
          </a:xfrm>
          <a:prstGeom prst="rect">
            <a:avLst/>
          </a:prstGeom>
          <a:noFill/>
          <a:ln/>
        </p:spPr>
        <p:txBody>
          <a:bodyPr wrap="square" lIns="0" tIns="0" rIns="0" bIns="0" rtlCol="0" anchor="ctr"/>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Ochiq kalit va kalit identifikatorini qaytaradi</a:t>
            </a:r>
            <a:endParaRPr lang="en-US" sz="1500" dirty="0"/>
          </a:p>
        </p:txBody>
      </p:sp>
      <p:sp>
        <p:nvSpPr>
          <p:cNvPr id="24" name="Shape 22"/>
          <p:cNvSpPr/>
          <p:nvPr/>
        </p:nvSpPr>
        <p:spPr>
          <a:xfrm>
            <a:off x="548640" y="5257800"/>
            <a:ext cx="5669280" cy="758952"/>
          </a:xfrm>
          <a:prstGeom prst="roundRect">
            <a:avLst>
              <a:gd name="adj" fmla="val 10843"/>
            </a:avLst>
          </a:prstGeom>
          <a:solidFill>
            <a:srgbClr val="EEF2FB"/>
          </a:solidFill>
          <a:ln/>
        </p:spPr>
      </p:sp>
      <p:sp>
        <p:nvSpPr>
          <p:cNvPr id="25" name="Shape 23"/>
          <p:cNvSpPr/>
          <p:nvPr/>
        </p:nvSpPr>
        <p:spPr>
          <a:xfrm>
            <a:off x="713232" y="5413248"/>
            <a:ext cx="457200" cy="457200"/>
          </a:xfrm>
          <a:prstGeom prst="ellipse">
            <a:avLst/>
          </a:prstGeom>
          <a:solidFill>
            <a:srgbClr val="1E2761"/>
          </a:solidFill>
          <a:ln/>
        </p:spPr>
      </p:sp>
      <p:sp>
        <p:nvSpPr>
          <p:cNvPr id="26" name="Text 24"/>
          <p:cNvSpPr txBox="1"/>
          <p:nvPr/>
        </p:nvSpPr>
        <p:spPr>
          <a:xfrm>
            <a:off x="713232" y="5413248"/>
            <a:ext cx="457200" cy="45720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Times New Roman" pitchFamily="34" charset="0"/>
                <a:ea typeface="Times New Roman" pitchFamily="34" charset="-122"/>
                <a:cs typeface="Times New Roman" pitchFamily="34" charset="-120"/>
              </a:rPr>
              <a:t>5</a:t>
            </a:r>
            <a:endParaRPr lang="en-US" sz="1400" dirty="0"/>
          </a:p>
        </p:txBody>
      </p:sp>
      <p:sp>
        <p:nvSpPr>
          <p:cNvPr id="27" name="Text 25"/>
          <p:cNvSpPr txBox="1"/>
          <p:nvPr/>
        </p:nvSpPr>
        <p:spPr>
          <a:xfrm>
            <a:off x="1325880" y="5257800"/>
            <a:ext cx="1417320" cy="758952"/>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Server</a:t>
            </a:r>
            <a:endParaRPr lang="en-US" sz="1500" dirty="0"/>
          </a:p>
        </p:txBody>
      </p:sp>
      <p:sp>
        <p:nvSpPr>
          <p:cNvPr id="28" name="Text 26"/>
          <p:cNvSpPr txBox="1"/>
          <p:nvPr/>
        </p:nvSpPr>
        <p:spPr>
          <a:xfrm>
            <a:off x="2743200" y="5257800"/>
            <a:ext cx="3383280" cy="758952"/>
          </a:xfrm>
          <a:prstGeom prst="rect">
            <a:avLst/>
          </a:prstGeom>
          <a:noFill/>
          <a:ln/>
        </p:spPr>
        <p:txBody>
          <a:bodyPr wrap="square" lIns="0" tIns="0" rIns="0" bIns="0" rtlCol="0" anchor="ctr"/>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Ochiq kalitni foydalanuvchi qayd yozuviga bog'lab saqlaydi</a:t>
            </a:r>
            <a:endParaRPr lang="en-US" sz="1500" dirty="0"/>
          </a:p>
        </p:txBody>
      </p:sp>
      <p:sp>
        <p:nvSpPr>
          <p:cNvPr id="29" name="Shape 27"/>
          <p:cNvSpPr/>
          <p:nvPr/>
        </p:nvSpPr>
        <p:spPr>
          <a:xfrm>
            <a:off x="6446520" y="1783080"/>
            <a:ext cx="5166360" cy="4233672"/>
          </a:xfrm>
          <a:prstGeom prst="roundRect">
            <a:avLst>
              <a:gd name="adj" fmla="val 1944"/>
            </a:avLst>
          </a:prstGeom>
          <a:solidFill>
            <a:srgbClr val="162048"/>
          </a:solidFill>
          <a:ln/>
        </p:spPr>
      </p:sp>
      <p:sp>
        <p:nvSpPr>
          <p:cNvPr id="30" name="Text 28"/>
          <p:cNvSpPr txBox="1"/>
          <p:nvPr/>
        </p:nvSpPr>
        <p:spPr>
          <a:xfrm>
            <a:off x="6675120" y="1965960"/>
            <a:ext cx="4709160" cy="3867912"/>
          </a:xfrm>
          <a:prstGeom prst="rect">
            <a:avLst/>
          </a:prstGeom>
          <a:noFill/>
          <a:ln/>
        </p:spPr>
        <p:txBody>
          <a:bodyPr wrap="square" lIns="0" tIns="0" rIns="0" bIns="0" rtlCol="0" anchor="t"/>
          <a:lstStyle/>
          <a:p>
            <a:pPr indent="0" marL="0">
              <a:lnSpc>
                <a:spcPct val="105000"/>
              </a:lnSpc>
              <a:buNone/>
            </a:pPr>
            <a:r>
              <a:rPr lang="en-US" sz="1300" b="1" dirty="0">
                <a:solidFill>
                  <a:srgbClr val="F2B544"/>
                </a:solidFill>
                <a:latin typeface="Courier New" pitchFamily="34" charset="0"/>
                <a:ea typeface="Courier New" pitchFamily="34" charset="-122"/>
                <a:cs typeface="Courier New" pitchFamily="34" charset="-120"/>
              </a:rPr>
              <a:t>navigator.credentials.create({</a:t>
            </a:r>
            <a:endParaRPr lang="en-US" sz="1300" dirty="0"/>
          </a:p>
          <a:p>
            <a:pPr indent="0" marL="0">
              <a:lnSpc>
                <a:spcPct val="105000"/>
              </a:lnSpc>
              <a:buNone/>
            </a:pPr>
            <a:r>
              <a:rPr lang="en-US" sz="1300" dirty="0">
                <a:solidFill>
                  <a:srgbClr val="FFFFFF"/>
                </a:solidFill>
                <a:latin typeface="Courier New" pitchFamily="34" charset="0"/>
                <a:ea typeface="Courier New" pitchFamily="34" charset="-122"/>
                <a:cs typeface="Courier New" pitchFamily="34" charset="-120"/>
              </a:rPr>
              <a:t>  publicKey: {</a:t>
            </a:r>
            <a:endParaRPr lang="en-US" sz="1300" dirty="0"/>
          </a:p>
          <a:p>
            <a:pPr indent="0" marL="0">
              <a:lnSpc>
                <a:spcPct val="105000"/>
              </a:lnSpc>
              <a:buNone/>
            </a:pPr>
            <a:r>
              <a:rPr lang="en-US" sz="1300" dirty="0">
                <a:solidFill>
                  <a:srgbClr val="FFFFFF"/>
                </a:solidFill>
                <a:latin typeface="Courier New" pitchFamily="34" charset="0"/>
                <a:ea typeface="Courier New" pitchFamily="34" charset="-122"/>
                <a:cs typeface="Courier New" pitchFamily="34" charset="-120"/>
              </a:rPr>
              <a:t>    challenge: serverdanKelganBaytlar,</a:t>
            </a:r>
            <a:endParaRPr lang="en-US" sz="1300" dirty="0"/>
          </a:p>
          <a:p>
            <a:pPr indent="0" marL="0">
              <a:lnSpc>
                <a:spcPct val="105000"/>
              </a:lnSpc>
              <a:buNone/>
            </a:pPr>
            <a:r>
              <a:rPr lang="en-US" sz="1300" dirty="0">
                <a:solidFill>
                  <a:srgbClr val="FFFFFF"/>
                </a:solidFill>
                <a:latin typeface="Courier New" pitchFamily="34" charset="0"/>
                <a:ea typeface="Courier New" pitchFamily="34" charset="-122"/>
                <a:cs typeface="Courier New" pitchFamily="34" charset="-120"/>
              </a:rPr>
              <a:t>    rp:   { id: "hemis.nuu.uz",</a:t>
            </a:r>
            <a:endParaRPr lang="en-US" sz="1300" dirty="0"/>
          </a:p>
          <a:p>
            <a:pPr indent="0" marL="0">
              <a:lnSpc>
                <a:spcPct val="105000"/>
              </a:lnSpc>
              <a:buNone/>
            </a:pPr>
            <a:r>
              <a:rPr lang="en-US" sz="1300" dirty="0">
                <a:solidFill>
                  <a:srgbClr val="FFFFFF"/>
                </a:solidFill>
                <a:latin typeface="Courier New" pitchFamily="34" charset="0"/>
                <a:ea typeface="Courier New" pitchFamily="34" charset="-122"/>
                <a:cs typeface="Courier New" pitchFamily="34" charset="-120"/>
              </a:rPr>
              <a:t>            name: "HEMIS" },</a:t>
            </a:r>
            <a:endParaRPr lang="en-US" sz="1300" dirty="0"/>
          </a:p>
          <a:p>
            <a:pPr indent="0" marL="0">
              <a:lnSpc>
                <a:spcPct val="105000"/>
              </a:lnSpc>
              <a:buNone/>
            </a:pPr>
            <a:r>
              <a:rPr lang="en-US" sz="1300" dirty="0">
                <a:solidFill>
                  <a:srgbClr val="FFFFFF"/>
                </a:solidFill>
                <a:latin typeface="Courier New" pitchFamily="34" charset="0"/>
                <a:ea typeface="Courier New" pitchFamily="34" charset="-122"/>
                <a:cs typeface="Courier New" pitchFamily="34" charset="-120"/>
              </a:rPr>
              <a:t>    user: { id: userId, name: "a.karimov",</a:t>
            </a:r>
            <a:endParaRPr lang="en-US" sz="1300" dirty="0"/>
          </a:p>
          <a:p>
            <a:pPr indent="0" marL="0">
              <a:lnSpc>
                <a:spcPct val="105000"/>
              </a:lnSpc>
              <a:buNone/>
            </a:pPr>
            <a:r>
              <a:rPr lang="en-US" sz="1300" dirty="0">
                <a:solidFill>
                  <a:srgbClr val="FFFFFF"/>
                </a:solidFill>
                <a:latin typeface="Courier New" pitchFamily="34" charset="0"/>
                <a:ea typeface="Courier New" pitchFamily="34" charset="-122"/>
                <a:cs typeface="Courier New" pitchFamily="34" charset="-120"/>
              </a:rPr>
              <a:t>            displayName: "Aziz Karimov" },</a:t>
            </a:r>
            <a:endParaRPr lang="en-US" sz="1300" dirty="0"/>
          </a:p>
          <a:p>
            <a:pPr indent="0" marL="0">
              <a:lnSpc>
                <a:spcPct val="105000"/>
              </a:lnSpc>
              <a:buNone/>
            </a:pPr>
            <a:r>
              <a:rPr lang="en-US" sz="1300" dirty="0">
                <a:solidFill>
                  <a:srgbClr val="FFFFFF"/>
                </a:solidFill>
                <a:latin typeface="Courier New" pitchFamily="34" charset="0"/>
                <a:ea typeface="Courier New" pitchFamily="34" charset="-122"/>
                <a:cs typeface="Courier New" pitchFamily="34" charset="-120"/>
              </a:rPr>
              <a:t>    pubKeyCredParams: [{ type: "public-key",</a:t>
            </a:r>
            <a:endParaRPr lang="en-US" sz="1300" dirty="0"/>
          </a:p>
          <a:p>
            <a:pPr indent="0" marL="0">
              <a:lnSpc>
                <a:spcPct val="105000"/>
              </a:lnSpc>
              <a:buNone/>
            </a:pPr>
            <a:r>
              <a:rPr lang="en-US" sz="1300" dirty="0">
                <a:solidFill>
                  <a:srgbClr val="8FD3A8"/>
                </a:solidFill>
                <a:latin typeface="Courier New" pitchFamily="34" charset="0"/>
                <a:ea typeface="Courier New" pitchFamily="34" charset="-122"/>
                <a:cs typeface="Courier New" pitchFamily="34" charset="-120"/>
              </a:rPr>
              <a:t>                         alg: -7 }],  // ES256</a:t>
            </a:r>
            <a:endParaRPr lang="en-US" sz="1300" dirty="0"/>
          </a:p>
          <a:p>
            <a:pPr indent="0" marL="0">
              <a:lnSpc>
                <a:spcPct val="105000"/>
              </a:lnSpc>
              <a:buNone/>
            </a:pPr>
            <a:r>
              <a:rPr lang="en-US" sz="1300" dirty="0">
                <a:solidFill>
                  <a:srgbClr val="FFFFFF"/>
                </a:solidFill>
                <a:latin typeface="Courier New" pitchFamily="34" charset="0"/>
                <a:ea typeface="Courier New" pitchFamily="34" charset="-122"/>
                <a:cs typeface="Courier New" pitchFamily="34" charset="-120"/>
              </a:rPr>
              <a:t>    authenticatorSelection: {</a:t>
            </a:r>
            <a:endParaRPr lang="en-US" sz="1300" dirty="0"/>
          </a:p>
          <a:p>
            <a:pPr indent="0" marL="0">
              <a:lnSpc>
                <a:spcPct val="105000"/>
              </a:lnSpc>
              <a:buNone/>
            </a:pPr>
            <a:r>
              <a:rPr lang="en-US" sz="1300" dirty="0">
                <a:solidFill>
                  <a:srgbClr val="8FD3A8"/>
                </a:solidFill>
                <a:latin typeface="Courier New" pitchFamily="34" charset="0"/>
                <a:ea typeface="Courier New" pitchFamily="34" charset="-122"/>
                <a:cs typeface="Courier New" pitchFamily="34" charset="-120"/>
              </a:rPr>
              <a:t>      residentKey: "required",      // passkey</a:t>
            </a:r>
            <a:endParaRPr lang="en-US" sz="1300" dirty="0"/>
          </a:p>
          <a:p>
            <a:pPr indent="0" marL="0">
              <a:lnSpc>
                <a:spcPct val="105000"/>
              </a:lnSpc>
              <a:buNone/>
            </a:pPr>
            <a:r>
              <a:rPr lang="en-US" sz="1300" dirty="0">
                <a:solidFill>
                  <a:srgbClr val="8FD3A8"/>
                </a:solidFill>
                <a:latin typeface="Courier New" pitchFamily="34" charset="0"/>
                <a:ea typeface="Courier New" pitchFamily="34" charset="-122"/>
                <a:cs typeface="Courier New" pitchFamily="34" charset="-120"/>
              </a:rPr>
              <a:t>      userVerification: "required"  // PIN/bio</a:t>
            </a:r>
            <a:endParaRPr lang="en-US" sz="1300" dirty="0"/>
          </a:p>
          <a:p>
            <a:pPr indent="0" marL="0">
              <a:lnSpc>
                <a:spcPct val="105000"/>
              </a:lnSpc>
              <a:buNone/>
            </a:pPr>
            <a:r>
              <a:rPr lang="en-US" sz="1300" dirty="0">
                <a:solidFill>
                  <a:srgbClr val="FFFFFF"/>
                </a:solidFill>
                <a:latin typeface="Courier New" pitchFamily="34" charset="0"/>
                <a:ea typeface="Courier New" pitchFamily="34" charset="-122"/>
                <a:cs typeface="Courier New" pitchFamily="34" charset="-120"/>
              </a:rPr>
              <a:t>    }</a:t>
            </a:r>
            <a:endParaRPr lang="en-US" sz="1300" dirty="0"/>
          </a:p>
          <a:p>
            <a:pPr indent="0" marL="0">
              <a:lnSpc>
                <a:spcPct val="105000"/>
              </a:lnSpc>
              <a:buNone/>
            </a:pPr>
            <a:r>
              <a:rPr lang="en-US" sz="1300" dirty="0">
                <a:solidFill>
                  <a:srgbClr val="FFFFFF"/>
                </a:solidFill>
                <a:latin typeface="Courier New" pitchFamily="34" charset="0"/>
                <a:ea typeface="Courier New" pitchFamily="34" charset="-122"/>
                <a:cs typeface="Courier New" pitchFamily="34" charset="-120"/>
              </a:rPr>
              <a:t>  }</a:t>
            </a:r>
            <a:endParaRPr lang="en-US" sz="1300" dirty="0"/>
          </a:p>
          <a:p>
            <a:pPr indent="0" marL="0">
              <a:lnSpc>
                <a:spcPct val="105000"/>
              </a:lnSpc>
              <a:buNone/>
            </a:pPr>
            <a:r>
              <a:rPr lang="en-US" sz="1300" b="1" dirty="0">
                <a:solidFill>
                  <a:srgbClr val="F2B544"/>
                </a:solidFill>
                <a:latin typeface="Courier New" pitchFamily="34" charset="0"/>
                <a:ea typeface="Courier New" pitchFamily="34" charset="-122"/>
                <a:cs typeface="Courier New" pitchFamily="34" charset="-120"/>
              </a:rPr>
              <a:t>});</a:t>
            </a:r>
            <a:endParaRPr lang="en-US" sz="1300" dirty="0"/>
          </a:p>
        </p:txBody>
      </p:sp>
      <p:sp>
        <p:nvSpPr>
          <p:cNvPr id="31" name="Text 29"/>
          <p:cNvSpPr txBox="1"/>
          <p:nvPr/>
        </p:nvSpPr>
        <p:spPr>
          <a:xfrm>
            <a:off x="548640" y="6172200"/>
            <a:ext cx="11064240" cy="320040"/>
          </a:xfrm>
          <a:prstGeom prst="rect">
            <a:avLst/>
          </a:prstGeom>
          <a:noFill/>
          <a:ln/>
        </p:spPr>
        <p:txBody>
          <a:bodyPr wrap="square" lIns="0" tIns="0" rIns="0" bIns="0" rtlCol="0" anchor="t"/>
          <a:lstStyle/>
          <a:p>
            <a:pPr algn="ctr" indent="0" marL="0">
              <a:lnSpc>
                <a:spcPct val="100000"/>
              </a:lnSpc>
              <a:buNone/>
            </a:pPr>
            <a:r>
              <a:rPr lang="en-US" sz="1500" dirty="0">
                <a:solidFill>
                  <a:srgbClr val="1E2761"/>
                </a:solidFill>
                <a:latin typeface="Times New Roman" pitchFamily="34" charset="0"/>
                <a:ea typeface="Times New Roman" pitchFamily="34" charset="-122"/>
                <a:cs typeface="Times New Roman" pitchFamily="34" charset="-120"/>
              </a:rPr>
              <a:t>Har bir sayt uchun alohida kalitlar juftligi — saytlar foydalanuvchini o'zaro kuzata olmaydi.</a:t>
            </a:r>
            <a:endParaRPr lang="en-US" sz="1500" dirty="0"/>
          </a:p>
        </p:txBody>
      </p:sp>
      <p:sp>
        <p:nvSpPr>
          <p:cNvPr id="32" name="Text 30"/>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5-ma'ruza</a:t>
            </a:r>
            <a:endParaRPr lang="en-US" sz="1100" dirty="0"/>
          </a:p>
        </p:txBody>
      </p:sp>
      <p:sp>
        <p:nvSpPr>
          <p:cNvPr id="33" name="Text 31"/>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 · KIRISH</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Imzo qanday tekshiriladi?</a:t>
            </a:r>
            <a:endParaRPr lang="en-US" sz="3600" dirty="0"/>
          </a:p>
        </p:txBody>
      </p:sp>
      <p:sp>
        <p:nvSpPr>
          <p:cNvPr id="4" name="Shape 2"/>
          <p:cNvSpPr/>
          <p:nvPr/>
        </p:nvSpPr>
        <p:spPr>
          <a:xfrm>
            <a:off x="548640" y="1783080"/>
            <a:ext cx="2514600" cy="1143000"/>
          </a:xfrm>
          <a:prstGeom prst="roundRect">
            <a:avLst>
              <a:gd name="adj" fmla="val 7200"/>
            </a:avLst>
          </a:prstGeom>
          <a:solidFill>
            <a:srgbClr val="1E2761"/>
          </a:solidFill>
          <a:ln/>
        </p:spPr>
      </p:sp>
      <p:sp>
        <p:nvSpPr>
          <p:cNvPr id="5" name="Text 3"/>
          <p:cNvSpPr txBox="1"/>
          <p:nvPr/>
        </p:nvSpPr>
        <p:spPr>
          <a:xfrm>
            <a:off x="548640" y="1828800"/>
            <a:ext cx="2514600" cy="45720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Server</a:t>
            </a:r>
            <a:endParaRPr lang="en-US" sz="1800" dirty="0"/>
          </a:p>
        </p:txBody>
      </p:sp>
      <p:sp>
        <p:nvSpPr>
          <p:cNvPr id="6" name="Text 4"/>
          <p:cNvSpPr txBox="1"/>
          <p:nvPr/>
        </p:nvSpPr>
        <p:spPr>
          <a:xfrm>
            <a:off x="640080" y="2286000"/>
            <a:ext cx="2331720" cy="548640"/>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yangi tasodifiy challenge</a:t>
            </a:r>
            <a:endParaRPr lang="en-US" sz="1400" dirty="0"/>
          </a:p>
        </p:txBody>
      </p:sp>
      <p:sp>
        <p:nvSpPr>
          <p:cNvPr id="7" name="Shape 5"/>
          <p:cNvSpPr/>
          <p:nvPr/>
        </p:nvSpPr>
        <p:spPr>
          <a:xfrm>
            <a:off x="3090672" y="2354580"/>
            <a:ext cx="265176" cy="0"/>
          </a:xfrm>
          <a:prstGeom prst="line">
            <a:avLst/>
          </a:prstGeom>
          <a:noFill/>
          <a:ln w="28575">
            <a:solidFill>
              <a:srgbClr val="1E2761"/>
            </a:solidFill>
            <a:prstDash val="solid"/>
            <a:tailEnd type="triangle"/>
          </a:ln>
        </p:spPr>
      </p:sp>
      <p:sp>
        <p:nvSpPr>
          <p:cNvPr id="8" name="Shape 6"/>
          <p:cNvSpPr/>
          <p:nvPr/>
        </p:nvSpPr>
        <p:spPr>
          <a:xfrm>
            <a:off x="3383280" y="1783080"/>
            <a:ext cx="2514600" cy="1143000"/>
          </a:xfrm>
          <a:prstGeom prst="roundRect">
            <a:avLst>
              <a:gd name="adj" fmla="val 7200"/>
            </a:avLst>
          </a:prstGeom>
          <a:solidFill>
            <a:srgbClr val="2A3778"/>
          </a:solidFill>
          <a:ln/>
        </p:spPr>
      </p:sp>
      <p:sp>
        <p:nvSpPr>
          <p:cNvPr id="9" name="Text 7"/>
          <p:cNvSpPr txBox="1"/>
          <p:nvPr/>
        </p:nvSpPr>
        <p:spPr>
          <a:xfrm>
            <a:off x="3383280" y="1828800"/>
            <a:ext cx="2514600" cy="45720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Brauzer</a:t>
            </a:r>
            <a:endParaRPr lang="en-US" sz="1800" dirty="0"/>
          </a:p>
        </p:txBody>
      </p:sp>
      <p:sp>
        <p:nvSpPr>
          <p:cNvPr id="10" name="Text 8"/>
          <p:cNvSpPr txBox="1"/>
          <p:nvPr/>
        </p:nvSpPr>
        <p:spPr>
          <a:xfrm>
            <a:off x="3474720" y="2286000"/>
            <a:ext cx="2331720" cy="548640"/>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origin + challenge → clientData</a:t>
            </a:r>
            <a:endParaRPr lang="en-US" sz="1400" dirty="0"/>
          </a:p>
        </p:txBody>
      </p:sp>
      <p:sp>
        <p:nvSpPr>
          <p:cNvPr id="11" name="Shape 9"/>
          <p:cNvSpPr/>
          <p:nvPr/>
        </p:nvSpPr>
        <p:spPr>
          <a:xfrm>
            <a:off x="5925312" y="2354580"/>
            <a:ext cx="265176" cy="0"/>
          </a:xfrm>
          <a:prstGeom prst="line">
            <a:avLst/>
          </a:prstGeom>
          <a:noFill/>
          <a:ln w="28575">
            <a:solidFill>
              <a:srgbClr val="1E2761"/>
            </a:solidFill>
            <a:prstDash val="solid"/>
            <a:tailEnd type="triangle"/>
          </a:ln>
        </p:spPr>
      </p:sp>
      <p:sp>
        <p:nvSpPr>
          <p:cNvPr id="12" name="Shape 10"/>
          <p:cNvSpPr/>
          <p:nvPr/>
        </p:nvSpPr>
        <p:spPr>
          <a:xfrm>
            <a:off x="6217920" y="1783080"/>
            <a:ext cx="2514600" cy="1143000"/>
          </a:xfrm>
          <a:prstGeom prst="roundRect">
            <a:avLst>
              <a:gd name="adj" fmla="val 7200"/>
            </a:avLst>
          </a:prstGeom>
          <a:solidFill>
            <a:srgbClr val="1F6B4A"/>
          </a:solidFill>
          <a:ln/>
        </p:spPr>
      </p:sp>
      <p:sp>
        <p:nvSpPr>
          <p:cNvPr id="13" name="Text 11"/>
          <p:cNvSpPr txBox="1"/>
          <p:nvPr/>
        </p:nvSpPr>
        <p:spPr>
          <a:xfrm>
            <a:off x="6217920" y="1828800"/>
            <a:ext cx="2514600" cy="45720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Autentifikator</a:t>
            </a:r>
            <a:endParaRPr lang="en-US" sz="1800" dirty="0"/>
          </a:p>
        </p:txBody>
      </p:sp>
      <p:sp>
        <p:nvSpPr>
          <p:cNvPr id="14" name="Text 12"/>
          <p:cNvSpPr txBox="1"/>
          <p:nvPr/>
        </p:nvSpPr>
        <p:spPr>
          <a:xfrm>
            <a:off x="6309360" y="2286000"/>
            <a:ext cx="2331720" cy="548640"/>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PIN/bio → yopiq kalit bilan imzo</a:t>
            </a:r>
            <a:endParaRPr lang="en-US" sz="1400" dirty="0"/>
          </a:p>
        </p:txBody>
      </p:sp>
      <p:sp>
        <p:nvSpPr>
          <p:cNvPr id="15" name="Shape 13"/>
          <p:cNvSpPr/>
          <p:nvPr/>
        </p:nvSpPr>
        <p:spPr>
          <a:xfrm>
            <a:off x="8759952" y="2354580"/>
            <a:ext cx="265176" cy="0"/>
          </a:xfrm>
          <a:prstGeom prst="line">
            <a:avLst/>
          </a:prstGeom>
          <a:noFill/>
          <a:ln w="28575">
            <a:solidFill>
              <a:srgbClr val="1E2761"/>
            </a:solidFill>
            <a:prstDash val="solid"/>
            <a:tailEnd type="triangle"/>
          </a:ln>
        </p:spPr>
      </p:sp>
      <p:sp>
        <p:nvSpPr>
          <p:cNvPr id="16" name="Shape 14"/>
          <p:cNvSpPr/>
          <p:nvPr/>
        </p:nvSpPr>
        <p:spPr>
          <a:xfrm>
            <a:off x="9052560" y="1783080"/>
            <a:ext cx="2514600" cy="1143000"/>
          </a:xfrm>
          <a:prstGeom prst="roundRect">
            <a:avLst>
              <a:gd name="adj" fmla="val 7200"/>
            </a:avLst>
          </a:prstGeom>
          <a:solidFill>
            <a:srgbClr val="1E2761"/>
          </a:solidFill>
          <a:ln/>
        </p:spPr>
      </p:sp>
      <p:sp>
        <p:nvSpPr>
          <p:cNvPr id="17" name="Text 15"/>
          <p:cNvSpPr txBox="1"/>
          <p:nvPr/>
        </p:nvSpPr>
        <p:spPr>
          <a:xfrm>
            <a:off x="9052560" y="1828800"/>
            <a:ext cx="2514600" cy="45720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Server</a:t>
            </a:r>
            <a:endParaRPr lang="en-US" sz="1800" dirty="0"/>
          </a:p>
        </p:txBody>
      </p:sp>
      <p:sp>
        <p:nvSpPr>
          <p:cNvPr id="18" name="Text 16"/>
          <p:cNvSpPr txBox="1"/>
          <p:nvPr/>
        </p:nvSpPr>
        <p:spPr>
          <a:xfrm>
            <a:off x="9144000" y="2286000"/>
            <a:ext cx="2331720" cy="548640"/>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ochiq kalit bilan tekshiradi</a:t>
            </a:r>
            <a:endParaRPr lang="en-US" sz="1400" dirty="0"/>
          </a:p>
        </p:txBody>
      </p:sp>
      <p:sp>
        <p:nvSpPr>
          <p:cNvPr id="19" name="Shape 17"/>
          <p:cNvSpPr/>
          <p:nvPr/>
        </p:nvSpPr>
        <p:spPr>
          <a:xfrm>
            <a:off x="548640" y="3154680"/>
            <a:ext cx="5760720" cy="3063240"/>
          </a:xfrm>
          <a:prstGeom prst="roundRect">
            <a:avLst>
              <a:gd name="adj" fmla="val 2687"/>
            </a:avLst>
          </a:prstGeom>
          <a:solidFill>
            <a:srgbClr val="EEF2FB"/>
          </a:solidFill>
          <a:ln/>
        </p:spPr>
      </p:sp>
      <p:sp>
        <p:nvSpPr>
          <p:cNvPr id="20" name="Text 18"/>
          <p:cNvSpPr txBox="1"/>
          <p:nvPr/>
        </p:nvSpPr>
        <p:spPr>
          <a:xfrm>
            <a:off x="777240" y="3246120"/>
            <a:ext cx="5303520" cy="411480"/>
          </a:xfrm>
          <a:prstGeom prst="rect">
            <a:avLst/>
          </a:prstGeom>
          <a:noFill/>
          <a:ln/>
        </p:spPr>
        <p:txBody>
          <a:bodyPr wrap="square" lIns="0" tIns="0" rIns="0" bIns="0" rtlCol="0" anchor="t"/>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Server nimalarni tekshiradi</a:t>
            </a:r>
            <a:endParaRPr lang="en-US" sz="2000" dirty="0"/>
          </a:p>
        </p:txBody>
      </p:sp>
      <p:sp>
        <p:nvSpPr>
          <p:cNvPr id="21" name="Text 19"/>
          <p:cNvSpPr txBox="1"/>
          <p:nvPr/>
        </p:nvSpPr>
        <p:spPr>
          <a:xfrm>
            <a:off x="777240" y="3749040"/>
            <a:ext cx="320040" cy="438912"/>
          </a:xfrm>
          <a:prstGeom prst="rect">
            <a:avLst/>
          </a:prstGeom>
          <a:noFill/>
          <a:ln/>
        </p:spPr>
        <p:txBody>
          <a:bodyPr wrap="square" lIns="0" tIns="0" rIns="0" bIns="0" rtlCol="0" anchor="ctr"/>
          <a:lstStyle/>
          <a:p>
            <a:pPr algn="l" indent="0" marL="0">
              <a:lnSpc>
                <a:spcPct val="100000"/>
              </a:lnSpc>
              <a:buNone/>
            </a:pPr>
            <a:r>
              <a:rPr lang="en-US" sz="1800" b="1" dirty="0">
                <a:solidFill>
                  <a:srgbClr val="1F6B4A"/>
                </a:solidFill>
                <a:latin typeface="Times New Roman" pitchFamily="34" charset="0"/>
                <a:ea typeface="Times New Roman" pitchFamily="34" charset="-122"/>
                <a:cs typeface="Times New Roman" pitchFamily="34" charset="-120"/>
              </a:rPr>
              <a:t>✓</a:t>
            </a:r>
            <a:endParaRPr lang="en-US" sz="1800" dirty="0"/>
          </a:p>
        </p:txBody>
      </p:sp>
      <p:sp>
        <p:nvSpPr>
          <p:cNvPr id="22" name="Text 20"/>
          <p:cNvSpPr txBox="1"/>
          <p:nvPr/>
        </p:nvSpPr>
        <p:spPr>
          <a:xfrm>
            <a:off x="1097280" y="3749040"/>
            <a:ext cx="1645920" cy="438912"/>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Courier New" pitchFamily="34" charset="0"/>
                <a:ea typeface="Courier New" pitchFamily="34" charset="-122"/>
                <a:cs typeface="Courier New" pitchFamily="34" charset="-120"/>
              </a:rPr>
              <a:t>challenge</a:t>
            </a:r>
            <a:endParaRPr lang="en-US" sz="1500" dirty="0"/>
          </a:p>
        </p:txBody>
      </p:sp>
      <p:sp>
        <p:nvSpPr>
          <p:cNvPr id="23" name="Text 21"/>
          <p:cNvSpPr txBox="1"/>
          <p:nvPr/>
        </p:nvSpPr>
        <p:spPr>
          <a:xfrm>
            <a:off x="2743200" y="3749040"/>
            <a:ext cx="3474720" cy="438912"/>
          </a:xfrm>
          <a:prstGeom prst="rect">
            <a:avLst/>
          </a:prstGeom>
          <a:noFill/>
          <a:ln/>
        </p:spPr>
        <p:txBody>
          <a:bodyPr wrap="square" lIns="0" tIns="0" rIns="0" bIns="0" rtlCol="0" anchor="ctr"/>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o'zi yuborgan qiymat bilan mos</a:t>
            </a:r>
            <a:endParaRPr lang="en-US" sz="1600" dirty="0"/>
          </a:p>
        </p:txBody>
      </p:sp>
      <p:sp>
        <p:nvSpPr>
          <p:cNvPr id="24" name="Text 22"/>
          <p:cNvSpPr txBox="1"/>
          <p:nvPr/>
        </p:nvSpPr>
        <p:spPr>
          <a:xfrm>
            <a:off x="777240" y="4224528"/>
            <a:ext cx="320040" cy="438912"/>
          </a:xfrm>
          <a:prstGeom prst="rect">
            <a:avLst/>
          </a:prstGeom>
          <a:noFill/>
          <a:ln/>
        </p:spPr>
        <p:txBody>
          <a:bodyPr wrap="square" lIns="0" tIns="0" rIns="0" bIns="0" rtlCol="0" anchor="ctr"/>
          <a:lstStyle/>
          <a:p>
            <a:pPr algn="l" indent="0" marL="0">
              <a:lnSpc>
                <a:spcPct val="100000"/>
              </a:lnSpc>
              <a:buNone/>
            </a:pPr>
            <a:r>
              <a:rPr lang="en-US" sz="1800" b="1" dirty="0">
                <a:solidFill>
                  <a:srgbClr val="1F6B4A"/>
                </a:solidFill>
                <a:latin typeface="Times New Roman" pitchFamily="34" charset="0"/>
                <a:ea typeface="Times New Roman" pitchFamily="34" charset="-122"/>
                <a:cs typeface="Times New Roman" pitchFamily="34" charset="-120"/>
              </a:rPr>
              <a:t>✓</a:t>
            </a:r>
            <a:endParaRPr lang="en-US" sz="1800" dirty="0"/>
          </a:p>
        </p:txBody>
      </p:sp>
      <p:sp>
        <p:nvSpPr>
          <p:cNvPr id="25" name="Text 23"/>
          <p:cNvSpPr txBox="1"/>
          <p:nvPr/>
        </p:nvSpPr>
        <p:spPr>
          <a:xfrm>
            <a:off x="1097280" y="4224528"/>
            <a:ext cx="1645920" cy="438912"/>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Courier New" pitchFamily="34" charset="0"/>
                <a:ea typeface="Courier New" pitchFamily="34" charset="-122"/>
                <a:cs typeface="Courier New" pitchFamily="34" charset="-120"/>
              </a:rPr>
              <a:t>origin</a:t>
            </a:r>
            <a:endParaRPr lang="en-US" sz="1500" dirty="0"/>
          </a:p>
        </p:txBody>
      </p:sp>
      <p:sp>
        <p:nvSpPr>
          <p:cNvPr id="26" name="Text 24"/>
          <p:cNvSpPr txBox="1"/>
          <p:nvPr/>
        </p:nvSpPr>
        <p:spPr>
          <a:xfrm>
            <a:off x="2743200" y="4224528"/>
            <a:ext cx="3474720" cy="438912"/>
          </a:xfrm>
          <a:prstGeom prst="rect">
            <a:avLst/>
          </a:prstGeom>
          <a:noFill/>
          <a:ln/>
        </p:spPr>
        <p:txBody>
          <a:bodyPr wrap="square" lIns="0" tIns="0" rIns="0" bIns="0" rtlCol="0" anchor="ctr"/>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aynan https://hemis.nuu.uz</a:t>
            </a:r>
            <a:endParaRPr lang="en-US" sz="1600" dirty="0"/>
          </a:p>
        </p:txBody>
      </p:sp>
      <p:sp>
        <p:nvSpPr>
          <p:cNvPr id="27" name="Text 25"/>
          <p:cNvSpPr txBox="1"/>
          <p:nvPr/>
        </p:nvSpPr>
        <p:spPr>
          <a:xfrm>
            <a:off x="777240" y="4700016"/>
            <a:ext cx="320040" cy="438912"/>
          </a:xfrm>
          <a:prstGeom prst="rect">
            <a:avLst/>
          </a:prstGeom>
          <a:noFill/>
          <a:ln/>
        </p:spPr>
        <p:txBody>
          <a:bodyPr wrap="square" lIns="0" tIns="0" rIns="0" bIns="0" rtlCol="0" anchor="ctr"/>
          <a:lstStyle/>
          <a:p>
            <a:pPr algn="l" indent="0" marL="0">
              <a:lnSpc>
                <a:spcPct val="100000"/>
              </a:lnSpc>
              <a:buNone/>
            </a:pPr>
            <a:r>
              <a:rPr lang="en-US" sz="1800" b="1" dirty="0">
                <a:solidFill>
                  <a:srgbClr val="1F6B4A"/>
                </a:solidFill>
                <a:latin typeface="Times New Roman" pitchFamily="34" charset="0"/>
                <a:ea typeface="Times New Roman" pitchFamily="34" charset="-122"/>
                <a:cs typeface="Times New Roman" pitchFamily="34" charset="-120"/>
              </a:rPr>
              <a:t>✓</a:t>
            </a:r>
            <a:endParaRPr lang="en-US" sz="1800" dirty="0"/>
          </a:p>
        </p:txBody>
      </p:sp>
      <p:sp>
        <p:nvSpPr>
          <p:cNvPr id="28" name="Text 26"/>
          <p:cNvSpPr txBox="1"/>
          <p:nvPr/>
        </p:nvSpPr>
        <p:spPr>
          <a:xfrm>
            <a:off x="1097280" y="4700016"/>
            <a:ext cx="1645920" cy="438912"/>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Courier New" pitchFamily="34" charset="0"/>
                <a:ea typeface="Courier New" pitchFamily="34" charset="-122"/>
                <a:cs typeface="Courier New" pitchFamily="34" charset="-120"/>
              </a:rPr>
              <a:t>rpIdHash</a:t>
            </a:r>
            <a:endParaRPr lang="en-US" sz="1500" dirty="0"/>
          </a:p>
        </p:txBody>
      </p:sp>
      <p:sp>
        <p:nvSpPr>
          <p:cNvPr id="29" name="Text 27"/>
          <p:cNvSpPr txBox="1"/>
          <p:nvPr/>
        </p:nvSpPr>
        <p:spPr>
          <a:xfrm>
            <a:off x="2743200" y="4700016"/>
            <a:ext cx="3474720" cy="438912"/>
          </a:xfrm>
          <a:prstGeom prst="rect">
            <a:avLst/>
          </a:prstGeom>
          <a:noFill/>
          <a:ln/>
        </p:spPr>
        <p:txBody>
          <a:bodyPr wrap="square" lIns="0" tIns="0" rIns="0" bIns="0" rtlCol="0" anchor="ctr"/>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SHA-256(«hemis.nuu.uz»)</a:t>
            </a:r>
            <a:endParaRPr lang="en-US" sz="1600" dirty="0"/>
          </a:p>
        </p:txBody>
      </p:sp>
      <p:sp>
        <p:nvSpPr>
          <p:cNvPr id="30" name="Text 28"/>
          <p:cNvSpPr txBox="1"/>
          <p:nvPr/>
        </p:nvSpPr>
        <p:spPr>
          <a:xfrm>
            <a:off x="777240" y="5175504"/>
            <a:ext cx="320040" cy="438912"/>
          </a:xfrm>
          <a:prstGeom prst="rect">
            <a:avLst/>
          </a:prstGeom>
          <a:noFill/>
          <a:ln/>
        </p:spPr>
        <p:txBody>
          <a:bodyPr wrap="square" lIns="0" tIns="0" rIns="0" bIns="0" rtlCol="0" anchor="ctr"/>
          <a:lstStyle/>
          <a:p>
            <a:pPr algn="l" indent="0" marL="0">
              <a:lnSpc>
                <a:spcPct val="100000"/>
              </a:lnSpc>
              <a:buNone/>
            </a:pPr>
            <a:r>
              <a:rPr lang="en-US" sz="1800" b="1" dirty="0">
                <a:solidFill>
                  <a:srgbClr val="1F6B4A"/>
                </a:solidFill>
                <a:latin typeface="Times New Roman" pitchFamily="34" charset="0"/>
                <a:ea typeface="Times New Roman" pitchFamily="34" charset="-122"/>
                <a:cs typeface="Times New Roman" pitchFamily="34" charset="-120"/>
              </a:rPr>
              <a:t>✓</a:t>
            </a:r>
            <a:endParaRPr lang="en-US" sz="1800" dirty="0"/>
          </a:p>
        </p:txBody>
      </p:sp>
      <p:sp>
        <p:nvSpPr>
          <p:cNvPr id="31" name="Text 29"/>
          <p:cNvSpPr txBox="1"/>
          <p:nvPr/>
        </p:nvSpPr>
        <p:spPr>
          <a:xfrm>
            <a:off x="1097280" y="5175504"/>
            <a:ext cx="1645920" cy="438912"/>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Courier New" pitchFamily="34" charset="0"/>
                <a:ea typeface="Courier New" pitchFamily="34" charset="-122"/>
                <a:cs typeface="Courier New" pitchFamily="34" charset="-120"/>
              </a:rPr>
              <a:t>UV bayrog'i</a:t>
            </a:r>
            <a:endParaRPr lang="en-US" sz="1500" dirty="0"/>
          </a:p>
        </p:txBody>
      </p:sp>
      <p:sp>
        <p:nvSpPr>
          <p:cNvPr id="32" name="Text 30"/>
          <p:cNvSpPr txBox="1"/>
          <p:nvPr/>
        </p:nvSpPr>
        <p:spPr>
          <a:xfrm>
            <a:off x="2743200" y="5175504"/>
            <a:ext cx="3474720" cy="438912"/>
          </a:xfrm>
          <a:prstGeom prst="rect">
            <a:avLst/>
          </a:prstGeom>
          <a:noFill/>
          <a:ln/>
        </p:spPr>
        <p:txBody>
          <a:bodyPr wrap="square" lIns="0" tIns="0" rIns="0" bIns="0" rtlCol="0" anchor="ctr"/>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foydalanuvchi PIN/bio bilan tekshirilgan</a:t>
            </a:r>
            <a:endParaRPr lang="en-US" sz="1600" dirty="0"/>
          </a:p>
        </p:txBody>
      </p:sp>
      <p:sp>
        <p:nvSpPr>
          <p:cNvPr id="33" name="Text 31"/>
          <p:cNvSpPr txBox="1"/>
          <p:nvPr/>
        </p:nvSpPr>
        <p:spPr>
          <a:xfrm>
            <a:off x="777240" y="5650992"/>
            <a:ext cx="320040" cy="438912"/>
          </a:xfrm>
          <a:prstGeom prst="rect">
            <a:avLst/>
          </a:prstGeom>
          <a:noFill/>
          <a:ln/>
        </p:spPr>
        <p:txBody>
          <a:bodyPr wrap="square" lIns="0" tIns="0" rIns="0" bIns="0" rtlCol="0" anchor="ctr"/>
          <a:lstStyle/>
          <a:p>
            <a:pPr algn="l" indent="0" marL="0">
              <a:lnSpc>
                <a:spcPct val="100000"/>
              </a:lnSpc>
              <a:buNone/>
            </a:pPr>
            <a:r>
              <a:rPr lang="en-US" sz="1800" b="1" dirty="0">
                <a:solidFill>
                  <a:srgbClr val="1F6B4A"/>
                </a:solidFill>
                <a:latin typeface="Times New Roman" pitchFamily="34" charset="0"/>
                <a:ea typeface="Times New Roman" pitchFamily="34" charset="-122"/>
                <a:cs typeface="Times New Roman" pitchFamily="34" charset="-120"/>
              </a:rPr>
              <a:t>✓</a:t>
            </a:r>
            <a:endParaRPr lang="en-US" sz="1800" dirty="0"/>
          </a:p>
        </p:txBody>
      </p:sp>
      <p:sp>
        <p:nvSpPr>
          <p:cNvPr id="34" name="Text 32"/>
          <p:cNvSpPr txBox="1"/>
          <p:nvPr/>
        </p:nvSpPr>
        <p:spPr>
          <a:xfrm>
            <a:off x="1097280" y="5650992"/>
            <a:ext cx="1645920" cy="438912"/>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Courier New" pitchFamily="34" charset="0"/>
                <a:ea typeface="Courier New" pitchFamily="34" charset="-122"/>
                <a:cs typeface="Courier New" pitchFamily="34" charset="-120"/>
              </a:rPr>
              <a:t>imzo</a:t>
            </a:r>
            <a:endParaRPr lang="en-US" sz="1500" dirty="0"/>
          </a:p>
        </p:txBody>
      </p:sp>
      <p:sp>
        <p:nvSpPr>
          <p:cNvPr id="35" name="Text 33"/>
          <p:cNvSpPr txBox="1"/>
          <p:nvPr/>
        </p:nvSpPr>
        <p:spPr>
          <a:xfrm>
            <a:off x="2743200" y="5650992"/>
            <a:ext cx="3474720" cy="438912"/>
          </a:xfrm>
          <a:prstGeom prst="rect">
            <a:avLst/>
          </a:prstGeom>
          <a:noFill/>
          <a:ln/>
        </p:spPr>
        <p:txBody>
          <a:bodyPr wrap="square" lIns="0" tIns="0" rIns="0" bIns="0" rtlCol="0" anchor="ctr"/>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saqlangan ochiq kalit bilan to'g'ri</a:t>
            </a:r>
            <a:endParaRPr lang="en-US" sz="1600" dirty="0"/>
          </a:p>
        </p:txBody>
      </p:sp>
      <p:sp>
        <p:nvSpPr>
          <p:cNvPr id="36" name="Shape 34"/>
          <p:cNvSpPr/>
          <p:nvPr/>
        </p:nvSpPr>
        <p:spPr>
          <a:xfrm>
            <a:off x="6492240" y="3154680"/>
            <a:ext cx="5120640" cy="3063240"/>
          </a:xfrm>
          <a:prstGeom prst="roundRect">
            <a:avLst>
              <a:gd name="adj" fmla="val 2687"/>
            </a:avLst>
          </a:prstGeom>
          <a:solidFill>
            <a:srgbClr val="162048"/>
          </a:solidFill>
          <a:ln/>
        </p:spPr>
      </p:sp>
      <p:sp>
        <p:nvSpPr>
          <p:cNvPr id="37" name="Text 35"/>
          <p:cNvSpPr txBox="1"/>
          <p:nvPr/>
        </p:nvSpPr>
        <p:spPr>
          <a:xfrm>
            <a:off x="6720840" y="3337560"/>
            <a:ext cx="4663440" cy="2697480"/>
          </a:xfrm>
          <a:prstGeom prst="rect">
            <a:avLst/>
          </a:prstGeom>
          <a:noFill/>
          <a:ln/>
        </p:spPr>
        <p:txBody>
          <a:bodyPr wrap="square" lIns="0" tIns="0" rIns="0" bIns="0" rtlCol="0" anchor="t"/>
          <a:lstStyle/>
          <a:p>
            <a:pPr indent="0" marL="0">
              <a:lnSpc>
                <a:spcPct val="105000"/>
              </a:lnSpc>
              <a:buNone/>
            </a:pPr>
            <a:r>
              <a:rPr lang="en-US" sz="1300" b="1" dirty="0">
                <a:solidFill>
                  <a:srgbClr val="F2B544"/>
                </a:solidFill>
                <a:latin typeface="Courier New" pitchFamily="34" charset="0"/>
                <a:ea typeface="Courier New" pitchFamily="34" charset="-122"/>
                <a:cs typeface="Courier New" pitchFamily="34" charset="-120"/>
              </a:rPr>
              <a:t>navigator.credentials.get({</a:t>
            </a:r>
            <a:endParaRPr lang="en-US" sz="1300" dirty="0"/>
          </a:p>
          <a:p>
            <a:pPr indent="0" marL="0">
              <a:lnSpc>
                <a:spcPct val="105000"/>
              </a:lnSpc>
              <a:buNone/>
            </a:pPr>
            <a:r>
              <a:rPr lang="en-US" sz="1300" dirty="0">
                <a:solidFill>
                  <a:srgbClr val="FFFFFF"/>
                </a:solidFill>
                <a:latin typeface="Courier New" pitchFamily="34" charset="0"/>
                <a:ea typeface="Courier New" pitchFamily="34" charset="-122"/>
                <a:cs typeface="Courier New" pitchFamily="34" charset="-120"/>
              </a:rPr>
              <a:t>  publicKey: {</a:t>
            </a:r>
            <a:endParaRPr lang="en-US" sz="1300" dirty="0"/>
          </a:p>
          <a:p>
            <a:pPr indent="0" marL="0">
              <a:lnSpc>
                <a:spcPct val="105000"/>
              </a:lnSpc>
              <a:buNone/>
            </a:pPr>
            <a:r>
              <a:rPr lang="en-US" sz="1300" dirty="0">
                <a:solidFill>
                  <a:srgbClr val="FFFFFF"/>
                </a:solidFill>
                <a:latin typeface="Courier New" pitchFamily="34" charset="0"/>
                <a:ea typeface="Courier New" pitchFamily="34" charset="-122"/>
                <a:cs typeface="Courier New" pitchFamily="34" charset="-120"/>
              </a:rPr>
              <a:t>    challenge: yangiTasodifiyQiymat,</a:t>
            </a:r>
            <a:endParaRPr lang="en-US" sz="1300" dirty="0"/>
          </a:p>
          <a:p>
            <a:pPr indent="0" marL="0">
              <a:lnSpc>
                <a:spcPct val="105000"/>
              </a:lnSpc>
              <a:buNone/>
            </a:pPr>
            <a:r>
              <a:rPr lang="en-US" sz="1300" dirty="0">
                <a:solidFill>
                  <a:srgbClr val="FFFFFF"/>
                </a:solidFill>
                <a:latin typeface="Courier New" pitchFamily="34" charset="0"/>
                <a:ea typeface="Courier New" pitchFamily="34" charset="-122"/>
                <a:cs typeface="Courier New" pitchFamily="34" charset="-120"/>
              </a:rPr>
              <a:t>    rpId: "hemis.nuu.uz",</a:t>
            </a:r>
            <a:endParaRPr lang="en-US" sz="1300" dirty="0"/>
          </a:p>
          <a:p>
            <a:pPr indent="0" marL="0">
              <a:lnSpc>
                <a:spcPct val="105000"/>
              </a:lnSpc>
              <a:buNone/>
            </a:pPr>
            <a:r>
              <a:rPr lang="en-US" sz="1300" dirty="0">
                <a:solidFill>
                  <a:srgbClr val="FFFFFF"/>
                </a:solidFill>
                <a:latin typeface="Courier New" pitchFamily="34" charset="0"/>
                <a:ea typeface="Courier New" pitchFamily="34" charset="-122"/>
                <a:cs typeface="Courier New" pitchFamily="34" charset="-120"/>
              </a:rPr>
              <a:t>    userVerification: "required"</a:t>
            </a:r>
            <a:endParaRPr lang="en-US" sz="1300" dirty="0"/>
          </a:p>
          <a:p>
            <a:pPr indent="0" marL="0">
              <a:lnSpc>
                <a:spcPct val="105000"/>
              </a:lnSpc>
              <a:buNone/>
            </a:pPr>
            <a:r>
              <a:rPr lang="en-US" sz="1300" dirty="0">
                <a:solidFill>
                  <a:srgbClr val="FFFFFF"/>
                </a:solidFill>
                <a:latin typeface="Courier New" pitchFamily="34" charset="0"/>
                <a:ea typeface="Courier New" pitchFamily="34" charset="-122"/>
                <a:cs typeface="Courier New" pitchFamily="34" charset="-120"/>
              </a:rPr>
              <a:t>  }</a:t>
            </a:r>
            <a:endParaRPr lang="en-US" sz="1300" dirty="0"/>
          </a:p>
          <a:p>
            <a:pPr indent="0" marL="0">
              <a:lnSpc>
                <a:spcPct val="105000"/>
              </a:lnSpc>
              <a:buNone/>
            </a:pPr>
            <a:r>
              <a:rPr lang="en-US" sz="1300" b="1" dirty="0">
                <a:solidFill>
                  <a:srgbClr val="F2B544"/>
                </a:solidFill>
                <a:latin typeface="Courier New" pitchFamily="34" charset="0"/>
                <a:ea typeface="Courier New" pitchFamily="34" charset="-122"/>
                <a:cs typeface="Courier New" pitchFamily="34" charset="-120"/>
              </a:rPr>
              <a:t>});</a:t>
            </a:r>
            <a:endParaRPr lang="en-US" sz="1300" dirty="0"/>
          </a:p>
          <a:p>
            <a:pPr indent="0" marL="0">
              <a:lnSpc>
                <a:spcPct val="105000"/>
              </a:lnSpc>
              <a:buNone/>
            </a:pPr>
            <a:r>
              <a:rPr lang="en-US" sz="1300" dirty="0">
                <a:solidFill>
                  <a:srgbClr val="FFFFFF"/>
                </a:solidFill>
                <a:latin typeface="Courier New" pitchFamily="34" charset="0"/>
                <a:ea typeface="Courier New" pitchFamily="34" charset="-122"/>
                <a:cs typeface="Courier New" pitchFamily="34" charset="-120"/>
              </a:rPr>
              <a:t> </a:t>
            </a:r>
            <a:endParaRPr lang="en-US" sz="1300" dirty="0"/>
          </a:p>
          <a:p>
            <a:pPr indent="0" marL="0">
              <a:lnSpc>
                <a:spcPct val="105000"/>
              </a:lnSpc>
              <a:buNone/>
            </a:pPr>
            <a:r>
              <a:rPr lang="en-US" sz="1300" dirty="0">
                <a:solidFill>
                  <a:srgbClr val="9FB0E0"/>
                </a:solidFill>
                <a:latin typeface="Courier New" pitchFamily="34" charset="0"/>
                <a:ea typeface="Courier New" pitchFamily="34" charset="-122"/>
                <a:cs typeface="Courier New" pitchFamily="34" charset="-120"/>
              </a:rPr>
              <a:t>// javob: clientDataJSON,</a:t>
            </a:r>
            <a:endParaRPr lang="en-US" sz="1300" dirty="0"/>
          </a:p>
          <a:p>
            <a:pPr indent="0" marL="0">
              <a:lnSpc>
                <a:spcPct val="105000"/>
              </a:lnSpc>
              <a:buNone/>
            </a:pPr>
            <a:r>
              <a:rPr lang="en-US" sz="1300" dirty="0">
                <a:solidFill>
                  <a:srgbClr val="9FB0E0"/>
                </a:solidFill>
                <a:latin typeface="Courier New" pitchFamily="34" charset="0"/>
                <a:ea typeface="Courier New" pitchFamily="34" charset="-122"/>
                <a:cs typeface="Courier New" pitchFamily="34" charset="-120"/>
              </a:rPr>
              <a:t>//        authenticatorData, signature</a:t>
            </a:r>
            <a:endParaRPr lang="en-US" sz="1300" dirty="0"/>
          </a:p>
        </p:txBody>
      </p:sp>
      <p:sp>
        <p:nvSpPr>
          <p:cNvPr id="38" name="Text 36"/>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5-ma'ruza</a:t>
            </a:r>
            <a:endParaRPr lang="en-US" sz="1100" dirty="0"/>
          </a:p>
        </p:txBody>
      </p:sp>
      <p:sp>
        <p:nvSpPr>
          <p:cNvPr id="39" name="Text 37"/>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 · FISHINGGA BARDOSH</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Nega soxta sayt hech narsa ololmaydi?</a:t>
            </a:r>
            <a:endParaRPr lang="en-US" sz="3600" dirty="0"/>
          </a:p>
        </p:txBody>
      </p:sp>
      <p:sp>
        <p:nvSpPr>
          <p:cNvPr id="4" name="Shape 2"/>
          <p:cNvSpPr/>
          <p:nvPr/>
        </p:nvSpPr>
        <p:spPr>
          <a:xfrm>
            <a:off x="548640" y="1783080"/>
            <a:ext cx="5440680" cy="2834640"/>
          </a:xfrm>
          <a:prstGeom prst="roundRect">
            <a:avLst>
              <a:gd name="adj" fmla="val 2903"/>
            </a:avLst>
          </a:prstGeom>
          <a:solidFill>
            <a:srgbClr val="F7ECEA"/>
          </a:solidFill>
          <a:ln/>
        </p:spPr>
      </p:sp>
      <p:sp>
        <p:nvSpPr>
          <p:cNvPr id="5" name="Shape 3"/>
          <p:cNvSpPr/>
          <p:nvPr/>
        </p:nvSpPr>
        <p:spPr>
          <a:xfrm>
            <a:off x="777240" y="1965960"/>
            <a:ext cx="594360" cy="594360"/>
          </a:xfrm>
          <a:prstGeom prst="ellipse">
            <a:avLst/>
          </a:prstGeom>
          <a:solidFill>
            <a:srgbClr val="9E3B2E"/>
          </a:solidFill>
          <a:ln/>
        </p:spPr>
      </p:sp>
      <p:pic>
        <p:nvPicPr>
          <p:cNvPr id="6" name="Image 0" descr="/home/claude/fob-slides/icons_out/unlink_white.png"/>
          <p:cNvPicPr>
            <a:picLocks noChangeAspect="1"/>
          </p:cNvPicPr>
          <p:nvPr/>
        </p:nvPicPr>
        <p:blipFill>
          <a:blip r:embed="rId1"/>
          <a:stretch>
            <a:fillRect/>
          </a:stretch>
        </p:blipFill>
        <p:spPr>
          <a:xfrm>
            <a:off x="910971" y="2099691"/>
            <a:ext cx="326898" cy="326898"/>
          </a:xfrm>
          <a:prstGeom prst="rect">
            <a:avLst/>
          </a:prstGeom>
        </p:spPr>
      </p:pic>
      <p:sp>
        <p:nvSpPr>
          <p:cNvPr id="7" name="Text 4"/>
          <p:cNvSpPr txBox="1"/>
          <p:nvPr/>
        </p:nvSpPr>
        <p:spPr>
          <a:xfrm>
            <a:off x="1554480" y="1965960"/>
            <a:ext cx="4297680" cy="594360"/>
          </a:xfrm>
          <a:prstGeom prst="rect">
            <a:avLst/>
          </a:prstGeom>
          <a:noFill/>
          <a:ln/>
        </p:spPr>
        <p:txBody>
          <a:bodyPr wrap="square" lIns="0" tIns="0" rIns="0" bIns="0" rtlCol="0" anchor="ctr"/>
          <a:lstStyle/>
          <a:p>
            <a:pPr algn="l" indent="0" marL="0">
              <a:lnSpc>
                <a:spcPct val="100000"/>
              </a:lnSpc>
              <a:buNone/>
            </a:pPr>
            <a:r>
              <a:rPr lang="en-US" sz="1800" b="1" dirty="0">
                <a:solidFill>
                  <a:srgbClr val="9E3B2E"/>
                </a:solidFill>
                <a:latin typeface="Courier New" pitchFamily="34" charset="0"/>
                <a:ea typeface="Courier New" pitchFamily="34" charset="-122"/>
                <a:cs typeface="Courier New" pitchFamily="34" charset="-120"/>
              </a:rPr>
              <a:t>hemis-nuu.uz (soxta)</a:t>
            </a:r>
            <a:endParaRPr lang="en-US" sz="1800" dirty="0"/>
          </a:p>
        </p:txBody>
      </p:sp>
      <p:sp>
        <p:nvSpPr>
          <p:cNvPr id="8" name="Text 5"/>
          <p:cNvSpPr txBox="1"/>
          <p:nvPr/>
        </p:nvSpPr>
        <p:spPr>
          <a:xfrm>
            <a:off x="777240" y="2697480"/>
            <a:ext cx="5029200" cy="1828800"/>
          </a:xfrm>
          <a:prstGeom prst="rect">
            <a:avLst/>
          </a:prstGeom>
          <a:noFill/>
          <a:ln/>
        </p:spPr>
        <p:txBody>
          <a:bodyPr wrap="square" lIns="0" tIns="0" rIns="0" bIns="0" rtlCol="0" anchor="ctr"/>
          <a:lstStyle/>
          <a:p>
            <a:pPr marL="342900" indent="-342900">
              <a:spcAft>
                <a:spcPts val="6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Autentifikatorda bu rpId uchun kalit yo'q — passkey taklif qilinmaydi</a:t>
            </a:r>
            <a:endParaRPr lang="en-US" sz="1600" dirty="0"/>
          </a:p>
          <a:p>
            <a:pPr marL="342900" indent="-342900">
              <a:spcAft>
                <a:spcPts val="6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Proksi haqiqiy challenge'ni olib kelsa ham, brauzer imzoga soxta origin'ni yozadi</a:t>
            </a:r>
            <a:endParaRPr lang="en-US" sz="1600" dirty="0"/>
          </a:p>
          <a:p>
            <a:pPr marL="342900" indent="-342900">
              <a:spcAft>
                <a:spcPts val="6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Haqiqiy server origin mos emasligini ko'rib rad etadi</a:t>
            </a:r>
            <a:endParaRPr lang="en-US" sz="1600" dirty="0"/>
          </a:p>
        </p:txBody>
      </p:sp>
      <p:sp>
        <p:nvSpPr>
          <p:cNvPr id="9" name="Shape 6"/>
          <p:cNvSpPr/>
          <p:nvPr/>
        </p:nvSpPr>
        <p:spPr>
          <a:xfrm>
            <a:off x="6172200" y="1783080"/>
            <a:ext cx="5440680" cy="2834640"/>
          </a:xfrm>
          <a:prstGeom prst="roundRect">
            <a:avLst>
              <a:gd name="adj" fmla="val 2903"/>
            </a:avLst>
          </a:prstGeom>
          <a:solidFill>
            <a:srgbClr val="E8F3EC"/>
          </a:solidFill>
          <a:ln/>
        </p:spPr>
      </p:sp>
      <p:sp>
        <p:nvSpPr>
          <p:cNvPr id="10" name="Shape 7"/>
          <p:cNvSpPr/>
          <p:nvPr/>
        </p:nvSpPr>
        <p:spPr>
          <a:xfrm>
            <a:off x="6400800" y="1965960"/>
            <a:ext cx="594360" cy="594360"/>
          </a:xfrm>
          <a:prstGeom prst="ellipse">
            <a:avLst/>
          </a:prstGeom>
          <a:solidFill>
            <a:srgbClr val="1F6B4A"/>
          </a:solidFill>
          <a:ln/>
        </p:spPr>
      </p:sp>
      <p:pic>
        <p:nvPicPr>
          <p:cNvPr id="11" name="Image 1" descr="/home/claude/fob-slides/icons_out/link_white.png"/>
          <p:cNvPicPr>
            <a:picLocks noChangeAspect="1"/>
          </p:cNvPicPr>
          <p:nvPr/>
        </p:nvPicPr>
        <p:blipFill>
          <a:blip r:embed="rId2"/>
          <a:stretch>
            <a:fillRect/>
          </a:stretch>
        </p:blipFill>
        <p:spPr>
          <a:xfrm>
            <a:off x="6534531" y="2099691"/>
            <a:ext cx="326898" cy="326898"/>
          </a:xfrm>
          <a:prstGeom prst="rect">
            <a:avLst/>
          </a:prstGeom>
        </p:spPr>
      </p:pic>
      <p:sp>
        <p:nvSpPr>
          <p:cNvPr id="12" name="Text 8"/>
          <p:cNvSpPr txBox="1"/>
          <p:nvPr/>
        </p:nvSpPr>
        <p:spPr>
          <a:xfrm>
            <a:off x="7178040" y="1965960"/>
            <a:ext cx="4297680" cy="594360"/>
          </a:xfrm>
          <a:prstGeom prst="rect">
            <a:avLst/>
          </a:prstGeom>
          <a:noFill/>
          <a:ln/>
        </p:spPr>
        <p:txBody>
          <a:bodyPr wrap="square" lIns="0" tIns="0" rIns="0" bIns="0" rtlCol="0" anchor="ctr"/>
          <a:lstStyle/>
          <a:p>
            <a:pPr algn="l" indent="0" marL="0">
              <a:lnSpc>
                <a:spcPct val="100000"/>
              </a:lnSpc>
              <a:buNone/>
            </a:pPr>
            <a:r>
              <a:rPr lang="en-US" sz="1800" b="1" dirty="0">
                <a:solidFill>
                  <a:srgbClr val="1F6B4A"/>
                </a:solidFill>
                <a:latin typeface="Courier New" pitchFamily="34" charset="0"/>
                <a:ea typeface="Courier New" pitchFamily="34" charset="-122"/>
                <a:cs typeface="Courier New" pitchFamily="34" charset="-120"/>
              </a:rPr>
              <a:t>hemis.nuu.uz (haqiqiy)</a:t>
            </a:r>
            <a:endParaRPr lang="en-US" sz="1800" dirty="0"/>
          </a:p>
        </p:txBody>
      </p:sp>
      <p:sp>
        <p:nvSpPr>
          <p:cNvPr id="13" name="Text 9"/>
          <p:cNvSpPr txBox="1"/>
          <p:nvPr/>
        </p:nvSpPr>
        <p:spPr>
          <a:xfrm>
            <a:off x="6400800" y="2697480"/>
            <a:ext cx="5029200" cy="1828800"/>
          </a:xfrm>
          <a:prstGeom prst="rect">
            <a:avLst/>
          </a:prstGeom>
          <a:noFill/>
          <a:ln/>
        </p:spPr>
        <p:txBody>
          <a:bodyPr wrap="square" lIns="0" tIns="0" rIns="0" bIns="0" rtlCol="0" anchor="ctr"/>
          <a:lstStyle/>
          <a:p>
            <a:pPr marL="342900" indent="-342900">
              <a:spcAft>
                <a:spcPts val="6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Kalit shu domenga ro'yxatdan o'tishda bog'langan</a:t>
            </a:r>
            <a:endParaRPr lang="en-US" sz="1600" dirty="0"/>
          </a:p>
          <a:p>
            <a:pPr marL="342900" indent="-342900">
              <a:spcAft>
                <a:spcPts val="6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Origin va rpIdHash mos — imzo qabul qilinadi</a:t>
            </a:r>
            <a:endParaRPr lang="en-US" sz="1600" dirty="0"/>
          </a:p>
          <a:p>
            <a:pPr marL="342900" indent="-342900">
              <a:spcAft>
                <a:spcPts val="6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Foydalanuvchi manzilni tekshirishi shart emas: buni kriptografiya qiladi</a:t>
            </a:r>
            <a:endParaRPr lang="en-US" sz="1600" dirty="0"/>
          </a:p>
        </p:txBody>
      </p:sp>
      <p:sp>
        <p:nvSpPr>
          <p:cNvPr id="14" name="Shape 10"/>
          <p:cNvSpPr/>
          <p:nvPr/>
        </p:nvSpPr>
        <p:spPr>
          <a:xfrm>
            <a:off x="548640" y="4846320"/>
            <a:ext cx="3566160" cy="1005840"/>
          </a:xfrm>
          <a:prstGeom prst="roundRect">
            <a:avLst>
              <a:gd name="adj" fmla="val 8182"/>
            </a:avLst>
          </a:prstGeom>
          <a:solidFill>
            <a:srgbClr val="1E2761"/>
          </a:solidFill>
          <a:ln/>
        </p:spPr>
      </p:sp>
      <p:sp>
        <p:nvSpPr>
          <p:cNvPr id="15" name="Text 11"/>
          <p:cNvSpPr txBox="1"/>
          <p:nvPr/>
        </p:nvSpPr>
        <p:spPr>
          <a:xfrm>
            <a:off x="548640" y="4892040"/>
            <a:ext cx="3566160" cy="45720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Sir uzatilmaydi</a:t>
            </a:r>
            <a:endParaRPr lang="en-US" sz="1800" dirty="0"/>
          </a:p>
        </p:txBody>
      </p:sp>
      <p:sp>
        <p:nvSpPr>
          <p:cNvPr id="16" name="Text 12"/>
          <p:cNvSpPr txBox="1"/>
          <p:nvPr/>
        </p:nvSpPr>
        <p:spPr>
          <a:xfrm>
            <a:off x="548640" y="5303520"/>
            <a:ext cx="3566160" cy="411480"/>
          </a:xfrm>
          <a:prstGeom prst="rect">
            <a:avLst/>
          </a:prstGeom>
          <a:noFill/>
          <a:ln/>
        </p:spPr>
        <p:txBody>
          <a:bodyPr wrap="square" lIns="50800" tIns="50800" rIns="50800" bIns="50800" rtlCol="0" anchor="ctr"/>
          <a:lstStyle/>
          <a:p>
            <a:pPr algn="ctr" indent="0" marL="0">
              <a:lnSpc>
                <a:spcPct val="100000"/>
              </a:lnSpc>
              <a:buNone/>
            </a:pPr>
            <a:r>
              <a:rPr lang="en-US" sz="1600" dirty="0">
                <a:solidFill>
                  <a:srgbClr val="CADCFC"/>
                </a:solidFill>
                <a:latin typeface="Times New Roman" pitchFamily="34" charset="0"/>
                <a:ea typeface="Times New Roman" pitchFamily="34" charset="-122"/>
                <a:cs typeface="Times New Roman" pitchFamily="34" charset="-120"/>
              </a:rPr>
              <a:t>tutib oladigan narsa yo'q</a:t>
            </a:r>
            <a:endParaRPr lang="en-US" sz="1600" dirty="0"/>
          </a:p>
        </p:txBody>
      </p:sp>
      <p:sp>
        <p:nvSpPr>
          <p:cNvPr id="17" name="Shape 13"/>
          <p:cNvSpPr/>
          <p:nvPr/>
        </p:nvSpPr>
        <p:spPr>
          <a:xfrm>
            <a:off x="4297680" y="4846320"/>
            <a:ext cx="3566160" cy="1005840"/>
          </a:xfrm>
          <a:prstGeom prst="roundRect">
            <a:avLst>
              <a:gd name="adj" fmla="val 8182"/>
            </a:avLst>
          </a:prstGeom>
          <a:solidFill>
            <a:srgbClr val="1E2761"/>
          </a:solidFill>
          <a:ln/>
        </p:spPr>
      </p:sp>
      <p:sp>
        <p:nvSpPr>
          <p:cNvPr id="18" name="Text 14"/>
          <p:cNvSpPr txBox="1"/>
          <p:nvPr/>
        </p:nvSpPr>
        <p:spPr>
          <a:xfrm>
            <a:off x="4297680" y="4892040"/>
            <a:ext cx="3566160" cy="45720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Baza sizsa</a:t>
            </a:r>
            <a:endParaRPr lang="en-US" sz="1800" dirty="0"/>
          </a:p>
        </p:txBody>
      </p:sp>
      <p:sp>
        <p:nvSpPr>
          <p:cNvPr id="19" name="Text 15"/>
          <p:cNvSpPr txBox="1"/>
          <p:nvPr/>
        </p:nvSpPr>
        <p:spPr>
          <a:xfrm>
            <a:off x="4297680" y="5303520"/>
            <a:ext cx="3566160" cy="411480"/>
          </a:xfrm>
          <a:prstGeom prst="rect">
            <a:avLst/>
          </a:prstGeom>
          <a:noFill/>
          <a:ln/>
        </p:spPr>
        <p:txBody>
          <a:bodyPr wrap="square" lIns="50800" tIns="50800" rIns="50800" bIns="50800" rtlCol="0" anchor="ctr"/>
          <a:lstStyle/>
          <a:p>
            <a:pPr algn="ctr" indent="0" marL="0">
              <a:lnSpc>
                <a:spcPct val="100000"/>
              </a:lnSpc>
              <a:buNone/>
            </a:pPr>
            <a:r>
              <a:rPr lang="en-US" sz="1600" dirty="0">
                <a:solidFill>
                  <a:srgbClr val="CADCFC"/>
                </a:solidFill>
                <a:latin typeface="Times New Roman" pitchFamily="34" charset="0"/>
                <a:ea typeface="Times New Roman" pitchFamily="34" charset="-122"/>
                <a:cs typeface="Times New Roman" pitchFamily="34" charset="-120"/>
              </a:rPr>
              <a:t>ochiq kalitlar foydasiz</a:t>
            </a:r>
            <a:endParaRPr lang="en-US" sz="1600" dirty="0"/>
          </a:p>
        </p:txBody>
      </p:sp>
      <p:sp>
        <p:nvSpPr>
          <p:cNvPr id="20" name="Shape 16"/>
          <p:cNvSpPr/>
          <p:nvPr/>
        </p:nvSpPr>
        <p:spPr>
          <a:xfrm>
            <a:off x="8046720" y="4846320"/>
            <a:ext cx="3566160" cy="1005840"/>
          </a:xfrm>
          <a:prstGeom prst="roundRect">
            <a:avLst>
              <a:gd name="adj" fmla="val 8182"/>
            </a:avLst>
          </a:prstGeom>
          <a:solidFill>
            <a:srgbClr val="1E2761"/>
          </a:solidFill>
          <a:ln/>
        </p:spPr>
      </p:sp>
      <p:sp>
        <p:nvSpPr>
          <p:cNvPr id="21" name="Text 17"/>
          <p:cNvSpPr txBox="1"/>
          <p:nvPr/>
        </p:nvSpPr>
        <p:spPr>
          <a:xfrm>
            <a:off x="8046720" y="4892040"/>
            <a:ext cx="3566160" cy="45720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Takroriy parol yo'q</a:t>
            </a:r>
            <a:endParaRPr lang="en-US" sz="1800" dirty="0"/>
          </a:p>
        </p:txBody>
      </p:sp>
      <p:sp>
        <p:nvSpPr>
          <p:cNvPr id="22" name="Text 18"/>
          <p:cNvSpPr txBox="1"/>
          <p:nvPr/>
        </p:nvSpPr>
        <p:spPr>
          <a:xfrm>
            <a:off x="8046720" y="5303520"/>
            <a:ext cx="3566160" cy="411480"/>
          </a:xfrm>
          <a:prstGeom prst="rect">
            <a:avLst/>
          </a:prstGeom>
          <a:noFill/>
          <a:ln/>
        </p:spPr>
        <p:txBody>
          <a:bodyPr wrap="square" lIns="50800" tIns="50800" rIns="50800" bIns="50800" rtlCol="0" anchor="ctr"/>
          <a:lstStyle/>
          <a:p>
            <a:pPr algn="ctr" indent="0" marL="0">
              <a:lnSpc>
                <a:spcPct val="100000"/>
              </a:lnSpc>
              <a:buNone/>
            </a:pPr>
            <a:r>
              <a:rPr lang="en-US" sz="1600" dirty="0">
                <a:solidFill>
                  <a:srgbClr val="CADCFC"/>
                </a:solidFill>
                <a:latin typeface="Times New Roman" pitchFamily="34" charset="0"/>
                <a:ea typeface="Times New Roman" pitchFamily="34" charset="-122"/>
                <a:cs typeface="Times New Roman" pitchFamily="34" charset="-120"/>
              </a:rPr>
              <a:t>credential stuffing ishlamaydi</a:t>
            </a:r>
            <a:endParaRPr lang="en-US" sz="1600" dirty="0"/>
          </a:p>
        </p:txBody>
      </p:sp>
      <p:sp>
        <p:nvSpPr>
          <p:cNvPr id="23" name="Text 19"/>
          <p:cNvSpPr txBox="1"/>
          <p:nvPr/>
        </p:nvSpPr>
        <p:spPr>
          <a:xfrm>
            <a:off x="548640" y="5989320"/>
            <a:ext cx="11064240" cy="365760"/>
          </a:xfrm>
          <a:prstGeom prst="rect">
            <a:avLst/>
          </a:prstGeom>
          <a:noFill/>
          <a:ln/>
        </p:spPr>
        <p:txBody>
          <a:bodyPr wrap="square" lIns="0" tIns="0" rIns="0" bIns="0" rtlCol="0" anchor="t"/>
          <a:lstStyle/>
          <a:p>
            <a:pPr algn="ctr" indent="0" marL="0">
              <a:lnSpc>
                <a:spcPct val="100000"/>
              </a:lnSpc>
              <a:buNone/>
            </a:pPr>
            <a:r>
              <a:rPr lang="en-US" sz="1500" dirty="0">
                <a:solidFill>
                  <a:srgbClr val="1E2761"/>
                </a:solidFill>
                <a:latin typeface="Times New Roman" pitchFamily="34" charset="0"/>
                <a:ea typeface="Times New Roman" pitchFamily="34" charset="-122"/>
                <a:cs typeface="Times New Roman" pitchFamily="34" charset="-120"/>
              </a:rPr>
              <a:t>NIST SP 800-63B-4: fishingga bardosh = tekshiruvchi nomiga bog'lash (verifier name binding).</a:t>
            </a:r>
            <a:endParaRPr lang="en-US" sz="1500" dirty="0"/>
          </a:p>
        </p:txBody>
      </p:sp>
      <p:sp>
        <p:nvSpPr>
          <p:cNvPr id="24" name="Text 20"/>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5-ma'ruza</a:t>
            </a:r>
            <a:endParaRPr lang="en-US" sz="1100" dirty="0"/>
          </a:p>
        </p:txBody>
      </p:sp>
      <p:sp>
        <p:nvSpPr>
          <p:cNvPr id="25" name="Text 21"/>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DF3E2"/>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D9932B"/>
                </a:solidFill>
                <a:latin typeface="Times New Roman" pitchFamily="34" charset="0"/>
                <a:ea typeface="Times New Roman" pitchFamily="34" charset="-122"/>
                <a:cs typeface="Times New Roman" pitchFamily="34" charset="-120"/>
              </a:rPr>
              <a:t>MINI-VAZIFA · 6 DAQIQA</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9A5B00"/>
                </a:solidFill>
                <a:latin typeface="Times New Roman" pitchFamily="34" charset="0"/>
                <a:ea typeface="Times New Roman" pitchFamily="34" charset="-122"/>
                <a:cs typeface="Times New Roman" pitchFamily="34" charset="-120"/>
              </a:rPr>
              <a:t>Hujum ssenariylari: nima bo'ladi?</a:t>
            </a:r>
            <a:endParaRPr lang="en-US" sz="3600" dirty="0"/>
          </a:p>
        </p:txBody>
      </p:sp>
      <p:sp>
        <p:nvSpPr>
          <p:cNvPr id="4" name="Shape 2"/>
          <p:cNvSpPr/>
          <p:nvPr/>
        </p:nvSpPr>
        <p:spPr>
          <a:xfrm>
            <a:off x="10744200" y="411480"/>
            <a:ext cx="868680" cy="868680"/>
          </a:xfrm>
          <a:prstGeom prst="ellipse">
            <a:avLst/>
          </a:prstGeom>
          <a:solidFill>
            <a:srgbClr val="D9932B"/>
          </a:solidFill>
          <a:ln/>
        </p:spPr>
      </p:sp>
      <p:pic>
        <p:nvPicPr>
          <p:cNvPr id="5" name="Image 0" descr="/home/claude/fob-slides/icons_out/pencil_white.png"/>
          <p:cNvPicPr>
            <a:picLocks noChangeAspect="1"/>
          </p:cNvPicPr>
          <p:nvPr/>
        </p:nvPicPr>
        <p:blipFill>
          <a:blip r:embed="rId1"/>
          <a:stretch>
            <a:fillRect/>
          </a:stretch>
        </p:blipFill>
        <p:spPr>
          <a:xfrm>
            <a:off x="10978744" y="646024"/>
            <a:ext cx="399593" cy="399593"/>
          </a:xfrm>
          <a:prstGeom prst="rect">
            <a:avLst/>
          </a:prstGeom>
        </p:spPr>
      </p:pic>
      <p:sp>
        <p:nvSpPr>
          <p:cNvPr id="6" name="Shape 3"/>
          <p:cNvSpPr/>
          <p:nvPr/>
        </p:nvSpPr>
        <p:spPr>
          <a:xfrm>
            <a:off x="548640" y="1783080"/>
            <a:ext cx="11064240" cy="685800"/>
          </a:xfrm>
          <a:prstGeom prst="roundRect">
            <a:avLst>
              <a:gd name="adj" fmla="val 12000"/>
            </a:avLst>
          </a:prstGeom>
          <a:solidFill>
            <a:srgbClr val="FFFFFF"/>
          </a:solidFill>
          <a:ln/>
        </p:spPr>
      </p:sp>
      <p:sp>
        <p:nvSpPr>
          <p:cNvPr id="7" name="Text 4"/>
          <p:cNvSpPr txBox="1"/>
          <p:nvPr/>
        </p:nvSpPr>
        <p:spPr>
          <a:xfrm>
            <a:off x="868680" y="1783080"/>
            <a:ext cx="10424160" cy="685800"/>
          </a:xfrm>
          <a:prstGeom prst="rect">
            <a:avLst/>
          </a:prstGeom>
          <a:noFill/>
          <a:ln/>
        </p:spPr>
        <p:txBody>
          <a:bodyPr wrap="square" lIns="0" tIns="0" rIns="0" bIns="0" rtlCol="0" anchor="ctr"/>
          <a:lstStyle/>
          <a:p>
            <a:pPr algn="l" indent="0" marL="0">
              <a:lnSpc>
                <a:spcPct val="100000"/>
              </a:lnSpc>
              <a:buNone/>
            </a:pPr>
            <a:r>
              <a:rPr lang="en-US" sz="1800" dirty="0">
                <a:solidFill>
                  <a:srgbClr val="1B1B2A"/>
                </a:solidFill>
                <a:latin typeface="Times New Roman" pitchFamily="34" charset="0"/>
                <a:ea typeface="Times New Roman" pitchFamily="34" charset="-122"/>
                <a:cs typeface="Times New Roman" pitchFamily="34" charset="-120"/>
              </a:rPr>
              <a:t>Talaba HEMIS ga Windows Hello passkey bilan kiradi. Har bir holatda hujumchi muvaffaqiyatga erishadimi?</a:t>
            </a:r>
            <a:endParaRPr lang="en-US" sz="1800" dirty="0"/>
          </a:p>
        </p:txBody>
      </p:sp>
      <p:sp>
        <p:nvSpPr>
          <p:cNvPr id="8" name="Shape 5"/>
          <p:cNvSpPr/>
          <p:nvPr/>
        </p:nvSpPr>
        <p:spPr>
          <a:xfrm>
            <a:off x="548640" y="2651760"/>
            <a:ext cx="11064240" cy="731520"/>
          </a:xfrm>
          <a:prstGeom prst="roundRect">
            <a:avLst>
              <a:gd name="adj" fmla="val 11250"/>
            </a:avLst>
          </a:prstGeom>
          <a:solidFill>
            <a:srgbClr val="FFFFFF"/>
          </a:solidFill>
          <a:ln/>
        </p:spPr>
      </p:sp>
      <p:sp>
        <p:nvSpPr>
          <p:cNvPr id="9" name="Shape 6"/>
          <p:cNvSpPr/>
          <p:nvPr/>
        </p:nvSpPr>
        <p:spPr>
          <a:xfrm>
            <a:off x="548640" y="2651760"/>
            <a:ext cx="685800" cy="731520"/>
          </a:xfrm>
          <a:prstGeom prst="roundRect">
            <a:avLst>
              <a:gd name="adj" fmla="val 12000"/>
            </a:avLst>
          </a:prstGeom>
          <a:solidFill>
            <a:srgbClr val="D9932B"/>
          </a:solidFill>
          <a:ln/>
        </p:spPr>
      </p:sp>
      <p:sp>
        <p:nvSpPr>
          <p:cNvPr id="10" name="Text 7"/>
          <p:cNvSpPr txBox="1"/>
          <p:nvPr/>
        </p:nvSpPr>
        <p:spPr>
          <a:xfrm>
            <a:off x="548640" y="2651760"/>
            <a:ext cx="685800" cy="73152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a</a:t>
            </a:r>
            <a:endParaRPr lang="en-US" sz="1800" dirty="0"/>
          </a:p>
        </p:txBody>
      </p:sp>
      <p:sp>
        <p:nvSpPr>
          <p:cNvPr id="11" name="Text 8"/>
          <p:cNvSpPr txBox="1"/>
          <p:nvPr/>
        </p:nvSpPr>
        <p:spPr>
          <a:xfrm>
            <a:off x="1417320" y="2651760"/>
            <a:ext cx="8412480" cy="731520"/>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Talaba fishing xat orqali hemis-nuu.uz saytiga kirdi</a:t>
            </a:r>
            <a:endParaRPr lang="en-US" sz="1700" dirty="0"/>
          </a:p>
        </p:txBody>
      </p:sp>
      <p:sp>
        <p:nvSpPr>
          <p:cNvPr id="12" name="Shape 9"/>
          <p:cNvSpPr/>
          <p:nvPr/>
        </p:nvSpPr>
        <p:spPr>
          <a:xfrm>
            <a:off x="10012680" y="2770632"/>
            <a:ext cx="1417320" cy="493776"/>
          </a:xfrm>
          <a:prstGeom prst="roundRect">
            <a:avLst>
              <a:gd name="adj" fmla="val 16667"/>
            </a:avLst>
          </a:prstGeom>
          <a:solidFill>
            <a:srgbClr val="FDF3E2"/>
          </a:solidFill>
          <a:ln w="12700">
            <a:solidFill>
              <a:srgbClr val="D9932B"/>
            </a:solidFill>
            <a:prstDash val="solid"/>
          </a:ln>
        </p:spPr>
      </p:sp>
      <p:sp>
        <p:nvSpPr>
          <p:cNvPr id="13" name="Text 10"/>
          <p:cNvSpPr txBox="1"/>
          <p:nvPr/>
        </p:nvSpPr>
        <p:spPr>
          <a:xfrm>
            <a:off x="10012680" y="2770632"/>
            <a:ext cx="1417320" cy="493776"/>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Ha / Yo'q</a:t>
            </a:r>
            <a:endParaRPr lang="en-US" sz="1600" dirty="0"/>
          </a:p>
        </p:txBody>
      </p:sp>
      <p:sp>
        <p:nvSpPr>
          <p:cNvPr id="14" name="Shape 11"/>
          <p:cNvSpPr/>
          <p:nvPr/>
        </p:nvSpPr>
        <p:spPr>
          <a:xfrm>
            <a:off x="548640" y="3502152"/>
            <a:ext cx="11064240" cy="731520"/>
          </a:xfrm>
          <a:prstGeom prst="roundRect">
            <a:avLst>
              <a:gd name="adj" fmla="val 11250"/>
            </a:avLst>
          </a:prstGeom>
          <a:solidFill>
            <a:srgbClr val="FFFFFF"/>
          </a:solidFill>
          <a:ln/>
        </p:spPr>
      </p:sp>
      <p:sp>
        <p:nvSpPr>
          <p:cNvPr id="15" name="Shape 12"/>
          <p:cNvSpPr/>
          <p:nvPr/>
        </p:nvSpPr>
        <p:spPr>
          <a:xfrm>
            <a:off x="548640" y="3502152"/>
            <a:ext cx="685800" cy="731520"/>
          </a:xfrm>
          <a:prstGeom prst="roundRect">
            <a:avLst>
              <a:gd name="adj" fmla="val 12000"/>
            </a:avLst>
          </a:prstGeom>
          <a:solidFill>
            <a:srgbClr val="D9932B"/>
          </a:solidFill>
          <a:ln/>
        </p:spPr>
      </p:sp>
      <p:sp>
        <p:nvSpPr>
          <p:cNvPr id="16" name="Text 13"/>
          <p:cNvSpPr txBox="1"/>
          <p:nvPr/>
        </p:nvSpPr>
        <p:spPr>
          <a:xfrm>
            <a:off x="548640" y="3502152"/>
            <a:ext cx="685800" cy="73152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b</a:t>
            </a:r>
            <a:endParaRPr lang="en-US" sz="1800" dirty="0"/>
          </a:p>
        </p:txBody>
      </p:sp>
      <p:sp>
        <p:nvSpPr>
          <p:cNvPr id="17" name="Text 14"/>
          <p:cNvSpPr txBox="1"/>
          <p:nvPr/>
        </p:nvSpPr>
        <p:spPr>
          <a:xfrm>
            <a:off x="1417320" y="3502152"/>
            <a:ext cx="8412480" cy="731520"/>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HEMIS serveridagi ochiq kalitlar bazasi internetga sizib chiqdi</a:t>
            </a:r>
            <a:endParaRPr lang="en-US" sz="1700" dirty="0"/>
          </a:p>
        </p:txBody>
      </p:sp>
      <p:sp>
        <p:nvSpPr>
          <p:cNvPr id="18" name="Shape 15"/>
          <p:cNvSpPr/>
          <p:nvPr/>
        </p:nvSpPr>
        <p:spPr>
          <a:xfrm>
            <a:off x="10012680" y="3621024"/>
            <a:ext cx="1417320" cy="493776"/>
          </a:xfrm>
          <a:prstGeom prst="roundRect">
            <a:avLst>
              <a:gd name="adj" fmla="val 16667"/>
            </a:avLst>
          </a:prstGeom>
          <a:solidFill>
            <a:srgbClr val="FDF3E2"/>
          </a:solidFill>
          <a:ln w="12700">
            <a:solidFill>
              <a:srgbClr val="D9932B"/>
            </a:solidFill>
            <a:prstDash val="solid"/>
          </a:ln>
        </p:spPr>
      </p:sp>
      <p:sp>
        <p:nvSpPr>
          <p:cNvPr id="19" name="Text 16"/>
          <p:cNvSpPr txBox="1"/>
          <p:nvPr/>
        </p:nvSpPr>
        <p:spPr>
          <a:xfrm>
            <a:off x="10012680" y="3621024"/>
            <a:ext cx="1417320" cy="493776"/>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Ha / Yo'q</a:t>
            </a:r>
            <a:endParaRPr lang="en-US" sz="1600" dirty="0"/>
          </a:p>
        </p:txBody>
      </p:sp>
      <p:sp>
        <p:nvSpPr>
          <p:cNvPr id="20" name="Shape 17"/>
          <p:cNvSpPr/>
          <p:nvPr/>
        </p:nvSpPr>
        <p:spPr>
          <a:xfrm>
            <a:off x="548640" y="4352544"/>
            <a:ext cx="11064240" cy="731520"/>
          </a:xfrm>
          <a:prstGeom prst="roundRect">
            <a:avLst>
              <a:gd name="adj" fmla="val 11250"/>
            </a:avLst>
          </a:prstGeom>
          <a:solidFill>
            <a:srgbClr val="FFFFFF"/>
          </a:solidFill>
          <a:ln/>
        </p:spPr>
      </p:sp>
      <p:sp>
        <p:nvSpPr>
          <p:cNvPr id="21" name="Shape 18"/>
          <p:cNvSpPr/>
          <p:nvPr/>
        </p:nvSpPr>
        <p:spPr>
          <a:xfrm>
            <a:off x="548640" y="4352544"/>
            <a:ext cx="685800" cy="731520"/>
          </a:xfrm>
          <a:prstGeom prst="roundRect">
            <a:avLst>
              <a:gd name="adj" fmla="val 12000"/>
            </a:avLst>
          </a:prstGeom>
          <a:solidFill>
            <a:srgbClr val="D9932B"/>
          </a:solidFill>
          <a:ln/>
        </p:spPr>
      </p:sp>
      <p:sp>
        <p:nvSpPr>
          <p:cNvPr id="22" name="Text 19"/>
          <p:cNvSpPr txBox="1"/>
          <p:nvPr/>
        </p:nvSpPr>
        <p:spPr>
          <a:xfrm>
            <a:off x="548640" y="4352544"/>
            <a:ext cx="685800" cy="73152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c</a:t>
            </a:r>
            <a:endParaRPr lang="en-US" sz="1800" dirty="0"/>
          </a:p>
        </p:txBody>
      </p:sp>
      <p:sp>
        <p:nvSpPr>
          <p:cNvPr id="23" name="Text 20"/>
          <p:cNvSpPr txBox="1"/>
          <p:nvPr/>
        </p:nvSpPr>
        <p:spPr>
          <a:xfrm>
            <a:off x="1417320" y="4352544"/>
            <a:ext cx="8412480" cy="731520"/>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Noutbuk o'g'irlandi, lekin hujumchi Windows Hello PIN-kodini bilmaydi</a:t>
            </a:r>
            <a:endParaRPr lang="en-US" sz="1700" dirty="0"/>
          </a:p>
        </p:txBody>
      </p:sp>
      <p:sp>
        <p:nvSpPr>
          <p:cNvPr id="24" name="Shape 21"/>
          <p:cNvSpPr/>
          <p:nvPr/>
        </p:nvSpPr>
        <p:spPr>
          <a:xfrm>
            <a:off x="10012680" y="4471416"/>
            <a:ext cx="1417320" cy="493776"/>
          </a:xfrm>
          <a:prstGeom prst="roundRect">
            <a:avLst>
              <a:gd name="adj" fmla="val 16667"/>
            </a:avLst>
          </a:prstGeom>
          <a:solidFill>
            <a:srgbClr val="FDF3E2"/>
          </a:solidFill>
          <a:ln w="12700">
            <a:solidFill>
              <a:srgbClr val="D9932B"/>
            </a:solidFill>
            <a:prstDash val="solid"/>
          </a:ln>
        </p:spPr>
      </p:sp>
      <p:sp>
        <p:nvSpPr>
          <p:cNvPr id="25" name="Text 22"/>
          <p:cNvSpPr txBox="1"/>
          <p:nvPr/>
        </p:nvSpPr>
        <p:spPr>
          <a:xfrm>
            <a:off x="10012680" y="4471416"/>
            <a:ext cx="1417320" cy="493776"/>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Ha / Yo'q</a:t>
            </a:r>
            <a:endParaRPr lang="en-US" sz="1600" dirty="0"/>
          </a:p>
        </p:txBody>
      </p:sp>
      <p:sp>
        <p:nvSpPr>
          <p:cNvPr id="26" name="Shape 23"/>
          <p:cNvSpPr/>
          <p:nvPr/>
        </p:nvSpPr>
        <p:spPr>
          <a:xfrm>
            <a:off x="548640" y="5202936"/>
            <a:ext cx="11064240" cy="731520"/>
          </a:xfrm>
          <a:prstGeom prst="roundRect">
            <a:avLst>
              <a:gd name="adj" fmla="val 11250"/>
            </a:avLst>
          </a:prstGeom>
          <a:solidFill>
            <a:srgbClr val="FFFFFF"/>
          </a:solidFill>
          <a:ln/>
        </p:spPr>
      </p:sp>
      <p:sp>
        <p:nvSpPr>
          <p:cNvPr id="27" name="Shape 24"/>
          <p:cNvSpPr/>
          <p:nvPr/>
        </p:nvSpPr>
        <p:spPr>
          <a:xfrm>
            <a:off x="548640" y="5202936"/>
            <a:ext cx="685800" cy="731520"/>
          </a:xfrm>
          <a:prstGeom prst="roundRect">
            <a:avLst>
              <a:gd name="adj" fmla="val 12000"/>
            </a:avLst>
          </a:prstGeom>
          <a:solidFill>
            <a:srgbClr val="D9932B"/>
          </a:solidFill>
          <a:ln/>
        </p:spPr>
      </p:sp>
      <p:sp>
        <p:nvSpPr>
          <p:cNvPr id="28" name="Text 25"/>
          <p:cNvSpPr txBox="1"/>
          <p:nvPr/>
        </p:nvSpPr>
        <p:spPr>
          <a:xfrm>
            <a:off x="548640" y="5202936"/>
            <a:ext cx="685800" cy="73152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d</a:t>
            </a:r>
            <a:endParaRPr lang="en-US" sz="1800" dirty="0"/>
          </a:p>
        </p:txBody>
      </p:sp>
      <p:sp>
        <p:nvSpPr>
          <p:cNvPr id="29" name="Text 26"/>
          <p:cNvSpPr txBox="1"/>
          <p:nvPr/>
        </p:nvSpPr>
        <p:spPr>
          <a:xfrm>
            <a:off x="1417320" y="5202936"/>
            <a:ext cx="8412480" cy="731520"/>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Talaba kompyuteriga zararli dastur o'rnatilgan va u tizimga kirishni kutib turibdi</a:t>
            </a:r>
            <a:endParaRPr lang="en-US" sz="1700" dirty="0"/>
          </a:p>
        </p:txBody>
      </p:sp>
      <p:sp>
        <p:nvSpPr>
          <p:cNvPr id="30" name="Shape 27"/>
          <p:cNvSpPr/>
          <p:nvPr/>
        </p:nvSpPr>
        <p:spPr>
          <a:xfrm>
            <a:off x="10012680" y="5321808"/>
            <a:ext cx="1417320" cy="493776"/>
          </a:xfrm>
          <a:prstGeom prst="roundRect">
            <a:avLst>
              <a:gd name="adj" fmla="val 16667"/>
            </a:avLst>
          </a:prstGeom>
          <a:solidFill>
            <a:srgbClr val="FDF3E2"/>
          </a:solidFill>
          <a:ln w="12700">
            <a:solidFill>
              <a:srgbClr val="D9932B"/>
            </a:solidFill>
            <a:prstDash val="solid"/>
          </a:ln>
        </p:spPr>
      </p:sp>
      <p:sp>
        <p:nvSpPr>
          <p:cNvPr id="31" name="Text 28"/>
          <p:cNvSpPr txBox="1"/>
          <p:nvPr/>
        </p:nvSpPr>
        <p:spPr>
          <a:xfrm>
            <a:off x="10012680" y="5321808"/>
            <a:ext cx="1417320" cy="493776"/>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Ha / Yo'q</a:t>
            </a:r>
            <a:endParaRPr lang="en-US" sz="1600" dirty="0"/>
          </a:p>
        </p:txBody>
      </p:sp>
      <p:sp>
        <p:nvSpPr>
          <p:cNvPr id="32" name="Text 29"/>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9A5B00"/>
                </a:solidFill>
                <a:latin typeface="Times New Roman" pitchFamily="34" charset="0"/>
                <a:ea typeface="Times New Roman" pitchFamily="34" charset="-122"/>
                <a:cs typeface="Times New Roman" pitchFamily="34" charset="-120"/>
              </a:rPr>
              <a:t>Foydalanishlarni boshqarish  ·  5-ma'ruza</a:t>
            </a:r>
            <a:endParaRPr lang="en-US" sz="1100" dirty="0"/>
          </a:p>
        </p:txBody>
      </p:sp>
      <p:sp>
        <p:nvSpPr>
          <p:cNvPr id="33" name="Text 30"/>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9A5B00"/>
                </a:solidFill>
                <a:latin typeface="Times New Roman" pitchFamily="34" charset="0"/>
                <a:ea typeface="Times New Roman" pitchFamily="34" charset="-122"/>
                <a:cs typeface="Times New Roman"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 · PASSKEY TURLARI</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Passkey'ning ikki turi</a:t>
            </a:r>
            <a:endParaRPr lang="en-US" sz="3600" dirty="0"/>
          </a:p>
        </p:txBody>
      </p:sp>
      <p:sp>
        <p:nvSpPr>
          <p:cNvPr id="4" name="Shape 2"/>
          <p:cNvSpPr/>
          <p:nvPr/>
        </p:nvSpPr>
        <p:spPr>
          <a:xfrm>
            <a:off x="548640" y="1783080"/>
            <a:ext cx="5440680" cy="4023360"/>
          </a:xfrm>
          <a:prstGeom prst="roundRect">
            <a:avLst>
              <a:gd name="adj" fmla="val 2045"/>
            </a:avLst>
          </a:prstGeom>
          <a:solidFill>
            <a:srgbClr val="1E2761"/>
          </a:solidFill>
          <a:ln/>
        </p:spPr>
      </p:sp>
      <p:sp>
        <p:nvSpPr>
          <p:cNvPr id="5" name="Shape 3"/>
          <p:cNvSpPr/>
          <p:nvPr/>
        </p:nvSpPr>
        <p:spPr>
          <a:xfrm>
            <a:off x="822960" y="2011680"/>
            <a:ext cx="685800" cy="685800"/>
          </a:xfrm>
          <a:prstGeom prst="ellipse">
            <a:avLst/>
          </a:prstGeom>
          <a:solidFill>
            <a:srgbClr val="2A3778"/>
          </a:solidFill>
          <a:ln/>
        </p:spPr>
      </p:sp>
      <p:pic>
        <p:nvPicPr>
          <p:cNvPr id="6" name="Image 0" descr="/home/claude/fob-slides/icons_out/chip_white.png"/>
          <p:cNvPicPr>
            <a:picLocks noChangeAspect="1"/>
          </p:cNvPicPr>
          <p:nvPr/>
        </p:nvPicPr>
        <p:blipFill>
          <a:blip r:embed="rId1"/>
          <a:stretch>
            <a:fillRect/>
          </a:stretch>
        </p:blipFill>
        <p:spPr>
          <a:xfrm>
            <a:off x="977265" y="2165985"/>
            <a:ext cx="377190" cy="377190"/>
          </a:xfrm>
          <a:prstGeom prst="rect">
            <a:avLst/>
          </a:prstGeom>
        </p:spPr>
      </p:pic>
      <p:sp>
        <p:nvSpPr>
          <p:cNvPr id="7" name="Text 4"/>
          <p:cNvSpPr txBox="1"/>
          <p:nvPr/>
        </p:nvSpPr>
        <p:spPr>
          <a:xfrm>
            <a:off x="1691640" y="1965960"/>
            <a:ext cx="4069080" cy="457200"/>
          </a:xfrm>
          <a:prstGeom prst="rect">
            <a:avLst/>
          </a:prstGeom>
          <a:noFill/>
          <a:ln/>
        </p:spPr>
        <p:txBody>
          <a:bodyPr wrap="square" lIns="0" tIns="0" rIns="0" bIns="0" rtlCol="0" anchor="t"/>
          <a:lstStyle/>
          <a:p>
            <a:pPr algn="l" indent="0" marL="0">
              <a:lnSpc>
                <a:spcPct val="100000"/>
              </a:lnSpc>
              <a:buNone/>
            </a:pPr>
            <a:r>
              <a:rPr lang="en-US" sz="2200" b="1" dirty="0">
                <a:solidFill>
                  <a:srgbClr val="FFFFFF"/>
                </a:solidFill>
                <a:latin typeface="Times New Roman" pitchFamily="34" charset="0"/>
                <a:ea typeface="Times New Roman" pitchFamily="34" charset="-122"/>
                <a:cs typeface="Times New Roman" pitchFamily="34" charset="-120"/>
              </a:rPr>
              <a:t>Qurilmaga bog'langan</a:t>
            </a:r>
            <a:endParaRPr lang="en-US" sz="2200" dirty="0"/>
          </a:p>
        </p:txBody>
      </p:sp>
      <p:sp>
        <p:nvSpPr>
          <p:cNvPr id="8" name="Text 5"/>
          <p:cNvSpPr txBox="1"/>
          <p:nvPr/>
        </p:nvSpPr>
        <p:spPr>
          <a:xfrm>
            <a:off x="1691640" y="2377440"/>
            <a:ext cx="4069080" cy="320040"/>
          </a:xfrm>
          <a:prstGeom prst="rect">
            <a:avLst/>
          </a:prstGeom>
          <a:noFill/>
          <a:ln/>
        </p:spPr>
        <p:txBody>
          <a:bodyPr wrap="square" lIns="0" tIns="0" rIns="0" bIns="0" rtlCol="0" anchor="t"/>
          <a:lstStyle/>
          <a:p>
            <a:pPr algn="l"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device-bound</a:t>
            </a:r>
            <a:endParaRPr lang="en-US" sz="1400" dirty="0"/>
          </a:p>
        </p:txBody>
      </p:sp>
      <p:sp>
        <p:nvSpPr>
          <p:cNvPr id="9" name="Text 6"/>
          <p:cNvSpPr txBox="1"/>
          <p:nvPr/>
        </p:nvSpPr>
        <p:spPr>
          <a:xfrm>
            <a:off x="822960" y="2971800"/>
            <a:ext cx="4892040" cy="274320"/>
          </a:xfrm>
          <a:prstGeom prst="rect">
            <a:avLst/>
          </a:prstGeom>
          <a:noFill/>
          <a:ln/>
        </p:spPr>
        <p:txBody>
          <a:bodyPr wrap="square" lIns="0" tIns="0" rIns="0" bIns="0" rtlCol="0" anchor="t"/>
          <a:lstStyle/>
          <a:p>
            <a:pPr algn="l" indent="0" marL="0">
              <a:lnSpc>
                <a:spcPct val="100000"/>
              </a:lnSpc>
              <a:buNone/>
            </a:pPr>
            <a:r>
              <a:rPr lang="en-US" sz="1300" b="1" dirty="0">
                <a:solidFill>
                  <a:srgbClr val="9FB0E0"/>
                </a:solidFill>
                <a:latin typeface="Times New Roman" pitchFamily="34" charset="0"/>
                <a:ea typeface="Times New Roman" pitchFamily="34" charset="-122"/>
                <a:cs typeface="Times New Roman" pitchFamily="34" charset="-120"/>
              </a:rPr>
              <a:t>MISOL</a:t>
            </a:r>
            <a:endParaRPr lang="en-US" sz="1300" dirty="0"/>
          </a:p>
        </p:txBody>
      </p:sp>
      <p:sp>
        <p:nvSpPr>
          <p:cNvPr id="10" name="Text 7"/>
          <p:cNvSpPr txBox="1"/>
          <p:nvPr/>
        </p:nvSpPr>
        <p:spPr>
          <a:xfrm>
            <a:off x="822960" y="3227832"/>
            <a:ext cx="4892040" cy="475488"/>
          </a:xfrm>
          <a:prstGeom prst="rect">
            <a:avLst/>
          </a:prstGeom>
          <a:noFill/>
          <a:ln/>
        </p:spPr>
        <p:txBody>
          <a:bodyPr wrap="square" lIns="0" tIns="0" rIns="0" bIns="0" rtlCol="0" anchor="t"/>
          <a:lstStyle/>
          <a:p>
            <a:pPr algn="l" indent="0" marL="0">
              <a:lnSpc>
                <a:spcPct val="100000"/>
              </a:lnSpc>
              <a:buNone/>
            </a:pPr>
            <a:r>
              <a:rPr lang="en-US" sz="1600" dirty="0">
                <a:solidFill>
                  <a:srgbClr val="FFFFFF"/>
                </a:solidFill>
                <a:latin typeface="Times New Roman" pitchFamily="34" charset="0"/>
                <a:ea typeface="Times New Roman" pitchFamily="34" charset="-122"/>
                <a:cs typeface="Times New Roman" pitchFamily="34" charset="-120"/>
              </a:rPr>
              <a:t>Windows Hello (TPM), FIDO2 USB kalit</a:t>
            </a:r>
            <a:endParaRPr lang="en-US" sz="1600" dirty="0"/>
          </a:p>
        </p:txBody>
      </p:sp>
      <p:sp>
        <p:nvSpPr>
          <p:cNvPr id="11" name="Text 8"/>
          <p:cNvSpPr txBox="1"/>
          <p:nvPr/>
        </p:nvSpPr>
        <p:spPr>
          <a:xfrm>
            <a:off x="822960" y="3749040"/>
            <a:ext cx="4892040" cy="274320"/>
          </a:xfrm>
          <a:prstGeom prst="rect">
            <a:avLst/>
          </a:prstGeom>
          <a:noFill/>
          <a:ln/>
        </p:spPr>
        <p:txBody>
          <a:bodyPr wrap="square" lIns="0" tIns="0" rIns="0" bIns="0" rtlCol="0" anchor="t"/>
          <a:lstStyle/>
          <a:p>
            <a:pPr algn="l" indent="0" marL="0">
              <a:lnSpc>
                <a:spcPct val="100000"/>
              </a:lnSpc>
              <a:buNone/>
            </a:pPr>
            <a:r>
              <a:rPr lang="en-US" sz="1300" b="1" dirty="0">
                <a:solidFill>
                  <a:srgbClr val="9FB0E0"/>
                </a:solidFill>
                <a:latin typeface="Times New Roman" pitchFamily="34" charset="0"/>
                <a:ea typeface="Times New Roman" pitchFamily="34" charset="-122"/>
                <a:cs typeface="Times New Roman" pitchFamily="34" charset="-120"/>
              </a:rPr>
              <a:t>AFZALLIK</a:t>
            </a:r>
            <a:endParaRPr lang="en-US" sz="1300" dirty="0"/>
          </a:p>
        </p:txBody>
      </p:sp>
      <p:sp>
        <p:nvSpPr>
          <p:cNvPr id="12" name="Text 9"/>
          <p:cNvSpPr txBox="1"/>
          <p:nvPr/>
        </p:nvSpPr>
        <p:spPr>
          <a:xfrm>
            <a:off x="822960" y="4005072"/>
            <a:ext cx="4892040" cy="475488"/>
          </a:xfrm>
          <a:prstGeom prst="rect">
            <a:avLst/>
          </a:prstGeom>
          <a:noFill/>
          <a:ln/>
        </p:spPr>
        <p:txBody>
          <a:bodyPr wrap="square" lIns="0" tIns="0" rIns="0" bIns="0" rtlCol="0" anchor="t"/>
          <a:lstStyle/>
          <a:p>
            <a:pPr algn="l" indent="0" marL="0">
              <a:lnSpc>
                <a:spcPct val="100000"/>
              </a:lnSpc>
              <a:buNone/>
            </a:pPr>
            <a:r>
              <a:rPr lang="en-US" sz="1600" dirty="0">
                <a:solidFill>
                  <a:srgbClr val="FFFFFF"/>
                </a:solidFill>
                <a:latin typeface="Times New Roman" pitchFamily="34" charset="0"/>
                <a:ea typeface="Times New Roman" pitchFamily="34" charset="-122"/>
                <a:cs typeface="Times New Roman" pitchFamily="34" charset="-120"/>
              </a:rPr>
              <a:t>Kalit qurilmadan chiqmaydi — eng yuqori ishonch</a:t>
            </a:r>
            <a:endParaRPr lang="en-US" sz="1600" dirty="0"/>
          </a:p>
        </p:txBody>
      </p:sp>
      <p:sp>
        <p:nvSpPr>
          <p:cNvPr id="13" name="Text 10"/>
          <p:cNvSpPr txBox="1"/>
          <p:nvPr/>
        </p:nvSpPr>
        <p:spPr>
          <a:xfrm>
            <a:off x="822960" y="4526280"/>
            <a:ext cx="4892040" cy="274320"/>
          </a:xfrm>
          <a:prstGeom prst="rect">
            <a:avLst/>
          </a:prstGeom>
          <a:noFill/>
          <a:ln/>
        </p:spPr>
        <p:txBody>
          <a:bodyPr wrap="square" lIns="0" tIns="0" rIns="0" bIns="0" rtlCol="0" anchor="t"/>
          <a:lstStyle/>
          <a:p>
            <a:pPr algn="l" indent="0" marL="0">
              <a:lnSpc>
                <a:spcPct val="100000"/>
              </a:lnSpc>
              <a:buNone/>
            </a:pPr>
            <a:r>
              <a:rPr lang="en-US" sz="1300" b="1" dirty="0">
                <a:solidFill>
                  <a:srgbClr val="9FB0E0"/>
                </a:solidFill>
                <a:latin typeface="Times New Roman" pitchFamily="34" charset="0"/>
                <a:ea typeface="Times New Roman" pitchFamily="34" charset="-122"/>
                <a:cs typeface="Times New Roman" pitchFamily="34" charset="-120"/>
              </a:rPr>
              <a:t>KAMCHILIK</a:t>
            </a:r>
            <a:endParaRPr lang="en-US" sz="1300" dirty="0"/>
          </a:p>
        </p:txBody>
      </p:sp>
      <p:sp>
        <p:nvSpPr>
          <p:cNvPr id="14" name="Text 11"/>
          <p:cNvSpPr txBox="1"/>
          <p:nvPr/>
        </p:nvSpPr>
        <p:spPr>
          <a:xfrm>
            <a:off x="822960" y="4782312"/>
            <a:ext cx="4892040" cy="475488"/>
          </a:xfrm>
          <a:prstGeom prst="rect">
            <a:avLst/>
          </a:prstGeom>
          <a:noFill/>
          <a:ln/>
        </p:spPr>
        <p:txBody>
          <a:bodyPr wrap="square" lIns="0" tIns="0" rIns="0" bIns="0" rtlCol="0" anchor="t"/>
          <a:lstStyle/>
          <a:p>
            <a:pPr algn="l" indent="0" marL="0">
              <a:lnSpc>
                <a:spcPct val="100000"/>
              </a:lnSpc>
              <a:buNone/>
            </a:pPr>
            <a:r>
              <a:rPr lang="en-US" sz="1600" dirty="0">
                <a:solidFill>
                  <a:srgbClr val="FFFFFF"/>
                </a:solidFill>
                <a:latin typeface="Times New Roman" pitchFamily="34" charset="0"/>
                <a:ea typeface="Times New Roman" pitchFamily="34" charset="-122"/>
                <a:cs typeface="Times New Roman" pitchFamily="34" charset="-120"/>
              </a:rPr>
              <a:t>Qurilma yo'qolsa, qayta ro'yxatdan o'tish kerak</a:t>
            </a:r>
            <a:endParaRPr lang="en-US" sz="1600" dirty="0"/>
          </a:p>
        </p:txBody>
      </p:sp>
      <p:sp>
        <p:nvSpPr>
          <p:cNvPr id="15" name="Shape 12"/>
          <p:cNvSpPr/>
          <p:nvPr/>
        </p:nvSpPr>
        <p:spPr>
          <a:xfrm>
            <a:off x="822960" y="5257800"/>
            <a:ext cx="2011680" cy="411480"/>
          </a:xfrm>
          <a:prstGeom prst="roundRect">
            <a:avLst>
              <a:gd name="adj" fmla="val 48889"/>
            </a:avLst>
          </a:prstGeom>
          <a:solidFill>
            <a:srgbClr val="1F6B4A"/>
          </a:solidFill>
          <a:ln/>
        </p:spPr>
      </p:sp>
      <p:sp>
        <p:nvSpPr>
          <p:cNvPr id="16" name="Text 13"/>
          <p:cNvSpPr txBox="1"/>
          <p:nvPr/>
        </p:nvSpPr>
        <p:spPr>
          <a:xfrm>
            <a:off x="822960" y="5257800"/>
            <a:ext cx="2011680" cy="411480"/>
          </a:xfrm>
          <a:prstGeom prst="rect">
            <a:avLst/>
          </a:prstGeom>
          <a:noFill/>
          <a:ln/>
        </p:spPr>
        <p:txBody>
          <a:bodyPr wrap="square" lIns="50800" tIns="50800" rIns="50800" bIns="50800" rtlCol="0" anchor="ctr"/>
          <a:lstStyle/>
          <a:p>
            <a:pPr algn="ctr" indent="0" marL="0">
              <a:lnSpc>
                <a:spcPct val="100000"/>
              </a:lnSpc>
              <a:buNone/>
            </a:pPr>
            <a:r>
              <a:rPr lang="en-US" sz="1400" b="1" dirty="0">
                <a:solidFill>
                  <a:srgbClr val="FFFFFF"/>
                </a:solidFill>
                <a:latin typeface="Times New Roman" pitchFamily="34" charset="0"/>
                <a:ea typeface="Times New Roman" pitchFamily="34" charset="-122"/>
                <a:cs typeface="Times New Roman" pitchFamily="34" charset="-120"/>
              </a:rPr>
              <a:t>NIST: AAL3 gacha</a:t>
            </a:r>
            <a:endParaRPr lang="en-US" sz="1400" dirty="0"/>
          </a:p>
        </p:txBody>
      </p:sp>
      <p:sp>
        <p:nvSpPr>
          <p:cNvPr id="17" name="Shape 14"/>
          <p:cNvSpPr/>
          <p:nvPr/>
        </p:nvSpPr>
        <p:spPr>
          <a:xfrm>
            <a:off x="6172200" y="1783080"/>
            <a:ext cx="5440680" cy="4023360"/>
          </a:xfrm>
          <a:prstGeom prst="roundRect">
            <a:avLst>
              <a:gd name="adj" fmla="val 2045"/>
            </a:avLst>
          </a:prstGeom>
          <a:solidFill>
            <a:srgbClr val="EEF2FB"/>
          </a:solidFill>
          <a:ln/>
        </p:spPr>
      </p:sp>
      <p:sp>
        <p:nvSpPr>
          <p:cNvPr id="18" name="Shape 15"/>
          <p:cNvSpPr/>
          <p:nvPr/>
        </p:nvSpPr>
        <p:spPr>
          <a:xfrm>
            <a:off x="6446520" y="2011680"/>
            <a:ext cx="685800" cy="685800"/>
          </a:xfrm>
          <a:prstGeom prst="ellipse">
            <a:avLst/>
          </a:prstGeom>
          <a:solidFill>
            <a:srgbClr val="1E2761"/>
          </a:solidFill>
          <a:ln/>
        </p:spPr>
      </p:sp>
      <p:pic>
        <p:nvPicPr>
          <p:cNvPr id="19" name="Image 1" descr="/home/claude/fob-slides/icons_out/sync_white.png"/>
          <p:cNvPicPr>
            <a:picLocks noChangeAspect="1"/>
          </p:cNvPicPr>
          <p:nvPr/>
        </p:nvPicPr>
        <p:blipFill>
          <a:blip r:embed="rId2"/>
          <a:stretch>
            <a:fillRect/>
          </a:stretch>
        </p:blipFill>
        <p:spPr>
          <a:xfrm>
            <a:off x="6600825" y="2165985"/>
            <a:ext cx="377190" cy="377190"/>
          </a:xfrm>
          <a:prstGeom prst="rect">
            <a:avLst/>
          </a:prstGeom>
        </p:spPr>
      </p:pic>
      <p:sp>
        <p:nvSpPr>
          <p:cNvPr id="20" name="Text 16"/>
          <p:cNvSpPr txBox="1"/>
          <p:nvPr/>
        </p:nvSpPr>
        <p:spPr>
          <a:xfrm>
            <a:off x="7315200" y="1965960"/>
            <a:ext cx="4069080" cy="457200"/>
          </a:xfrm>
          <a:prstGeom prst="rect">
            <a:avLst/>
          </a:prstGeom>
          <a:noFill/>
          <a:ln/>
        </p:spPr>
        <p:txBody>
          <a:bodyPr wrap="square" lIns="0" tIns="0" rIns="0" bIns="0" rtlCol="0" anchor="t"/>
          <a:lstStyle/>
          <a:p>
            <a:pPr algn="l" indent="0" marL="0">
              <a:lnSpc>
                <a:spcPct val="100000"/>
              </a:lnSpc>
              <a:buNone/>
            </a:pPr>
            <a:r>
              <a:rPr lang="en-US" sz="2200" b="1" dirty="0">
                <a:solidFill>
                  <a:srgbClr val="1E2761"/>
                </a:solidFill>
                <a:latin typeface="Times New Roman" pitchFamily="34" charset="0"/>
                <a:ea typeface="Times New Roman" pitchFamily="34" charset="-122"/>
                <a:cs typeface="Times New Roman" pitchFamily="34" charset="-120"/>
              </a:rPr>
              <a:t>Sinxronlanadigan</a:t>
            </a:r>
            <a:endParaRPr lang="en-US" sz="2200" dirty="0"/>
          </a:p>
        </p:txBody>
      </p:sp>
      <p:sp>
        <p:nvSpPr>
          <p:cNvPr id="21" name="Text 17"/>
          <p:cNvSpPr txBox="1"/>
          <p:nvPr/>
        </p:nvSpPr>
        <p:spPr>
          <a:xfrm>
            <a:off x="7315200" y="2377440"/>
            <a:ext cx="4069080" cy="320040"/>
          </a:xfrm>
          <a:prstGeom prst="rect">
            <a:avLst/>
          </a:prstGeom>
          <a:noFill/>
          <a:ln/>
        </p:spPr>
        <p:txBody>
          <a:bodyPr wrap="square" lIns="0" tIns="0" rIns="0" bIns="0" rtlCol="0" anchor="t"/>
          <a:lstStyle/>
          <a:p>
            <a:pPr algn="l"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synced</a:t>
            </a:r>
            <a:endParaRPr lang="en-US" sz="1400" dirty="0"/>
          </a:p>
        </p:txBody>
      </p:sp>
      <p:sp>
        <p:nvSpPr>
          <p:cNvPr id="22" name="Text 18"/>
          <p:cNvSpPr txBox="1"/>
          <p:nvPr/>
        </p:nvSpPr>
        <p:spPr>
          <a:xfrm>
            <a:off x="6446520" y="2971800"/>
            <a:ext cx="4892040" cy="274320"/>
          </a:xfrm>
          <a:prstGeom prst="rect">
            <a:avLst/>
          </a:prstGeom>
          <a:noFill/>
          <a:ln/>
        </p:spPr>
        <p:txBody>
          <a:bodyPr wrap="square" lIns="0" tIns="0" rIns="0" bIns="0" rtlCol="0" anchor="t"/>
          <a:lstStyle/>
          <a:p>
            <a:pPr algn="l" indent="0" marL="0">
              <a:lnSpc>
                <a:spcPct val="100000"/>
              </a:lnSpc>
              <a:buNone/>
            </a:pPr>
            <a:r>
              <a:rPr lang="en-US" sz="1300" b="1" dirty="0">
                <a:solidFill>
                  <a:srgbClr val="5B6270"/>
                </a:solidFill>
                <a:latin typeface="Times New Roman" pitchFamily="34" charset="0"/>
                <a:ea typeface="Times New Roman" pitchFamily="34" charset="-122"/>
                <a:cs typeface="Times New Roman" pitchFamily="34" charset="-120"/>
              </a:rPr>
              <a:t>MISOL</a:t>
            </a:r>
            <a:endParaRPr lang="en-US" sz="1300" dirty="0"/>
          </a:p>
        </p:txBody>
      </p:sp>
      <p:sp>
        <p:nvSpPr>
          <p:cNvPr id="23" name="Text 19"/>
          <p:cNvSpPr txBox="1"/>
          <p:nvPr/>
        </p:nvSpPr>
        <p:spPr>
          <a:xfrm>
            <a:off x="6446520" y="3227832"/>
            <a:ext cx="4892040" cy="475488"/>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Google Password Manager, iCloud, 1Password, Bitwarden</a:t>
            </a:r>
            <a:endParaRPr lang="en-US" sz="1600" dirty="0"/>
          </a:p>
        </p:txBody>
      </p:sp>
      <p:sp>
        <p:nvSpPr>
          <p:cNvPr id="24" name="Text 20"/>
          <p:cNvSpPr txBox="1"/>
          <p:nvPr/>
        </p:nvSpPr>
        <p:spPr>
          <a:xfrm>
            <a:off x="6446520" y="3749040"/>
            <a:ext cx="4892040" cy="274320"/>
          </a:xfrm>
          <a:prstGeom prst="rect">
            <a:avLst/>
          </a:prstGeom>
          <a:noFill/>
          <a:ln/>
        </p:spPr>
        <p:txBody>
          <a:bodyPr wrap="square" lIns="0" tIns="0" rIns="0" bIns="0" rtlCol="0" anchor="t"/>
          <a:lstStyle/>
          <a:p>
            <a:pPr algn="l" indent="0" marL="0">
              <a:lnSpc>
                <a:spcPct val="100000"/>
              </a:lnSpc>
              <a:buNone/>
            </a:pPr>
            <a:r>
              <a:rPr lang="en-US" sz="1300" b="1" dirty="0">
                <a:solidFill>
                  <a:srgbClr val="5B6270"/>
                </a:solidFill>
                <a:latin typeface="Times New Roman" pitchFamily="34" charset="0"/>
                <a:ea typeface="Times New Roman" pitchFamily="34" charset="-122"/>
                <a:cs typeface="Times New Roman" pitchFamily="34" charset="-120"/>
              </a:rPr>
              <a:t>AFZALLIK</a:t>
            </a:r>
            <a:endParaRPr lang="en-US" sz="1300" dirty="0"/>
          </a:p>
        </p:txBody>
      </p:sp>
      <p:sp>
        <p:nvSpPr>
          <p:cNvPr id="25" name="Text 21"/>
          <p:cNvSpPr txBox="1"/>
          <p:nvPr/>
        </p:nvSpPr>
        <p:spPr>
          <a:xfrm>
            <a:off x="6446520" y="4005072"/>
            <a:ext cx="4892040" cy="475488"/>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Barcha qurilmalarda mavjud — qulay, yo'qotish xavfi kam</a:t>
            </a:r>
            <a:endParaRPr lang="en-US" sz="1600" dirty="0"/>
          </a:p>
        </p:txBody>
      </p:sp>
      <p:sp>
        <p:nvSpPr>
          <p:cNvPr id="26" name="Text 22"/>
          <p:cNvSpPr txBox="1"/>
          <p:nvPr/>
        </p:nvSpPr>
        <p:spPr>
          <a:xfrm>
            <a:off x="6446520" y="4526280"/>
            <a:ext cx="4892040" cy="274320"/>
          </a:xfrm>
          <a:prstGeom prst="rect">
            <a:avLst/>
          </a:prstGeom>
          <a:noFill/>
          <a:ln/>
        </p:spPr>
        <p:txBody>
          <a:bodyPr wrap="square" lIns="0" tIns="0" rIns="0" bIns="0" rtlCol="0" anchor="t"/>
          <a:lstStyle/>
          <a:p>
            <a:pPr algn="l" indent="0" marL="0">
              <a:lnSpc>
                <a:spcPct val="100000"/>
              </a:lnSpc>
              <a:buNone/>
            </a:pPr>
            <a:r>
              <a:rPr lang="en-US" sz="1300" b="1" dirty="0">
                <a:solidFill>
                  <a:srgbClr val="5B6270"/>
                </a:solidFill>
                <a:latin typeface="Times New Roman" pitchFamily="34" charset="0"/>
                <a:ea typeface="Times New Roman" pitchFamily="34" charset="-122"/>
                <a:cs typeface="Times New Roman" pitchFamily="34" charset="-120"/>
              </a:rPr>
              <a:t>KAMCHILIK</a:t>
            </a:r>
            <a:endParaRPr lang="en-US" sz="1300" dirty="0"/>
          </a:p>
        </p:txBody>
      </p:sp>
      <p:sp>
        <p:nvSpPr>
          <p:cNvPr id="27" name="Text 23"/>
          <p:cNvSpPr txBox="1"/>
          <p:nvPr/>
        </p:nvSpPr>
        <p:spPr>
          <a:xfrm>
            <a:off x="6446520" y="4782312"/>
            <a:ext cx="4892040" cy="475488"/>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Kalit bulut orqali nusxalanadi — eksport qilinadi</a:t>
            </a:r>
            <a:endParaRPr lang="en-US" sz="1600" dirty="0"/>
          </a:p>
        </p:txBody>
      </p:sp>
      <p:sp>
        <p:nvSpPr>
          <p:cNvPr id="28" name="Shape 24"/>
          <p:cNvSpPr/>
          <p:nvPr/>
        </p:nvSpPr>
        <p:spPr>
          <a:xfrm>
            <a:off x="6446520" y="5257800"/>
            <a:ext cx="2011680" cy="411480"/>
          </a:xfrm>
          <a:prstGeom prst="roundRect">
            <a:avLst>
              <a:gd name="adj" fmla="val 48889"/>
            </a:avLst>
          </a:prstGeom>
          <a:solidFill>
            <a:srgbClr val="2A3778"/>
          </a:solidFill>
          <a:ln/>
        </p:spPr>
      </p:sp>
      <p:sp>
        <p:nvSpPr>
          <p:cNvPr id="29" name="Text 25"/>
          <p:cNvSpPr txBox="1"/>
          <p:nvPr/>
        </p:nvSpPr>
        <p:spPr>
          <a:xfrm>
            <a:off x="6446520" y="5257800"/>
            <a:ext cx="2011680" cy="411480"/>
          </a:xfrm>
          <a:prstGeom prst="rect">
            <a:avLst/>
          </a:prstGeom>
          <a:noFill/>
          <a:ln/>
        </p:spPr>
        <p:txBody>
          <a:bodyPr wrap="square" lIns="50800" tIns="50800" rIns="50800" bIns="50800" rtlCol="0" anchor="ctr"/>
          <a:lstStyle/>
          <a:p>
            <a:pPr algn="ctr" indent="0" marL="0">
              <a:lnSpc>
                <a:spcPct val="100000"/>
              </a:lnSpc>
              <a:buNone/>
            </a:pPr>
            <a:r>
              <a:rPr lang="en-US" sz="1400" b="1" dirty="0">
                <a:solidFill>
                  <a:srgbClr val="FFFFFF"/>
                </a:solidFill>
                <a:latin typeface="Times New Roman" pitchFamily="34" charset="0"/>
                <a:ea typeface="Times New Roman" pitchFamily="34" charset="-122"/>
                <a:cs typeface="Times New Roman" pitchFamily="34" charset="-120"/>
              </a:rPr>
              <a:t>NIST: AAL2 gacha</a:t>
            </a:r>
            <a:endParaRPr lang="en-US" sz="1400" dirty="0"/>
          </a:p>
        </p:txBody>
      </p:sp>
      <p:sp>
        <p:nvSpPr>
          <p:cNvPr id="30" name="Text 26"/>
          <p:cNvSpPr txBox="1"/>
          <p:nvPr/>
        </p:nvSpPr>
        <p:spPr>
          <a:xfrm>
            <a:off x="548640" y="5943600"/>
            <a:ext cx="11064240" cy="411480"/>
          </a:xfrm>
          <a:prstGeom prst="rect">
            <a:avLst/>
          </a:prstGeom>
          <a:noFill/>
          <a:ln/>
        </p:spPr>
        <p:txBody>
          <a:bodyPr wrap="square" lIns="0" tIns="0" rIns="0" bIns="0" rtlCol="0" anchor="t"/>
          <a:lstStyle/>
          <a:p>
            <a:pPr algn="ctr" indent="0" marL="0">
              <a:lnSpc>
                <a:spcPct val="100000"/>
              </a:lnSpc>
              <a:buNone/>
            </a:pPr>
            <a:r>
              <a:rPr lang="en-US" sz="1600" dirty="0">
                <a:solidFill>
                  <a:srgbClr val="1E2761"/>
                </a:solidFill>
                <a:latin typeface="Times New Roman" pitchFamily="34" charset="0"/>
                <a:ea typeface="Times New Roman" pitchFamily="34" charset="-122"/>
                <a:cs typeface="Times New Roman" pitchFamily="34" charset="-120"/>
              </a:rPr>
              <a:t>Tavsiya: talabalar uchun — sinxronlanadigan passkey; ma'murlar uchun — qurilmaga bog'langan (apparat kalit).</a:t>
            </a:r>
            <a:endParaRPr lang="en-US" sz="1600" dirty="0"/>
          </a:p>
        </p:txBody>
      </p:sp>
      <p:sp>
        <p:nvSpPr>
          <p:cNvPr id="31" name="Text 27"/>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5-ma'ruza</a:t>
            </a:r>
            <a:endParaRPr lang="en-US" sz="1100" dirty="0"/>
          </a:p>
        </p:txBody>
      </p:sp>
      <p:sp>
        <p:nvSpPr>
          <p:cNvPr id="32" name="Text 28"/>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463040" y="4206240"/>
            <a:ext cx="4572000" cy="4572000"/>
          </a:xfrm>
          <a:prstGeom prst="ellipse">
            <a:avLst/>
          </a:prstGeom>
          <a:solidFill>
            <a:srgbClr val="2A3778"/>
          </a:solidFill>
          <a:ln/>
        </p:spPr>
      </p:sp>
      <p:sp>
        <p:nvSpPr>
          <p:cNvPr id="3" name="Text 1"/>
          <p:cNvSpPr txBox="1"/>
          <p:nvPr/>
        </p:nvSpPr>
        <p:spPr>
          <a:xfrm>
            <a:off x="1005840" y="2286000"/>
            <a:ext cx="5486400" cy="411480"/>
          </a:xfrm>
          <a:prstGeom prst="rect">
            <a:avLst/>
          </a:prstGeom>
          <a:noFill/>
          <a:ln/>
        </p:spPr>
        <p:txBody>
          <a:bodyPr wrap="square" lIns="0" tIns="0" rIns="0" bIns="0" rtlCol="0" anchor="ctr"/>
          <a:lstStyle/>
          <a:p>
            <a:pPr indent="0" marL="0">
              <a:buNone/>
            </a:pPr>
            <a:r>
              <a:rPr lang="en-US" sz="1600" b="1" spc="300" kern="0" dirty="0">
                <a:solidFill>
                  <a:srgbClr val="9FB0E0"/>
                </a:solidFill>
                <a:latin typeface="Times New Roman" pitchFamily="34" charset="0"/>
                <a:ea typeface="Times New Roman" pitchFamily="34" charset="-122"/>
                <a:cs typeface="Times New Roman" pitchFamily="34" charset="-120"/>
              </a:rPr>
              <a:t>II BO'LIM</a:t>
            </a:r>
            <a:endParaRPr lang="en-US" sz="1600" dirty="0"/>
          </a:p>
        </p:txBody>
      </p:sp>
      <p:sp>
        <p:nvSpPr>
          <p:cNvPr id="4" name="Text 2"/>
          <p:cNvSpPr txBox="1"/>
          <p:nvPr/>
        </p:nvSpPr>
        <p:spPr>
          <a:xfrm>
            <a:off x="1005840" y="2724912"/>
            <a:ext cx="8229600" cy="914400"/>
          </a:xfrm>
          <a:prstGeom prst="rect">
            <a:avLst/>
          </a:prstGeom>
          <a:noFill/>
          <a:ln/>
        </p:spPr>
        <p:txBody>
          <a:bodyPr wrap="square" lIns="0" tIns="0" rIns="0" bIns="0" rtlCol="0" anchor="ctr"/>
          <a:lstStyle/>
          <a:p>
            <a:pPr indent="0" marL="0">
              <a:buNone/>
            </a:pPr>
            <a:r>
              <a:rPr lang="en-US" sz="4400" b="1" dirty="0">
                <a:solidFill>
                  <a:srgbClr val="FFFFFF"/>
                </a:solidFill>
                <a:latin typeface="Times New Roman" pitchFamily="34" charset="0"/>
                <a:ea typeface="Times New Roman" pitchFamily="34" charset="-122"/>
                <a:cs typeface="Times New Roman" pitchFamily="34" charset="-120"/>
              </a:rPr>
              <a:t>Windows'da parolsiz kirish</a:t>
            </a:r>
            <a:endParaRPr lang="en-US" sz="4400" dirty="0"/>
          </a:p>
        </p:txBody>
      </p:sp>
      <p:sp>
        <p:nvSpPr>
          <p:cNvPr id="5" name="Text 3"/>
          <p:cNvSpPr txBox="1"/>
          <p:nvPr/>
        </p:nvSpPr>
        <p:spPr>
          <a:xfrm>
            <a:off x="1005840" y="3703320"/>
            <a:ext cx="8229600" cy="502920"/>
          </a:xfrm>
          <a:prstGeom prst="rect">
            <a:avLst/>
          </a:prstGeom>
          <a:noFill/>
          <a:ln/>
        </p:spPr>
        <p:txBody>
          <a:bodyPr wrap="square" lIns="0" tIns="0" rIns="0" bIns="0" rtlCol="0" anchor="ctr"/>
          <a:lstStyle/>
          <a:p>
            <a:pPr indent="0" marL="0">
              <a:buNone/>
            </a:pPr>
            <a:r>
              <a:rPr lang="en-US" sz="2000" dirty="0">
                <a:solidFill>
                  <a:srgbClr val="CADCFC"/>
                </a:solidFill>
                <a:latin typeface="Times New Roman" pitchFamily="34" charset="0"/>
                <a:ea typeface="Times New Roman" pitchFamily="34" charset="-122"/>
                <a:cs typeface="Times New Roman" pitchFamily="34" charset="-120"/>
              </a:rPr>
              <a:t>Windows Hello · TPM · Hello for Business · Passkey</a:t>
            </a:r>
            <a:endParaRPr lang="en-US" sz="2000" dirty="0"/>
          </a:p>
        </p:txBody>
      </p:sp>
      <p:sp>
        <p:nvSpPr>
          <p:cNvPr id="6" name="Text 4"/>
          <p:cNvSpPr txBox="1"/>
          <p:nvPr/>
        </p:nvSpPr>
        <p:spPr>
          <a:xfrm>
            <a:off x="9052560" y="1920240"/>
            <a:ext cx="2560320" cy="2743200"/>
          </a:xfrm>
          <a:prstGeom prst="rect">
            <a:avLst/>
          </a:prstGeom>
          <a:noFill/>
          <a:ln/>
        </p:spPr>
        <p:txBody>
          <a:bodyPr wrap="square" rtlCol="0" anchor="ctr"/>
          <a:lstStyle/>
          <a:p>
            <a:pPr algn="ctr" indent="0" marL="0">
              <a:buNone/>
            </a:pPr>
            <a:r>
              <a:rPr lang="en-US" sz="13000" b="1" dirty="0">
                <a:solidFill>
                  <a:srgbClr val="2A3778"/>
                </a:solidFill>
                <a:latin typeface="Times New Roman" pitchFamily="34" charset="0"/>
                <a:ea typeface="Times New Roman" pitchFamily="34" charset="-122"/>
                <a:cs typeface="Times New Roman" pitchFamily="34" charset="-120"/>
              </a:rPr>
              <a:t>II</a:t>
            </a:r>
            <a:endParaRPr lang="en-US" sz="13000" dirty="0"/>
          </a:p>
        </p:txBody>
      </p:sp>
      <p:sp>
        <p:nvSpPr>
          <p:cNvPr id="7" name="Text 5"/>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9FB0E0"/>
                </a:solidFill>
                <a:latin typeface="Times New Roman" pitchFamily="34" charset="0"/>
                <a:ea typeface="Times New Roman" pitchFamily="34" charset="-122"/>
                <a:cs typeface="Times New Roman" pitchFamily="34" charset="-120"/>
              </a:rPr>
              <a:t>Foydalanishlarni boshqarish  ·  5-ma'ruza</a:t>
            </a:r>
            <a:endParaRPr lang="en-US" sz="1100" dirty="0"/>
          </a:p>
        </p:txBody>
      </p:sp>
      <p:sp>
        <p:nvSpPr>
          <p:cNvPr id="8" name="Text 6"/>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9FB0E0"/>
                </a:solidFill>
                <a:latin typeface="Times New Roman" pitchFamily="34" charset="0"/>
                <a:ea typeface="Times New Roman" pitchFamily="34" charset="-122"/>
                <a:cs typeface="Times New Roman"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II · WINDOWS HELLO</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PIN parol emas: u kalitni ochadi</a:t>
            </a:r>
            <a:endParaRPr lang="en-US" sz="3600" dirty="0"/>
          </a:p>
        </p:txBody>
      </p:sp>
      <p:sp>
        <p:nvSpPr>
          <p:cNvPr id="4" name="Shape 2"/>
          <p:cNvSpPr/>
          <p:nvPr/>
        </p:nvSpPr>
        <p:spPr>
          <a:xfrm>
            <a:off x="548640" y="1783080"/>
            <a:ext cx="3291840" cy="841248"/>
          </a:xfrm>
          <a:prstGeom prst="roundRect">
            <a:avLst>
              <a:gd name="adj" fmla="val 9783"/>
            </a:avLst>
          </a:prstGeom>
          <a:solidFill>
            <a:srgbClr val="EEF2FB"/>
          </a:solidFill>
          <a:ln/>
        </p:spPr>
      </p:sp>
      <p:sp>
        <p:nvSpPr>
          <p:cNvPr id="5" name="Shape 3"/>
          <p:cNvSpPr/>
          <p:nvPr/>
        </p:nvSpPr>
        <p:spPr>
          <a:xfrm>
            <a:off x="713232" y="1920240"/>
            <a:ext cx="566928" cy="566928"/>
          </a:xfrm>
          <a:prstGeom prst="ellipse">
            <a:avLst/>
          </a:prstGeom>
          <a:solidFill>
            <a:srgbClr val="1E2761"/>
          </a:solidFill>
          <a:ln/>
        </p:spPr>
      </p:sp>
      <p:pic>
        <p:nvPicPr>
          <p:cNvPr id="6" name="Image 0" descr="/home/claude/fob-slides/icons_out/key_white.png"/>
          <p:cNvPicPr>
            <a:picLocks noChangeAspect="1"/>
          </p:cNvPicPr>
          <p:nvPr/>
        </p:nvPicPr>
        <p:blipFill>
          <a:blip r:embed="rId1"/>
          <a:stretch>
            <a:fillRect/>
          </a:stretch>
        </p:blipFill>
        <p:spPr>
          <a:xfrm>
            <a:off x="840791" y="2047799"/>
            <a:ext cx="311810" cy="311810"/>
          </a:xfrm>
          <a:prstGeom prst="rect">
            <a:avLst/>
          </a:prstGeom>
        </p:spPr>
      </p:pic>
      <p:sp>
        <p:nvSpPr>
          <p:cNvPr id="7" name="Text 4"/>
          <p:cNvSpPr txBox="1"/>
          <p:nvPr/>
        </p:nvSpPr>
        <p:spPr>
          <a:xfrm>
            <a:off x="1417320" y="1837944"/>
            <a:ext cx="2331720" cy="365760"/>
          </a:xfrm>
          <a:prstGeom prst="rect">
            <a:avLst/>
          </a:prstGeom>
          <a:noFill/>
          <a:ln/>
        </p:spPr>
        <p:txBody>
          <a:bodyPr wrap="square" lIns="0" tIns="0" rIns="0" bIns="0" rtlCol="0" anchor="t"/>
          <a:lstStyle/>
          <a:p>
            <a:pPr algn="l" indent="0" marL="0">
              <a:lnSpc>
                <a:spcPct val="100000"/>
              </a:lnSpc>
              <a:buNone/>
            </a:pPr>
            <a:r>
              <a:rPr lang="en-US" sz="1800" b="1" dirty="0">
                <a:solidFill>
                  <a:srgbClr val="1E2761"/>
                </a:solidFill>
                <a:latin typeface="Times New Roman" pitchFamily="34" charset="0"/>
                <a:ea typeface="Times New Roman" pitchFamily="34" charset="-122"/>
                <a:cs typeface="Times New Roman" pitchFamily="34" charset="-120"/>
              </a:rPr>
              <a:t>PIN</a:t>
            </a:r>
            <a:endParaRPr lang="en-US" sz="1800" dirty="0"/>
          </a:p>
        </p:txBody>
      </p:sp>
      <p:sp>
        <p:nvSpPr>
          <p:cNvPr id="8" name="Text 5"/>
          <p:cNvSpPr txBox="1"/>
          <p:nvPr/>
        </p:nvSpPr>
        <p:spPr>
          <a:xfrm>
            <a:off x="1417320" y="2203704"/>
            <a:ext cx="2377440" cy="384048"/>
          </a:xfrm>
          <a:prstGeom prst="rect">
            <a:avLst/>
          </a:prstGeom>
          <a:noFill/>
          <a:ln/>
        </p:spPr>
        <p:txBody>
          <a:bodyPr wrap="square" lIns="0" tIns="0" rIns="0" bIns="0" rtlCol="0" anchor="t"/>
          <a:lstStyle/>
          <a:p>
            <a:pPr algn="l" indent="0" marL="0">
              <a:lnSpc>
                <a:spcPct val="100000"/>
              </a:lnSpc>
              <a:buNone/>
            </a:pPr>
            <a:r>
              <a:rPr lang="en-US" sz="1400" dirty="0">
                <a:solidFill>
                  <a:srgbClr val="1B1B2A"/>
                </a:solidFill>
                <a:latin typeface="Times New Roman" pitchFamily="34" charset="0"/>
                <a:ea typeface="Times New Roman" pitchFamily="34" charset="-122"/>
                <a:cs typeface="Times New Roman" pitchFamily="34" charset="-120"/>
              </a:rPr>
              <a:t>Faqat shu qurilmada ishlaydi</a:t>
            </a:r>
            <a:endParaRPr lang="en-US" sz="1400" dirty="0"/>
          </a:p>
        </p:txBody>
      </p:sp>
      <p:sp>
        <p:nvSpPr>
          <p:cNvPr id="9" name="Shape 6"/>
          <p:cNvSpPr/>
          <p:nvPr/>
        </p:nvSpPr>
        <p:spPr>
          <a:xfrm>
            <a:off x="548640" y="2743200"/>
            <a:ext cx="3291840" cy="841248"/>
          </a:xfrm>
          <a:prstGeom prst="roundRect">
            <a:avLst>
              <a:gd name="adj" fmla="val 9783"/>
            </a:avLst>
          </a:prstGeom>
          <a:solidFill>
            <a:srgbClr val="EEF2FB"/>
          </a:solidFill>
          <a:ln/>
        </p:spPr>
      </p:sp>
      <p:sp>
        <p:nvSpPr>
          <p:cNvPr id="10" name="Shape 7"/>
          <p:cNvSpPr/>
          <p:nvPr/>
        </p:nvSpPr>
        <p:spPr>
          <a:xfrm>
            <a:off x="713232" y="2880360"/>
            <a:ext cx="566928" cy="566928"/>
          </a:xfrm>
          <a:prstGeom prst="ellipse">
            <a:avLst/>
          </a:prstGeom>
          <a:solidFill>
            <a:srgbClr val="1E2761"/>
          </a:solidFill>
          <a:ln/>
        </p:spPr>
      </p:sp>
      <p:pic>
        <p:nvPicPr>
          <p:cNvPr id="11" name="Image 1" descr="/home/claude/fob-slides/icons_out/fingerprint_white.png"/>
          <p:cNvPicPr>
            <a:picLocks noChangeAspect="1"/>
          </p:cNvPicPr>
          <p:nvPr/>
        </p:nvPicPr>
        <p:blipFill>
          <a:blip r:embed="rId2"/>
          <a:stretch>
            <a:fillRect/>
          </a:stretch>
        </p:blipFill>
        <p:spPr>
          <a:xfrm>
            <a:off x="840791" y="3007919"/>
            <a:ext cx="311810" cy="311810"/>
          </a:xfrm>
          <a:prstGeom prst="rect">
            <a:avLst/>
          </a:prstGeom>
        </p:spPr>
      </p:pic>
      <p:sp>
        <p:nvSpPr>
          <p:cNvPr id="12" name="Text 8"/>
          <p:cNvSpPr txBox="1"/>
          <p:nvPr/>
        </p:nvSpPr>
        <p:spPr>
          <a:xfrm>
            <a:off x="1417320" y="2798064"/>
            <a:ext cx="2331720" cy="365760"/>
          </a:xfrm>
          <a:prstGeom prst="rect">
            <a:avLst/>
          </a:prstGeom>
          <a:noFill/>
          <a:ln/>
        </p:spPr>
        <p:txBody>
          <a:bodyPr wrap="square" lIns="0" tIns="0" rIns="0" bIns="0" rtlCol="0" anchor="t"/>
          <a:lstStyle/>
          <a:p>
            <a:pPr algn="l" indent="0" marL="0">
              <a:lnSpc>
                <a:spcPct val="100000"/>
              </a:lnSpc>
              <a:buNone/>
            </a:pPr>
            <a:r>
              <a:rPr lang="en-US" sz="1800" b="1" dirty="0">
                <a:solidFill>
                  <a:srgbClr val="1E2761"/>
                </a:solidFill>
                <a:latin typeface="Times New Roman" pitchFamily="34" charset="0"/>
                <a:ea typeface="Times New Roman" pitchFamily="34" charset="-122"/>
                <a:cs typeface="Times New Roman" pitchFamily="34" charset="-120"/>
              </a:rPr>
              <a:t>Barmoq izi</a:t>
            </a:r>
            <a:endParaRPr lang="en-US" sz="1800" dirty="0"/>
          </a:p>
        </p:txBody>
      </p:sp>
      <p:sp>
        <p:nvSpPr>
          <p:cNvPr id="13" name="Text 9"/>
          <p:cNvSpPr txBox="1"/>
          <p:nvPr/>
        </p:nvSpPr>
        <p:spPr>
          <a:xfrm>
            <a:off x="1417320" y="3163824"/>
            <a:ext cx="2377440" cy="384048"/>
          </a:xfrm>
          <a:prstGeom prst="rect">
            <a:avLst/>
          </a:prstGeom>
          <a:noFill/>
          <a:ln/>
        </p:spPr>
        <p:txBody>
          <a:bodyPr wrap="square" lIns="0" tIns="0" rIns="0" bIns="0" rtlCol="0" anchor="t"/>
          <a:lstStyle/>
          <a:p>
            <a:pPr algn="l" indent="0" marL="0">
              <a:lnSpc>
                <a:spcPct val="100000"/>
              </a:lnSpc>
              <a:buNone/>
            </a:pPr>
            <a:r>
              <a:rPr lang="en-US" sz="1400" dirty="0">
                <a:solidFill>
                  <a:srgbClr val="1B1B2A"/>
                </a:solidFill>
                <a:latin typeface="Times New Roman" pitchFamily="34" charset="0"/>
                <a:ea typeface="Times New Roman" pitchFamily="34" charset="-122"/>
                <a:cs typeface="Times New Roman" pitchFamily="34" charset="-120"/>
              </a:rPr>
              <a:t>Andoza faqat qurilmada</a:t>
            </a:r>
            <a:endParaRPr lang="en-US" sz="1400" dirty="0"/>
          </a:p>
        </p:txBody>
      </p:sp>
      <p:sp>
        <p:nvSpPr>
          <p:cNvPr id="14" name="Shape 10"/>
          <p:cNvSpPr/>
          <p:nvPr/>
        </p:nvSpPr>
        <p:spPr>
          <a:xfrm>
            <a:off x="548640" y="3703320"/>
            <a:ext cx="3291840" cy="841248"/>
          </a:xfrm>
          <a:prstGeom prst="roundRect">
            <a:avLst>
              <a:gd name="adj" fmla="val 9783"/>
            </a:avLst>
          </a:prstGeom>
          <a:solidFill>
            <a:srgbClr val="EEF2FB"/>
          </a:solidFill>
          <a:ln/>
        </p:spPr>
      </p:sp>
      <p:sp>
        <p:nvSpPr>
          <p:cNvPr id="15" name="Shape 11"/>
          <p:cNvSpPr/>
          <p:nvPr/>
        </p:nvSpPr>
        <p:spPr>
          <a:xfrm>
            <a:off x="713232" y="3840480"/>
            <a:ext cx="566928" cy="566928"/>
          </a:xfrm>
          <a:prstGeom prst="ellipse">
            <a:avLst/>
          </a:prstGeom>
          <a:solidFill>
            <a:srgbClr val="1E2761"/>
          </a:solidFill>
          <a:ln/>
        </p:spPr>
      </p:sp>
      <p:pic>
        <p:nvPicPr>
          <p:cNvPr id="16" name="Image 2" descr="/home/claude/fob-slides/icons_out/userlock_white.png"/>
          <p:cNvPicPr>
            <a:picLocks noChangeAspect="1"/>
          </p:cNvPicPr>
          <p:nvPr/>
        </p:nvPicPr>
        <p:blipFill>
          <a:blip r:embed="rId3"/>
          <a:stretch>
            <a:fillRect/>
          </a:stretch>
        </p:blipFill>
        <p:spPr>
          <a:xfrm>
            <a:off x="840791" y="3968039"/>
            <a:ext cx="311810" cy="311810"/>
          </a:xfrm>
          <a:prstGeom prst="rect">
            <a:avLst/>
          </a:prstGeom>
        </p:spPr>
      </p:pic>
      <p:sp>
        <p:nvSpPr>
          <p:cNvPr id="17" name="Text 12"/>
          <p:cNvSpPr txBox="1"/>
          <p:nvPr/>
        </p:nvSpPr>
        <p:spPr>
          <a:xfrm>
            <a:off x="1417320" y="3758184"/>
            <a:ext cx="2331720" cy="365760"/>
          </a:xfrm>
          <a:prstGeom prst="rect">
            <a:avLst/>
          </a:prstGeom>
          <a:noFill/>
          <a:ln/>
        </p:spPr>
        <p:txBody>
          <a:bodyPr wrap="square" lIns="0" tIns="0" rIns="0" bIns="0" rtlCol="0" anchor="t"/>
          <a:lstStyle/>
          <a:p>
            <a:pPr algn="l" indent="0" marL="0">
              <a:lnSpc>
                <a:spcPct val="100000"/>
              </a:lnSpc>
              <a:buNone/>
            </a:pPr>
            <a:r>
              <a:rPr lang="en-US" sz="1800" b="1" dirty="0">
                <a:solidFill>
                  <a:srgbClr val="1E2761"/>
                </a:solidFill>
                <a:latin typeface="Times New Roman" pitchFamily="34" charset="0"/>
                <a:ea typeface="Times New Roman" pitchFamily="34" charset="-122"/>
                <a:cs typeface="Times New Roman" pitchFamily="34" charset="-120"/>
              </a:rPr>
              <a:t>Yuz</a:t>
            </a:r>
            <a:endParaRPr lang="en-US" sz="1800" dirty="0"/>
          </a:p>
        </p:txBody>
      </p:sp>
      <p:sp>
        <p:nvSpPr>
          <p:cNvPr id="18" name="Text 13"/>
          <p:cNvSpPr txBox="1"/>
          <p:nvPr/>
        </p:nvSpPr>
        <p:spPr>
          <a:xfrm>
            <a:off x="1417320" y="4123944"/>
            <a:ext cx="2377440" cy="384048"/>
          </a:xfrm>
          <a:prstGeom prst="rect">
            <a:avLst/>
          </a:prstGeom>
          <a:noFill/>
          <a:ln/>
        </p:spPr>
        <p:txBody>
          <a:bodyPr wrap="square" lIns="0" tIns="0" rIns="0" bIns="0" rtlCol="0" anchor="t"/>
          <a:lstStyle/>
          <a:p>
            <a:pPr algn="l" indent="0" marL="0">
              <a:lnSpc>
                <a:spcPct val="100000"/>
              </a:lnSpc>
              <a:buNone/>
            </a:pPr>
            <a:r>
              <a:rPr lang="en-US" sz="1400" dirty="0">
                <a:solidFill>
                  <a:srgbClr val="1B1B2A"/>
                </a:solidFill>
                <a:latin typeface="Times New Roman" pitchFamily="34" charset="0"/>
                <a:ea typeface="Times New Roman" pitchFamily="34" charset="-122"/>
                <a:cs typeface="Times New Roman" pitchFamily="34" charset="-120"/>
              </a:rPr>
              <a:t>Infraqizil kamera bilan</a:t>
            </a:r>
            <a:endParaRPr lang="en-US" sz="1400" dirty="0"/>
          </a:p>
        </p:txBody>
      </p:sp>
      <p:sp>
        <p:nvSpPr>
          <p:cNvPr id="19" name="Shape 14"/>
          <p:cNvSpPr/>
          <p:nvPr/>
        </p:nvSpPr>
        <p:spPr>
          <a:xfrm>
            <a:off x="3931920" y="3108960"/>
            <a:ext cx="548640" cy="0"/>
          </a:xfrm>
          <a:prstGeom prst="line">
            <a:avLst/>
          </a:prstGeom>
          <a:noFill/>
          <a:ln w="31750">
            <a:solidFill>
              <a:srgbClr val="1E2761"/>
            </a:solidFill>
            <a:prstDash val="solid"/>
            <a:tailEnd type="triangle"/>
          </a:ln>
        </p:spPr>
      </p:sp>
      <p:sp>
        <p:nvSpPr>
          <p:cNvPr id="20" name="Shape 15"/>
          <p:cNvSpPr/>
          <p:nvPr/>
        </p:nvSpPr>
        <p:spPr>
          <a:xfrm>
            <a:off x="4572000" y="1783080"/>
            <a:ext cx="2743200" cy="2743200"/>
          </a:xfrm>
          <a:prstGeom prst="roundRect">
            <a:avLst>
              <a:gd name="adj" fmla="val 3000"/>
            </a:avLst>
          </a:prstGeom>
          <a:solidFill>
            <a:srgbClr val="1E2761"/>
          </a:solidFill>
          <a:ln/>
        </p:spPr>
      </p:sp>
      <p:sp>
        <p:nvSpPr>
          <p:cNvPr id="21" name="Shape 16"/>
          <p:cNvSpPr/>
          <p:nvPr/>
        </p:nvSpPr>
        <p:spPr>
          <a:xfrm>
            <a:off x="5577840" y="1965960"/>
            <a:ext cx="731520" cy="731520"/>
          </a:xfrm>
          <a:prstGeom prst="ellipse">
            <a:avLst/>
          </a:prstGeom>
          <a:solidFill>
            <a:srgbClr val="2A3778"/>
          </a:solidFill>
          <a:ln/>
        </p:spPr>
      </p:sp>
      <p:pic>
        <p:nvPicPr>
          <p:cNvPr id="22" name="Image 3" descr="/home/claude/fob-slides/icons_out/chip_white.png"/>
          <p:cNvPicPr>
            <a:picLocks noChangeAspect="1"/>
          </p:cNvPicPr>
          <p:nvPr/>
        </p:nvPicPr>
        <p:blipFill>
          <a:blip r:embed="rId4"/>
          <a:stretch>
            <a:fillRect/>
          </a:stretch>
        </p:blipFill>
        <p:spPr>
          <a:xfrm>
            <a:off x="5742432" y="2130552"/>
            <a:ext cx="402336" cy="402336"/>
          </a:xfrm>
          <a:prstGeom prst="rect">
            <a:avLst/>
          </a:prstGeom>
        </p:spPr>
      </p:pic>
      <p:sp>
        <p:nvSpPr>
          <p:cNvPr id="23" name="Text 17"/>
          <p:cNvSpPr txBox="1"/>
          <p:nvPr/>
        </p:nvSpPr>
        <p:spPr>
          <a:xfrm>
            <a:off x="4572000" y="2743200"/>
            <a:ext cx="2743200" cy="502920"/>
          </a:xfrm>
          <a:prstGeom prst="rect">
            <a:avLst/>
          </a:prstGeom>
          <a:noFill/>
          <a:ln/>
        </p:spPr>
        <p:txBody>
          <a:bodyPr wrap="square" lIns="50800" tIns="50800" rIns="50800" bIns="50800" rtlCol="0" anchor="ctr"/>
          <a:lstStyle/>
          <a:p>
            <a:pPr algn="ctr" indent="0" marL="0">
              <a:lnSpc>
                <a:spcPct val="100000"/>
              </a:lnSpc>
              <a:buNone/>
            </a:pPr>
            <a:r>
              <a:rPr lang="en-US" sz="2600" b="1" dirty="0">
                <a:solidFill>
                  <a:srgbClr val="FFFFFF"/>
                </a:solidFill>
                <a:latin typeface="Times New Roman" pitchFamily="34" charset="0"/>
                <a:ea typeface="Times New Roman" pitchFamily="34" charset="-122"/>
                <a:cs typeface="Times New Roman" pitchFamily="34" charset="-120"/>
              </a:rPr>
              <a:t>TPM</a:t>
            </a:r>
            <a:endParaRPr lang="en-US" sz="2600" dirty="0"/>
          </a:p>
        </p:txBody>
      </p:sp>
      <p:sp>
        <p:nvSpPr>
          <p:cNvPr id="24" name="Text 18"/>
          <p:cNvSpPr txBox="1"/>
          <p:nvPr/>
        </p:nvSpPr>
        <p:spPr>
          <a:xfrm>
            <a:off x="4754880" y="3246120"/>
            <a:ext cx="2377440" cy="731520"/>
          </a:xfrm>
          <a:prstGeom prst="rect">
            <a:avLst/>
          </a:prstGeom>
          <a:noFill/>
          <a:ln/>
        </p:spPr>
        <p:txBody>
          <a:bodyPr wrap="square" lIns="50800" tIns="50800" rIns="50800" bIns="50800" rtlCol="0" anchor="ctr"/>
          <a:lstStyle/>
          <a:p>
            <a:pPr algn="ctr" indent="0" marL="0">
              <a:lnSpc>
                <a:spcPct val="100000"/>
              </a:lnSpc>
              <a:buNone/>
            </a:pPr>
            <a:r>
              <a:rPr lang="en-US" sz="1500" dirty="0">
                <a:solidFill>
                  <a:srgbClr val="CADCFC"/>
                </a:solidFill>
                <a:latin typeface="Times New Roman" pitchFamily="34" charset="0"/>
                <a:ea typeface="Times New Roman" pitchFamily="34" charset="-122"/>
                <a:cs typeface="Times New Roman" pitchFamily="34" charset="-120"/>
              </a:rPr>
              <a:t>yopiq kalit shu yerda; eksport qilinmaydi</a:t>
            </a:r>
            <a:endParaRPr lang="en-US" sz="1500" dirty="0"/>
          </a:p>
        </p:txBody>
      </p:sp>
      <p:sp>
        <p:nvSpPr>
          <p:cNvPr id="25" name="Text 19"/>
          <p:cNvSpPr txBox="1"/>
          <p:nvPr/>
        </p:nvSpPr>
        <p:spPr>
          <a:xfrm>
            <a:off x="4754880" y="3977640"/>
            <a:ext cx="2377440" cy="411480"/>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F2B544"/>
                </a:solidFill>
                <a:latin typeface="Times New Roman" pitchFamily="34" charset="0"/>
                <a:ea typeface="Times New Roman" pitchFamily="34" charset="-122"/>
                <a:cs typeface="Times New Roman" pitchFamily="34" charset="-120"/>
              </a:rPr>
              <a:t>noto'g'ri PIN → qulflanish</a:t>
            </a:r>
            <a:endParaRPr lang="en-US" sz="1400" dirty="0"/>
          </a:p>
        </p:txBody>
      </p:sp>
      <p:sp>
        <p:nvSpPr>
          <p:cNvPr id="26" name="Shape 20"/>
          <p:cNvSpPr/>
          <p:nvPr/>
        </p:nvSpPr>
        <p:spPr>
          <a:xfrm>
            <a:off x="7406640" y="3108960"/>
            <a:ext cx="548640" cy="0"/>
          </a:xfrm>
          <a:prstGeom prst="line">
            <a:avLst/>
          </a:prstGeom>
          <a:noFill/>
          <a:ln w="31750">
            <a:solidFill>
              <a:srgbClr val="1E2761"/>
            </a:solidFill>
            <a:prstDash val="solid"/>
            <a:tailEnd type="triangle"/>
          </a:ln>
        </p:spPr>
      </p:sp>
      <p:sp>
        <p:nvSpPr>
          <p:cNvPr id="27" name="Shape 21"/>
          <p:cNvSpPr/>
          <p:nvPr/>
        </p:nvSpPr>
        <p:spPr>
          <a:xfrm>
            <a:off x="8046720" y="1783080"/>
            <a:ext cx="3566160" cy="2743200"/>
          </a:xfrm>
          <a:prstGeom prst="roundRect">
            <a:avLst>
              <a:gd name="adj" fmla="val 3000"/>
            </a:avLst>
          </a:prstGeom>
          <a:solidFill>
            <a:srgbClr val="CADCFC"/>
          </a:solidFill>
          <a:ln/>
        </p:spPr>
      </p:sp>
      <p:sp>
        <p:nvSpPr>
          <p:cNvPr id="28" name="Text 22"/>
          <p:cNvSpPr txBox="1"/>
          <p:nvPr/>
        </p:nvSpPr>
        <p:spPr>
          <a:xfrm>
            <a:off x="8046720" y="1920240"/>
            <a:ext cx="3566160" cy="45720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1E2761"/>
                </a:solidFill>
                <a:latin typeface="Times New Roman" pitchFamily="34" charset="0"/>
                <a:ea typeface="Times New Roman" pitchFamily="34" charset="-122"/>
                <a:cs typeface="Times New Roman" pitchFamily="34" charset="-120"/>
              </a:rPr>
              <a:t>Serverga faqat imzo</a:t>
            </a:r>
            <a:endParaRPr lang="en-US" sz="1800" dirty="0"/>
          </a:p>
        </p:txBody>
      </p:sp>
      <p:sp>
        <p:nvSpPr>
          <p:cNvPr id="29" name="Text 23"/>
          <p:cNvSpPr txBox="1"/>
          <p:nvPr/>
        </p:nvSpPr>
        <p:spPr>
          <a:xfrm>
            <a:off x="8321040" y="2514600"/>
            <a:ext cx="3108960" cy="1828800"/>
          </a:xfrm>
          <a:prstGeom prst="rect">
            <a:avLst/>
          </a:prstGeom>
          <a:noFill/>
          <a:ln/>
        </p:spPr>
        <p:txBody>
          <a:bodyPr wrap="square" lIns="0" tIns="0" rIns="0" bIns="0" rtlCol="0" anchor="ctr"/>
          <a:lstStyle/>
          <a:p>
            <a:pPr marL="342900" indent="-342900">
              <a:spcAft>
                <a:spcPts val="8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Windows'ga kirish</a:t>
            </a:r>
            <a:endParaRPr lang="en-US" sz="1600" dirty="0"/>
          </a:p>
          <a:p>
            <a:pPr marL="342900" indent="-342900">
              <a:spcAft>
                <a:spcPts val="8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Microsoft / Entra ID hisobi</a:t>
            </a:r>
            <a:endParaRPr lang="en-US" sz="1600" dirty="0"/>
          </a:p>
          <a:p>
            <a:pPr marL="342900" indent="-342900">
              <a:spcAft>
                <a:spcPts val="8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Passkey bilan veb-saytlar</a:t>
            </a:r>
            <a:endParaRPr lang="en-US" sz="1600" dirty="0"/>
          </a:p>
        </p:txBody>
      </p:sp>
      <p:sp>
        <p:nvSpPr>
          <p:cNvPr id="30" name="Shape 24"/>
          <p:cNvSpPr/>
          <p:nvPr/>
        </p:nvSpPr>
        <p:spPr>
          <a:xfrm>
            <a:off x="548640" y="4800600"/>
            <a:ext cx="11064240" cy="1371600"/>
          </a:xfrm>
          <a:prstGeom prst="roundRect">
            <a:avLst>
              <a:gd name="adj" fmla="val 6000"/>
            </a:avLst>
          </a:prstGeom>
          <a:solidFill>
            <a:srgbClr val="EEF2FB"/>
          </a:solidFill>
          <a:ln/>
        </p:spPr>
      </p:sp>
      <p:sp>
        <p:nvSpPr>
          <p:cNvPr id="31" name="Text 25"/>
          <p:cNvSpPr txBox="1"/>
          <p:nvPr/>
        </p:nvSpPr>
        <p:spPr>
          <a:xfrm>
            <a:off x="822960" y="4846320"/>
            <a:ext cx="10515600" cy="914400"/>
          </a:xfrm>
          <a:prstGeom prst="rect">
            <a:avLst/>
          </a:prstGeom>
          <a:noFill/>
          <a:ln/>
        </p:spPr>
        <p:txBody>
          <a:bodyPr wrap="square" lIns="0" tIns="0" rIns="0" bIns="0" rtlCol="0" anchor="ctr"/>
          <a:lstStyle/>
          <a:p>
            <a:pPr algn="l" indent="0" marL="0">
              <a:lnSpc>
                <a:spcPct val="105000"/>
              </a:lnSpc>
              <a:buNone/>
            </a:pPr>
            <a:r>
              <a:rPr lang="en-US" sz="1700" dirty="0">
                <a:solidFill>
                  <a:srgbClr val="1E2761"/>
                </a:solidFill>
                <a:latin typeface="Times New Roman" pitchFamily="34" charset="0"/>
                <a:ea typeface="Times New Roman" pitchFamily="34" charset="-122"/>
                <a:cs typeface="Times New Roman" pitchFamily="34" charset="-120"/>
              </a:rPr>
              <a:t>«PIN yoki yopiq kalit hech qachon identifikatsiya provayderiga yuborilmaydi va PIN qurilmada saqlanmaydi. PIN va biometrik — yopiq kalitni ishlatish uchun foydalanuvchi beradigan entropiya.»</a:t>
            </a:r>
            <a:endParaRPr lang="en-US" sz="1700" dirty="0"/>
          </a:p>
        </p:txBody>
      </p:sp>
      <p:sp>
        <p:nvSpPr>
          <p:cNvPr id="32" name="Text 26"/>
          <p:cNvSpPr txBox="1"/>
          <p:nvPr/>
        </p:nvSpPr>
        <p:spPr>
          <a:xfrm>
            <a:off x="822960" y="5760720"/>
            <a:ext cx="10515600" cy="320040"/>
          </a:xfrm>
          <a:prstGeom prst="rect">
            <a:avLst/>
          </a:prstGeom>
          <a:noFill/>
          <a:ln/>
        </p:spPr>
        <p:txBody>
          <a:bodyPr wrap="square" lIns="0" tIns="0" rIns="0" bIns="0" rtlCol="0" anchor="t"/>
          <a:lstStyle/>
          <a:p>
            <a:pPr algn="r"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 Microsoft Learn, Windows Hello for Business qanday ishlaydi</a:t>
            </a:r>
            <a:endParaRPr lang="en-US" sz="1400" dirty="0"/>
          </a:p>
        </p:txBody>
      </p:sp>
      <p:sp>
        <p:nvSpPr>
          <p:cNvPr id="33" name="Text 27"/>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5-ma'ruza</a:t>
            </a:r>
            <a:endParaRPr lang="en-US" sz="1100" dirty="0"/>
          </a:p>
        </p:txBody>
      </p:sp>
      <p:sp>
        <p:nvSpPr>
          <p:cNvPr id="34" name="Text 28"/>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II · NEGA WINDOWS PAROLDAN VOZ KECHMOQDA</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Windows paroli: bitta xesh — ko'p hujum</a:t>
            </a:r>
            <a:endParaRPr lang="en-US" sz="3600" dirty="0"/>
          </a:p>
        </p:txBody>
      </p:sp>
      <p:sp>
        <p:nvSpPr>
          <p:cNvPr id="4" name="Shape 2"/>
          <p:cNvSpPr/>
          <p:nvPr/>
        </p:nvSpPr>
        <p:spPr>
          <a:xfrm>
            <a:off x="548640" y="1783080"/>
            <a:ext cx="5760720" cy="758952"/>
          </a:xfrm>
          <a:prstGeom prst="roundRect">
            <a:avLst>
              <a:gd name="adj" fmla="val 10843"/>
            </a:avLst>
          </a:prstGeom>
          <a:solidFill>
            <a:srgbClr val="F7ECEA"/>
          </a:solidFill>
          <a:ln/>
        </p:spPr>
      </p:sp>
      <p:sp>
        <p:nvSpPr>
          <p:cNvPr id="5" name="Text 3"/>
          <p:cNvSpPr txBox="1"/>
          <p:nvPr/>
        </p:nvSpPr>
        <p:spPr>
          <a:xfrm>
            <a:off x="777240" y="1783080"/>
            <a:ext cx="2103120" cy="758952"/>
          </a:xfrm>
          <a:prstGeom prst="rect">
            <a:avLst/>
          </a:prstGeom>
          <a:noFill/>
          <a:ln/>
        </p:spPr>
        <p:txBody>
          <a:bodyPr wrap="square" lIns="0" tIns="0" rIns="0" bIns="0" rtlCol="0" anchor="ctr"/>
          <a:lstStyle/>
          <a:p>
            <a:pPr algn="l" indent="0" marL="0">
              <a:lnSpc>
                <a:spcPct val="100000"/>
              </a:lnSpc>
              <a:buNone/>
            </a:pPr>
            <a:r>
              <a:rPr lang="en-US" sz="1700" b="1" dirty="0">
                <a:solidFill>
                  <a:srgbClr val="9E3B2E"/>
                </a:solidFill>
                <a:latin typeface="Times New Roman" pitchFamily="34" charset="0"/>
                <a:ea typeface="Times New Roman" pitchFamily="34" charset="-122"/>
                <a:cs typeface="Times New Roman" pitchFamily="34" charset="-120"/>
              </a:rPr>
              <a:t>Parol → NTLM xesh</a:t>
            </a:r>
            <a:endParaRPr lang="en-US" sz="1700" dirty="0"/>
          </a:p>
        </p:txBody>
      </p:sp>
      <p:sp>
        <p:nvSpPr>
          <p:cNvPr id="6" name="Text 4"/>
          <p:cNvSpPr txBox="1"/>
          <p:nvPr/>
        </p:nvSpPr>
        <p:spPr>
          <a:xfrm>
            <a:off x="2880360" y="1783080"/>
            <a:ext cx="3337560" cy="758952"/>
          </a:xfrm>
          <a:prstGeom prst="rect">
            <a:avLst/>
          </a:prstGeom>
          <a:noFill/>
          <a:ln/>
        </p:spPr>
        <p:txBody>
          <a:bodyPr wrap="square" lIns="0" tIns="0" rIns="0" bIns="0" rtlCol="0" anchor="ctr"/>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SAM bazasida va LSASS xotirasida saqlanadi (tuzsiz)</a:t>
            </a:r>
            <a:endParaRPr lang="en-US" sz="1500" dirty="0"/>
          </a:p>
        </p:txBody>
      </p:sp>
      <p:sp>
        <p:nvSpPr>
          <p:cNvPr id="7" name="Shape 5"/>
          <p:cNvSpPr/>
          <p:nvPr/>
        </p:nvSpPr>
        <p:spPr>
          <a:xfrm>
            <a:off x="548640" y="2651760"/>
            <a:ext cx="5760720" cy="758952"/>
          </a:xfrm>
          <a:prstGeom prst="roundRect">
            <a:avLst>
              <a:gd name="adj" fmla="val 10843"/>
            </a:avLst>
          </a:prstGeom>
          <a:solidFill>
            <a:srgbClr val="F7ECEA"/>
          </a:solidFill>
          <a:ln/>
        </p:spPr>
      </p:sp>
      <p:sp>
        <p:nvSpPr>
          <p:cNvPr id="8" name="Text 6"/>
          <p:cNvSpPr txBox="1"/>
          <p:nvPr/>
        </p:nvSpPr>
        <p:spPr>
          <a:xfrm>
            <a:off x="777240" y="2651760"/>
            <a:ext cx="2103120" cy="758952"/>
          </a:xfrm>
          <a:prstGeom prst="rect">
            <a:avLst/>
          </a:prstGeom>
          <a:noFill/>
          <a:ln/>
        </p:spPr>
        <p:txBody>
          <a:bodyPr wrap="square" lIns="0" tIns="0" rIns="0" bIns="0" rtlCol="0" anchor="ctr"/>
          <a:lstStyle/>
          <a:p>
            <a:pPr algn="l" indent="0" marL="0">
              <a:lnSpc>
                <a:spcPct val="100000"/>
              </a:lnSpc>
              <a:buNone/>
            </a:pPr>
            <a:r>
              <a:rPr lang="en-US" sz="1700" b="1" dirty="0">
                <a:solidFill>
                  <a:srgbClr val="9E3B2E"/>
                </a:solidFill>
                <a:latin typeface="Times New Roman" pitchFamily="34" charset="0"/>
                <a:ea typeface="Times New Roman" pitchFamily="34" charset="-122"/>
                <a:cs typeface="Times New Roman" pitchFamily="34" charset="-120"/>
              </a:rPr>
              <a:t>Pass-the-hash</a:t>
            </a:r>
            <a:endParaRPr lang="en-US" sz="1700" dirty="0"/>
          </a:p>
        </p:txBody>
      </p:sp>
      <p:sp>
        <p:nvSpPr>
          <p:cNvPr id="9" name="Text 7"/>
          <p:cNvSpPr txBox="1"/>
          <p:nvPr/>
        </p:nvSpPr>
        <p:spPr>
          <a:xfrm>
            <a:off x="2880360" y="2651760"/>
            <a:ext cx="3337560" cy="758952"/>
          </a:xfrm>
          <a:prstGeom prst="rect">
            <a:avLst/>
          </a:prstGeom>
          <a:noFill/>
          <a:ln/>
        </p:spPr>
        <p:txBody>
          <a:bodyPr wrap="square" lIns="0" tIns="0" rIns="0" bIns="0" rtlCol="0" anchor="ctr"/>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Xeshni bilish parolni bilish bilan teng — Mimikatz kabi vositalar</a:t>
            </a:r>
            <a:endParaRPr lang="en-US" sz="1500" dirty="0"/>
          </a:p>
        </p:txBody>
      </p:sp>
      <p:sp>
        <p:nvSpPr>
          <p:cNvPr id="10" name="Shape 8"/>
          <p:cNvSpPr/>
          <p:nvPr/>
        </p:nvSpPr>
        <p:spPr>
          <a:xfrm>
            <a:off x="548640" y="3520440"/>
            <a:ext cx="5760720" cy="758952"/>
          </a:xfrm>
          <a:prstGeom prst="roundRect">
            <a:avLst>
              <a:gd name="adj" fmla="val 10843"/>
            </a:avLst>
          </a:prstGeom>
          <a:solidFill>
            <a:srgbClr val="F7ECEA"/>
          </a:solidFill>
          <a:ln/>
        </p:spPr>
      </p:sp>
      <p:sp>
        <p:nvSpPr>
          <p:cNvPr id="11" name="Text 9"/>
          <p:cNvSpPr txBox="1"/>
          <p:nvPr/>
        </p:nvSpPr>
        <p:spPr>
          <a:xfrm>
            <a:off x="777240" y="3520440"/>
            <a:ext cx="2103120" cy="758952"/>
          </a:xfrm>
          <a:prstGeom prst="rect">
            <a:avLst/>
          </a:prstGeom>
          <a:noFill/>
          <a:ln/>
        </p:spPr>
        <p:txBody>
          <a:bodyPr wrap="square" lIns="0" tIns="0" rIns="0" bIns="0" rtlCol="0" anchor="ctr"/>
          <a:lstStyle/>
          <a:p>
            <a:pPr algn="l" indent="0" marL="0">
              <a:lnSpc>
                <a:spcPct val="100000"/>
              </a:lnSpc>
              <a:buNone/>
            </a:pPr>
            <a:r>
              <a:rPr lang="en-US" sz="1700" b="1" dirty="0">
                <a:solidFill>
                  <a:srgbClr val="9E3B2E"/>
                </a:solidFill>
                <a:latin typeface="Times New Roman" pitchFamily="34" charset="0"/>
                <a:ea typeface="Times New Roman" pitchFamily="34" charset="-122"/>
                <a:cs typeface="Times New Roman" pitchFamily="34" charset="-120"/>
              </a:rPr>
              <a:t>Tez buzish</a:t>
            </a:r>
            <a:endParaRPr lang="en-US" sz="1700" dirty="0"/>
          </a:p>
        </p:txBody>
      </p:sp>
      <p:sp>
        <p:nvSpPr>
          <p:cNvPr id="12" name="Text 10"/>
          <p:cNvSpPr txBox="1"/>
          <p:nvPr/>
        </p:nvSpPr>
        <p:spPr>
          <a:xfrm>
            <a:off x="2880360" y="3520440"/>
            <a:ext cx="3337560" cy="758952"/>
          </a:xfrm>
          <a:prstGeom prst="rect">
            <a:avLst/>
          </a:prstGeom>
          <a:noFill/>
          <a:ln/>
        </p:spPr>
        <p:txBody>
          <a:bodyPr wrap="square" lIns="0" tIns="0" rIns="0" bIns="0" rtlCol="0" anchor="ctr"/>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NTLM: bitta RTX 4090 da ~288 mlrd/s (3-ma'ruza)</a:t>
            </a:r>
            <a:endParaRPr lang="en-US" sz="1500" dirty="0"/>
          </a:p>
        </p:txBody>
      </p:sp>
      <p:sp>
        <p:nvSpPr>
          <p:cNvPr id="13" name="Shape 11"/>
          <p:cNvSpPr/>
          <p:nvPr/>
        </p:nvSpPr>
        <p:spPr>
          <a:xfrm>
            <a:off x="548640" y="4389120"/>
            <a:ext cx="5760720" cy="758952"/>
          </a:xfrm>
          <a:prstGeom prst="roundRect">
            <a:avLst>
              <a:gd name="adj" fmla="val 10843"/>
            </a:avLst>
          </a:prstGeom>
          <a:solidFill>
            <a:srgbClr val="F7ECEA"/>
          </a:solidFill>
          <a:ln/>
        </p:spPr>
      </p:sp>
      <p:sp>
        <p:nvSpPr>
          <p:cNvPr id="14" name="Text 12"/>
          <p:cNvSpPr txBox="1"/>
          <p:nvPr/>
        </p:nvSpPr>
        <p:spPr>
          <a:xfrm>
            <a:off x="777240" y="4389120"/>
            <a:ext cx="2103120" cy="758952"/>
          </a:xfrm>
          <a:prstGeom prst="rect">
            <a:avLst/>
          </a:prstGeom>
          <a:noFill/>
          <a:ln/>
        </p:spPr>
        <p:txBody>
          <a:bodyPr wrap="square" lIns="0" tIns="0" rIns="0" bIns="0" rtlCol="0" anchor="ctr"/>
          <a:lstStyle/>
          <a:p>
            <a:pPr algn="l" indent="0" marL="0">
              <a:lnSpc>
                <a:spcPct val="100000"/>
              </a:lnSpc>
              <a:buNone/>
            </a:pPr>
            <a:r>
              <a:rPr lang="en-US" sz="1700" b="1" dirty="0">
                <a:solidFill>
                  <a:srgbClr val="9E3B2E"/>
                </a:solidFill>
                <a:latin typeface="Times New Roman" pitchFamily="34" charset="0"/>
                <a:ea typeface="Times New Roman" pitchFamily="34" charset="-122"/>
                <a:cs typeface="Times New Roman" pitchFamily="34" charset="-120"/>
              </a:rPr>
              <a:t>Fishing</a:t>
            </a:r>
            <a:endParaRPr lang="en-US" sz="1700" dirty="0"/>
          </a:p>
        </p:txBody>
      </p:sp>
      <p:sp>
        <p:nvSpPr>
          <p:cNvPr id="15" name="Text 13"/>
          <p:cNvSpPr txBox="1"/>
          <p:nvPr/>
        </p:nvSpPr>
        <p:spPr>
          <a:xfrm>
            <a:off x="2880360" y="4389120"/>
            <a:ext cx="3337560" cy="758952"/>
          </a:xfrm>
          <a:prstGeom prst="rect">
            <a:avLst/>
          </a:prstGeom>
          <a:noFill/>
          <a:ln/>
        </p:spPr>
        <p:txBody>
          <a:bodyPr wrap="square" lIns="0" tIns="0" rIns="0" bIns="0" rtlCol="0" anchor="ctr"/>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Parolni istalgan soxta oynaga kiritish mumkin</a:t>
            </a:r>
            <a:endParaRPr lang="en-US" sz="1500" dirty="0"/>
          </a:p>
        </p:txBody>
      </p:sp>
      <p:sp>
        <p:nvSpPr>
          <p:cNvPr id="16" name="Shape 14"/>
          <p:cNvSpPr/>
          <p:nvPr/>
        </p:nvSpPr>
        <p:spPr>
          <a:xfrm>
            <a:off x="6492240" y="1783080"/>
            <a:ext cx="5120640" cy="3383280"/>
          </a:xfrm>
          <a:prstGeom prst="roundRect">
            <a:avLst>
              <a:gd name="adj" fmla="val 2432"/>
            </a:avLst>
          </a:prstGeom>
          <a:solidFill>
            <a:srgbClr val="1E2761"/>
          </a:solidFill>
          <a:ln/>
        </p:spPr>
      </p:sp>
      <p:sp>
        <p:nvSpPr>
          <p:cNvPr id="17" name="Text 15"/>
          <p:cNvSpPr txBox="1"/>
          <p:nvPr/>
        </p:nvSpPr>
        <p:spPr>
          <a:xfrm>
            <a:off x="6766560" y="1920240"/>
            <a:ext cx="4572000" cy="411480"/>
          </a:xfrm>
          <a:prstGeom prst="rect">
            <a:avLst/>
          </a:prstGeom>
          <a:noFill/>
          <a:ln/>
        </p:spPr>
        <p:txBody>
          <a:bodyPr wrap="square" lIns="0" tIns="0" rIns="0" bIns="0" rtlCol="0" anchor="t"/>
          <a:lstStyle/>
          <a:p>
            <a:pPr algn="l" indent="0" marL="0">
              <a:lnSpc>
                <a:spcPct val="100000"/>
              </a:lnSpc>
              <a:buNone/>
            </a:pPr>
            <a:r>
              <a:rPr lang="en-US" sz="2000" b="1" dirty="0">
                <a:solidFill>
                  <a:srgbClr val="FFFFFF"/>
                </a:solidFill>
                <a:latin typeface="Times New Roman" pitchFamily="34" charset="0"/>
                <a:ea typeface="Times New Roman" pitchFamily="34" charset="-122"/>
                <a:cs typeface="Times New Roman" pitchFamily="34" charset="-120"/>
              </a:rPr>
              <a:t>Microsoft yo'nalishi</a:t>
            </a:r>
            <a:endParaRPr lang="en-US" sz="2000" dirty="0"/>
          </a:p>
        </p:txBody>
      </p:sp>
      <p:sp>
        <p:nvSpPr>
          <p:cNvPr id="18" name="Text 16"/>
          <p:cNvSpPr txBox="1"/>
          <p:nvPr/>
        </p:nvSpPr>
        <p:spPr>
          <a:xfrm>
            <a:off x="6766560" y="2468880"/>
            <a:ext cx="1463040" cy="566928"/>
          </a:xfrm>
          <a:prstGeom prst="rect">
            <a:avLst/>
          </a:prstGeom>
          <a:noFill/>
          <a:ln/>
        </p:spPr>
        <p:txBody>
          <a:bodyPr wrap="square" lIns="0" tIns="0" rIns="0" bIns="0" rtlCol="0" anchor="ctr"/>
          <a:lstStyle/>
          <a:p>
            <a:pPr algn="l" indent="0" marL="0">
              <a:lnSpc>
                <a:spcPct val="100000"/>
              </a:lnSpc>
              <a:buNone/>
            </a:pPr>
            <a:r>
              <a:rPr lang="en-US" sz="1500" b="1" dirty="0">
                <a:solidFill>
                  <a:srgbClr val="F2B544"/>
                </a:solidFill>
                <a:latin typeface="Times New Roman" pitchFamily="34" charset="0"/>
                <a:ea typeface="Times New Roman" pitchFamily="34" charset="-122"/>
                <a:cs typeface="Times New Roman" pitchFamily="34" charset="-120"/>
              </a:rPr>
              <a:t>2019</a:t>
            </a:r>
            <a:endParaRPr lang="en-US" sz="1500" dirty="0"/>
          </a:p>
        </p:txBody>
      </p:sp>
      <p:sp>
        <p:nvSpPr>
          <p:cNvPr id="19" name="Text 17"/>
          <p:cNvSpPr txBox="1"/>
          <p:nvPr/>
        </p:nvSpPr>
        <p:spPr>
          <a:xfrm>
            <a:off x="8229600" y="2468880"/>
            <a:ext cx="3246120" cy="566928"/>
          </a:xfrm>
          <a:prstGeom prst="rect">
            <a:avLst/>
          </a:prstGeom>
          <a:noFill/>
          <a:ln/>
        </p:spPr>
        <p:txBody>
          <a:bodyPr wrap="square" lIns="0" tIns="0" rIns="0" bIns="0" rtlCol="0" anchor="ctr"/>
          <a:lstStyle/>
          <a:p>
            <a:pPr algn="l" indent="0" marL="0">
              <a:lnSpc>
                <a:spcPct val="100000"/>
              </a:lnSpc>
              <a:buNone/>
            </a:pPr>
            <a:r>
              <a:rPr lang="en-US" sz="1500" dirty="0">
                <a:solidFill>
                  <a:srgbClr val="FFFFFF"/>
                </a:solidFill>
                <a:latin typeface="Times New Roman" pitchFamily="34" charset="0"/>
                <a:ea typeface="Times New Roman" pitchFamily="34" charset="-122"/>
                <a:cs typeface="Times New Roman" pitchFamily="34" charset="-120"/>
              </a:rPr>
              <a:t>Windows 10: WebAuthn API, Hello — FIDO2 sertifikatlangan</a:t>
            </a:r>
            <a:endParaRPr lang="en-US" sz="1500" dirty="0"/>
          </a:p>
        </p:txBody>
      </p:sp>
      <p:sp>
        <p:nvSpPr>
          <p:cNvPr id="20" name="Text 18"/>
          <p:cNvSpPr txBox="1"/>
          <p:nvPr/>
        </p:nvSpPr>
        <p:spPr>
          <a:xfrm>
            <a:off x="6766560" y="3127248"/>
            <a:ext cx="1463040" cy="566928"/>
          </a:xfrm>
          <a:prstGeom prst="rect">
            <a:avLst/>
          </a:prstGeom>
          <a:noFill/>
          <a:ln/>
        </p:spPr>
        <p:txBody>
          <a:bodyPr wrap="square" lIns="0" tIns="0" rIns="0" bIns="0" rtlCol="0" anchor="ctr"/>
          <a:lstStyle/>
          <a:p>
            <a:pPr algn="l" indent="0" marL="0">
              <a:lnSpc>
                <a:spcPct val="100000"/>
              </a:lnSpc>
              <a:buNone/>
            </a:pPr>
            <a:r>
              <a:rPr lang="en-US" sz="1500" b="1" dirty="0">
                <a:solidFill>
                  <a:srgbClr val="F2B544"/>
                </a:solidFill>
                <a:latin typeface="Times New Roman" pitchFamily="34" charset="0"/>
                <a:ea typeface="Times New Roman" pitchFamily="34" charset="-122"/>
                <a:cs typeface="Times New Roman" pitchFamily="34" charset="-120"/>
              </a:rPr>
              <a:t>2023</a:t>
            </a:r>
            <a:endParaRPr lang="en-US" sz="1500" dirty="0"/>
          </a:p>
        </p:txBody>
      </p:sp>
      <p:sp>
        <p:nvSpPr>
          <p:cNvPr id="21" name="Text 19"/>
          <p:cNvSpPr txBox="1"/>
          <p:nvPr/>
        </p:nvSpPr>
        <p:spPr>
          <a:xfrm>
            <a:off x="8229600" y="3127248"/>
            <a:ext cx="3246120" cy="566928"/>
          </a:xfrm>
          <a:prstGeom prst="rect">
            <a:avLst/>
          </a:prstGeom>
          <a:noFill/>
          <a:ln/>
        </p:spPr>
        <p:txBody>
          <a:bodyPr wrap="square" lIns="0" tIns="0" rIns="0" bIns="0" rtlCol="0" anchor="ctr"/>
          <a:lstStyle/>
          <a:p>
            <a:pPr algn="l" indent="0" marL="0">
              <a:lnSpc>
                <a:spcPct val="100000"/>
              </a:lnSpc>
              <a:buNone/>
            </a:pPr>
            <a:r>
              <a:rPr lang="en-US" sz="1500" dirty="0">
                <a:solidFill>
                  <a:srgbClr val="FFFFFF"/>
                </a:solidFill>
                <a:latin typeface="Times New Roman" pitchFamily="34" charset="0"/>
                <a:ea typeface="Times New Roman" pitchFamily="34" charset="-122"/>
                <a:cs typeface="Times New Roman" pitchFamily="34" charset="-120"/>
              </a:rPr>
              <a:t>Windows 11: passkey'lar Windows Hello'da</a:t>
            </a:r>
            <a:endParaRPr lang="en-US" sz="1500" dirty="0"/>
          </a:p>
        </p:txBody>
      </p:sp>
      <p:sp>
        <p:nvSpPr>
          <p:cNvPr id="22" name="Text 20"/>
          <p:cNvSpPr txBox="1"/>
          <p:nvPr/>
        </p:nvSpPr>
        <p:spPr>
          <a:xfrm>
            <a:off x="6766560" y="3785616"/>
            <a:ext cx="1463040" cy="566928"/>
          </a:xfrm>
          <a:prstGeom prst="rect">
            <a:avLst/>
          </a:prstGeom>
          <a:noFill/>
          <a:ln/>
        </p:spPr>
        <p:txBody>
          <a:bodyPr wrap="square" lIns="0" tIns="0" rIns="0" bIns="0" rtlCol="0" anchor="ctr"/>
          <a:lstStyle/>
          <a:p>
            <a:pPr algn="l" indent="0" marL="0">
              <a:lnSpc>
                <a:spcPct val="100000"/>
              </a:lnSpc>
              <a:buNone/>
            </a:pPr>
            <a:r>
              <a:rPr lang="en-US" sz="1500" b="1" dirty="0">
                <a:solidFill>
                  <a:srgbClr val="F2B544"/>
                </a:solidFill>
                <a:latin typeface="Times New Roman" pitchFamily="34" charset="0"/>
                <a:ea typeface="Times New Roman" pitchFamily="34" charset="-122"/>
                <a:cs typeface="Times New Roman" pitchFamily="34" charset="-120"/>
              </a:rPr>
              <a:t>2025, may</a:t>
            </a:r>
            <a:endParaRPr lang="en-US" sz="1500" dirty="0"/>
          </a:p>
        </p:txBody>
      </p:sp>
      <p:sp>
        <p:nvSpPr>
          <p:cNvPr id="23" name="Text 21"/>
          <p:cNvSpPr txBox="1"/>
          <p:nvPr/>
        </p:nvSpPr>
        <p:spPr>
          <a:xfrm>
            <a:off x="8229600" y="3785616"/>
            <a:ext cx="3246120" cy="566928"/>
          </a:xfrm>
          <a:prstGeom prst="rect">
            <a:avLst/>
          </a:prstGeom>
          <a:noFill/>
          <a:ln/>
        </p:spPr>
        <p:txBody>
          <a:bodyPr wrap="square" lIns="0" tIns="0" rIns="0" bIns="0" rtlCol="0" anchor="ctr"/>
          <a:lstStyle/>
          <a:p>
            <a:pPr algn="l" indent="0" marL="0">
              <a:lnSpc>
                <a:spcPct val="100000"/>
              </a:lnSpc>
              <a:buNone/>
            </a:pPr>
            <a:r>
              <a:rPr lang="en-US" sz="1500" dirty="0">
                <a:solidFill>
                  <a:srgbClr val="FFFFFF"/>
                </a:solidFill>
                <a:latin typeface="Times New Roman" pitchFamily="34" charset="0"/>
                <a:ea typeface="Times New Roman" pitchFamily="34" charset="-122"/>
                <a:cs typeface="Times New Roman" pitchFamily="34" charset="-120"/>
              </a:rPr>
              <a:t>Yangi Microsoft hisoblari standart holda parolsiz</a:t>
            </a:r>
            <a:endParaRPr lang="en-US" sz="1500" dirty="0"/>
          </a:p>
        </p:txBody>
      </p:sp>
      <p:sp>
        <p:nvSpPr>
          <p:cNvPr id="24" name="Text 22"/>
          <p:cNvSpPr txBox="1"/>
          <p:nvPr/>
        </p:nvSpPr>
        <p:spPr>
          <a:xfrm>
            <a:off x="6766560" y="4443984"/>
            <a:ext cx="1463040" cy="566928"/>
          </a:xfrm>
          <a:prstGeom prst="rect">
            <a:avLst/>
          </a:prstGeom>
          <a:noFill/>
          <a:ln/>
        </p:spPr>
        <p:txBody>
          <a:bodyPr wrap="square" lIns="0" tIns="0" rIns="0" bIns="0" rtlCol="0" anchor="ctr"/>
          <a:lstStyle/>
          <a:p>
            <a:pPr algn="l" indent="0" marL="0">
              <a:lnSpc>
                <a:spcPct val="100000"/>
              </a:lnSpc>
              <a:buNone/>
            </a:pPr>
            <a:r>
              <a:rPr lang="en-US" sz="1500" b="1" dirty="0">
                <a:solidFill>
                  <a:srgbClr val="F2B544"/>
                </a:solidFill>
                <a:latin typeface="Times New Roman" pitchFamily="34" charset="0"/>
                <a:ea typeface="Times New Roman" pitchFamily="34" charset="-122"/>
                <a:cs typeface="Times New Roman" pitchFamily="34" charset="-120"/>
              </a:rPr>
              <a:t>2025, noyabr</a:t>
            </a:r>
            <a:endParaRPr lang="en-US" sz="1500" dirty="0"/>
          </a:p>
        </p:txBody>
      </p:sp>
      <p:sp>
        <p:nvSpPr>
          <p:cNvPr id="25" name="Text 23"/>
          <p:cNvSpPr txBox="1"/>
          <p:nvPr/>
        </p:nvSpPr>
        <p:spPr>
          <a:xfrm>
            <a:off x="8229600" y="4443984"/>
            <a:ext cx="3246120" cy="566928"/>
          </a:xfrm>
          <a:prstGeom prst="rect">
            <a:avLst/>
          </a:prstGeom>
          <a:noFill/>
          <a:ln/>
        </p:spPr>
        <p:txBody>
          <a:bodyPr wrap="square" lIns="0" tIns="0" rIns="0" bIns="0" rtlCol="0" anchor="ctr"/>
          <a:lstStyle/>
          <a:p>
            <a:pPr algn="l" indent="0" marL="0">
              <a:lnSpc>
                <a:spcPct val="100000"/>
              </a:lnSpc>
              <a:buNone/>
            </a:pPr>
            <a:r>
              <a:rPr lang="en-US" sz="1500" dirty="0">
                <a:solidFill>
                  <a:srgbClr val="FFFFFF"/>
                </a:solidFill>
                <a:latin typeface="Times New Roman" pitchFamily="34" charset="0"/>
                <a:ea typeface="Times New Roman" pitchFamily="34" charset="-122"/>
                <a:cs typeface="Times New Roman" pitchFamily="34" charset="-120"/>
              </a:rPr>
              <a:t>Uchinchi tomon passkey menejerlari tizimda</a:t>
            </a:r>
            <a:endParaRPr lang="en-US" sz="1500" dirty="0"/>
          </a:p>
        </p:txBody>
      </p:sp>
      <p:sp>
        <p:nvSpPr>
          <p:cNvPr id="26" name="Text 24"/>
          <p:cNvSpPr txBox="1"/>
          <p:nvPr/>
        </p:nvSpPr>
        <p:spPr>
          <a:xfrm>
            <a:off x="548640" y="5394960"/>
            <a:ext cx="11064240" cy="457200"/>
          </a:xfrm>
          <a:prstGeom prst="rect">
            <a:avLst/>
          </a:prstGeom>
          <a:noFill/>
          <a:ln/>
        </p:spPr>
        <p:txBody>
          <a:bodyPr wrap="square" lIns="0" tIns="0" rIns="0" bIns="0" rtlCol="0" anchor="t"/>
          <a:lstStyle/>
          <a:p>
            <a:pPr algn="ctr" indent="0" marL="0">
              <a:lnSpc>
                <a:spcPct val="100000"/>
              </a:lnSpc>
              <a:buNone/>
            </a:pPr>
            <a:r>
              <a:rPr lang="en-US" sz="1700" b="1" dirty="0">
                <a:solidFill>
                  <a:srgbClr val="1E2761"/>
                </a:solidFill>
                <a:latin typeface="Times New Roman" pitchFamily="34" charset="0"/>
                <a:ea typeface="Times New Roman" pitchFamily="34" charset="-122"/>
                <a:cs typeface="Times New Roman" pitchFamily="34" charset="-120"/>
              </a:rPr>
              <a:t>Parolsiz = qurilmada qayta ishlatiladigan sir yo'q = o'g'irlaydigan narsa yo'q.</a:t>
            </a:r>
            <a:endParaRPr lang="en-US" sz="1700" dirty="0"/>
          </a:p>
        </p:txBody>
      </p:sp>
      <p:sp>
        <p:nvSpPr>
          <p:cNvPr id="27" name="Text 25"/>
          <p:cNvSpPr txBox="1"/>
          <p:nvPr/>
        </p:nvSpPr>
        <p:spPr>
          <a:xfrm>
            <a:off x="548640" y="5897880"/>
            <a:ext cx="11064240" cy="365760"/>
          </a:xfrm>
          <a:prstGeom prst="rect">
            <a:avLst/>
          </a:prstGeom>
          <a:noFill/>
          <a:ln/>
        </p:spPr>
        <p:txBody>
          <a:bodyPr wrap="square" lIns="0" tIns="0" rIns="0" bIns="0" rtlCol="0" anchor="t"/>
          <a:lstStyle/>
          <a:p>
            <a:pPr algn="ctr"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Windows 10 ni qo'llab-quvvatlash 2025-yil 14-oktabrda tugagan — yangi imkoniyatlar faqat Windows 11 da.</a:t>
            </a:r>
            <a:endParaRPr lang="en-US" sz="1400" dirty="0"/>
          </a:p>
        </p:txBody>
      </p:sp>
      <p:sp>
        <p:nvSpPr>
          <p:cNvPr id="28" name="Text 26"/>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5-ma'ruza</a:t>
            </a:r>
            <a:endParaRPr lang="en-US" sz="1100" dirty="0"/>
          </a:p>
        </p:txBody>
      </p:sp>
      <p:sp>
        <p:nvSpPr>
          <p:cNvPr id="29" name="Text 27"/>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II · WINDOWS HELLO FOR BUSINESS</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Korporativ tarmoqda: domen va Entra ID</a:t>
            </a:r>
            <a:endParaRPr lang="en-US" sz="3600" dirty="0"/>
          </a:p>
        </p:txBody>
      </p:sp>
      <p:sp>
        <p:nvSpPr>
          <p:cNvPr id="4" name="Shape 2"/>
          <p:cNvSpPr/>
          <p:nvPr/>
        </p:nvSpPr>
        <p:spPr>
          <a:xfrm>
            <a:off x="548640" y="1783080"/>
            <a:ext cx="2514600" cy="1188720"/>
          </a:xfrm>
          <a:prstGeom prst="roundRect">
            <a:avLst>
              <a:gd name="adj" fmla="val 6923"/>
            </a:avLst>
          </a:prstGeom>
          <a:solidFill>
            <a:srgbClr val="EEF2FB"/>
          </a:solidFill>
          <a:ln/>
        </p:spPr>
      </p:sp>
      <p:sp>
        <p:nvSpPr>
          <p:cNvPr id="5" name="Text 3"/>
          <p:cNvSpPr txBox="1"/>
          <p:nvPr/>
        </p:nvSpPr>
        <p:spPr>
          <a:xfrm>
            <a:off x="548640" y="1828800"/>
            <a:ext cx="2514600" cy="50292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1E2761"/>
                </a:solidFill>
                <a:latin typeface="Times New Roman" pitchFamily="34" charset="0"/>
                <a:ea typeface="Times New Roman" pitchFamily="34" charset="-122"/>
                <a:cs typeface="Times New Roman" pitchFamily="34" charset="-120"/>
              </a:rPr>
              <a:t>1. Birinchi kirish</a:t>
            </a:r>
            <a:endParaRPr lang="en-US" sz="1800" dirty="0"/>
          </a:p>
        </p:txBody>
      </p:sp>
      <p:sp>
        <p:nvSpPr>
          <p:cNvPr id="6" name="Text 4"/>
          <p:cNvSpPr txBox="1"/>
          <p:nvPr/>
        </p:nvSpPr>
        <p:spPr>
          <a:xfrm>
            <a:off x="640080" y="2331720"/>
            <a:ext cx="2331720" cy="548640"/>
          </a:xfrm>
          <a:prstGeom prst="rect">
            <a:avLst/>
          </a:prstGeom>
          <a:noFill/>
          <a:ln/>
        </p:spPr>
        <p:txBody>
          <a:bodyPr wrap="square" lIns="50800" tIns="50800" rIns="50800" bIns="50800" rtlCol="0" anchor="ctr"/>
          <a:lstStyle/>
          <a:p>
            <a:pPr algn="ctr"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Parol + MFA (4-ma'ruza)</a:t>
            </a:r>
            <a:endParaRPr lang="en-US" sz="1600" dirty="0"/>
          </a:p>
        </p:txBody>
      </p:sp>
      <p:sp>
        <p:nvSpPr>
          <p:cNvPr id="7" name="Shape 5"/>
          <p:cNvSpPr/>
          <p:nvPr/>
        </p:nvSpPr>
        <p:spPr>
          <a:xfrm>
            <a:off x="3090672" y="2377440"/>
            <a:ext cx="265176" cy="0"/>
          </a:xfrm>
          <a:prstGeom prst="line">
            <a:avLst/>
          </a:prstGeom>
          <a:noFill/>
          <a:ln w="28575">
            <a:solidFill>
              <a:srgbClr val="1E2761"/>
            </a:solidFill>
            <a:prstDash val="solid"/>
            <a:tailEnd type="triangle"/>
          </a:ln>
        </p:spPr>
      </p:sp>
      <p:sp>
        <p:nvSpPr>
          <p:cNvPr id="8" name="Shape 6"/>
          <p:cNvSpPr/>
          <p:nvPr/>
        </p:nvSpPr>
        <p:spPr>
          <a:xfrm>
            <a:off x="3383280" y="1783080"/>
            <a:ext cx="2514600" cy="1188720"/>
          </a:xfrm>
          <a:prstGeom prst="roundRect">
            <a:avLst>
              <a:gd name="adj" fmla="val 6923"/>
            </a:avLst>
          </a:prstGeom>
          <a:solidFill>
            <a:srgbClr val="EEF2FB"/>
          </a:solidFill>
          <a:ln/>
        </p:spPr>
      </p:sp>
      <p:sp>
        <p:nvSpPr>
          <p:cNvPr id="9" name="Text 7"/>
          <p:cNvSpPr txBox="1"/>
          <p:nvPr/>
        </p:nvSpPr>
        <p:spPr>
          <a:xfrm>
            <a:off x="3383280" y="1828800"/>
            <a:ext cx="2514600" cy="50292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1E2761"/>
                </a:solidFill>
                <a:latin typeface="Times New Roman" pitchFamily="34" charset="0"/>
                <a:ea typeface="Times New Roman" pitchFamily="34" charset="-122"/>
                <a:cs typeface="Times New Roman" pitchFamily="34" charset="-120"/>
              </a:rPr>
              <a:t>2. PIN / biometrik</a:t>
            </a:r>
            <a:endParaRPr lang="en-US" sz="1800" dirty="0"/>
          </a:p>
        </p:txBody>
      </p:sp>
      <p:sp>
        <p:nvSpPr>
          <p:cNvPr id="10" name="Text 8"/>
          <p:cNvSpPr txBox="1"/>
          <p:nvPr/>
        </p:nvSpPr>
        <p:spPr>
          <a:xfrm>
            <a:off x="3474720" y="2331720"/>
            <a:ext cx="2331720" cy="548640"/>
          </a:xfrm>
          <a:prstGeom prst="rect">
            <a:avLst/>
          </a:prstGeom>
          <a:noFill/>
          <a:ln/>
        </p:spPr>
        <p:txBody>
          <a:bodyPr wrap="square" lIns="50800" tIns="50800" rIns="50800" bIns="50800" rtlCol="0" anchor="ctr"/>
          <a:lstStyle/>
          <a:p>
            <a:pPr algn="ctr"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Foydalanuvchi o'rnatadi</a:t>
            </a:r>
            <a:endParaRPr lang="en-US" sz="1600" dirty="0"/>
          </a:p>
        </p:txBody>
      </p:sp>
      <p:sp>
        <p:nvSpPr>
          <p:cNvPr id="11" name="Shape 9"/>
          <p:cNvSpPr/>
          <p:nvPr/>
        </p:nvSpPr>
        <p:spPr>
          <a:xfrm>
            <a:off x="5925312" y="2377440"/>
            <a:ext cx="265176" cy="0"/>
          </a:xfrm>
          <a:prstGeom prst="line">
            <a:avLst/>
          </a:prstGeom>
          <a:noFill/>
          <a:ln w="28575">
            <a:solidFill>
              <a:srgbClr val="1E2761"/>
            </a:solidFill>
            <a:prstDash val="solid"/>
            <a:tailEnd type="triangle"/>
          </a:ln>
        </p:spPr>
      </p:sp>
      <p:sp>
        <p:nvSpPr>
          <p:cNvPr id="12" name="Shape 10"/>
          <p:cNvSpPr/>
          <p:nvPr/>
        </p:nvSpPr>
        <p:spPr>
          <a:xfrm>
            <a:off x="6217920" y="1783080"/>
            <a:ext cx="2514600" cy="1188720"/>
          </a:xfrm>
          <a:prstGeom prst="roundRect">
            <a:avLst>
              <a:gd name="adj" fmla="val 6923"/>
            </a:avLst>
          </a:prstGeom>
          <a:solidFill>
            <a:srgbClr val="1E2761"/>
          </a:solidFill>
          <a:ln/>
        </p:spPr>
      </p:sp>
      <p:sp>
        <p:nvSpPr>
          <p:cNvPr id="13" name="Text 11"/>
          <p:cNvSpPr txBox="1"/>
          <p:nvPr/>
        </p:nvSpPr>
        <p:spPr>
          <a:xfrm>
            <a:off x="6217920" y="1828800"/>
            <a:ext cx="2514600" cy="50292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3. Kalitlar juftligi</a:t>
            </a:r>
            <a:endParaRPr lang="en-US" sz="1800" dirty="0"/>
          </a:p>
        </p:txBody>
      </p:sp>
      <p:sp>
        <p:nvSpPr>
          <p:cNvPr id="14" name="Text 12"/>
          <p:cNvSpPr txBox="1"/>
          <p:nvPr/>
        </p:nvSpPr>
        <p:spPr>
          <a:xfrm>
            <a:off x="6309360" y="2331720"/>
            <a:ext cx="2331720" cy="548640"/>
          </a:xfrm>
          <a:prstGeom prst="rect">
            <a:avLst/>
          </a:prstGeom>
          <a:noFill/>
          <a:ln/>
        </p:spPr>
        <p:txBody>
          <a:bodyPr wrap="square" lIns="50800" tIns="50800" rIns="50800" bIns="50800" rtlCol="0" anchor="ctr"/>
          <a:lstStyle/>
          <a:p>
            <a:pPr algn="ctr" indent="0" marL="0">
              <a:lnSpc>
                <a:spcPct val="100000"/>
              </a:lnSpc>
              <a:buNone/>
            </a:pPr>
            <a:r>
              <a:rPr lang="en-US" sz="1600" dirty="0">
                <a:solidFill>
                  <a:srgbClr val="CADCFC"/>
                </a:solidFill>
                <a:latin typeface="Times New Roman" pitchFamily="34" charset="0"/>
                <a:ea typeface="Times New Roman" pitchFamily="34" charset="-122"/>
                <a:cs typeface="Times New Roman" pitchFamily="34" charset="-120"/>
              </a:rPr>
              <a:t>TPM ichida yaratiladi</a:t>
            </a:r>
            <a:endParaRPr lang="en-US" sz="1600" dirty="0"/>
          </a:p>
        </p:txBody>
      </p:sp>
      <p:sp>
        <p:nvSpPr>
          <p:cNvPr id="15" name="Shape 13"/>
          <p:cNvSpPr/>
          <p:nvPr/>
        </p:nvSpPr>
        <p:spPr>
          <a:xfrm>
            <a:off x="8759952" y="2377440"/>
            <a:ext cx="265176" cy="0"/>
          </a:xfrm>
          <a:prstGeom prst="line">
            <a:avLst/>
          </a:prstGeom>
          <a:noFill/>
          <a:ln w="28575">
            <a:solidFill>
              <a:srgbClr val="1E2761"/>
            </a:solidFill>
            <a:prstDash val="solid"/>
            <a:tailEnd type="triangle"/>
          </a:ln>
        </p:spPr>
      </p:sp>
      <p:sp>
        <p:nvSpPr>
          <p:cNvPr id="16" name="Shape 14"/>
          <p:cNvSpPr/>
          <p:nvPr/>
        </p:nvSpPr>
        <p:spPr>
          <a:xfrm>
            <a:off x="9052560" y="1783080"/>
            <a:ext cx="2514600" cy="1188720"/>
          </a:xfrm>
          <a:prstGeom prst="roundRect">
            <a:avLst>
              <a:gd name="adj" fmla="val 6923"/>
            </a:avLst>
          </a:prstGeom>
          <a:solidFill>
            <a:srgbClr val="EEF2FB"/>
          </a:solidFill>
          <a:ln/>
        </p:spPr>
      </p:sp>
      <p:sp>
        <p:nvSpPr>
          <p:cNvPr id="17" name="Text 15"/>
          <p:cNvSpPr txBox="1"/>
          <p:nvPr/>
        </p:nvSpPr>
        <p:spPr>
          <a:xfrm>
            <a:off x="9052560" y="1828800"/>
            <a:ext cx="2514600" cy="50292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1E2761"/>
                </a:solidFill>
                <a:latin typeface="Times New Roman" pitchFamily="34" charset="0"/>
                <a:ea typeface="Times New Roman" pitchFamily="34" charset="-122"/>
                <a:cs typeface="Times New Roman" pitchFamily="34" charset="-120"/>
              </a:rPr>
              <a:t>4. Ochiq kalit</a:t>
            </a:r>
            <a:endParaRPr lang="en-US" sz="1800" dirty="0"/>
          </a:p>
        </p:txBody>
      </p:sp>
      <p:sp>
        <p:nvSpPr>
          <p:cNvPr id="18" name="Text 16"/>
          <p:cNvSpPr txBox="1"/>
          <p:nvPr/>
        </p:nvSpPr>
        <p:spPr>
          <a:xfrm>
            <a:off x="9144000" y="2331720"/>
            <a:ext cx="2331720" cy="548640"/>
          </a:xfrm>
          <a:prstGeom prst="rect">
            <a:avLst/>
          </a:prstGeom>
          <a:noFill/>
          <a:ln/>
        </p:spPr>
        <p:txBody>
          <a:bodyPr wrap="square" lIns="50800" tIns="50800" rIns="50800" bIns="50800" rtlCol="0" anchor="ctr"/>
          <a:lstStyle/>
          <a:p>
            <a:pPr algn="ctr"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Entra ID yoki AD ga yoziladi</a:t>
            </a:r>
            <a:endParaRPr lang="en-US" sz="1600" dirty="0"/>
          </a:p>
        </p:txBody>
      </p:sp>
      <p:sp>
        <p:nvSpPr>
          <p:cNvPr id="19" name="Text 17"/>
          <p:cNvSpPr txBox="1"/>
          <p:nvPr/>
        </p:nvSpPr>
        <p:spPr>
          <a:xfrm>
            <a:off x="548640" y="3200400"/>
            <a:ext cx="11064240" cy="365760"/>
          </a:xfrm>
          <a:prstGeom prst="rect">
            <a:avLst/>
          </a:prstGeom>
          <a:noFill/>
          <a:ln/>
        </p:spPr>
        <p:txBody>
          <a:bodyPr wrap="square" lIns="0" tIns="0" rIns="0" bIns="0" rtlCol="0" anchor="t"/>
          <a:lstStyle/>
          <a:p>
            <a:pPr algn="l" indent="0" marL="0">
              <a:lnSpc>
                <a:spcPct val="100000"/>
              </a:lnSpc>
              <a:buNone/>
            </a:pPr>
            <a:r>
              <a:rPr lang="en-US" sz="1600" b="1" dirty="0">
                <a:solidFill>
                  <a:srgbClr val="5B6270"/>
                </a:solidFill>
                <a:latin typeface="Times New Roman" pitchFamily="34" charset="0"/>
                <a:ea typeface="Times New Roman" pitchFamily="34" charset="-122"/>
                <a:cs typeface="Times New Roman" pitchFamily="34" charset="-120"/>
              </a:rPr>
              <a:t>Keyingi har bir kirishda:</a:t>
            </a:r>
            <a:endParaRPr lang="en-US" sz="1600" dirty="0"/>
          </a:p>
        </p:txBody>
      </p:sp>
      <p:sp>
        <p:nvSpPr>
          <p:cNvPr id="20" name="Shape 18"/>
          <p:cNvSpPr/>
          <p:nvPr/>
        </p:nvSpPr>
        <p:spPr>
          <a:xfrm>
            <a:off x="548640" y="3611880"/>
            <a:ext cx="5486400" cy="1600200"/>
          </a:xfrm>
          <a:prstGeom prst="roundRect">
            <a:avLst>
              <a:gd name="adj" fmla="val 5143"/>
            </a:avLst>
          </a:prstGeom>
          <a:solidFill>
            <a:srgbClr val="CADCFC"/>
          </a:solidFill>
          <a:ln/>
        </p:spPr>
      </p:sp>
      <p:sp>
        <p:nvSpPr>
          <p:cNvPr id="21" name="Shape 19"/>
          <p:cNvSpPr/>
          <p:nvPr/>
        </p:nvSpPr>
        <p:spPr>
          <a:xfrm>
            <a:off x="777240" y="3840480"/>
            <a:ext cx="658368" cy="658368"/>
          </a:xfrm>
          <a:prstGeom prst="ellipse">
            <a:avLst/>
          </a:prstGeom>
          <a:solidFill>
            <a:srgbClr val="1E2761"/>
          </a:solidFill>
          <a:ln/>
        </p:spPr>
      </p:sp>
      <p:pic>
        <p:nvPicPr>
          <p:cNvPr id="22" name="Image 0" descr="/home/claude/fob-slides/icons_out/globe_white.png"/>
          <p:cNvPicPr>
            <a:picLocks noChangeAspect="1"/>
          </p:cNvPicPr>
          <p:nvPr/>
        </p:nvPicPr>
        <p:blipFill>
          <a:blip r:embed="rId1"/>
          <a:stretch>
            <a:fillRect/>
          </a:stretch>
        </p:blipFill>
        <p:spPr>
          <a:xfrm>
            <a:off x="925373" y="3988613"/>
            <a:ext cx="362102" cy="362102"/>
          </a:xfrm>
          <a:prstGeom prst="rect">
            <a:avLst/>
          </a:prstGeom>
        </p:spPr>
      </p:pic>
      <p:sp>
        <p:nvSpPr>
          <p:cNvPr id="23" name="Text 20"/>
          <p:cNvSpPr txBox="1"/>
          <p:nvPr/>
        </p:nvSpPr>
        <p:spPr>
          <a:xfrm>
            <a:off x="1600200" y="3749040"/>
            <a:ext cx="4297680" cy="411480"/>
          </a:xfrm>
          <a:prstGeom prst="rect">
            <a:avLst/>
          </a:prstGeom>
          <a:noFill/>
          <a:ln/>
        </p:spPr>
        <p:txBody>
          <a:bodyPr wrap="square" lIns="0" tIns="0" rIns="0" bIns="0" rtlCol="0" anchor="t"/>
          <a:lstStyle/>
          <a:p>
            <a:pPr algn="l" indent="0" marL="0">
              <a:lnSpc>
                <a:spcPct val="100000"/>
              </a:lnSpc>
              <a:buNone/>
            </a:pPr>
            <a:r>
              <a:rPr lang="en-US" sz="1800" b="1" dirty="0">
                <a:solidFill>
                  <a:srgbClr val="1E2761"/>
                </a:solidFill>
                <a:latin typeface="Times New Roman" pitchFamily="34" charset="0"/>
                <a:ea typeface="Times New Roman" pitchFamily="34" charset="-122"/>
                <a:cs typeface="Times New Roman" pitchFamily="34" charset="-120"/>
              </a:rPr>
              <a:t>Microsoft Entra ID</a:t>
            </a:r>
            <a:endParaRPr lang="en-US" sz="1800" dirty="0"/>
          </a:p>
        </p:txBody>
      </p:sp>
      <p:sp>
        <p:nvSpPr>
          <p:cNvPr id="24" name="Text 21"/>
          <p:cNvSpPr txBox="1"/>
          <p:nvPr/>
        </p:nvSpPr>
        <p:spPr>
          <a:xfrm>
            <a:off x="1600200" y="4160520"/>
            <a:ext cx="4297680" cy="960120"/>
          </a:xfrm>
          <a:prstGeom prst="rect">
            <a:avLst/>
          </a:prstGeom>
          <a:noFill/>
          <a:ln/>
        </p:spPr>
        <p:txBody>
          <a:bodyPr wrap="square" lIns="0" tIns="0" rIns="0" bIns="0" rtlCol="0" anchor="t"/>
          <a:lstStyle/>
          <a:p>
            <a:pPr algn="l" indent="0" marL="0">
              <a:lnSpc>
                <a:spcPct val="105000"/>
              </a:lnSpc>
              <a:buNone/>
            </a:pPr>
            <a:r>
              <a:rPr lang="en-US" sz="1600" dirty="0">
                <a:solidFill>
                  <a:srgbClr val="1B1B2A"/>
                </a:solidFill>
                <a:latin typeface="Times New Roman" pitchFamily="34" charset="0"/>
                <a:ea typeface="Times New Roman" pitchFamily="34" charset="-122"/>
                <a:cs typeface="Times New Roman" pitchFamily="34" charset="-120"/>
              </a:rPr>
              <a:t>Imzo tekshiriladi → Primary Refresh Token (PRT) beriladi → bulut ilovalariga SSO</a:t>
            </a:r>
            <a:endParaRPr lang="en-US" sz="1600" dirty="0"/>
          </a:p>
        </p:txBody>
      </p:sp>
      <p:sp>
        <p:nvSpPr>
          <p:cNvPr id="25" name="Shape 22"/>
          <p:cNvSpPr/>
          <p:nvPr/>
        </p:nvSpPr>
        <p:spPr>
          <a:xfrm>
            <a:off x="6126480" y="3611880"/>
            <a:ext cx="5486400" cy="1600200"/>
          </a:xfrm>
          <a:prstGeom prst="roundRect">
            <a:avLst>
              <a:gd name="adj" fmla="val 5143"/>
            </a:avLst>
          </a:prstGeom>
          <a:solidFill>
            <a:srgbClr val="CADCFC"/>
          </a:solidFill>
          <a:ln/>
        </p:spPr>
      </p:sp>
      <p:sp>
        <p:nvSpPr>
          <p:cNvPr id="26" name="Shape 23"/>
          <p:cNvSpPr/>
          <p:nvPr/>
        </p:nvSpPr>
        <p:spPr>
          <a:xfrm>
            <a:off x="6355080" y="3840480"/>
            <a:ext cx="658368" cy="658368"/>
          </a:xfrm>
          <a:prstGeom prst="ellipse">
            <a:avLst/>
          </a:prstGeom>
          <a:solidFill>
            <a:srgbClr val="1E2761"/>
          </a:solidFill>
          <a:ln/>
        </p:spPr>
      </p:sp>
      <p:pic>
        <p:nvPicPr>
          <p:cNvPr id="27" name="Image 1" descr="/home/claude/fob-slides/icons_out/sitemap_white.png"/>
          <p:cNvPicPr>
            <a:picLocks noChangeAspect="1"/>
          </p:cNvPicPr>
          <p:nvPr/>
        </p:nvPicPr>
        <p:blipFill>
          <a:blip r:embed="rId2"/>
          <a:stretch>
            <a:fillRect/>
          </a:stretch>
        </p:blipFill>
        <p:spPr>
          <a:xfrm>
            <a:off x="6503213" y="3988613"/>
            <a:ext cx="362102" cy="362102"/>
          </a:xfrm>
          <a:prstGeom prst="rect">
            <a:avLst/>
          </a:prstGeom>
        </p:spPr>
      </p:pic>
      <p:sp>
        <p:nvSpPr>
          <p:cNvPr id="28" name="Text 24"/>
          <p:cNvSpPr txBox="1"/>
          <p:nvPr/>
        </p:nvSpPr>
        <p:spPr>
          <a:xfrm>
            <a:off x="7178040" y="3749040"/>
            <a:ext cx="4297680" cy="411480"/>
          </a:xfrm>
          <a:prstGeom prst="rect">
            <a:avLst/>
          </a:prstGeom>
          <a:noFill/>
          <a:ln/>
        </p:spPr>
        <p:txBody>
          <a:bodyPr wrap="square" lIns="0" tIns="0" rIns="0" bIns="0" rtlCol="0" anchor="t"/>
          <a:lstStyle/>
          <a:p>
            <a:pPr algn="l" indent="0" marL="0">
              <a:lnSpc>
                <a:spcPct val="100000"/>
              </a:lnSpc>
              <a:buNone/>
            </a:pPr>
            <a:r>
              <a:rPr lang="en-US" sz="1800" b="1" dirty="0">
                <a:solidFill>
                  <a:srgbClr val="1E2761"/>
                </a:solidFill>
                <a:latin typeface="Times New Roman" pitchFamily="34" charset="0"/>
                <a:ea typeface="Times New Roman" pitchFamily="34" charset="-122"/>
                <a:cs typeface="Times New Roman" pitchFamily="34" charset="-120"/>
              </a:rPr>
              <a:t>Active Directory (domen)</a:t>
            </a:r>
            <a:endParaRPr lang="en-US" sz="1800" dirty="0"/>
          </a:p>
        </p:txBody>
      </p:sp>
      <p:sp>
        <p:nvSpPr>
          <p:cNvPr id="29" name="Text 25"/>
          <p:cNvSpPr txBox="1"/>
          <p:nvPr/>
        </p:nvSpPr>
        <p:spPr>
          <a:xfrm>
            <a:off x="7178040" y="4160520"/>
            <a:ext cx="4297680" cy="960120"/>
          </a:xfrm>
          <a:prstGeom prst="rect">
            <a:avLst/>
          </a:prstGeom>
          <a:noFill/>
          <a:ln/>
        </p:spPr>
        <p:txBody>
          <a:bodyPr wrap="square" lIns="0" tIns="0" rIns="0" bIns="0" rtlCol="0" anchor="t"/>
          <a:lstStyle/>
          <a:p>
            <a:pPr algn="l" indent="0" marL="0">
              <a:lnSpc>
                <a:spcPct val="105000"/>
              </a:lnSpc>
              <a:buNone/>
            </a:pPr>
            <a:r>
              <a:rPr lang="en-US" sz="1600" dirty="0">
                <a:solidFill>
                  <a:srgbClr val="1B1B2A"/>
                </a:solidFill>
                <a:latin typeface="Times New Roman" pitchFamily="34" charset="0"/>
                <a:ea typeface="Times New Roman" pitchFamily="34" charset="-122"/>
                <a:cs typeface="Times New Roman" pitchFamily="34" charset="-120"/>
              </a:rPr>
              <a:t>Ochiq kalit msDS-KeyCredentialLink atributida → Kerberos TGT → ichki resurslarga SSO</a:t>
            </a:r>
            <a:endParaRPr lang="en-US" sz="1600" dirty="0"/>
          </a:p>
        </p:txBody>
      </p:sp>
      <p:sp>
        <p:nvSpPr>
          <p:cNvPr id="30" name="Shape 26"/>
          <p:cNvSpPr/>
          <p:nvPr/>
        </p:nvSpPr>
        <p:spPr>
          <a:xfrm>
            <a:off x="548640" y="5394960"/>
            <a:ext cx="11064240" cy="822960"/>
          </a:xfrm>
          <a:prstGeom prst="roundRect">
            <a:avLst>
              <a:gd name="adj" fmla="val 10000"/>
            </a:avLst>
          </a:prstGeom>
          <a:solidFill>
            <a:srgbClr val="EEF2FB"/>
          </a:solidFill>
          <a:ln/>
        </p:spPr>
      </p:sp>
      <p:sp>
        <p:nvSpPr>
          <p:cNvPr id="31" name="Text 27"/>
          <p:cNvSpPr txBox="1"/>
          <p:nvPr/>
        </p:nvSpPr>
        <p:spPr>
          <a:xfrm>
            <a:off x="822960" y="5394960"/>
            <a:ext cx="10515600" cy="822960"/>
          </a:xfrm>
          <a:prstGeom prst="rect">
            <a:avLst/>
          </a:prstGeom>
          <a:noFill/>
          <a:ln/>
        </p:spPr>
        <p:txBody>
          <a:bodyPr wrap="square" lIns="0" tIns="0" rIns="0" bIns="0" rtlCol="0" anchor="ctr"/>
          <a:lstStyle/>
          <a:p>
            <a:pPr algn="l" indent="0" marL="0">
              <a:lnSpc>
                <a:spcPct val="100000"/>
              </a:lnSpc>
              <a:buNone/>
            </a:pPr>
            <a:r>
              <a:rPr lang="en-US" sz="1600" dirty="0">
                <a:solidFill>
                  <a:srgbClr val="1E2761"/>
                </a:solidFill>
                <a:latin typeface="Times New Roman" pitchFamily="34" charset="0"/>
                <a:ea typeface="Times New Roman" pitchFamily="34" charset="-122"/>
                <a:cs typeface="Times New Roman" pitchFamily="34" charset="-120"/>
              </a:rPr>
              <a:t>Windows Hello for Business kaliti Entra MFA talablariga javob beradi: qurilmaga egalik (TPM) + bilish (PIN) yoki biometrik. Bitta harakat — ikki omil.</a:t>
            </a:r>
            <a:endParaRPr lang="en-US" sz="1600" dirty="0"/>
          </a:p>
        </p:txBody>
      </p:sp>
      <p:sp>
        <p:nvSpPr>
          <p:cNvPr id="32" name="Text 28"/>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5-ma'ruza</a:t>
            </a:r>
            <a:endParaRPr lang="en-US" sz="1100" dirty="0"/>
          </a:p>
        </p:txBody>
      </p:sp>
      <p:sp>
        <p:nvSpPr>
          <p:cNvPr id="33" name="Text 29"/>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II · WINDOWS 11 DA PASSKEY</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Passkey qayerda saqlanadi va qanday ishlatiladi?</a:t>
            </a:r>
            <a:endParaRPr lang="en-US" sz="3600" dirty="0"/>
          </a:p>
        </p:txBody>
      </p:sp>
      <p:sp>
        <p:nvSpPr>
          <p:cNvPr id="4" name="Shape 2"/>
          <p:cNvSpPr/>
          <p:nvPr/>
        </p:nvSpPr>
        <p:spPr>
          <a:xfrm>
            <a:off x="548640" y="1783080"/>
            <a:ext cx="5440680" cy="1600200"/>
          </a:xfrm>
          <a:prstGeom prst="roundRect">
            <a:avLst>
              <a:gd name="adj" fmla="val 5143"/>
            </a:avLst>
          </a:prstGeom>
          <a:solidFill>
            <a:srgbClr val="1E2761"/>
          </a:solidFill>
          <a:ln/>
        </p:spPr>
      </p:sp>
      <p:sp>
        <p:nvSpPr>
          <p:cNvPr id="5" name="Shape 3"/>
          <p:cNvSpPr/>
          <p:nvPr/>
        </p:nvSpPr>
        <p:spPr>
          <a:xfrm>
            <a:off x="777240" y="2011680"/>
            <a:ext cx="640080" cy="640080"/>
          </a:xfrm>
          <a:prstGeom prst="ellipse">
            <a:avLst/>
          </a:prstGeom>
          <a:solidFill>
            <a:srgbClr val="2A3778"/>
          </a:solidFill>
          <a:ln/>
        </p:spPr>
      </p:sp>
      <p:pic>
        <p:nvPicPr>
          <p:cNvPr id="6" name="Image 0" descr="/home/claude/fob-slides/icons_out/desktop_white.png"/>
          <p:cNvPicPr>
            <a:picLocks noChangeAspect="1"/>
          </p:cNvPicPr>
          <p:nvPr/>
        </p:nvPicPr>
        <p:blipFill>
          <a:blip r:embed="rId1"/>
          <a:stretch>
            <a:fillRect/>
          </a:stretch>
        </p:blipFill>
        <p:spPr>
          <a:xfrm>
            <a:off x="921258" y="2155698"/>
            <a:ext cx="352044" cy="352044"/>
          </a:xfrm>
          <a:prstGeom prst="rect">
            <a:avLst/>
          </a:prstGeom>
        </p:spPr>
      </p:pic>
      <p:sp>
        <p:nvSpPr>
          <p:cNvPr id="7" name="Text 4"/>
          <p:cNvSpPr txBox="1"/>
          <p:nvPr/>
        </p:nvSpPr>
        <p:spPr>
          <a:xfrm>
            <a:off x="1600200" y="2011680"/>
            <a:ext cx="4206240" cy="457200"/>
          </a:xfrm>
          <a:prstGeom prst="rect">
            <a:avLst/>
          </a:prstGeom>
          <a:noFill/>
          <a:ln/>
        </p:spPr>
        <p:txBody>
          <a:bodyPr wrap="square" lIns="0" tIns="0" rIns="0" bIns="0" rtlCol="0" anchor="t"/>
          <a:lstStyle/>
          <a:p>
            <a:pPr algn="l" indent="0" marL="0">
              <a:lnSpc>
                <a:spcPct val="100000"/>
              </a:lnSpc>
              <a:buNone/>
            </a:pPr>
            <a:r>
              <a:rPr lang="en-US" sz="2000" b="1" dirty="0">
                <a:solidFill>
                  <a:srgbClr val="FFFFFF"/>
                </a:solidFill>
                <a:latin typeface="Times New Roman" pitchFamily="34" charset="0"/>
                <a:ea typeface="Times New Roman" pitchFamily="34" charset="-122"/>
                <a:cs typeface="Times New Roman" pitchFamily="34" charset="-120"/>
              </a:rPr>
              <a:t>Shu kompyuterda</a:t>
            </a:r>
            <a:endParaRPr lang="en-US" sz="2000" dirty="0"/>
          </a:p>
        </p:txBody>
      </p:sp>
      <p:sp>
        <p:nvSpPr>
          <p:cNvPr id="8" name="Text 5"/>
          <p:cNvSpPr txBox="1"/>
          <p:nvPr/>
        </p:nvSpPr>
        <p:spPr>
          <a:xfrm>
            <a:off x="1600200" y="2468880"/>
            <a:ext cx="4206240" cy="822960"/>
          </a:xfrm>
          <a:prstGeom prst="rect">
            <a:avLst/>
          </a:prstGeom>
          <a:noFill/>
          <a:ln/>
        </p:spPr>
        <p:txBody>
          <a:bodyPr wrap="square" lIns="0" tIns="0" rIns="0" bIns="0" rtlCol="0" anchor="t"/>
          <a:lstStyle/>
          <a:p>
            <a:pPr algn="l" indent="0" marL="0">
              <a:lnSpc>
                <a:spcPct val="100000"/>
              </a:lnSpc>
              <a:buNone/>
            </a:pPr>
            <a:r>
              <a:rPr lang="en-US" sz="1600" dirty="0">
                <a:solidFill>
                  <a:srgbClr val="CADCFC"/>
                </a:solidFill>
                <a:latin typeface="Times New Roman" pitchFamily="34" charset="0"/>
                <a:ea typeface="Times New Roman" pitchFamily="34" charset="-122"/>
                <a:cs typeface="Times New Roman" pitchFamily="34" charset="-120"/>
              </a:rPr>
              <a:t>Windows Hello da (TPM), PIN yoki biometrik bilan ochiladi. Qurilmaga bog'langan.</a:t>
            </a:r>
            <a:endParaRPr lang="en-US" sz="1600" dirty="0"/>
          </a:p>
        </p:txBody>
      </p:sp>
      <p:sp>
        <p:nvSpPr>
          <p:cNvPr id="9" name="Shape 6"/>
          <p:cNvSpPr/>
          <p:nvPr/>
        </p:nvSpPr>
        <p:spPr>
          <a:xfrm>
            <a:off x="6172200" y="1783080"/>
            <a:ext cx="5440680" cy="1600200"/>
          </a:xfrm>
          <a:prstGeom prst="roundRect">
            <a:avLst>
              <a:gd name="adj" fmla="val 5143"/>
            </a:avLst>
          </a:prstGeom>
          <a:solidFill>
            <a:srgbClr val="EEF2FB"/>
          </a:solidFill>
          <a:ln/>
        </p:spPr>
      </p:sp>
      <p:sp>
        <p:nvSpPr>
          <p:cNvPr id="10" name="Shape 7"/>
          <p:cNvSpPr/>
          <p:nvPr/>
        </p:nvSpPr>
        <p:spPr>
          <a:xfrm>
            <a:off x="6400800" y="2011680"/>
            <a:ext cx="640080" cy="640080"/>
          </a:xfrm>
          <a:prstGeom prst="ellipse">
            <a:avLst/>
          </a:prstGeom>
          <a:solidFill>
            <a:srgbClr val="1E2761"/>
          </a:solidFill>
          <a:ln/>
        </p:spPr>
      </p:sp>
      <p:pic>
        <p:nvPicPr>
          <p:cNvPr id="11" name="Image 1" descr="/home/claude/fob-slides/icons_out/qrcode_white.png"/>
          <p:cNvPicPr>
            <a:picLocks noChangeAspect="1"/>
          </p:cNvPicPr>
          <p:nvPr/>
        </p:nvPicPr>
        <p:blipFill>
          <a:blip r:embed="rId2"/>
          <a:stretch>
            <a:fillRect/>
          </a:stretch>
        </p:blipFill>
        <p:spPr>
          <a:xfrm>
            <a:off x="6544818" y="2155698"/>
            <a:ext cx="352044" cy="352044"/>
          </a:xfrm>
          <a:prstGeom prst="rect">
            <a:avLst/>
          </a:prstGeom>
        </p:spPr>
      </p:pic>
      <p:sp>
        <p:nvSpPr>
          <p:cNvPr id="12" name="Text 8"/>
          <p:cNvSpPr txBox="1"/>
          <p:nvPr/>
        </p:nvSpPr>
        <p:spPr>
          <a:xfrm>
            <a:off x="7223760" y="2011680"/>
            <a:ext cx="4206240" cy="457200"/>
          </a:xfrm>
          <a:prstGeom prst="rect">
            <a:avLst/>
          </a:prstGeom>
          <a:noFill/>
          <a:ln/>
        </p:spPr>
        <p:txBody>
          <a:bodyPr wrap="square" lIns="0" tIns="0" rIns="0" bIns="0" rtlCol="0" anchor="t"/>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Telefonda</a:t>
            </a:r>
            <a:endParaRPr lang="en-US" sz="2000" dirty="0"/>
          </a:p>
        </p:txBody>
      </p:sp>
      <p:sp>
        <p:nvSpPr>
          <p:cNvPr id="13" name="Text 9"/>
          <p:cNvSpPr txBox="1"/>
          <p:nvPr/>
        </p:nvSpPr>
        <p:spPr>
          <a:xfrm>
            <a:off x="7223760" y="2468880"/>
            <a:ext cx="4206240" cy="822960"/>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Ekrandagi QR kod skanerlanadi; telefon Bluetooth orqali yaqinligini isbotlaydi.</a:t>
            </a:r>
            <a:endParaRPr lang="en-US" sz="1600" dirty="0"/>
          </a:p>
        </p:txBody>
      </p:sp>
      <p:sp>
        <p:nvSpPr>
          <p:cNvPr id="14" name="Shape 10"/>
          <p:cNvSpPr/>
          <p:nvPr/>
        </p:nvSpPr>
        <p:spPr>
          <a:xfrm>
            <a:off x="548640" y="3566160"/>
            <a:ext cx="5440680" cy="1600200"/>
          </a:xfrm>
          <a:prstGeom prst="roundRect">
            <a:avLst>
              <a:gd name="adj" fmla="val 5143"/>
            </a:avLst>
          </a:prstGeom>
          <a:solidFill>
            <a:srgbClr val="EEF2FB"/>
          </a:solidFill>
          <a:ln/>
        </p:spPr>
      </p:sp>
      <p:sp>
        <p:nvSpPr>
          <p:cNvPr id="15" name="Shape 11"/>
          <p:cNvSpPr/>
          <p:nvPr/>
        </p:nvSpPr>
        <p:spPr>
          <a:xfrm>
            <a:off x="777240" y="3794760"/>
            <a:ext cx="640080" cy="640080"/>
          </a:xfrm>
          <a:prstGeom prst="ellipse">
            <a:avLst/>
          </a:prstGeom>
          <a:solidFill>
            <a:srgbClr val="1E2761"/>
          </a:solidFill>
          <a:ln/>
        </p:spPr>
      </p:sp>
      <p:pic>
        <p:nvPicPr>
          <p:cNvPr id="16" name="Image 2" descr="/home/claude/fob-slides/icons_out/usb_white.png"/>
          <p:cNvPicPr>
            <a:picLocks noChangeAspect="1"/>
          </p:cNvPicPr>
          <p:nvPr/>
        </p:nvPicPr>
        <p:blipFill>
          <a:blip r:embed="rId3"/>
          <a:stretch>
            <a:fillRect/>
          </a:stretch>
        </p:blipFill>
        <p:spPr>
          <a:xfrm>
            <a:off x="921258" y="3938778"/>
            <a:ext cx="352044" cy="352044"/>
          </a:xfrm>
          <a:prstGeom prst="rect">
            <a:avLst/>
          </a:prstGeom>
        </p:spPr>
      </p:pic>
      <p:sp>
        <p:nvSpPr>
          <p:cNvPr id="17" name="Text 12"/>
          <p:cNvSpPr txBox="1"/>
          <p:nvPr/>
        </p:nvSpPr>
        <p:spPr>
          <a:xfrm>
            <a:off x="1600200" y="3794760"/>
            <a:ext cx="4206240" cy="457200"/>
          </a:xfrm>
          <a:prstGeom prst="rect">
            <a:avLst/>
          </a:prstGeom>
          <a:noFill/>
          <a:ln/>
        </p:spPr>
        <p:txBody>
          <a:bodyPr wrap="square" lIns="0" tIns="0" rIns="0" bIns="0" rtlCol="0" anchor="t"/>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Xavfsizlik kalitida</a:t>
            </a:r>
            <a:endParaRPr lang="en-US" sz="2000" dirty="0"/>
          </a:p>
        </p:txBody>
      </p:sp>
      <p:sp>
        <p:nvSpPr>
          <p:cNvPr id="18" name="Text 13"/>
          <p:cNvSpPr txBox="1"/>
          <p:nvPr/>
        </p:nvSpPr>
        <p:spPr>
          <a:xfrm>
            <a:off x="1600200" y="4251960"/>
            <a:ext cx="4206240" cy="822960"/>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USB yoki NFC orqali ulanadigan FIDO2 kalit; o'z PIN-kodi bor.</a:t>
            </a:r>
            <a:endParaRPr lang="en-US" sz="1600" dirty="0"/>
          </a:p>
        </p:txBody>
      </p:sp>
      <p:sp>
        <p:nvSpPr>
          <p:cNvPr id="19" name="Shape 14"/>
          <p:cNvSpPr/>
          <p:nvPr/>
        </p:nvSpPr>
        <p:spPr>
          <a:xfrm>
            <a:off x="6172200" y="3566160"/>
            <a:ext cx="5440680" cy="1600200"/>
          </a:xfrm>
          <a:prstGeom prst="roundRect">
            <a:avLst>
              <a:gd name="adj" fmla="val 5143"/>
            </a:avLst>
          </a:prstGeom>
          <a:solidFill>
            <a:srgbClr val="EEF2FB"/>
          </a:solidFill>
          <a:ln/>
        </p:spPr>
      </p:sp>
      <p:sp>
        <p:nvSpPr>
          <p:cNvPr id="20" name="Shape 15"/>
          <p:cNvSpPr/>
          <p:nvPr/>
        </p:nvSpPr>
        <p:spPr>
          <a:xfrm>
            <a:off x="6400800" y="3794760"/>
            <a:ext cx="640080" cy="640080"/>
          </a:xfrm>
          <a:prstGeom prst="ellipse">
            <a:avLst/>
          </a:prstGeom>
          <a:solidFill>
            <a:srgbClr val="1E2761"/>
          </a:solidFill>
          <a:ln/>
        </p:spPr>
      </p:sp>
      <p:pic>
        <p:nvPicPr>
          <p:cNvPr id="21" name="Image 3" descr="/home/claude/fob-slides/icons_out/key_white.png"/>
          <p:cNvPicPr>
            <a:picLocks noChangeAspect="1"/>
          </p:cNvPicPr>
          <p:nvPr/>
        </p:nvPicPr>
        <p:blipFill>
          <a:blip r:embed="rId4"/>
          <a:stretch>
            <a:fillRect/>
          </a:stretch>
        </p:blipFill>
        <p:spPr>
          <a:xfrm>
            <a:off x="6544818" y="3938778"/>
            <a:ext cx="352044" cy="352044"/>
          </a:xfrm>
          <a:prstGeom prst="rect">
            <a:avLst/>
          </a:prstGeom>
        </p:spPr>
      </p:pic>
      <p:sp>
        <p:nvSpPr>
          <p:cNvPr id="22" name="Text 16"/>
          <p:cNvSpPr txBox="1"/>
          <p:nvPr/>
        </p:nvSpPr>
        <p:spPr>
          <a:xfrm>
            <a:off x="7223760" y="3794760"/>
            <a:ext cx="4206240" cy="457200"/>
          </a:xfrm>
          <a:prstGeom prst="rect">
            <a:avLst/>
          </a:prstGeom>
          <a:noFill/>
          <a:ln/>
        </p:spPr>
        <p:txBody>
          <a:bodyPr wrap="square" lIns="0" tIns="0" rIns="0" bIns="0" rtlCol="0" anchor="t"/>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Passkey menejerida</a:t>
            </a:r>
            <a:endParaRPr lang="en-US" sz="2000" dirty="0"/>
          </a:p>
        </p:txBody>
      </p:sp>
      <p:sp>
        <p:nvSpPr>
          <p:cNvPr id="23" name="Text 17"/>
          <p:cNvSpPr txBox="1"/>
          <p:nvPr/>
        </p:nvSpPr>
        <p:spPr>
          <a:xfrm>
            <a:off x="7223760" y="4251960"/>
            <a:ext cx="4206240" cy="822960"/>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1Password, Bitwarden — Windows 11 tizim darajasida (2025-yil noyabridan).</a:t>
            </a:r>
            <a:endParaRPr lang="en-US" sz="1600" dirty="0"/>
          </a:p>
        </p:txBody>
      </p:sp>
      <p:sp>
        <p:nvSpPr>
          <p:cNvPr id="24" name="Shape 18"/>
          <p:cNvSpPr/>
          <p:nvPr/>
        </p:nvSpPr>
        <p:spPr>
          <a:xfrm>
            <a:off x="548640" y="5394960"/>
            <a:ext cx="11064240" cy="822960"/>
          </a:xfrm>
          <a:prstGeom prst="roundRect">
            <a:avLst>
              <a:gd name="adj" fmla="val 10000"/>
            </a:avLst>
          </a:prstGeom>
          <a:solidFill>
            <a:srgbClr val="CADCFC"/>
          </a:solidFill>
          <a:ln/>
        </p:spPr>
      </p:sp>
      <p:sp>
        <p:nvSpPr>
          <p:cNvPr id="25" name="Text 19"/>
          <p:cNvSpPr txBox="1"/>
          <p:nvPr/>
        </p:nvSpPr>
        <p:spPr>
          <a:xfrm>
            <a:off x="822960" y="5394960"/>
            <a:ext cx="10515600" cy="822960"/>
          </a:xfrm>
          <a:prstGeom prst="rect">
            <a:avLst/>
          </a:prstGeom>
          <a:noFill/>
          <a:ln/>
        </p:spPr>
        <p:txBody>
          <a:bodyPr wrap="square" lIns="0" tIns="0" rIns="0" bIns="0" rtlCol="0" anchor="ctr"/>
          <a:lstStyle/>
          <a:p>
            <a:pPr indent="0" marL="0">
              <a:buNone/>
            </a:pPr>
            <a:r>
              <a:rPr lang="en-US" sz="1600" b="1" dirty="0">
                <a:solidFill>
                  <a:srgbClr val="1E2761"/>
                </a:solidFill>
                <a:latin typeface="Times New Roman" pitchFamily="34" charset="0"/>
                <a:ea typeface="Times New Roman" pitchFamily="34" charset="-122"/>
                <a:cs typeface="Times New Roman" pitchFamily="34" charset="-120"/>
              </a:rPr>
              <a:t>Boshqarish: </a:t>
            </a:r>
            <a:pPr indent="0" marL="0">
              <a:buNone/>
            </a:pPr>
            <a:r>
              <a:rPr lang="en-US" sz="1600" dirty="0">
                <a:solidFill>
                  <a:srgbClr val="1B1B2A"/>
                </a:solidFill>
                <a:latin typeface="Times New Roman" pitchFamily="34" charset="0"/>
                <a:ea typeface="Times New Roman" pitchFamily="34" charset="-122"/>
                <a:cs typeface="Times New Roman" pitchFamily="34" charset="-120"/>
              </a:rPr>
              <a:t>Sozlamalar → Hisoblar → Passkeys (ro'yxat, o'chirish).  Talab: Windows 11 22H2 (KB5030310) va undan yuqori.</a:t>
            </a:r>
            <a:endParaRPr lang="en-US" sz="1600" dirty="0"/>
          </a:p>
        </p:txBody>
      </p:sp>
      <p:sp>
        <p:nvSpPr>
          <p:cNvPr id="26" name="Text 20"/>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5-ma'ruza</a:t>
            </a:r>
            <a:endParaRPr lang="en-US" sz="1100" dirty="0"/>
          </a:p>
        </p:txBody>
      </p:sp>
      <p:sp>
        <p:nvSpPr>
          <p:cNvPr id="27" name="Text 21"/>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DF3E2"/>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D9932B"/>
                </a:solidFill>
                <a:latin typeface="Times New Roman" pitchFamily="34" charset="0"/>
                <a:ea typeface="Times New Roman" pitchFamily="34" charset="-122"/>
                <a:cs typeface="Times New Roman" pitchFamily="34" charset="-120"/>
              </a:rPr>
              <a:t>JONLI NAMOYISH · 10 DAQIQA</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9A5B00"/>
                </a:solidFill>
                <a:latin typeface="Times New Roman" pitchFamily="34" charset="0"/>
                <a:ea typeface="Times New Roman" pitchFamily="34" charset="-122"/>
                <a:cs typeface="Times New Roman" pitchFamily="34" charset="-120"/>
              </a:rPr>
              <a:t>Windows 11 da o'zimiz tekshiramiz</a:t>
            </a:r>
            <a:endParaRPr lang="en-US" sz="3600" dirty="0"/>
          </a:p>
        </p:txBody>
      </p:sp>
      <p:sp>
        <p:nvSpPr>
          <p:cNvPr id="4" name="Shape 2"/>
          <p:cNvSpPr/>
          <p:nvPr/>
        </p:nvSpPr>
        <p:spPr>
          <a:xfrm>
            <a:off x="10744200" y="411480"/>
            <a:ext cx="868680" cy="868680"/>
          </a:xfrm>
          <a:prstGeom prst="ellipse">
            <a:avLst/>
          </a:prstGeom>
          <a:solidFill>
            <a:srgbClr val="D9932B"/>
          </a:solidFill>
          <a:ln/>
        </p:spPr>
      </p:sp>
      <p:pic>
        <p:nvPicPr>
          <p:cNvPr id="5" name="Image 0" descr="/home/claude/fob-slides/icons_out/terminal_white.png"/>
          <p:cNvPicPr>
            <a:picLocks noChangeAspect="1"/>
          </p:cNvPicPr>
          <p:nvPr/>
        </p:nvPicPr>
        <p:blipFill>
          <a:blip r:embed="rId1"/>
          <a:stretch>
            <a:fillRect/>
          </a:stretch>
        </p:blipFill>
        <p:spPr>
          <a:xfrm>
            <a:off x="10978744" y="646024"/>
            <a:ext cx="399593" cy="399593"/>
          </a:xfrm>
          <a:prstGeom prst="rect">
            <a:avLst/>
          </a:prstGeom>
        </p:spPr>
      </p:pic>
      <p:sp>
        <p:nvSpPr>
          <p:cNvPr id="6" name="Shape 3"/>
          <p:cNvSpPr/>
          <p:nvPr/>
        </p:nvSpPr>
        <p:spPr>
          <a:xfrm>
            <a:off x="548640" y="1783080"/>
            <a:ext cx="6675120" cy="4434840"/>
          </a:xfrm>
          <a:prstGeom prst="roundRect">
            <a:avLst>
              <a:gd name="adj" fmla="val 1856"/>
            </a:avLst>
          </a:prstGeom>
          <a:solidFill>
            <a:srgbClr val="162048"/>
          </a:solidFill>
          <a:ln/>
        </p:spPr>
      </p:sp>
      <p:sp>
        <p:nvSpPr>
          <p:cNvPr id="7" name="Text 4"/>
          <p:cNvSpPr txBox="1"/>
          <p:nvPr/>
        </p:nvSpPr>
        <p:spPr>
          <a:xfrm>
            <a:off x="777240" y="1965960"/>
            <a:ext cx="6217920" cy="4069080"/>
          </a:xfrm>
          <a:prstGeom prst="rect">
            <a:avLst/>
          </a:prstGeom>
          <a:noFill/>
          <a:ln/>
        </p:spPr>
        <p:txBody>
          <a:bodyPr wrap="square" lIns="0" tIns="0" rIns="0" bIns="0" rtlCol="0" anchor="t"/>
          <a:lstStyle/>
          <a:p>
            <a:pPr indent="0" marL="0">
              <a:lnSpc>
                <a:spcPct val="105000"/>
              </a:lnSpc>
              <a:buNone/>
            </a:pPr>
            <a:r>
              <a:rPr lang="en-US" sz="1300" dirty="0">
                <a:solidFill>
                  <a:srgbClr val="9FB0E0"/>
                </a:solidFill>
                <a:latin typeface="Courier New" pitchFamily="34" charset="0"/>
                <a:ea typeface="Courier New" pitchFamily="34" charset="-122"/>
                <a:cs typeface="Courier New" pitchFamily="34" charset="-120"/>
              </a:rPr>
              <a:t># 1. TPM bormi va tayyormi? (administrator)</a:t>
            </a:r>
            <a:endParaRPr lang="en-US" sz="1300" dirty="0"/>
          </a:p>
          <a:p>
            <a:pPr indent="0" marL="0">
              <a:lnSpc>
                <a:spcPct val="105000"/>
              </a:lnSpc>
              <a:buNone/>
            </a:pPr>
            <a:r>
              <a:rPr lang="en-US" sz="1300" b="1" dirty="0">
                <a:solidFill>
                  <a:srgbClr val="F2B544"/>
                </a:solidFill>
                <a:latin typeface="Courier New" pitchFamily="34" charset="0"/>
                <a:ea typeface="Courier New" pitchFamily="34" charset="-122"/>
                <a:cs typeface="Courier New" pitchFamily="34" charset="-120"/>
              </a:rPr>
              <a:t>PS&gt; Get-Tpm</a:t>
            </a:r>
            <a:endParaRPr lang="en-US" sz="1300" dirty="0"/>
          </a:p>
          <a:p>
            <a:pPr indent="0" marL="0">
              <a:lnSpc>
                <a:spcPct val="105000"/>
              </a:lnSpc>
              <a:buNone/>
            </a:pPr>
            <a:r>
              <a:rPr lang="en-US" sz="1300" dirty="0">
                <a:solidFill>
                  <a:srgbClr val="FFFFFF"/>
                </a:solidFill>
                <a:latin typeface="Courier New" pitchFamily="34" charset="0"/>
                <a:ea typeface="Courier New" pitchFamily="34" charset="-122"/>
                <a:cs typeface="Courier New" pitchFamily="34" charset="-120"/>
              </a:rPr>
              <a:t>TpmPresent : True    TpmReady : True</a:t>
            </a:r>
            <a:endParaRPr lang="en-US" sz="1300" dirty="0"/>
          </a:p>
          <a:p>
            <a:pPr indent="0" marL="0">
              <a:lnSpc>
                <a:spcPct val="105000"/>
              </a:lnSpc>
              <a:buNone/>
            </a:pPr>
            <a:r>
              <a:rPr lang="en-US" sz="1300" dirty="0">
                <a:solidFill>
                  <a:srgbClr val="FFFFFF"/>
                </a:solidFill>
                <a:latin typeface="Courier New" pitchFamily="34" charset="0"/>
                <a:ea typeface="Courier New" pitchFamily="34" charset="-122"/>
                <a:cs typeface="Courier New" pitchFamily="34" charset="-120"/>
              </a:rPr>
              <a:t> </a:t>
            </a:r>
            <a:endParaRPr lang="en-US" sz="1300" dirty="0"/>
          </a:p>
          <a:p>
            <a:pPr indent="0" marL="0">
              <a:lnSpc>
                <a:spcPct val="105000"/>
              </a:lnSpc>
              <a:buNone/>
            </a:pPr>
            <a:r>
              <a:rPr lang="en-US" sz="1300" dirty="0">
                <a:solidFill>
                  <a:srgbClr val="9FB0E0"/>
                </a:solidFill>
                <a:latin typeface="Courier New" pitchFamily="34" charset="0"/>
                <a:ea typeface="Courier New" pitchFamily="34" charset="-122"/>
                <a:cs typeface="Courier New" pitchFamily="34" charset="-120"/>
              </a:rPr>
              <a:t># 2. Windows Hello kalit provayderi</a:t>
            </a:r>
            <a:endParaRPr lang="en-US" sz="1300" dirty="0"/>
          </a:p>
          <a:p>
            <a:pPr indent="0" marL="0">
              <a:lnSpc>
                <a:spcPct val="105000"/>
              </a:lnSpc>
              <a:buNone/>
            </a:pPr>
            <a:r>
              <a:rPr lang="en-US" sz="1300" b="1" dirty="0">
                <a:solidFill>
                  <a:srgbClr val="F2B544"/>
                </a:solidFill>
                <a:latin typeface="Courier New" pitchFamily="34" charset="0"/>
                <a:ea typeface="Courier New" pitchFamily="34" charset="-122"/>
                <a:cs typeface="Courier New" pitchFamily="34" charset="-120"/>
              </a:rPr>
              <a:t>PS&gt; certutil -csplist | findstr Passport</a:t>
            </a:r>
            <a:endParaRPr lang="en-US" sz="1300" dirty="0"/>
          </a:p>
          <a:p>
            <a:pPr indent="0" marL="0">
              <a:lnSpc>
                <a:spcPct val="105000"/>
              </a:lnSpc>
              <a:buNone/>
            </a:pPr>
            <a:r>
              <a:rPr lang="en-US" sz="1300" dirty="0">
                <a:solidFill>
                  <a:srgbClr val="FFFFFF"/>
                </a:solidFill>
                <a:latin typeface="Courier New" pitchFamily="34" charset="0"/>
                <a:ea typeface="Courier New" pitchFamily="34" charset="-122"/>
                <a:cs typeface="Courier New" pitchFamily="34" charset="-120"/>
              </a:rPr>
              <a:t>Provider Name: Microsoft Passport Key Storage Provider</a:t>
            </a:r>
            <a:endParaRPr lang="en-US" sz="1300" dirty="0"/>
          </a:p>
          <a:p>
            <a:pPr indent="0" marL="0">
              <a:lnSpc>
                <a:spcPct val="105000"/>
              </a:lnSpc>
              <a:buNone/>
            </a:pPr>
            <a:r>
              <a:rPr lang="en-US" sz="1300" dirty="0">
                <a:solidFill>
                  <a:srgbClr val="FFFFFF"/>
                </a:solidFill>
                <a:latin typeface="Courier New" pitchFamily="34" charset="0"/>
                <a:ea typeface="Courier New" pitchFamily="34" charset="-122"/>
                <a:cs typeface="Courier New" pitchFamily="34" charset="-120"/>
              </a:rPr>
              <a:t> </a:t>
            </a:r>
            <a:endParaRPr lang="en-US" sz="1300" dirty="0"/>
          </a:p>
          <a:p>
            <a:pPr indent="0" marL="0">
              <a:lnSpc>
                <a:spcPct val="105000"/>
              </a:lnSpc>
              <a:buNone/>
            </a:pPr>
            <a:r>
              <a:rPr lang="en-US" sz="1300" dirty="0">
                <a:solidFill>
                  <a:srgbClr val="9FB0E0"/>
                </a:solidFill>
                <a:latin typeface="Courier New" pitchFamily="34" charset="0"/>
                <a:ea typeface="Courier New" pitchFamily="34" charset="-122"/>
                <a:cs typeface="Courier New" pitchFamily="34" charset="-120"/>
              </a:rPr>
              <a:t># 3. Qurilma holati va Hello for Business</a:t>
            </a:r>
            <a:endParaRPr lang="en-US" sz="1300" dirty="0"/>
          </a:p>
          <a:p>
            <a:pPr indent="0" marL="0">
              <a:lnSpc>
                <a:spcPct val="105000"/>
              </a:lnSpc>
              <a:buNone/>
            </a:pPr>
            <a:r>
              <a:rPr lang="en-US" sz="1300" b="1" dirty="0">
                <a:solidFill>
                  <a:srgbClr val="F2B544"/>
                </a:solidFill>
                <a:latin typeface="Courier New" pitchFamily="34" charset="0"/>
                <a:ea typeface="Courier New" pitchFamily="34" charset="-122"/>
                <a:cs typeface="Courier New" pitchFamily="34" charset="-120"/>
              </a:rPr>
              <a:t>PS&gt; dsregcmd /status</a:t>
            </a:r>
            <a:endParaRPr lang="en-US" sz="1300" dirty="0"/>
          </a:p>
          <a:p>
            <a:pPr indent="0" marL="0">
              <a:lnSpc>
                <a:spcPct val="105000"/>
              </a:lnSpc>
              <a:buNone/>
            </a:pPr>
            <a:r>
              <a:rPr lang="en-US" sz="1300" dirty="0">
                <a:solidFill>
                  <a:srgbClr val="8FD3A8"/>
                </a:solidFill>
                <a:latin typeface="Courier New" pitchFamily="34" charset="0"/>
                <a:ea typeface="Courier New" pitchFamily="34" charset="-122"/>
                <a:cs typeface="Courier New" pitchFamily="34" charset="-120"/>
              </a:rPr>
              <a:t>AzureAdJoined : NO     NgcSet : NO</a:t>
            </a:r>
            <a:endParaRPr lang="en-US" sz="1300" dirty="0"/>
          </a:p>
        </p:txBody>
      </p:sp>
      <p:sp>
        <p:nvSpPr>
          <p:cNvPr id="8" name="Shape 5"/>
          <p:cNvSpPr/>
          <p:nvPr/>
        </p:nvSpPr>
        <p:spPr>
          <a:xfrm>
            <a:off x="7406640" y="1783080"/>
            <a:ext cx="4206240" cy="1005840"/>
          </a:xfrm>
          <a:prstGeom prst="roundRect">
            <a:avLst>
              <a:gd name="adj" fmla="val 8182"/>
            </a:avLst>
          </a:prstGeom>
          <a:solidFill>
            <a:srgbClr val="FFFFFF"/>
          </a:solidFill>
          <a:ln/>
        </p:spPr>
      </p:sp>
      <p:sp>
        <p:nvSpPr>
          <p:cNvPr id="9" name="Shape 6"/>
          <p:cNvSpPr/>
          <p:nvPr/>
        </p:nvSpPr>
        <p:spPr>
          <a:xfrm>
            <a:off x="7406640" y="1783080"/>
            <a:ext cx="502920" cy="1005840"/>
          </a:xfrm>
          <a:prstGeom prst="roundRect">
            <a:avLst>
              <a:gd name="adj" fmla="val 16364"/>
            </a:avLst>
          </a:prstGeom>
          <a:solidFill>
            <a:srgbClr val="D9932B"/>
          </a:solidFill>
          <a:ln/>
        </p:spPr>
      </p:sp>
      <p:sp>
        <p:nvSpPr>
          <p:cNvPr id="10" name="Text 7"/>
          <p:cNvSpPr txBox="1"/>
          <p:nvPr/>
        </p:nvSpPr>
        <p:spPr>
          <a:xfrm>
            <a:off x="7406640" y="1783080"/>
            <a:ext cx="502920" cy="100584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4</a:t>
            </a:r>
            <a:endParaRPr lang="en-US" sz="1800" dirty="0"/>
          </a:p>
        </p:txBody>
      </p:sp>
      <p:sp>
        <p:nvSpPr>
          <p:cNvPr id="11" name="Text 8"/>
          <p:cNvSpPr txBox="1"/>
          <p:nvPr/>
        </p:nvSpPr>
        <p:spPr>
          <a:xfrm>
            <a:off x="8046720" y="1783080"/>
            <a:ext cx="3474720" cy="1005840"/>
          </a:xfrm>
          <a:prstGeom prst="rect">
            <a:avLst/>
          </a:prstGeom>
          <a:noFill/>
          <a:ln/>
        </p:spPr>
        <p:txBody>
          <a:bodyPr wrap="square" lIns="0" tIns="0" rIns="0" bIns="0" rtlCol="0" anchor="ctr"/>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Sozlamalar → Hisoblar → Kirish variantlari: PIN, barmoq izi, xavfsizlik kaliti</a:t>
            </a:r>
            <a:endParaRPr lang="en-US" sz="1600" dirty="0"/>
          </a:p>
        </p:txBody>
      </p:sp>
      <p:sp>
        <p:nvSpPr>
          <p:cNvPr id="12" name="Shape 9"/>
          <p:cNvSpPr/>
          <p:nvPr/>
        </p:nvSpPr>
        <p:spPr>
          <a:xfrm>
            <a:off x="7406640" y="2907792"/>
            <a:ext cx="4206240" cy="1005840"/>
          </a:xfrm>
          <a:prstGeom prst="roundRect">
            <a:avLst>
              <a:gd name="adj" fmla="val 8182"/>
            </a:avLst>
          </a:prstGeom>
          <a:solidFill>
            <a:srgbClr val="FFFFFF"/>
          </a:solidFill>
          <a:ln/>
        </p:spPr>
      </p:sp>
      <p:sp>
        <p:nvSpPr>
          <p:cNvPr id="13" name="Shape 10"/>
          <p:cNvSpPr/>
          <p:nvPr/>
        </p:nvSpPr>
        <p:spPr>
          <a:xfrm>
            <a:off x="7406640" y="2907792"/>
            <a:ext cx="502920" cy="1005840"/>
          </a:xfrm>
          <a:prstGeom prst="roundRect">
            <a:avLst>
              <a:gd name="adj" fmla="val 16364"/>
            </a:avLst>
          </a:prstGeom>
          <a:solidFill>
            <a:srgbClr val="D9932B"/>
          </a:solidFill>
          <a:ln/>
        </p:spPr>
      </p:sp>
      <p:sp>
        <p:nvSpPr>
          <p:cNvPr id="14" name="Text 11"/>
          <p:cNvSpPr txBox="1"/>
          <p:nvPr/>
        </p:nvSpPr>
        <p:spPr>
          <a:xfrm>
            <a:off x="7406640" y="2907792"/>
            <a:ext cx="502920" cy="100584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5</a:t>
            </a:r>
            <a:endParaRPr lang="en-US" sz="1800" dirty="0"/>
          </a:p>
        </p:txBody>
      </p:sp>
      <p:sp>
        <p:nvSpPr>
          <p:cNvPr id="15" name="Text 12"/>
          <p:cNvSpPr txBox="1"/>
          <p:nvPr/>
        </p:nvSpPr>
        <p:spPr>
          <a:xfrm>
            <a:off x="8046720" y="2907792"/>
            <a:ext cx="3474720" cy="1005840"/>
          </a:xfrm>
          <a:prstGeom prst="rect">
            <a:avLst/>
          </a:prstGeom>
          <a:noFill/>
          <a:ln/>
        </p:spPr>
        <p:txBody>
          <a:bodyPr wrap="square" lIns="0" tIns="0" rIns="0" bIns="0" rtlCol="0" anchor="ctr"/>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Brauzerda webauthn.io: passkey yaratish — Windows Security oynasini kuzating</a:t>
            </a:r>
            <a:endParaRPr lang="en-US" sz="1600" dirty="0"/>
          </a:p>
        </p:txBody>
      </p:sp>
      <p:sp>
        <p:nvSpPr>
          <p:cNvPr id="16" name="Shape 13"/>
          <p:cNvSpPr/>
          <p:nvPr/>
        </p:nvSpPr>
        <p:spPr>
          <a:xfrm>
            <a:off x="7406640" y="4032504"/>
            <a:ext cx="4206240" cy="1005840"/>
          </a:xfrm>
          <a:prstGeom prst="roundRect">
            <a:avLst>
              <a:gd name="adj" fmla="val 8182"/>
            </a:avLst>
          </a:prstGeom>
          <a:solidFill>
            <a:srgbClr val="FFFFFF"/>
          </a:solidFill>
          <a:ln/>
        </p:spPr>
      </p:sp>
      <p:sp>
        <p:nvSpPr>
          <p:cNvPr id="17" name="Shape 14"/>
          <p:cNvSpPr/>
          <p:nvPr/>
        </p:nvSpPr>
        <p:spPr>
          <a:xfrm>
            <a:off x="7406640" y="4032504"/>
            <a:ext cx="502920" cy="1005840"/>
          </a:xfrm>
          <a:prstGeom prst="roundRect">
            <a:avLst>
              <a:gd name="adj" fmla="val 16364"/>
            </a:avLst>
          </a:prstGeom>
          <a:solidFill>
            <a:srgbClr val="D9932B"/>
          </a:solidFill>
          <a:ln/>
        </p:spPr>
      </p:sp>
      <p:sp>
        <p:nvSpPr>
          <p:cNvPr id="18" name="Text 15"/>
          <p:cNvSpPr txBox="1"/>
          <p:nvPr/>
        </p:nvSpPr>
        <p:spPr>
          <a:xfrm>
            <a:off x="7406640" y="4032504"/>
            <a:ext cx="502920" cy="100584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6</a:t>
            </a:r>
            <a:endParaRPr lang="en-US" sz="1800" dirty="0"/>
          </a:p>
        </p:txBody>
      </p:sp>
      <p:sp>
        <p:nvSpPr>
          <p:cNvPr id="19" name="Text 16"/>
          <p:cNvSpPr txBox="1"/>
          <p:nvPr/>
        </p:nvSpPr>
        <p:spPr>
          <a:xfrm>
            <a:off x="8046720" y="4032504"/>
            <a:ext cx="3474720" cy="1005840"/>
          </a:xfrm>
          <a:prstGeom prst="rect">
            <a:avLst/>
          </a:prstGeom>
          <a:noFill/>
          <a:ln/>
        </p:spPr>
        <p:txBody>
          <a:bodyPr wrap="square" lIns="0" tIns="0" rIns="0" bIns="0" rtlCol="0" anchor="ctr"/>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Chiqib, qayta kirish: parol so'ralmaydi, faqat PIN</a:t>
            </a:r>
            <a:endParaRPr lang="en-US" sz="1600" dirty="0"/>
          </a:p>
        </p:txBody>
      </p:sp>
      <p:sp>
        <p:nvSpPr>
          <p:cNvPr id="20" name="Shape 17"/>
          <p:cNvSpPr/>
          <p:nvPr/>
        </p:nvSpPr>
        <p:spPr>
          <a:xfrm>
            <a:off x="7406640" y="5157216"/>
            <a:ext cx="4206240" cy="1005840"/>
          </a:xfrm>
          <a:prstGeom prst="roundRect">
            <a:avLst>
              <a:gd name="adj" fmla="val 8182"/>
            </a:avLst>
          </a:prstGeom>
          <a:solidFill>
            <a:srgbClr val="FFFFFF"/>
          </a:solidFill>
          <a:ln/>
        </p:spPr>
      </p:sp>
      <p:sp>
        <p:nvSpPr>
          <p:cNvPr id="21" name="Shape 18"/>
          <p:cNvSpPr/>
          <p:nvPr/>
        </p:nvSpPr>
        <p:spPr>
          <a:xfrm>
            <a:off x="7406640" y="5157216"/>
            <a:ext cx="502920" cy="1005840"/>
          </a:xfrm>
          <a:prstGeom prst="roundRect">
            <a:avLst>
              <a:gd name="adj" fmla="val 16364"/>
            </a:avLst>
          </a:prstGeom>
          <a:solidFill>
            <a:srgbClr val="D9932B"/>
          </a:solidFill>
          <a:ln/>
        </p:spPr>
      </p:sp>
      <p:sp>
        <p:nvSpPr>
          <p:cNvPr id="22" name="Text 19"/>
          <p:cNvSpPr txBox="1"/>
          <p:nvPr/>
        </p:nvSpPr>
        <p:spPr>
          <a:xfrm>
            <a:off x="7406640" y="5157216"/>
            <a:ext cx="502920" cy="100584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7</a:t>
            </a:r>
            <a:endParaRPr lang="en-US" sz="1800" dirty="0"/>
          </a:p>
        </p:txBody>
      </p:sp>
      <p:sp>
        <p:nvSpPr>
          <p:cNvPr id="23" name="Text 20"/>
          <p:cNvSpPr txBox="1"/>
          <p:nvPr/>
        </p:nvSpPr>
        <p:spPr>
          <a:xfrm>
            <a:off x="8046720" y="5157216"/>
            <a:ext cx="3474720" cy="1005840"/>
          </a:xfrm>
          <a:prstGeom prst="rect">
            <a:avLst/>
          </a:prstGeom>
          <a:noFill/>
          <a:ln/>
        </p:spPr>
        <p:txBody>
          <a:bodyPr wrap="square" lIns="0" tIns="0" rIns="0" bIns="0" rtlCol="0" anchor="ctr"/>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Sozlamalar → Hisoblar → Passkeys: yaratilgan passkey'ni toping va o'chiring</a:t>
            </a:r>
            <a:endParaRPr lang="en-US" sz="1600" dirty="0"/>
          </a:p>
        </p:txBody>
      </p:sp>
      <p:sp>
        <p:nvSpPr>
          <p:cNvPr id="24" name="Text 21"/>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9A5B00"/>
                </a:solidFill>
                <a:latin typeface="Times New Roman" pitchFamily="34" charset="0"/>
                <a:ea typeface="Times New Roman" pitchFamily="34" charset="-122"/>
                <a:cs typeface="Times New Roman" pitchFamily="34" charset="-120"/>
              </a:rPr>
              <a:t>Foydalanishlarni boshqarish  ·  5-ma'ruza</a:t>
            </a:r>
            <a:endParaRPr lang="en-US" sz="1100" dirty="0"/>
          </a:p>
        </p:txBody>
      </p:sp>
      <p:sp>
        <p:nvSpPr>
          <p:cNvPr id="25" name="Text 22"/>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9A5B00"/>
                </a:solidFill>
                <a:latin typeface="Times New Roman" pitchFamily="34" charset="0"/>
                <a:ea typeface="Times New Roman" pitchFamily="34" charset="-122"/>
                <a:cs typeface="Times New Roman"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371600"/>
            <a:ext cx="4114800" cy="4114800"/>
          </a:xfrm>
          <a:prstGeom prst="ellipse">
            <a:avLst/>
          </a:prstGeom>
          <a:solidFill>
            <a:srgbClr val="2A3778"/>
          </a:solidFill>
          <a:ln/>
        </p:spPr>
      </p:sp>
      <p:sp>
        <p:nvSpPr>
          <p:cNvPr id="3" name="Text 1"/>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9FB0E0"/>
                </a:solidFill>
                <a:latin typeface="Times New Roman" pitchFamily="34" charset="0"/>
                <a:ea typeface="Times New Roman" pitchFamily="34" charset="-122"/>
                <a:cs typeface="Times New Roman" pitchFamily="34" charset="-120"/>
              </a:rPr>
              <a:t>XULOSA</a:t>
            </a:r>
            <a:endParaRPr lang="en-US" sz="1600" dirty="0"/>
          </a:p>
        </p:txBody>
      </p:sp>
      <p:sp>
        <p:nvSpPr>
          <p:cNvPr id="4" name="Text 2"/>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FFFFFF"/>
                </a:solidFill>
                <a:latin typeface="Times New Roman" pitchFamily="34" charset="0"/>
                <a:ea typeface="Times New Roman" pitchFamily="34" charset="-122"/>
                <a:cs typeface="Times New Roman" pitchFamily="34" charset="-120"/>
              </a:rPr>
              <a:t>Bugungi darsning besh asosiy xulosasi</a:t>
            </a:r>
            <a:endParaRPr lang="en-US" sz="3600" dirty="0"/>
          </a:p>
        </p:txBody>
      </p:sp>
      <p:sp>
        <p:nvSpPr>
          <p:cNvPr id="5" name="Shape 3"/>
          <p:cNvSpPr/>
          <p:nvPr/>
        </p:nvSpPr>
        <p:spPr>
          <a:xfrm>
            <a:off x="548640" y="1856232"/>
            <a:ext cx="548640" cy="548640"/>
          </a:xfrm>
          <a:prstGeom prst="roundRect">
            <a:avLst>
              <a:gd name="adj" fmla="val 13333"/>
            </a:avLst>
          </a:prstGeom>
          <a:solidFill>
            <a:srgbClr val="2A3778"/>
          </a:solidFill>
          <a:ln/>
        </p:spPr>
      </p:sp>
      <p:sp>
        <p:nvSpPr>
          <p:cNvPr id="6" name="Text 4"/>
          <p:cNvSpPr txBox="1"/>
          <p:nvPr/>
        </p:nvSpPr>
        <p:spPr>
          <a:xfrm>
            <a:off x="548640" y="1856232"/>
            <a:ext cx="548640" cy="548640"/>
          </a:xfrm>
          <a:prstGeom prst="rect">
            <a:avLst/>
          </a:prstGeom>
          <a:noFill/>
          <a:ln/>
        </p:spPr>
        <p:txBody>
          <a:bodyPr wrap="square" lIns="0" tIns="0" rIns="0" bIns="0" rtlCol="0" anchor="ctr"/>
          <a:lstStyle/>
          <a:p>
            <a:pPr algn="ctr" indent="0" marL="0">
              <a:lnSpc>
                <a:spcPct val="100000"/>
              </a:lnSpc>
              <a:buNone/>
            </a:pPr>
            <a:r>
              <a:rPr lang="en-US" sz="2000" b="1" dirty="0">
                <a:solidFill>
                  <a:srgbClr val="CADCFC"/>
                </a:solidFill>
                <a:latin typeface="Times New Roman" pitchFamily="34" charset="0"/>
                <a:ea typeface="Times New Roman" pitchFamily="34" charset="-122"/>
                <a:cs typeface="Times New Roman" pitchFamily="34" charset="-120"/>
              </a:rPr>
              <a:t>1</a:t>
            </a:r>
            <a:endParaRPr lang="en-US" sz="2000" dirty="0"/>
          </a:p>
        </p:txBody>
      </p:sp>
      <p:sp>
        <p:nvSpPr>
          <p:cNvPr id="7" name="Text 5"/>
          <p:cNvSpPr txBox="1"/>
          <p:nvPr/>
        </p:nvSpPr>
        <p:spPr>
          <a:xfrm>
            <a:off x="1325880" y="1783080"/>
            <a:ext cx="10287000" cy="694944"/>
          </a:xfrm>
          <a:prstGeom prst="rect">
            <a:avLst/>
          </a:prstGeom>
          <a:noFill/>
          <a:ln/>
        </p:spPr>
        <p:txBody>
          <a:bodyPr wrap="square" lIns="0" tIns="0" rIns="0" bIns="0" rtlCol="0" anchor="ctr"/>
          <a:lstStyle/>
          <a:p>
            <a:pPr algn="l" indent="0" marL="0">
              <a:lnSpc>
                <a:spcPct val="100000"/>
              </a:lnSpc>
              <a:buNone/>
            </a:pPr>
            <a:r>
              <a:rPr lang="en-US" sz="1800" dirty="0">
                <a:solidFill>
                  <a:srgbClr val="FFFFFF"/>
                </a:solidFill>
                <a:latin typeface="Times New Roman" pitchFamily="34" charset="0"/>
                <a:ea typeface="Times New Roman" pitchFamily="34" charset="-122"/>
                <a:cs typeface="Times New Roman" pitchFamily="34" charset="-120"/>
              </a:rPr>
              <a:t>FIDO2 = WebAuthn + CTAP2: umumiy sir o'rniga har bir sayt uchun alohida kalitlar juftligi.</a:t>
            </a:r>
            <a:endParaRPr lang="en-US" sz="1800" dirty="0"/>
          </a:p>
        </p:txBody>
      </p:sp>
      <p:sp>
        <p:nvSpPr>
          <p:cNvPr id="8" name="Shape 6"/>
          <p:cNvSpPr/>
          <p:nvPr/>
        </p:nvSpPr>
        <p:spPr>
          <a:xfrm>
            <a:off x="548640" y="2679192"/>
            <a:ext cx="548640" cy="548640"/>
          </a:xfrm>
          <a:prstGeom prst="roundRect">
            <a:avLst>
              <a:gd name="adj" fmla="val 13333"/>
            </a:avLst>
          </a:prstGeom>
          <a:solidFill>
            <a:srgbClr val="2A3778"/>
          </a:solidFill>
          <a:ln/>
        </p:spPr>
      </p:sp>
      <p:sp>
        <p:nvSpPr>
          <p:cNvPr id="9" name="Text 7"/>
          <p:cNvSpPr txBox="1"/>
          <p:nvPr/>
        </p:nvSpPr>
        <p:spPr>
          <a:xfrm>
            <a:off x="548640" y="2679192"/>
            <a:ext cx="548640" cy="548640"/>
          </a:xfrm>
          <a:prstGeom prst="rect">
            <a:avLst/>
          </a:prstGeom>
          <a:noFill/>
          <a:ln/>
        </p:spPr>
        <p:txBody>
          <a:bodyPr wrap="square" lIns="0" tIns="0" rIns="0" bIns="0" rtlCol="0" anchor="ctr"/>
          <a:lstStyle/>
          <a:p>
            <a:pPr algn="ctr" indent="0" marL="0">
              <a:lnSpc>
                <a:spcPct val="100000"/>
              </a:lnSpc>
              <a:buNone/>
            </a:pPr>
            <a:r>
              <a:rPr lang="en-US" sz="2000" b="1" dirty="0">
                <a:solidFill>
                  <a:srgbClr val="CADCFC"/>
                </a:solidFill>
                <a:latin typeface="Times New Roman" pitchFamily="34" charset="0"/>
                <a:ea typeface="Times New Roman" pitchFamily="34" charset="-122"/>
                <a:cs typeface="Times New Roman" pitchFamily="34" charset="-120"/>
              </a:rPr>
              <a:t>2</a:t>
            </a:r>
            <a:endParaRPr lang="en-US" sz="2000" dirty="0"/>
          </a:p>
        </p:txBody>
      </p:sp>
      <p:sp>
        <p:nvSpPr>
          <p:cNvPr id="10" name="Text 8"/>
          <p:cNvSpPr txBox="1"/>
          <p:nvPr/>
        </p:nvSpPr>
        <p:spPr>
          <a:xfrm>
            <a:off x="1325880" y="2606040"/>
            <a:ext cx="10287000" cy="694944"/>
          </a:xfrm>
          <a:prstGeom prst="rect">
            <a:avLst/>
          </a:prstGeom>
          <a:noFill/>
          <a:ln/>
        </p:spPr>
        <p:txBody>
          <a:bodyPr wrap="square" lIns="0" tIns="0" rIns="0" bIns="0" rtlCol="0" anchor="ctr"/>
          <a:lstStyle/>
          <a:p>
            <a:pPr algn="l" indent="0" marL="0">
              <a:lnSpc>
                <a:spcPct val="100000"/>
              </a:lnSpc>
              <a:buNone/>
            </a:pPr>
            <a:r>
              <a:rPr lang="en-US" sz="1800" dirty="0">
                <a:solidFill>
                  <a:srgbClr val="FFFFFF"/>
                </a:solidFill>
                <a:latin typeface="Times New Roman" pitchFamily="34" charset="0"/>
                <a:ea typeface="Times New Roman" pitchFamily="34" charset="-122"/>
                <a:cs typeface="Times New Roman" pitchFamily="34" charset="-120"/>
              </a:rPr>
              <a:t>Imzo sayt manziliga bog'langan — shuning uchun FIDO2 fishingga bardoshli, OTP esa yo'q.</a:t>
            </a:r>
            <a:endParaRPr lang="en-US" sz="1800" dirty="0"/>
          </a:p>
        </p:txBody>
      </p:sp>
      <p:sp>
        <p:nvSpPr>
          <p:cNvPr id="11" name="Shape 9"/>
          <p:cNvSpPr/>
          <p:nvPr/>
        </p:nvSpPr>
        <p:spPr>
          <a:xfrm>
            <a:off x="548640" y="3502152"/>
            <a:ext cx="548640" cy="548640"/>
          </a:xfrm>
          <a:prstGeom prst="roundRect">
            <a:avLst>
              <a:gd name="adj" fmla="val 13333"/>
            </a:avLst>
          </a:prstGeom>
          <a:solidFill>
            <a:srgbClr val="2A3778"/>
          </a:solidFill>
          <a:ln/>
        </p:spPr>
      </p:sp>
      <p:sp>
        <p:nvSpPr>
          <p:cNvPr id="12" name="Text 10"/>
          <p:cNvSpPr txBox="1"/>
          <p:nvPr/>
        </p:nvSpPr>
        <p:spPr>
          <a:xfrm>
            <a:off x="548640" y="3502152"/>
            <a:ext cx="548640" cy="548640"/>
          </a:xfrm>
          <a:prstGeom prst="rect">
            <a:avLst/>
          </a:prstGeom>
          <a:noFill/>
          <a:ln/>
        </p:spPr>
        <p:txBody>
          <a:bodyPr wrap="square" lIns="0" tIns="0" rIns="0" bIns="0" rtlCol="0" anchor="ctr"/>
          <a:lstStyle/>
          <a:p>
            <a:pPr algn="ctr" indent="0" marL="0">
              <a:lnSpc>
                <a:spcPct val="100000"/>
              </a:lnSpc>
              <a:buNone/>
            </a:pPr>
            <a:r>
              <a:rPr lang="en-US" sz="2000" b="1" dirty="0">
                <a:solidFill>
                  <a:srgbClr val="CADCFC"/>
                </a:solidFill>
                <a:latin typeface="Times New Roman" pitchFamily="34" charset="0"/>
                <a:ea typeface="Times New Roman" pitchFamily="34" charset="-122"/>
                <a:cs typeface="Times New Roman" pitchFamily="34" charset="-120"/>
              </a:rPr>
              <a:t>3</a:t>
            </a:r>
            <a:endParaRPr lang="en-US" sz="2000" dirty="0"/>
          </a:p>
        </p:txBody>
      </p:sp>
      <p:sp>
        <p:nvSpPr>
          <p:cNvPr id="13" name="Text 11"/>
          <p:cNvSpPr txBox="1"/>
          <p:nvPr/>
        </p:nvSpPr>
        <p:spPr>
          <a:xfrm>
            <a:off x="1325880" y="3429000"/>
            <a:ext cx="10287000" cy="694944"/>
          </a:xfrm>
          <a:prstGeom prst="rect">
            <a:avLst/>
          </a:prstGeom>
          <a:noFill/>
          <a:ln/>
        </p:spPr>
        <p:txBody>
          <a:bodyPr wrap="square" lIns="0" tIns="0" rIns="0" bIns="0" rtlCol="0" anchor="ctr"/>
          <a:lstStyle/>
          <a:p>
            <a:pPr algn="l" indent="0" marL="0">
              <a:lnSpc>
                <a:spcPct val="100000"/>
              </a:lnSpc>
              <a:buNone/>
            </a:pPr>
            <a:r>
              <a:rPr lang="en-US" sz="1800" dirty="0">
                <a:solidFill>
                  <a:srgbClr val="FFFFFF"/>
                </a:solidFill>
                <a:latin typeface="Times New Roman" pitchFamily="34" charset="0"/>
                <a:ea typeface="Times New Roman" pitchFamily="34" charset="-122"/>
                <a:cs typeface="Times New Roman" pitchFamily="34" charset="-120"/>
              </a:rPr>
              <a:t>Server faqat ochiq kalitni saqlaydi: baza sizsa ham, hujumchi kira olmaydi.</a:t>
            </a:r>
            <a:endParaRPr lang="en-US" sz="1800" dirty="0"/>
          </a:p>
        </p:txBody>
      </p:sp>
      <p:sp>
        <p:nvSpPr>
          <p:cNvPr id="14" name="Shape 12"/>
          <p:cNvSpPr/>
          <p:nvPr/>
        </p:nvSpPr>
        <p:spPr>
          <a:xfrm>
            <a:off x="548640" y="4325112"/>
            <a:ext cx="548640" cy="548640"/>
          </a:xfrm>
          <a:prstGeom prst="roundRect">
            <a:avLst>
              <a:gd name="adj" fmla="val 13333"/>
            </a:avLst>
          </a:prstGeom>
          <a:solidFill>
            <a:srgbClr val="2A3778"/>
          </a:solidFill>
          <a:ln/>
        </p:spPr>
      </p:sp>
      <p:sp>
        <p:nvSpPr>
          <p:cNvPr id="15" name="Text 13"/>
          <p:cNvSpPr txBox="1"/>
          <p:nvPr/>
        </p:nvSpPr>
        <p:spPr>
          <a:xfrm>
            <a:off x="548640" y="4325112"/>
            <a:ext cx="548640" cy="548640"/>
          </a:xfrm>
          <a:prstGeom prst="rect">
            <a:avLst/>
          </a:prstGeom>
          <a:noFill/>
          <a:ln/>
        </p:spPr>
        <p:txBody>
          <a:bodyPr wrap="square" lIns="0" tIns="0" rIns="0" bIns="0" rtlCol="0" anchor="ctr"/>
          <a:lstStyle/>
          <a:p>
            <a:pPr algn="ctr" indent="0" marL="0">
              <a:lnSpc>
                <a:spcPct val="100000"/>
              </a:lnSpc>
              <a:buNone/>
            </a:pPr>
            <a:r>
              <a:rPr lang="en-US" sz="2000" b="1" dirty="0">
                <a:solidFill>
                  <a:srgbClr val="CADCFC"/>
                </a:solidFill>
                <a:latin typeface="Times New Roman" pitchFamily="34" charset="0"/>
                <a:ea typeface="Times New Roman" pitchFamily="34" charset="-122"/>
                <a:cs typeface="Times New Roman" pitchFamily="34" charset="-120"/>
              </a:rPr>
              <a:t>4</a:t>
            </a:r>
            <a:endParaRPr lang="en-US" sz="2000" dirty="0"/>
          </a:p>
        </p:txBody>
      </p:sp>
      <p:sp>
        <p:nvSpPr>
          <p:cNvPr id="16" name="Text 14"/>
          <p:cNvSpPr txBox="1"/>
          <p:nvPr/>
        </p:nvSpPr>
        <p:spPr>
          <a:xfrm>
            <a:off x="1325880" y="4251960"/>
            <a:ext cx="10287000" cy="694944"/>
          </a:xfrm>
          <a:prstGeom prst="rect">
            <a:avLst/>
          </a:prstGeom>
          <a:noFill/>
          <a:ln/>
        </p:spPr>
        <p:txBody>
          <a:bodyPr wrap="square" lIns="0" tIns="0" rIns="0" bIns="0" rtlCol="0" anchor="ctr"/>
          <a:lstStyle/>
          <a:p>
            <a:pPr algn="l" indent="0" marL="0">
              <a:lnSpc>
                <a:spcPct val="100000"/>
              </a:lnSpc>
              <a:buNone/>
            </a:pPr>
            <a:r>
              <a:rPr lang="en-US" sz="1800" dirty="0">
                <a:solidFill>
                  <a:srgbClr val="FFFFFF"/>
                </a:solidFill>
                <a:latin typeface="Times New Roman" pitchFamily="34" charset="0"/>
                <a:ea typeface="Times New Roman" pitchFamily="34" charset="-122"/>
                <a:cs typeface="Times New Roman" pitchFamily="34" charset="-120"/>
              </a:rPr>
              <a:t>Windows Hello: PIN parol emas — u TPM dagi yopiq kalitni ochadi va qurilmadan chiqmaydi.</a:t>
            </a:r>
            <a:endParaRPr lang="en-US" sz="1800" dirty="0"/>
          </a:p>
        </p:txBody>
      </p:sp>
      <p:sp>
        <p:nvSpPr>
          <p:cNvPr id="17" name="Shape 15"/>
          <p:cNvSpPr/>
          <p:nvPr/>
        </p:nvSpPr>
        <p:spPr>
          <a:xfrm>
            <a:off x="548640" y="5148072"/>
            <a:ext cx="548640" cy="548640"/>
          </a:xfrm>
          <a:prstGeom prst="roundRect">
            <a:avLst>
              <a:gd name="adj" fmla="val 13333"/>
            </a:avLst>
          </a:prstGeom>
          <a:solidFill>
            <a:srgbClr val="2A3778"/>
          </a:solidFill>
          <a:ln/>
        </p:spPr>
      </p:sp>
      <p:sp>
        <p:nvSpPr>
          <p:cNvPr id="18" name="Text 16"/>
          <p:cNvSpPr txBox="1"/>
          <p:nvPr/>
        </p:nvSpPr>
        <p:spPr>
          <a:xfrm>
            <a:off x="548640" y="5148072"/>
            <a:ext cx="548640" cy="548640"/>
          </a:xfrm>
          <a:prstGeom prst="rect">
            <a:avLst/>
          </a:prstGeom>
          <a:noFill/>
          <a:ln/>
        </p:spPr>
        <p:txBody>
          <a:bodyPr wrap="square" lIns="0" tIns="0" rIns="0" bIns="0" rtlCol="0" anchor="ctr"/>
          <a:lstStyle/>
          <a:p>
            <a:pPr algn="ctr" indent="0" marL="0">
              <a:lnSpc>
                <a:spcPct val="100000"/>
              </a:lnSpc>
              <a:buNone/>
            </a:pPr>
            <a:r>
              <a:rPr lang="en-US" sz="2000" b="1" dirty="0">
                <a:solidFill>
                  <a:srgbClr val="CADCFC"/>
                </a:solidFill>
                <a:latin typeface="Times New Roman" pitchFamily="34" charset="0"/>
                <a:ea typeface="Times New Roman" pitchFamily="34" charset="-122"/>
                <a:cs typeface="Times New Roman" pitchFamily="34" charset="-120"/>
              </a:rPr>
              <a:t>5</a:t>
            </a:r>
            <a:endParaRPr lang="en-US" sz="2000" dirty="0"/>
          </a:p>
        </p:txBody>
      </p:sp>
      <p:sp>
        <p:nvSpPr>
          <p:cNvPr id="19" name="Text 17"/>
          <p:cNvSpPr txBox="1"/>
          <p:nvPr/>
        </p:nvSpPr>
        <p:spPr>
          <a:xfrm>
            <a:off x="1325880" y="5074920"/>
            <a:ext cx="10287000" cy="694944"/>
          </a:xfrm>
          <a:prstGeom prst="rect">
            <a:avLst/>
          </a:prstGeom>
          <a:noFill/>
          <a:ln/>
        </p:spPr>
        <p:txBody>
          <a:bodyPr wrap="square" lIns="0" tIns="0" rIns="0" bIns="0" rtlCol="0" anchor="ctr"/>
          <a:lstStyle/>
          <a:p>
            <a:pPr algn="l" indent="0" marL="0">
              <a:lnSpc>
                <a:spcPct val="100000"/>
              </a:lnSpc>
              <a:buNone/>
            </a:pPr>
            <a:r>
              <a:rPr lang="en-US" sz="1800" dirty="0">
                <a:solidFill>
                  <a:srgbClr val="FFFFFF"/>
                </a:solidFill>
                <a:latin typeface="Times New Roman" pitchFamily="34" charset="0"/>
                <a:ea typeface="Times New Roman" pitchFamily="34" charset="-122"/>
                <a:cs typeface="Times New Roman" pitchFamily="34" charset="-120"/>
              </a:rPr>
              <a:t>Hello for Business korporativ tarmoqda PRT (Entra ID) va Kerberos (AD) orqali SSO beradi.</a:t>
            </a:r>
            <a:endParaRPr lang="en-US" sz="1800" dirty="0"/>
          </a:p>
        </p:txBody>
      </p:sp>
      <p:sp>
        <p:nvSpPr>
          <p:cNvPr id="20" name="Text 18"/>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9FB0E0"/>
                </a:solidFill>
                <a:latin typeface="Times New Roman" pitchFamily="34" charset="0"/>
                <a:ea typeface="Times New Roman" pitchFamily="34" charset="-122"/>
                <a:cs typeface="Times New Roman" pitchFamily="34" charset="-120"/>
              </a:rPr>
              <a:t>Foydalanishlarni boshqarish  ·  5-ma'ruza</a:t>
            </a:r>
            <a:endParaRPr lang="en-US" sz="1100" dirty="0"/>
          </a:p>
        </p:txBody>
      </p:sp>
      <p:sp>
        <p:nvSpPr>
          <p:cNvPr id="21" name="Text 19"/>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9FB0E0"/>
                </a:solidFill>
                <a:latin typeface="Times New Roman" pitchFamily="34" charset="0"/>
                <a:ea typeface="Times New Roman" pitchFamily="34" charset="-122"/>
                <a:cs typeface="Times New Roman"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DF3E2"/>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D9932B"/>
                </a:solidFill>
                <a:latin typeface="Times New Roman" pitchFamily="34" charset="0"/>
                <a:ea typeface="Times New Roman" pitchFamily="34" charset="-122"/>
                <a:cs typeface="Times New Roman" pitchFamily="34" charset="-120"/>
              </a:rPr>
              <a:t>TEZKOR TEST · 5 DAQIQA</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9A5B00"/>
                </a:solidFill>
                <a:latin typeface="Times New Roman" pitchFamily="34" charset="0"/>
                <a:ea typeface="Times New Roman" pitchFamily="34" charset="-122"/>
                <a:cs typeface="Times New Roman" pitchFamily="34" charset="-120"/>
              </a:rPr>
              <a:t>To'rt savol</a:t>
            </a:r>
            <a:endParaRPr lang="en-US" sz="3600" dirty="0"/>
          </a:p>
        </p:txBody>
      </p:sp>
      <p:sp>
        <p:nvSpPr>
          <p:cNvPr id="4" name="Shape 2"/>
          <p:cNvSpPr/>
          <p:nvPr/>
        </p:nvSpPr>
        <p:spPr>
          <a:xfrm>
            <a:off x="10744200" y="411480"/>
            <a:ext cx="868680" cy="868680"/>
          </a:xfrm>
          <a:prstGeom prst="ellipse">
            <a:avLst/>
          </a:prstGeom>
          <a:solidFill>
            <a:srgbClr val="D9932B"/>
          </a:solidFill>
          <a:ln/>
        </p:spPr>
      </p:sp>
      <p:pic>
        <p:nvPicPr>
          <p:cNvPr id="5" name="Image 0" descr="/home/claude/fob-slides/icons_out/listol_white.png"/>
          <p:cNvPicPr>
            <a:picLocks noChangeAspect="1"/>
          </p:cNvPicPr>
          <p:nvPr/>
        </p:nvPicPr>
        <p:blipFill>
          <a:blip r:embed="rId1"/>
          <a:stretch>
            <a:fillRect/>
          </a:stretch>
        </p:blipFill>
        <p:spPr>
          <a:xfrm>
            <a:off x="10978744" y="646024"/>
            <a:ext cx="399593" cy="399593"/>
          </a:xfrm>
          <a:prstGeom prst="rect">
            <a:avLst/>
          </a:prstGeom>
        </p:spPr>
      </p:pic>
      <p:sp>
        <p:nvSpPr>
          <p:cNvPr id="6" name="Shape 3"/>
          <p:cNvSpPr/>
          <p:nvPr/>
        </p:nvSpPr>
        <p:spPr>
          <a:xfrm>
            <a:off x="548640" y="1783080"/>
            <a:ext cx="5440680" cy="2103120"/>
          </a:xfrm>
          <a:prstGeom prst="roundRect">
            <a:avLst>
              <a:gd name="adj" fmla="val 3913"/>
            </a:avLst>
          </a:prstGeom>
          <a:solidFill>
            <a:srgbClr val="FFFFFF"/>
          </a:solidFill>
          <a:ln/>
        </p:spPr>
      </p:sp>
      <p:sp>
        <p:nvSpPr>
          <p:cNvPr id="7" name="Shape 4"/>
          <p:cNvSpPr/>
          <p:nvPr/>
        </p:nvSpPr>
        <p:spPr>
          <a:xfrm>
            <a:off x="548640" y="1783080"/>
            <a:ext cx="548640" cy="2103120"/>
          </a:xfrm>
          <a:prstGeom prst="roundRect">
            <a:avLst>
              <a:gd name="adj" fmla="val 15000"/>
            </a:avLst>
          </a:prstGeom>
          <a:solidFill>
            <a:srgbClr val="D9932B"/>
          </a:solidFill>
          <a:ln/>
        </p:spPr>
      </p:sp>
      <p:sp>
        <p:nvSpPr>
          <p:cNvPr id="8" name="Text 5"/>
          <p:cNvSpPr txBox="1"/>
          <p:nvPr/>
        </p:nvSpPr>
        <p:spPr>
          <a:xfrm>
            <a:off x="548640" y="1783080"/>
            <a:ext cx="548640" cy="2103120"/>
          </a:xfrm>
          <a:prstGeom prst="rect">
            <a:avLst/>
          </a:prstGeom>
          <a:noFill/>
          <a:ln/>
        </p:spPr>
        <p:txBody>
          <a:bodyPr wrap="square" lIns="50800" tIns="50800" rIns="50800" bIns="50800" rtlCol="0" anchor="ctr"/>
          <a:lstStyle/>
          <a:p>
            <a:pPr algn="ctr" indent="0" marL="0">
              <a:lnSpc>
                <a:spcPct val="100000"/>
              </a:lnSpc>
              <a:buNone/>
            </a:pPr>
            <a:r>
              <a:rPr lang="en-US" sz="2200" b="1" dirty="0">
                <a:solidFill>
                  <a:srgbClr val="FFFFFF"/>
                </a:solidFill>
                <a:latin typeface="Times New Roman" pitchFamily="34" charset="0"/>
                <a:ea typeface="Times New Roman" pitchFamily="34" charset="-122"/>
                <a:cs typeface="Times New Roman" pitchFamily="34" charset="-120"/>
              </a:rPr>
              <a:t>1</a:t>
            </a:r>
            <a:endParaRPr lang="en-US" sz="2200" dirty="0"/>
          </a:p>
        </p:txBody>
      </p:sp>
      <p:sp>
        <p:nvSpPr>
          <p:cNvPr id="9" name="Text 6"/>
          <p:cNvSpPr txBox="1"/>
          <p:nvPr/>
        </p:nvSpPr>
        <p:spPr>
          <a:xfrm>
            <a:off x="1280160" y="1892808"/>
            <a:ext cx="4526280" cy="457200"/>
          </a:xfrm>
          <a:prstGeom prst="rect">
            <a:avLst/>
          </a:prstGeom>
          <a:noFill/>
          <a:ln/>
        </p:spPr>
        <p:txBody>
          <a:bodyPr wrap="square" lIns="0" tIns="0" rIns="0" bIns="0" rtlCol="0" anchor="t"/>
          <a:lstStyle/>
          <a:p>
            <a:pPr algn="l" indent="0" marL="0">
              <a:lnSpc>
                <a:spcPct val="100000"/>
              </a:lnSpc>
              <a:buNone/>
            </a:pPr>
            <a:r>
              <a:rPr lang="en-US" sz="1800" b="1" dirty="0">
                <a:solidFill>
                  <a:srgbClr val="1B1B2A"/>
                </a:solidFill>
                <a:latin typeface="Times New Roman" pitchFamily="34" charset="0"/>
                <a:ea typeface="Times New Roman" pitchFamily="34" charset="-122"/>
                <a:cs typeface="Times New Roman" pitchFamily="34" charset="-120"/>
              </a:rPr>
              <a:t>FIDO2 da server nimani saqlaydi?</a:t>
            </a:r>
            <a:endParaRPr lang="en-US" sz="1800" dirty="0"/>
          </a:p>
        </p:txBody>
      </p:sp>
      <p:sp>
        <p:nvSpPr>
          <p:cNvPr id="10" name="Text 7"/>
          <p:cNvSpPr txBox="1"/>
          <p:nvPr/>
        </p:nvSpPr>
        <p:spPr>
          <a:xfrm>
            <a:off x="1280160" y="2423160"/>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A) Parol xeshini</a:t>
            </a:r>
            <a:endParaRPr lang="en-US" sz="1600" dirty="0"/>
          </a:p>
        </p:txBody>
      </p:sp>
      <p:sp>
        <p:nvSpPr>
          <p:cNvPr id="11" name="Text 8"/>
          <p:cNvSpPr txBox="1"/>
          <p:nvPr/>
        </p:nvSpPr>
        <p:spPr>
          <a:xfrm>
            <a:off x="1280160" y="2770632"/>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B) Ochiq kalitni</a:t>
            </a:r>
            <a:endParaRPr lang="en-US" sz="1600" dirty="0"/>
          </a:p>
        </p:txBody>
      </p:sp>
      <p:sp>
        <p:nvSpPr>
          <p:cNvPr id="12" name="Text 9"/>
          <p:cNvSpPr txBox="1"/>
          <p:nvPr/>
        </p:nvSpPr>
        <p:spPr>
          <a:xfrm>
            <a:off x="1280160" y="3118104"/>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C) Yopiq kalitni</a:t>
            </a:r>
            <a:endParaRPr lang="en-US" sz="1600" dirty="0"/>
          </a:p>
        </p:txBody>
      </p:sp>
      <p:sp>
        <p:nvSpPr>
          <p:cNvPr id="13" name="Text 10"/>
          <p:cNvSpPr txBox="1"/>
          <p:nvPr/>
        </p:nvSpPr>
        <p:spPr>
          <a:xfrm>
            <a:off x="1280160" y="3465576"/>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D) PIN-kodni</a:t>
            </a:r>
            <a:endParaRPr lang="en-US" sz="1600" dirty="0"/>
          </a:p>
        </p:txBody>
      </p:sp>
      <p:sp>
        <p:nvSpPr>
          <p:cNvPr id="14" name="Shape 11"/>
          <p:cNvSpPr/>
          <p:nvPr/>
        </p:nvSpPr>
        <p:spPr>
          <a:xfrm>
            <a:off x="6172200" y="1783080"/>
            <a:ext cx="5440680" cy="2103120"/>
          </a:xfrm>
          <a:prstGeom prst="roundRect">
            <a:avLst>
              <a:gd name="adj" fmla="val 3913"/>
            </a:avLst>
          </a:prstGeom>
          <a:solidFill>
            <a:srgbClr val="FFFFFF"/>
          </a:solidFill>
          <a:ln/>
        </p:spPr>
      </p:sp>
      <p:sp>
        <p:nvSpPr>
          <p:cNvPr id="15" name="Shape 12"/>
          <p:cNvSpPr/>
          <p:nvPr/>
        </p:nvSpPr>
        <p:spPr>
          <a:xfrm>
            <a:off x="6172200" y="1783080"/>
            <a:ext cx="548640" cy="2103120"/>
          </a:xfrm>
          <a:prstGeom prst="roundRect">
            <a:avLst>
              <a:gd name="adj" fmla="val 15000"/>
            </a:avLst>
          </a:prstGeom>
          <a:solidFill>
            <a:srgbClr val="D9932B"/>
          </a:solidFill>
          <a:ln/>
        </p:spPr>
      </p:sp>
      <p:sp>
        <p:nvSpPr>
          <p:cNvPr id="16" name="Text 13"/>
          <p:cNvSpPr txBox="1"/>
          <p:nvPr/>
        </p:nvSpPr>
        <p:spPr>
          <a:xfrm>
            <a:off x="6172200" y="1783080"/>
            <a:ext cx="548640" cy="2103120"/>
          </a:xfrm>
          <a:prstGeom prst="rect">
            <a:avLst/>
          </a:prstGeom>
          <a:noFill/>
          <a:ln/>
        </p:spPr>
        <p:txBody>
          <a:bodyPr wrap="square" lIns="50800" tIns="50800" rIns="50800" bIns="50800" rtlCol="0" anchor="ctr"/>
          <a:lstStyle/>
          <a:p>
            <a:pPr algn="ctr" indent="0" marL="0">
              <a:lnSpc>
                <a:spcPct val="100000"/>
              </a:lnSpc>
              <a:buNone/>
            </a:pPr>
            <a:r>
              <a:rPr lang="en-US" sz="2200" b="1" dirty="0">
                <a:solidFill>
                  <a:srgbClr val="FFFFFF"/>
                </a:solidFill>
                <a:latin typeface="Times New Roman" pitchFamily="34" charset="0"/>
                <a:ea typeface="Times New Roman" pitchFamily="34" charset="-122"/>
                <a:cs typeface="Times New Roman" pitchFamily="34" charset="-120"/>
              </a:rPr>
              <a:t>2</a:t>
            </a:r>
            <a:endParaRPr lang="en-US" sz="2200" dirty="0"/>
          </a:p>
        </p:txBody>
      </p:sp>
      <p:sp>
        <p:nvSpPr>
          <p:cNvPr id="17" name="Text 14"/>
          <p:cNvSpPr txBox="1"/>
          <p:nvPr/>
        </p:nvSpPr>
        <p:spPr>
          <a:xfrm>
            <a:off x="6903720" y="1892808"/>
            <a:ext cx="4526280" cy="457200"/>
          </a:xfrm>
          <a:prstGeom prst="rect">
            <a:avLst/>
          </a:prstGeom>
          <a:noFill/>
          <a:ln/>
        </p:spPr>
        <p:txBody>
          <a:bodyPr wrap="square" lIns="0" tIns="0" rIns="0" bIns="0" rtlCol="0" anchor="t"/>
          <a:lstStyle/>
          <a:p>
            <a:pPr algn="l" indent="0" marL="0">
              <a:lnSpc>
                <a:spcPct val="100000"/>
              </a:lnSpc>
              <a:buNone/>
            </a:pPr>
            <a:r>
              <a:rPr lang="en-US" sz="1800" b="1" dirty="0">
                <a:solidFill>
                  <a:srgbClr val="1B1B2A"/>
                </a:solidFill>
                <a:latin typeface="Times New Roman" pitchFamily="34" charset="0"/>
                <a:ea typeface="Times New Roman" pitchFamily="34" charset="-122"/>
                <a:cs typeface="Times New Roman" pitchFamily="34" charset="-120"/>
              </a:rPr>
              <a:t>Nega soxta saytda passkey ishlamaydi?</a:t>
            </a:r>
            <a:endParaRPr lang="en-US" sz="1800" dirty="0"/>
          </a:p>
        </p:txBody>
      </p:sp>
      <p:sp>
        <p:nvSpPr>
          <p:cNvPr id="18" name="Text 15"/>
          <p:cNvSpPr txBox="1"/>
          <p:nvPr/>
        </p:nvSpPr>
        <p:spPr>
          <a:xfrm>
            <a:off x="6903720" y="2423160"/>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A) Sertifikat yo'q</a:t>
            </a:r>
            <a:endParaRPr lang="en-US" sz="1600" dirty="0"/>
          </a:p>
        </p:txBody>
      </p:sp>
      <p:sp>
        <p:nvSpPr>
          <p:cNvPr id="19" name="Text 16"/>
          <p:cNvSpPr txBox="1"/>
          <p:nvPr/>
        </p:nvSpPr>
        <p:spPr>
          <a:xfrm>
            <a:off x="6903720" y="2770632"/>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B) Imzo origin/rpId ga bog'langan</a:t>
            </a:r>
            <a:endParaRPr lang="en-US" sz="1600" dirty="0"/>
          </a:p>
        </p:txBody>
      </p:sp>
      <p:sp>
        <p:nvSpPr>
          <p:cNvPr id="20" name="Text 17"/>
          <p:cNvSpPr txBox="1"/>
          <p:nvPr/>
        </p:nvSpPr>
        <p:spPr>
          <a:xfrm>
            <a:off x="6903720" y="3118104"/>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C) PIN noto'g'ri</a:t>
            </a:r>
            <a:endParaRPr lang="en-US" sz="1600" dirty="0"/>
          </a:p>
        </p:txBody>
      </p:sp>
      <p:sp>
        <p:nvSpPr>
          <p:cNvPr id="21" name="Text 18"/>
          <p:cNvSpPr txBox="1"/>
          <p:nvPr/>
        </p:nvSpPr>
        <p:spPr>
          <a:xfrm>
            <a:off x="6903720" y="3465576"/>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D) Bluetooth o'chiq</a:t>
            </a:r>
            <a:endParaRPr lang="en-US" sz="1600" dirty="0"/>
          </a:p>
        </p:txBody>
      </p:sp>
      <p:sp>
        <p:nvSpPr>
          <p:cNvPr id="22" name="Shape 19"/>
          <p:cNvSpPr/>
          <p:nvPr/>
        </p:nvSpPr>
        <p:spPr>
          <a:xfrm>
            <a:off x="548640" y="4069080"/>
            <a:ext cx="5440680" cy="2103120"/>
          </a:xfrm>
          <a:prstGeom prst="roundRect">
            <a:avLst>
              <a:gd name="adj" fmla="val 3913"/>
            </a:avLst>
          </a:prstGeom>
          <a:solidFill>
            <a:srgbClr val="FFFFFF"/>
          </a:solidFill>
          <a:ln/>
        </p:spPr>
      </p:sp>
      <p:sp>
        <p:nvSpPr>
          <p:cNvPr id="23" name="Shape 20"/>
          <p:cNvSpPr/>
          <p:nvPr/>
        </p:nvSpPr>
        <p:spPr>
          <a:xfrm>
            <a:off x="548640" y="4069080"/>
            <a:ext cx="548640" cy="2103120"/>
          </a:xfrm>
          <a:prstGeom prst="roundRect">
            <a:avLst>
              <a:gd name="adj" fmla="val 15000"/>
            </a:avLst>
          </a:prstGeom>
          <a:solidFill>
            <a:srgbClr val="D9932B"/>
          </a:solidFill>
          <a:ln/>
        </p:spPr>
      </p:sp>
      <p:sp>
        <p:nvSpPr>
          <p:cNvPr id="24" name="Text 21"/>
          <p:cNvSpPr txBox="1"/>
          <p:nvPr/>
        </p:nvSpPr>
        <p:spPr>
          <a:xfrm>
            <a:off x="548640" y="4069080"/>
            <a:ext cx="548640" cy="2103120"/>
          </a:xfrm>
          <a:prstGeom prst="rect">
            <a:avLst/>
          </a:prstGeom>
          <a:noFill/>
          <a:ln/>
        </p:spPr>
        <p:txBody>
          <a:bodyPr wrap="square" lIns="50800" tIns="50800" rIns="50800" bIns="50800" rtlCol="0" anchor="ctr"/>
          <a:lstStyle/>
          <a:p>
            <a:pPr algn="ctr" indent="0" marL="0">
              <a:lnSpc>
                <a:spcPct val="100000"/>
              </a:lnSpc>
              <a:buNone/>
            </a:pPr>
            <a:r>
              <a:rPr lang="en-US" sz="2200" b="1" dirty="0">
                <a:solidFill>
                  <a:srgbClr val="FFFFFF"/>
                </a:solidFill>
                <a:latin typeface="Times New Roman" pitchFamily="34" charset="0"/>
                <a:ea typeface="Times New Roman" pitchFamily="34" charset="-122"/>
                <a:cs typeface="Times New Roman" pitchFamily="34" charset="-120"/>
              </a:rPr>
              <a:t>3</a:t>
            </a:r>
            <a:endParaRPr lang="en-US" sz="2200" dirty="0"/>
          </a:p>
        </p:txBody>
      </p:sp>
      <p:sp>
        <p:nvSpPr>
          <p:cNvPr id="25" name="Text 22"/>
          <p:cNvSpPr txBox="1"/>
          <p:nvPr/>
        </p:nvSpPr>
        <p:spPr>
          <a:xfrm>
            <a:off x="1280160" y="4178808"/>
            <a:ext cx="4526280" cy="457200"/>
          </a:xfrm>
          <a:prstGeom prst="rect">
            <a:avLst/>
          </a:prstGeom>
          <a:noFill/>
          <a:ln/>
        </p:spPr>
        <p:txBody>
          <a:bodyPr wrap="square" lIns="0" tIns="0" rIns="0" bIns="0" rtlCol="0" anchor="t"/>
          <a:lstStyle/>
          <a:p>
            <a:pPr algn="l" indent="0" marL="0">
              <a:lnSpc>
                <a:spcPct val="100000"/>
              </a:lnSpc>
              <a:buNone/>
            </a:pPr>
            <a:r>
              <a:rPr lang="en-US" sz="1800" b="1" dirty="0">
                <a:solidFill>
                  <a:srgbClr val="1B1B2A"/>
                </a:solidFill>
                <a:latin typeface="Times New Roman" pitchFamily="34" charset="0"/>
                <a:ea typeface="Times New Roman" pitchFamily="34" charset="-122"/>
                <a:cs typeface="Times New Roman" pitchFamily="34" charset="-120"/>
              </a:rPr>
              <a:t>Windows Hello PIN qayerga yuboriladi?</a:t>
            </a:r>
            <a:endParaRPr lang="en-US" sz="1800" dirty="0"/>
          </a:p>
        </p:txBody>
      </p:sp>
      <p:sp>
        <p:nvSpPr>
          <p:cNvPr id="26" name="Text 23"/>
          <p:cNvSpPr txBox="1"/>
          <p:nvPr/>
        </p:nvSpPr>
        <p:spPr>
          <a:xfrm>
            <a:off x="1280160" y="4709160"/>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A) Microsoft serveriga</a:t>
            </a:r>
            <a:endParaRPr lang="en-US" sz="1600" dirty="0"/>
          </a:p>
        </p:txBody>
      </p:sp>
      <p:sp>
        <p:nvSpPr>
          <p:cNvPr id="27" name="Text 24"/>
          <p:cNvSpPr txBox="1"/>
          <p:nvPr/>
        </p:nvSpPr>
        <p:spPr>
          <a:xfrm>
            <a:off x="1280160" y="5056632"/>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B) Domen kontrolleriga</a:t>
            </a:r>
            <a:endParaRPr lang="en-US" sz="1600" dirty="0"/>
          </a:p>
        </p:txBody>
      </p:sp>
      <p:sp>
        <p:nvSpPr>
          <p:cNvPr id="28" name="Text 25"/>
          <p:cNvSpPr txBox="1"/>
          <p:nvPr/>
        </p:nvSpPr>
        <p:spPr>
          <a:xfrm>
            <a:off x="1280160" y="5404104"/>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C) Hech qayerga — TPM dagi kalitni ochadi</a:t>
            </a:r>
            <a:endParaRPr lang="en-US" sz="1600" dirty="0"/>
          </a:p>
        </p:txBody>
      </p:sp>
      <p:sp>
        <p:nvSpPr>
          <p:cNvPr id="29" name="Text 26"/>
          <p:cNvSpPr txBox="1"/>
          <p:nvPr/>
        </p:nvSpPr>
        <p:spPr>
          <a:xfrm>
            <a:off x="1280160" y="5751576"/>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D) Brauzerga</a:t>
            </a:r>
            <a:endParaRPr lang="en-US" sz="1600" dirty="0"/>
          </a:p>
        </p:txBody>
      </p:sp>
      <p:sp>
        <p:nvSpPr>
          <p:cNvPr id="30" name="Shape 27"/>
          <p:cNvSpPr/>
          <p:nvPr/>
        </p:nvSpPr>
        <p:spPr>
          <a:xfrm>
            <a:off x="6172200" y="4069080"/>
            <a:ext cx="5440680" cy="2103120"/>
          </a:xfrm>
          <a:prstGeom prst="roundRect">
            <a:avLst>
              <a:gd name="adj" fmla="val 3913"/>
            </a:avLst>
          </a:prstGeom>
          <a:solidFill>
            <a:srgbClr val="FFFFFF"/>
          </a:solidFill>
          <a:ln/>
        </p:spPr>
      </p:sp>
      <p:sp>
        <p:nvSpPr>
          <p:cNvPr id="31" name="Shape 28"/>
          <p:cNvSpPr/>
          <p:nvPr/>
        </p:nvSpPr>
        <p:spPr>
          <a:xfrm>
            <a:off x="6172200" y="4069080"/>
            <a:ext cx="548640" cy="2103120"/>
          </a:xfrm>
          <a:prstGeom prst="roundRect">
            <a:avLst>
              <a:gd name="adj" fmla="val 15000"/>
            </a:avLst>
          </a:prstGeom>
          <a:solidFill>
            <a:srgbClr val="D9932B"/>
          </a:solidFill>
          <a:ln/>
        </p:spPr>
      </p:sp>
      <p:sp>
        <p:nvSpPr>
          <p:cNvPr id="32" name="Text 29"/>
          <p:cNvSpPr txBox="1"/>
          <p:nvPr/>
        </p:nvSpPr>
        <p:spPr>
          <a:xfrm>
            <a:off x="6172200" y="4069080"/>
            <a:ext cx="548640" cy="2103120"/>
          </a:xfrm>
          <a:prstGeom prst="rect">
            <a:avLst/>
          </a:prstGeom>
          <a:noFill/>
          <a:ln/>
        </p:spPr>
        <p:txBody>
          <a:bodyPr wrap="square" lIns="50800" tIns="50800" rIns="50800" bIns="50800" rtlCol="0" anchor="ctr"/>
          <a:lstStyle/>
          <a:p>
            <a:pPr algn="ctr" indent="0" marL="0">
              <a:lnSpc>
                <a:spcPct val="100000"/>
              </a:lnSpc>
              <a:buNone/>
            </a:pPr>
            <a:r>
              <a:rPr lang="en-US" sz="2200" b="1" dirty="0">
                <a:solidFill>
                  <a:srgbClr val="FFFFFF"/>
                </a:solidFill>
                <a:latin typeface="Times New Roman" pitchFamily="34" charset="0"/>
                <a:ea typeface="Times New Roman" pitchFamily="34" charset="-122"/>
                <a:cs typeface="Times New Roman" pitchFamily="34" charset="-120"/>
              </a:rPr>
              <a:t>4</a:t>
            </a:r>
            <a:endParaRPr lang="en-US" sz="2200" dirty="0"/>
          </a:p>
        </p:txBody>
      </p:sp>
      <p:sp>
        <p:nvSpPr>
          <p:cNvPr id="33" name="Text 30"/>
          <p:cNvSpPr txBox="1"/>
          <p:nvPr/>
        </p:nvSpPr>
        <p:spPr>
          <a:xfrm>
            <a:off x="6903720" y="4178808"/>
            <a:ext cx="4526280" cy="457200"/>
          </a:xfrm>
          <a:prstGeom prst="rect">
            <a:avLst/>
          </a:prstGeom>
          <a:noFill/>
          <a:ln/>
        </p:spPr>
        <p:txBody>
          <a:bodyPr wrap="square" lIns="0" tIns="0" rIns="0" bIns="0" rtlCol="0" anchor="t"/>
          <a:lstStyle/>
          <a:p>
            <a:pPr algn="l" indent="0" marL="0">
              <a:lnSpc>
                <a:spcPct val="100000"/>
              </a:lnSpc>
              <a:buNone/>
            </a:pPr>
            <a:r>
              <a:rPr lang="en-US" sz="1800" b="1" dirty="0">
                <a:solidFill>
                  <a:srgbClr val="1B1B2A"/>
                </a:solidFill>
                <a:latin typeface="Times New Roman" pitchFamily="34" charset="0"/>
                <a:ea typeface="Times New Roman" pitchFamily="34" charset="-122"/>
                <a:cs typeface="Times New Roman" pitchFamily="34" charset="-120"/>
              </a:rPr>
              <a:t>Qaysi passkey AAL3 da ishlatilmaydi?</a:t>
            </a:r>
            <a:endParaRPr lang="en-US" sz="1800" dirty="0"/>
          </a:p>
        </p:txBody>
      </p:sp>
      <p:sp>
        <p:nvSpPr>
          <p:cNvPr id="34" name="Text 31"/>
          <p:cNvSpPr txBox="1"/>
          <p:nvPr/>
        </p:nvSpPr>
        <p:spPr>
          <a:xfrm>
            <a:off x="6903720" y="4709160"/>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A) FIDO2 USB kalit</a:t>
            </a:r>
            <a:endParaRPr lang="en-US" sz="1600" dirty="0"/>
          </a:p>
        </p:txBody>
      </p:sp>
      <p:sp>
        <p:nvSpPr>
          <p:cNvPr id="35" name="Text 32"/>
          <p:cNvSpPr txBox="1"/>
          <p:nvPr/>
        </p:nvSpPr>
        <p:spPr>
          <a:xfrm>
            <a:off x="6903720" y="5056632"/>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B) TPM dagi Windows Hello</a:t>
            </a:r>
            <a:endParaRPr lang="en-US" sz="1600" dirty="0"/>
          </a:p>
        </p:txBody>
      </p:sp>
      <p:sp>
        <p:nvSpPr>
          <p:cNvPr id="36" name="Text 33"/>
          <p:cNvSpPr txBox="1"/>
          <p:nvPr/>
        </p:nvSpPr>
        <p:spPr>
          <a:xfrm>
            <a:off x="6903720" y="5404104"/>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C) Bulut orqali sinxronlanadigan</a:t>
            </a:r>
            <a:endParaRPr lang="en-US" sz="1600" dirty="0"/>
          </a:p>
        </p:txBody>
      </p:sp>
      <p:sp>
        <p:nvSpPr>
          <p:cNvPr id="37" name="Text 34"/>
          <p:cNvSpPr txBox="1"/>
          <p:nvPr/>
        </p:nvSpPr>
        <p:spPr>
          <a:xfrm>
            <a:off x="6903720" y="5751576"/>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D) Smart-karta</a:t>
            </a:r>
            <a:endParaRPr lang="en-US" sz="1600" dirty="0"/>
          </a:p>
        </p:txBody>
      </p:sp>
      <p:sp>
        <p:nvSpPr>
          <p:cNvPr id="38" name="Text 35"/>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9A5B00"/>
                </a:solidFill>
                <a:latin typeface="Times New Roman" pitchFamily="34" charset="0"/>
                <a:ea typeface="Times New Roman" pitchFamily="34" charset="-122"/>
                <a:cs typeface="Times New Roman" pitchFamily="34" charset="-120"/>
              </a:rPr>
              <a:t>Foydalanishlarni boshqarish  ·  5-ma'ruza</a:t>
            </a:r>
            <a:endParaRPr lang="en-US" sz="1100" dirty="0"/>
          </a:p>
        </p:txBody>
      </p:sp>
      <p:sp>
        <p:nvSpPr>
          <p:cNvPr id="39" name="Text 36"/>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9A5B00"/>
                </a:solidFill>
                <a:latin typeface="Times New Roman" pitchFamily="34" charset="0"/>
                <a:ea typeface="Times New Roman" pitchFamily="34" charset="-122"/>
                <a:cs typeface="Times New Roman"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MUSTAQIL ISH</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Uyga vazifa va keyingi mavzu</a:t>
            </a:r>
            <a:endParaRPr lang="en-US" sz="3600" dirty="0"/>
          </a:p>
        </p:txBody>
      </p:sp>
      <p:sp>
        <p:nvSpPr>
          <p:cNvPr id="4" name="Shape 2"/>
          <p:cNvSpPr/>
          <p:nvPr/>
        </p:nvSpPr>
        <p:spPr>
          <a:xfrm>
            <a:off x="548640" y="1783080"/>
            <a:ext cx="7086600" cy="1298448"/>
          </a:xfrm>
          <a:prstGeom prst="roundRect">
            <a:avLst>
              <a:gd name="adj" fmla="val 6338"/>
            </a:avLst>
          </a:prstGeom>
          <a:solidFill>
            <a:srgbClr val="EEF2FB"/>
          </a:solidFill>
          <a:ln/>
        </p:spPr>
      </p:sp>
      <p:sp>
        <p:nvSpPr>
          <p:cNvPr id="5" name="Shape 3"/>
          <p:cNvSpPr/>
          <p:nvPr/>
        </p:nvSpPr>
        <p:spPr>
          <a:xfrm>
            <a:off x="822960" y="2103120"/>
            <a:ext cx="658368" cy="658368"/>
          </a:xfrm>
          <a:prstGeom prst="ellipse">
            <a:avLst/>
          </a:prstGeom>
          <a:solidFill>
            <a:srgbClr val="1E2761"/>
          </a:solidFill>
          <a:ln/>
        </p:spPr>
      </p:sp>
      <p:pic>
        <p:nvPicPr>
          <p:cNvPr id="6" name="Image 0" descr="/home/claude/fob-slides/icons_out/desktop_white.png"/>
          <p:cNvPicPr>
            <a:picLocks noChangeAspect="1"/>
          </p:cNvPicPr>
          <p:nvPr/>
        </p:nvPicPr>
        <p:blipFill>
          <a:blip r:embed="rId1"/>
          <a:stretch>
            <a:fillRect/>
          </a:stretch>
        </p:blipFill>
        <p:spPr>
          <a:xfrm>
            <a:off x="971093" y="2251253"/>
            <a:ext cx="362102" cy="362102"/>
          </a:xfrm>
          <a:prstGeom prst="rect">
            <a:avLst/>
          </a:prstGeom>
        </p:spPr>
      </p:pic>
      <p:sp>
        <p:nvSpPr>
          <p:cNvPr id="7" name="Text 4"/>
          <p:cNvSpPr txBox="1"/>
          <p:nvPr/>
        </p:nvSpPr>
        <p:spPr>
          <a:xfrm>
            <a:off x="1737360" y="1892808"/>
            <a:ext cx="5715000" cy="411480"/>
          </a:xfrm>
          <a:prstGeom prst="rect">
            <a:avLst/>
          </a:prstGeom>
          <a:noFill/>
          <a:ln/>
        </p:spPr>
        <p:txBody>
          <a:bodyPr wrap="square" lIns="0" tIns="0" rIns="0" bIns="0" rtlCol="0" anchor="t"/>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Windows'da amaliyot</a:t>
            </a:r>
            <a:endParaRPr lang="en-US" sz="2000" dirty="0"/>
          </a:p>
        </p:txBody>
      </p:sp>
      <p:sp>
        <p:nvSpPr>
          <p:cNvPr id="8" name="Text 5"/>
          <p:cNvSpPr txBox="1"/>
          <p:nvPr/>
        </p:nvSpPr>
        <p:spPr>
          <a:xfrm>
            <a:off x="1737360" y="2286000"/>
            <a:ext cx="5760720" cy="749808"/>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Shaxsiy kompyuteringizda Windows Hello PIN o'rnating va bitta xizmat (Microsoft, Google yoki GitHub) uchun passkey yarating.</a:t>
            </a:r>
            <a:endParaRPr lang="en-US" sz="1600" dirty="0"/>
          </a:p>
        </p:txBody>
      </p:sp>
      <p:sp>
        <p:nvSpPr>
          <p:cNvPr id="9" name="Shape 6"/>
          <p:cNvSpPr/>
          <p:nvPr/>
        </p:nvSpPr>
        <p:spPr>
          <a:xfrm>
            <a:off x="548640" y="3227832"/>
            <a:ext cx="7086600" cy="1298448"/>
          </a:xfrm>
          <a:prstGeom prst="roundRect">
            <a:avLst>
              <a:gd name="adj" fmla="val 6338"/>
            </a:avLst>
          </a:prstGeom>
          <a:solidFill>
            <a:srgbClr val="EEF2FB"/>
          </a:solidFill>
          <a:ln/>
        </p:spPr>
      </p:sp>
      <p:sp>
        <p:nvSpPr>
          <p:cNvPr id="10" name="Shape 7"/>
          <p:cNvSpPr/>
          <p:nvPr/>
        </p:nvSpPr>
        <p:spPr>
          <a:xfrm>
            <a:off x="822960" y="3547872"/>
            <a:ext cx="658368" cy="658368"/>
          </a:xfrm>
          <a:prstGeom prst="ellipse">
            <a:avLst/>
          </a:prstGeom>
          <a:solidFill>
            <a:srgbClr val="1E2761"/>
          </a:solidFill>
          <a:ln/>
        </p:spPr>
      </p:sp>
      <p:pic>
        <p:nvPicPr>
          <p:cNvPr id="11" name="Image 1" descr="/home/claude/fob-slides/icons_out/file_white.png"/>
          <p:cNvPicPr>
            <a:picLocks noChangeAspect="1"/>
          </p:cNvPicPr>
          <p:nvPr/>
        </p:nvPicPr>
        <p:blipFill>
          <a:blip r:embed="rId2"/>
          <a:stretch>
            <a:fillRect/>
          </a:stretch>
        </p:blipFill>
        <p:spPr>
          <a:xfrm>
            <a:off x="971093" y="3696005"/>
            <a:ext cx="362102" cy="362102"/>
          </a:xfrm>
          <a:prstGeom prst="rect">
            <a:avLst/>
          </a:prstGeom>
        </p:spPr>
      </p:pic>
      <p:sp>
        <p:nvSpPr>
          <p:cNvPr id="12" name="Text 8"/>
          <p:cNvSpPr txBox="1"/>
          <p:nvPr/>
        </p:nvSpPr>
        <p:spPr>
          <a:xfrm>
            <a:off x="1737360" y="3337560"/>
            <a:ext cx="5715000" cy="411480"/>
          </a:xfrm>
          <a:prstGeom prst="rect">
            <a:avLst/>
          </a:prstGeom>
          <a:noFill/>
          <a:ln/>
        </p:spPr>
        <p:txBody>
          <a:bodyPr wrap="square" lIns="0" tIns="0" rIns="0" bIns="0" rtlCol="0" anchor="t"/>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Yozma topshiriq</a:t>
            </a:r>
            <a:endParaRPr lang="en-US" sz="2000" dirty="0"/>
          </a:p>
        </p:txBody>
      </p:sp>
      <p:sp>
        <p:nvSpPr>
          <p:cNvPr id="13" name="Text 9"/>
          <p:cNvSpPr txBox="1"/>
          <p:nvPr/>
        </p:nvSpPr>
        <p:spPr>
          <a:xfrm>
            <a:off x="1737360" y="3730752"/>
            <a:ext cx="5760720" cy="749808"/>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Parol, TOTP va passkey'ni 5 mezon bo'yicha jadvalda solishtiring: fishing, baza sizishi, qurilma yo'qolishi, qulaylik, narx.</a:t>
            </a:r>
            <a:endParaRPr lang="en-US" sz="1600" dirty="0"/>
          </a:p>
        </p:txBody>
      </p:sp>
      <p:sp>
        <p:nvSpPr>
          <p:cNvPr id="14" name="Shape 10"/>
          <p:cNvSpPr/>
          <p:nvPr/>
        </p:nvSpPr>
        <p:spPr>
          <a:xfrm>
            <a:off x="548640" y="4672584"/>
            <a:ext cx="7086600" cy="1298448"/>
          </a:xfrm>
          <a:prstGeom prst="roundRect">
            <a:avLst>
              <a:gd name="adj" fmla="val 6338"/>
            </a:avLst>
          </a:prstGeom>
          <a:solidFill>
            <a:srgbClr val="EEF2FB"/>
          </a:solidFill>
          <a:ln/>
        </p:spPr>
      </p:sp>
      <p:sp>
        <p:nvSpPr>
          <p:cNvPr id="15" name="Shape 11"/>
          <p:cNvSpPr/>
          <p:nvPr/>
        </p:nvSpPr>
        <p:spPr>
          <a:xfrm>
            <a:off x="822960" y="4992624"/>
            <a:ext cx="658368" cy="658368"/>
          </a:xfrm>
          <a:prstGeom prst="ellipse">
            <a:avLst/>
          </a:prstGeom>
          <a:solidFill>
            <a:srgbClr val="1E2761"/>
          </a:solidFill>
          <a:ln/>
        </p:spPr>
      </p:sp>
      <p:pic>
        <p:nvPicPr>
          <p:cNvPr id="16" name="Image 2" descr="/home/claude/fob-slides/icons_out/code_white.png"/>
          <p:cNvPicPr>
            <a:picLocks noChangeAspect="1"/>
          </p:cNvPicPr>
          <p:nvPr/>
        </p:nvPicPr>
        <p:blipFill>
          <a:blip r:embed="rId3"/>
          <a:stretch>
            <a:fillRect/>
          </a:stretch>
        </p:blipFill>
        <p:spPr>
          <a:xfrm>
            <a:off x="971093" y="5140757"/>
            <a:ext cx="362102" cy="362102"/>
          </a:xfrm>
          <a:prstGeom prst="rect">
            <a:avLst/>
          </a:prstGeom>
        </p:spPr>
      </p:pic>
      <p:sp>
        <p:nvSpPr>
          <p:cNvPr id="17" name="Text 12"/>
          <p:cNvSpPr txBox="1"/>
          <p:nvPr/>
        </p:nvSpPr>
        <p:spPr>
          <a:xfrm>
            <a:off x="1737360" y="4782312"/>
            <a:ext cx="5715000" cy="411480"/>
          </a:xfrm>
          <a:prstGeom prst="rect">
            <a:avLst/>
          </a:prstGeom>
          <a:noFill/>
          <a:ln/>
        </p:spPr>
        <p:txBody>
          <a:bodyPr wrap="square" lIns="0" tIns="0" rIns="0" bIns="0" rtlCol="0" anchor="t"/>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A5 ga tayyorgarlik</a:t>
            </a:r>
            <a:endParaRPr lang="en-US" sz="2000" dirty="0"/>
          </a:p>
        </p:txBody>
      </p:sp>
      <p:sp>
        <p:nvSpPr>
          <p:cNvPr id="18" name="Text 13"/>
          <p:cNvSpPr txBox="1"/>
          <p:nvPr/>
        </p:nvSpPr>
        <p:spPr>
          <a:xfrm>
            <a:off x="1737360" y="5175504"/>
            <a:ext cx="5760720" cy="749808"/>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Windows 11, Edge yoki Chrome; iloji bo'lsa — FIDO2 USB kalit. 16-slayddagi buyruqlarni sinab ko'ring.</a:t>
            </a:r>
            <a:endParaRPr lang="en-US" sz="1600" dirty="0"/>
          </a:p>
        </p:txBody>
      </p:sp>
      <p:sp>
        <p:nvSpPr>
          <p:cNvPr id="19" name="Shape 14"/>
          <p:cNvSpPr/>
          <p:nvPr/>
        </p:nvSpPr>
        <p:spPr>
          <a:xfrm>
            <a:off x="7863840" y="1783080"/>
            <a:ext cx="3749040" cy="4187952"/>
          </a:xfrm>
          <a:prstGeom prst="roundRect">
            <a:avLst>
              <a:gd name="adj" fmla="val 2195"/>
            </a:avLst>
          </a:prstGeom>
          <a:solidFill>
            <a:srgbClr val="1E2761"/>
          </a:solidFill>
          <a:ln/>
        </p:spPr>
      </p:sp>
      <p:sp>
        <p:nvSpPr>
          <p:cNvPr id="20" name="Text 15"/>
          <p:cNvSpPr txBox="1"/>
          <p:nvPr/>
        </p:nvSpPr>
        <p:spPr>
          <a:xfrm>
            <a:off x="7863840" y="2011680"/>
            <a:ext cx="3749040" cy="365760"/>
          </a:xfrm>
          <a:prstGeom prst="rect">
            <a:avLst/>
          </a:prstGeom>
          <a:noFill/>
          <a:ln/>
        </p:spPr>
        <p:txBody>
          <a:bodyPr wrap="square" lIns="0" tIns="0" rIns="0" bIns="0" rtlCol="0" anchor="t"/>
          <a:lstStyle/>
          <a:p>
            <a:pPr algn="ctr" indent="0" marL="0">
              <a:lnSpc>
                <a:spcPct val="100000"/>
              </a:lnSpc>
              <a:buNone/>
            </a:pPr>
            <a:r>
              <a:rPr lang="en-US" sz="1600" b="1" dirty="0">
                <a:solidFill>
                  <a:srgbClr val="CADCFC"/>
                </a:solidFill>
                <a:latin typeface="Times New Roman" pitchFamily="34" charset="0"/>
                <a:ea typeface="Times New Roman" pitchFamily="34" charset="-122"/>
                <a:cs typeface="Times New Roman" pitchFamily="34" charset="-120"/>
              </a:rPr>
              <a:t>KEYINGI MA'RUZA</a:t>
            </a:r>
            <a:endParaRPr lang="en-US" sz="1600" dirty="0"/>
          </a:p>
        </p:txBody>
      </p:sp>
      <p:sp>
        <p:nvSpPr>
          <p:cNvPr id="21" name="Text 16"/>
          <p:cNvSpPr txBox="1"/>
          <p:nvPr/>
        </p:nvSpPr>
        <p:spPr>
          <a:xfrm>
            <a:off x="7863840" y="2468880"/>
            <a:ext cx="3749040" cy="868680"/>
          </a:xfrm>
          <a:prstGeom prst="rect">
            <a:avLst/>
          </a:prstGeom>
          <a:noFill/>
          <a:ln/>
        </p:spPr>
        <p:txBody>
          <a:bodyPr wrap="square" lIns="50800" tIns="50800" rIns="50800" bIns="50800" rtlCol="0" anchor="ctr"/>
          <a:lstStyle/>
          <a:p>
            <a:pPr algn="ctr" indent="0" marL="0">
              <a:lnSpc>
                <a:spcPct val="100000"/>
              </a:lnSpc>
              <a:buNone/>
            </a:pPr>
            <a:r>
              <a:rPr lang="en-US" sz="5400" b="1" dirty="0">
                <a:solidFill>
                  <a:srgbClr val="FFFFFF"/>
                </a:solidFill>
                <a:latin typeface="Times New Roman" pitchFamily="34" charset="0"/>
                <a:ea typeface="Times New Roman" pitchFamily="34" charset="-122"/>
                <a:cs typeface="Times New Roman" pitchFamily="34" charset="-120"/>
              </a:rPr>
              <a:t>M6</a:t>
            </a:r>
            <a:endParaRPr lang="en-US" sz="5400" dirty="0"/>
          </a:p>
        </p:txBody>
      </p:sp>
      <p:sp>
        <p:nvSpPr>
          <p:cNvPr id="22" name="Text 17"/>
          <p:cNvSpPr txBox="1"/>
          <p:nvPr/>
        </p:nvSpPr>
        <p:spPr>
          <a:xfrm>
            <a:off x="8092440" y="3474720"/>
            <a:ext cx="3291840" cy="1325880"/>
          </a:xfrm>
          <a:prstGeom prst="rect">
            <a:avLst/>
          </a:prstGeom>
          <a:noFill/>
          <a:ln/>
        </p:spPr>
        <p:txBody>
          <a:bodyPr wrap="square" lIns="50800" tIns="50800" rIns="50800" bIns="50800" rtlCol="0" anchor="ctr"/>
          <a:lstStyle/>
          <a:p>
            <a:pPr algn="ctr" indent="0" marL="0">
              <a:lnSpc>
                <a:spcPct val="100000"/>
              </a:lnSpc>
              <a:buNone/>
            </a:pPr>
            <a:r>
              <a:rPr lang="en-US" sz="1600" dirty="0">
                <a:solidFill>
                  <a:srgbClr val="CADCFC"/>
                </a:solidFill>
                <a:latin typeface="Times New Roman" pitchFamily="34" charset="0"/>
                <a:ea typeface="Times New Roman" pitchFamily="34" charset="-122"/>
                <a:cs typeface="Times New Roman" pitchFamily="34" charset="-120"/>
              </a:rPr>
              <a:t>Katalog xizmatlari: LDAP, Active Directory, Kerberos va RADIUS</a:t>
            </a:r>
            <a:endParaRPr lang="en-US" sz="1600" dirty="0"/>
          </a:p>
        </p:txBody>
      </p:sp>
      <p:sp>
        <p:nvSpPr>
          <p:cNvPr id="23" name="Text 18"/>
          <p:cNvSpPr txBox="1"/>
          <p:nvPr/>
        </p:nvSpPr>
        <p:spPr>
          <a:xfrm>
            <a:off x="8092440" y="4892040"/>
            <a:ext cx="3291840" cy="868680"/>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9FB0E0"/>
                </a:solidFill>
                <a:latin typeface="Times New Roman" pitchFamily="34" charset="0"/>
                <a:ea typeface="Times New Roman" pitchFamily="34" charset="-122"/>
                <a:cs typeface="Times New Roman" pitchFamily="34" charset="-120"/>
              </a:rPr>
              <a:t>Bugun ko'rgan Kerberos TGT qanday ishlaydi?</a:t>
            </a:r>
            <a:endParaRPr lang="en-US" sz="1400" dirty="0"/>
          </a:p>
        </p:txBody>
      </p:sp>
      <p:sp>
        <p:nvSpPr>
          <p:cNvPr id="24" name="Text 19"/>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5-ma'ruza</a:t>
            </a:r>
            <a:endParaRPr lang="en-US" sz="1100" dirty="0"/>
          </a:p>
        </p:txBody>
      </p:sp>
      <p:sp>
        <p:nvSpPr>
          <p:cNvPr id="25" name="Text 20"/>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ATAMALAR VA MANBALAR</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Ma'ruzadagi atamalar va adabiyotlar</a:t>
            </a:r>
            <a:endParaRPr lang="en-US" sz="3600" dirty="0"/>
          </a:p>
        </p:txBody>
      </p:sp>
      <p:sp>
        <p:nvSpPr>
          <p:cNvPr id="4" name="Shape 2"/>
          <p:cNvSpPr/>
          <p:nvPr/>
        </p:nvSpPr>
        <p:spPr>
          <a:xfrm>
            <a:off x="548640" y="1737360"/>
            <a:ext cx="5760720" cy="457200"/>
          </a:xfrm>
          <a:prstGeom prst="roundRect">
            <a:avLst>
              <a:gd name="adj" fmla="val 10000"/>
            </a:avLst>
          </a:prstGeom>
          <a:solidFill>
            <a:srgbClr val="EEF2FB"/>
          </a:solidFill>
          <a:ln/>
        </p:spPr>
      </p:sp>
      <p:sp>
        <p:nvSpPr>
          <p:cNvPr id="5" name="Text 3"/>
          <p:cNvSpPr txBox="1"/>
          <p:nvPr/>
        </p:nvSpPr>
        <p:spPr>
          <a:xfrm>
            <a:off x="685800" y="1737360"/>
            <a:ext cx="3063240" cy="457200"/>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Ochiq kalit / yopiq kalit</a:t>
            </a:r>
            <a:endParaRPr lang="en-US" sz="1500" dirty="0"/>
          </a:p>
        </p:txBody>
      </p:sp>
      <p:sp>
        <p:nvSpPr>
          <p:cNvPr id="6" name="Text 4"/>
          <p:cNvSpPr txBox="1"/>
          <p:nvPr/>
        </p:nvSpPr>
        <p:spPr>
          <a:xfrm>
            <a:off x="3749040" y="1737360"/>
            <a:ext cx="2011680" cy="457200"/>
          </a:xfrm>
          <a:prstGeom prst="rect">
            <a:avLst/>
          </a:prstGeom>
          <a:noFill/>
          <a:ln/>
        </p:spPr>
        <p:txBody>
          <a:bodyPr wrap="square" lIns="0" tIns="0" rIns="0" bIns="0" rtlCol="0" anchor="ctr"/>
          <a:lstStyle/>
          <a:p>
            <a:pPr algn="l"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public / private key</a:t>
            </a:r>
            <a:endParaRPr lang="en-US" sz="1400" dirty="0"/>
          </a:p>
        </p:txBody>
      </p:sp>
      <p:sp>
        <p:nvSpPr>
          <p:cNvPr id="7" name="Text 5"/>
          <p:cNvSpPr txBox="1"/>
          <p:nvPr/>
        </p:nvSpPr>
        <p:spPr>
          <a:xfrm>
            <a:off x="5760720" y="1737360"/>
            <a:ext cx="457200" cy="457200"/>
          </a:xfrm>
          <a:prstGeom prst="rect">
            <a:avLst/>
          </a:prstGeom>
          <a:noFill/>
          <a:ln/>
        </p:spPr>
        <p:txBody>
          <a:bodyPr wrap="square" lIns="0" tIns="0" rIns="0" bIns="0" rtlCol="0" anchor="ctr"/>
          <a:lstStyle/>
          <a:p>
            <a:pPr algn="r" indent="0" marL="0">
              <a:lnSpc>
                <a:spcPct val="100000"/>
              </a:lnSpc>
              <a:buNone/>
            </a:pPr>
            <a:r>
              <a:rPr lang="en-US" sz="1400" dirty="0">
                <a:solidFill>
                  <a:srgbClr val="1E2761"/>
                </a:solidFill>
                <a:latin typeface="Times New Roman" pitchFamily="34" charset="0"/>
                <a:ea typeface="Times New Roman" pitchFamily="34" charset="-122"/>
                <a:cs typeface="Times New Roman" pitchFamily="34" charset="-120"/>
              </a:rPr>
              <a:t>[1]</a:t>
            </a:r>
            <a:endParaRPr lang="en-US" sz="1400" dirty="0"/>
          </a:p>
        </p:txBody>
      </p:sp>
      <p:sp>
        <p:nvSpPr>
          <p:cNvPr id="8" name="Shape 6"/>
          <p:cNvSpPr/>
          <p:nvPr/>
        </p:nvSpPr>
        <p:spPr>
          <a:xfrm>
            <a:off x="548640" y="2249424"/>
            <a:ext cx="5760720" cy="457200"/>
          </a:xfrm>
          <a:prstGeom prst="roundRect">
            <a:avLst>
              <a:gd name="adj" fmla="val 10000"/>
            </a:avLst>
          </a:prstGeom>
          <a:solidFill>
            <a:srgbClr val="FFFFFF"/>
          </a:solidFill>
          <a:ln/>
        </p:spPr>
      </p:sp>
      <p:sp>
        <p:nvSpPr>
          <p:cNvPr id="9" name="Text 7"/>
          <p:cNvSpPr txBox="1"/>
          <p:nvPr/>
        </p:nvSpPr>
        <p:spPr>
          <a:xfrm>
            <a:off x="685800" y="2249424"/>
            <a:ext cx="3063240" cy="457200"/>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Elektron raqamli imzo</a:t>
            </a:r>
            <a:endParaRPr lang="en-US" sz="1500" dirty="0"/>
          </a:p>
        </p:txBody>
      </p:sp>
      <p:sp>
        <p:nvSpPr>
          <p:cNvPr id="10" name="Text 8"/>
          <p:cNvSpPr txBox="1"/>
          <p:nvPr/>
        </p:nvSpPr>
        <p:spPr>
          <a:xfrm>
            <a:off x="3749040" y="2249424"/>
            <a:ext cx="2011680" cy="457200"/>
          </a:xfrm>
          <a:prstGeom prst="rect">
            <a:avLst/>
          </a:prstGeom>
          <a:noFill/>
          <a:ln/>
        </p:spPr>
        <p:txBody>
          <a:bodyPr wrap="square" lIns="0" tIns="0" rIns="0" bIns="0" rtlCol="0" anchor="ctr"/>
          <a:lstStyle/>
          <a:p>
            <a:pPr algn="l"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digital signature</a:t>
            </a:r>
            <a:endParaRPr lang="en-US" sz="1400" dirty="0"/>
          </a:p>
        </p:txBody>
      </p:sp>
      <p:sp>
        <p:nvSpPr>
          <p:cNvPr id="11" name="Text 9"/>
          <p:cNvSpPr txBox="1"/>
          <p:nvPr/>
        </p:nvSpPr>
        <p:spPr>
          <a:xfrm>
            <a:off x="5760720" y="2249424"/>
            <a:ext cx="457200" cy="457200"/>
          </a:xfrm>
          <a:prstGeom prst="rect">
            <a:avLst/>
          </a:prstGeom>
          <a:noFill/>
          <a:ln/>
        </p:spPr>
        <p:txBody>
          <a:bodyPr wrap="square" lIns="0" tIns="0" rIns="0" bIns="0" rtlCol="0" anchor="ctr"/>
          <a:lstStyle/>
          <a:p>
            <a:pPr algn="r" indent="0" marL="0">
              <a:lnSpc>
                <a:spcPct val="100000"/>
              </a:lnSpc>
              <a:buNone/>
            </a:pPr>
            <a:r>
              <a:rPr lang="en-US" sz="1400" dirty="0">
                <a:solidFill>
                  <a:srgbClr val="1E2761"/>
                </a:solidFill>
                <a:latin typeface="Times New Roman" pitchFamily="34" charset="0"/>
                <a:ea typeface="Times New Roman" pitchFamily="34" charset="-122"/>
                <a:cs typeface="Times New Roman" pitchFamily="34" charset="-120"/>
              </a:rPr>
              <a:t>[1]</a:t>
            </a:r>
            <a:endParaRPr lang="en-US" sz="1400" dirty="0"/>
          </a:p>
        </p:txBody>
      </p:sp>
      <p:sp>
        <p:nvSpPr>
          <p:cNvPr id="12" name="Shape 10"/>
          <p:cNvSpPr/>
          <p:nvPr/>
        </p:nvSpPr>
        <p:spPr>
          <a:xfrm>
            <a:off x="548640" y="2761488"/>
            <a:ext cx="5760720" cy="457200"/>
          </a:xfrm>
          <a:prstGeom prst="roundRect">
            <a:avLst>
              <a:gd name="adj" fmla="val 10000"/>
            </a:avLst>
          </a:prstGeom>
          <a:solidFill>
            <a:srgbClr val="EEF2FB"/>
          </a:solidFill>
          <a:ln/>
        </p:spPr>
      </p:sp>
      <p:sp>
        <p:nvSpPr>
          <p:cNvPr id="13" name="Text 11"/>
          <p:cNvSpPr txBox="1"/>
          <p:nvPr/>
        </p:nvSpPr>
        <p:spPr>
          <a:xfrm>
            <a:off x="685800" y="2761488"/>
            <a:ext cx="3063240" cy="457200"/>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Ishonchli tomon</a:t>
            </a:r>
            <a:endParaRPr lang="en-US" sz="1500" dirty="0"/>
          </a:p>
        </p:txBody>
      </p:sp>
      <p:sp>
        <p:nvSpPr>
          <p:cNvPr id="14" name="Text 12"/>
          <p:cNvSpPr txBox="1"/>
          <p:nvPr/>
        </p:nvSpPr>
        <p:spPr>
          <a:xfrm>
            <a:off x="3749040" y="2761488"/>
            <a:ext cx="2011680" cy="457200"/>
          </a:xfrm>
          <a:prstGeom prst="rect">
            <a:avLst/>
          </a:prstGeom>
          <a:noFill/>
          <a:ln/>
        </p:spPr>
        <p:txBody>
          <a:bodyPr wrap="square" lIns="0" tIns="0" rIns="0" bIns="0" rtlCol="0" anchor="ctr"/>
          <a:lstStyle/>
          <a:p>
            <a:pPr algn="l"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relying party</a:t>
            </a:r>
            <a:endParaRPr lang="en-US" sz="1400" dirty="0"/>
          </a:p>
        </p:txBody>
      </p:sp>
      <p:sp>
        <p:nvSpPr>
          <p:cNvPr id="15" name="Text 13"/>
          <p:cNvSpPr txBox="1"/>
          <p:nvPr/>
        </p:nvSpPr>
        <p:spPr>
          <a:xfrm>
            <a:off x="5760720" y="2761488"/>
            <a:ext cx="457200" cy="457200"/>
          </a:xfrm>
          <a:prstGeom prst="rect">
            <a:avLst/>
          </a:prstGeom>
          <a:noFill/>
          <a:ln/>
        </p:spPr>
        <p:txBody>
          <a:bodyPr wrap="square" lIns="0" tIns="0" rIns="0" bIns="0" rtlCol="0" anchor="ctr"/>
          <a:lstStyle/>
          <a:p>
            <a:pPr algn="r" indent="0" marL="0">
              <a:lnSpc>
                <a:spcPct val="100000"/>
              </a:lnSpc>
              <a:buNone/>
            </a:pPr>
            <a:r>
              <a:rPr lang="en-US" sz="1400" dirty="0">
                <a:solidFill>
                  <a:srgbClr val="1E2761"/>
                </a:solidFill>
                <a:latin typeface="Times New Roman" pitchFamily="34" charset="0"/>
                <a:ea typeface="Times New Roman" pitchFamily="34" charset="-122"/>
                <a:cs typeface="Times New Roman" pitchFamily="34" charset="-120"/>
              </a:rPr>
              <a:t>*</a:t>
            </a:r>
            <a:endParaRPr lang="en-US" sz="1400" dirty="0"/>
          </a:p>
        </p:txBody>
      </p:sp>
      <p:sp>
        <p:nvSpPr>
          <p:cNvPr id="16" name="Shape 14"/>
          <p:cNvSpPr/>
          <p:nvPr/>
        </p:nvSpPr>
        <p:spPr>
          <a:xfrm>
            <a:off x="548640" y="3273552"/>
            <a:ext cx="5760720" cy="457200"/>
          </a:xfrm>
          <a:prstGeom prst="roundRect">
            <a:avLst>
              <a:gd name="adj" fmla="val 10000"/>
            </a:avLst>
          </a:prstGeom>
          <a:solidFill>
            <a:srgbClr val="FFFFFF"/>
          </a:solidFill>
          <a:ln/>
        </p:spPr>
      </p:sp>
      <p:sp>
        <p:nvSpPr>
          <p:cNvPr id="17" name="Text 15"/>
          <p:cNvSpPr txBox="1"/>
          <p:nvPr/>
        </p:nvSpPr>
        <p:spPr>
          <a:xfrm>
            <a:off x="685800" y="3273552"/>
            <a:ext cx="3063240" cy="457200"/>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Platforma autentifikatori</a:t>
            </a:r>
            <a:endParaRPr lang="en-US" sz="1500" dirty="0"/>
          </a:p>
        </p:txBody>
      </p:sp>
      <p:sp>
        <p:nvSpPr>
          <p:cNvPr id="18" name="Text 16"/>
          <p:cNvSpPr txBox="1"/>
          <p:nvPr/>
        </p:nvSpPr>
        <p:spPr>
          <a:xfrm>
            <a:off x="3749040" y="3273552"/>
            <a:ext cx="2011680" cy="457200"/>
          </a:xfrm>
          <a:prstGeom prst="rect">
            <a:avLst/>
          </a:prstGeom>
          <a:noFill/>
          <a:ln/>
        </p:spPr>
        <p:txBody>
          <a:bodyPr wrap="square" lIns="0" tIns="0" rIns="0" bIns="0" rtlCol="0" anchor="ctr"/>
          <a:lstStyle/>
          <a:p>
            <a:pPr algn="l"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platform authenticator</a:t>
            </a:r>
            <a:endParaRPr lang="en-US" sz="1400" dirty="0"/>
          </a:p>
        </p:txBody>
      </p:sp>
      <p:sp>
        <p:nvSpPr>
          <p:cNvPr id="19" name="Text 17"/>
          <p:cNvSpPr txBox="1"/>
          <p:nvPr/>
        </p:nvSpPr>
        <p:spPr>
          <a:xfrm>
            <a:off x="5760720" y="3273552"/>
            <a:ext cx="457200" cy="457200"/>
          </a:xfrm>
          <a:prstGeom prst="rect">
            <a:avLst/>
          </a:prstGeom>
          <a:noFill/>
          <a:ln/>
        </p:spPr>
        <p:txBody>
          <a:bodyPr wrap="square" lIns="0" tIns="0" rIns="0" bIns="0" rtlCol="0" anchor="ctr"/>
          <a:lstStyle/>
          <a:p>
            <a:pPr algn="r" indent="0" marL="0">
              <a:lnSpc>
                <a:spcPct val="100000"/>
              </a:lnSpc>
              <a:buNone/>
            </a:pPr>
            <a:r>
              <a:rPr lang="en-US" sz="1400" dirty="0">
                <a:solidFill>
                  <a:srgbClr val="1E2761"/>
                </a:solidFill>
                <a:latin typeface="Times New Roman" pitchFamily="34" charset="0"/>
                <a:ea typeface="Times New Roman" pitchFamily="34" charset="-122"/>
                <a:cs typeface="Times New Roman" pitchFamily="34" charset="-120"/>
              </a:rPr>
              <a:t>*</a:t>
            </a:r>
            <a:endParaRPr lang="en-US" sz="1400" dirty="0"/>
          </a:p>
        </p:txBody>
      </p:sp>
      <p:sp>
        <p:nvSpPr>
          <p:cNvPr id="20" name="Shape 18"/>
          <p:cNvSpPr/>
          <p:nvPr/>
        </p:nvSpPr>
        <p:spPr>
          <a:xfrm>
            <a:off x="548640" y="3785616"/>
            <a:ext cx="5760720" cy="457200"/>
          </a:xfrm>
          <a:prstGeom prst="roundRect">
            <a:avLst>
              <a:gd name="adj" fmla="val 10000"/>
            </a:avLst>
          </a:prstGeom>
          <a:solidFill>
            <a:srgbClr val="EEF2FB"/>
          </a:solidFill>
          <a:ln/>
        </p:spPr>
      </p:sp>
      <p:sp>
        <p:nvSpPr>
          <p:cNvPr id="21" name="Text 19"/>
          <p:cNvSpPr txBox="1"/>
          <p:nvPr/>
        </p:nvSpPr>
        <p:spPr>
          <a:xfrm>
            <a:off x="685800" y="3785616"/>
            <a:ext cx="3063240" cy="457200"/>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Qurilmaga bog'langan</a:t>
            </a:r>
            <a:endParaRPr lang="en-US" sz="1500" dirty="0"/>
          </a:p>
        </p:txBody>
      </p:sp>
      <p:sp>
        <p:nvSpPr>
          <p:cNvPr id="22" name="Text 20"/>
          <p:cNvSpPr txBox="1"/>
          <p:nvPr/>
        </p:nvSpPr>
        <p:spPr>
          <a:xfrm>
            <a:off x="3749040" y="3785616"/>
            <a:ext cx="2011680" cy="457200"/>
          </a:xfrm>
          <a:prstGeom prst="rect">
            <a:avLst/>
          </a:prstGeom>
          <a:noFill/>
          <a:ln/>
        </p:spPr>
        <p:txBody>
          <a:bodyPr wrap="square" lIns="0" tIns="0" rIns="0" bIns="0" rtlCol="0" anchor="ctr"/>
          <a:lstStyle/>
          <a:p>
            <a:pPr algn="l"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device-bound</a:t>
            </a:r>
            <a:endParaRPr lang="en-US" sz="1400" dirty="0"/>
          </a:p>
        </p:txBody>
      </p:sp>
      <p:sp>
        <p:nvSpPr>
          <p:cNvPr id="23" name="Text 21"/>
          <p:cNvSpPr txBox="1"/>
          <p:nvPr/>
        </p:nvSpPr>
        <p:spPr>
          <a:xfrm>
            <a:off x="5760720" y="3785616"/>
            <a:ext cx="457200" cy="457200"/>
          </a:xfrm>
          <a:prstGeom prst="rect">
            <a:avLst/>
          </a:prstGeom>
          <a:noFill/>
          <a:ln/>
        </p:spPr>
        <p:txBody>
          <a:bodyPr wrap="square" lIns="0" tIns="0" rIns="0" bIns="0" rtlCol="0" anchor="ctr"/>
          <a:lstStyle/>
          <a:p>
            <a:pPr algn="r" indent="0" marL="0">
              <a:lnSpc>
                <a:spcPct val="100000"/>
              </a:lnSpc>
              <a:buNone/>
            </a:pPr>
            <a:r>
              <a:rPr lang="en-US" sz="1400" dirty="0">
                <a:solidFill>
                  <a:srgbClr val="1E2761"/>
                </a:solidFill>
                <a:latin typeface="Times New Roman" pitchFamily="34" charset="0"/>
                <a:ea typeface="Times New Roman" pitchFamily="34" charset="-122"/>
                <a:cs typeface="Times New Roman" pitchFamily="34" charset="-120"/>
              </a:rPr>
              <a:t>*</a:t>
            </a:r>
            <a:endParaRPr lang="en-US" sz="1400" dirty="0"/>
          </a:p>
        </p:txBody>
      </p:sp>
      <p:sp>
        <p:nvSpPr>
          <p:cNvPr id="24" name="Shape 22"/>
          <p:cNvSpPr/>
          <p:nvPr/>
        </p:nvSpPr>
        <p:spPr>
          <a:xfrm>
            <a:off x="548640" y="4297680"/>
            <a:ext cx="5760720" cy="457200"/>
          </a:xfrm>
          <a:prstGeom prst="roundRect">
            <a:avLst>
              <a:gd name="adj" fmla="val 10000"/>
            </a:avLst>
          </a:prstGeom>
          <a:solidFill>
            <a:srgbClr val="FFFFFF"/>
          </a:solidFill>
          <a:ln/>
        </p:spPr>
      </p:sp>
      <p:sp>
        <p:nvSpPr>
          <p:cNvPr id="25" name="Text 23"/>
          <p:cNvSpPr txBox="1"/>
          <p:nvPr/>
        </p:nvSpPr>
        <p:spPr>
          <a:xfrm>
            <a:off x="685800" y="4297680"/>
            <a:ext cx="3063240" cy="457200"/>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Ishonchli platforma moduli</a:t>
            </a:r>
            <a:endParaRPr lang="en-US" sz="1500" dirty="0"/>
          </a:p>
        </p:txBody>
      </p:sp>
      <p:sp>
        <p:nvSpPr>
          <p:cNvPr id="26" name="Text 24"/>
          <p:cNvSpPr txBox="1"/>
          <p:nvPr/>
        </p:nvSpPr>
        <p:spPr>
          <a:xfrm>
            <a:off x="3749040" y="4297680"/>
            <a:ext cx="2011680" cy="457200"/>
          </a:xfrm>
          <a:prstGeom prst="rect">
            <a:avLst/>
          </a:prstGeom>
          <a:noFill/>
          <a:ln/>
        </p:spPr>
        <p:txBody>
          <a:bodyPr wrap="square" lIns="0" tIns="0" rIns="0" bIns="0" rtlCol="0" anchor="ctr"/>
          <a:lstStyle/>
          <a:p>
            <a:pPr algn="l"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TPM</a:t>
            </a:r>
            <a:endParaRPr lang="en-US" sz="1400" dirty="0"/>
          </a:p>
        </p:txBody>
      </p:sp>
      <p:sp>
        <p:nvSpPr>
          <p:cNvPr id="27" name="Text 25"/>
          <p:cNvSpPr txBox="1"/>
          <p:nvPr/>
        </p:nvSpPr>
        <p:spPr>
          <a:xfrm>
            <a:off x="5760720" y="4297680"/>
            <a:ext cx="457200" cy="457200"/>
          </a:xfrm>
          <a:prstGeom prst="rect">
            <a:avLst/>
          </a:prstGeom>
          <a:noFill/>
          <a:ln/>
        </p:spPr>
        <p:txBody>
          <a:bodyPr wrap="square" lIns="0" tIns="0" rIns="0" bIns="0" rtlCol="0" anchor="ctr"/>
          <a:lstStyle/>
          <a:p>
            <a:pPr algn="r" indent="0" marL="0">
              <a:lnSpc>
                <a:spcPct val="100000"/>
              </a:lnSpc>
              <a:buNone/>
            </a:pPr>
            <a:r>
              <a:rPr lang="en-US" sz="1400" dirty="0">
                <a:solidFill>
                  <a:srgbClr val="1E2761"/>
                </a:solidFill>
                <a:latin typeface="Times New Roman" pitchFamily="34" charset="0"/>
                <a:ea typeface="Times New Roman" pitchFamily="34" charset="-122"/>
                <a:cs typeface="Times New Roman" pitchFamily="34" charset="-120"/>
              </a:rPr>
              <a:t>*</a:t>
            </a:r>
            <a:endParaRPr lang="en-US" sz="1400" dirty="0"/>
          </a:p>
        </p:txBody>
      </p:sp>
      <p:sp>
        <p:nvSpPr>
          <p:cNvPr id="28" name="Shape 26"/>
          <p:cNvSpPr/>
          <p:nvPr/>
        </p:nvSpPr>
        <p:spPr>
          <a:xfrm>
            <a:off x="548640" y="4809744"/>
            <a:ext cx="5760720" cy="457200"/>
          </a:xfrm>
          <a:prstGeom prst="roundRect">
            <a:avLst>
              <a:gd name="adj" fmla="val 10000"/>
            </a:avLst>
          </a:prstGeom>
          <a:solidFill>
            <a:srgbClr val="EEF2FB"/>
          </a:solidFill>
          <a:ln/>
        </p:spPr>
      </p:sp>
      <p:sp>
        <p:nvSpPr>
          <p:cNvPr id="29" name="Text 27"/>
          <p:cNvSpPr txBox="1"/>
          <p:nvPr/>
        </p:nvSpPr>
        <p:spPr>
          <a:xfrm>
            <a:off x="685800" y="4809744"/>
            <a:ext cx="3063240" cy="457200"/>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Xavfsizlik kaliti</a:t>
            </a:r>
            <a:endParaRPr lang="en-US" sz="1500" dirty="0"/>
          </a:p>
        </p:txBody>
      </p:sp>
      <p:sp>
        <p:nvSpPr>
          <p:cNvPr id="30" name="Text 28"/>
          <p:cNvSpPr txBox="1"/>
          <p:nvPr/>
        </p:nvSpPr>
        <p:spPr>
          <a:xfrm>
            <a:off x="3749040" y="4809744"/>
            <a:ext cx="2011680" cy="457200"/>
          </a:xfrm>
          <a:prstGeom prst="rect">
            <a:avLst/>
          </a:prstGeom>
          <a:noFill/>
          <a:ln/>
        </p:spPr>
        <p:txBody>
          <a:bodyPr wrap="square" lIns="0" tIns="0" rIns="0" bIns="0" rtlCol="0" anchor="ctr"/>
          <a:lstStyle/>
          <a:p>
            <a:pPr algn="l"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security key</a:t>
            </a:r>
            <a:endParaRPr lang="en-US" sz="1400" dirty="0"/>
          </a:p>
        </p:txBody>
      </p:sp>
      <p:sp>
        <p:nvSpPr>
          <p:cNvPr id="31" name="Text 29"/>
          <p:cNvSpPr txBox="1"/>
          <p:nvPr/>
        </p:nvSpPr>
        <p:spPr>
          <a:xfrm>
            <a:off x="5760720" y="4809744"/>
            <a:ext cx="457200" cy="457200"/>
          </a:xfrm>
          <a:prstGeom prst="rect">
            <a:avLst/>
          </a:prstGeom>
          <a:noFill/>
          <a:ln/>
        </p:spPr>
        <p:txBody>
          <a:bodyPr wrap="square" lIns="0" tIns="0" rIns="0" bIns="0" rtlCol="0" anchor="ctr"/>
          <a:lstStyle/>
          <a:p>
            <a:pPr algn="r" indent="0" marL="0">
              <a:lnSpc>
                <a:spcPct val="100000"/>
              </a:lnSpc>
              <a:buNone/>
            </a:pPr>
            <a:r>
              <a:rPr lang="en-US" sz="1400" dirty="0">
                <a:solidFill>
                  <a:srgbClr val="1E2761"/>
                </a:solidFill>
                <a:latin typeface="Times New Roman" pitchFamily="34" charset="0"/>
                <a:ea typeface="Times New Roman" pitchFamily="34" charset="-122"/>
                <a:cs typeface="Times New Roman" pitchFamily="34" charset="-120"/>
              </a:rPr>
              <a:t>*</a:t>
            </a:r>
            <a:endParaRPr lang="en-US" sz="1400" dirty="0"/>
          </a:p>
        </p:txBody>
      </p:sp>
      <p:sp>
        <p:nvSpPr>
          <p:cNvPr id="32" name="Shape 30"/>
          <p:cNvSpPr/>
          <p:nvPr/>
        </p:nvSpPr>
        <p:spPr>
          <a:xfrm>
            <a:off x="548640" y="5321808"/>
            <a:ext cx="5760720" cy="457200"/>
          </a:xfrm>
          <a:prstGeom prst="roundRect">
            <a:avLst>
              <a:gd name="adj" fmla="val 10000"/>
            </a:avLst>
          </a:prstGeom>
          <a:solidFill>
            <a:srgbClr val="FFFFFF"/>
          </a:solidFill>
          <a:ln/>
        </p:spPr>
      </p:sp>
      <p:sp>
        <p:nvSpPr>
          <p:cNvPr id="33" name="Text 31"/>
          <p:cNvSpPr txBox="1"/>
          <p:nvPr/>
        </p:nvSpPr>
        <p:spPr>
          <a:xfrm>
            <a:off x="685800" y="5321808"/>
            <a:ext cx="3063240" cy="457200"/>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Passkey</a:t>
            </a:r>
            <a:endParaRPr lang="en-US" sz="1500" dirty="0"/>
          </a:p>
        </p:txBody>
      </p:sp>
      <p:sp>
        <p:nvSpPr>
          <p:cNvPr id="34" name="Text 32"/>
          <p:cNvSpPr txBox="1"/>
          <p:nvPr/>
        </p:nvSpPr>
        <p:spPr>
          <a:xfrm>
            <a:off x="3749040" y="5321808"/>
            <a:ext cx="2011680" cy="457200"/>
          </a:xfrm>
          <a:prstGeom prst="rect">
            <a:avLst/>
          </a:prstGeom>
          <a:noFill/>
          <a:ln/>
        </p:spPr>
        <p:txBody>
          <a:bodyPr wrap="square" lIns="0" tIns="0" rIns="0" bIns="0" rtlCol="0" anchor="ctr"/>
          <a:lstStyle/>
          <a:p>
            <a:pPr algn="l"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passkey</a:t>
            </a:r>
            <a:endParaRPr lang="en-US" sz="1400" dirty="0"/>
          </a:p>
        </p:txBody>
      </p:sp>
      <p:sp>
        <p:nvSpPr>
          <p:cNvPr id="35" name="Text 33"/>
          <p:cNvSpPr txBox="1"/>
          <p:nvPr/>
        </p:nvSpPr>
        <p:spPr>
          <a:xfrm>
            <a:off x="5760720" y="5321808"/>
            <a:ext cx="457200" cy="457200"/>
          </a:xfrm>
          <a:prstGeom prst="rect">
            <a:avLst/>
          </a:prstGeom>
          <a:noFill/>
          <a:ln/>
        </p:spPr>
        <p:txBody>
          <a:bodyPr wrap="square" lIns="0" tIns="0" rIns="0" bIns="0" rtlCol="0" anchor="ctr"/>
          <a:lstStyle/>
          <a:p>
            <a:pPr algn="r" indent="0" marL="0">
              <a:lnSpc>
                <a:spcPct val="100000"/>
              </a:lnSpc>
              <a:buNone/>
            </a:pPr>
            <a:r>
              <a:rPr lang="en-US" sz="1400" dirty="0">
                <a:solidFill>
                  <a:srgbClr val="1E2761"/>
                </a:solidFill>
                <a:latin typeface="Times New Roman" pitchFamily="34" charset="0"/>
                <a:ea typeface="Times New Roman" pitchFamily="34" charset="-122"/>
                <a:cs typeface="Times New Roman" pitchFamily="34" charset="-120"/>
              </a:rPr>
              <a:t>—</a:t>
            </a:r>
            <a:endParaRPr lang="en-US" sz="1400" dirty="0"/>
          </a:p>
        </p:txBody>
      </p:sp>
      <p:sp>
        <p:nvSpPr>
          <p:cNvPr id="36" name="Text 34"/>
          <p:cNvSpPr txBox="1"/>
          <p:nvPr/>
        </p:nvSpPr>
        <p:spPr>
          <a:xfrm>
            <a:off x="548640" y="5897880"/>
            <a:ext cx="5760720" cy="320040"/>
          </a:xfrm>
          <a:prstGeom prst="rect">
            <a:avLst/>
          </a:prstGeom>
          <a:noFill/>
          <a:ln/>
        </p:spPr>
        <p:txBody>
          <a:bodyPr wrap="square" lIns="0" tIns="0" rIns="0" bIns="0" rtlCol="0" anchor="t"/>
          <a:lstStyle/>
          <a:p>
            <a:pPr algn="l" indent="0" marL="0">
              <a:lnSpc>
                <a:spcPct val="100000"/>
              </a:lnSpc>
              <a:buNone/>
            </a:pPr>
            <a:r>
              <a:rPr lang="en-US" sz="1200" dirty="0">
                <a:solidFill>
                  <a:srgbClr val="5B6270"/>
                </a:solidFill>
                <a:latin typeface="Times New Roman" pitchFamily="34" charset="0"/>
                <a:ea typeface="Times New Roman" pitchFamily="34" charset="-122"/>
                <a:cs typeface="Times New Roman" pitchFamily="34" charset="-120"/>
              </a:rPr>
              <a:t>* tarjima; «passkey» — asl nomida saqlandi</a:t>
            </a:r>
            <a:endParaRPr lang="en-US" sz="1200" dirty="0"/>
          </a:p>
        </p:txBody>
      </p:sp>
      <p:sp>
        <p:nvSpPr>
          <p:cNvPr id="37" name="Shape 35"/>
          <p:cNvSpPr/>
          <p:nvPr/>
        </p:nvSpPr>
        <p:spPr>
          <a:xfrm>
            <a:off x="6583680" y="1783080"/>
            <a:ext cx="548640" cy="548640"/>
          </a:xfrm>
          <a:prstGeom prst="roundRect">
            <a:avLst>
              <a:gd name="adj" fmla="val 13333"/>
            </a:avLst>
          </a:prstGeom>
          <a:solidFill>
            <a:srgbClr val="1E2761"/>
          </a:solidFill>
          <a:ln/>
        </p:spPr>
      </p:sp>
      <p:sp>
        <p:nvSpPr>
          <p:cNvPr id="38" name="Text 36"/>
          <p:cNvSpPr txBox="1"/>
          <p:nvPr/>
        </p:nvSpPr>
        <p:spPr>
          <a:xfrm>
            <a:off x="6583680" y="1783080"/>
            <a:ext cx="548640" cy="54864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Times New Roman" pitchFamily="34" charset="0"/>
                <a:ea typeface="Times New Roman" pitchFamily="34" charset="-122"/>
                <a:cs typeface="Times New Roman" pitchFamily="34" charset="-120"/>
              </a:rPr>
              <a:t>[1]</a:t>
            </a:r>
            <a:endParaRPr lang="en-US" sz="1400" dirty="0"/>
          </a:p>
        </p:txBody>
      </p:sp>
      <p:sp>
        <p:nvSpPr>
          <p:cNvPr id="39" name="Text 37"/>
          <p:cNvSpPr txBox="1"/>
          <p:nvPr/>
        </p:nvSpPr>
        <p:spPr>
          <a:xfrm>
            <a:off x="7269480" y="1737360"/>
            <a:ext cx="4343400" cy="685800"/>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S.K. Ganiev va boshq. Kiberxavfsizlik asoslari. — T.: «Iqtisod-moliya», 2021.</a:t>
            </a:r>
            <a:endParaRPr lang="en-US" sz="1500" dirty="0"/>
          </a:p>
        </p:txBody>
      </p:sp>
      <p:sp>
        <p:nvSpPr>
          <p:cNvPr id="40" name="Shape 38"/>
          <p:cNvSpPr/>
          <p:nvPr/>
        </p:nvSpPr>
        <p:spPr>
          <a:xfrm>
            <a:off x="6583680" y="2606040"/>
            <a:ext cx="548640" cy="548640"/>
          </a:xfrm>
          <a:prstGeom prst="roundRect">
            <a:avLst>
              <a:gd name="adj" fmla="val 13333"/>
            </a:avLst>
          </a:prstGeom>
          <a:solidFill>
            <a:srgbClr val="1E2761"/>
          </a:solidFill>
          <a:ln/>
        </p:spPr>
      </p:sp>
      <p:sp>
        <p:nvSpPr>
          <p:cNvPr id="41" name="Text 39"/>
          <p:cNvSpPr txBox="1"/>
          <p:nvPr/>
        </p:nvSpPr>
        <p:spPr>
          <a:xfrm>
            <a:off x="6583680" y="2606040"/>
            <a:ext cx="548640" cy="54864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Times New Roman" pitchFamily="34" charset="0"/>
                <a:ea typeface="Times New Roman" pitchFamily="34" charset="-122"/>
                <a:cs typeface="Times New Roman" pitchFamily="34" charset="-120"/>
              </a:rPr>
              <a:t>[2]</a:t>
            </a:r>
            <a:endParaRPr lang="en-US" sz="1400" dirty="0"/>
          </a:p>
        </p:txBody>
      </p:sp>
      <p:sp>
        <p:nvSpPr>
          <p:cNvPr id="42" name="Text 40"/>
          <p:cNvSpPr txBox="1"/>
          <p:nvPr/>
        </p:nvSpPr>
        <p:spPr>
          <a:xfrm>
            <a:off x="7269480" y="2560320"/>
            <a:ext cx="4343400" cy="685800"/>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U.R. Xamdamov va boshq. Operatsion tizimlar. — T.: «Nihol print», 2021.</a:t>
            </a:r>
            <a:endParaRPr lang="en-US" sz="1500" dirty="0"/>
          </a:p>
        </p:txBody>
      </p:sp>
      <p:sp>
        <p:nvSpPr>
          <p:cNvPr id="43" name="Shape 41"/>
          <p:cNvSpPr/>
          <p:nvPr/>
        </p:nvSpPr>
        <p:spPr>
          <a:xfrm>
            <a:off x="6583680" y="3429000"/>
            <a:ext cx="548640" cy="548640"/>
          </a:xfrm>
          <a:prstGeom prst="roundRect">
            <a:avLst>
              <a:gd name="adj" fmla="val 13333"/>
            </a:avLst>
          </a:prstGeom>
          <a:solidFill>
            <a:srgbClr val="2A3778"/>
          </a:solidFill>
          <a:ln/>
        </p:spPr>
      </p:sp>
      <p:sp>
        <p:nvSpPr>
          <p:cNvPr id="44" name="Text 42"/>
          <p:cNvSpPr txBox="1"/>
          <p:nvPr/>
        </p:nvSpPr>
        <p:spPr>
          <a:xfrm>
            <a:off x="6583680" y="3429000"/>
            <a:ext cx="548640" cy="54864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Times New Roman" pitchFamily="34" charset="0"/>
                <a:ea typeface="Times New Roman" pitchFamily="34" charset="-122"/>
                <a:cs typeface="Times New Roman" pitchFamily="34" charset="-120"/>
              </a:rPr>
              <a:t>[3]</a:t>
            </a:r>
            <a:endParaRPr lang="en-US" sz="1400" dirty="0"/>
          </a:p>
        </p:txBody>
      </p:sp>
      <p:sp>
        <p:nvSpPr>
          <p:cNvPr id="45" name="Text 43"/>
          <p:cNvSpPr txBox="1"/>
          <p:nvPr/>
        </p:nvSpPr>
        <p:spPr>
          <a:xfrm>
            <a:off x="7269480" y="3383280"/>
            <a:ext cx="4343400" cy="685800"/>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W3C. Web Authentication (WebAuthn) · FIDO Alliance. CTAP 2.</a:t>
            </a:r>
            <a:endParaRPr lang="en-US" sz="1500" dirty="0"/>
          </a:p>
        </p:txBody>
      </p:sp>
      <p:sp>
        <p:nvSpPr>
          <p:cNvPr id="46" name="Shape 44"/>
          <p:cNvSpPr/>
          <p:nvPr/>
        </p:nvSpPr>
        <p:spPr>
          <a:xfrm>
            <a:off x="6583680" y="4251960"/>
            <a:ext cx="548640" cy="548640"/>
          </a:xfrm>
          <a:prstGeom prst="roundRect">
            <a:avLst>
              <a:gd name="adj" fmla="val 13333"/>
            </a:avLst>
          </a:prstGeom>
          <a:solidFill>
            <a:srgbClr val="2A3778"/>
          </a:solidFill>
          <a:ln/>
        </p:spPr>
      </p:sp>
      <p:sp>
        <p:nvSpPr>
          <p:cNvPr id="47" name="Text 45"/>
          <p:cNvSpPr txBox="1"/>
          <p:nvPr/>
        </p:nvSpPr>
        <p:spPr>
          <a:xfrm>
            <a:off x="6583680" y="4251960"/>
            <a:ext cx="548640" cy="54864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Times New Roman" pitchFamily="34" charset="0"/>
                <a:ea typeface="Times New Roman" pitchFamily="34" charset="-122"/>
                <a:cs typeface="Times New Roman" pitchFamily="34" charset="-120"/>
              </a:rPr>
              <a:t>[4]</a:t>
            </a:r>
            <a:endParaRPr lang="en-US" sz="1400" dirty="0"/>
          </a:p>
        </p:txBody>
      </p:sp>
      <p:sp>
        <p:nvSpPr>
          <p:cNvPr id="48" name="Text 46"/>
          <p:cNvSpPr txBox="1"/>
          <p:nvPr/>
        </p:nvSpPr>
        <p:spPr>
          <a:xfrm>
            <a:off x="7269480" y="4206240"/>
            <a:ext cx="4343400" cy="685800"/>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Microsoft Learn. Windows Hello for Business; Passkeys in Windows.</a:t>
            </a:r>
            <a:endParaRPr lang="en-US" sz="1500" dirty="0"/>
          </a:p>
        </p:txBody>
      </p:sp>
      <p:sp>
        <p:nvSpPr>
          <p:cNvPr id="49" name="Shape 47"/>
          <p:cNvSpPr/>
          <p:nvPr/>
        </p:nvSpPr>
        <p:spPr>
          <a:xfrm>
            <a:off x="6583680" y="5074920"/>
            <a:ext cx="548640" cy="548640"/>
          </a:xfrm>
          <a:prstGeom prst="roundRect">
            <a:avLst>
              <a:gd name="adj" fmla="val 13333"/>
            </a:avLst>
          </a:prstGeom>
          <a:solidFill>
            <a:srgbClr val="2A3778"/>
          </a:solidFill>
          <a:ln/>
        </p:spPr>
      </p:sp>
      <p:sp>
        <p:nvSpPr>
          <p:cNvPr id="50" name="Text 48"/>
          <p:cNvSpPr txBox="1"/>
          <p:nvPr/>
        </p:nvSpPr>
        <p:spPr>
          <a:xfrm>
            <a:off x="6583680" y="5074920"/>
            <a:ext cx="548640" cy="54864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Times New Roman" pitchFamily="34" charset="0"/>
                <a:ea typeface="Times New Roman" pitchFamily="34" charset="-122"/>
                <a:cs typeface="Times New Roman" pitchFamily="34" charset="-120"/>
              </a:rPr>
              <a:t>[5]</a:t>
            </a:r>
            <a:endParaRPr lang="en-US" sz="1400" dirty="0"/>
          </a:p>
        </p:txBody>
      </p:sp>
      <p:sp>
        <p:nvSpPr>
          <p:cNvPr id="51" name="Text 49"/>
          <p:cNvSpPr txBox="1"/>
          <p:nvPr/>
        </p:nvSpPr>
        <p:spPr>
          <a:xfrm>
            <a:off x="7269480" y="5029200"/>
            <a:ext cx="4343400" cy="685800"/>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NIST SP 800-63B-4. Digital Identity Guidelines: Authentication. 2025.</a:t>
            </a:r>
            <a:endParaRPr lang="en-US" sz="1500" dirty="0"/>
          </a:p>
        </p:txBody>
      </p:sp>
      <p:sp>
        <p:nvSpPr>
          <p:cNvPr id="52" name="Text 50"/>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5-ma'ruza</a:t>
            </a:r>
            <a:endParaRPr lang="en-US" sz="1100" dirty="0"/>
          </a:p>
        </p:txBody>
      </p:sp>
      <p:sp>
        <p:nvSpPr>
          <p:cNvPr id="53" name="Text 51"/>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20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5-ma'ruza. FIDO2, WebAuthn va Windows Hello</dc:title>
  <dc:subject>PptxGenJS Presentation</dc:subject>
  <dc:creator>PptxGenJS</dc:creator>
  <cp:lastModifiedBy>PptxGenJS</cp:lastModifiedBy>
  <cp:revision>1</cp:revision>
  <dcterms:created xsi:type="dcterms:W3CDTF">2026-09-26T12:49:30Z</dcterms:created>
  <dcterms:modified xsi:type="dcterms:W3CDTF">2026-09-26T12:49:30Z</dcterms:modified>
</cp:coreProperties>
</file>