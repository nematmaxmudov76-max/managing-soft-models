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M10-M15 da modellarni (DAC, MAC, RBAC, ABAC) nazariy ko'rdik. Oxirgi uch ma'ruza — ularni real tizimlarda ko'rish. Bugun Windows: M10 dagi DAC Windows'da qanday amalga oshgan (SID, token, DACL), M11 dagi yaxlitlik darajasi qayerda turadi, M13 dagi RBAC AD guruhlarida qanday quriladi. Amaliy A16 — Windows Server/AD da sozlash.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uch savol bugungi darsning uch kalit mexanizmiga olib keladi. 1) Kirish tokeni tizimga kirish paytida yaratiladi — yangi guruh a'zoligi faqat qayta kirishdan (yoki klist purge + yangi Kerberos chiptasidan) keyin kuchga kiradi. 2) Tarmoq ulashmasida ikki qatlam: share ruxsati va NTFS ruxsati — eng cheklovchisi ishlaydi. 3) Aniq (explicit) Deny aniq Allow dan ustun; lekin aniq Allow meros bo'lib kelgan Deny dan ustun. Javoblarni hozir aytmang — dars davomida o'zlari topsin.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M1 dagi 'reference monitor' (murojaat monitori) g'oyasining Windows'dagi amaliy ifodasi: har bir murojaat tekshiriladi, chetlab o'tib bo'lmaydi, kichik va tekshiriladigan. SRM — Windows yadrosining (ntoskrnl) qismi; funksiyasi SeAccessCheck. LSASS (Local Security Authority Subsystem) — foydalanuvchi rejimida autentifikatsiya va token yaratish. Muhim: tekshiruv obyekt OCHILAYOTGANDA bir marta bajariladi, natija handle ga yoziladi — keyingi o'qish/yozishlar qayta tekshirilmaydi. Shu sababli ruxsat olib tashlansa, allaqachon ochilgan handle ishlashda davom etadi.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 — Security Identifier, xavfsizlik identifikatori. Tuzilishi: S-revision-authority-subauthority...-RID. 21 bilan boshlanadigan qism — domen yoki mahalliy kompyuter identifikatori (o'rnatishda tasodifiy yaratiladi). RID (Relative ID) — domen ichidagi tartib raqami; 500 — ichki Administrator, 501 — Guest, 512 — Domain Admins, 513 — Domain Users, 1000+ — oddiy hisoblar. Ko'rish: whoami /user, Get-LocalUser | select Name,SID, Get-ADUser aziz | select SID. SID tarixi (sIDHistory) domen migratsiyasida eski SID ni saqlaydi — audit uchun muhim atribut. Bu M2 dagi identifikator hayotiy sikli bilan bog'liq: deprovisioning da SID abadiy 'nafaqaga chiqadi'.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token — kirish tokeni. Tarkibi: user SID, group SIDs, privileges (imtiyozlar — obyektga bog'liq bo'lmagan tizim huquqlari: zaxira nusxa olish, drayver yuklash, soatni o'zgartirish), integrity level (M11: Mandatory Integrity Control), default DACL (jarayon yaratgan yangi obyektlar uchun). UAC (User Account Control, Vista dan) — eng kam imtiyoz tamoyilining (M1) amalga oshirilishi: ma'mur ham kundalik ishni oddiy huquq bilan bajaradi. Muhim nuans: UAC Microsoft tomonidan 'xavfsizlik chegarasi' deb hisoblanmaydi — u qulaylik va himoya qatlami; haqiqiy ajratish uchun alohida ma'mur hisobi kerak. Ko'rish: whoami /all (guruhlar, imtiyozlar, Mandatory Label).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descriptor — xavfsizlik deskriptori: har bir 'securable' obyektda (fayl, papka, reyestr kaliti, xizmat, jarayon, printer, AD obyekti). DACL — Discretionary ACL: M10 dagi DAC modeli aynan shu — egasi ruxsatlarni o'zi belgilaydi. SACL — System ACL: audit (M12 dagi kuzatuv). SACL yozuvlari ishlashi uchun 'Audit object access' siyosati yoqilgan bo'lishi kerak; natija Security jurnalida 4663 hodisasi. SDDL (Security Descriptor Definition Language) — ixcham matn format; skriptlarda va GPO da ishlatiladi. Qisqartmalar: SY=SYSTEM, BA=Builtin Admins, BU=Builtin Users, FA=File All, OI=Object Inherit, CI=Container Inherit.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Kanonik tartib: explicit deny → explicit allow → inherited deny → inherited allow (va meros ichida — yaqin ota avval). GUI (Explorer) ACE'larni avtomatik shu tartibda saqlaydi; noto'g'ri tartib faqat API/skript orqali paydo bo'lishi mumkin va Explorer ogohlantiradi. Muhokamadagi 3-savol javobi: agar Deny aniq (explicit) bo'lsa — u ustun; agar Deny ota papkadan meros bo'lsa, faylga berilgan aniq Allow ustun. NULL DACL va bo'sh DACL farqi — imtihonda tez-tez so'raladigan nuqta. Amaliy maslahat: Microsoft Deny dan kam foydalanishni tavsiya qiladi — kerakli guruhga Allow bermaslik (standart rad) odatda yetarli va tushunarliroq.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NTFS da 6 ta asosiy (basic) ruxsat — aslida 14 ta maxsus (advanced) ruxsatning to'plamlari (Traverse folder, Read data, Write data, Append, Delete, Read permissions, Change permissions, Take ownership va h.k.). Muhim nozik joy: Modify o'chirishni o'z ichiga oladi, Write esa yo'q. icacls qisqartmalari: F=Full, M=Modify, RX=Read&amp;Execute, R=Read, W=Write. Share (ulashma) ruxsatlari: Full/Change/Read — faqat SMB orqali kirishda. Zamonaviy amaliyot: share da 'Authenticated Users: Full Control' (yoki Change) qo'yib, haqiqiy nazoratni NTFS da qilish — bitta joyda boshqarish osonroq. Muhokamadagi 2-savol javobi shu.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Modify — NTFS huquqlari guruhlar bo'yicha yig'iladi (Modify ∪ Read = Modify); share qatlami lokal kirishda qo'llanmaydi. b) Read — share Read va NTFS Modify dan eng cheklovchisi. c) Yozish rad etiladi (aniq Deny birinchi tekshiriladi), o'qish ruxsat; nozik: Modify dagi Delete huquqi Deny Write ga kirmaydi — fayl o'chirilishi mumkin! d) Modify — aniq Allow meros Deny dan ustun (kanonik tartibning 2 &gt; 3 qoidasi). Tekshirish: Xususiyatlar → Xavfsizlik → Qo'shimcha → Effective Access (samarali kirish) yorlig'i.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AGDLP (bir domen) / AGUDLP (ko'p domenli o'rmon): Accounts → Global → (Universal) → Domain Local → Permissions. Bu M13 dagi RBAC ning (foydalanuvchi → rol → ruxsat) AD dagi amaliy ko'rinishi va M14 dagi rol injiniringining natijasi. Afzallik: yangi xodim → faqat G-guruhga qo'shiladi; audit: 'kimda hisobotga Modify bor?' → DL_Hisobot_M a'zolariga qarash kifoya. Nomlash konvensiyasi (G_, DL_, _M/_R suffikslari) — ma'murlar uchun o'z-o'zini hujjatlashtiradi. Xato amaliyot: foydalanuvchilarni to'g'ridan-to'g'ri NTFS ACL ga qo'shish — xodim ketganda 'yetim' SID lar qoladi (5-slayd).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 muqobili: ADUC → OU ustida o'ng tugma → Delegate Control (Delegation of Control Wizard). dsacls /I:S — faqat ichki obyektlarga meros (subobjects), CA — Control Access (maxsus huquq, masalan Reset Password), 'user' — faqat foydalanuvchi obyektlariga. Audit qilinadigan huquqlar: ular noto'g'ri berilsa imtiyozni oshirish yo'li paydo bo'ladi. 'Replicating Directory Changes (All)' — domen parol xeshlarini replikatsiya qilish huquqi; faqat DC larda bo'lishi kerak, boshqa hisobda topilsa — jiddiy hodisa. Himoya amaliyoti: har chorakda ACL auditi (M14 dagi qayta sertifikatlash bilan birga), o'zgarishlarni 5136 hodisa (Directory Service Changes) bilan kuzatish. Hujum texnikalarini amalda ko'rsatmaymiz — faqat nimani audit qilish kerakligini.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Tiered model — Microsoft'ning klassik AD darajalar modeli; hozir 'Enterprise Access Model' (control plane / management plane / data plane) deb kengaytirilgan. Tier 0 — butun domenni boshqaradigan har qanday tizim. Protected Users (Windows Server 2012 R2+): a'zolar uchun NTLM, DES/RC4, CredSSP delegatsiyasi, kesh hisob ma'lumotlari o'chiriladi. AdminSDHolder + SDProp jarayoni: Domain Admins, Enterprise Admins va boshqa himoyalangan guruh a'zolarining ACL i har 60 daqiqada AdminSDHolder konteyneridagi andozaga qaytariladi — kimdir ACL ni o'zgartirsa ham tiklanadi (lekin AdminSDHolder ning o'zi o'zgartirilsa — xavf; audit qiling). Windows LAPS 2023 dan Windows'ga o'rnatilgan, parolni AD yoki Entra ID da shifrlangan saqlaydi. PAW — Privileged Access Workstation.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Namoyishni Windows 10/11 yoki Server 2022 VM da, ma'mur huquqli PowerShell/CMD da o'tkazing. /inheritance:r — meros bo'lib kelgan ACE larni olib tashlaydi (r=remove); /inheritance:d — nusxa ko'chirib uzadi. Savol javobi: merosni olib tashlab, hech kimni qo'shmasak — bo'sh DACL: hech kim kira olmaydi (egasi faqat ruxsatni qayta o'zgartira oladi — takeown/icacls /reset bilan tiklash). Shuning uchun avval kerakli ACE larni qo'shib, keyin uzish yoki /inheritance:d ishlatish xavfsizroq. /save va /restore — ACL zaxirasi, o'zgartirishdan oldin doim qiling. A16 da talabalar shu amallarni AD guruhlari (AGDLP) bilan bajaradi.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Eng kam imtiyoz buzilgan: share da Authenticated Users, NTFS da AGDLP bo'yicha DL guruhlari (masalan DL_Hemis_R, DL_Hemis_M). b) Helpdesk o'ziga yoki boshqaga Domain Admins a'zoligini bera oladi — imtiyozni oshirish zanjiri; GenericAll ni olib tashlash, delegatsiyani faqat Talabalar OU dagi parol tiklash bilan cheklash; AdminSDHolder bu ACL ni tiklashi mumkin, lekin tekshirish kerak. c) Bir kompyuter buzilsa, hammasi buziladi (lateral movement) — Windows LAPS. d) Darajalar modeli buzilgan: Tier 0 hisobi Tier 2 qurilmasida — hisob ma'lumotlari o'sha yerda qoladi; alohida Tier 2 helpdesk hisobi, Protected Users, PAW.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1-D, 2-B, 3-C, 4-C.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Atamalar: SID — xavfsizlik identifikatori; access token — kirish tokeni; security descriptor — xavfsizlik deskriptori; ACE — ruxsat yozuvi; effective access — samarali ruxsat. A16 amaliyoti: Windows Server VM da AD o'rnatish (yoki tayyor laboratoriya), OU, AGDLP guruhlari, NTFS ruxsatlari va Helpdesk delegatsiyasini sozlash, Effective Access bilan tekshirish.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5" name="Image 0" descr="/home/claude/fob-slides/icons_out/window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16-MA'RUZA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muhitida foydalanishni boshqarish: SID, NTFS, DACL va Active Directory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 · kirish tokeni · xavfsizlik deskriptori · NTFS · AD delegatsiyasi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628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48840" y="4434840"/>
            <a:ext cx="2628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16-si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60620" y="4434840"/>
            <a:ext cx="17145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60620" y="4434840"/>
            <a:ext cx="17145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A16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0" y="4434840"/>
            <a:ext cx="24003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4434840"/>
            <a:ext cx="24003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namoyishi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xavfsizlik arxitekturasi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SRM, SID, kirish tokeni, UAC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NTFS ruxsatlari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Deskriptor, DACL/ACE, meros, tekshiruv tartibi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735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Directory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AGDLP, obyekt ruxsatlari, delegatsiya, darajalar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6725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nega kira olmadi?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samarali ruxsat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namoyish: icacls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auditda xavf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 berildi — lekin kira olmadi. Nega?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Ma'mur Aziz'ni «Buxgalteriya» guruhiga qo'shdi, guruhga \\srv\hisobot papkasida Modify berdi. Aziz esa hamon «Access denied» ko'ryapti.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 tizimga guruhga qo'shilishdan oldin kirgan edi — bu ahamiyatlimi?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Papka tarmoq orqali ochilyapti — NTFS dan tashqari yana qaysi ruxsat qatlami bor?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 boshqa guruh orqali «Deny» olgan bo'lsa, qaysi biri ustun?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WINDOWS XAVFSIZLIK ARXITEKTURASI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murojaatni SRM tekshiradi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Sub'ekt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jarayon / oqim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tokeni: kim, qaysi guruhlar, qaysi imtiyozlar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3D4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Reference Monitor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Yadrodagi SeAccessCheck: token ↔ deskriptor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2A37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Obyekt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fayl, kalit, jarayon, AD obyekti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deskriptori: egasi, DACL, SACL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9080" y="2377440"/>
            <a:ext cx="246888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63840" y="2377440"/>
            <a:ext cx="246888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379476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EEF2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38953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9476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Kirishda LSASS foydalanuvchini autentifikatsiya qiladi (M3–M6) va kirish tokeni yaratadi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48970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38912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ishga tushirgan har bir jarayon shu tokenning nusxasini oladi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EEF2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508406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98348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Jarayon obyektni ochmoqchi bo'lsa, so'ralgan huquqlar bilan SRM ga murojaat qilinadi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56784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5678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57784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SRM token va DACL ni solishtiradi → ruxsat yoki rad; SACL bo'yicha audit yoziladi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XAVFSIZLIK IDENTIFIKATORI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SID: Windows hisobni raqami bilan taniydi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2A37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 belgisi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1783080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2A37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7830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versiya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1783080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2A37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77440" y="17830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 Authority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6309360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91840" y="17830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21-3623811015-3361044348-30300820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514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domen (yoki kompyuter) identifikatori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92640" y="178308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 — hisob raqami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283464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Ma'lum SID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9000" y="3154680"/>
            <a:ext cx="35661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639312"/>
            <a:ext cx="283464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36393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S-1-1-0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29000" y="3639312"/>
            <a:ext cx="35661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38728" y="3639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Everyone (hamma)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283464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41148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S-1-5-18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29000" y="4114800"/>
            <a:ext cx="356616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38728" y="41148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(LocalSystem)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590288"/>
            <a:ext cx="283464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45902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S-1-5-32-544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429000" y="4590288"/>
            <a:ext cx="35661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538728" y="45902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BUILTIN\Administrators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065776"/>
            <a:ext cx="283464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50657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…-500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429000" y="5065776"/>
            <a:ext cx="356616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38728" y="50657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Ichki Administrator hisobi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5541264"/>
            <a:ext cx="283464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" y="55412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…-512  /  …-513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429000" y="5541264"/>
            <a:ext cx="35661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538728" y="55412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Admins  /  Domain Users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269480" y="3154680"/>
            <a:ext cx="4343400" cy="3108960"/>
          </a:xfrm>
          <a:prstGeom prst="roundRect">
            <a:avLst>
              <a:gd name="adj" fmla="val 2647"/>
            </a:avLst>
          </a:prstGeom>
          <a:solidFill>
            <a:srgbClr val="FDF3E2"/>
          </a:solidFill>
          <a:ln/>
        </p:spPr>
      </p:sp>
      <p:sp>
        <p:nvSpPr>
          <p:cNvPr id="44" name="Shape 42"/>
          <p:cNvSpPr/>
          <p:nvPr/>
        </p:nvSpPr>
        <p:spPr>
          <a:xfrm>
            <a:off x="7498080" y="333756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45" name="Image 0" descr="/home/claude/fob-slides/icons_out/idcar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5639" y="3465119"/>
            <a:ext cx="311810" cy="311810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8229600" y="3401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 bu muhim?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7543800" y="3977640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Nom o'zgarsa, SID o'zgarmaydi — ruxsatlar saqlanadi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 o'chirilib, xuddi shu nom bilan qayta yaratilsa — yangi SID: eski ruxsatlar ishlamaydi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ACL da tanilmagan «S-1-5-21-…» — o'chirilgan hisobdan qolgan «yetim» yozuv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KIRISH TOKENI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— sub'ektning «shaxsiy guvohnomasi»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77440" cy="585216"/>
          </a:xfrm>
          <a:prstGeom prst="roundRect">
            <a:avLst>
              <a:gd name="adj" fmla="val 781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SID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1783080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78308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S-1-5-21-…-1013 (NUU\aziz)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2377440" cy="585216"/>
          </a:xfrm>
          <a:prstGeom prst="roundRect">
            <a:avLst>
              <a:gd name="adj" fmla="val 781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441448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 SID'lari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71800" y="2441448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44144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Users, Buxgalteriya, Authenticated Users…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2377440" cy="585216"/>
          </a:xfrm>
          <a:prstGeom prst="roundRect">
            <a:avLst>
              <a:gd name="adj" fmla="val 781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99816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71800" y="3099816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EEF2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08960" y="309981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SeShutdownPrivilege, SeBackupPrivilege, SeDebugPrivilege…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2377440" cy="585216"/>
          </a:xfrm>
          <a:prstGeom prst="roundRect">
            <a:avLst>
              <a:gd name="adj" fmla="val 781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75818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Yaxlitlik darajasi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71800" y="3758184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375818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/ High / System (M11 dagi MIC)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2377440" cy="585216"/>
          </a:xfrm>
          <a:prstGeom prst="roundRect">
            <a:avLst>
              <a:gd name="adj" fmla="val 781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41655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Sessiya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71800" y="4416552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108960" y="441655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Logon ID, token turi, manba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95160" y="1783080"/>
            <a:ext cx="4617720" cy="3200400"/>
          </a:xfrm>
          <a:prstGeom prst="roundRect">
            <a:avLst>
              <a:gd name="adj" fmla="val 2571"/>
            </a:avLst>
          </a:prstGeom>
          <a:solidFill>
            <a:srgbClr val="EEF2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UAC: ma'murda ikki token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23760" y="2377440"/>
            <a:ext cx="2011680" cy="24231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Filtrlangan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2788920"/>
            <a:ext cx="192024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daraja; Administrators — faqat «deny-only»; xavfli imtiyozlar olib tashlangan. Kundalik ish shu bilan.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418320" y="2377440"/>
            <a:ext cx="2011680" cy="242316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B5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To'liq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2788920"/>
            <a:ext cx="192024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daraja; barcha imtiyozlar. Faqat «Run as administrator» va UAC tasdig'idan keyin.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DF3E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1663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kirish paytida bir marta yaratiladi. Guruhga qo'shilgandan keyin foydalanuvchi qayta kirmaguncha yangi guruh tokenda yo'q — muhokamadagi 1-savolning javobi.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NTFS ruxsatlari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Deskriptor · DACL/ACE · Meros · Tekshiruv tartibi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XAVFSIZLIK DESKRIPTORI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Obyektda nima saqlanadi: egasi, DACL, SACL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754880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 (Owner)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DACL ni doim o'zgartira oladi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754880" cy="640080"/>
          </a:xfrm>
          <a:prstGeom prst="roundRect">
            <a:avLst>
              <a:gd name="adj" fmla="val 12857"/>
            </a:avLst>
          </a:prstGeom>
          <a:solidFill>
            <a:srgbClr val="2A37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POSIX mosligi uchun; deyarli ishlatilmaydi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754880" cy="640080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Kimga nima ruxsat / rad — ACE ro'yxati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4754880" cy="640080"/>
          </a:xfrm>
          <a:prstGeom prst="roundRect">
            <a:avLst>
              <a:gd name="adj" fmla="val 12857"/>
            </a:avLst>
          </a:prstGeom>
          <a:solidFill>
            <a:srgbClr val="3D4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SACL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977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audit qilinadi (4663 hodisa)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1783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ACE (ruxsat yozuvi) tuzilishi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77840" y="2286000"/>
            <a:ext cx="1444752" cy="1463040"/>
          </a:xfrm>
          <a:prstGeom prst="roundRect">
            <a:avLst>
              <a:gd name="adj" fmla="val 5696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77840" y="2377440"/>
            <a:ext cx="144475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834640"/>
            <a:ext cx="135331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/ Deny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95744" y="2286000"/>
            <a:ext cx="1444752" cy="1463040"/>
          </a:xfrm>
          <a:prstGeom prst="roundRect">
            <a:avLst>
              <a:gd name="adj" fmla="val 5696"/>
            </a:avLst>
          </a:prstGeom>
          <a:solidFill>
            <a:srgbClr val="EEF2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95744" y="2377440"/>
            <a:ext cx="144475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Bayroqlar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41464" y="2834640"/>
            <a:ext cx="135331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meros: OI, CI, IO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13648" y="2286000"/>
            <a:ext cx="1444752" cy="1463040"/>
          </a:xfrm>
          <a:prstGeom prst="roundRect">
            <a:avLst>
              <a:gd name="adj" fmla="val 5696"/>
            </a:avLst>
          </a:prstGeom>
          <a:solidFill>
            <a:srgbClr val="EEF2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13648" y="2377440"/>
            <a:ext cx="144475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niqobi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659368" y="2834640"/>
            <a:ext cx="135331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0x1301bf = Modify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131552" y="2286000"/>
            <a:ext cx="1444752" cy="1463040"/>
          </a:xfrm>
          <a:prstGeom prst="roundRect">
            <a:avLst>
              <a:gd name="adj" fmla="val 5696"/>
            </a:avLst>
          </a:prstGeom>
          <a:solidFill>
            <a:srgbClr val="EEF2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131552" y="2377440"/>
            <a:ext cx="144475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177272" y="2834640"/>
            <a:ext cx="135331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kimga tegishli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204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0292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SDDL — deskriptorning matn ko'rinishi: (Get-Acl C:\Hisobot).Sddl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O:BA  D:PAI (A;OICI;FA;;;SY) (A;OICI;FA;;;BA) (A;OICI;0x1301bf;;;S-1-5-21-…-1108)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O:BA — egasi Administrators;  D:PAI — DACL, meros uzilgan (P), avtomeros (AI)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(A;OICI;FA;;;SY) — Allow, fayl+papkalarga meros, Full Access, SYSTEM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(A;OICI;0x1301bf;;;S-1-5-21-…-1108) — Allow, Modify, «Buxgalteriya» guruhi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TEKSHIRUV ALGORITMI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ACE'lar tartib bilan tekshiriladi: kim ustun?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9E3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12848"/>
            <a:ext cx="2514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Aniq Deny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 obyektning o'zida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90672" y="2441448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783080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1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212848"/>
            <a:ext cx="2514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Aniq Allow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 obyektning o'zida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25312" y="2441448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783080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B867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12848"/>
            <a:ext cx="2514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Meros Deny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ota papkadan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59952" y="2441448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1783080"/>
            <a:ext cx="2514600" cy="1325880"/>
          </a:xfrm>
          <a:prstGeom prst="roundRect">
            <a:avLst>
              <a:gd name="adj" fmla="val 6207"/>
            </a:avLst>
          </a:prstGeom>
          <a:solidFill>
            <a:srgbClr val="4F8F6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5256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212848"/>
            <a:ext cx="2514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Meros Allow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ota papkadan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5486400" cy="2971800"/>
          </a:xfrm>
          <a:prstGeom prst="roundRect">
            <a:avLst>
              <a:gd name="adj" fmla="val 2769"/>
            </a:avLst>
          </a:prstGeom>
          <a:solidFill>
            <a:srgbClr val="EEF2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Algoritm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38404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ACE'lar yuqoridagi kanonik tartibda ko'rib chiqiladi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Deny ACE so'ralgan bitta huquqqa ham mos kelsa → darhol rad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ACE'lar huquqlarni to'playdi; hammasi to'plansa → ruxsat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Ro'yxat tugasa-yu, huquq to'planmasa → rad (standart rad)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5394960" cy="2971800"/>
          </a:xfrm>
          <a:prstGeom prst="roundRect">
            <a:avLst>
              <a:gd name="adj" fmla="val 2769"/>
            </a:avLst>
          </a:prstGeom>
          <a:solidFill>
            <a:srgbClr val="FDF3E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Tuzoqlar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8404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Aniq Allow meros Deny dan ustun (2 &gt; 3)!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 DACL (DACL umuman yo'q) → hammaga to'liq ruxsat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Bo'sh DACL (ACE yo'q) → hech kimga ruxsat yo'q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Deny «Everyone» yoki «Domain Users» ga — ma'murlarni ham to'sadi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NTFS RUXSATLARI VA MEROS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ruxsatlar, meros bayroqlari va icacls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34640" y="178308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34640" y="1783080"/>
            <a:ext cx="3977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qila oladi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2951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Control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295144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44368" y="229514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Hammasi + ruxsatni o'zgartirish, egalik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8254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825496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4368" y="28254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O'qish, yozish, o'chirish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55848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3558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&amp; Execute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3355848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44368" y="3355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O'qish va dasturni ishga tushirish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3886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Folder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3886200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44368" y="38862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Papka ichini ko'rish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416552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4165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834640" y="4416552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944368" y="44165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 mazmuni va atributlari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946904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494690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834640" y="4946904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44368" y="494690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yaratish, yozish (o'chirmasdan)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86600" y="1783080"/>
            <a:ext cx="4526280" cy="2011680"/>
          </a:xfrm>
          <a:prstGeom prst="roundRect">
            <a:avLst>
              <a:gd name="adj" fmla="val 4091"/>
            </a:avLst>
          </a:prstGeom>
          <a:solidFill>
            <a:srgbClr val="EEF2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69480" y="1847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Meros bayroqlari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22860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(OI)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fayllarga o'tadi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0" y="26517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(CI)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2651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ichki papkalarga o'tadi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(IO)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183880" y="3017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merosga, o'ziga emas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3383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ACE merosdan kelgan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086600" y="3931920"/>
            <a:ext cx="4526280" cy="1783080"/>
          </a:xfrm>
          <a:prstGeom prst="roundRect">
            <a:avLst>
              <a:gd name="adj" fmla="val 4615"/>
            </a:avLst>
          </a:prstGeom>
          <a:solidFill>
            <a:srgbClr val="16204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315200" y="4114800"/>
            <a:ext cx="4069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icacls C:\Hisobot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NUU\Buxgalteriya:(OI)(CI)(M)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BUILTIN\Administrators:(I)(OI)(CI)(F)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 AUTHORITY\SYSTEM:(I)(OI)(CI)(F)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BUILTIN\Users:(I)(OI)(CI)(RX)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7607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FDF3E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7240" y="576072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Tarmoq orqali: samarali ruxsat = min(share ruxsati, NTFS ruxsati). Lokal kirishda share qatlami ishlamaydi.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7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Samarali ruxsatni hisoblang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Aziz: «Buxgalteriya» (NTFS: Modify) va «Xodimlar» (NTFS: Read) a'zosi. Ulashma \\srv\hisobot: Everyone — Read.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 serverga konsoldan (lokal) kirib, faylni tahrirlaydi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Natija?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 \\srv\hisobot orqali (tarmoqdan) faylni tahrirlaydi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Natija?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Faylning o'zida «Xodimlar» ga aniq Deny Write qo'shildi (lokal)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Natija?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Deny Write ota papkadan meros; faylda «Buxgalteriya» ga aniq Allow Modify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Natija?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Directory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AGDLP · Obyekt ruxsatlari · Delegatsiya · Darajalar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GURUH STRATEGIYASI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AGDLP: RBAC ning Active Directory'dagi retsepti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37944"/>
            <a:ext cx="25146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414016"/>
            <a:ext cx="2368296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Accounts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aziz, olim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90672" y="246888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78308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837944"/>
            <a:ext cx="25146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414016"/>
            <a:ext cx="2368296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guruh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G_Buxgalterlar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25312" y="246888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78308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3D4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837944"/>
            <a:ext cx="25146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DL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2414016"/>
            <a:ext cx="2368296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Local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DL_Hisobot_M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59952" y="246888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178308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D993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1837944"/>
            <a:ext cx="25146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25712" y="2414016"/>
            <a:ext cx="2368296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Permission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\\srv\hisobot: Modify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20440"/>
            <a:ext cx="20574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Doira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51760" y="3520440"/>
            <a:ext cx="37947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51760" y="3520440"/>
            <a:ext cx="3794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Kimlarni o'z ichiga oladi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3520440"/>
            <a:ext cx="507492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3520440"/>
            <a:ext cx="5074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Qayerda ruxsat beriladi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005072"/>
            <a:ext cx="2057400" cy="420624"/>
          </a:xfrm>
          <a:prstGeom prst="roundRect">
            <a:avLst>
              <a:gd name="adj" fmla="val 8696"/>
            </a:avLst>
          </a:prstGeom>
          <a:solidFill>
            <a:srgbClr val="2A377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" y="40050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51760" y="4005072"/>
            <a:ext cx="37947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761488" y="400507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o'z domenidagi hisob/guruh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4005072"/>
            <a:ext cx="507492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01968" y="400507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Istalgan domen/o'rmonda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498848"/>
            <a:ext cx="2057400" cy="420624"/>
          </a:xfrm>
          <a:prstGeom prst="roundRect">
            <a:avLst>
              <a:gd name="adj" fmla="val 8696"/>
            </a:avLst>
          </a:prstGeom>
          <a:solidFill>
            <a:srgbClr val="2A377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44988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Local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651760" y="4498848"/>
            <a:ext cx="37947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61488" y="449884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Istalgan domendan hisob/guruh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92240" y="4498848"/>
            <a:ext cx="5074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01968" y="449884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o'z domenidagi resurslarda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992624"/>
            <a:ext cx="2057400" cy="420624"/>
          </a:xfrm>
          <a:prstGeom prst="roundRect">
            <a:avLst>
              <a:gd name="adj" fmla="val 8696"/>
            </a:avLst>
          </a:prstGeom>
          <a:solidFill>
            <a:srgbClr val="2A377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" y="49926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651760" y="4992624"/>
            <a:ext cx="37947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761488" y="49926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O'rmondagi istalgan hisob/guruh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92240" y="4992624"/>
            <a:ext cx="507492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01968" y="499262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Butun o'rmonda (GC da saqlanadi)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CADC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M13 bilan bog'lanish: G-guruh = biznes roli (kim), DL-guruh = ruxsatlar to'plami (nima). Foydalanuvchi hech qachon to'g'ridan-to'g'ri ACL ga yozilmaydi.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AD OBYEKT RUXSATLARI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 obyektlarining ham DACL'i bor: delegatsiya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Foydalanuvchi, guruh, OU, GPO — har biri xavfsizlik deskriptoriga ega. Delegatsiya: OU darajasida cheklangan huquq berish (eng kam imtiyoz).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583680" cy="2743200"/>
          </a:xfrm>
          <a:prstGeom prst="roundRect">
            <a:avLst>
              <a:gd name="adj" fmla="val 3000"/>
            </a:avLst>
          </a:prstGeom>
          <a:solidFill>
            <a:srgbClr val="1620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9748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Misol: Helpdesk faqat «Talabalar» OU sida parol tiklaydi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dsacls "OU=Talabalar,DC=nuu,DC=uz" /I:S ^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/G "NUU\Helpdesk:CA;Reset Password;user"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ruxsatlarini ko'rish (PowerShell)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Import-Module ActiveDirectory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(Get-Acl "AD:OU=Talabalar,DC=nuu,DC=uz").Access 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ft IdentityReference, ActiveDirectoryRights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2514600"/>
            <a:ext cx="4297680" cy="27432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651760"/>
            <a:ext cx="530352" cy="53035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9" name="Image 0" descr="/home/claude/fob-slides/icons_out/war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7409" y="2771089"/>
            <a:ext cx="291694" cy="29169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13816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qilinadigan huquqlar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329184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GenericAll — obyekt ustidan to'liq nazorat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WriteDacl / WriteOwner — ruxsatni o'zgartirish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 a'zoligini yozish (AddMember)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Replicating Directory Changes — faqat DC larga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Xavf: ortiqcha delegatsiya imtiyozni oshirish zanjirini yaratadi (masalan, Helpdesk → ma'mur guruhiga a'zo qo'shish). Himoyachilar buni PingCastle, BloodHound kabi audit vositalari bilan muntazam tekshiradi.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IMTIYOZLI KIRISH HIMOYASI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Darajalar modeli va himoya mexanizmlari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841248"/>
          </a:xfrm>
          <a:prstGeom prst="roundRect">
            <a:avLst>
              <a:gd name="adj" fmla="val 9783"/>
            </a:avLst>
          </a:prstGeom>
          <a:solidFill>
            <a:srgbClr val="9E3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37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Tier 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037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DC, AD, Entra Connect, PKI — «o'rmon kalitlari»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4480560" cy="841248"/>
          </a:xfrm>
          <a:prstGeom prst="roundRect">
            <a:avLst>
              <a:gd name="adj" fmla="val 9783"/>
            </a:avLst>
          </a:prstGeom>
          <a:solidFill>
            <a:srgbClr val="9A5B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798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Tier 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1638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Serverlar va ilovalar (HEMIS, pochta)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3703320"/>
            <a:ext cx="3840480" cy="841248"/>
          </a:xfrm>
          <a:prstGeom prst="roundRect">
            <a:avLst>
              <a:gd name="adj" fmla="val 978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7581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Tier 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123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 stansiyalari va foydalanuvchilar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120640" cy="1508760"/>
          </a:xfrm>
          <a:prstGeom prst="roundRect">
            <a:avLst>
              <a:gd name="adj" fmla="val 5455"/>
            </a:avLst>
          </a:prstGeom>
          <a:solidFill>
            <a:srgbClr val="FDF3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5488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qoida: yuqori daraja ma'muri pastki daraja qurilmasiga hech qachon kirmaydi — aks holda uning hisob ma'lumotlari o'sha qurilmada qoladi (M6 dagi xesh/chiptalar).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1783080"/>
            <a:ext cx="5669280" cy="1005840"/>
          </a:xfrm>
          <a:prstGeom prst="roundRect">
            <a:avLst>
              <a:gd name="adj" fmla="val 8182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18562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Protected Users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221992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NTLM yo'q, kesh yo'q, TGT 4 soat — imtiyozli hisoblar uchun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2907792"/>
            <a:ext cx="56692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9809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AdminSDHolder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346704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Himoyalangan guruhlar ACL'ini har soatda andoza bo'yicha tiklaydi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4032504"/>
            <a:ext cx="5669280" cy="1005840"/>
          </a:xfrm>
          <a:prstGeom prst="roundRect">
            <a:avLst>
              <a:gd name="adj" fmla="val 8182"/>
            </a:avLst>
          </a:prstGeom>
          <a:solidFill>
            <a:srgbClr val="EEF2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4105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LAPS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471416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kompyuterda noyob mahalliy ma'mur paroli, avtomatik almashadi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5157216"/>
            <a:ext cx="56692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52303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 + JIT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5596128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Alohida ma'mur ish stansiyasi; vaqtinchalik imtiyoz (PIM, M13)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 · 10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ruxsatlarni ko'ramiz va sozlaymiz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termina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768096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72237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Men kimman? SID, guruhlar, imtiyozlar, yaxlitlik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whoami /all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Papka yaratamiz va merosni uzamiz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mkdir C:\Hisobot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icacls C:\Hisobot /inheritance:r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icacls C:\Hisobot /grant "SYSTEM:(OI)(CI)F" "Administrators:(OI)(CI)F"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icacls C:\Hisobot /grant "Buxgalteriya:(OI)(CI)M"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Natija: SDDL va ACE ro'yxati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(Get-Acl C:\Hisobot).Sddl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(Get-Acl C:\Hisobot).Access | ft IdentityReference, FileSystemRights, IsInherited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Zaxira nusxa: ACL ni saqlash va tiklash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icacls C:\Hisobot /save acl.txt /t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12480" y="178308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9536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Kuzating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whoami /all da Mandatory Label: Medium — UAC filtrlangan token (6-slayd)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3273552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Sinab ko'ring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373075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Access yorlig'ida Aziz uchun natijani 11-slayd javoblari bilan solishtiring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12480" y="4764024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0" y="48554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522122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/inheritance:r dan oldin SYSTEM va Administrators ni qo'shmasak nima bo'ladi?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Audit: xavfni toping va tuzatishni taklif qiling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sear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 domenida auditda quyidagilar topildi. Har birida qaysi tamoyil buzilgan va qanday tuzatiladi?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\\srv\hemis ulashmasi va NTFS: Everyone — Full Control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Helpdesk guruhi «Domain Admins» guruhi obyektida GenericAll huquqiga ega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Barcha laboratoriya kompyuterlarida mahalliy Administrator paroli bir xil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Admins a'zosi talabalar laboratoriyasidagi kompyuterga kiradi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har murojaatni SRM tekshiradi: sub'ekt tokeni ↔ obyekt deskriptori.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 — o'zgarmas identifikator; token kirishda yaratiladi (guruh o'zgarsa — qayta kirish).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DACL tartibi: aniq Deny → aniq Allow → meros Deny → meros Allow; mos kelmasa — rad.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Tarmoqda samarali ruxsat = share va NTFS dan eng cheklovchisi.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AD: AGDLP (RBAC), OU delegatsiyasi, darajalar modeli, Protected Users va LAPS.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 ning qaysi qismi hisobni bildiradi?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S-1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5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Domen qismi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RID (oxirgi raqam)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biri ustun turadi?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Meros Deny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Aniq Allow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Meros Allow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Share Full Control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 DACL nimani anglatadi?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Hech kim kira olmaydi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Faqat egasi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Hammaga to'liq ruxsat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Faqat audit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617220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7220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AGDLP da ruxsat kimga beriladi?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Foydalanuvchiga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Global guruhga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Domain Local guruhga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Universal guruhga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vazifa, keyingi mavzu va manbalar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termina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79" y="20660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9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Tahlil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 kompyuteringizda whoami /all natijasini tahlil qiling: guruhlar, imtiyozlar, yaxlitlik darajasi.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fob-slides/icons_out/sitema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79" y="30536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8072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Loyihalash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154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uchun AGDLP sxemasini chizing: 3 rol, 4 papka, G va DL guruhlari, NTFS ruxsatlari.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913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fob-slides/icons_out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40411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rejasi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1422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 da har chorakda tekshiriladigan 5 ta ACL/imtiyoz nuqtasini va ularning Windows hodisa kodlarini yozing.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086600" y="1783080"/>
            <a:ext cx="4526280" cy="2816352"/>
          </a:xfrm>
          <a:prstGeom prst="roundRect">
            <a:avLst>
              <a:gd name="adj" fmla="val 2922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0866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 · M17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2377440"/>
            <a:ext cx="40690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Linux/UNIX'da foydalanishni boshqarish: rwx, ACL, sudo, SELinux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0" y="3657600"/>
            <a:ext cx="4069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Windows'dagi DACL va MIC ning Linux'dagi o'xshashi nima?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8920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S.K. Ganiev va boshq. Kiberxavfsizlik asoslari. — T., 2021 (operatsion tizim xavfsizligi).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P. Yosifovich, M. Russinovich va boshq. Windows Internals, 7-nashr, 1-qism, 7-bob «Security». 2017.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Microsoft Learn. Access Control: Security Descriptors, SID, Access Tokens, SDDL.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Microsoft Learn. Best Practices for Securing Active Directory; Enterprise access model.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Microsoft Learn. icacls, dsacls; Windows LAPS; Protected Users security group.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16-ma'ruza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16-ma'ruza. Windows va Active Directory'da foydalanishni boshqarish</dc:title>
  <dc:subject>PptxGenJS Presentation</dc:subject>
  <dc:creator>PptxGenJS</dc:creator>
  <cp:lastModifiedBy>PptxGenJS</cp:lastModifiedBy>
  <cp:revision>1</cp:revision>
  <dcterms:created xsi:type="dcterms:W3CDTF">2026-09-26T18:04:32Z</dcterms:created>
  <dcterms:modified xsi:type="dcterms:W3CDTF">2026-09-26T18:04:32Z</dcterms:modified>
</cp:coreProperties>
</file>