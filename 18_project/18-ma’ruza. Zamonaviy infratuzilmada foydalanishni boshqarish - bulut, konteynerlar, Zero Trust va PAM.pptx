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Kursning yakuniy ma'ruzasi. M16-M17 da operatsion tizimlarni ko'rdik. Bugun OT dan yuqoriga chiqamiz: ma'lumotlar bazasi, bulut, konteynerlar. Asosiy g'oya: yangi texnologiya — yangi sintaksis, lekin modellar o'sha-o'sha: DAC (GRANT), RBAC (rollar, Kubernetes Role), ABAC (shartlar), PEP/PDP (Zero Trust). Oxirida butun kursni bitta rasmga yig'amiz. A18 amaliyoti: DB satr xavfsizligi va Kubernetes RBAC.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Yo'q — baza uchun hamma so'rov 'hemis_app' dan keladi. 2) 'hemis_app' ko'ra oladigan hamma narsani — odatda butun baza; agar hisob db_owner bo'lsa, o'zgartirish ham. 3) Chuqur himoya (defense in depth): ilova tekshiradi (PEP), baza ham tekshiradi — satr darajasidagi xavfsizlik (RLS) va eng kam imtiyozli hisob. Bu M1 dagi murojaat monitori talabiga qaytadi: tekshiruvni chetlab o'tib bo'lmasligi kerak.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standartidagi GRANT/REVOKE — M10 dagi DAC ning bazadagi shakli; WITH GRANT OPTION — huquqni tarqatish huquqi, HRU va Take-Grant modellaridagi 'grant' huquqining aynan o'zi. REVOKE ... CASCADE — shu huquq orqali boshqalarga berilgan huquqlarni ham qaytarib oladi. SQL Server'da DENY (standartda yo'q) — Windows DACL dagi Deny kabi ustun. PostgreSQL'da DENY yo'q — faqat GRANT/REVOKE (Linux POSIX ACL kabi, M17). Windows autentifikatsiyasi afzalligi: parol bazada saqlanmaydi, Kerberos (M6), hisob AD da markaziy boshqariladi (M2 hayotiy sikl).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Row-Level Security (RLS) — satr darajasidagi xavfsizlik. Oddiy GRANT jadval yoki ustun darajasida ishlaydi; RLS esa satrlar bo'yicha filtr qo'yadi. Qayerda bor: SQL Server 2016+, Azure SQL, PostgreSQL 9.5+ (CREATE POLICY), Oracle VPD (Virtual Private Database). Muhim: RLS predikati — bu ABAC qoidasi: foydalanuvchi atributi (login, guruhi) va obyekt atributi (satrdagi Guruh ustuni) solishtiriladi. Dars boshidagi muhokamaga javob: RLS bilan hatto SQL in'eksiya bo'lsa ham, tajovuzkor faqat joriy foydalanuvchi ko'ra oladigan satrlarni ko'radi (agar foydalanuvchi konteksti to'g'ri uzatilsa).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Server RLS: predikat — SCHEMABINDING bilan inline jadval funksiyasi (1 qaytarsa — satr ko'rinadi). FILTER predikati o'qishni jim filtrlaydi; BLOCK predikati yozishni rad etadi (AFTER INSERT, AFTER UPDATE, BEFORE UPDATE, BEFORE DELETE). SESSION_CONTEXT — dars boshidagi 'bitta ilova hisobi' muammosining yechimi: ilova autentifikatsiyadan (M7-M8, SSO) keyin foydalanuvchi nomini ulanish kontekstiga yozadi, @read_only=1 bilan keyin o'zgartirib bo'lmaydi. Windows autentifikatsiyasi ishlatilsa, g.Login = USER_NAME() yoki IS_MEMBER() yetarli. PostgreSQL ekvivalenti: ALTER TABLE baholar ENABLE ROW LEVEL SECURITY; CREATE POLICY ... USING (guruh IN (...current_user...)). Ogohlantirish: ma'murlar (sysadmin, db_owner) va jadval egasi odatda RLS ni chetlab o'tadi — ilova hisobi ular bo'lmasligi kerak. A18 da talabalar shu siyosatni yaratib sinaydi.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a) Ustun darajasida DENY SELECT (PasportRaqami) yoki Dynamic Data Masking; yoki pasport ustunisiz VIEW. b) RLS: FILTER (o'qish) + BLOCK (yozish) predikatlari. c) Faqat GRANT SELECT (yoki db_datareader rolidagi a'zolik), yozish huquqlari yo'q — eng kam imtiyoz. d) SESSION_CONTEXT (read_only) + RLS predikati kontekstdan foydalanadi. Muhokama: DDM xavfsizlik chegarasi emas — ad-hoc so'rovlar bilan niqobni qisman taxmin qilish mumkin, shuning uchun maxfiy ustunlar uchun DENY/VIEW ishonchliroq.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Azure RBAC — Azure Resource Manager darajasidagi RBAC (M13). Rol tayinlash uch qismdan iborat: security principal, role definition, scope. Doira ierarxiyasi: Management group &gt; Subscription &gt; Resource group &gt; Resource; meros pastga tarqaladi, shuning uchun obuna darajasida Owner berish — butun obunadagi hamma narsaga to'liq huquq. Muhim farq (talabalar ko'p chalkashtiradi): Entra ID rollari (Global Administrator, User Administrator — M13) katalogni boshqaradi; Azure RBAC rollari (Owner, Contributor, Reader) — bulut resurslarini. Azure RBAC da deny assignments ham bor (asosan boshqariladigan ilovalar uchun) va ABAC shartlari (Storage uchun: masalan, faqat ma'lum teg bilan blob o'qish) — M15 bilan bog'lanish.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Misol AWS IAM siyosat hujjati (JSON) — bulut siyosatlarining eng tanilgan formati; boshqa bulutlar ham shunga o'xshash tuzilma ishlatadi. Effect/Action/Resource/Condition — sub'ekt siyosat biriktirilgan hisobning o'zi (identity-based policy). Baholash mantig'i: explicit deny &gt; explicit allow &gt; implicit deny. Bu kurs davomidagi deyarli barcha modellarning umumiy xulosasi: standart rad (M1), Deny ustun (M16), atribut shartlari (M15). Misoldagi IP diapazoni 203.0.113.0/24 — hujjatlar uchun ajratilgan namuna manzil (RFC 5737). Amaliyotda eng ko'p xato: Action: '*' va Resource: '*' — 'Everyone: Full Control' ning bulutdagi ko'rinishi.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Kubernetes RBAC — NIST RBAC ning (M13) toza amalga oshirilishi: Role = ruxsatlar (verbs × resources), RoleBinding = tayinlash. Namespace — doira (Azure scope kabi). Kubernetes o'zi foydalanuvchilarni saqlamaydi: odamlar tashqi IdP orqali (AKS da Entra ID, OIDC — M8) autentifikatsiya qilinadi; ilovalar ServiceAccount orqali (qisqa muddatli, auditoriyaga bog'langan tokenlar). RBAC dan tashqari himoya qatlamlari: Admission control — OPA Gatekeeper yoki Kyverno (M15 policy-as-code), Pod Security Standards (privileged konteynerlar va CAP_SYS_ADMIN ni taqiqlash — M17), NetworkPolicy. Eng xavfli xato: ilovaga cluster-admin berish.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Tayyorgarlik: Windows'da Docker Desktop → Settings → Kubernetes → Enable; yoki kind (Kubernetes in Docker). kubectl auth can-i — himoyachi uchun asosiy tekshiruv vositasi: --as bilan boshqa sub'ekt nomidan ruxsatni tekshirish (impersonation; buning uchun o'zingizda impersonate huquqi bo'lishi kerak — lokal klaster ma'murida bor). Savol javobi: ClusterRoleBinding faqat ClusterRole ga bog'lanadi va butun klaster bo'ylab ishlaydi — 'hisobot' barcha namespace'lardagi podlarni ko'radi; eng kam imtiyoz buziladi. A18 da talabalar shu tartibda Role yaratib, kubectl auth can-i bilan matritsa tuzadi.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a) Standart rad buzilgan — anonim kirishni o'chirish (hisob darajasida 'Allow Blob anonymous access' ni o'chirish), Entra ID orqali RBAC (Storage Blob Data Reader), shaxsiy ma'lumotlar uchun tarmoq cheklovi. b) Eng kam imtiyoz va doira — faqat kerakli resurs guruhida Contributor yoki maxsus rol; parol o'rniga workload identity federation. c) Ilova buzilsa, butun klaster qo'lga o'tadi — namespace ichida minimal Role; Gatekeeper/Kyverno bilan cluster-admin bog'lashni taqiqlash. d) Uzoq muddatli maxfiy kalit — o'g'irlanish xavfi (M9 dagi token o'g'irlash holatlari); qisqa muddatli tokenlar, SSO orqali CLI kirish, managed identity, kalitlarni muntazam almashtirish va inventarizatsiya.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Trust — NIST SP 800-207 (2020). Asosiy g'oya: tarmoq ichida bo'lish ishonch belgisi emas (VPN ichida — xavfsiz degan 'perimetr' modeli rad etiladi). Arxitektura M15 dagi XACML bilan bir xil: PDP (Policy Engine + Policy Administrator) va PEP. Farqi — PDP signallarni uzluksiz oladi va qaror har bir so'rov/sessiya uchun qayta ko'riladi. Kurs bog'lanishi: Zero Trust yangi texnologiya emas, balki shu kursdagi barcha qismlarning birlashmasi — kuchli autentifikatsiya (M3-M5), federatsiya va tokenlar (M7-M9), ABAC (M15), eng kam imtiyoz (M1, M13). Microsoft'ning uch tamoyili: Verify explicitly, Use least privilege access, Assume breach.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PAM (Privileged Access Management) — imtiyozli hisoblarni boshqarish: vault (masalan, CyberArk, Delinea, ochiq manbali muqobillar; Windows LAPS — mahalliy ma'mur uchun oddiy variant, M16), sessiya yozuvi, JIT. JEA — Windows'ning o'rnatilgan 'eng kam imtiyoz' vositasi: PowerShell remoting sessiyasi faqat ruxsat etilgan buyruq va parametrlar bilan cheklanadi; RunAsVirtualAccount — buyruqlar vaqtinchalik virtual ma'mur hisobi nomidan bajariladi, foydalanuvchining o'zi ma'mur bo'lmaydi. M17 dagi sudo qoidasining Windows'dagi ekvivalenti. Eslatma: .psrc fayli modul papkasining RoleCapabilities katalogida bo'lishi kerak (masalan, C:\Program Files\WindowsPowerShell\Modules\NUU_JEA\RoleCapabilities\Helpdesk.psrc). JEA jurnallari (transcript) — hisobdorlik.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Kursni yakunlovchi slayd: 18 ma'ruza besh blokka yig'iladi. Pastki qator — kursning bitta savoli: foydalanishni boshqarish = identifikatsiya → autentifikatsiya → avtorizatsiya → audit (IAAA). Talabalarga taklif: har bir blokdan bittadan 'eng muhim' g'oyani aytishni so'rang. Yakuniy nazorat savollari shu besh blok bo'yicha tuzilgan. Asosiy xabar: texnologiyalar o'zgaradi (bugungi Kubernetes ertaga boshqa narsa bo'ladi), lekin modellar — DAC, MAC, RBAC, ABAC, PEP/PDP, eng kam imtiyoz — o'zgarmaydi. Ularni bilgan mutaxassis har qanday yangi tizimni tez tushunadi.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1-C, 2-B, 3-B, 4-C.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Atamalar: RLS — satr darajasidagi xavfsizlik; scope — doira; Zero Trust — nol ishonch (xalqaro atama saqlandi); PAM — imtiyozli kirishni boshqarish; JEA — yetarli darajadagi boshqaruv. A18 amaliyoti: SQL Server (yoki PostgreSQL) da RLS va Docker Desktop/kind da Kubernetes RBAC. Yakuniy loyiha kursning barcha bloklarini bitta tizim (HEMIS) misolida birlashtiradi.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023360"/>
            <a:ext cx="3291840" cy="32918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5" name="Image 0" descr="/home/claude/fob-slides/icons_out/cloud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902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FOB1506  ·  18-MA'RUZA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Zamonaviy infratuzilmada foydalanishni boshqarish: bulut, konteynerlar, Zero Trust va PAM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 satr xavfsizligi · bulut IAM · Kubernetes RBAC · Zero Trust · PAM · kurs yakuni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434840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soat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48840" y="4434840"/>
            <a:ext cx="26289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148840" y="4434840"/>
            <a:ext cx="26289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ma'ruzadan 18-si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60620" y="4434840"/>
            <a:ext cx="17145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60620" y="4434840"/>
            <a:ext cx="17145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Amaliy: A18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0" y="4434840"/>
            <a:ext cx="21717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0" y="4434840"/>
            <a:ext cx="21717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Yakuniy ma'ruza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Mirzo Ulug'bek nomidagi O'zbekiston Milliy universiteti  ·  Axborot xavfsizligi kafedrasi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XARITASI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ma'ruza qanday quriladi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476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Ma'lumotlar bazasi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231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GRANT/DENY, rollar, satr darajasidagi xavfsizlik (RLS)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182112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82112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34670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Bulut va konteynerlar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221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Azure RBAC, siyosat hujjatlari, Kubernetes RBAC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2735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~30 daq.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581144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81144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457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Trust va yakun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2122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NIST 800-207, PAM va JEA, kursni yig'ish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6725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0" y="1783080"/>
            <a:ext cx="2926080" cy="4032504"/>
          </a:xfrm>
          <a:prstGeom prst="roundRect">
            <a:avLst>
              <a:gd name="adj" fmla="val 2813"/>
            </a:avLst>
          </a:prstGeom>
          <a:solidFill>
            <a:srgbClr val="FDF3E2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0" y="2011680"/>
            <a:ext cx="566928" cy="566928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4" name="Image 0" descr="/home/claude/fob-slides/icons_out/bulb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8679" y="2139239"/>
            <a:ext cx="311810" cy="31181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96112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 nuqtalar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006840" y="31546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Muhokama: DB kimni taniydi?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qaysi mexanizm?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namoyish: kubectl auth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bulut auditi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Ma'lumotlar bazasi kimni taniydi?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 ilovasi SQL Server bazasiga bitta «hemis_app» hisobi bilan ulanadi. Barcha tekshiruvlar ilova kodida: «o'qituvchi faqat o'z guruhini ko'rsin».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20954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0" name="Image 1" descr="/home/claude/fob-slides/icons_out/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80" y="3367964"/>
            <a:ext cx="259232" cy="2592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0632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Baza qaysi o'qituvchi so'rov yuborayotganini biladimi?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1018520" y="30632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21538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5" name="Image 2" descr="/home/claude/fob-slides/icons_out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80" y="4373804"/>
            <a:ext cx="259232" cy="2592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06908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Ilovada SQL in'eksiya zaifligi topilsa, tajovuzkor nimalarni ko'radi?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1018520" y="40690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522122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0" name="Image 3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5379644"/>
            <a:ext cx="259232" cy="2592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50749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Nazorat qayerda bo'lishi kerak: ilovadami, bazadami yoki ikkalasidami?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11018520" y="50749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MA'LUMOTLAR BAZASIDA DAC VA RBAC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 Server'da GRANT, DENY, REVOKE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16204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 guruhi — parolsiz Windows autentifikatsiyasi (Kerberos, M6)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LOGIN [NUU\G_Dekanat] FROM WINDOWS;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USER  [NUU\G_Dekanat] FOR LOGIN [NUU\G_Dekanat];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Rol (M13) va unga ruxsat (M10)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ROLE dekanat;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ROLE dekanat ADD MEMBER [NUU\G_Dekanat];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dbo.Baholar TO dekanat;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  SELECT ON dbo.Talabalar(PasportRaqami) TO dekanat;  -- ustun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Huquqni boshqaga berish (M10: HRU, Take-Grant)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dbo.Baholar TO kafedra WITH GRANT OPTION;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SELECT ON dbo.Baholar FROM kafedra CASCADE;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80960" y="1783080"/>
            <a:ext cx="393192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0" y="1856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GRANT / DENY / REVOKE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240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Bazadagi DAC; DENY ustun (M16 dagi Deny kabi)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2916936"/>
            <a:ext cx="393192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 guruhlari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337413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AGDLP bazagacha davom etadi — xodim ketsa, AD da o'chiriladi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0" y="4050792"/>
            <a:ext cx="393192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0" y="4123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Ustun va ko'rinish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5079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Ustun ruxsatlari, VIEW va protseduralar orqali cheklash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80960" y="5184648"/>
            <a:ext cx="3931920" cy="1024128"/>
          </a:xfrm>
          <a:prstGeom prst="roundRect">
            <a:avLst>
              <a:gd name="adj" fmla="val 8036"/>
            </a:avLst>
          </a:prstGeom>
          <a:solidFill>
            <a:srgbClr val="FDF3E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0" y="5257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hisobi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564184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db_owner emas: faqat kerakli jadval va protseduralar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SATR DARAJASIDAGI XAVFSIZLIK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RLS: bir xil so'rov — har kimga o'z satrlari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dbo.Baholar (butun jadval)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700784" cy="38404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Talaba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1197864" cy="38404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86000" y="214884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1197864" cy="38404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Baho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700784" cy="384048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6060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0" y="2606040"/>
            <a:ext cx="1197864" cy="384048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86000" y="260604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20440" y="2606040"/>
            <a:ext cx="1197864" cy="384048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20440" y="260604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035808"/>
            <a:ext cx="170078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035808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3035808"/>
            <a:ext cx="119786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3035808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20440" y="3035808"/>
            <a:ext cx="119786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0440" y="3035808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465576"/>
            <a:ext cx="1700784" cy="384048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465576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Gulnora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286000" y="3465576"/>
            <a:ext cx="1197864" cy="384048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286000" y="3465576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520440" y="3465576"/>
            <a:ext cx="1197864" cy="384048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520440" y="3465576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3895344"/>
            <a:ext cx="170078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389534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Sardor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286000" y="3895344"/>
            <a:ext cx="119786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286000" y="3895344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520440" y="3895344"/>
            <a:ext cx="119786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20440" y="3895344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325112"/>
            <a:ext cx="1700784" cy="384048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8640" y="432511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Dilnoza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286000" y="4325112"/>
            <a:ext cx="1197864" cy="384048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286000" y="4325112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303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520440" y="4325112"/>
            <a:ext cx="1197864" cy="384048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520440" y="4325112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892040" y="2834640"/>
            <a:ext cx="914400" cy="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892040" y="3931920"/>
            <a:ext cx="914400" cy="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475488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RLS filtri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035040" y="17373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Karimov (301-guruh o'qituvchisi)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035040" y="2148840"/>
            <a:ext cx="2066544" cy="38404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035040" y="214884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Talaba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138160" y="2148840"/>
            <a:ext cx="1426464" cy="38404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138160" y="21488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601200" y="2148840"/>
            <a:ext cx="1426464" cy="38404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601200" y="21488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Baho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035040" y="2606040"/>
            <a:ext cx="2066544" cy="384048"/>
          </a:xfrm>
          <a:prstGeom prst="roundRect">
            <a:avLst>
              <a:gd name="adj" fmla="val 7143"/>
            </a:avLst>
          </a:prstGeom>
          <a:solidFill>
            <a:srgbClr val="E8F3EC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035040" y="260604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138160" y="2606040"/>
            <a:ext cx="1426464" cy="384048"/>
          </a:xfrm>
          <a:prstGeom prst="roundRect">
            <a:avLst>
              <a:gd name="adj" fmla="val 7143"/>
            </a:avLst>
          </a:prstGeom>
          <a:solidFill>
            <a:srgbClr val="E8F3EC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138160" y="26060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301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601200" y="2606040"/>
            <a:ext cx="1426464" cy="384048"/>
          </a:xfrm>
          <a:prstGeom prst="roundRect">
            <a:avLst>
              <a:gd name="adj" fmla="val 7143"/>
            </a:avLst>
          </a:prstGeom>
          <a:solidFill>
            <a:srgbClr val="E8F3EC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601200" y="26060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035040" y="3035808"/>
            <a:ext cx="2066544" cy="384048"/>
          </a:xfrm>
          <a:prstGeom prst="roundRect">
            <a:avLst>
              <a:gd name="adj" fmla="val 7143"/>
            </a:avLst>
          </a:prstGeom>
          <a:solidFill>
            <a:srgbClr val="E8F3EC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035040" y="303580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138160" y="3035808"/>
            <a:ext cx="1426464" cy="384048"/>
          </a:xfrm>
          <a:prstGeom prst="roundRect">
            <a:avLst>
              <a:gd name="adj" fmla="val 7143"/>
            </a:avLst>
          </a:prstGeom>
          <a:solidFill>
            <a:srgbClr val="E8F3EC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138160" y="30358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301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601200" y="3035808"/>
            <a:ext cx="1426464" cy="384048"/>
          </a:xfrm>
          <a:prstGeom prst="roundRect">
            <a:avLst>
              <a:gd name="adj" fmla="val 7143"/>
            </a:avLst>
          </a:prstGeom>
          <a:solidFill>
            <a:srgbClr val="E8F3EC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601200" y="30358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6035040" y="3566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Rahimova (302-guruh o'qituvchisi)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035040" y="3977640"/>
            <a:ext cx="2066544" cy="38404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035040" y="397764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Talaba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8138160" y="3977640"/>
            <a:ext cx="1426464" cy="38404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8138160" y="39776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9601200" y="3977640"/>
            <a:ext cx="1426464" cy="38404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9601200" y="39776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Baho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6035040" y="4434840"/>
            <a:ext cx="2066544" cy="384048"/>
          </a:xfrm>
          <a:prstGeom prst="roundRect">
            <a:avLst>
              <a:gd name="adj" fmla="val 7143"/>
            </a:avLst>
          </a:prstGeom>
          <a:solidFill>
            <a:srgbClr val="E8F3EC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035040" y="443484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Gulnora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8138160" y="4434840"/>
            <a:ext cx="1426464" cy="384048"/>
          </a:xfrm>
          <a:prstGeom prst="roundRect">
            <a:avLst>
              <a:gd name="adj" fmla="val 7143"/>
            </a:avLst>
          </a:prstGeom>
          <a:solidFill>
            <a:srgbClr val="E8F3EC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138160" y="44348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302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9601200" y="4434840"/>
            <a:ext cx="1426464" cy="384048"/>
          </a:xfrm>
          <a:prstGeom prst="roundRect">
            <a:avLst>
              <a:gd name="adj" fmla="val 7143"/>
            </a:avLst>
          </a:prstGeom>
          <a:solidFill>
            <a:srgbClr val="E8F3EC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601200" y="44348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6035040" y="4864608"/>
            <a:ext cx="2066544" cy="384048"/>
          </a:xfrm>
          <a:prstGeom prst="roundRect">
            <a:avLst>
              <a:gd name="adj" fmla="val 7143"/>
            </a:avLst>
          </a:prstGeom>
          <a:solidFill>
            <a:srgbClr val="E8F3EC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035040" y="486460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Sardor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8138160" y="4864608"/>
            <a:ext cx="1426464" cy="384048"/>
          </a:xfrm>
          <a:prstGeom prst="roundRect">
            <a:avLst>
              <a:gd name="adj" fmla="val 7143"/>
            </a:avLst>
          </a:prstGeom>
          <a:solidFill>
            <a:srgbClr val="E8F3EC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138160" y="48646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302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9601200" y="4864608"/>
            <a:ext cx="1426464" cy="384048"/>
          </a:xfrm>
          <a:prstGeom prst="roundRect">
            <a:avLst>
              <a:gd name="adj" fmla="val 7143"/>
            </a:avLst>
          </a:prstGeom>
          <a:solidFill>
            <a:srgbClr val="E8F3EC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601200" y="48646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Ikkalasi ham SELECT * FROM dbo.Baholar yuboradi. Filtr bazaning ichida, har bir so'rovga avtomatik qo'shiladi — ilovadagi xato yoki SQL in'eksiya uni chetlab o'ta olmaydi. Bu M15 dagi ABAC qoidasining (obyekt.guruh ∈ sub'ekt.guruhlari) bazadagi ifodasi.</a:t>
            </a:r>
            <a:endParaRPr lang="en-US" sz="1500" dirty="0"/>
          </a:p>
        </p:txBody>
      </p:sp>
      <p:sp>
        <p:nvSpPr>
          <p:cNvPr id="84" name="Text 8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RLS AMALDA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 Server'da xavfsizlik siyosati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406640" cy="4480560"/>
          </a:xfrm>
          <a:prstGeom prst="roundRect">
            <a:avLst>
              <a:gd name="adj" fmla="val 1837"/>
            </a:avLst>
          </a:prstGeom>
          <a:solidFill>
            <a:srgbClr val="16204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Predikat funksiyasi: satr foydalanuvchiga tegishlimi?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FUNCTION sec.fn_guruh(@Guruh AS nvarchar(10))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RETURNS TABLE WITH SCHEMABINDING AS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SELECT 1 AS ok FROM dbo.OqituvchiGuruh 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WHERE g.Guruh = @Guruh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AND g.Login = CAST(SESSION_CONTEXT(N'login') AS nvarchar(100));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Siyosat: o'qishda filtr, yozishda blok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SECURITY POLICY sec.BahoSiyosati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FILTER PREDICATE sec.fn_guruh(Guruh) ON dbo.Baholar,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BLOCK  PREDICATE sec.fn_guruh(Guruh) ON dbo.Baholar AFTER INSERT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(STATE = ON);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-- 3. Ilova har ulanishda foydalanuvchini bildiradi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sp_set_session_context N'login', N'karimov', @read_only = 1;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38160" y="1783080"/>
            <a:ext cx="347472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0" y="18379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2194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SELECT, UPDATE, DELETE da begona satrlar ko'rinmaydi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2916936"/>
            <a:ext cx="347472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2971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3328416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Begona guruhga baho yozish (INSERT) rad etiladi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4050792"/>
            <a:ext cx="347472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41056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SESSION_CONTEXT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4462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Umumiy ilova hisobida ham haqiqiy foydalanuvchini bildiradi (read_only)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5184648"/>
            <a:ext cx="3474720" cy="1024128"/>
          </a:xfrm>
          <a:prstGeom prst="roundRect">
            <a:avLst>
              <a:gd name="adj" fmla="val 8036"/>
            </a:avLst>
          </a:prstGeom>
          <a:solidFill>
            <a:srgbClr val="FDF3E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52395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Qo'shimcha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559612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Data Masking — pasport raqamini yashirish; Always Encrypted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mexanizm bilan hal qilasiz?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Tanlang: GRANT/DENY, ustun ruxsati yoki maskalash, VIEW, RLS, SESSION_CONTEXT. Bir nechtasi ham bo'lishi mumkin.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06040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06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06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Dekanat baholarni ko'radi, lekin talabaning pasport raqamini ko'rmasligi kerak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012680" y="2724912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12680" y="272491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Mexanizm?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45643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456432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456432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5643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O'qituvchi faqat o'z guruhlari baholarini ko'radi va kiritadi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3575304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12680" y="357530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Mexanizm?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306824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306824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06824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Hisobot tizimi faqat o'qiydi, hech narsani o'zgartira olmaydi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012680" y="442569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12680" y="442569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Mexanizm?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51572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157216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157216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15721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bitta hisob bilan ulanadi, lekin filtr haqiqiy foydalanuvchiga qarab ishlashi kerak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0012680" y="5276088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012680" y="527608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Mexanizm?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Bulut va konteynerlar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Azure RBAC · Siyosat hujjatlari · Kubernetes RBAC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BULUT IAM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Azure RBAC: kim + nima + qayerda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37944"/>
            <a:ext cx="2606040" cy="70225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456078"/>
            <a:ext cx="2459736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Xavfsizlik sub'ekti: foydalanuvchi, guruh, xizmat, managed identity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1945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29000" y="178308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3D4A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837944"/>
            <a:ext cx="2606040" cy="70225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456078"/>
            <a:ext cx="2459736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ta'rifi: Reader, Contributor, Owner, Storage Blob Data Reader…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1945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2A37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837944"/>
            <a:ext cx="2606040" cy="70225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Qayerda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456078"/>
            <a:ext cx="2459736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Doira (scope): boshqaruv guruhi, obuna, resurs guruhi, resurs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1945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418320" y="1783080"/>
            <a:ext cx="2194560" cy="1463040"/>
          </a:xfrm>
          <a:prstGeom prst="roundRect">
            <a:avLst>
              <a:gd name="adj" fmla="val 5625"/>
            </a:avLst>
          </a:prstGeom>
          <a:solidFill>
            <a:srgbClr val="D993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0" y="1837944"/>
            <a:ext cx="2194560" cy="70225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tayinlash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491472" y="2456078"/>
            <a:ext cx="2048256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 assignment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2514600" cy="548640"/>
          </a:xfrm>
          <a:prstGeom prst="roundRect">
            <a:avLst>
              <a:gd name="adj" fmla="val 15000"/>
            </a:avLst>
          </a:prstGeom>
          <a:solidFill>
            <a:srgbClr val="EEF2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20440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Boshqaruv guruhi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090672" y="3794760"/>
            <a:ext cx="265176" cy="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83280" y="3520440"/>
            <a:ext cx="2514600" cy="548640"/>
          </a:xfrm>
          <a:prstGeom prst="roundRect">
            <a:avLst>
              <a:gd name="adj" fmla="val 15000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383280" y="3520440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Obuna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25312" y="3794760"/>
            <a:ext cx="265176" cy="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17920" y="3520440"/>
            <a:ext cx="2514600" cy="548640"/>
          </a:xfrm>
          <a:prstGeom prst="roundRect">
            <a:avLst>
              <a:gd name="adj" fmla="val 15000"/>
            </a:avLst>
          </a:prstGeom>
          <a:solidFill>
            <a:srgbClr val="EEF2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3520440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Resurs guruhi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759952" y="3794760"/>
            <a:ext cx="265176" cy="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52560" y="3520440"/>
            <a:ext cx="2514600" cy="548640"/>
          </a:xfrm>
          <a:prstGeom prst="roundRect">
            <a:avLst>
              <a:gd name="adj" fmla="val 15000"/>
            </a:avLst>
          </a:prstGeom>
          <a:solidFill>
            <a:srgbClr val="EEF2F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052560" y="3520440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Resurs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11480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Doira ierarxiyasi: yuqorida berilgan rol pastga meros bo'ladi (M16 dagi NTFS merosi kabi)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457200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16204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475488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az role assignment create --assignee aziz@nuu.uz `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--role "Storage Blob Data Reader" `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--scope /subscriptions/&lt;id&gt;/resourceGroups/hemis-rg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Entra rollari (M13) — katalogni boshqaradi; Azure RBAC — resurslarni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SIYOSAT HUJJATLARI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Siyosat: Effect, Action, Resource, Condition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3017520"/>
          </a:xfrm>
          <a:prstGeom prst="roundRect">
            <a:avLst>
              <a:gd name="adj" fmla="val 2727"/>
            </a:avLst>
          </a:prstGeom>
          <a:solidFill>
            <a:srgbClr val="16204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5577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"Effect":   "Allow",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  ["s3:GetObject"],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"Resource": "arn:aws:s3:::nuu-hisobot/*",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"Condition":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"IpAddress": { "aws:SourceIp": "203.0.113.0/24" },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"Bool": { "aws:MultiFactorAuthPresent": "true"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12280" y="1783080"/>
            <a:ext cx="640080" cy="914400"/>
          </a:xfrm>
          <a:prstGeom prst="roundRect">
            <a:avLst>
              <a:gd name="adj" fmla="val 12857"/>
            </a:avLst>
          </a:prstGeom>
          <a:solidFill>
            <a:srgbClr val="9E3B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12280" y="1783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98080" y="1783080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EE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0" y="18562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Aniq Deny bormi?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240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rad (hamma narsadan ustun)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12280" y="2816352"/>
            <a:ext cx="640080" cy="914400"/>
          </a:xfrm>
          <a:prstGeom prst="roundRect">
            <a:avLst>
              <a:gd name="adj" fmla="val 12857"/>
            </a:avLst>
          </a:prstGeom>
          <a:solidFill>
            <a:srgbClr val="1F6B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81635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98080" y="2816352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28895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 Allow bormi?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273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ruxsat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12280" y="3849624"/>
            <a:ext cx="640080" cy="914400"/>
          </a:xfrm>
          <a:prstGeom prst="roundRect">
            <a:avLst>
              <a:gd name="adj" fmla="val 12857"/>
            </a:avLst>
          </a:prstGeom>
          <a:solidFill>
            <a:srgbClr val="2A37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12280" y="3849624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98080" y="3849624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EEF2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0" y="3922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Hech narsa mos emas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43068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yashirin rad (standart)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0292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Tanish g'oyalar: tartib — M16 dagi DACL (Deny ustun, standart rad); Condition — M15 dagi ABAC (tarmoq va MFA atributlari); markaziy baholash — XACML PDP. Azure'da xuddi shunday: Azure Policy va rol shartlari.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KUBERNETES RBAC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Kubernetes: Role va RoleBinding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0" cy="4480560"/>
          </a:xfrm>
          <a:prstGeom prst="roundRect">
            <a:avLst>
              <a:gd name="adj" fmla="val 1837"/>
            </a:avLst>
          </a:prstGeom>
          <a:solidFill>
            <a:srgbClr val="16204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5943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rbac.authorization.k8s.io/v1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Role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{ namespace: hemis, name: pod-oquvchi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apiGroups: [""]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resources: ["pods", "pods/log"]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verbs: ["get", "list", "watch"]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rbac.authorization.k8s.io/v1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RoleBinding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{ namespace: hemis, name: hisobot-oqiydi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kind: ServiceAccount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hisobot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hemis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roleRef: { kind: Role, name: pod-oquvchi,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apiGroup: rbac.authorization.k8s.io 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0" y="1783080"/>
            <a:ext cx="448056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 / ClusterRole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2402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Ruxsatlar to'plami: bitta namespace yoki butun klaster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2916936"/>
            <a:ext cx="448056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0" y="2990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RoleBinding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337413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Sub'ektni rolga bog'laydi (M13: foydalanuvchi ↔ rol)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0" y="4050792"/>
            <a:ext cx="448056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0" y="4123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Sub'ektlar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45079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User, Group (Entra ID / OIDC, M8) va ServiceAccount (ilovalar)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0" y="5184648"/>
            <a:ext cx="4480560" cy="1024128"/>
          </a:xfrm>
          <a:prstGeom prst="roundRect">
            <a:avLst>
              <a:gd name="adj" fmla="val 8036"/>
            </a:avLst>
          </a:prstGeom>
          <a:solidFill>
            <a:srgbClr val="FDF3E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0" y="5257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Faqat Allow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5641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Deny yo'q, ruxsatlar qo'shiladi; standart — hech narsa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 · 10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Kubernetes'da eng kam imtiyozni tekshiramiz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termina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7680960" cy="4434840"/>
          </a:xfrm>
          <a:prstGeom prst="roundRect">
            <a:avLst>
              <a:gd name="adj" fmla="val 1856"/>
            </a:avLst>
          </a:prstGeom>
          <a:solidFill>
            <a:srgbClr val="16204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65960"/>
            <a:ext cx="72237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Windows: Docker Desktop (Kubernetes yoqilgan) yoki kind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kubectl create namespace hemis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kubectl create serviceaccount hisobot -n hemis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kubectl create role pod-oquvchi -n hemis --verb=get,list,watch --resource=pods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kubectl create rolebinding hisobot-oqiydi -n hemis `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--role=pod-oquvchi --serviceaccount=hemis:hisobot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Kim nima qila oladi? (hisobot nomidan)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$sa = "system:serviceaccount:hemis:hisobot"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kubectl auth can-i list pods -n hemis --as=$sa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kubectl auth can-i delete pods -n hemis --as=$sa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kubectl auth can-i list secrets -n kube-system --as=$sa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412480" y="178308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9536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Kuzating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2240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Ruxsat faqat hemis namespace ichida va faqat o'qish uchun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12480" y="3273552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0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Sinab ko'ring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373075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kubectl auth can-i --list --as=$sa — barcha ruxsatlar ro'yxati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12480" y="4764024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95360" y="48554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5221224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RoleBinding o'rniga ClusterRoleBinding qilsak nima o'zgaradi?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Bulut va Kubernetes auditi: xavfni toping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search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Universitet bulut muhitida auditda quyidagilar topildi. Qaysi tamoyil buzilgan va qanday tuzatiladi?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06040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06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06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Talabalar ro'yxati saqlangan storage konteyneri anonim o'qish uchun ochiq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012680" y="2724912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12680" y="272491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45643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456432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456432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5643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CI/CD xizmat hisobiga butun obuna doirasida Owner roli berilgan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3575304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12680" y="357530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306824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306824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06824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 podining ServiceAccount'iga cluster-admin ClusterRoleBinding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012680" y="442569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12680" y="442569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51572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157216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157216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15721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Dasturchi noutbukida 2 yillik bulut kirish kaliti (access key) saqlanadi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0012680" y="5276088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012680" y="527608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Xavf?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Trust va yakun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NIST 800-207 · PAM va JEA · Kursni yig'ish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ZERO TRUST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Trust: «ishonchli zona» yo'q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91840" cy="1463040"/>
          </a:xfrm>
          <a:prstGeom prst="roundRect">
            <a:avLst>
              <a:gd name="adj" fmla="val 5625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Signallar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 va MFA (M2–M9)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Qurilma holati (M5)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Kontekst va xavf (M15)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Jurnallar, tahdidlar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86200" y="2377440"/>
            <a:ext cx="2743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06240" y="1783080"/>
            <a:ext cx="3749040" cy="1463040"/>
          </a:xfrm>
          <a:prstGeom prst="roundRect">
            <a:avLst>
              <a:gd name="adj" fmla="val 5625"/>
            </a:avLst>
          </a:prstGeom>
          <a:solidFill>
            <a:srgbClr val="3D4A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06240" y="1837944"/>
            <a:ext cx="3749040" cy="70225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PDP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279392" y="2456078"/>
            <a:ext cx="3602736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Engine + Policy Administrator: har bir so'rov uchun qaror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1783080"/>
            <a:ext cx="3291840" cy="1463040"/>
          </a:xfrm>
          <a:prstGeom prst="roundRect">
            <a:avLst>
              <a:gd name="adj" fmla="val 5625"/>
            </a:avLst>
          </a:prstGeom>
          <a:solidFill>
            <a:srgbClr val="FDF3E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0392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Windows/Microsoft'da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21284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Entra ID Conditional Access (PDP), Intune (qurilma), Defender (xavf), Entra Private Access (PEP)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3291840"/>
            <a:ext cx="0" cy="41148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6309360" y="3291840"/>
            <a:ext cx="0" cy="41148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749040"/>
            <a:ext cx="329184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803904"/>
            <a:ext cx="3291840" cy="4169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Sub'ekt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148633"/>
            <a:ext cx="3145536" cy="4343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+ qurilma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86200" y="4178808"/>
            <a:ext cx="2743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06240" y="3749040"/>
            <a:ext cx="3749040" cy="868680"/>
          </a:xfrm>
          <a:prstGeom prst="roundRect">
            <a:avLst>
              <a:gd name="adj" fmla="val 9474"/>
            </a:avLst>
          </a:prstGeom>
          <a:solidFill>
            <a:srgbClr val="D993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206240" y="3803904"/>
            <a:ext cx="3749040" cy="4169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PEP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279392" y="4148633"/>
            <a:ext cx="3602736" cy="4343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shlyuz / proksi / ilova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01000" y="4178808"/>
            <a:ext cx="2743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321040" y="3749040"/>
            <a:ext cx="3291840" cy="868680"/>
          </a:xfrm>
          <a:prstGeom prst="roundRect">
            <a:avLst>
              <a:gd name="adj" fmla="val 9474"/>
            </a:avLst>
          </a:prstGeom>
          <a:solidFill>
            <a:srgbClr val="2A377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21040" y="3803904"/>
            <a:ext cx="3291840" cy="4169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Resurs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94192" y="4148633"/>
            <a:ext cx="3145536" cy="4343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HEMIS, fayl, API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846320"/>
            <a:ext cx="329184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Hech qachon ishonma — har doim tekshir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297680" y="48463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CADC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34840" y="4846320"/>
            <a:ext cx="329184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 kam imtiyoz: faqat kerakli, faqat kerakli vaqtga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046720" y="48463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83880" y="4846320"/>
            <a:ext cx="329184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Buzilgan deb faraz qil: segmentlash va kuzatuv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IMTIYOZLI KIRISHNI BOSHQARISH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PAM va JEA: ma'murga ham faqat keragini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48056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xazinasi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Imtiyozli parollar vault'da, har ishlatilgandan keyin avtomatik almashadi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16936"/>
            <a:ext cx="448056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990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Sessiyani yozish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7413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Ma'mur sessiyalari yoziladi va tekshiriladi — hisobdorlik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50792"/>
            <a:ext cx="448056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123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Just-in-Time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079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Doimiy ma'mur yo'q: huquq so'rov bo'yicha, vaqtincha (Entra PIM, M13)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184648"/>
            <a:ext cx="448056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5257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Break-glass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641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ta favqulodda hisob, qattiq nazorat va ogohlantirish bilan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12080" y="1783080"/>
            <a:ext cx="6400800" cy="4480560"/>
          </a:xfrm>
          <a:prstGeom prst="roundRect">
            <a:avLst>
              <a:gd name="adj" fmla="val 1837"/>
            </a:avLst>
          </a:prstGeom>
          <a:solidFill>
            <a:srgbClr val="1620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40680" y="1965960"/>
            <a:ext cx="5943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JEA — Just Enough Administration (PowerShell)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Helpdesk faqat chop etish xizmatini qayta ishga tushiradi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New-PSRoleCapabilityFile -Path .\Helpdesk.psrc `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-VisibleCmdlets @{ Name = 'Restart-Service';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Parameters = @{ Name = 'Name'; ValidateSet = 'Spooler' }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New-PSSessionConfigurationFile -Path .\Helpdesk.pssc `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-SessionType RestrictedRemoteServer -RunAsVirtualAccount `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-RoleDefinitions @{ 'NUU\Helpdesk' =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@{ RoleCapabilities = 'Helpdesk' }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Register-PSSessionConfiguration -Name Helpdesk -Path .\Helpdesk.pssc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Enter-PSSession srv01 -ConfigurationName Helpdesk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KURS YAKUNI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ma'ruza — bitta rasm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3154680"/>
          </a:xfrm>
          <a:prstGeom prst="roundRect">
            <a:avLst>
              <a:gd name="adj" fmla="val 391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D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M1–M2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Asoslar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Murojaat monitori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 kam imtiyoz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 sikli, IGA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88920" y="1783080"/>
            <a:ext cx="2103120" cy="3154680"/>
          </a:xfrm>
          <a:prstGeom prst="roundRect">
            <a:avLst>
              <a:gd name="adj" fmla="val 3913"/>
            </a:avLst>
          </a:prstGeom>
          <a:solidFill>
            <a:srgbClr val="2A37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892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D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M3–M5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06324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xeshlash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OTP va MFA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FIDO2, Windows Hello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783080"/>
            <a:ext cx="2103120" cy="3154680"/>
          </a:xfrm>
          <a:prstGeom prst="roundRect">
            <a:avLst>
              <a:gd name="adj" fmla="val 3913"/>
            </a:avLst>
          </a:prstGeom>
          <a:solidFill>
            <a:srgbClr val="3D4A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D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M6–M9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Katalog, federatsiya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306324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AD, Kerberos, RADIUS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SAML, SSO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OAuth, OIDC, hujumlar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1783080"/>
            <a:ext cx="2103120" cy="3154680"/>
          </a:xfrm>
          <a:prstGeom prst="roundRect">
            <a:avLst>
              <a:gd name="adj" fmla="val 3913"/>
            </a:avLst>
          </a:prstGeom>
          <a:solidFill>
            <a:srgbClr val="9A5B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6948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D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M10–M15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Modellar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06324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DAC, MAC, oqim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RBAC, rol injiniringi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ABAC, OPA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09760" y="1783080"/>
            <a:ext cx="2103120" cy="3154680"/>
          </a:xfrm>
          <a:prstGeom prst="roundRect">
            <a:avLst>
              <a:gd name="adj" fmla="val 3913"/>
            </a:avLst>
          </a:prstGeom>
          <a:solidFill>
            <a:srgbClr val="1F6B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0976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D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M16–M18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Amaliyot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738360" y="306324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Windows, AD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Linux, SELinux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DB, bulut, Zero Trust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516636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Identifikatsiya: kim?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136392" y="5715000"/>
            <a:ext cx="219456" cy="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383280" y="516636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74720" y="516636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Autentifikatsiya: isbotladimi?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971032" y="5715000"/>
            <a:ext cx="219456" cy="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217920" y="516636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516636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Avtorizatsiya: nimaga ruxsat?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805672" y="5715000"/>
            <a:ext cx="219456" cy="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052560" y="516636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4000" y="516636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Audit: nima qildi?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XULOSA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darsning besh asosiy xulosasi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Bazada: GRANT/DENY (DAC), rollar (RBAC) va RLS — filtr bazaning ichida, chetlab o'tib bo'lmaydi.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0604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Bulutda: rol tayinlash = kim + nima + qayerda; siyosatda Deny ustun, aks holda — rad.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2900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Kubernetes RBAC: Role + RoleBinding, namespace doirasi; cluster-admin — faqat odamlarga, kamdan-kam.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5196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Trust: PDP/PEP har so'rovni signallar asosida tekshiradi — M1–M15 ning birlashmasi.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7492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Texnologiya o'zgaradi, modellar qoladi: eng kam imtiyoz, standart rad, hisobdorlik.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To'rt savol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RLS nimani cheklaydi?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Jadvalni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Ustunni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Satrlarni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Bazani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220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17220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Azure'da rol tayinlash nimalardan iborat?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Parol + MFA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Sub'ekt + rol + doira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Resurs + teg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Obuna + hisob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4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Namespace ichida ruxsat berish uchun?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ClusterRoleBinding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Role + RoleBinding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cluster-admin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NetworkPolicy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7220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617220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7220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Trust asosiy tamoyili?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90372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Ichki tarmoqqa ishon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90372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Faqat VPN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90372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Hech qachon ishonma, doim tekshir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Faqat parol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MUSTAQIL 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Uyga vazifa, keyingi mavzu va manbalar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385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fob-slides/icons_out/databas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079" y="2066087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96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RLS amaliyoti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6712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 Server yoki PostgreSQL da Baholar jadvali uchun FILTER va BLOCK siyosatini yarating va sinang.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770632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926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fob-slides/icons_out/cub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79" y="305363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8072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Kubernetes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1546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«hisobot» va «deploy» uchun ikki Role yozing; kubectl auth can-i bilan ruxsat matritsasini tuzing.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758184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9136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fob-slides/icons_out/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9" y="404119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Yakuniy loyiha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14223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 uchun to'liq kirish arxitekturasi: IdP, MFA, rollar, ABAC shartlari, RLS, audit — 2 sahifa.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086600" y="1783080"/>
            <a:ext cx="4526280" cy="2816352"/>
          </a:xfrm>
          <a:prstGeom prst="roundRect">
            <a:avLst>
              <a:gd name="adj" fmla="val 2922"/>
            </a:avLst>
          </a:prstGeom>
          <a:solidFill>
            <a:srgbClr val="1E276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08660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KEYINGI BOSQICH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0" y="2377440"/>
            <a:ext cx="40690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Yakuniy nazorat va loyiha himoyasi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0" y="3657600"/>
            <a:ext cx="4069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Tayyorgarlik: 17-slayddagi besh blok va A1–A18 hisobotlari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89204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S.K. Ganiev va boshq. Kiberxavfsizlik asoslari. — T., 2021 (ma'lumotlar bazasi va tarmoq xavfsizligi).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NIST SP 800-207. Zero Trust Architecture. 2020.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Microsoft Learn. SQL Server Row-Level Security; Azure RBAC; Just Enough Administration; Zero Trust.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Kubernetes hujjatlari. Using RBAC Authorization; Pod Security Standards.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AWS IAM User Guide. Policy evaluation logic.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18-ma'ruza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18-ma'ruza. Zamonaviy muhitlarda foydalanishni boshqarish</dc:title>
  <dc:subject>PptxGenJS Presentation</dc:subject>
  <dc:creator>PptxGenJS</dc:creator>
  <cp:lastModifiedBy>PptxGenJS</cp:lastModifiedBy>
  <cp:revision>1</cp:revision>
  <dcterms:created xsi:type="dcterms:W3CDTF">2026-09-26T18:12:51Z</dcterms:created>
  <dcterms:modified xsi:type="dcterms:W3CDTF">2026-09-26T18:12:51Z</dcterms:modified>
</cp:coreProperties>
</file>