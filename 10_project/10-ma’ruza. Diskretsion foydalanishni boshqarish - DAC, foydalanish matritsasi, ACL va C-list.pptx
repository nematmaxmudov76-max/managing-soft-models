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3–9-ma'ruzalarda 'kim?' savoliga — autentifikatsiyaga — javob izladik. Bugundan avtorizatsiya modellariga o'tamiz: 'nima qila oladi?'. Birinchi va eng keng tarqalgan model — diskretsion foydalanishni boshqarish (DAC): obyekt egasi ruxsatlarni o'z ixtiyori bilan beradi. Windows'dagi har bir fayl va papka aynan shu model bilan himoyalangan.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DAC da — egasi, ya'ni siz. Bu 'diskretsion' so'zining ma'nosi: ixtiyoriy, egasining xohishiga ko'ra. 2) Ha — DAC ma'lumotning o'zini emas, faqat obyektga kirishni nazorat qiladi. O'qigan odam nusxa yaratadi, nusxaning egasi esa endi u. 3) Siz qila oladigan hamma narsani: faylni o'qish va boshqa joyga yozish. Bu 'troyan oti' muammosi — 11-slaydda va 11-ma'ruzadagi MAC ning sababi.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Kiberxavfsizlik asoslari [1] darsligida foydalanishni boshqarish usullari: diskretsion (DAC), mandatli (MAC), rolga asoslangan (RBAC) va atributlarga asoslangan (ABAC). Keyingi ma'ruzalar shu tartibda: M10 — DAC, M11–M12 — MAC va axborot oqimi, M13–M14 — RBAC, M15 — ABAC. TCSEC — AQSh Mudofaa vazirligining 'Trusted Computer System Evaluation Criteria' standarti (DoD 5200.28-STD); DAC va MAC atamalari aynan shu hujjatda rasmiylashtirilgan.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Lampson, 'Protection', 1971 — foydalanish matritsasi; 1-ma'ruzada ko'rgan edik. Bugun uni DAC nuqtai nazaridan qaraymiz: 'own' huquqi alohida — u boshqa kataklarni o'zgartirish vakolatini beradi. Matritsa nazariy model; amalda bo'sh kataklar tufayli uni to'liq saqlamaydi — keyingi slayddagi ikki usul qo'llanadi. A10 amaliy mashg'ulotida talabalar shu matritsani ACL va C-list ko'rinishiga o'tkazadi.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Imkoniyat (capability) — 'bu kalitga ega bo'lgan kishi shu obyektga shu amalni bajara oladi' degan, soxtalashtirib bo'lmaydigan belgi. 8-ma'ruzadagi bearer token aynan imkoniyat: API kim so'rayotganiga emas, token nimaga ruxsat berishiga qaraydi. Shuning uchun token o'g'irlansa (M9) — imkoniyat o'g'irlanadi. Windows gibrid: obyektlarda ACL (DACL), sub'ektda esa kirish tokeni (SID lar va imtiyozlar) va ochilgan obyektlar uchun deskriptorlar (handle) — ular ochilgandan keyin imkoniyat kabi ishlaydi.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\\fs\kafedra: Karimov — r, w; Nazarova — r, w; Laborant — r. b) Laborant: jadval.docx — r; \\fs\kafedra — r; printer — print, mng. c) C-list da — bitta satrni o'chirish kifoya. ACL da — barcha obyektlar ro'yxatini ko'rib chiqish kerak. Aynan shu sababli Windows'da huquqlar foydalanuvchiga emas, guruhlarga beriladi (M6, AGDLP): foydalanuvchini guruhdan chiqarish — C-list ni o'zgartirishga o'xshaydi. d) Yo'q — uning 'own' huquqi yo'q, faqat r. Lekin u faylni o'qib, o'zi nusxa yaratib, nusxani ulasha oladi — DAC buni to'xtata olmaydi.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1-ma'ruzadagi murojaatlar monitorining Windows'dagi amalga oshirilishi: Security Reference Monitor (SRM) yadro komponenti har bir obyekt ochilishida tokenni DACL bilan solishtiradi. ACE — Access Control Entry. Kanonik tartib: aniq (explicit) taqiqlar, aniq ruxsatlar, keyin meros bo'lib o'tgan taqiqlar va ruxsatlar. DACL umuman bo'lmasa (NULL DACL) — hammaga ruxsat; bo'sh DACL — hech kimga. Batafsil — 16-ma'ruzada (NTFS, SID, DACL). Guruh nomlari A2 dagi LAB_ guruhlaridan olingan.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Egasi DACL ni o'zgartira olishi — Windows DAC ning mohiyati: ma'mur ruxsat bermagan bo'lsa ham, fayl egasi uni istalgan kishiga ochishi mumkin. Egalikni olish (take ownership) — ma'mur uchun zaxira yo'l: fayl egasi ketgan bo'lsa (M2), ma'mur takeown bilan egalikni olib, DACL ni tiklaydi. 'Take-Grant' ustuni — III bo'limga ko'prik: bu modeldagi t va g huquqlari aynan shu vakolatlarning abstraksiyasi. OWNER RIGHTS SID Windows Vista / Server 2008 dan beri mavjud.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C:\Lab papkasini oldindan yarating. A2 dagi rollar.ps1 bilan LAB_Oqituvchilar guruhi va lab_oqituvchi foydalanuvchisi mavjud bo'lishi kerak (yoki o'z guruhingiz nomini qo'ying). icacls qisqartmalari: F — to'liq, M — o'zgartirish, RX — o'qish va bajarish, R — o'qish, W — yozish; (I) — meros bo'lib o'tgan, (OI)(CI) — papkadagi fayl va papkalarga meros. Javob: ha — egasi WRITE_DAC ga ega, shuning uchun 'icacls fayl /grant Everyone:(R)' ni ma'mursiz bajara oladi. Bu DAC ning kuchli va zaif tomoni bir vaqtda.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muammo 1970-yillarda aniqlangan va TCSEC ning yuqori sinflarida (B1 va undan yuqori) MAC talab qilinishiga sabab bo'lgan. Windows'da qisman javob: Mandatory Integrity Control (Vista dan) — jarayon va obyektlarga past/o'rta/yuqori/tizim darajalari; past darajali jarayon (masalan, brauzerning himoyalangan rejimi) o'rta darajali faylga yoza olmaydi, hatto DACL ruxsat bersa ham. Bu MAC elementi — 11-ma'ruzadagi Biba modeli bilan bog'lanadi.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Harrison, W.L. Ruzzo, J.D. Ullman. 'Protection in Operating Systems', Communications of the ACM, 1976. Buyruq sharti faqat 'r in A[s, o]' ko'rinishidagi tekshiruvlarning kon'yunksiyasidan iborat; tanasi — primitiv amallar ketma-ketligi. Model sodda, lekin ifodali: amalda uchraydigan deyarli istalgan huquqlarni boshqarish tizimini shunday yozish mumkin. Keyingi slayd — aynan shu ifodalilik uning 'narxi'.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natija nazariy, lekin amaliy ma'nosi katta: Windows domeni kabi murakkab DAC tizimida 'bu foydalanuvchi hech qachon domen ma'muri bo'la olmaydi' degan savolga umumiy javob beruvchi algoritm yo'q. Amalda BloodHound kabi vositalar AD dagi huquqlar grafini tahlil qilib, imtiyozni oshirish yo'llarini qidiradi — bu aynan xavfsizlik muammosining cheklangan, grafga asoslangan varianti (Take-Grant g'oyasiga yaqin). Murakkablik natijalari HRU (1976) maqolasidan.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 Jones, R.J. Lipton, L. Snyder, 'A Linear Time Algorithm for Deciding Security', FOCS 1976. Take-Grant — HRU ning cheklangan varianti: faqat to'rtta aniq qoida. Evaziga xavfsizlik savoli (can_share: α huquqi x dan y ga o'tishi mumkinmi?) graf o'lchamiga nisbatan chiziqli vaqtda hal qilinadi. Windows bilan bog'lash (9-slayd): WRITE_DAC — grant, egalikni olish —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Hech kim 'Talabaga baholarni o'qish huquqini berish' amalini bajarmagan — huquq grafdagi yo'l orqali 'sizib' o'tgan. Bu de jure (qoidalar bo'yicha) huquq tarqalishi. Windows'dagi o'xshashi: foydalanuvchi boshqa foydalanuvchi obyekti ustidan WRITE_OWNER yoki WRITE_DAC ga ega bo'lsa, u o'ziga istalgan huquqni bera oladi — AD da bunday 'yashirin yo'llar' imtiyozni oshirishning eng ko'p uchraydigan sababi. BloodHound aynan shunday qirralarni (GenericAll, WriteDacl, WriteOwner) qidiradi.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 take(A, B, C, t) — A B orqali C ustidan t oladi; so'ng take(A, C, fayl, r) — A fayl ustidan r oladi. b) Ha: A fayl ustidan r olgach, A → D qirrasidagi g orqali D ga fayl ustidan r beradi (grant). c) A→B t, B→C t yoki C→fayl r ni olib tashlash; A→D g ni olib tashlash faqat D ni to'xtatadi. d) WRITE_OWNER / egalikni olish (SeTakeOwnershipPrivilege); g ga — WRITE_DAC. A10 amaliy mashg'ulotida shunday graflar Windows ACL laridan qurilib, huquq tarqalishi tahlil qilinadi.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murosa keyingi barcha modellarda takrorlanadi: MAC (Bell-LaPadula) — juda cheklangan, lekin isbotlanadigan; RBAC — o'rtacha; ABAC — juda ifodali, tahlili qiyin. Talabalardan so'rang: universitet uchun qaysi murosa to'g'ri?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Javoblar: 1-B, 2-B, 3-B, 4-B.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Atamalar: diskretsion foydalanishni boshqarish, foydalanish matritsasi, ACL — [1] darslikdagi foydalanishni boshqarish bo'limiga moslangan. 'Imkoniyatlar ro'yxati' (capability list) — tarjima.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2.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1828800"/>
            <a:ext cx="5120640" cy="5120640"/>
          </a:xfrm>
          <a:prstGeom prst="ellipse">
            <a:avLst/>
          </a:prstGeom>
          <a:solidFill>
            <a:srgbClr val="2A3778"/>
          </a:solidFill>
          <a:ln/>
        </p:spPr>
      </p:sp>
      <p:sp>
        <p:nvSpPr>
          <p:cNvPr id="3" name="Shape 1"/>
          <p:cNvSpPr/>
          <p:nvPr/>
        </p:nvSpPr>
        <p:spPr>
          <a:xfrm>
            <a:off x="10515600" y="4023360"/>
            <a:ext cx="3291840" cy="3291840"/>
          </a:xfrm>
          <a:prstGeom prst="ellipse">
            <a:avLst/>
          </a:prstGeom>
          <a:solidFill>
            <a:srgbClr val="2A3778"/>
          </a:solidFill>
          <a:ln/>
        </p:spPr>
      </p:sp>
      <p:sp>
        <p:nvSpPr>
          <p:cNvPr id="4" name="Shape 2"/>
          <p:cNvSpPr/>
          <p:nvPr/>
        </p:nvSpPr>
        <p:spPr>
          <a:xfrm>
            <a:off x="822960" y="685800"/>
            <a:ext cx="868680" cy="868680"/>
          </a:xfrm>
          <a:prstGeom prst="ellipse">
            <a:avLst/>
          </a:prstGeom>
          <a:solidFill>
            <a:srgbClr val="2A3778"/>
          </a:solidFill>
          <a:ln/>
        </p:spPr>
      </p:sp>
      <p:pic>
        <p:nvPicPr>
          <p:cNvPr id="5" name="Image 0" descr="/home/claude/fob-slides/icons_out/table_white.png"/>
          <p:cNvPicPr>
            <a:picLocks noChangeAspect="1"/>
          </p:cNvPicPr>
          <p:nvPr/>
        </p:nvPicPr>
        <p:blipFill>
          <a:blip r:embed="rId1"/>
          <a:stretch>
            <a:fillRect/>
          </a:stretch>
        </p:blipFill>
        <p:spPr>
          <a:xfrm>
            <a:off x="1040130" y="902970"/>
            <a:ext cx="434340" cy="434340"/>
          </a:xfrm>
          <a:prstGeom prst="rect">
            <a:avLst/>
          </a:prstGeom>
        </p:spPr>
      </p:pic>
      <p:sp>
        <p:nvSpPr>
          <p:cNvPr id="6" name="Text 3"/>
          <p:cNvSpPr txBox="1"/>
          <p:nvPr/>
        </p:nvSpPr>
        <p:spPr>
          <a:xfrm>
            <a:off x="822960" y="1783080"/>
            <a:ext cx="10241280" cy="411480"/>
          </a:xfrm>
          <a:prstGeom prst="rect">
            <a:avLst/>
          </a:prstGeom>
          <a:noFill/>
          <a:ln/>
        </p:spPr>
        <p:txBody>
          <a:bodyPr wrap="square" lIns="0" tIns="0" rIns="0" bIns="0" rtlCol="0" anchor="t"/>
          <a:lstStyle/>
          <a:p>
            <a:pPr algn="l" indent="0" marL="0">
              <a:lnSpc>
                <a:spcPct val="100000"/>
              </a:lnSpc>
              <a:buNone/>
            </a:pPr>
            <a:r>
              <a:rPr lang="en-US" sz="1700" b="1" dirty="0">
                <a:solidFill>
                  <a:srgbClr val="CADCFC"/>
                </a:solidFill>
                <a:latin typeface="Times New Roman" pitchFamily="34" charset="0"/>
                <a:ea typeface="Times New Roman" pitchFamily="34" charset="-122"/>
                <a:cs typeface="Times New Roman" pitchFamily="34" charset="-120"/>
              </a:rPr>
              <a:t>FOYDALANISHLARNI BOSHQARISH  ·  FOB1506  ·  10-MA'RUZA</a:t>
            </a:r>
            <a:endParaRPr lang="en-US" sz="1700" dirty="0"/>
          </a:p>
        </p:txBody>
      </p:sp>
      <p:sp>
        <p:nvSpPr>
          <p:cNvPr id="7" name="Text 4"/>
          <p:cNvSpPr txBox="1"/>
          <p:nvPr/>
        </p:nvSpPr>
        <p:spPr>
          <a:xfrm>
            <a:off x="822960" y="2240280"/>
            <a:ext cx="9875520" cy="1371600"/>
          </a:xfrm>
          <a:prstGeom prst="rect">
            <a:avLst/>
          </a:prstGeom>
          <a:noFill/>
          <a:ln/>
        </p:spPr>
        <p:txBody>
          <a:bodyPr wrap="square" lIns="0" tIns="0" rIns="0" bIns="0" rtlCol="0" anchor="t"/>
          <a:lstStyle/>
          <a:p>
            <a:pPr algn="l" indent="0" marL="0">
              <a:lnSpc>
                <a:spcPct val="100000"/>
              </a:lnSpc>
              <a:buNone/>
            </a:pPr>
            <a:r>
              <a:rPr lang="en-US" sz="4400" b="1" dirty="0">
                <a:solidFill>
                  <a:srgbClr val="FFFFFF"/>
                </a:solidFill>
                <a:latin typeface="Times New Roman" pitchFamily="34" charset="0"/>
                <a:ea typeface="Times New Roman" pitchFamily="34" charset="-122"/>
                <a:cs typeface="Times New Roman" pitchFamily="34" charset="-120"/>
              </a:rPr>
              <a:t>Diskretsion foydalanishni boshqarish: DAC, foydalanish matritsasi, ACL va C-list</a:t>
            </a:r>
            <a:endParaRPr lang="en-US" sz="4400" dirty="0"/>
          </a:p>
        </p:txBody>
      </p:sp>
      <p:sp>
        <p:nvSpPr>
          <p:cNvPr id="8" name="Text 5"/>
          <p:cNvSpPr txBox="1"/>
          <p:nvPr/>
        </p:nvSpPr>
        <p:spPr>
          <a:xfrm>
            <a:off x="822960" y="3657600"/>
            <a:ext cx="10058400" cy="457200"/>
          </a:xfrm>
          <a:prstGeom prst="rect">
            <a:avLst/>
          </a:prstGeom>
          <a:noFill/>
          <a:ln/>
        </p:spPr>
        <p:txBody>
          <a:bodyPr wrap="square" lIns="0" tIns="0" rIns="0" bIns="0" rtlCol="0" anchor="t"/>
          <a:lstStyle/>
          <a:p>
            <a:pPr algn="l" indent="0" marL="0">
              <a:lnSpc>
                <a:spcPct val="100000"/>
              </a:lnSpc>
              <a:buNone/>
            </a:pPr>
            <a:r>
              <a:rPr lang="en-US" sz="2000" dirty="0">
                <a:solidFill>
                  <a:srgbClr val="CADCFC"/>
                </a:solidFill>
                <a:latin typeface="Times New Roman" pitchFamily="34" charset="0"/>
                <a:ea typeface="Times New Roman" pitchFamily="34" charset="-122"/>
                <a:cs typeface="Times New Roman" pitchFamily="34" charset="-120"/>
              </a:rPr>
              <a:t>Egasi hal qiladi — Windows NTFS misolida</a:t>
            </a:r>
            <a:endParaRPr lang="en-US" sz="2000" dirty="0"/>
          </a:p>
        </p:txBody>
      </p:sp>
      <p:sp>
        <p:nvSpPr>
          <p:cNvPr id="9" name="Shape 6"/>
          <p:cNvSpPr/>
          <p:nvPr/>
        </p:nvSpPr>
        <p:spPr>
          <a:xfrm>
            <a:off x="822960" y="4434840"/>
            <a:ext cx="1143000" cy="438912"/>
          </a:xfrm>
          <a:prstGeom prst="roundRect">
            <a:avLst>
              <a:gd name="adj" fmla="val 50000"/>
            </a:avLst>
          </a:prstGeom>
          <a:solidFill>
            <a:srgbClr val="2A3778"/>
          </a:solidFill>
          <a:ln/>
        </p:spPr>
      </p:sp>
      <p:sp>
        <p:nvSpPr>
          <p:cNvPr id="10" name="Text 7"/>
          <p:cNvSpPr txBox="1"/>
          <p:nvPr/>
        </p:nvSpPr>
        <p:spPr>
          <a:xfrm>
            <a:off x="822960" y="4434840"/>
            <a:ext cx="11430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2 soat</a:t>
            </a:r>
            <a:endParaRPr lang="en-US" sz="1400" dirty="0"/>
          </a:p>
        </p:txBody>
      </p:sp>
      <p:sp>
        <p:nvSpPr>
          <p:cNvPr id="11" name="Shape 8"/>
          <p:cNvSpPr/>
          <p:nvPr/>
        </p:nvSpPr>
        <p:spPr>
          <a:xfrm>
            <a:off x="2148840" y="4434840"/>
            <a:ext cx="2628900" cy="438912"/>
          </a:xfrm>
          <a:prstGeom prst="roundRect">
            <a:avLst>
              <a:gd name="adj" fmla="val 50000"/>
            </a:avLst>
          </a:prstGeom>
          <a:solidFill>
            <a:srgbClr val="2A3778"/>
          </a:solidFill>
          <a:ln/>
        </p:spPr>
      </p:sp>
      <p:sp>
        <p:nvSpPr>
          <p:cNvPr id="12" name="Text 9"/>
          <p:cNvSpPr txBox="1"/>
          <p:nvPr/>
        </p:nvSpPr>
        <p:spPr>
          <a:xfrm>
            <a:off x="2148840" y="4434840"/>
            <a:ext cx="26289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18 ma'ruzadan 10-si</a:t>
            </a:r>
            <a:endParaRPr lang="en-US" sz="1400" dirty="0"/>
          </a:p>
        </p:txBody>
      </p:sp>
      <p:sp>
        <p:nvSpPr>
          <p:cNvPr id="13" name="Shape 10"/>
          <p:cNvSpPr/>
          <p:nvPr/>
        </p:nvSpPr>
        <p:spPr>
          <a:xfrm>
            <a:off x="4960620" y="4434840"/>
            <a:ext cx="1714500" cy="438912"/>
          </a:xfrm>
          <a:prstGeom prst="roundRect">
            <a:avLst>
              <a:gd name="adj" fmla="val 50000"/>
            </a:avLst>
          </a:prstGeom>
          <a:solidFill>
            <a:srgbClr val="2A3778"/>
          </a:solidFill>
          <a:ln/>
        </p:spPr>
      </p:sp>
      <p:sp>
        <p:nvSpPr>
          <p:cNvPr id="14" name="Text 11"/>
          <p:cNvSpPr txBox="1"/>
          <p:nvPr/>
        </p:nvSpPr>
        <p:spPr>
          <a:xfrm>
            <a:off x="4960620" y="4434840"/>
            <a:ext cx="17145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Amaliy: A10</a:t>
            </a:r>
            <a:endParaRPr lang="en-US" sz="1400" dirty="0"/>
          </a:p>
        </p:txBody>
      </p:sp>
      <p:sp>
        <p:nvSpPr>
          <p:cNvPr id="15" name="Shape 12"/>
          <p:cNvSpPr/>
          <p:nvPr/>
        </p:nvSpPr>
        <p:spPr>
          <a:xfrm>
            <a:off x="6858000" y="4434840"/>
            <a:ext cx="2400300" cy="438912"/>
          </a:xfrm>
          <a:prstGeom prst="roundRect">
            <a:avLst>
              <a:gd name="adj" fmla="val 50000"/>
            </a:avLst>
          </a:prstGeom>
          <a:solidFill>
            <a:srgbClr val="2A3778"/>
          </a:solidFill>
          <a:ln/>
        </p:spPr>
      </p:sp>
      <p:sp>
        <p:nvSpPr>
          <p:cNvPr id="16" name="Text 13"/>
          <p:cNvSpPr txBox="1"/>
          <p:nvPr/>
        </p:nvSpPr>
        <p:spPr>
          <a:xfrm>
            <a:off x="6858000" y="4434840"/>
            <a:ext cx="2400300" cy="438912"/>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Windows namoyishi</a:t>
            </a:r>
            <a:endParaRPr lang="en-US" sz="1400" dirty="0"/>
          </a:p>
        </p:txBody>
      </p:sp>
      <p:sp>
        <p:nvSpPr>
          <p:cNvPr id="17" name="Text 14"/>
          <p:cNvSpPr txBox="1"/>
          <p:nvPr/>
        </p:nvSpPr>
        <p:spPr>
          <a:xfrm>
            <a:off x="822960" y="5897880"/>
            <a:ext cx="9144000" cy="365760"/>
          </a:xfrm>
          <a:prstGeom prst="rect">
            <a:avLst/>
          </a:prstGeom>
          <a:noFill/>
          <a:ln/>
        </p:spPr>
        <p:txBody>
          <a:bodyPr wrap="square" lIns="0" tIns="0" rIns="0" bIns="0" rtlCol="0" anchor="t"/>
          <a:lstStyle/>
          <a:p>
            <a:pPr algn="l" indent="0" marL="0">
              <a:lnSpc>
                <a:spcPct val="100000"/>
              </a:lnSpc>
              <a:buNone/>
            </a:pPr>
            <a:r>
              <a:rPr lang="en-US" sz="1400" dirty="0">
                <a:solidFill>
                  <a:srgbClr val="9FB0E0"/>
                </a:solidFill>
                <a:latin typeface="Times New Roman" pitchFamily="34" charset="0"/>
                <a:ea typeface="Times New Roman" pitchFamily="34" charset="-122"/>
                <a:cs typeface="Times New Roman" pitchFamily="34" charset="-120"/>
              </a:rPr>
              <a:t>Mirzo Ulug'bek nomidagi O'zbekiston Milliy universiteti  ·  Axborot xavfsizligi kafedrasi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DARS XARITASI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Bugungi ma'ruza qanday quriladi</a:t>
            </a:r>
            <a:endParaRPr lang="en-US" sz="3600" dirty="0"/>
          </a:p>
        </p:txBody>
      </p:sp>
      <p:sp>
        <p:nvSpPr>
          <p:cNvPr id="4" name="Shape 2"/>
          <p:cNvSpPr/>
          <p:nvPr/>
        </p:nvSpPr>
        <p:spPr>
          <a:xfrm>
            <a:off x="548640" y="1783080"/>
            <a:ext cx="7863840" cy="1234440"/>
          </a:xfrm>
          <a:prstGeom prst="roundRect">
            <a:avLst>
              <a:gd name="adj" fmla="val 6667"/>
            </a:avLst>
          </a:prstGeom>
          <a:solidFill>
            <a:srgbClr val="EEF2FB"/>
          </a:solidFill>
          <a:ln/>
        </p:spPr>
      </p:sp>
      <p:sp>
        <p:nvSpPr>
          <p:cNvPr id="5" name="Shape 3"/>
          <p:cNvSpPr/>
          <p:nvPr/>
        </p:nvSpPr>
        <p:spPr>
          <a:xfrm>
            <a:off x="548640" y="1783080"/>
            <a:ext cx="914400" cy="1234440"/>
          </a:xfrm>
          <a:prstGeom prst="roundRect">
            <a:avLst>
              <a:gd name="adj" fmla="val 9000"/>
            </a:avLst>
          </a:prstGeom>
          <a:solidFill>
            <a:srgbClr val="1E2761"/>
          </a:solidFill>
          <a:ln/>
        </p:spPr>
      </p:sp>
      <p:sp>
        <p:nvSpPr>
          <p:cNvPr id="6" name="Text 4"/>
          <p:cNvSpPr txBox="1"/>
          <p:nvPr/>
        </p:nvSpPr>
        <p:spPr>
          <a:xfrm>
            <a:off x="548640" y="1783080"/>
            <a:ext cx="914400" cy="1234440"/>
          </a:xfrm>
          <a:prstGeom prst="rect">
            <a:avLst/>
          </a:prstGeom>
          <a:noFill/>
          <a:ln/>
        </p:spPr>
        <p:txBody>
          <a:bodyPr wrap="square" lIns="50800" tIns="50800" rIns="50800" bIns="50800" rtlCol="0" anchor="ctr"/>
          <a:lstStyle/>
          <a:p>
            <a:pPr algn="ctr" indent="0" marL="0">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a:t>
            </a:r>
            <a:endParaRPr lang="en-US" sz="3200" dirty="0"/>
          </a:p>
        </p:txBody>
      </p:sp>
      <p:sp>
        <p:nvSpPr>
          <p:cNvPr id="7" name="Text 5"/>
          <p:cNvSpPr txBox="1"/>
          <p:nvPr/>
        </p:nvSpPr>
        <p:spPr>
          <a:xfrm>
            <a:off x="1691640" y="1947672"/>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DAC va foydalanish matritsasi</a:t>
            </a:r>
            <a:endParaRPr lang="en-US" sz="2000" dirty="0"/>
          </a:p>
        </p:txBody>
      </p:sp>
      <p:sp>
        <p:nvSpPr>
          <p:cNvPr id="8" name="Text 6"/>
          <p:cNvSpPr txBox="1"/>
          <p:nvPr/>
        </p:nvSpPr>
        <p:spPr>
          <a:xfrm>
            <a:off x="1691640" y="2423160"/>
            <a:ext cx="5669280" cy="41148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Ta'rif, matritsa, ACL va imkoniyatlar ro'yxati</a:t>
            </a:r>
            <a:endParaRPr lang="en-US" sz="1600" dirty="0"/>
          </a:p>
        </p:txBody>
      </p:sp>
      <p:sp>
        <p:nvSpPr>
          <p:cNvPr id="9" name="Text 7"/>
          <p:cNvSpPr txBox="1"/>
          <p:nvPr/>
        </p:nvSpPr>
        <p:spPr>
          <a:xfrm>
            <a:off x="7223760" y="1965960"/>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~25 daq.</a:t>
            </a:r>
            <a:endParaRPr lang="en-US" sz="1600" dirty="0"/>
          </a:p>
        </p:txBody>
      </p:sp>
      <p:sp>
        <p:nvSpPr>
          <p:cNvPr id="10" name="Shape 8"/>
          <p:cNvSpPr/>
          <p:nvPr/>
        </p:nvSpPr>
        <p:spPr>
          <a:xfrm>
            <a:off x="548640" y="3182112"/>
            <a:ext cx="7863840" cy="1234440"/>
          </a:xfrm>
          <a:prstGeom prst="roundRect">
            <a:avLst>
              <a:gd name="adj" fmla="val 6667"/>
            </a:avLst>
          </a:prstGeom>
          <a:solidFill>
            <a:srgbClr val="EEF2FB"/>
          </a:solidFill>
          <a:ln/>
        </p:spPr>
      </p:sp>
      <p:sp>
        <p:nvSpPr>
          <p:cNvPr id="11" name="Shape 9"/>
          <p:cNvSpPr/>
          <p:nvPr/>
        </p:nvSpPr>
        <p:spPr>
          <a:xfrm>
            <a:off x="548640" y="3182112"/>
            <a:ext cx="914400" cy="1234440"/>
          </a:xfrm>
          <a:prstGeom prst="roundRect">
            <a:avLst>
              <a:gd name="adj" fmla="val 9000"/>
            </a:avLst>
          </a:prstGeom>
          <a:solidFill>
            <a:srgbClr val="1E2761"/>
          </a:solidFill>
          <a:ln/>
        </p:spPr>
      </p:sp>
      <p:sp>
        <p:nvSpPr>
          <p:cNvPr id="12" name="Text 10"/>
          <p:cNvSpPr txBox="1"/>
          <p:nvPr/>
        </p:nvSpPr>
        <p:spPr>
          <a:xfrm>
            <a:off x="548640" y="3182112"/>
            <a:ext cx="914400" cy="1234440"/>
          </a:xfrm>
          <a:prstGeom prst="rect">
            <a:avLst/>
          </a:prstGeom>
          <a:noFill/>
          <a:ln/>
        </p:spPr>
        <p:txBody>
          <a:bodyPr wrap="square" lIns="50800" tIns="50800" rIns="50800" bIns="50800" rtlCol="0" anchor="ctr"/>
          <a:lstStyle/>
          <a:p>
            <a:pPr algn="ctr" indent="0" marL="0">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II</a:t>
            </a:r>
            <a:endParaRPr lang="en-US" sz="3200" dirty="0"/>
          </a:p>
        </p:txBody>
      </p:sp>
      <p:sp>
        <p:nvSpPr>
          <p:cNvPr id="13" name="Text 11"/>
          <p:cNvSpPr txBox="1"/>
          <p:nvPr/>
        </p:nvSpPr>
        <p:spPr>
          <a:xfrm>
            <a:off x="1691640" y="3346704"/>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Windows'da DAC</a:t>
            </a:r>
            <a:endParaRPr lang="en-US" sz="2000" dirty="0"/>
          </a:p>
        </p:txBody>
      </p:sp>
      <p:sp>
        <p:nvSpPr>
          <p:cNvPr id="14" name="Text 12"/>
          <p:cNvSpPr txBox="1"/>
          <p:nvPr/>
        </p:nvSpPr>
        <p:spPr>
          <a:xfrm>
            <a:off x="1691640" y="3822192"/>
            <a:ext cx="5669280" cy="41148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Xavfsizlik deskriptori, egasi vakolati, icacls, troyan oti</a:t>
            </a:r>
            <a:endParaRPr lang="en-US" sz="1600" dirty="0"/>
          </a:p>
        </p:txBody>
      </p:sp>
      <p:sp>
        <p:nvSpPr>
          <p:cNvPr id="15" name="Text 13"/>
          <p:cNvSpPr txBox="1"/>
          <p:nvPr/>
        </p:nvSpPr>
        <p:spPr>
          <a:xfrm>
            <a:off x="7223760" y="3364992"/>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~25 daq.</a:t>
            </a:r>
            <a:endParaRPr lang="en-US" sz="1600" dirty="0"/>
          </a:p>
        </p:txBody>
      </p:sp>
      <p:sp>
        <p:nvSpPr>
          <p:cNvPr id="16" name="Shape 14"/>
          <p:cNvSpPr/>
          <p:nvPr/>
        </p:nvSpPr>
        <p:spPr>
          <a:xfrm>
            <a:off x="548640" y="4581144"/>
            <a:ext cx="7863840" cy="1234440"/>
          </a:xfrm>
          <a:prstGeom prst="roundRect">
            <a:avLst>
              <a:gd name="adj" fmla="val 6667"/>
            </a:avLst>
          </a:prstGeom>
          <a:solidFill>
            <a:srgbClr val="EEF2FB"/>
          </a:solidFill>
          <a:ln/>
        </p:spPr>
      </p:sp>
      <p:sp>
        <p:nvSpPr>
          <p:cNvPr id="17" name="Shape 15"/>
          <p:cNvSpPr/>
          <p:nvPr/>
        </p:nvSpPr>
        <p:spPr>
          <a:xfrm>
            <a:off x="548640" y="4581144"/>
            <a:ext cx="914400" cy="1234440"/>
          </a:xfrm>
          <a:prstGeom prst="roundRect">
            <a:avLst>
              <a:gd name="adj" fmla="val 9000"/>
            </a:avLst>
          </a:prstGeom>
          <a:solidFill>
            <a:srgbClr val="1E2761"/>
          </a:solidFill>
          <a:ln/>
        </p:spPr>
      </p:sp>
      <p:sp>
        <p:nvSpPr>
          <p:cNvPr id="18" name="Text 16"/>
          <p:cNvSpPr txBox="1"/>
          <p:nvPr/>
        </p:nvSpPr>
        <p:spPr>
          <a:xfrm>
            <a:off x="548640" y="4581144"/>
            <a:ext cx="914400" cy="1234440"/>
          </a:xfrm>
          <a:prstGeom prst="rect">
            <a:avLst/>
          </a:prstGeom>
          <a:noFill/>
          <a:ln/>
        </p:spPr>
        <p:txBody>
          <a:bodyPr wrap="square" lIns="50800" tIns="50800" rIns="50800" bIns="50800" rtlCol="0" anchor="ctr"/>
          <a:lstStyle/>
          <a:p>
            <a:pPr algn="ctr" indent="0" marL="0">
              <a:lnSpc>
                <a:spcPct val="100000"/>
              </a:lnSpc>
              <a:buNone/>
            </a:pPr>
            <a:r>
              <a:rPr lang="en-US" sz="3200" b="1" dirty="0">
                <a:solidFill>
                  <a:srgbClr val="FFFFFF"/>
                </a:solidFill>
                <a:latin typeface="Times New Roman" pitchFamily="34" charset="0"/>
                <a:ea typeface="Times New Roman" pitchFamily="34" charset="-122"/>
                <a:cs typeface="Times New Roman" pitchFamily="34" charset="-120"/>
              </a:rPr>
              <a:t>III</a:t>
            </a:r>
            <a:endParaRPr lang="en-US" sz="3200" dirty="0"/>
          </a:p>
        </p:txBody>
      </p:sp>
      <p:sp>
        <p:nvSpPr>
          <p:cNvPr id="19" name="Text 17"/>
          <p:cNvSpPr txBox="1"/>
          <p:nvPr/>
        </p:nvSpPr>
        <p:spPr>
          <a:xfrm>
            <a:off x="1691640" y="4745736"/>
            <a:ext cx="5394960" cy="411480"/>
          </a:xfrm>
          <a:prstGeom prst="rect">
            <a:avLst/>
          </a:prstGeom>
          <a:noFill/>
          <a:ln/>
        </p:spPr>
        <p:txBody>
          <a:bodyPr wrap="square" lIns="0" tIns="0" rIns="0" bIns="0" rtlCol="0" anchor="t"/>
          <a:lstStyle/>
          <a:p>
            <a:pPr algn="l" indent="0" marL="0">
              <a:lnSpc>
                <a:spcPct val="100000"/>
              </a:lnSpc>
              <a:buNone/>
            </a:pPr>
            <a:r>
              <a:rPr lang="en-US" sz="2000" b="1" dirty="0">
                <a:solidFill>
                  <a:srgbClr val="1E2761"/>
                </a:solidFill>
                <a:latin typeface="Times New Roman" pitchFamily="34" charset="0"/>
                <a:ea typeface="Times New Roman" pitchFamily="34" charset="-122"/>
                <a:cs typeface="Times New Roman" pitchFamily="34" charset="-120"/>
              </a:rPr>
              <a:t>Formal modellar</a:t>
            </a:r>
            <a:endParaRPr lang="en-US" sz="2000" dirty="0"/>
          </a:p>
        </p:txBody>
      </p:sp>
      <p:sp>
        <p:nvSpPr>
          <p:cNvPr id="20" name="Text 18"/>
          <p:cNvSpPr txBox="1"/>
          <p:nvPr/>
        </p:nvSpPr>
        <p:spPr>
          <a:xfrm>
            <a:off x="1691640" y="5221224"/>
            <a:ext cx="5669280" cy="41148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HRU va xavfsizlik muammosi, Take-Grant grafi</a:t>
            </a:r>
            <a:endParaRPr lang="en-US" sz="1600" dirty="0"/>
          </a:p>
        </p:txBody>
      </p:sp>
      <p:sp>
        <p:nvSpPr>
          <p:cNvPr id="21" name="Text 19"/>
          <p:cNvSpPr txBox="1"/>
          <p:nvPr/>
        </p:nvSpPr>
        <p:spPr>
          <a:xfrm>
            <a:off x="7223760" y="4764024"/>
            <a:ext cx="1051560" cy="365760"/>
          </a:xfrm>
          <a:prstGeom prst="rect">
            <a:avLst/>
          </a:prstGeom>
          <a:noFill/>
          <a:ln/>
        </p:spPr>
        <p:txBody>
          <a:bodyPr wrap="square" lIns="0" tIns="0" rIns="0" bIns="0" rtlCol="0" anchor="t"/>
          <a:lstStyle/>
          <a:p>
            <a:pPr algn="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~30 daq.</a:t>
            </a:r>
            <a:endParaRPr lang="en-US" sz="1600" dirty="0"/>
          </a:p>
        </p:txBody>
      </p:sp>
      <p:sp>
        <p:nvSpPr>
          <p:cNvPr id="22" name="Shape 20"/>
          <p:cNvSpPr/>
          <p:nvPr/>
        </p:nvSpPr>
        <p:spPr>
          <a:xfrm>
            <a:off x="8686800" y="1783080"/>
            <a:ext cx="2926080" cy="4032504"/>
          </a:xfrm>
          <a:prstGeom prst="roundRect">
            <a:avLst>
              <a:gd name="adj" fmla="val 2813"/>
            </a:avLst>
          </a:prstGeom>
          <a:solidFill>
            <a:srgbClr val="FDF3E2"/>
          </a:solidFill>
          <a:ln/>
        </p:spPr>
      </p:sp>
      <p:sp>
        <p:nvSpPr>
          <p:cNvPr id="23" name="Shape 21"/>
          <p:cNvSpPr/>
          <p:nvPr/>
        </p:nvSpPr>
        <p:spPr>
          <a:xfrm>
            <a:off x="8961120" y="2011680"/>
            <a:ext cx="566928" cy="566928"/>
          </a:xfrm>
          <a:prstGeom prst="ellipse">
            <a:avLst/>
          </a:prstGeom>
          <a:solidFill>
            <a:srgbClr val="D9932B"/>
          </a:solidFill>
          <a:ln/>
        </p:spPr>
      </p:sp>
      <p:pic>
        <p:nvPicPr>
          <p:cNvPr id="24" name="Image 0" descr="/home/claude/fob-slides/icons_out/bulb_white.png"/>
          <p:cNvPicPr>
            <a:picLocks noChangeAspect="1"/>
          </p:cNvPicPr>
          <p:nvPr/>
        </p:nvPicPr>
        <p:blipFill>
          <a:blip r:embed="rId1"/>
          <a:stretch>
            <a:fillRect/>
          </a:stretch>
        </p:blipFill>
        <p:spPr>
          <a:xfrm>
            <a:off x="9088679" y="2139239"/>
            <a:ext cx="311810" cy="311810"/>
          </a:xfrm>
          <a:prstGeom prst="rect">
            <a:avLst/>
          </a:prstGeom>
        </p:spPr>
      </p:pic>
      <p:sp>
        <p:nvSpPr>
          <p:cNvPr id="25" name="Text 22"/>
          <p:cNvSpPr txBox="1"/>
          <p:nvPr/>
        </p:nvSpPr>
        <p:spPr>
          <a:xfrm>
            <a:off x="8961120" y="2697480"/>
            <a:ext cx="2468880" cy="411480"/>
          </a:xfrm>
          <a:prstGeom prst="rect">
            <a:avLst/>
          </a:prstGeom>
          <a:noFill/>
          <a:ln/>
        </p:spPr>
        <p:txBody>
          <a:bodyPr wrap="square" lIns="0" tIns="0" rIns="0" bIns="0" rtlCol="0" anchor="t"/>
          <a:lstStyle/>
          <a:p>
            <a:pPr algn="l" indent="0" marL="0">
              <a:lnSpc>
                <a:spcPct val="100000"/>
              </a:lnSpc>
              <a:buNone/>
            </a:pPr>
            <a:r>
              <a:rPr lang="en-US" sz="1800" b="1" dirty="0">
                <a:solidFill>
                  <a:srgbClr val="9A5B00"/>
                </a:solidFill>
                <a:latin typeface="Times New Roman" pitchFamily="34" charset="0"/>
                <a:ea typeface="Times New Roman" pitchFamily="34" charset="-122"/>
                <a:cs typeface="Times New Roman" pitchFamily="34" charset="-120"/>
              </a:rPr>
              <a:t>Interaktiv nuqtalar</a:t>
            </a:r>
            <a:endParaRPr lang="en-US" sz="1800" dirty="0"/>
          </a:p>
        </p:txBody>
      </p:sp>
      <p:sp>
        <p:nvSpPr>
          <p:cNvPr id="26" name="Text 23"/>
          <p:cNvSpPr txBox="1"/>
          <p:nvPr/>
        </p:nvSpPr>
        <p:spPr>
          <a:xfrm>
            <a:off x="9006840" y="3154680"/>
            <a:ext cx="2514600" cy="256032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Muhokama: faylingiz kimniki?</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Mini-vazifa: matritsadan ACL</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Jonli namoyish: icacls</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Mini-vazifa: Take-Grant grafi</a:t>
            </a:r>
            <a:endParaRPr lang="en-US" sz="1600" dirty="0"/>
          </a:p>
          <a:p>
            <a:pPr marL="342900" indent="-342900">
              <a:spcAft>
                <a:spcPts val="600"/>
              </a:spcAft>
              <a:buSzPct val="100000"/>
              <a:buChar char="•"/>
            </a:pPr>
            <a:r>
              <a:rPr lang="en-US" sz="1600" dirty="0">
                <a:solidFill>
                  <a:srgbClr val="1B1B2A"/>
                </a:solidFill>
                <a:latin typeface="Times New Roman" pitchFamily="34" charset="0"/>
                <a:ea typeface="Times New Roman" pitchFamily="34" charset="-122"/>
                <a:cs typeface="Times New Roman" pitchFamily="34" charset="-120"/>
              </a:rPr>
              <a:t>Tezkor test (4 savol)</a:t>
            </a:r>
            <a:endParaRPr lang="en-US" sz="1600" dirty="0"/>
          </a:p>
        </p:txBody>
      </p:sp>
      <p:sp>
        <p:nvSpPr>
          <p:cNvPr id="27" name="Text 24"/>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28" name="Text 25"/>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MUHOKAMA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Siz yaratgan fayl — kimning qarori?</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users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11064240" cy="1051560"/>
          </a:xfrm>
          <a:prstGeom prst="roundRect">
            <a:avLst>
              <a:gd name="adj" fmla="val 7826"/>
            </a:avLst>
          </a:prstGeom>
          <a:solidFill>
            <a:srgbClr val="FFFFFF"/>
          </a:solidFill>
          <a:ln/>
        </p:spPr>
      </p:sp>
      <p:sp>
        <p:nvSpPr>
          <p:cNvPr id="7" name="Text 4"/>
          <p:cNvSpPr txBox="1"/>
          <p:nvPr/>
        </p:nvSpPr>
        <p:spPr>
          <a:xfrm>
            <a:off x="868680" y="1783080"/>
            <a:ext cx="10424160" cy="1051560"/>
          </a:xfrm>
          <a:prstGeom prst="rect">
            <a:avLst/>
          </a:prstGeom>
          <a:noFill/>
          <a:ln/>
        </p:spPr>
        <p:txBody>
          <a:bodyPr wrap="square" lIns="0" tIns="0" rIns="0" bIns="0" rtlCol="0" anchor="ctr"/>
          <a:lstStyle/>
          <a:p>
            <a:pPr algn="l" indent="0" marL="0">
              <a:lnSpc>
                <a:spcPct val="105000"/>
              </a:lnSpc>
              <a:buNone/>
            </a:pPr>
            <a:r>
              <a:rPr lang="en-US" sz="1800" dirty="0">
                <a:solidFill>
                  <a:srgbClr val="1B1B2A"/>
                </a:solidFill>
                <a:latin typeface="Times New Roman" pitchFamily="34" charset="0"/>
                <a:ea typeface="Times New Roman" pitchFamily="34" charset="-122"/>
                <a:cs typeface="Times New Roman" pitchFamily="34" charset="-120"/>
              </a:rPr>
              <a:t>Siz kafedraning umumiy papkasida «baholar.xlsx» faylini yaratdingiz. Windows sizni uning egasi deb yozdi.</a:t>
            </a:r>
            <a:endParaRPr lang="en-US" sz="1800" dirty="0"/>
          </a:p>
        </p:txBody>
      </p:sp>
      <p:sp>
        <p:nvSpPr>
          <p:cNvPr id="8" name="Shape 5"/>
          <p:cNvSpPr/>
          <p:nvPr/>
        </p:nvSpPr>
        <p:spPr>
          <a:xfrm>
            <a:off x="548640" y="3063240"/>
            <a:ext cx="11064240" cy="868680"/>
          </a:xfrm>
          <a:prstGeom prst="roundRect">
            <a:avLst>
              <a:gd name="adj" fmla="val 9474"/>
            </a:avLst>
          </a:prstGeom>
          <a:solidFill>
            <a:srgbClr val="FFFFFF"/>
          </a:solidFill>
          <a:ln/>
        </p:spPr>
      </p:sp>
      <p:sp>
        <p:nvSpPr>
          <p:cNvPr id="9" name="Shape 6"/>
          <p:cNvSpPr/>
          <p:nvPr/>
        </p:nvSpPr>
        <p:spPr>
          <a:xfrm>
            <a:off x="822960" y="3209544"/>
            <a:ext cx="576072" cy="576072"/>
          </a:xfrm>
          <a:prstGeom prst="ellipse">
            <a:avLst/>
          </a:prstGeom>
          <a:solidFill>
            <a:srgbClr val="D9932B"/>
          </a:solidFill>
          <a:ln/>
        </p:spPr>
      </p:sp>
      <p:pic>
        <p:nvPicPr>
          <p:cNvPr id="10" name="Image 1" descr="/home/claude/fob-slides/icons_out/question_white.png"/>
          <p:cNvPicPr>
            <a:picLocks noChangeAspect="1"/>
          </p:cNvPicPr>
          <p:nvPr/>
        </p:nvPicPr>
        <p:blipFill>
          <a:blip r:embed="rId2"/>
          <a:stretch>
            <a:fillRect/>
          </a:stretch>
        </p:blipFill>
        <p:spPr>
          <a:xfrm>
            <a:off x="981380" y="3367964"/>
            <a:ext cx="259232" cy="259232"/>
          </a:xfrm>
          <a:prstGeom prst="rect">
            <a:avLst/>
          </a:prstGeom>
        </p:spPr>
      </p:pic>
      <p:sp>
        <p:nvSpPr>
          <p:cNvPr id="11" name="Text 7"/>
          <p:cNvSpPr txBox="1"/>
          <p:nvPr/>
        </p:nvSpPr>
        <p:spPr>
          <a:xfrm>
            <a:off x="1600200" y="3063240"/>
            <a:ext cx="9418320" cy="8686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Faylni kim o'qishini kim hal qiladi: siz, ma'mur yoki kafedra mudiri?</a:t>
            </a:r>
            <a:endParaRPr lang="en-US" sz="1700" dirty="0"/>
          </a:p>
        </p:txBody>
      </p:sp>
      <p:sp>
        <p:nvSpPr>
          <p:cNvPr id="12" name="Text 8"/>
          <p:cNvSpPr txBox="1"/>
          <p:nvPr/>
        </p:nvSpPr>
        <p:spPr>
          <a:xfrm>
            <a:off x="11018520" y="3063240"/>
            <a:ext cx="411480" cy="868680"/>
          </a:xfrm>
          <a:prstGeom prst="rect">
            <a:avLst/>
          </a:prstGeom>
          <a:noFill/>
          <a:ln/>
        </p:spPr>
        <p:txBody>
          <a:bodyPr wrap="square" lIns="0" tIns="0" rIns="0" bIns="0" rtlCol="0" anchor="ctr"/>
          <a:lstStyle/>
          <a:p>
            <a:pPr algn="r"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1</a:t>
            </a:r>
            <a:endParaRPr lang="en-US" sz="1800" dirty="0"/>
          </a:p>
        </p:txBody>
      </p:sp>
      <p:sp>
        <p:nvSpPr>
          <p:cNvPr id="13" name="Shape 9"/>
          <p:cNvSpPr/>
          <p:nvPr/>
        </p:nvSpPr>
        <p:spPr>
          <a:xfrm>
            <a:off x="548640" y="4069080"/>
            <a:ext cx="11064240" cy="868680"/>
          </a:xfrm>
          <a:prstGeom prst="roundRect">
            <a:avLst>
              <a:gd name="adj" fmla="val 9474"/>
            </a:avLst>
          </a:prstGeom>
          <a:solidFill>
            <a:srgbClr val="FFFFFF"/>
          </a:solidFill>
          <a:ln/>
        </p:spPr>
      </p:sp>
      <p:sp>
        <p:nvSpPr>
          <p:cNvPr id="14" name="Shape 10"/>
          <p:cNvSpPr/>
          <p:nvPr/>
        </p:nvSpPr>
        <p:spPr>
          <a:xfrm>
            <a:off x="822960" y="4215384"/>
            <a:ext cx="576072" cy="576072"/>
          </a:xfrm>
          <a:prstGeom prst="ellipse">
            <a:avLst/>
          </a:prstGeom>
          <a:solidFill>
            <a:srgbClr val="D9932B"/>
          </a:solidFill>
          <a:ln/>
        </p:spPr>
      </p:sp>
      <p:pic>
        <p:nvPicPr>
          <p:cNvPr id="15" name="Image 2" descr="/home/claude/fob-slides/icons_out/question_white.png"/>
          <p:cNvPicPr>
            <a:picLocks noChangeAspect="1"/>
          </p:cNvPicPr>
          <p:nvPr/>
        </p:nvPicPr>
        <p:blipFill>
          <a:blip r:embed="rId3"/>
          <a:stretch>
            <a:fillRect/>
          </a:stretch>
        </p:blipFill>
        <p:spPr>
          <a:xfrm>
            <a:off x="981380" y="4373804"/>
            <a:ext cx="259232" cy="259232"/>
          </a:xfrm>
          <a:prstGeom prst="rect">
            <a:avLst/>
          </a:prstGeom>
        </p:spPr>
      </p:pic>
      <p:sp>
        <p:nvSpPr>
          <p:cNvPr id="16" name="Text 11"/>
          <p:cNvSpPr txBox="1"/>
          <p:nvPr/>
        </p:nvSpPr>
        <p:spPr>
          <a:xfrm>
            <a:off x="1600200" y="4069080"/>
            <a:ext cx="9418320" cy="8686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Hamkasbingizga o'qish huquqini berdingiz. U faylni nusxalab, ochiq papkaga qo'ya oladimi?</a:t>
            </a:r>
            <a:endParaRPr lang="en-US" sz="1700" dirty="0"/>
          </a:p>
        </p:txBody>
      </p:sp>
      <p:sp>
        <p:nvSpPr>
          <p:cNvPr id="17" name="Text 12"/>
          <p:cNvSpPr txBox="1"/>
          <p:nvPr/>
        </p:nvSpPr>
        <p:spPr>
          <a:xfrm>
            <a:off x="11018520" y="4069080"/>
            <a:ext cx="411480" cy="868680"/>
          </a:xfrm>
          <a:prstGeom prst="rect">
            <a:avLst/>
          </a:prstGeom>
          <a:noFill/>
          <a:ln/>
        </p:spPr>
        <p:txBody>
          <a:bodyPr wrap="square" lIns="0" tIns="0" rIns="0" bIns="0" rtlCol="0" anchor="ctr"/>
          <a:lstStyle/>
          <a:p>
            <a:pPr algn="r"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2</a:t>
            </a:r>
            <a:endParaRPr lang="en-US" sz="1800" dirty="0"/>
          </a:p>
        </p:txBody>
      </p:sp>
      <p:sp>
        <p:nvSpPr>
          <p:cNvPr id="18" name="Shape 13"/>
          <p:cNvSpPr/>
          <p:nvPr/>
        </p:nvSpPr>
        <p:spPr>
          <a:xfrm>
            <a:off x="548640" y="5074920"/>
            <a:ext cx="11064240" cy="868680"/>
          </a:xfrm>
          <a:prstGeom prst="roundRect">
            <a:avLst>
              <a:gd name="adj" fmla="val 9474"/>
            </a:avLst>
          </a:prstGeom>
          <a:solidFill>
            <a:srgbClr val="FFFFFF"/>
          </a:solidFill>
          <a:ln/>
        </p:spPr>
      </p:sp>
      <p:sp>
        <p:nvSpPr>
          <p:cNvPr id="19" name="Shape 14"/>
          <p:cNvSpPr/>
          <p:nvPr/>
        </p:nvSpPr>
        <p:spPr>
          <a:xfrm>
            <a:off x="822960" y="5221224"/>
            <a:ext cx="576072" cy="576072"/>
          </a:xfrm>
          <a:prstGeom prst="ellipse">
            <a:avLst/>
          </a:prstGeom>
          <a:solidFill>
            <a:srgbClr val="D9932B"/>
          </a:solidFill>
          <a:ln/>
        </p:spPr>
      </p:sp>
      <p:pic>
        <p:nvPicPr>
          <p:cNvPr id="20" name="Image 3" descr="/home/claude/fob-slides/icons_out/question_white.png"/>
          <p:cNvPicPr>
            <a:picLocks noChangeAspect="1"/>
          </p:cNvPicPr>
          <p:nvPr/>
        </p:nvPicPr>
        <p:blipFill>
          <a:blip r:embed="rId4"/>
          <a:stretch>
            <a:fillRect/>
          </a:stretch>
        </p:blipFill>
        <p:spPr>
          <a:xfrm>
            <a:off x="981380" y="5379644"/>
            <a:ext cx="259232" cy="259232"/>
          </a:xfrm>
          <a:prstGeom prst="rect">
            <a:avLst/>
          </a:prstGeom>
        </p:spPr>
      </p:pic>
      <p:sp>
        <p:nvSpPr>
          <p:cNvPr id="21" name="Text 15"/>
          <p:cNvSpPr txBox="1"/>
          <p:nvPr/>
        </p:nvSpPr>
        <p:spPr>
          <a:xfrm>
            <a:off x="1600200" y="5074920"/>
            <a:ext cx="9418320" cy="868680"/>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Internetdan yuklagan «jadval.exe» dasturi sizning nomingizdan ishlaydi. U nima qila oladi?</a:t>
            </a:r>
            <a:endParaRPr lang="en-US" sz="1700" dirty="0"/>
          </a:p>
        </p:txBody>
      </p:sp>
      <p:sp>
        <p:nvSpPr>
          <p:cNvPr id="22" name="Text 16"/>
          <p:cNvSpPr txBox="1"/>
          <p:nvPr/>
        </p:nvSpPr>
        <p:spPr>
          <a:xfrm>
            <a:off x="11018520" y="5074920"/>
            <a:ext cx="411480" cy="868680"/>
          </a:xfrm>
          <a:prstGeom prst="rect">
            <a:avLst/>
          </a:prstGeom>
          <a:noFill/>
          <a:ln/>
        </p:spPr>
        <p:txBody>
          <a:bodyPr wrap="square" lIns="0" tIns="0" rIns="0" bIns="0" rtlCol="0" anchor="ctr"/>
          <a:lstStyle/>
          <a:p>
            <a:pPr algn="r" indent="0" marL="0">
              <a:lnSpc>
                <a:spcPct val="100000"/>
              </a:lnSpc>
              <a:buNone/>
            </a:pPr>
            <a:r>
              <a:rPr lang="en-US" sz="1800" b="1" dirty="0">
                <a:solidFill>
                  <a:srgbClr val="D9932B"/>
                </a:solidFill>
                <a:latin typeface="Times New Roman" pitchFamily="34" charset="0"/>
                <a:ea typeface="Times New Roman" pitchFamily="34" charset="-122"/>
                <a:cs typeface="Times New Roman" pitchFamily="34" charset="-120"/>
              </a:rPr>
              <a:t>3</a:t>
            </a:r>
            <a:endParaRPr lang="en-US" sz="1800" dirty="0"/>
          </a:p>
        </p:txBody>
      </p:sp>
      <p:sp>
        <p:nvSpPr>
          <p:cNvPr id="23" name="Text 17"/>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24" name="Text 18"/>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TA'RIF</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Diskretsion foydalanishni boshqarish (DAC)</a:t>
            </a:r>
            <a:endParaRPr lang="en-US" sz="3600" dirty="0"/>
          </a:p>
        </p:txBody>
      </p:sp>
      <p:sp>
        <p:nvSpPr>
          <p:cNvPr id="4" name="Text 2"/>
          <p:cNvSpPr txBox="1"/>
          <p:nvPr/>
        </p:nvSpPr>
        <p:spPr>
          <a:xfrm>
            <a:off x="548640" y="1737360"/>
            <a:ext cx="11064240" cy="868680"/>
          </a:xfrm>
          <a:prstGeom prst="rect">
            <a:avLst/>
          </a:prstGeom>
          <a:noFill/>
          <a:ln/>
        </p:spPr>
        <p:txBody>
          <a:bodyPr wrap="square" lIns="0" tIns="0" rIns="0" bIns="0" rtlCol="0" anchor="t"/>
          <a:lstStyle/>
          <a:p>
            <a:pPr algn="l" indent="0" marL="0">
              <a:lnSpc>
                <a:spcPct val="105000"/>
              </a:lnSpc>
              <a:buNone/>
            </a:pPr>
            <a:r>
              <a:rPr lang="en-US" sz="1700" dirty="0">
                <a:solidFill>
                  <a:srgbClr val="1B1B2A"/>
                </a:solidFill>
                <a:latin typeface="Times New Roman" pitchFamily="34" charset="0"/>
                <a:ea typeface="Times New Roman" pitchFamily="34" charset="-122"/>
                <a:cs typeface="Times New Roman" pitchFamily="34" charset="-120"/>
              </a:rPr>
              <a:t>DAC — obyektdan foydalanish huquqlari sub'ekt identifikatoriga asoslanib beriladigan va obyekt egasi bu huquqlarni o'z ixtiyori bilan boshqalarga bera oladigan model.</a:t>
            </a:r>
            <a:endParaRPr lang="en-US" sz="1700" dirty="0"/>
          </a:p>
        </p:txBody>
      </p:sp>
      <p:sp>
        <p:nvSpPr>
          <p:cNvPr id="5" name="Shape 3"/>
          <p:cNvSpPr/>
          <p:nvPr/>
        </p:nvSpPr>
        <p:spPr>
          <a:xfrm>
            <a:off x="548640" y="2788920"/>
            <a:ext cx="3566160" cy="1737360"/>
          </a:xfrm>
          <a:prstGeom prst="roundRect">
            <a:avLst>
              <a:gd name="adj" fmla="val 4737"/>
            </a:avLst>
          </a:prstGeom>
          <a:solidFill>
            <a:srgbClr val="EEF2FB"/>
          </a:solidFill>
          <a:ln/>
        </p:spPr>
      </p:sp>
      <p:sp>
        <p:nvSpPr>
          <p:cNvPr id="6" name="Shape 4"/>
          <p:cNvSpPr/>
          <p:nvPr/>
        </p:nvSpPr>
        <p:spPr>
          <a:xfrm>
            <a:off x="777240" y="2971800"/>
            <a:ext cx="566928" cy="566928"/>
          </a:xfrm>
          <a:prstGeom prst="ellipse">
            <a:avLst/>
          </a:prstGeom>
          <a:solidFill>
            <a:srgbClr val="1E2761"/>
          </a:solidFill>
          <a:ln/>
        </p:spPr>
      </p:sp>
      <p:pic>
        <p:nvPicPr>
          <p:cNvPr id="7" name="Image 0" descr="/home/claude/fob-slides/icons_out/idcard_white.png"/>
          <p:cNvPicPr>
            <a:picLocks noChangeAspect="1"/>
          </p:cNvPicPr>
          <p:nvPr/>
        </p:nvPicPr>
        <p:blipFill>
          <a:blip r:embed="rId1"/>
          <a:stretch>
            <a:fillRect/>
          </a:stretch>
        </p:blipFill>
        <p:spPr>
          <a:xfrm>
            <a:off x="904799" y="3099359"/>
            <a:ext cx="311810" cy="311810"/>
          </a:xfrm>
          <a:prstGeom prst="rect">
            <a:avLst/>
          </a:prstGeom>
        </p:spPr>
      </p:pic>
      <p:sp>
        <p:nvSpPr>
          <p:cNvPr id="8" name="Text 5"/>
          <p:cNvSpPr txBox="1"/>
          <p:nvPr/>
        </p:nvSpPr>
        <p:spPr>
          <a:xfrm>
            <a:off x="1508760" y="2971800"/>
            <a:ext cx="2468880" cy="566928"/>
          </a:xfrm>
          <a:prstGeom prst="rect">
            <a:avLst/>
          </a:prstGeom>
          <a:noFill/>
          <a:ln/>
        </p:spPr>
        <p:txBody>
          <a:bodyPr wrap="square" lIns="0" tIns="0" rIns="0" bIns="0" rtlCol="0" anchor="ctr"/>
          <a:lstStyle/>
          <a:p>
            <a:pPr algn="l" indent="0" marL="0">
              <a:lnSpc>
                <a:spcPct val="95000"/>
              </a:lnSpc>
              <a:buNone/>
            </a:pPr>
            <a:r>
              <a:rPr lang="en-US" sz="1800" b="1" dirty="0">
                <a:solidFill>
                  <a:srgbClr val="1E2761"/>
                </a:solidFill>
                <a:latin typeface="Times New Roman" pitchFamily="34" charset="0"/>
                <a:ea typeface="Times New Roman" pitchFamily="34" charset="-122"/>
                <a:cs typeface="Times New Roman" pitchFamily="34" charset="-120"/>
              </a:rPr>
              <a:t>Identifikatorga asoslangan</a:t>
            </a:r>
            <a:endParaRPr lang="en-US" sz="1800" dirty="0"/>
          </a:p>
        </p:txBody>
      </p:sp>
      <p:sp>
        <p:nvSpPr>
          <p:cNvPr id="9" name="Text 6"/>
          <p:cNvSpPr txBox="1"/>
          <p:nvPr/>
        </p:nvSpPr>
        <p:spPr>
          <a:xfrm>
            <a:off x="777240" y="3657600"/>
            <a:ext cx="3108960" cy="77724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Qaror «kim so'rayapti?» savoliga bog'liq: foydalanuvchi va uning guruhlari</a:t>
            </a:r>
            <a:endParaRPr lang="en-US" sz="1600" dirty="0"/>
          </a:p>
        </p:txBody>
      </p:sp>
      <p:sp>
        <p:nvSpPr>
          <p:cNvPr id="10" name="Shape 7"/>
          <p:cNvSpPr/>
          <p:nvPr/>
        </p:nvSpPr>
        <p:spPr>
          <a:xfrm>
            <a:off x="4297680" y="2788920"/>
            <a:ext cx="3566160" cy="1737360"/>
          </a:xfrm>
          <a:prstGeom prst="roundRect">
            <a:avLst>
              <a:gd name="adj" fmla="val 4737"/>
            </a:avLst>
          </a:prstGeom>
          <a:solidFill>
            <a:srgbClr val="1E2761"/>
          </a:solidFill>
          <a:ln/>
        </p:spPr>
      </p:sp>
      <p:sp>
        <p:nvSpPr>
          <p:cNvPr id="11" name="Shape 8"/>
          <p:cNvSpPr/>
          <p:nvPr/>
        </p:nvSpPr>
        <p:spPr>
          <a:xfrm>
            <a:off x="4526280" y="2971800"/>
            <a:ext cx="566928" cy="566928"/>
          </a:xfrm>
          <a:prstGeom prst="ellipse">
            <a:avLst/>
          </a:prstGeom>
          <a:solidFill>
            <a:srgbClr val="2A3778"/>
          </a:solidFill>
          <a:ln/>
        </p:spPr>
      </p:sp>
      <p:pic>
        <p:nvPicPr>
          <p:cNvPr id="12" name="Image 1" descr="/home/claude/fob-slides/icons_out/key_white.png"/>
          <p:cNvPicPr>
            <a:picLocks noChangeAspect="1"/>
          </p:cNvPicPr>
          <p:nvPr/>
        </p:nvPicPr>
        <p:blipFill>
          <a:blip r:embed="rId2"/>
          <a:stretch>
            <a:fillRect/>
          </a:stretch>
        </p:blipFill>
        <p:spPr>
          <a:xfrm>
            <a:off x="4653839" y="3099359"/>
            <a:ext cx="311810" cy="311810"/>
          </a:xfrm>
          <a:prstGeom prst="rect">
            <a:avLst/>
          </a:prstGeom>
        </p:spPr>
      </p:pic>
      <p:sp>
        <p:nvSpPr>
          <p:cNvPr id="13" name="Text 9"/>
          <p:cNvSpPr txBox="1"/>
          <p:nvPr/>
        </p:nvSpPr>
        <p:spPr>
          <a:xfrm>
            <a:off x="5257800" y="2971800"/>
            <a:ext cx="2468880" cy="566928"/>
          </a:xfrm>
          <a:prstGeom prst="rect">
            <a:avLst/>
          </a:prstGeom>
          <a:noFill/>
          <a:ln/>
        </p:spPr>
        <p:txBody>
          <a:bodyPr wrap="square" lIns="0" tIns="0" rIns="0" bIns="0" rtlCol="0" anchor="ctr"/>
          <a:lstStyle/>
          <a:p>
            <a:pPr algn="l" indent="0" marL="0">
              <a:lnSpc>
                <a:spcPct val="95000"/>
              </a:lnSpc>
              <a:buNone/>
            </a:pPr>
            <a:r>
              <a:rPr lang="en-US" sz="1800" b="1" dirty="0">
                <a:solidFill>
                  <a:srgbClr val="FFFFFF"/>
                </a:solidFill>
                <a:latin typeface="Times New Roman" pitchFamily="34" charset="0"/>
                <a:ea typeface="Times New Roman" pitchFamily="34" charset="-122"/>
                <a:cs typeface="Times New Roman" pitchFamily="34" charset="-120"/>
              </a:rPr>
              <a:t>Egasi boshqaradi</a:t>
            </a:r>
            <a:endParaRPr lang="en-US" sz="1800" dirty="0"/>
          </a:p>
        </p:txBody>
      </p:sp>
      <p:sp>
        <p:nvSpPr>
          <p:cNvPr id="14" name="Text 10"/>
          <p:cNvSpPr txBox="1"/>
          <p:nvPr/>
        </p:nvSpPr>
        <p:spPr>
          <a:xfrm>
            <a:off x="4526280" y="3657600"/>
            <a:ext cx="3108960" cy="777240"/>
          </a:xfrm>
          <a:prstGeom prst="rect">
            <a:avLst/>
          </a:prstGeom>
          <a:noFill/>
          <a:ln/>
        </p:spPr>
        <p:txBody>
          <a:bodyPr wrap="square" lIns="0" tIns="0" rIns="0" bIns="0" rtlCol="0" anchor="t"/>
          <a:lstStyle/>
          <a:p>
            <a:pPr algn="l" indent="0" marL="0">
              <a:lnSpc>
                <a:spcPct val="100000"/>
              </a:lnSpc>
              <a:buNone/>
            </a:pPr>
            <a:r>
              <a:rPr lang="en-US" sz="1600" dirty="0">
                <a:solidFill>
                  <a:srgbClr val="CADCFC"/>
                </a:solidFill>
                <a:latin typeface="Times New Roman" pitchFamily="34" charset="0"/>
                <a:ea typeface="Times New Roman" pitchFamily="34" charset="-122"/>
                <a:cs typeface="Times New Roman" pitchFamily="34" charset="-120"/>
              </a:rPr>
              <a:t>Obyekt yaratgan sub'ekt ruxsatlarni beradi va qaytarib oladi</a:t>
            </a:r>
            <a:endParaRPr lang="en-US" sz="1600" dirty="0"/>
          </a:p>
        </p:txBody>
      </p:sp>
      <p:sp>
        <p:nvSpPr>
          <p:cNvPr id="15" name="Shape 11"/>
          <p:cNvSpPr/>
          <p:nvPr/>
        </p:nvSpPr>
        <p:spPr>
          <a:xfrm>
            <a:off x="8046720" y="2788920"/>
            <a:ext cx="3566160" cy="1737360"/>
          </a:xfrm>
          <a:prstGeom prst="roundRect">
            <a:avLst>
              <a:gd name="adj" fmla="val 4737"/>
            </a:avLst>
          </a:prstGeom>
          <a:solidFill>
            <a:srgbClr val="EEF2FB"/>
          </a:solidFill>
          <a:ln/>
        </p:spPr>
      </p:sp>
      <p:sp>
        <p:nvSpPr>
          <p:cNvPr id="16" name="Shape 12"/>
          <p:cNvSpPr/>
          <p:nvPr/>
        </p:nvSpPr>
        <p:spPr>
          <a:xfrm>
            <a:off x="8275320" y="2971800"/>
            <a:ext cx="566928" cy="566928"/>
          </a:xfrm>
          <a:prstGeom prst="ellipse">
            <a:avLst/>
          </a:prstGeom>
          <a:solidFill>
            <a:srgbClr val="1E2761"/>
          </a:solidFill>
          <a:ln/>
        </p:spPr>
      </p:sp>
      <p:pic>
        <p:nvPicPr>
          <p:cNvPr id="17" name="Image 2" descr="/home/claude/fob-slides/icons_out/sync_white.png"/>
          <p:cNvPicPr>
            <a:picLocks noChangeAspect="1"/>
          </p:cNvPicPr>
          <p:nvPr/>
        </p:nvPicPr>
        <p:blipFill>
          <a:blip r:embed="rId3"/>
          <a:stretch>
            <a:fillRect/>
          </a:stretch>
        </p:blipFill>
        <p:spPr>
          <a:xfrm>
            <a:off x="8402879" y="3099359"/>
            <a:ext cx="311810" cy="311810"/>
          </a:xfrm>
          <a:prstGeom prst="rect">
            <a:avLst/>
          </a:prstGeom>
        </p:spPr>
      </p:pic>
      <p:sp>
        <p:nvSpPr>
          <p:cNvPr id="18" name="Text 13"/>
          <p:cNvSpPr txBox="1"/>
          <p:nvPr/>
        </p:nvSpPr>
        <p:spPr>
          <a:xfrm>
            <a:off x="9006840" y="2971800"/>
            <a:ext cx="2468880" cy="566928"/>
          </a:xfrm>
          <a:prstGeom prst="rect">
            <a:avLst/>
          </a:prstGeom>
          <a:noFill/>
          <a:ln/>
        </p:spPr>
        <p:txBody>
          <a:bodyPr wrap="square" lIns="0" tIns="0" rIns="0" bIns="0" rtlCol="0" anchor="ctr"/>
          <a:lstStyle/>
          <a:p>
            <a:pPr algn="l" indent="0" marL="0">
              <a:lnSpc>
                <a:spcPct val="95000"/>
              </a:lnSpc>
              <a:buNone/>
            </a:pPr>
            <a:r>
              <a:rPr lang="en-US" sz="1800" b="1" dirty="0">
                <a:solidFill>
                  <a:srgbClr val="1E2761"/>
                </a:solidFill>
                <a:latin typeface="Times New Roman" pitchFamily="34" charset="0"/>
                <a:ea typeface="Times New Roman" pitchFamily="34" charset="-122"/>
                <a:cs typeface="Times New Roman" pitchFamily="34" charset="-120"/>
              </a:rPr>
              <a:t>Huquqlar tarqaladi</a:t>
            </a:r>
            <a:endParaRPr lang="en-US" sz="1800" dirty="0"/>
          </a:p>
        </p:txBody>
      </p:sp>
      <p:sp>
        <p:nvSpPr>
          <p:cNvPr id="19" name="Text 14"/>
          <p:cNvSpPr txBox="1"/>
          <p:nvPr/>
        </p:nvSpPr>
        <p:spPr>
          <a:xfrm>
            <a:off x="8275320" y="3657600"/>
            <a:ext cx="3108960" cy="77724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Huquq berilgan sub'ekt ham uni uzatishi mumkin (ruxsat bo'lsa)</a:t>
            </a:r>
            <a:endParaRPr lang="en-US" sz="1600" dirty="0"/>
          </a:p>
        </p:txBody>
      </p:sp>
      <p:sp>
        <p:nvSpPr>
          <p:cNvPr id="20" name="Shape 15"/>
          <p:cNvSpPr/>
          <p:nvPr/>
        </p:nvSpPr>
        <p:spPr>
          <a:xfrm>
            <a:off x="548640" y="4754880"/>
            <a:ext cx="3566160" cy="822960"/>
          </a:xfrm>
          <a:prstGeom prst="roundRect">
            <a:avLst>
              <a:gd name="adj" fmla="val 10000"/>
            </a:avLst>
          </a:prstGeom>
          <a:solidFill>
            <a:srgbClr val="CADCFC"/>
          </a:solidFill>
          <a:ln/>
        </p:spPr>
      </p:sp>
      <p:sp>
        <p:nvSpPr>
          <p:cNvPr id="21" name="Text 16"/>
          <p:cNvSpPr txBox="1"/>
          <p:nvPr/>
        </p:nvSpPr>
        <p:spPr>
          <a:xfrm>
            <a:off x="548640" y="4773168"/>
            <a:ext cx="3566160" cy="411480"/>
          </a:xfrm>
          <a:prstGeom prst="rect">
            <a:avLst/>
          </a:prstGeom>
          <a:noFill/>
          <a:ln/>
        </p:spPr>
        <p:txBody>
          <a:bodyPr wrap="square" lIns="50800" tIns="50800" rIns="50800" bIns="50800" rtlCol="0" anchor="ctr"/>
          <a:lstStyle/>
          <a:p>
            <a:pPr algn="ctr"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Windows NTFS</a:t>
            </a:r>
            <a:endParaRPr lang="en-US" sz="1700" dirty="0"/>
          </a:p>
        </p:txBody>
      </p:sp>
      <p:sp>
        <p:nvSpPr>
          <p:cNvPr id="22" name="Text 17"/>
          <p:cNvSpPr txBox="1"/>
          <p:nvPr/>
        </p:nvSpPr>
        <p:spPr>
          <a:xfrm>
            <a:off x="548640" y="5138928"/>
            <a:ext cx="3566160" cy="36576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fayl egasi va DACL</a:t>
            </a:r>
            <a:endParaRPr lang="en-US" sz="1400" dirty="0"/>
          </a:p>
        </p:txBody>
      </p:sp>
      <p:sp>
        <p:nvSpPr>
          <p:cNvPr id="23" name="Shape 18"/>
          <p:cNvSpPr/>
          <p:nvPr/>
        </p:nvSpPr>
        <p:spPr>
          <a:xfrm>
            <a:off x="4297680" y="4754880"/>
            <a:ext cx="3566160" cy="822960"/>
          </a:xfrm>
          <a:prstGeom prst="roundRect">
            <a:avLst>
              <a:gd name="adj" fmla="val 10000"/>
            </a:avLst>
          </a:prstGeom>
          <a:solidFill>
            <a:srgbClr val="CADCFC"/>
          </a:solidFill>
          <a:ln/>
        </p:spPr>
      </p:sp>
      <p:sp>
        <p:nvSpPr>
          <p:cNvPr id="24" name="Text 19"/>
          <p:cNvSpPr txBox="1"/>
          <p:nvPr/>
        </p:nvSpPr>
        <p:spPr>
          <a:xfrm>
            <a:off x="4297680" y="4773168"/>
            <a:ext cx="3566160" cy="411480"/>
          </a:xfrm>
          <a:prstGeom prst="rect">
            <a:avLst/>
          </a:prstGeom>
          <a:noFill/>
          <a:ln/>
        </p:spPr>
        <p:txBody>
          <a:bodyPr wrap="square" lIns="50800" tIns="50800" rIns="50800" bIns="50800" rtlCol="0" anchor="ctr"/>
          <a:lstStyle/>
          <a:p>
            <a:pPr algn="ctr"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Linux / UNIX</a:t>
            </a:r>
            <a:endParaRPr lang="en-US" sz="1700" dirty="0"/>
          </a:p>
        </p:txBody>
      </p:sp>
      <p:sp>
        <p:nvSpPr>
          <p:cNvPr id="25" name="Text 20"/>
          <p:cNvSpPr txBox="1"/>
          <p:nvPr/>
        </p:nvSpPr>
        <p:spPr>
          <a:xfrm>
            <a:off x="4297680" y="5138928"/>
            <a:ext cx="3566160" cy="36576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rwx va POSIX ACL (M17)</a:t>
            </a:r>
            <a:endParaRPr lang="en-US" sz="1400" dirty="0"/>
          </a:p>
        </p:txBody>
      </p:sp>
      <p:sp>
        <p:nvSpPr>
          <p:cNvPr id="26" name="Shape 21"/>
          <p:cNvSpPr/>
          <p:nvPr/>
        </p:nvSpPr>
        <p:spPr>
          <a:xfrm>
            <a:off x="8046720" y="4754880"/>
            <a:ext cx="3566160" cy="822960"/>
          </a:xfrm>
          <a:prstGeom prst="roundRect">
            <a:avLst>
              <a:gd name="adj" fmla="val 10000"/>
            </a:avLst>
          </a:prstGeom>
          <a:solidFill>
            <a:srgbClr val="CADCFC"/>
          </a:solidFill>
          <a:ln/>
        </p:spPr>
      </p:sp>
      <p:sp>
        <p:nvSpPr>
          <p:cNvPr id="27" name="Text 22"/>
          <p:cNvSpPr txBox="1"/>
          <p:nvPr/>
        </p:nvSpPr>
        <p:spPr>
          <a:xfrm>
            <a:off x="8046720" y="4773168"/>
            <a:ext cx="3566160" cy="411480"/>
          </a:xfrm>
          <a:prstGeom prst="rect">
            <a:avLst/>
          </a:prstGeom>
          <a:noFill/>
          <a:ln/>
        </p:spPr>
        <p:txBody>
          <a:bodyPr wrap="square" lIns="50800" tIns="50800" rIns="50800" bIns="50800" rtlCol="0" anchor="ctr"/>
          <a:lstStyle/>
          <a:p>
            <a:pPr algn="ctr"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Bulut hujjatlari</a:t>
            </a:r>
            <a:endParaRPr lang="en-US" sz="1700" dirty="0"/>
          </a:p>
        </p:txBody>
      </p:sp>
      <p:sp>
        <p:nvSpPr>
          <p:cNvPr id="28" name="Text 23"/>
          <p:cNvSpPr txBox="1"/>
          <p:nvPr/>
        </p:nvSpPr>
        <p:spPr>
          <a:xfrm>
            <a:off x="8046720" y="5138928"/>
            <a:ext cx="3566160" cy="36576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«Ulashish» tugmasi</a:t>
            </a:r>
            <a:endParaRPr lang="en-US" sz="1400" dirty="0"/>
          </a:p>
        </p:txBody>
      </p:sp>
      <p:sp>
        <p:nvSpPr>
          <p:cNvPr id="29" name="Text 24"/>
          <p:cNvSpPr txBox="1"/>
          <p:nvPr/>
        </p:nvSpPr>
        <p:spPr>
          <a:xfrm>
            <a:off x="548640" y="5806440"/>
            <a:ext cx="11064240" cy="411480"/>
          </a:xfrm>
          <a:prstGeom prst="rect">
            <a:avLst/>
          </a:prstGeom>
          <a:noFill/>
          <a:ln/>
        </p:spPr>
        <p:txBody>
          <a:bodyPr wrap="square" lIns="0" tIns="0" rIns="0" bIns="0" rtlCol="0" anchor="t"/>
          <a:lstStyle/>
          <a:p>
            <a:pPr algn="ctr" indent="0" marL="0">
              <a:lnSpc>
                <a:spcPct val="100000"/>
              </a:lnSpc>
              <a:buNone/>
            </a:pPr>
            <a:r>
              <a:rPr lang="en-US" sz="1500" dirty="0">
                <a:solidFill>
                  <a:srgbClr val="5B6270"/>
                </a:solidFill>
                <a:latin typeface="Times New Roman" pitchFamily="34" charset="0"/>
                <a:ea typeface="Times New Roman" pitchFamily="34" charset="-122"/>
                <a:cs typeface="Times New Roman" pitchFamily="34" charset="-120"/>
              </a:rPr>
              <a:t>Tarixiy asos: TCSEC («Apelsin kitob», 1985) — C1 va C2 sinflari DAC ni talab qiladi.</a:t>
            </a:r>
            <a:endParaRPr lang="en-US" sz="1500" dirty="0"/>
          </a:p>
        </p:txBody>
      </p:sp>
      <p:sp>
        <p:nvSpPr>
          <p:cNvPr id="30" name="Text 2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31" name="Text 2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FOYDALANISH MATRITSASI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Lampson matritsasi: sub'ekt × obyekt</a:t>
            </a:r>
            <a:endParaRPr lang="en-US" sz="3600" dirty="0"/>
          </a:p>
        </p:txBody>
      </p:sp>
      <p:sp>
        <p:nvSpPr>
          <p:cNvPr id="4" name="Shape 2"/>
          <p:cNvSpPr/>
          <p:nvPr/>
        </p:nvSpPr>
        <p:spPr>
          <a:xfrm>
            <a:off x="548640" y="1783080"/>
            <a:ext cx="1965960" cy="612648"/>
          </a:xfrm>
          <a:prstGeom prst="roundRect">
            <a:avLst>
              <a:gd name="adj" fmla="val 13433"/>
            </a:avLst>
          </a:prstGeom>
          <a:solidFill>
            <a:srgbClr val="FFFFFF"/>
          </a:solidFill>
          <a:ln/>
        </p:spPr>
      </p:sp>
      <p:sp>
        <p:nvSpPr>
          <p:cNvPr id="5" name="Text 3"/>
          <p:cNvSpPr txBox="1"/>
          <p:nvPr/>
        </p:nvSpPr>
        <p:spPr>
          <a:xfrm>
            <a:off x="548640" y="1783080"/>
            <a:ext cx="1965960" cy="612648"/>
          </a:xfrm>
          <a:prstGeom prst="rect">
            <a:avLst/>
          </a:prstGeom>
          <a:noFill/>
          <a:ln/>
        </p:spPr>
        <p:txBody>
          <a:bodyPr wrap="square" lIns="0" tIns="0" rIns="0" bIns="0" rtlCol="0" anchor="ctr"/>
          <a:lstStyle/>
          <a:p>
            <a:pPr algn="ctr"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S \ O</a:t>
            </a:r>
            <a:endParaRPr lang="en-US" sz="1600" dirty="0"/>
          </a:p>
        </p:txBody>
      </p:sp>
      <p:sp>
        <p:nvSpPr>
          <p:cNvPr id="6" name="Shape 4"/>
          <p:cNvSpPr/>
          <p:nvPr/>
        </p:nvSpPr>
        <p:spPr>
          <a:xfrm>
            <a:off x="2560320" y="1783080"/>
            <a:ext cx="2103120" cy="612648"/>
          </a:xfrm>
          <a:prstGeom prst="roundRect">
            <a:avLst>
              <a:gd name="adj" fmla="val 5970"/>
            </a:avLst>
          </a:prstGeom>
          <a:solidFill>
            <a:srgbClr val="1E2761"/>
          </a:solidFill>
          <a:ln/>
        </p:spPr>
      </p:sp>
      <p:sp>
        <p:nvSpPr>
          <p:cNvPr id="7" name="Text 5"/>
          <p:cNvSpPr txBox="1"/>
          <p:nvPr/>
        </p:nvSpPr>
        <p:spPr>
          <a:xfrm>
            <a:off x="2560320" y="1783080"/>
            <a:ext cx="2103120" cy="612648"/>
          </a:xfrm>
          <a:prstGeom prst="rect">
            <a:avLst/>
          </a:prstGeom>
          <a:noFill/>
          <a:ln/>
        </p:spPr>
        <p:txBody>
          <a:bodyPr wrap="square" lIns="50800" tIns="50800" rIns="50800" bIns="50800" rtlCol="0" anchor="ctr"/>
          <a:lstStyle/>
          <a:p>
            <a:pPr algn="ctr" indent="0" marL="0">
              <a:lnSpc>
                <a:spcPct val="100000"/>
              </a:lnSpc>
              <a:buNone/>
            </a:pPr>
            <a:r>
              <a:rPr lang="en-US" sz="1500" b="1" dirty="0">
                <a:solidFill>
                  <a:srgbClr val="FFFFFF"/>
                </a:solidFill>
                <a:latin typeface="Courier New" pitchFamily="34" charset="0"/>
                <a:ea typeface="Courier New" pitchFamily="34" charset="-122"/>
                <a:cs typeface="Courier New" pitchFamily="34" charset="-120"/>
              </a:rPr>
              <a:t>baholar.xlsx</a:t>
            </a:r>
            <a:endParaRPr lang="en-US" sz="1500" dirty="0"/>
          </a:p>
        </p:txBody>
      </p:sp>
      <p:sp>
        <p:nvSpPr>
          <p:cNvPr id="8" name="Shape 6"/>
          <p:cNvSpPr/>
          <p:nvPr/>
        </p:nvSpPr>
        <p:spPr>
          <a:xfrm>
            <a:off x="4709160" y="1783080"/>
            <a:ext cx="2103120" cy="612648"/>
          </a:xfrm>
          <a:prstGeom prst="roundRect">
            <a:avLst>
              <a:gd name="adj" fmla="val 5970"/>
            </a:avLst>
          </a:prstGeom>
          <a:solidFill>
            <a:srgbClr val="1E2761"/>
          </a:solidFill>
          <a:ln/>
        </p:spPr>
      </p:sp>
      <p:sp>
        <p:nvSpPr>
          <p:cNvPr id="9" name="Text 7"/>
          <p:cNvSpPr txBox="1"/>
          <p:nvPr/>
        </p:nvSpPr>
        <p:spPr>
          <a:xfrm>
            <a:off x="4709160" y="1783080"/>
            <a:ext cx="2103120" cy="612648"/>
          </a:xfrm>
          <a:prstGeom prst="rect">
            <a:avLst/>
          </a:prstGeom>
          <a:noFill/>
          <a:ln/>
        </p:spPr>
        <p:txBody>
          <a:bodyPr wrap="square" lIns="50800" tIns="50800" rIns="50800" bIns="50800" rtlCol="0" anchor="ctr"/>
          <a:lstStyle/>
          <a:p>
            <a:pPr algn="ctr" indent="0" marL="0">
              <a:lnSpc>
                <a:spcPct val="100000"/>
              </a:lnSpc>
              <a:buNone/>
            </a:pPr>
            <a:r>
              <a:rPr lang="en-US" sz="1500" b="1" dirty="0">
                <a:solidFill>
                  <a:srgbClr val="FFFFFF"/>
                </a:solidFill>
                <a:latin typeface="Courier New" pitchFamily="34" charset="0"/>
                <a:ea typeface="Courier New" pitchFamily="34" charset="-122"/>
                <a:cs typeface="Courier New" pitchFamily="34" charset="-120"/>
              </a:rPr>
              <a:t>jadval.docx</a:t>
            </a:r>
            <a:endParaRPr lang="en-US" sz="1500" dirty="0"/>
          </a:p>
        </p:txBody>
      </p:sp>
      <p:sp>
        <p:nvSpPr>
          <p:cNvPr id="10" name="Shape 8"/>
          <p:cNvSpPr/>
          <p:nvPr/>
        </p:nvSpPr>
        <p:spPr>
          <a:xfrm>
            <a:off x="6858000" y="1783080"/>
            <a:ext cx="2103120" cy="612648"/>
          </a:xfrm>
          <a:prstGeom prst="roundRect">
            <a:avLst>
              <a:gd name="adj" fmla="val 5970"/>
            </a:avLst>
          </a:prstGeom>
          <a:solidFill>
            <a:srgbClr val="1E2761"/>
          </a:solidFill>
          <a:ln/>
        </p:spPr>
      </p:sp>
      <p:sp>
        <p:nvSpPr>
          <p:cNvPr id="11" name="Text 9"/>
          <p:cNvSpPr txBox="1"/>
          <p:nvPr/>
        </p:nvSpPr>
        <p:spPr>
          <a:xfrm>
            <a:off x="6858000" y="1783080"/>
            <a:ext cx="2103120" cy="612648"/>
          </a:xfrm>
          <a:prstGeom prst="rect">
            <a:avLst/>
          </a:prstGeom>
          <a:noFill/>
          <a:ln/>
        </p:spPr>
        <p:txBody>
          <a:bodyPr wrap="square" lIns="50800" tIns="50800" rIns="50800" bIns="50800" rtlCol="0" anchor="ctr"/>
          <a:lstStyle/>
          <a:p>
            <a:pPr algn="ctr" indent="0" marL="0">
              <a:lnSpc>
                <a:spcPct val="100000"/>
              </a:lnSpc>
              <a:buNone/>
            </a:pPr>
            <a:r>
              <a:rPr lang="en-US" sz="1500" b="1" dirty="0">
                <a:solidFill>
                  <a:srgbClr val="FFFFFF"/>
                </a:solidFill>
                <a:latin typeface="Courier New" pitchFamily="34" charset="0"/>
                <a:ea typeface="Courier New" pitchFamily="34" charset="-122"/>
                <a:cs typeface="Courier New" pitchFamily="34" charset="-120"/>
              </a:rPr>
              <a:t>\\fs\kafedra</a:t>
            </a:r>
            <a:endParaRPr lang="en-US" sz="1500" dirty="0"/>
          </a:p>
        </p:txBody>
      </p:sp>
      <p:sp>
        <p:nvSpPr>
          <p:cNvPr id="12" name="Shape 10"/>
          <p:cNvSpPr/>
          <p:nvPr/>
        </p:nvSpPr>
        <p:spPr>
          <a:xfrm>
            <a:off x="9006840" y="1783080"/>
            <a:ext cx="2103120" cy="612648"/>
          </a:xfrm>
          <a:prstGeom prst="roundRect">
            <a:avLst>
              <a:gd name="adj" fmla="val 5970"/>
            </a:avLst>
          </a:prstGeom>
          <a:solidFill>
            <a:srgbClr val="1E2761"/>
          </a:solidFill>
          <a:ln/>
        </p:spPr>
      </p:sp>
      <p:sp>
        <p:nvSpPr>
          <p:cNvPr id="13" name="Text 11"/>
          <p:cNvSpPr txBox="1"/>
          <p:nvPr/>
        </p:nvSpPr>
        <p:spPr>
          <a:xfrm>
            <a:off x="9006840" y="1783080"/>
            <a:ext cx="2103120" cy="612648"/>
          </a:xfrm>
          <a:prstGeom prst="rect">
            <a:avLst/>
          </a:prstGeom>
          <a:noFill/>
          <a:ln/>
        </p:spPr>
        <p:txBody>
          <a:bodyPr wrap="square" lIns="50800" tIns="50800" rIns="50800" bIns="50800" rtlCol="0" anchor="ctr"/>
          <a:lstStyle/>
          <a:p>
            <a:pPr algn="ctr" indent="0" marL="0">
              <a:lnSpc>
                <a:spcPct val="100000"/>
              </a:lnSpc>
              <a:buNone/>
            </a:pPr>
            <a:r>
              <a:rPr lang="en-US" sz="1500" b="1" dirty="0">
                <a:solidFill>
                  <a:srgbClr val="FFFFFF"/>
                </a:solidFill>
                <a:latin typeface="Courier New" pitchFamily="34" charset="0"/>
                <a:ea typeface="Courier New" pitchFamily="34" charset="-122"/>
                <a:cs typeface="Courier New" pitchFamily="34" charset="-120"/>
              </a:rPr>
              <a:t>printer</a:t>
            </a:r>
            <a:endParaRPr lang="en-US" sz="1500" dirty="0"/>
          </a:p>
        </p:txBody>
      </p:sp>
      <p:sp>
        <p:nvSpPr>
          <p:cNvPr id="14" name="Shape 12"/>
          <p:cNvSpPr/>
          <p:nvPr/>
        </p:nvSpPr>
        <p:spPr>
          <a:xfrm>
            <a:off x="548640" y="2441448"/>
            <a:ext cx="1965960" cy="612648"/>
          </a:xfrm>
          <a:prstGeom prst="roundRect">
            <a:avLst>
              <a:gd name="adj" fmla="val 5970"/>
            </a:avLst>
          </a:prstGeom>
          <a:solidFill>
            <a:srgbClr val="2A3778"/>
          </a:solidFill>
          <a:ln/>
        </p:spPr>
      </p:sp>
      <p:sp>
        <p:nvSpPr>
          <p:cNvPr id="15" name="Text 13"/>
          <p:cNvSpPr txBox="1"/>
          <p:nvPr/>
        </p:nvSpPr>
        <p:spPr>
          <a:xfrm>
            <a:off x="548640" y="2441448"/>
            <a:ext cx="1965960" cy="612648"/>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Karimov</a:t>
            </a:r>
            <a:endParaRPr lang="en-US" sz="1600" dirty="0"/>
          </a:p>
        </p:txBody>
      </p:sp>
      <p:sp>
        <p:nvSpPr>
          <p:cNvPr id="16" name="Shape 14"/>
          <p:cNvSpPr/>
          <p:nvPr/>
        </p:nvSpPr>
        <p:spPr>
          <a:xfrm>
            <a:off x="2560320" y="2441448"/>
            <a:ext cx="2103120" cy="612648"/>
          </a:xfrm>
          <a:prstGeom prst="roundRect">
            <a:avLst>
              <a:gd name="adj" fmla="val 5970"/>
            </a:avLst>
          </a:prstGeom>
          <a:solidFill>
            <a:srgbClr val="CADCFC"/>
          </a:solidFill>
          <a:ln/>
        </p:spPr>
      </p:sp>
      <p:sp>
        <p:nvSpPr>
          <p:cNvPr id="17" name="Text 15"/>
          <p:cNvSpPr txBox="1"/>
          <p:nvPr/>
        </p:nvSpPr>
        <p:spPr>
          <a:xfrm>
            <a:off x="2560320" y="2441448"/>
            <a:ext cx="2103120" cy="612648"/>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1E2761"/>
                </a:solidFill>
                <a:latin typeface="Courier New" pitchFamily="34" charset="0"/>
                <a:ea typeface="Courier New" pitchFamily="34" charset="-122"/>
                <a:cs typeface="Courier New" pitchFamily="34" charset="-120"/>
              </a:rPr>
              <a:t>own, r, w</a:t>
            </a:r>
            <a:endParaRPr lang="en-US" sz="1600" dirty="0"/>
          </a:p>
        </p:txBody>
      </p:sp>
      <p:sp>
        <p:nvSpPr>
          <p:cNvPr id="18" name="Shape 16"/>
          <p:cNvSpPr/>
          <p:nvPr/>
        </p:nvSpPr>
        <p:spPr>
          <a:xfrm>
            <a:off x="4709160" y="2441448"/>
            <a:ext cx="2103120" cy="612648"/>
          </a:xfrm>
          <a:prstGeom prst="roundRect">
            <a:avLst>
              <a:gd name="adj" fmla="val 5970"/>
            </a:avLst>
          </a:prstGeom>
          <a:solidFill>
            <a:srgbClr val="EEF2FB"/>
          </a:solidFill>
          <a:ln/>
        </p:spPr>
      </p:sp>
      <p:sp>
        <p:nvSpPr>
          <p:cNvPr id="19" name="Text 17"/>
          <p:cNvSpPr txBox="1"/>
          <p:nvPr/>
        </p:nvSpPr>
        <p:spPr>
          <a:xfrm>
            <a:off x="4709160" y="2441448"/>
            <a:ext cx="2103120" cy="612648"/>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1E2761"/>
                </a:solidFill>
                <a:latin typeface="Courier New" pitchFamily="34" charset="0"/>
                <a:ea typeface="Courier New" pitchFamily="34" charset="-122"/>
                <a:cs typeface="Courier New" pitchFamily="34" charset="-120"/>
              </a:rPr>
              <a:t>r</a:t>
            </a:r>
            <a:endParaRPr lang="en-US" sz="1600" dirty="0"/>
          </a:p>
        </p:txBody>
      </p:sp>
      <p:sp>
        <p:nvSpPr>
          <p:cNvPr id="20" name="Shape 18"/>
          <p:cNvSpPr/>
          <p:nvPr/>
        </p:nvSpPr>
        <p:spPr>
          <a:xfrm>
            <a:off x="6858000" y="2441448"/>
            <a:ext cx="2103120" cy="612648"/>
          </a:xfrm>
          <a:prstGeom prst="roundRect">
            <a:avLst>
              <a:gd name="adj" fmla="val 5970"/>
            </a:avLst>
          </a:prstGeom>
          <a:solidFill>
            <a:srgbClr val="EEF2FB"/>
          </a:solidFill>
          <a:ln/>
        </p:spPr>
      </p:sp>
      <p:sp>
        <p:nvSpPr>
          <p:cNvPr id="21" name="Text 19"/>
          <p:cNvSpPr txBox="1"/>
          <p:nvPr/>
        </p:nvSpPr>
        <p:spPr>
          <a:xfrm>
            <a:off x="6858000" y="2441448"/>
            <a:ext cx="2103120" cy="612648"/>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1E2761"/>
                </a:solidFill>
                <a:latin typeface="Courier New" pitchFamily="34" charset="0"/>
                <a:ea typeface="Courier New" pitchFamily="34" charset="-122"/>
                <a:cs typeface="Courier New" pitchFamily="34" charset="-120"/>
              </a:rPr>
              <a:t>r, w</a:t>
            </a:r>
            <a:endParaRPr lang="en-US" sz="1600" dirty="0"/>
          </a:p>
        </p:txBody>
      </p:sp>
      <p:sp>
        <p:nvSpPr>
          <p:cNvPr id="22" name="Shape 20"/>
          <p:cNvSpPr/>
          <p:nvPr/>
        </p:nvSpPr>
        <p:spPr>
          <a:xfrm>
            <a:off x="9006840" y="2441448"/>
            <a:ext cx="2103120" cy="612648"/>
          </a:xfrm>
          <a:prstGeom prst="roundRect">
            <a:avLst>
              <a:gd name="adj" fmla="val 5970"/>
            </a:avLst>
          </a:prstGeom>
          <a:solidFill>
            <a:srgbClr val="EEF2FB"/>
          </a:solidFill>
          <a:ln/>
        </p:spPr>
      </p:sp>
      <p:sp>
        <p:nvSpPr>
          <p:cNvPr id="23" name="Text 21"/>
          <p:cNvSpPr txBox="1"/>
          <p:nvPr/>
        </p:nvSpPr>
        <p:spPr>
          <a:xfrm>
            <a:off x="9006840" y="2441448"/>
            <a:ext cx="2103120" cy="612648"/>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1E2761"/>
                </a:solidFill>
                <a:latin typeface="Courier New" pitchFamily="34" charset="0"/>
                <a:ea typeface="Courier New" pitchFamily="34" charset="-122"/>
                <a:cs typeface="Courier New" pitchFamily="34" charset="-120"/>
              </a:rPr>
              <a:t>print</a:t>
            </a:r>
            <a:endParaRPr lang="en-US" sz="1600" dirty="0"/>
          </a:p>
        </p:txBody>
      </p:sp>
      <p:sp>
        <p:nvSpPr>
          <p:cNvPr id="24" name="Shape 22"/>
          <p:cNvSpPr/>
          <p:nvPr/>
        </p:nvSpPr>
        <p:spPr>
          <a:xfrm>
            <a:off x="548640" y="3099816"/>
            <a:ext cx="1965960" cy="612648"/>
          </a:xfrm>
          <a:prstGeom prst="roundRect">
            <a:avLst>
              <a:gd name="adj" fmla="val 5970"/>
            </a:avLst>
          </a:prstGeom>
          <a:solidFill>
            <a:srgbClr val="2A3778"/>
          </a:solidFill>
          <a:ln/>
        </p:spPr>
      </p:sp>
      <p:sp>
        <p:nvSpPr>
          <p:cNvPr id="25" name="Text 23"/>
          <p:cNvSpPr txBox="1"/>
          <p:nvPr/>
        </p:nvSpPr>
        <p:spPr>
          <a:xfrm>
            <a:off x="548640" y="3099816"/>
            <a:ext cx="1965960" cy="612648"/>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Nazarova</a:t>
            </a:r>
            <a:endParaRPr lang="en-US" sz="1600" dirty="0"/>
          </a:p>
        </p:txBody>
      </p:sp>
      <p:sp>
        <p:nvSpPr>
          <p:cNvPr id="26" name="Shape 24"/>
          <p:cNvSpPr/>
          <p:nvPr/>
        </p:nvSpPr>
        <p:spPr>
          <a:xfrm>
            <a:off x="2560320" y="3099816"/>
            <a:ext cx="2103120" cy="612648"/>
          </a:xfrm>
          <a:prstGeom prst="roundRect">
            <a:avLst>
              <a:gd name="adj" fmla="val 5970"/>
            </a:avLst>
          </a:prstGeom>
          <a:solidFill>
            <a:srgbClr val="EEF2FB"/>
          </a:solidFill>
          <a:ln/>
        </p:spPr>
      </p:sp>
      <p:sp>
        <p:nvSpPr>
          <p:cNvPr id="27" name="Text 25"/>
          <p:cNvSpPr txBox="1"/>
          <p:nvPr/>
        </p:nvSpPr>
        <p:spPr>
          <a:xfrm>
            <a:off x="2560320" y="3099816"/>
            <a:ext cx="2103120" cy="612648"/>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1E2761"/>
                </a:solidFill>
                <a:latin typeface="Courier New" pitchFamily="34" charset="0"/>
                <a:ea typeface="Courier New" pitchFamily="34" charset="-122"/>
                <a:cs typeface="Courier New" pitchFamily="34" charset="-120"/>
              </a:rPr>
              <a:t>r</a:t>
            </a:r>
            <a:endParaRPr lang="en-US" sz="1600" dirty="0"/>
          </a:p>
        </p:txBody>
      </p:sp>
      <p:sp>
        <p:nvSpPr>
          <p:cNvPr id="28" name="Shape 26"/>
          <p:cNvSpPr/>
          <p:nvPr/>
        </p:nvSpPr>
        <p:spPr>
          <a:xfrm>
            <a:off x="4709160" y="3099816"/>
            <a:ext cx="2103120" cy="612648"/>
          </a:xfrm>
          <a:prstGeom prst="roundRect">
            <a:avLst>
              <a:gd name="adj" fmla="val 5970"/>
            </a:avLst>
          </a:prstGeom>
          <a:solidFill>
            <a:srgbClr val="CADCFC"/>
          </a:solidFill>
          <a:ln/>
        </p:spPr>
      </p:sp>
      <p:sp>
        <p:nvSpPr>
          <p:cNvPr id="29" name="Text 27"/>
          <p:cNvSpPr txBox="1"/>
          <p:nvPr/>
        </p:nvSpPr>
        <p:spPr>
          <a:xfrm>
            <a:off x="4709160" y="3099816"/>
            <a:ext cx="2103120" cy="612648"/>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1E2761"/>
                </a:solidFill>
                <a:latin typeface="Courier New" pitchFamily="34" charset="0"/>
                <a:ea typeface="Courier New" pitchFamily="34" charset="-122"/>
                <a:cs typeface="Courier New" pitchFamily="34" charset="-120"/>
              </a:rPr>
              <a:t>own, r, w</a:t>
            </a:r>
            <a:endParaRPr lang="en-US" sz="1600" dirty="0"/>
          </a:p>
        </p:txBody>
      </p:sp>
      <p:sp>
        <p:nvSpPr>
          <p:cNvPr id="30" name="Shape 28"/>
          <p:cNvSpPr/>
          <p:nvPr/>
        </p:nvSpPr>
        <p:spPr>
          <a:xfrm>
            <a:off x="6858000" y="3099816"/>
            <a:ext cx="2103120" cy="612648"/>
          </a:xfrm>
          <a:prstGeom prst="roundRect">
            <a:avLst>
              <a:gd name="adj" fmla="val 5970"/>
            </a:avLst>
          </a:prstGeom>
          <a:solidFill>
            <a:srgbClr val="EEF2FB"/>
          </a:solidFill>
          <a:ln/>
        </p:spPr>
      </p:sp>
      <p:sp>
        <p:nvSpPr>
          <p:cNvPr id="31" name="Text 29"/>
          <p:cNvSpPr txBox="1"/>
          <p:nvPr/>
        </p:nvSpPr>
        <p:spPr>
          <a:xfrm>
            <a:off x="6858000" y="3099816"/>
            <a:ext cx="2103120" cy="612648"/>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1E2761"/>
                </a:solidFill>
                <a:latin typeface="Courier New" pitchFamily="34" charset="0"/>
                <a:ea typeface="Courier New" pitchFamily="34" charset="-122"/>
                <a:cs typeface="Courier New" pitchFamily="34" charset="-120"/>
              </a:rPr>
              <a:t>r, w</a:t>
            </a:r>
            <a:endParaRPr lang="en-US" sz="1600" dirty="0"/>
          </a:p>
        </p:txBody>
      </p:sp>
      <p:sp>
        <p:nvSpPr>
          <p:cNvPr id="32" name="Shape 30"/>
          <p:cNvSpPr/>
          <p:nvPr/>
        </p:nvSpPr>
        <p:spPr>
          <a:xfrm>
            <a:off x="9006840" y="3099816"/>
            <a:ext cx="2103120" cy="612648"/>
          </a:xfrm>
          <a:prstGeom prst="roundRect">
            <a:avLst>
              <a:gd name="adj" fmla="val 5970"/>
            </a:avLst>
          </a:prstGeom>
          <a:solidFill>
            <a:srgbClr val="EEF2FB"/>
          </a:solidFill>
          <a:ln/>
        </p:spPr>
      </p:sp>
      <p:sp>
        <p:nvSpPr>
          <p:cNvPr id="33" name="Text 31"/>
          <p:cNvSpPr txBox="1"/>
          <p:nvPr/>
        </p:nvSpPr>
        <p:spPr>
          <a:xfrm>
            <a:off x="9006840" y="3099816"/>
            <a:ext cx="2103120" cy="612648"/>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1E2761"/>
                </a:solidFill>
                <a:latin typeface="Courier New" pitchFamily="34" charset="0"/>
                <a:ea typeface="Courier New" pitchFamily="34" charset="-122"/>
                <a:cs typeface="Courier New" pitchFamily="34" charset="-120"/>
              </a:rPr>
              <a:t>print</a:t>
            </a:r>
            <a:endParaRPr lang="en-US" sz="1600" dirty="0"/>
          </a:p>
        </p:txBody>
      </p:sp>
      <p:sp>
        <p:nvSpPr>
          <p:cNvPr id="34" name="Shape 32"/>
          <p:cNvSpPr/>
          <p:nvPr/>
        </p:nvSpPr>
        <p:spPr>
          <a:xfrm>
            <a:off x="548640" y="3758184"/>
            <a:ext cx="1965960" cy="612648"/>
          </a:xfrm>
          <a:prstGeom prst="roundRect">
            <a:avLst>
              <a:gd name="adj" fmla="val 5970"/>
            </a:avLst>
          </a:prstGeom>
          <a:solidFill>
            <a:srgbClr val="2A3778"/>
          </a:solidFill>
          <a:ln/>
        </p:spPr>
      </p:sp>
      <p:sp>
        <p:nvSpPr>
          <p:cNvPr id="35" name="Text 33"/>
          <p:cNvSpPr txBox="1"/>
          <p:nvPr/>
        </p:nvSpPr>
        <p:spPr>
          <a:xfrm>
            <a:off x="548640" y="3758184"/>
            <a:ext cx="1965960" cy="612648"/>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Laborant</a:t>
            </a:r>
            <a:endParaRPr lang="en-US" sz="1600" dirty="0"/>
          </a:p>
        </p:txBody>
      </p:sp>
      <p:sp>
        <p:nvSpPr>
          <p:cNvPr id="36" name="Shape 34"/>
          <p:cNvSpPr/>
          <p:nvPr/>
        </p:nvSpPr>
        <p:spPr>
          <a:xfrm>
            <a:off x="2560320" y="3758184"/>
            <a:ext cx="2103120" cy="612648"/>
          </a:xfrm>
          <a:prstGeom prst="roundRect">
            <a:avLst>
              <a:gd name="adj" fmla="val 5970"/>
            </a:avLst>
          </a:prstGeom>
          <a:solidFill>
            <a:srgbClr val="FFFFFF"/>
          </a:solidFill>
          <a:ln w="12700">
            <a:solidFill>
              <a:srgbClr val="CADCFC"/>
            </a:solidFill>
            <a:prstDash val="solid"/>
          </a:ln>
        </p:spPr>
      </p:sp>
      <p:sp>
        <p:nvSpPr>
          <p:cNvPr id="37" name="Text 35"/>
          <p:cNvSpPr txBox="1"/>
          <p:nvPr/>
        </p:nvSpPr>
        <p:spPr>
          <a:xfrm>
            <a:off x="2560320" y="3758184"/>
            <a:ext cx="2103120" cy="612648"/>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5B6270"/>
                </a:solidFill>
                <a:latin typeface="Courier New" pitchFamily="34" charset="0"/>
                <a:ea typeface="Courier New" pitchFamily="34" charset="-122"/>
                <a:cs typeface="Courier New" pitchFamily="34" charset="-120"/>
              </a:rPr>
              <a:t>—</a:t>
            </a:r>
            <a:endParaRPr lang="en-US" sz="1600" dirty="0"/>
          </a:p>
        </p:txBody>
      </p:sp>
      <p:sp>
        <p:nvSpPr>
          <p:cNvPr id="38" name="Shape 36"/>
          <p:cNvSpPr/>
          <p:nvPr/>
        </p:nvSpPr>
        <p:spPr>
          <a:xfrm>
            <a:off x="4709160" y="3758184"/>
            <a:ext cx="2103120" cy="612648"/>
          </a:xfrm>
          <a:prstGeom prst="roundRect">
            <a:avLst>
              <a:gd name="adj" fmla="val 5970"/>
            </a:avLst>
          </a:prstGeom>
          <a:solidFill>
            <a:srgbClr val="EEF2FB"/>
          </a:solidFill>
          <a:ln/>
        </p:spPr>
      </p:sp>
      <p:sp>
        <p:nvSpPr>
          <p:cNvPr id="39" name="Text 37"/>
          <p:cNvSpPr txBox="1"/>
          <p:nvPr/>
        </p:nvSpPr>
        <p:spPr>
          <a:xfrm>
            <a:off x="4709160" y="3758184"/>
            <a:ext cx="2103120" cy="612648"/>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1E2761"/>
                </a:solidFill>
                <a:latin typeface="Courier New" pitchFamily="34" charset="0"/>
                <a:ea typeface="Courier New" pitchFamily="34" charset="-122"/>
                <a:cs typeface="Courier New" pitchFamily="34" charset="-120"/>
              </a:rPr>
              <a:t>r</a:t>
            </a:r>
            <a:endParaRPr lang="en-US" sz="1600" dirty="0"/>
          </a:p>
        </p:txBody>
      </p:sp>
      <p:sp>
        <p:nvSpPr>
          <p:cNvPr id="40" name="Shape 38"/>
          <p:cNvSpPr/>
          <p:nvPr/>
        </p:nvSpPr>
        <p:spPr>
          <a:xfrm>
            <a:off x="6858000" y="3758184"/>
            <a:ext cx="2103120" cy="612648"/>
          </a:xfrm>
          <a:prstGeom prst="roundRect">
            <a:avLst>
              <a:gd name="adj" fmla="val 5970"/>
            </a:avLst>
          </a:prstGeom>
          <a:solidFill>
            <a:srgbClr val="EEF2FB"/>
          </a:solidFill>
          <a:ln/>
        </p:spPr>
      </p:sp>
      <p:sp>
        <p:nvSpPr>
          <p:cNvPr id="41" name="Text 39"/>
          <p:cNvSpPr txBox="1"/>
          <p:nvPr/>
        </p:nvSpPr>
        <p:spPr>
          <a:xfrm>
            <a:off x="6858000" y="3758184"/>
            <a:ext cx="2103120" cy="612648"/>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1E2761"/>
                </a:solidFill>
                <a:latin typeface="Courier New" pitchFamily="34" charset="0"/>
                <a:ea typeface="Courier New" pitchFamily="34" charset="-122"/>
                <a:cs typeface="Courier New" pitchFamily="34" charset="-120"/>
              </a:rPr>
              <a:t>r</a:t>
            </a:r>
            <a:endParaRPr lang="en-US" sz="1600" dirty="0"/>
          </a:p>
        </p:txBody>
      </p:sp>
      <p:sp>
        <p:nvSpPr>
          <p:cNvPr id="42" name="Shape 40"/>
          <p:cNvSpPr/>
          <p:nvPr/>
        </p:nvSpPr>
        <p:spPr>
          <a:xfrm>
            <a:off x="9006840" y="3758184"/>
            <a:ext cx="2103120" cy="612648"/>
          </a:xfrm>
          <a:prstGeom prst="roundRect">
            <a:avLst>
              <a:gd name="adj" fmla="val 5970"/>
            </a:avLst>
          </a:prstGeom>
          <a:solidFill>
            <a:srgbClr val="EEF2FB"/>
          </a:solidFill>
          <a:ln/>
        </p:spPr>
      </p:sp>
      <p:sp>
        <p:nvSpPr>
          <p:cNvPr id="43" name="Text 41"/>
          <p:cNvSpPr txBox="1"/>
          <p:nvPr/>
        </p:nvSpPr>
        <p:spPr>
          <a:xfrm>
            <a:off x="9006840" y="3758184"/>
            <a:ext cx="2103120" cy="612648"/>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1E2761"/>
                </a:solidFill>
                <a:latin typeface="Courier New" pitchFamily="34" charset="0"/>
                <a:ea typeface="Courier New" pitchFamily="34" charset="-122"/>
                <a:cs typeface="Courier New" pitchFamily="34" charset="-120"/>
              </a:rPr>
              <a:t>print, mng</a:t>
            </a:r>
            <a:endParaRPr lang="en-US" sz="1600" dirty="0"/>
          </a:p>
        </p:txBody>
      </p:sp>
      <p:sp>
        <p:nvSpPr>
          <p:cNvPr id="44" name="Shape 42"/>
          <p:cNvSpPr/>
          <p:nvPr/>
        </p:nvSpPr>
        <p:spPr>
          <a:xfrm>
            <a:off x="548640" y="4416552"/>
            <a:ext cx="1965960" cy="612648"/>
          </a:xfrm>
          <a:prstGeom prst="roundRect">
            <a:avLst>
              <a:gd name="adj" fmla="val 5970"/>
            </a:avLst>
          </a:prstGeom>
          <a:solidFill>
            <a:srgbClr val="2A3778"/>
          </a:solidFill>
          <a:ln/>
        </p:spPr>
      </p:sp>
      <p:sp>
        <p:nvSpPr>
          <p:cNvPr id="45" name="Text 43"/>
          <p:cNvSpPr txBox="1"/>
          <p:nvPr/>
        </p:nvSpPr>
        <p:spPr>
          <a:xfrm>
            <a:off x="548640" y="4416552"/>
            <a:ext cx="1965960" cy="612648"/>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FFFFFF"/>
                </a:solidFill>
                <a:latin typeface="Times New Roman" pitchFamily="34" charset="0"/>
                <a:ea typeface="Times New Roman" pitchFamily="34" charset="-122"/>
                <a:cs typeface="Times New Roman" pitchFamily="34" charset="-120"/>
              </a:rPr>
              <a:t>Talaba</a:t>
            </a:r>
            <a:endParaRPr lang="en-US" sz="1600" dirty="0"/>
          </a:p>
        </p:txBody>
      </p:sp>
      <p:sp>
        <p:nvSpPr>
          <p:cNvPr id="46" name="Shape 44"/>
          <p:cNvSpPr/>
          <p:nvPr/>
        </p:nvSpPr>
        <p:spPr>
          <a:xfrm>
            <a:off x="2560320" y="4416552"/>
            <a:ext cx="2103120" cy="612648"/>
          </a:xfrm>
          <a:prstGeom prst="roundRect">
            <a:avLst>
              <a:gd name="adj" fmla="val 5970"/>
            </a:avLst>
          </a:prstGeom>
          <a:solidFill>
            <a:srgbClr val="FFFFFF"/>
          </a:solidFill>
          <a:ln w="12700">
            <a:solidFill>
              <a:srgbClr val="CADCFC"/>
            </a:solidFill>
            <a:prstDash val="solid"/>
          </a:ln>
        </p:spPr>
      </p:sp>
      <p:sp>
        <p:nvSpPr>
          <p:cNvPr id="47" name="Text 45"/>
          <p:cNvSpPr txBox="1"/>
          <p:nvPr/>
        </p:nvSpPr>
        <p:spPr>
          <a:xfrm>
            <a:off x="2560320" y="4416552"/>
            <a:ext cx="2103120" cy="612648"/>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5B6270"/>
                </a:solidFill>
                <a:latin typeface="Courier New" pitchFamily="34" charset="0"/>
                <a:ea typeface="Courier New" pitchFamily="34" charset="-122"/>
                <a:cs typeface="Courier New" pitchFamily="34" charset="-120"/>
              </a:rPr>
              <a:t>—</a:t>
            </a:r>
            <a:endParaRPr lang="en-US" sz="1600" dirty="0"/>
          </a:p>
        </p:txBody>
      </p:sp>
      <p:sp>
        <p:nvSpPr>
          <p:cNvPr id="48" name="Shape 46"/>
          <p:cNvSpPr/>
          <p:nvPr/>
        </p:nvSpPr>
        <p:spPr>
          <a:xfrm>
            <a:off x="4709160" y="4416552"/>
            <a:ext cx="2103120" cy="612648"/>
          </a:xfrm>
          <a:prstGeom prst="roundRect">
            <a:avLst>
              <a:gd name="adj" fmla="val 5970"/>
            </a:avLst>
          </a:prstGeom>
          <a:solidFill>
            <a:srgbClr val="EEF2FB"/>
          </a:solidFill>
          <a:ln/>
        </p:spPr>
      </p:sp>
      <p:sp>
        <p:nvSpPr>
          <p:cNvPr id="49" name="Text 47"/>
          <p:cNvSpPr txBox="1"/>
          <p:nvPr/>
        </p:nvSpPr>
        <p:spPr>
          <a:xfrm>
            <a:off x="4709160" y="4416552"/>
            <a:ext cx="2103120" cy="612648"/>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1E2761"/>
                </a:solidFill>
                <a:latin typeface="Courier New" pitchFamily="34" charset="0"/>
                <a:ea typeface="Courier New" pitchFamily="34" charset="-122"/>
                <a:cs typeface="Courier New" pitchFamily="34" charset="-120"/>
              </a:rPr>
              <a:t>r</a:t>
            </a:r>
            <a:endParaRPr lang="en-US" sz="1600" dirty="0"/>
          </a:p>
        </p:txBody>
      </p:sp>
      <p:sp>
        <p:nvSpPr>
          <p:cNvPr id="50" name="Shape 48"/>
          <p:cNvSpPr/>
          <p:nvPr/>
        </p:nvSpPr>
        <p:spPr>
          <a:xfrm>
            <a:off x="6858000" y="4416552"/>
            <a:ext cx="2103120" cy="612648"/>
          </a:xfrm>
          <a:prstGeom prst="roundRect">
            <a:avLst>
              <a:gd name="adj" fmla="val 5970"/>
            </a:avLst>
          </a:prstGeom>
          <a:solidFill>
            <a:srgbClr val="FFFFFF"/>
          </a:solidFill>
          <a:ln w="12700">
            <a:solidFill>
              <a:srgbClr val="CADCFC"/>
            </a:solidFill>
            <a:prstDash val="solid"/>
          </a:ln>
        </p:spPr>
      </p:sp>
      <p:sp>
        <p:nvSpPr>
          <p:cNvPr id="51" name="Text 49"/>
          <p:cNvSpPr txBox="1"/>
          <p:nvPr/>
        </p:nvSpPr>
        <p:spPr>
          <a:xfrm>
            <a:off x="6858000" y="4416552"/>
            <a:ext cx="2103120" cy="612648"/>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5B6270"/>
                </a:solidFill>
                <a:latin typeface="Courier New" pitchFamily="34" charset="0"/>
                <a:ea typeface="Courier New" pitchFamily="34" charset="-122"/>
                <a:cs typeface="Courier New" pitchFamily="34" charset="-120"/>
              </a:rPr>
              <a:t>—</a:t>
            </a:r>
            <a:endParaRPr lang="en-US" sz="1600" dirty="0"/>
          </a:p>
        </p:txBody>
      </p:sp>
      <p:sp>
        <p:nvSpPr>
          <p:cNvPr id="52" name="Shape 50"/>
          <p:cNvSpPr/>
          <p:nvPr/>
        </p:nvSpPr>
        <p:spPr>
          <a:xfrm>
            <a:off x="9006840" y="4416552"/>
            <a:ext cx="2103120" cy="612648"/>
          </a:xfrm>
          <a:prstGeom prst="roundRect">
            <a:avLst>
              <a:gd name="adj" fmla="val 5970"/>
            </a:avLst>
          </a:prstGeom>
          <a:solidFill>
            <a:srgbClr val="EEF2FB"/>
          </a:solidFill>
          <a:ln/>
        </p:spPr>
      </p:sp>
      <p:sp>
        <p:nvSpPr>
          <p:cNvPr id="53" name="Text 51"/>
          <p:cNvSpPr txBox="1"/>
          <p:nvPr/>
        </p:nvSpPr>
        <p:spPr>
          <a:xfrm>
            <a:off x="9006840" y="4416552"/>
            <a:ext cx="2103120" cy="612648"/>
          </a:xfrm>
          <a:prstGeom prst="rect">
            <a:avLst/>
          </a:prstGeom>
          <a:noFill/>
          <a:ln/>
        </p:spPr>
        <p:txBody>
          <a:bodyPr wrap="square" lIns="50800" tIns="50800" rIns="50800" bIns="50800" rtlCol="0" anchor="ctr"/>
          <a:lstStyle/>
          <a:p>
            <a:pPr algn="ctr" indent="0" marL="0">
              <a:lnSpc>
                <a:spcPct val="100000"/>
              </a:lnSpc>
              <a:buNone/>
            </a:pPr>
            <a:r>
              <a:rPr lang="en-US" sz="1600" dirty="0">
                <a:solidFill>
                  <a:srgbClr val="1E2761"/>
                </a:solidFill>
                <a:latin typeface="Courier New" pitchFamily="34" charset="0"/>
                <a:ea typeface="Courier New" pitchFamily="34" charset="-122"/>
                <a:cs typeface="Courier New" pitchFamily="34" charset="-120"/>
              </a:rPr>
              <a:t>print</a:t>
            </a:r>
            <a:endParaRPr lang="en-US" sz="1600" dirty="0"/>
          </a:p>
        </p:txBody>
      </p:sp>
      <p:sp>
        <p:nvSpPr>
          <p:cNvPr id="54" name="Text 52"/>
          <p:cNvSpPr txBox="1"/>
          <p:nvPr/>
        </p:nvSpPr>
        <p:spPr>
          <a:xfrm>
            <a:off x="548640" y="5166360"/>
            <a:ext cx="2011680" cy="384048"/>
          </a:xfrm>
          <a:prstGeom prst="rect">
            <a:avLst/>
          </a:prstGeom>
          <a:noFill/>
          <a:ln/>
        </p:spPr>
        <p:txBody>
          <a:bodyPr wrap="square" lIns="0" tIns="0" rIns="0" bIns="0" rtlCol="0" anchor="t"/>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Katak A[s, o]</a:t>
            </a:r>
            <a:endParaRPr lang="en-US" sz="1500" dirty="0"/>
          </a:p>
        </p:txBody>
      </p:sp>
      <p:sp>
        <p:nvSpPr>
          <p:cNvPr id="55" name="Text 53"/>
          <p:cNvSpPr txBox="1"/>
          <p:nvPr/>
        </p:nvSpPr>
        <p:spPr>
          <a:xfrm>
            <a:off x="2560320" y="5166360"/>
            <a:ext cx="9052560" cy="384048"/>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sub'ekt s ning obyekt o ga huquqlari to'plami</a:t>
            </a:r>
            <a:endParaRPr lang="en-US" sz="1500" dirty="0"/>
          </a:p>
        </p:txBody>
      </p:sp>
      <p:sp>
        <p:nvSpPr>
          <p:cNvPr id="56" name="Text 54"/>
          <p:cNvSpPr txBox="1"/>
          <p:nvPr/>
        </p:nvSpPr>
        <p:spPr>
          <a:xfrm>
            <a:off x="548640" y="5577840"/>
            <a:ext cx="2011680" cy="384048"/>
          </a:xfrm>
          <a:prstGeom prst="rect">
            <a:avLst/>
          </a:prstGeom>
          <a:noFill/>
          <a:ln/>
        </p:spPr>
        <p:txBody>
          <a:bodyPr wrap="square" lIns="0" tIns="0" rIns="0" bIns="0" rtlCol="0" anchor="t"/>
          <a:lstStyle/>
          <a:p>
            <a:pPr algn="l" indent="0" marL="0">
              <a:lnSpc>
                <a:spcPct val="100000"/>
              </a:lnSpc>
              <a:buNone/>
            </a:pPr>
            <a:r>
              <a:rPr lang="en-US" sz="1500" b="1" dirty="0">
                <a:solidFill>
                  <a:srgbClr val="1E2761"/>
                </a:solidFill>
                <a:latin typeface="Courier New" pitchFamily="34" charset="0"/>
                <a:ea typeface="Courier New" pitchFamily="34" charset="-122"/>
                <a:cs typeface="Courier New" pitchFamily="34" charset="-120"/>
              </a:rPr>
              <a:t>own</a:t>
            </a:r>
            <a:endParaRPr lang="en-US" sz="1500" dirty="0"/>
          </a:p>
        </p:txBody>
      </p:sp>
      <p:sp>
        <p:nvSpPr>
          <p:cNvPr id="57" name="Text 55"/>
          <p:cNvSpPr txBox="1"/>
          <p:nvPr/>
        </p:nvSpPr>
        <p:spPr>
          <a:xfrm>
            <a:off x="2560320" y="5577840"/>
            <a:ext cx="9052560" cy="384048"/>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egalik — DAC da boshqa huquqlarni berish vakolati</a:t>
            </a:r>
            <a:endParaRPr lang="en-US" sz="1500" dirty="0"/>
          </a:p>
        </p:txBody>
      </p:sp>
      <p:sp>
        <p:nvSpPr>
          <p:cNvPr id="58" name="Text 56"/>
          <p:cNvSpPr txBox="1"/>
          <p:nvPr/>
        </p:nvSpPr>
        <p:spPr>
          <a:xfrm>
            <a:off x="548640" y="5989320"/>
            <a:ext cx="2011680" cy="384048"/>
          </a:xfrm>
          <a:prstGeom prst="rect">
            <a:avLst/>
          </a:prstGeom>
          <a:noFill/>
          <a:ln/>
        </p:spPr>
        <p:txBody>
          <a:bodyPr wrap="square" lIns="0" tIns="0" rIns="0" bIns="0" rtlCol="0" anchor="t"/>
          <a:lstStyle/>
          <a:p>
            <a:pPr algn="l" indent="0" marL="0">
              <a:lnSpc>
                <a:spcPct val="100000"/>
              </a:lnSpc>
              <a:buNone/>
            </a:pPr>
            <a:r>
              <a:rPr lang="en-US" sz="1500" b="1" dirty="0">
                <a:solidFill>
                  <a:srgbClr val="9E3B2E"/>
                </a:solidFill>
                <a:latin typeface="Times New Roman" pitchFamily="34" charset="0"/>
                <a:ea typeface="Times New Roman" pitchFamily="34" charset="-122"/>
                <a:cs typeface="Times New Roman" pitchFamily="34" charset="-120"/>
              </a:rPr>
              <a:t>Muammo</a:t>
            </a:r>
            <a:endParaRPr lang="en-US" sz="1500" dirty="0"/>
          </a:p>
        </p:txBody>
      </p:sp>
      <p:sp>
        <p:nvSpPr>
          <p:cNvPr id="59" name="Text 57"/>
          <p:cNvSpPr txBox="1"/>
          <p:nvPr/>
        </p:nvSpPr>
        <p:spPr>
          <a:xfrm>
            <a:off x="2560320" y="5989320"/>
            <a:ext cx="9052560" cy="384048"/>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Universitetda 20 000 sub'ekt × 1 mln obyekt: katak­larning aksariyati bo'sh</a:t>
            </a:r>
            <a:endParaRPr lang="en-US" sz="1500" dirty="0"/>
          </a:p>
        </p:txBody>
      </p:sp>
      <p:sp>
        <p:nvSpPr>
          <p:cNvPr id="60" name="Text 58"/>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61" name="Text 59"/>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 · AMALGA OSHIRISH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Ustun bo'yicha yoki satr bo'yicha saqlash</a:t>
            </a:r>
            <a:endParaRPr lang="en-US" sz="3600" dirty="0"/>
          </a:p>
        </p:txBody>
      </p:sp>
      <p:sp>
        <p:nvSpPr>
          <p:cNvPr id="4" name="Shape 2"/>
          <p:cNvSpPr/>
          <p:nvPr/>
        </p:nvSpPr>
        <p:spPr>
          <a:xfrm>
            <a:off x="548640" y="1783080"/>
            <a:ext cx="5486400" cy="868680"/>
          </a:xfrm>
          <a:prstGeom prst="roundRect">
            <a:avLst>
              <a:gd name="adj" fmla="val 9474"/>
            </a:avLst>
          </a:prstGeom>
          <a:solidFill>
            <a:srgbClr val="1E2761"/>
          </a:solidFill>
          <a:ln/>
        </p:spPr>
      </p:sp>
      <p:sp>
        <p:nvSpPr>
          <p:cNvPr id="5" name="Text 3"/>
          <p:cNvSpPr txBox="1"/>
          <p:nvPr/>
        </p:nvSpPr>
        <p:spPr>
          <a:xfrm>
            <a:off x="777240" y="1810512"/>
            <a:ext cx="5029200" cy="457200"/>
          </a:xfrm>
          <a:prstGeom prst="rect">
            <a:avLst/>
          </a:prstGeom>
          <a:noFill/>
          <a:ln/>
        </p:spPr>
        <p:txBody>
          <a:bodyPr wrap="square" lIns="0" tIns="0" rIns="0" bIns="0" rtlCol="0" anchor="t"/>
          <a:lstStyle/>
          <a:p>
            <a:pPr algn="l"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ACL</a:t>
            </a:r>
            <a:endParaRPr lang="en-US" sz="2200" dirty="0"/>
          </a:p>
        </p:txBody>
      </p:sp>
      <p:sp>
        <p:nvSpPr>
          <p:cNvPr id="6" name="Text 4"/>
          <p:cNvSpPr txBox="1"/>
          <p:nvPr/>
        </p:nvSpPr>
        <p:spPr>
          <a:xfrm>
            <a:off x="777240" y="2240280"/>
            <a:ext cx="5029200" cy="347472"/>
          </a:xfrm>
          <a:prstGeom prst="rect">
            <a:avLst/>
          </a:prstGeom>
          <a:noFill/>
          <a:ln/>
        </p:spPr>
        <p:txBody>
          <a:bodyPr wrap="square" lIns="0" tIns="0" rIns="0" bIns="0" rtlCol="0" anchor="t"/>
          <a:lstStyle/>
          <a:p>
            <a:pPr algn="l"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foydalanishni boshqarish ro'yxati</a:t>
            </a:r>
            <a:endParaRPr lang="en-US" sz="1400" dirty="0"/>
          </a:p>
        </p:txBody>
      </p:sp>
      <p:sp>
        <p:nvSpPr>
          <p:cNvPr id="7" name="Text 5"/>
          <p:cNvSpPr txBox="1"/>
          <p:nvPr/>
        </p:nvSpPr>
        <p:spPr>
          <a:xfrm>
            <a:off x="548640" y="2743200"/>
            <a:ext cx="5486400" cy="365760"/>
          </a:xfrm>
          <a:prstGeom prst="rect">
            <a:avLst/>
          </a:prstGeom>
          <a:noFill/>
          <a:ln/>
        </p:spPr>
        <p:txBody>
          <a:bodyPr wrap="square" lIns="0" tIns="0" rIns="0" bIns="0" rtlCol="0" anchor="t"/>
          <a:lstStyle/>
          <a:p>
            <a:pPr algn="ctr"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Matritsa ustuni — obyekt bilan birga</a:t>
            </a:r>
            <a:endParaRPr lang="en-US" sz="1600" dirty="0"/>
          </a:p>
        </p:txBody>
      </p:sp>
      <p:sp>
        <p:nvSpPr>
          <p:cNvPr id="8" name="Shape 6"/>
          <p:cNvSpPr/>
          <p:nvPr/>
        </p:nvSpPr>
        <p:spPr>
          <a:xfrm>
            <a:off x="548640" y="3154680"/>
            <a:ext cx="5486400" cy="1051560"/>
          </a:xfrm>
          <a:prstGeom prst="roundRect">
            <a:avLst>
              <a:gd name="adj" fmla="val 7826"/>
            </a:avLst>
          </a:prstGeom>
          <a:solidFill>
            <a:srgbClr val="162048"/>
          </a:solidFill>
          <a:ln/>
        </p:spPr>
      </p:sp>
      <p:sp>
        <p:nvSpPr>
          <p:cNvPr id="9" name="Text 7"/>
          <p:cNvSpPr txBox="1"/>
          <p:nvPr/>
        </p:nvSpPr>
        <p:spPr>
          <a:xfrm>
            <a:off x="777240" y="3337560"/>
            <a:ext cx="5029200" cy="685800"/>
          </a:xfrm>
          <a:prstGeom prst="rect">
            <a:avLst/>
          </a:prstGeom>
          <a:noFill/>
          <a:ln/>
        </p:spPr>
        <p:txBody>
          <a:bodyPr wrap="square" lIns="0" tIns="0" rIns="0" bIns="0" rtlCol="0" anchor="t"/>
          <a:lstStyle/>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baholar.xlsx:</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Karimov: own, r, w</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Nazarova: r</a:t>
            </a:r>
            <a:endParaRPr lang="en-US" sz="1300" dirty="0"/>
          </a:p>
        </p:txBody>
      </p:sp>
      <p:sp>
        <p:nvSpPr>
          <p:cNvPr id="10" name="Shape 8"/>
          <p:cNvSpPr/>
          <p:nvPr/>
        </p:nvSpPr>
        <p:spPr>
          <a:xfrm>
            <a:off x="548640" y="4297680"/>
            <a:ext cx="5486400" cy="548640"/>
          </a:xfrm>
          <a:prstGeom prst="roundRect">
            <a:avLst>
              <a:gd name="adj" fmla="val 15000"/>
            </a:avLst>
          </a:prstGeom>
          <a:solidFill>
            <a:srgbClr val="E8F3EC"/>
          </a:solidFill>
          <a:ln/>
        </p:spPr>
      </p:sp>
      <p:sp>
        <p:nvSpPr>
          <p:cNvPr id="11" name="Text 9"/>
          <p:cNvSpPr txBox="1"/>
          <p:nvPr/>
        </p:nvSpPr>
        <p:spPr>
          <a:xfrm>
            <a:off x="731520" y="4297680"/>
            <a:ext cx="5120640" cy="548640"/>
          </a:xfrm>
          <a:prstGeom prst="rect">
            <a:avLst/>
          </a:prstGeom>
          <a:noFill/>
          <a:ln/>
        </p:spPr>
        <p:txBody>
          <a:bodyPr wrap="square" lIns="0" tIns="0" rIns="0" bIns="0" rtlCol="0" anchor="ctr"/>
          <a:lstStyle/>
          <a:p>
            <a:pPr algn="l" indent="0" marL="0">
              <a:lnSpc>
                <a:spcPct val="100000"/>
              </a:lnSpc>
              <a:buNone/>
            </a:pPr>
            <a:r>
              <a:rPr lang="en-US" sz="1500" b="1" dirty="0">
                <a:solidFill>
                  <a:srgbClr val="1F6B4A"/>
                </a:solidFill>
                <a:latin typeface="Times New Roman" pitchFamily="34" charset="0"/>
                <a:ea typeface="Times New Roman" pitchFamily="34" charset="-122"/>
                <a:cs typeface="Times New Roman" pitchFamily="34" charset="-120"/>
              </a:rPr>
              <a:t>+ «Bu faylga kim kira oladi?» — oson</a:t>
            </a:r>
            <a:endParaRPr lang="en-US" sz="1500" dirty="0"/>
          </a:p>
        </p:txBody>
      </p:sp>
      <p:sp>
        <p:nvSpPr>
          <p:cNvPr id="12" name="Shape 10"/>
          <p:cNvSpPr/>
          <p:nvPr/>
        </p:nvSpPr>
        <p:spPr>
          <a:xfrm>
            <a:off x="548640" y="4919472"/>
            <a:ext cx="5486400" cy="548640"/>
          </a:xfrm>
          <a:prstGeom prst="roundRect">
            <a:avLst>
              <a:gd name="adj" fmla="val 15000"/>
            </a:avLst>
          </a:prstGeom>
          <a:solidFill>
            <a:srgbClr val="F7ECEA"/>
          </a:solidFill>
          <a:ln/>
        </p:spPr>
      </p:sp>
      <p:sp>
        <p:nvSpPr>
          <p:cNvPr id="13" name="Text 11"/>
          <p:cNvSpPr txBox="1"/>
          <p:nvPr/>
        </p:nvSpPr>
        <p:spPr>
          <a:xfrm>
            <a:off x="731520" y="4919472"/>
            <a:ext cx="5120640" cy="548640"/>
          </a:xfrm>
          <a:prstGeom prst="rect">
            <a:avLst/>
          </a:prstGeom>
          <a:noFill/>
          <a:ln/>
        </p:spPr>
        <p:txBody>
          <a:bodyPr wrap="square" lIns="0" tIns="0" rIns="0" bIns="0" rtlCol="0" anchor="ctr"/>
          <a:lstStyle/>
          <a:p>
            <a:pPr algn="l" indent="0" marL="0">
              <a:lnSpc>
                <a:spcPct val="100000"/>
              </a:lnSpc>
              <a:buNone/>
            </a:pPr>
            <a:r>
              <a:rPr lang="en-US" sz="1500" dirty="0">
                <a:solidFill>
                  <a:srgbClr val="9E3B2E"/>
                </a:solidFill>
                <a:latin typeface="Times New Roman" pitchFamily="34" charset="0"/>
                <a:ea typeface="Times New Roman" pitchFamily="34" charset="-122"/>
                <a:cs typeface="Times New Roman" pitchFamily="34" charset="-120"/>
              </a:rPr>
              <a:t>− «Karimov nimalarga kira oladi?» — hamma obyektni ko'rish kerak</a:t>
            </a:r>
            <a:endParaRPr lang="en-US" sz="1500" dirty="0"/>
          </a:p>
        </p:txBody>
      </p:sp>
      <p:sp>
        <p:nvSpPr>
          <p:cNvPr id="14" name="Text 12"/>
          <p:cNvSpPr txBox="1"/>
          <p:nvPr/>
        </p:nvSpPr>
        <p:spPr>
          <a:xfrm>
            <a:off x="548640" y="5577840"/>
            <a:ext cx="5486400" cy="594360"/>
          </a:xfrm>
          <a:prstGeom prst="rect">
            <a:avLst/>
          </a:prstGeom>
          <a:noFill/>
          <a:ln/>
        </p:spPr>
        <p:txBody>
          <a:bodyPr wrap="square" lIns="0" tIns="0" rIns="0" bIns="0" rtlCol="0" anchor="t"/>
          <a:lstStyle/>
          <a:p>
            <a:pPr algn="ctr" indent="0" marL="0">
              <a:lnSpc>
                <a:spcPct val="100000"/>
              </a:lnSpc>
              <a:buNone/>
            </a:pPr>
            <a:r>
              <a:rPr lang="en-US" sz="1500" dirty="0">
                <a:solidFill>
                  <a:srgbClr val="5B6270"/>
                </a:solidFill>
                <a:latin typeface="Times New Roman" pitchFamily="34" charset="0"/>
                <a:ea typeface="Times New Roman" pitchFamily="34" charset="-122"/>
                <a:cs typeface="Times New Roman" pitchFamily="34" charset="-120"/>
              </a:rPr>
              <a:t>Windows NTFS, Linux, AD obyektlari</a:t>
            </a:r>
            <a:endParaRPr lang="en-US" sz="1500" dirty="0"/>
          </a:p>
        </p:txBody>
      </p:sp>
      <p:sp>
        <p:nvSpPr>
          <p:cNvPr id="15" name="Shape 13"/>
          <p:cNvSpPr/>
          <p:nvPr/>
        </p:nvSpPr>
        <p:spPr>
          <a:xfrm>
            <a:off x="6126480" y="1783080"/>
            <a:ext cx="5486400" cy="868680"/>
          </a:xfrm>
          <a:prstGeom prst="roundRect">
            <a:avLst>
              <a:gd name="adj" fmla="val 9474"/>
            </a:avLst>
          </a:prstGeom>
          <a:solidFill>
            <a:srgbClr val="2A3778"/>
          </a:solidFill>
          <a:ln/>
        </p:spPr>
      </p:sp>
      <p:sp>
        <p:nvSpPr>
          <p:cNvPr id="16" name="Text 14"/>
          <p:cNvSpPr txBox="1"/>
          <p:nvPr/>
        </p:nvSpPr>
        <p:spPr>
          <a:xfrm>
            <a:off x="6355080" y="1810512"/>
            <a:ext cx="5029200" cy="457200"/>
          </a:xfrm>
          <a:prstGeom prst="rect">
            <a:avLst/>
          </a:prstGeom>
          <a:noFill/>
          <a:ln/>
        </p:spPr>
        <p:txBody>
          <a:bodyPr wrap="square" lIns="0" tIns="0" rIns="0" bIns="0" rtlCol="0" anchor="t"/>
          <a:lstStyle/>
          <a:p>
            <a:pPr algn="l"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C-list</a:t>
            </a:r>
            <a:endParaRPr lang="en-US" sz="2200" dirty="0"/>
          </a:p>
        </p:txBody>
      </p:sp>
      <p:sp>
        <p:nvSpPr>
          <p:cNvPr id="17" name="Text 15"/>
          <p:cNvSpPr txBox="1"/>
          <p:nvPr/>
        </p:nvSpPr>
        <p:spPr>
          <a:xfrm>
            <a:off x="6355080" y="2240280"/>
            <a:ext cx="5029200" cy="347472"/>
          </a:xfrm>
          <a:prstGeom prst="rect">
            <a:avLst/>
          </a:prstGeom>
          <a:noFill/>
          <a:ln/>
        </p:spPr>
        <p:txBody>
          <a:bodyPr wrap="square" lIns="0" tIns="0" rIns="0" bIns="0" rtlCol="0" anchor="t"/>
          <a:lstStyle/>
          <a:p>
            <a:pPr algn="l"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imkoniyatlar ro'yxati</a:t>
            </a:r>
            <a:endParaRPr lang="en-US" sz="1400" dirty="0"/>
          </a:p>
        </p:txBody>
      </p:sp>
      <p:sp>
        <p:nvSpPr>
          <p:cNvPr id="18" name="Text 16"/>
          <p:cNvSpPr txBox="1"/>
          <p:nvPr/>
        </p:nvSpPr>
        <p:spPr>
          <a:xfrm>
            <a:off x="6126480" y="2743200"/>
            <a:ext cx="5486400" cy="365760"/>
          </a:xfrm>
          <a:prstGeom prst="rect">
            <a:avLst/>
          </a:prstGeom>
          <a:noFill/>
          <a:ln/>
        </p:spPr>
        <p:txBody>
          <a:bodyPr wrap="square" lIns="0" tIns="0" rIns="0" bIns="0" rtlCol="0" anchor="t"/>
          <a:lstStyle/>
          <a:p>
            <a:pPr algn="ctr"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Matritsa satri — sub'ekt bilan birga</a:t>
            </a:r>
            <a:endParaRPr lang="en-US" sz="1600" dirty="0"/>
          </a:p>
        </p:txBody>
      </p:sp>
      <p:sp>
        <p:nvSpPr>
          <p:cNvPr id="19" name="Shape 17"/>
          <p:cNvSpPr/>
          <p:nvPr/>
        </p:nvSpPr>
        <p:spPr>
          <a:xfrm>
            <a:off x="6126480" y="3154680"/>
            <a:ext cx="5486400" cy="1051560"/>
          </a:xfrm>
          <a:prstGeom prst="roundRect">
            <a:avLst>
              <a:gd name="adj" fmla="val 7826"/>
            </a:avLst>
          </a:prstGeom>
          <a:solidFill>
            <a:srgbClr val="162048"/>
          </a:solidFill>
          <a:ln/>
        </p:spPr>
      </p:sp>
      <p:sp>
        <p:nvSpPr>
          <p:cNvPr id="20" name="Text 18"/>
          <p:cNvSpPr txBox="1"/>
          <p:nvPr/>
        </p:nvSpPr>
        <p:spPr>
          <a:xfrm>
            <a:off x="6355080" y="3337560"/>
            <a:ext cx="5029200" cy="685800"/>
          </a:xfrm>
          <a:prstGeom prst="rect">
            <a:avLst/>
          </a:prstGeom>
          <a:noFill/>
          <a:ln/>
        </p:spPr>
        <p:txBody>
          <a:bodyPr wrap="square" lIns="0" tIns="0" rIns="0" bIns="0" rtlCol="0" anchor="t"/>
          <a:lstStyle/>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Karimov:</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baholar.xlsx: own, r, w</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jadval.docx: r</a:t>
            </a:r>
            <a:endParaRPr lang="en-US" sz="1300" dirty="0"/>
          </a:p>
        </p:txBody>
      </p:sp>
      <p:sp>
        <p:nvSpPr>
          <p:cNvPr id="21" name="Shape 19"/>
          <p:cNvSpPr/>
          <p:nvPr/>
        </p:nvSpPr>
        <p:spPr>
          <a:xfrm>
            <a:off x="6126480" y="4297680"/>
            <a:ext cx="5486400" cy="548640"/>
          </a:xfrm>
          <a:prstGeom prst="roundRect">
            <a:avLst>
              <a:gd name="adj" fmla="val 15000"/>
            </a:avLst>
          </a:prstGeom>
          <a:solidFill>
            <a:srgbClr val="E8F3EC"/>
          </a:solidFill>
          <a:ln/>
        </p:spPr>
      </p:sp>
      <p:sp>
        <p:nvSpPr>
          <p:cNvPr id="22" name="Text 20"/>
          <p:cNvSpPr txBox="1"/>
          <p:nvPr/>
        </p:nvSpPr>
        <p:spPr>
          <a:xfrm>
            <a:off x="6309360" y="4297680"/>
            <a:ext cx="5120640" cy="548640"/>
          </a:xfrm>
          <a:prstGeom prst="rect">
            <a:avLst/>
          </a:prstGeom>
          <a:noFill/>
          <a:ln/>
        </p:spPr>
        <p:txBody>
          <a:bodyPr wrap="square" lIns="0" tIns="0" rIns="0" bIns="0" rtlCol="0" anchor="ctr"/>
          <a:lstStyle/>
          <a:p>
            <a:pPr algn="l" indent="0" marL="0">
              <a:lnSpc>
                <a:spcPct val="100000"/>
              </a:lnSpc>
              <a:buNone/>
            </a:pPr>
            <a:r>
              <a:rPr lang="en-US" sz="1500" b="1" dirty="0">
                <a:solidFill>
                  <a:srgbClr val="1F6B4A"/>
                </a:solidFill>
                <a:latin typeface="Times New Roman" pitchFamily="34" charset="0"/>
                <a:ea typeface="Times New Roman" pitchFamily="34" charset="-122"/>
                <a:cs typeface="Times New Roman" pitchFamily="34" charset="-120"/>
              </a:rPr>
              <a:t>+ «Karimov nimalarga kira oladi?» — oson</a:t>
            </a:r>
            <a:endParaRPr lang="en-US" sz="1500" dirty="0"/>
          </a:p>
        </p:txBody>
      </p:sp>
      <p:sp>
        <p:nvSpPr>
          <p:cNvPr id="23" name="Shape 21"/>
          <p:cNvSpPr/>
          <p:nvPr/>
        </p:nvSpPr>
        <p:spPr>
          <a:xfrm>
            <a:off x="6126480" y="4919472"/>
            <a:ext cx="5486400" cy="548640"/>
          </a:xfrm>
          <a:prstGeom prst="roundRect">
            <a:avLst>
              <a:gd name="adj" fmla="val 15000"/>
            </a:avLst>
          </a:prstGeom>
          <a:solidFill>
            <a:srgbClr val="F7ECEA"/>
          </a:solidFill>
          <a:ln/>
        </p:spPr>
      </p:sp>
      <p:sp>
        <p:nvSpPr>
          <p:cNvPr id="24" name="Text 22"/>
          <p:cNvSpPr txBox="1"/>
          <p:nvPr/>
        </p:nvSpPr>
        <p:spPr>
          <a:xfrm>
            <a:off x="6309360" y="4919472"/>
            <a:ext cx="5120640" cy="548640"/>
          </a:xfrm>
          <a:prstGeom prst="rect">
            <a:avLst/>
          </a:prstGeom>
          <a:noFill/>
          <a:ln/>
        </p:spPr>
        <p:txBody>
          <a:bodyPr wrap="square" lIns="0" tIns="0" rIns="0" bIns="0" rtlCol="0" anchor="ctr"/>
          <a:lstStyle/>
          <a:p>
            <a:pPr algn="l" indent="0" marL="0">
              <a:lnSpc>
                <a:spcPct val="100000"/>
              </a:lnSpc>
              <a:buNone/>
            </a:pPr>
            <a:r>
              <a:rPr lang="en-US" sz="1500" dirty="0">
                <a:solidFill>
                  <a:srgbClr val="9E3B2E"/>
                </a:solidFill>
                <a:latin typeface="Times New Roman" pitchFamily="34" charset="0"/>
                <a:ea typeface="Times New Roman" pitchFamily="34" charset="-122"/>
                <a:cs typeface="Times New Roman" pitchFamily="34" charset="-120"/>
              </a:rPr>
              <a:t>− Huquqni qaytarib olish qiyin: nusxalar qayerda?</a:t>
            </a:r>
            <a:endParaRPr lang="en-US" sz="1500" dirty="0"/>
          </a:p>
        </p:txBody>
      </p:sp>
      <p:sp>
        <p:nvSpPr>
          <p:cNvPr id="25" name="Text 23"/>
          <p:cNvSpPr txBox="1"/>
          <p:nvPr/>
        </p:nvSpPr>
        <p:spPr>
          <a:xfrm>
            <a:off x="6126480" y="5577840"/>
            <a:ext cx="5486400" cy="594360"/>
          </a:xfrm>
          <a:prstGeom prst="rect">
            <a:avLst/>
          </a:prstGeom>
          <a:noFill/>
          <a:ln/>
        </p:spPr>
        <p:txBody>
          <a:bodyPr wrap="square" lIns="0" tIns="0" rIns="0" bIns="0" rtlCol="0" anchor="t"/>
          <a:lstStyle/>
          <a:p>
            <a:pPr algn="ctr" indent="0" marL="0">
              <a:lnSpc>
                <a:spcPct val="100000"/>
              </a:lnSpc>
              <a:buNone/>
            </a:pPr>
            <a:r>
              <a:rPr lang="en-US" sz="1500" dirty="0">
                <a:solidFill>
                  <a:srgbClr val="5B6270"/>
                </a:solidFill>
                <a:latin typeface="Times New Roman" pitchFamily="34" charset="0"/>
                <a:ea typeface="Times New Roman" pitchFamily="34" charset="-122"/>
                <a:cs typeface="Times New Roman" pitchFamily="34" charset="-120"/>
              </a:rPr>
              <a:t>OAuth tokenlari (M8), Kerberos chiptalari (M6), fayl deskriptorlari</a:t>
            </a:r>
            <a:endParaRPr lang="en-US" sz="1500" dirty="0"/>
          </a:p>
        </p:txBody>
      </p:sp>
      <p:sp>
        <p:nvSpPr>
          <p:cNvPr id="26" name="Text 24"/>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27" name="Text 25"/>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MINI-VAZIFA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Matritsadan ACL va C-list ga</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pencil_white.png"/>
          <p:cNvPicPr>
            <a:picLocks noChangeAspect="1"/>
          </p:cNvPicPr>
          <p:nvPr/>
        </p:nvPicPr>
        <p:blipFill>
          <a:blip r:embed="rId1"/>
          <a:stretch>
            <a:fillRect/>
          </a:stretch>
        </p:blipFill>
        <p:spPr>
          <a:xfrm>
            <a:off x="10978744" y="646024"/>
            <a:ext cx="399593" cy="399593"/>
          </a:xfrm>
          <a:prstGeom prst="rect">
            <a:avLst/>
          </a:prstGeom>
        </p:spPr>
      </p:pic>
      <p:sp>
        <p:nvSpPr>
          <p:cNvPr id="6" name="Text 3"/>
          <p:cNvSpPr txBox="1"/>
          <p:nvPr/>
        </p:nvSpPr>
        <p:spPr>
          <a:xfrm>
            <a:off x="548640" y="1737360"/>
            <a:ext cx="11064240" cy="411480"/>
          </a:xfrm>
          <a:prstGeom prst="rect">
            <a:avLst/>
          </a:prstGeom>
          <a:noFill/>
          <a:ln/>
        </p:spPr>
        <p:txBody>
          <a:bodyPr wrap="square" lIns="0" tIns="0" rIns="0" bIns="0" rtlCol="0" anchor="t"/>
          <a:lstStyle/>
          <a:p>
            <a:pPr algn="l" indent="0" marL="0">
              <a:lnSpc>
                <a:spcPct val="100000"/>
              </a:lnSpc>
              <a:buNone/>
            </a:pPr>
            <a:r>
              <a:rPr lang="en-US" sz="1800" dirty="0">
                <a:solidFill>
                  <a:srgbClr val="1B1B2A"/>
                </a:solidFill>
                <a:latin typeface="Times New Roman" pitchFamily="34" charset="0"/>
                <a:ea typeface="Times New Roman" pitchFamily="34" charset="-122"/>
                <a:cs typeface="Times New Roman" pitchFamily="34" charset="-120"/>
              </a:rPr>
              <a:t>5-slayddagi matritsadan foydalaning.</a:t>
            </a:r>
            <a:endParaRPr lang="en-US" sz="1800" dirty="0"/>
          </a:p>
        </p:txBody>
      </p:sp>
      <p:sp>
        <p:nvSpPr>
          <p:cNvPr id="7" name="Shape 4"/>
          <p:cNvSpPr/>
          <p:nvPr/>
        </p:nvSpPr>
        <p:spPr>
          <a:xfrm>
            <a:off x="548640" y="2286000"/>
            <a:ext cx="11064240" cy="786384"/>
          </a:xfrm>
          <a:prstGeom prst="roundRect">
            <a:avLst>
              <a:gd name="adj" fmla="val 10465"/>
            </a:avLst>
          </a:prstGeom>
          <a:solidFill>
            <a:srgbClr val="FFFFFF"/>
          </a:solidFill>
          <a:ln/>
        </p:spPr>
      </p:sp>
      <p:sp>
        <p:nvSpPr>
          <p:cNvPr id="8" name="Shape 5"/>
          <p:cNvSpPr/>
          <p:nvPr/>
        </p:nvSpPr>
        <p:spPr>
          <a:xfrm>
            <a:off x="548640" y="2286000"/>
            <a:ext cx="685800" cy="786384"/>
          </a:xfrm>
          <a:prstGeom prst="roundRect">
            <a:avLst>
              <a:gd name="adj" fmla="val 12000"/>
            </a:avLst>
          </a:prstGeom>
          <a:solidFill>
            <a:srgbClr val="D9932B"/>
          </a:solidFill>
          <a:ln/>
        </p:spPr>
      </p:sp>
      <p:sp>
        <p:nvSpPr>
          <p:cNvPr id="9" name="Text 6"/>
          <p:cNvSpPr txBox="1"/>
          <p:nvPr/>
        </p:nvSpPr>
        <p:spPr>
          <a:xfrm>
            <a:off x="548640" y="2286000"/>
            <a:ext cx="685800" cy="786384"/>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a</a:t>
            </a:r>
            <a:endParaRPr lang="en-US" sz="1800" dirty="0"/>
          </a:p>
        </p:txBody>
      </p:sp>
      <p:sp>
        <p:nvSpPr>
          <p:cNvPr id="10" name="Text 7"/>
          <p:cNvSpPr txBox="1"/>
          <p:nvPr/>
        </p:nvSpPr>
        <p:spPr>
          <a:xfrm>
            <a:off x="1417320" y="2286000"/>
            <a:ext cx="8412480" cy="786384"/>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\\fs\kafedra papkasi uchun ACL ni yozing</a:t>
            </a:r>
            <a:endParaRPr lang="en-US" sz="1700" dirty="0"/>
          </a:p>
        </p:txBody>
      </p:sp>
      <p:sp>
        <p:nvSpPr>
          <p:cNvPr id="11" name="Shape 8"/>
          <p:cNvSpPr/>
          <p:nvPr/>
        </p:nvSpPr>
        <p:spPr>
          <a:xfrm>
            <a:off x="10012680" y="2432304"/>
            <a:ext cx="1417320" cy="493776"/>
          </a:xfrm>
          <a:prstGeom prst="roundRect">
            <a:avLst>
              <a:gd name="adj" fmla="val 16667"/>
            </a:avLst>
          </a:prstGeom>
          <a:solidFill>
            <a:srgbClr val="FDF3E2"/>
          </a:solidFill>
          <a:ln w="12700">
            <a:solidFill>
              <a:srgbClr val="D9932B"/>
            </a:solidFill>
            <a:prstDash val="solid"/>
          </a:ln>
        </p:spPr>
      </p:sp>
      <p:sp>
        <p:nvSpPr>
          <p:cNvPr id="12" name="Text 9"/>
          <p:cNvSpPr txBox="1"/>
          <p:nvPr/>
        </p:nvSpPr>
        <p:spPr>
          <a:xfrm>
            <a:off x="10012680" y="2432304"/>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13" name="Shape 10"/>
          <p:cNvSpPr/>
          <p:nvPr/>
        </p:nvSpPr>
        <p:spPr>
          <a:xfrm>
            <a:off x="548640" y="3200400"/>
            <a:ext cx="11064240" cy="786384"/>
          </a:xfrm>
          <a:prstGeom prst="roundRect">
            <a:avLst>
              <a:gd name="adj" fmla="val 10465"/>
            </a:avLst>
          </a:prstGeom>
          <a:solidFill>
            <a:srgbClr val="FFFFFF"/>
          </a:solidFill>
          <a:ln/>
        </p:spPr>
      </p:sp>
      <p:sp>
        <p:nvSpPr>
          <p:cNvPr id="14" name="Shape 11"/>
          <p:cNvSpPr/>
          <p:nvPr/>
        </p:nvSpPr>
        <p:spPr>
          <a:xfrm>
            <a:off x="548640" y="3200400"/>
            <a:ext cx="685800" cy="786384"/>
          </a:xfrm>
          <a:prstGeom prst="roundRect">
            <a:avLst>
              <a:gd name="adj" fmla="val 12000"/>
            </a:avLst>
          </a:prstGeom>
          <a:solidFill>
            <a:srgbClr val="D9932B"/>
          </a:solidFill>
          <a:ln/>
        </p:spPr>
      </p:sp>
      <p:sp>
        <p:nvSpPr>
          <p:cNvPr id="15" name="Text 12"/>
          <p:cNvSpPr txBox="1"/>
          <p:nvPr/>
        </p:nvSpPr>
        <p:spPr>
          <a:xfrm>
            <a:off x="548640" y="3200400"/>
            <a:ext cx="685800" cy="786384"/>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b</a:t>
            </a:r>
            <a:endParaRPr lang="en-US" sz="1800" dirty="0"/>
          </a:p>
        </p:txBody>
      </p:sp>
      <p:sp>
        <p:nvSpPr>
          <p:cNvPr id="16" name="Text 13"/>
          <p:cNvSpPr txBox="1"/>
          <p:nvPr/>
        </p:nvSpPr>
        <p:spPr>
          <a:xfrm>
            <a:off x="1417320" y="3200400"/>
            <a:ext cx="8412480" cy="786384"/>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Laborant uchun C-list ni yozing</a:t>
            </a:r>
            <a:endParaRPr lang="en-US" sz="1700" dirty="0"/>
          </a:p>
        </p:txBody>
      </p:sp>
      <p:sp>
        <p:nvSpPr>
          <p:cNvPr id="17" name="Shape 14"/>
          <p:cNvSpPr/>
          <p:nvPr/>
        </p:nvSpPr>
        <p:spPr>
          <a:xfrm>
            <a:off x="10012680" y="3346704"/>
            <a:ext cx="1417320" cy="493776"/>
          </a:xfrm>
          <a:prstGeom prst="roundRect">
            <a:avLst>
              <a:gd name="adj" fmla="val 16667"/>
            </a:avLst>
          </a:prstGeom>
          <a:solidFill>
            <a:srgbClr val="FDF3E2"/>
          </a:solidFill>
          <a:ln w="12700">
            <a:solidFill>
              <a:srgbClr val="D9932B"/>
            </a:solidFill>
            <a:prstDash val="solid"/>
          </a:ln>
        </p:spPr>
      </p:sp>
      <p:sp>
        <p:nvSpPr>
          <p:cNvPr id="18" name="Text 15"/>
          <p:cNvSpPr txBox="1"/>
          <p:nvPr/>
        </p:nvSpPr>
        <p:spPr>
          <a:xfrm>
            <a:off x="10012680" y="3346704"/>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19" name="Shape 16"/>
          <p:cNvSpPr/>
          <p:nvPr/>
        </p:nvSpPr>
        <p:spPr>
          <a:xfrm>
            <a:off x="548640" y="4114800"/>
            <a:ext cx="11064240" cy="786384"/>
          </a:xfrm>
          <a:prstGeom prst="roundRect">
            <a:avLst>
              <a:gd name="adj" fmla="val 10465"/>
            </a:avLst>
          </a:prstGeom>
          <a:solidFill>
            <a:srgbClr val="FFFFFF"/>
          </a:solidFill>
          <a:ln/>
        </p:spPr>
      </p:sp>
      <p:sp>
        <p:nvSpPr>
          <p:cNvPr id="20" name="Shape 17"/>
          <p:cNvSpPr/>
          <p:nvPr/>
        </p:nvSpPr>
        <p:spPr>
          <a:xfrm>
            <a:off x="548640" y="4114800"/>
            <a:ext cx="685800" cy="786384"/>
          </a:xfrm>
          <a:prstGeom prst="roundRect">
            <a:avLst>
              <a:gd name="adj" fmla="val 12000"/>
            </a:avLst>
          </a:prstGeom>
          <a:solidFill>
            <a:srgbClr val="D9932B"/>
          </a:solidFill>
          <a:ln/>
        </p:spPr>
      </p:sp>
      <p:sp>
        <p:nvSpPr>
          <p:cNvPr id="21" name="Text 18"/>
          <p:cNvSpPr txBox="1"/>
          <p:nvPr/>
        </p:nvSpPr>
        <p:spPr>
          <a:xfrm>
            <a:off x="548640" y="4114800"/>
            <a:ext cx="685800" cy="786384"/>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c</a:t>
            </a:r>
            <a:endParaRPr lang="en-US" sz="1800" dirty="0"/>
          </a:p>
        </p:txBody>
      </p:sp>
      <p:sp>
        <p:nvSpPr>
          <p:cNvPr id="22" name="Text 19"/>
          <p:cNvSpPr txBox="1"/>
          <p:nvPr/>
        </p:nvSpPr>
        <p:spPr>
          <a:xfrm>
            <a:off x="1417320" y="4114800"/>
            <a:ext cx="8412480" cy="786384"/>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Karimov ishdan ketdi (M2). Qaysi ko'rinishda uning huquqlarini olib tashlash osonroq?</a:t>
            </a:r>
            <a:endParaRPr lang="en-US" sz="1700" dirty="0"/>
          </a:p>
        </p:txBody>
      </p:sp>
      <p:sp>
        <p:nvSpPr>
          <p:cNvPr id="23" name="Shape 20"/>
          <p:cNvSpPr/>
          <p:nvPr/>
        </p:nvSpPr>
        <p:spPr>
          <a:xfrm>
            <a:off x="10012680" y="4261104"/>
            <a:ext cx="1417320" cy="493776"/>
          </a:xfrm>
          <a:prstGeom prst="roundRect">
            <a:avLst>
              <a:gd name="adj" fmla="val 16667"/>
            </a:avLst>
          </a:prstGeom>
          <a:solidFill>
            <a:srgbClr val="FDF3E2"/>
          </a:solidFill>
          <a:ln w="12700">
            <a:solidFill>
              <a:srgbClr val="D9932B"/>
            </a:solidFill>
            <a:prstDash val="solid"/>
          </a:ln>
        </p:spPr>
      </p:sp>
      <p:sp>
        <p:nvSpPr>
          <p:cNvPr id="24" name="Text 21"/>
          <p:cNvSpPr txBox="1"/>
          <p:nvPr/>
        </p:nvSpPr>
        <p:spPr>
          <a:xfrm>
            <a:off x="10012680" y="4261104"/>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25" name="Shape 22"/>
          <p:cNvSpPr/>
          <p:nvPr/>
        </p:nvSpPr>
        <p:spPr>
          <a:xfrm>
            <a:off x="548640" y="5029200"/>
            <a:ext cx="11064240" cy="786384"/>
          </a:xfrm>
          <a:prstGeom prst="roundRect">
            <a:avLst>
              <a:gd name="adj" fmla="val 10465"/>
            </a:avLst>
          </a:prstGeom>
          <a:solidFill>
            <a:srgbClr val="FFFFFF"/>
          </a:solidFill>
          <a:ln/>
        </p:spPr>
      </p:sp>
      <p:sp>
        <p:nvSpPr>
          <p:cNvPr id="26" name="Shape 23"/>
          <p:cNvSpPr/>
          <p:nvPr/>
        </p:nvSpPr>
        <p:spPr>
          <a:xfrm>
            <a:off x="548640" y="5029200"/>
            <a:ext cx="685800" cy="786384"/>
          </a:xfrm>
          <a:prstGeom prst="roundRect">
            <a:avLst>
              <a:gd name="adj" fmla="val 12000"/>
            </a:avLst>
          </a:prstGeom>
          <a:solidFill>
            <a:srgbClr val="D9932B"/>
          </a:solidFill>
          <a:ln/>
        </p:spPr>
      </p:sp>
      <p:sp>
        <p:nvSpPr>
          <p:cNvPr id="27" name="Text 24"/>
          <p:cNvSpPr txBox="1"/>
          <p:nvPr/>
        </p:nvSpPr>
        <p:spPr>
          <a:xfrm>
            <a:off x="548640" y="5029200"/>
            <a:ext cx="685800" cy="786384"/>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d</a:t>
            </a:r>
            <a:endParaRPr lang="en-US" sz="1800" dirty="0"/>
          </a:p>
        </p:txBody>
      </p:sp>
      <p:sp>
        <p:nvSpPr>
          <p:cNvPr id="28" name="Text 25"/>
          <p:cNvSpPr txBox="1"/>
          <p:nvPr/>
        </p:nvSpPr>
        <p:spPr>
          <a:xfrm>
            <a:off x="1417320" y="5029200"/>
            <a:ext cx="8412480" cy="786384"/>
          </a:xfrm>
          <a:prstGeom prst="rect">
            <a:avLst/>
          </a:prstGeom>
          <a:noFill/>
          <a:ln/>
        </p:spPr>
        <p:txBody>
          <a:bodyPr wrap="square" lIns="0" tIns="0" rIns="0" bIns="0" rtlCol="0" anchor="ctr"/>
          <a:lstStyle/>
          <a:p>
            <a:pPr algn="l" indent="0" marL="0">
              <a:lnSpc>
                <a:spcPct val="100000"/>
              </a:lnSpc>
              <a:buNone/>
            </a:pPr>
            <a:r>
              <a:rPr lang="en-US" sz="1700" dirty="0">
                <a:solidFill>
                  <a:srgbClr val="1B1B2A"/>
                </a:solidFill>
                <a:latin typeface="Times New Roman" pitchFamily="34" charset="0"/>
                <a:ea typeface="Times New Roman" pitchFamily="34" charset="-122"/>
                <a:cs typeface="Times New Roman" pitchFamily="34" charset="-120"/>
              </a:rPr>
              <a:t>Nazarova Talaba ga baholar.xlsx ni o'qish huquqini bera oladimi? Nega?</a:t>
            </a:r>
            <a:endParaRPr lang="en-US" sz="1700" dirty="0"/>
          </a:p>
        </p:txBody>
      </p:sp>
      <p:sp>
        <p:nvSpPr>
          <p:cNvPr id="29" name="Shape 26"/>
          <p:cNvSpPr/>
          <p:nvPr/>
        </p:nvSpPr>
        <p:spPr>
          <a:xfrm>
            <a:off x="10012680" y="5175504"/>
            <a:ext cx="1417320" cy="493776"/>
          </a:xfrm>
          <a:prstGeom prst="roundRect">
            <a:avLst>
              <a:gd name="adj" fmla="val 16667"/>
            </a:avLst>
          </a:prstGeom>
          <a:solidFill>
            <a:srgbClr val="FDF3E2"/>
          </a:solidFill>
          <a:ln w="12700">
            <a:solidFill>
              <a:srgbClr val="D9932B"/>
            </a:solidFill>
            <a:prstDash val="solid"/>
          </a:ln>
        </p:spPr>
      </p:sp>
      <p:sp>
        <p:nvSpPr>
          <p:cNvPr id="30" name="Text 27"/>
          <p:cNvSpPr txBox="1"/>
          <p:nvPr/>
        </p:nvSpPr>
        <p:spPr>
          <a:xfrm>
            <a:off x="10012680" y="5175504"/>
            <a:ext cx="1417320" cy="493776"/>
          </a:xfrm>
          <a:prstGeom prst="rect">
            <a:avLst/>
          </a:prstGeom>
          <a:noFill/>
          <a:ln/>
        </p:spPr>
        <p:txBody>
          <a:bodyPr wrap="square" lIns="50800" tIns="50800" rIns="50800" bIns="50800" rtlCol="0" anchor="ctr"/>
          <a:lstStyle/>
          <a:p>
            <a:pPr algn="ctr"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a:t>
            </a:r>
            <a:endParaRPr lang="en-US" sz="1600" dirty="0"/>
          </a:p>
        </p:txBody>
      </p:sp>
      <p:sp>
        <p:nvSpPr>
          <p:cNvPr id="31" name="Text 28"/>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32" name="Text 29"/>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WINDOWS'DA DAC</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Xavfsizlik deskriptori va kirish tekshiruvi</a:t>
            </a:r>
            <a:endParaRPr lang="en-US" sz="3600" dirty="0"/>
          </a:p>
        </p:txBody>
      </p:sp>
      <p:sp>
        <p:nvSpPr>
          <p:cNvPr id="4" name="Shape 2"/>
          <p:cNvSpPr/>
          <p:nvPr/>
        </p:nvSpPr>
        <p:spPr>
          <a:xfrm>
            <a:off x="548640" y="1783080"/>
            <a:ext cx="5120640" cy="4434840"/>
          </a:xfrm>
          <a:prstGeom prst="roundRect">
            <a:avLst>
              <a:gd name="adj" fmla="val 1856"/>
            </a:avLst>
          </a:prstGeom>
          <a:solidFill>
            <a:srgbClr val="EEF2FB"/>
          </a:solidFill>
          <a:ln/>
        </p:spPr>
      </p:sp>
      <p:sp>
        <p:nvSpPr>
          <p:cNvPr id="5" name="Text 3"/>
          <p:cNvSpPr txBox="1"/>
          <p:nvPr/>
        </p:nvSpPr>
        <p:spPr>
          <a:xfrm>
            <a:off x="777240" y="1874520"/>
            <a:ext cx="4754880" cy="411480"/>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baholar.xlsx — xavfsizlik deskriptori</a:t>
            </a:r>
            <a:endParaRPr lang="en-US" sz="1700" dirty="0"/>
          </a:p>
        </p:txBody>
      </p:sp>
      <p:sp>
        <p:nvSpPr>
          <p:cNvPr id="6" name="Shape 4"/>
          <p:cNvSpPr/>
          <p:nvPr/>
        </p:nvSpPr>
        <p:spPr>
          <a:xfrm>
            <a:off x="777240" y="2377440"/>
            <a:ext cx="4663440" cy="566928"/>
          </a:xfrm>
          <a:prstGeom prst="roundRect">
            <a:avLst>
              <a:gd name="adj" fmla="val 14516"/>
            </a:avLst>
          </a:prstGeom>
          <a:solidFill>
            <a:srgbClr val="FFFFFF"/>
          </a:solidFill>
          <a:ln/>
        </p:spPr>
      </p:sp>
      <p:sp>
        <p:nvSpPr>
          <p:cNvPr id="7" name="Shape 5"/>
          <p:cNvSpPr/>
          <p:nvPr/>
        </p:nvSpPr>
        <p:spPr>
          <a:xfrm>
            <a:off x="777240" y="2377440"/>
            <a:ext cx="109728" cy="566928"/>
          </a:xfrm>
          <a:prstGeom prst="roundRect">
            <a:avLst>
              <a:gd name="adj" fmla="val 16667"/>
            </a:avLst>
          </a:prstGeom>
          <a:solidFill>
            <a:srgbClr val="1E2761"/>
          </a:solidFill>
          <a:ln/>
        </p:spPr>
      </p:sp>
      <p:sp>
        <p:nvSpPr>
          <p:cNvPr id="8" name="Text 6"/>
          <p:cNvSpPr txBox="1"/>
          <p:nvPr/>
        </p:nvSpPr>
        <p:spPr>
          <a:xfrm>
            <a:off x="1005840" y="2377440"/>
            <a:ext cx="1554480" cy="566928"/>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Egasi (Owner)</a:t>
            </a:r>
            <a:endParaRPr lang="en-US" sz="1500" dirty="0"/>
          </a:p>
        </p:txBody>
      </p:sp>
      <p:sp>
        <p:nvSpPr>
          <p:cNvPr id="9" name="Text 7"/>
          <p:cNvSpPr txBox="1"/>
          <p:nvPr/>
        </p:nvSpPr>
        <p:spPr>
          <a:xfrm>
            <a:off x="2560320" y="2377440"/>
            <a:ext cx="2834640" cy="566928"/>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S-1-5-21-…-1107 (Karimov)</a:t>
            </a:r>
            <a:endParaRPr lang="en-US" sz="1400" dirty="0"/>
          </a:p>
        </p:txBody>
      </p:sp>
      <p:sp>
        <p:nvSpPr>
          <p:cNvPr id="10" name="Shape 8"/>
          <p:cNvSpPr/>
          <p:nvPr/>
        </p:nvSpPr>
        <p:spPr>
          <a:xfrm>
            <a:off x="777240" y="3035808"/>
            <a:ext cx="4663440" cy="566928"/>
          </a:xfrm>
          <a:prstGeom prst="roundRect">
            <a:avLst>
              <a:gd name="adj" fmla="val 14516"/>
            </a:avLst>
          </a:prstGeom>
          <a:solidFill>
            <a:srgbClr val="FFFFFF"/>
          </a:solidFill>
          <a:ln/>
        </p:spPr>
      </p:sp>
      <p:sp>
        <p:nvSpPr>
          <p:cNvPr id="11" name="Shape 9"/>
          <p:cNvSpPr/>
          <p:nvPr/>
        </p:nvSpPr>
        <p:spPr>
          <a:xfrm>
            <a:off x="777240" y="3035808"/>
            <a:ext cx="109728" cy="566928"/>
          </a:xfrm>
          <a:prstGeom prst="roundRect">
            <a:avLst>
              <a:gd name="adj" fmla="val 16667"/>
            </a:avLst>
          </a:prstGeom>
          <a:solidFill>
            <a:srgbClr val="1F6B4A"/>
          </a:solidFill>
          <a:ln/>
        </p:spPr>
      </p:sp>
      <p:sp>
        <p:nvSpPr>
          <p:cNvPr id="12" name="Text 10"/>
          <p:cNvSpPr txBox="1"/>
          <p:nvPr/>
        </p:nvSpPr>
        <p:spPr>
          <a:xfrm>
            <a:off x="1005840" y="3035808"/>
            <a:ext cx="1554480" cy="566928"/>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DACL</a:t>
            </a:r>
            <a:endParaRPr lang="en-US" sz="1500" dirty="0"/>
          </a:p>
        </p:txBody>
      </p:sp>
      <p:sp>
        <p:nvSpPr>
          <p:cNvPr id="13" name="Text 11"/>
          <p:cNvSpPr txBox="1"/>
          <p:nvPr/>
        </p:nvSpPr>
        <p:spPr>
          <a:xfrm>
            <a:off x="2560320" y="3035808"/>
            <a:ext cx="2834640" cy="566928"/>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ruxsatlar ro'yxati — ACE lar</a:t>
            </a:r>
            <a:endParaRPr lang="en-US" sz="1400" dirty="0"/>
          </a:p>
        </p:txBody>
      </p:sp>
      <p:sp>
        <p:nvSpPr>
          <p:cNvPr id="14" name="Shape 12"/>
          <p:cNvSpPr/>
          <p:nvPr/>
        </p:nvSpPr>
        <p:spPr>
          <a:xfrm>
            <a:off x="777240" y="3694176"/>
            <a:ext cx="4663440" cy="566928"/>
          </a:xfrm>
          <a:prstGeom prst="roundRect">
            <a:avLst>
              <a:gd name="adj" fmla="val 14516"/>
            </a:avLst>
          </a:prstGeom>
          <a:solidFill>
            <a:srgbClr val="FFFFFF"/>
          </a:solidFill>
          <a:ln/>
        </p:spPr>
      </p:sp>
      <p:sp>
        <p:nvSpPr>
          <p:cNvPr id="15" name="Shape 13"/>
          <p:cNvSpPr/>
          <p:nvPr/>
        </p:nvSpPr>
        <p:spPr>
          <a:xfrm>
            <a:off x="777240" y="3694176"/>
            <a:ext cx="109728" cy="566928"/>
          </a:xfrm>
          <a:prstGeom prst="roundRect">
            <a:avLst>
              <a:gd name="adj" fmla="val 16667"/>
            </a:avLst>
          </a:prstGeom>
          <a:solidFill>
            <a:srgbClr val="2A3778"/>
          </a:solidFill>
          <a:ln/>
        </p:spPr>
      </p:sp>
      <p:sp>
        <p:nvSpPr>
          <p:cNvPr id="16" name="Text 14"/>
          <p:cNvSpPr txBox="1"/>
          <p:nvPr/>
        </p:nvSpPr>
        <p:spPr>
          <a:xfrm>
            <a:off x="1005840" y="3694176"/>
            <a:ext cx="1554480" cy="566928"/>
          </a:xfrm>
          <a:prstGeom prst="rect">
            <a:avLst/>
          </a:prstGeom>
          <a:noFill/>
          <a:ln/>
        </p:spPr>
        <p:txBody>
          <a:bodyPr wrap="square" lIns="0" tIns="0" rIns="0" bIns="0" rtlCol="0" anchor="ctr"/>
          <a:lstStyle/>
          <a:p>
            <a:pPr algn="l" indent="0" marL="0">
              <a:lnSpc>
                <a:spcPct val="100000"/>
              </a:lnSpc>
              <a:buNone/>
            </a:pPr>
            <a:r>
              <a:rPr lang="en-US" sz="1500" b="1" dirty="0">
                <a:solidFill>
                  <a:srgbClr val="1E2761"/>
                </a:solidFill>
                <a:latin typeface="Times New Roman" pitchFamily="34" charset="0"/>
                <a:ea typeface="Times New Roman" pitchFamily="34" charset="-122"/>
                <a:cs typeface="Times New Roman" pitchFamily="34" charset="-120"/>
              </a:rPr>
              <a:t>SACL</a:t>
            </a:r>
            <a:endParaRPr lang="en-US" sz="1500" dirty="0"/>
          </a:p>
        </p:txBody>
      </p:sp>
      <p:sp>
        <p:nvSpPr>
          <p:cNvPr id="17" name="Text 15"/>
          <p:cNvSpPr txBox="1"/>
          <p:nvPr/>
        </p:nvSpPr>
        <p:spPr>
          <a:xfrm>
            <a:off x="2560320" y="3694176"/>
            <a:ext cx="2834640" cy="566928"/>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audit ro'yxati — jurnalga yozish</a:t>
            </a:r>
            <a:endParaRPr lang="en-US" sz="1400" dirty="0"/>
          </a:p>
        </p:txBody>
      </p:sp>
      <p:sp>
        <p:nvSpPr>
          <p:cNvPr id="18" name="Shape 16"/>
          <p:cNvSpPr/>
          <p:nvPr/>
        </p:nvSpPr>
        <p:spPr>
          <a:xfrm>
            <a:off x="777240" y="4389120"/>
            <a:ext cx="4663440" cy="1691640"/>
          </a:xfrm>
          <a:prstGeom prst="roundRect">
            <a:avLst>
              <a:gd name="adj" fmla="val 4865"/>
            </a:avLst>
          </a:prstGeom>
          <a:solidFill>
            <a:srgbClr val="162048"/>
          </a:solidFill>
          <a:ln/>
        </p:spPr>
      </p:sp>
      <p:sp>
        <p:nvSpPr>
          <p:cNvPr id="19" name="Text 17"/>
          <p:cNvSpPr txBox="1"/>
          <p:nvPr/>
        </p:nvSpPr>
        <p:spPr>
          <a:xfrm>
            <a:off x="1005840" y="4572000"/>
            <a:ext cx="4206240" cy="1325880"/>
          </a:xfrm>
          <a:prstGeom prst="rect">
            <a:avLst/>
          </a:prstGeom>
          <a:noFill/>
          <a:ln/>
        </p:spPr>
        <p:txBody>
          <a:bodyPr wrap="square" lIns="0" tIns="0" rIns="0" bIns="0" rtlCol="0" anchor="t"/>
          <a:lstStyle/>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DACL:</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Deny   LAB_Talabalar   Write</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Allow  Karimov         FullControl</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Allow  LAB_Oqituvchilar Read</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Allow  SYSTEM          FullControl</a:t>
            </a:r>
            <a:endParaRPr lang="en-US" sz="1200" dirty="0"/>
          </a:p>
        </p:txBody>
      </p:sp>
      <p:sp>
        <p:nvSpPr>
          <p:cNvPr id="20" name="Shape 18"/>
          <p:cNvSpPr/>
          <p:nvPr/>
        </p:nvSpPr>
        <p:spPr>
          <a:xfrm>
            <a:off x="5943600" y="1783080"/>
            <a:ext cx="5669280" cy="987552"/>
          </a:xfrm>
          <a:prstGeom prst="roundRect">
            <a:avLst>
              <a:gd name="adj" fmla="val 8333"/>
            </a:avLst>
          </a:prstGeom>
          <a:solidFill>
            <a:srgbClr val="2A3778"/>
          </a:solidFill>
          <a:ln/>
        </p:spPr>
      </p:sp>
      <p:sp>
        <p:nvSpPr>
          <p:cNvPr id="21" name="Text 19"/>
          <p:cNvSpPr txBox="1"/>
          <p:nvPr/>
        </p:nvSpPr>
        <p:spPr>
          <a:xfrm>
            <a:off x="6172200" y="1856232"/>
            <a:ext cx="5303520" cy="365760"/>
          </a:xfrm>
          <a:prstGeom prst="rect">
            <a:avLst/>
          </a:prstGeom>
          <a:noFill/>
          <a:ln/>
        </p:spPr>
        <p:txBody>
          <a:bodyPr wrap="square" lIns="0" tIns="0" rIns="0" bIns="0" rtlCol="0" anchor="t"/>
          <a:lstStyle/>
          <a:p>
            <a:pPr algn="l" indent="0" marL="0">
              <a:lnSpc>
                <a:spcPct val="100000"/>
              </a:lnSpc>
              <a:buNone/>
            </a:pPr>
            <a:r>
              <a:rPr lang="en-US" sz="1700" b="1" dirty="0">
                <a:solidFill>
                  <a:srgbClr val="FFFFFF"/>
                </a:solidFill>
                <a:latin typeface="Times New Roman" pitchFamily="34" charset="0"/>
                <a:ea typeface="Times New Roman" pitchFamily="34" charset="-122"/>
                <a:cs typeface="Times New Roman" pitchFamily="34" charset="-120"/>
              </a:rPr>
              <a:t>Kirish tokeni</a:t>
            </a:r>
            <a:endParaRPr lang="en-US" sz="1700" dirty="0"/>
          </a:p>
        </p:txBody>
      </p:sp>
      <p:sp>
        <p:nvSpPr>
          <p:cNvPr id="22" name="Text 20"/>
          <p:cNvSpPr txBox="1"/>
          <p:nvPr/>
        </p:nvSpPr>
        <p:spPr>
          <a:xfrm>
            <a:off x="6172200" y="2221992"/>
            <a:ext cx="5303520" cy="502920"/>
          </a:xfrm>
          <a:prstGeom prst="rect">
            <a:avLst/>
          </a:prstGeom>
          <a:noFill/>
          <a:ln/>
        </p:spPr>
        <p:txBody>
          <a:bodyPr wrap="square" lIns="0" tIns="0" rIns="0" bIns="0" rtlCol="0" anchor="t"/>
          <a:lstStyle/>
          <a:p>
            <a:pPr algn="l" indent="0" marL="0">
              <a:lnSpc>
                <a:spcPct val="100000"/>
              </a:lnSpc>
              <a:buNone/>
            </a:pPr>
            <a:r>
              <a:rPr lang="en-US" sz="1500" dirty="0">
                <a:solidFill>
                  <a:srgbClr val="CADCFC"/>
                </a:solidFill>
                <a:latin typeface="Times New Roman" pitchFamily="34" charset="0"/>
                <a:ea typeface="Times New Roman" pitchFamily="34" charset="-122"/>
                <a:cs typeface="Times New Roman" pitchFamily="34" charset="-120"/>
              </a:rPr>
              <a:t>Foydalanuvchi SID i + guruh SID lari + imtiyozlar (kirishda yaratiladi)</a:t>
            </a:r>
            <a:endParaRPr lang="en-US" sz="1500" dirty="0"/>
          </a:p>
        </p:txBody>
      </p:sp>
      <p:sp>
        <p:nvSpPr>
          <p:cNvPr id="23" name="Shape 21"/>
          <p:cNvSpPr/>
          <p:nvPr/>
        </p:nvSpPr>
        <p:spPr>
          <a:xfrm>
            <a:off x="8778240" y="2770632"/>
            <a:ext cx="0" cy="137160"/>
          </a:xfrm>
          <a:prstGeom prst="line">
            <a:avLst/>
          </a:prstGeom>
          <a:noFill/>
          <a:ln w="28575">
            <a:solidFill>
              <a:srgbClr val="5B6270"/>
            </a:solidFill>
            <a:prstDash val="solid"/>
            <a:tailEnd type="triangle"/>
          </a:ln>
        </p:spPr>
      </p:sp>
      <p:sp>
        <p:nvSpPr>
          <p:cNvPr id="24" name="Shape 22"/>
          <p:cNvSpPr/>
          <p:nvPr/>
        </p:nvSpPr>
        <p:spPr>
          <a:xfrm>
            <a:off x="5943600" y="2907792"/>
            <a:ext cx="5669280" cy="987552"/>
          </a:xfrm>
          <a:prstGeom prst="roundRect">
            <a:avLst>
              <a:gd name="adj" fmla="val 8333"/>
            </a:avLst>
          </a:prstGeom>
          <a:solidFill>
            <a:srgbClr val="2A3778"/>
          </a:solidFill>
          <a:ln/>
        </p:spPr>
      </p:sp>
      <p:sp>
        <p:nvSpPr>
          <p:cNvPr id="25" name="Text 23"/>
          <p:cNvSpPr txBox="1"/>
          <p:nvPr/>
        </p:nvSpPr>
        <p:spPr>
          <a:xfrm>
            <a:off x="6172200" y="2980944"/>
            <a:ext cx="5303520" cy="365760"/>
          </a:xfrm>
          <a:prstGeom prst="rect">
            <a:avLst/>
          </a:prstGeom>
          <a:noFill/>
          <a:ln/>
        </p:spPr>
        <p:txBody>
          <a:bodyPr wrap="square" lIns="0" tIns="0" rIns="0" bIns="0" rtlCol="0" anchor="t"/>
          <a:lstStyle/>
          <a:p>
            <a:pPr algn="l" indent="0" marL="0">
              <a:lnSpc>
                <a:spcPct val="100000"/>
              </a:lnSpc>
              <a:buNone/>
            </a:pPr>
            <a:r>
              <a:rPr lang="en-US" sz="1700" b="1" dirty="0">
                <a:solidFill>
                  <a:srgbClr val="FFFFFF"/>
                </a:solidFill>
                <a:latin typeface="Times New Roman" pitchFamily="34" charset="0"/>
                <a:ea typeface="Times New Roman" pitchFamily="34" charset="-122"/>
                <a:cs typeface="Times New Roman" pitchFamily="34" charset="-120"/>
              </a:rPr>
              <a:t>Murojaat</a:t>
            </a:r>
            <a:endParaRPr lang="en-US" sz="1700" dirty="0"/>
          </a:p>
        </p:txBody>
      </p:sp>
      <p:sp>
        <p:nvSpPr>
          <p:cNvPr id="26" name="Text 24"/>
          <p:cNvSpPr txBox="1"/>
          <p:nvPr/>
        </p:nvSpPr>
        <p:spPr>
          <a:xfrm>
            <a:off x="6172200" y="3346704"/>
            <a:ext cx="5303520" cy="502920"/>
          </a:xfrm>
          <a:prstGeom prst="rect">
            <a:avLst/>
          </a:prstGeom>
          <a:noFill/>
          <a:ln/>
        </p:spPr>
        <p:txBody>
          <a:bodyPr wrap="square" lIns="0" tIns="0" rIns="0" bIns="0" rtlCol="0" anchor="t"/>
          <a:lstStyle/>
          <a:p>
            <a:pPr algn="l" indent="0" marL="0">
              <a:lnSpc>
                <a:spcPct val="100000"/>
              </a:lnSpc>
              <a:buNone/>
            </a:pPr>
            <a:r>
              <a:rPr lang="en-US" sz="1500" dirty="0">
                <a:solidFill>
                  <a:srgbClr val="CADCFC"/>
                </a:solidFill>
                <a:latin typeface="Times New Roman" pitchFamily="34" charset="0"/>
                <a:ea typeface="Times New Roman" pitchFamily="34" charset="-122"/>
                <a:cs typeface="Times New Roman" pitchFamily="34" charset="-120"/>
              </a:rPr>
              <a:t>Jarayon faylni «o'qish» uchun ochmoqchi</a:t>
            </a:r>
            <a:endParaRPr lang="en-US" sz="1500" dirty="0"/>
          </a:p>
        </p:txBody>
      </p:sp>
      <p:sp>
        <p:nvSpPr>
          <p:cNvPr id="27" name="Shape 25"/>
          <p:cNvSpPr/>
          <p:nvPr/>
        </p:nvSpPr>
        <p:spPr>
          <a:xfrm>
            <a:off x="8778240" y="3895344"/>
            <a:ext cx="0" cy="137160"/>
          </a:xfrm>
          <a:prstGeom prst="line">
            <a:avLst/>
          </a:prstGeom>
          <a:noFill/>
          <a:ln w="28575">
            <a:solidFill>
              <a:srgbClr val="5B6270"/>
            </a:solidFill>
            <a:prstDash val="solid"/>
            <a:tailEnd type="triangle"/>
          </a:ln>
        </p:spPr>
      </p:sp>
      <p:sp>
        <p:nvSpPr>
          <p:cNvPr id="28" name="Shape 26"/>
          <p:cNvSpPr/>
          <p:nvPr/>
        </p:nvSpPr>
        <p:spPr>
          <a:xfrm>
            <a:off x="5943600" y="4032504"/>
            <a:ext cx="5669280" cy="987552"/>
          </a:xfrm>
          <a:prstGeom prst="roundRect">
            <a:avLst>
              <a:gd name="adj" fmla="val 8333"/>
            </a:avLst>
          </a:prstGeom>
          <a:solidFill>
            <a:srgbClr val="1E2761"/>
          </a:solidFill>
          <a:ln/>
        </p:spPr>
      </p:sp>
      <p:sp>
        <p:nvSpPr>
          <p:cNvPr id="29" name="Text 27"/>
          <p:cNvSpPr txBox="1"/>
          <p:nvPr/>
        </p:nvSpPr>
        <p:spPr>
          <a:xfrm>
            <a:off x="6172200" y="4105656"/>
            <a:ext cx="5303520" cy="365760"/>
          </a:xfrm>
          <a:prstGeom prst="rect">
            <a:avLst/>
          </a:prstGeom>
          <a:noFill/>
          <a:ln/>
        </p:spPr>
        <p:txBody>
          <a:bodyPr wrap="square" lIns="0" tIns="0" rIns="0" bIns="0" rtlCol="0" anchor="t"/>
          <a:lstStyle/>
          <a:p>
            <a:pPr algn="l" indent="0" marL="0">
              <a:lnSpc>
                <a:spcPct val="100000"/>
              </a:lnSpc>
              <a:buNone/>
            </a:pPr>
            <a:r>
              <a:rPr lang="en-US" sz="1700" b="1" dirty="0">
                <a:solidFill>
                  <a:srgbClr val="FFFFFF"/>
                </a:solidFill>
                <a:latin typeface="Times New Roman" pitchFamily="34" charset="0"/>
                <a:ea typeface="Times New Roman" pitchFamily="34" charset="-122"/>
                <a:cs typeface="Times New Roman" pitchFamily="34" charset="-120"/>
              </a:rPr>
              <a:t>Kirish tekshiruvi</a:t>
            </a:r>
            <a:endParaRPr lang="en-US" sz="1700" dirty="0"/>
          </a:p>
        </p:txBody>
      </p:sp>
      <p:sp>
        <p:nvSpPr>
          <p:cNvPr id="30" name="Text 28"/>
          <p:cNvSpPr txBox="1"/>
          <p:nvPr/>
        </p:nvSpPr>
        <p:spPr>
          <a:xfrm>
            <a:off x="6172200" y="4471416"/>
            <a:ext cx="5303520" cy="502920"/>
          </a:xfrm>
          <a:prstGeom prst="rect">
            <a:avLst/>
          </a:prstGeom>
          <a:noFill/>
          <a:ln/>
        </p:spPr>
        <p:txBody>
          <a:bodyPr wrap="square" lIns="0" tIns="0" rIns="0" bIns="0" rtlCol="0" anchor="t"/>
          <a:lstStyle/>
          <a:p>
            <a:pPr algn="l" indent="0" marL="0">
              <a:lnSpc>
                <a:spcPct val="100000"/>
              </a:lnSpc>
              <a:buNone/>
            </a:pPr>
            <a:r>
              <a:rPr lang="en-US" sz="1500" dirty="0">
                <a:solidFill>
                  <a:srgbClr val="CADCFC"/>
                </a:solidFill>
                <a:latin typeface="Times New Roman" pitchFamily="34" charset="0"/>
                <a:ea typeface="Times New Roman" pitchFamily="34" charset="-122"/>
                <a:cs typeface="Times New Roman" pitchFamily="34" charset="-120"/>
              </a:rPr>
              <a:t>ACE lar tartib bo'yicha: aniq taqiq birinchi, keyin ruxsatlar. Mos kelmasa — rad</a:t>
            </a:r>
            <a:endParaRPr lang="en-US" sz="1500" dirty="0"/>
          </a:p>
        </p:txBody>
      </p:sp>
      <p:sp>
        <p:nvSpPr>
          <p:cNvPr id="31" name="Shape 29"/>
          <p:cNvSpPr/>
          <p:nvPr/>
        </p:nvSpPr>
        <p:spPr>
          <a:xfrm>
            <a:off x="8778240" y="5020056"/>
            <a:ext cx="0" cy="137160"/>
          </a:xfrm>
          <a:prstGeom prst="line">
            <a:avLst/>
          </a:prstGeom>
          <a:noFill/>
          <a:ln w="28575">
            <a:solidFill>
              <a:srgbClr val="5B6270"/>
            </a:solidFill>
            <a:prstDash val="solid"/>
            <a:tailEnd type="triangle"/>
          </a:ln>
        </p:spPr>
      </p:sp>
      <p:sp>
        <p:nvSpPr>
          <p:cNvPr id="32" name="Shape 30"/>
          <p:cNvSpPr/>
          <p:nvPr/>
        </p:nvSpPr>
        <p:spPr>
          <a:xfrm>
            <a:off x="5943600" y="5157216"/>
            <a:ext cx="5669280" cy="987552"/>
          </a:xfrm>
          <a:prstGeom prst="roundRect">
            <a:avLst>
              <a:gd name="adj" fmla="val 8333"/>
            </a:avLst>
          </a:prstGeom>
          <a:solidFill>
            <a:srgbClr val="1F6B4A"/>
          </a:solidFill>
          <a:ln/>
        </p:spPr>
      </p:sp>
      <p:sp>
        <p:nvSpPr>
          <p:cNvPr id="33" name="Text 31"/>
          <p:cNvSpPr txBox="1"/>
          <p:nvPr/>
        </p:nvSpPr>
        <p:spPr>
          <a:xfrm>
            <a:off x="6172200" y="5230368"/>
            <a:ext cx="5303520" cy="365760"/>
          </a:xfrm>
          <a:prstGeom prst="rect">
            <a:avLst/>
          </a:prstGeom>
          <a:noFill/>
          <a:ln/>
        </p:spPr>
        <p:txBody>
          <a:bodyPr wrap="square" lIns="0" tIns="0" rIns="0" bIns="0" rtlCol="0" anchor="t"/>
          <a:lstStyle/>
          <a:p>
            <a:pPr algn="l" indent="0" marL="0">
              <a:lnSpc>
                <a:spcPct val="100000"/>
              </a:lnSpc>
              <a:buNone/>
            </a:pPr>
            <a:r>
              <a:rPr lang="en-US" sz="1700" b="1" dirty="0">
                <a:solidFill>
                  <a:srgbClr val="FFFFFF"/>
                </a:solidFill>
                <a:latin typeface="Times New Roman" pitchFamily="34" charset="0"/>
                <a:ea typeface="Times New Roman" pitchFamily="34" charset="-122"/>
                <a:cs typeface="Times New Roman" pitchFamily="34" charset="-120"/>
              </a:rPr>
              <a:t>Natija</a:t>
            </a:r>
            <a:endParaRPr lang="en-US" sz="1700" dirty="0"/>
          </a:p>
        </p:txBody>
      </p:sp>
      <p:sp>
        <p:nvSpPr>
          <p:cNvPr id="34" name="Text 32"/>
          <p:cNvSpPr txBox="1"/>
          <p:nvPr/>
        </p:nvSpPr>
        <p:spPr>
          <a:xfrm>
            <a:off x="6172200" y="5596128"/>
            <a:ext cx="5303520" cy="502920"/>
          </a:xfrm>
          <a:prstGeom prst="rect">
            <a:avLst/>
          </a:prstGeom>
          <a:noFill/>
          <a:ln/>
        </p:spPr>
        <p:txBody>
          <a:bodyPr wrap="square" lIns="0" tIns="0" rIns="0" bIns="0" rtlCol="0" anchor="t"/>
          <a:lstStyle/>
          <a:p>
            <a:pPr algn="l" indent="0" marL="0">
              <a:lnSpc>
                <a:spcPct val="100000"/>
              </a:lnSpc>
              <a:buNone/>
            </a:pPr>
            <a:r>
              <a:rPr lang="en-US" sz="1500" dirty="0">
                <a:solidFill>
                  <a:srgbClr val="CADCFC"/>
                </a:solidFill>
                <a:latin typeface="Times New Roman" pitchFamily="34" charset="0"/>
                <a:ea typeface="Times New Roman" pitchFamily="34" charset="-122"/>
                <a:cs typeface="Times New Roman" pitchFamily="34" charset="-120"/>
              </a:rPr>
              <a:t>Deskriptor (handle) — keyingi o'qishlar qayta tekshirilmaydi</a:t>
            </a:r>
            <a:endParaRPr lang="en-US" sz="1500" dirty="0"/>
          </a:p>
        </p:txBody>
      </p:sp>
      <p:sp>
        <p:nvSpPr>
          <p:cNvPr id="35" name="Text 33"/>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36" name="Text 34"/>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EGASI VAKOLATI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Windows'da «diskretsion» qayerda?</a:t>
            </a:r>
            <a:endParaRPr lang="en-US" sz="3600" dirty="0"/>
          </a:p>
        </p:txBody>
      </p:sp>
      <p:sp>
        <p:nvSpPr>
          <p:cNvPr id="4" name="Shape 2"/>
          <p:cNvSpPr/>
          <p:nvPr/>
        </p:nvSpPr>
        <p:spPr>
          <a:xfrm>
            <a:off x="548640" y="1783080"/>
            <a:ext cx="11064240" cy="960120"/>
          </a:xfrm>
          <a:prstGeom prst="roundRect">
            <a:avLst>
              <a:gd name="adj" fmla="val 8571"/>
            </a:avLst>
          </a:prstGeom>
          <a:solidFill>
            <a:srgbClr val="EEF2FB"/>
          </a:solidFill>
          <a:ln/>
        </p:spPr>
      </p:sp>
      <p:sp>
        <p:nvSpPr>
          <p:cNvPr id="5" name="Shape 3"/>
          <p:cNvSpPr/>
          <p:nvPr/>
        </p:nvSpPr>
        <p:spPr>
          <a:xfrm>
            <a:off x="548640" y="1783080"/>
            <a:ext cx="2651760" cy="960120"/>
          </a:xfrm>
          <a:prstGeom prst="roundRect">
            <a:avLst>
              <a:gd name="adj" fmla="val 8571"/>
            </a:avLst>
          </a:prstGeom>
          <a:solidFill>
            <a:srgbClr val="1F6B4A"/>
          </a:solidFill>
          <a:ln/>
        </p:spPr>
      </p:sp>
      <p:sp>
        <p:nvSpPr>
          <p:cNvPr id="6" name="Text 4"/>
          <p:cNvSpPr txBox="1"/>
          <p:nvPr/>
        </p:nvSpPr>
        <p:spPr>
          <a:xfrm>
            <a:off x="548640" y="1783080"/>
            <a:ext cx="2651760" cy="9601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Courier New" pitchFamily="34" charset="0"/>
                <a:ea typeface="Courier New" pitchFamily="34" charset="-122"/>
                <a:cs typeface="Courier New" pitchFamily="34" charset="-120"/>
              </a:rPr>
              <a:t>WRITE_DAC</a:t>
            </a:r>
            <a:endParaRPr lang="en-US" sz="1800" dirty="0"/>
          </a:p>
        </p:txBody>
      </p:sp>
      <p:sp>
        <p:nvSpPr>
          <p:cNvPr id="7" name="Text 5"/>
          <p:cNvSpPr txBox="1"/>
          <p:nvPr/>
        </p:nvSpPr>
        <p:spPr>
          <a:xfrm>
            <a:off x="3429000" y="1856232"/>
            <a:ext cx="5760720" cy="411480"/>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DACL ni o'zgartirish — boshqalarga huquq berish yoki olish</a:t>
            </a:r>
            <a:endParaRPr lang="en-US" sz="1700" dirty="0"/>
          </a:p>
        </p:txBody>
      </p:sp>
      <p:sp>
        <p:nvSpPr>
          <p:cNvPr id="8" name="Text 6"/>
          <p:cNvSpPr txBox="1"/>
          <p:nvPr/>
        </p:nvSpPr>
        <p:spPr>
          <a:xfrm>
            <a:off x="3429000" y="2258568"/>
            <a:ext cx="5760720" cy="41148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Egasi uni doim yashirin tarzda oladi</a:t>
            </a:r>
            <a:endParaRPr lang="en-US" sz="1500" dirty="0"/>
          </a:p>
        </p:txBody>
      </p:sp>
      <p:sp>
        <p:nvSpPr>
          <p:cNvPr id="9" name="Shape 7"/>
          <p:cNvSpPr/>
          <p:nvPr/>
        </p:nvSpPr>
        <p:spPr>
          <a:xfrm>
            <a:off x="9418320" y="2011680"/>
            <a:ext cx="2011680" cy="502920"/>
          </a:xfrm>
          <a:prstGeom prst="roundRect">
            <a:avLst>
              <a:gd name="adj" fmla="val 16364"/>
            </a:avLst>
          </a:prstGeom>
          <a:solidFill>
            <a:srgbClr val="FFFFFF"/>
          </a:solidFill>
          <a:ln w="15875">
            <a:solidFill>
              <a:srgbClr val="D9932B"/>
            </a:solidFill>
            <a:prstDash val="solid"/>
          </a:ln>
        </p:spPr>
      </p:sp>
      <p:sp>
        <p:nvSpPr>
          <p:cNvPr id="10" name="Text 8"/>
          <p:cNvSpPr txBox="1"/>
          <p:nvPr/>
        </p:nvSpPr>
        <p:spPr>
          <a:xfrm>
            <a:off x="9418320" y="2011680"/>
            <a:ext cx="2011680" cy="502920"/>
          </a:xfrm>
          <a:prstGeom prst="rect">
            <a:avLst/>
          </a:prstGeom>
          <a:noFill/>
          <a:ln/>
        </p:spPr>
        <p:txBody>
          <a:bodyPr wrap="square" lIns="50800" tIns="50800" rIns="50800" bIns="50800" rtlCol="0" anchor="ctr"/>
          <a:lstStyle/>
          <a:p>
            <a:pPr algn="ctr" indent="0" marL="0">
              <a:lnSpc>
                <a:spcPct val="100000"/>
              </a:lnSpc>
              <a:buNone/>
            </a:pPr>
            <a:r>
              <a:rPr lang="en-US" sz="1400" b="1" dirty="0">
                <a:solidFill>
                  <a:srgbClr val="9A5B00"/>
                </a:solidFill>
                <a:latin typeface="Times New Roman" pitchFamily="34" charset="0"/>
                <a:ea typeface="Times New Roman" pitchFamily="34" charset="-122"/>
                <a:cs typeface="Times New Roman" pitchFamily="34" charset="-120"/>
              </a:rPr>
              <a:t>Take-Grant: grant</a:t>
            </a:r>
            <a:endParaRPr lang="en-US" sz="1400" dirty="0"/>
          </a:p>
        </p:txBody>
      </p:sp>
      <p:sp>
        <p:nvSpPr>
          <p:cNvPr id="11" name="Shape 9"/>
          <p:cNvSpPr/>
          <p:nvPr/>
        </p:nvSpPr>
        <p:spPr>
          <a:xfrm>
            <a:off x="548640" y="2880360"/>
            <a:ext cx="11064240" cy="960120"/>
          </a:xfrm>
          <a:prstGeom prst="roundRect">
            <a:avLst>
              <a:gd name="adj" fmla="val 8571"/>
            </a:avLst>
          </a:prstGeom>
          <a:solidFill>
            <a:srgbClr val="EEF2FB"/>
          </a:solidFill>
          <a:ln/>
        </p:spPr>
      </p:sp>
      <p:sp>
        <p:nvSpPr>
          <p:cNvPr id="12" name="Shape 10"/>
          <p:cNvSpPr/>
          <p:nvPr/>
        </p:nvSpPr>
        <p:spPr>
          <a:xfrm>
            <a:off x="548640" y="2880360"/>
            <a:ext cx="2651760" cy="960120"/>
          </a:xfrm>
          <a:prstGeom prst="roundRect">
            <a:avLst>
              <a:gd name="adj" fmla="val 8571"/>
            </a:avLst>
          </a:prstGeom>
          <a:solidFill>
            <a:srgbClr val="9E3B2E"/>
          </a:solidFill>
          <a:ln/>
        </p:spPr>
      </p:sp>
      <p:sp>
        <p:nvSpPr>
          <p:cNvPr id="13" name="Text 11"/>
          <p:cNvSpPr txBox="1"/>
          <p:nvPr/>
        </p:nvSpPr>
        <p:spPr>
          <a:xfrm>
            <a:off x="548640" y="2880360"/>
            <a:ext cx="2651760" cy="9601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Courier New" pitchFamily="34" charset="0"/>
                <a:ea typeface="Courier New" pitchFamily="34" charset="-122"/>
                <a:cs typeface="Courier New" pitchFamily="34" charset="-120"/>
              </a:rPr>
              <a:t>WRITE_OWNER</a:t>
            </a:r>
            <a:endParaRPr lang="en-US" sz="1800" dirty="0"/>
          </a:p>
        </p:txBody>
      </p:sp>
      <p:sp>
        <p:nvSpPr>
          <p:cNvPr id="14" name="Text 12"/>
          <p:cNvSpPr txBox="1"/>
          <p:nvPr/>
        </p:nvSpPr>
        <p:spPr>
          <a:xfrm>
            <a:off x="3429000" y="2953512"/>
            <a:ext cx="5760720" cy="411480"/>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Egasini almashtirish</a:t>
            </a:r>
            <a:endParaRPr lang="en-US" sz="1700" dirty="0"/>
          </a:p>
        </p:txBody>
      </p:sp>
      <p:sp>
        <p:nvSpPr>
          <p:cNvPr id="15" name="Text 13"/>
          <p:cNvSpPr txBox="1"/>
          <p:nvPr/>
        </p:nvSpPr>
        <p:spPr>
          <a:xfrm>
            <a:off x="3429000" y="3355848"/>
            <a:ext cx="5760720" cy="41148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Ma'murlarda SeTakeOwnershipPrivilege imtiyozi bor</a:t>
            </a:r>
            <a:endParaRPr lang="en-US" sz="1500" dirty="0"/>
          </a:p>
        </p:txBody>
      </p:sp>
      <p:sp>
        <p:nvSpPr>
          <p:cNvPr id="16" name="Shape 14"/>
          <p:cNvSpPr/>
          <p:nvPr/>
        </p:nvSpPr>
        <p:spPr>
          <a:xfrm>
            <a:off x="9418320" y="3108960"/>
            <a:ext cx="2011680" cy="502920"/>
          </a:xfrm>
          <a:prstGeom prst="roundRect">
            <a:avLst>
              <a:gd name="adj" fmla="val 16364"/>
            </a:avLst>
          </a:prstGeom>
          <a:solidFill>
            <a:srgbClr val="FFFFFF"/>
          </a:solidFill>
          <a:ln w="15875">
            <a:solidFill>
              <a:srgbClr val="D9932B"/>
            </a:solidFill>
            <a:prstDash val="solid"/>
          </a:ln>
        </p:spPr>
      </p:sp>
      <p:sp>
        <p:nvSpPr>
          <p:cNvPr id="17" name="Text 15"/>
          <p:cNvSpPr txBox="1"/>
          <p:nvPr/>
        </p:nvSpPr>
        <p:spPr>
          <a:xfrm>
            <a:off x="9418320" y="3108960"/>
            <a:ext cx="2011680" cy="502920"/>
          </a:xfrm>
          <a:prstGeom prst="rect">
            <a:avLst/>
          </a:prstGeom>
          <a:noFill/>
          <a:ln/>
        </p:spPr>
        <p:txBody>
          <a:bodyPr wrap="square" lIns="50800" tIns="50800" rIns="50800" bIns="50800" rtlCol="0" anchor="ctr"/>
          <a:lstStyle/>
          <a:p>
            <a:pPr algn="ctr" indent="0" marL="0">
              <a:lnSpc>
                <a:spcPct val="100000"/>
              </a:lnSpc>
              <a:buNone/>
            </a:pPr>
            <a:r>
              <a:rPr lang="en-US" sz="1400" b="1" dirty="0">
                <a:solidFill>
                  <a:srgbClr val="9A5B00"/>
                </a:solidFill>
                <a:latin typeface="Times New Roman" pitchFamily="34" charset="0"/>
                <a:ea typeface="Times New Roman" pitchFamily="34" charset="-122"/>
                <a:cs typeface="Times New Roman" pitchFamily="34" charset="-120"/>
              </a:rPr>
              <a:t>Take-Grant: take</a:t>
            </a:r>
            <a:endParaRPr lang="en-US" sz="1400" dirty="0"/>
          </a:p>
        </p:txBody>
      </p:sp>
      <p:sp>
        <p:nvSpPr>
          <p:cNvPr id="18" name="Shape 16"/>
          <p:cNvSpPr/>
          <p:nvPr/>
        </p:nvSpPr>
        <p:spPr>
          <a:xfrm>
            <a:off x="548640" y="3977640"/>
            <a:ext cx="11064240" cy="960120"/>
          </a:xfrm>
          <a:prstGeom prst="roundRect">
            <a:avLst>
              <a:gd name="adj" fmla="val 8571"/>
            </a:avLst>
          </a:prstGeom>
          <a:solidFill>
            <a:srgbClr val="EEF2FB"/>
          </a:solidFill>
          <a:ln/>
        </p:spPr>
      </p:sp>
      <p:sp>
        <p:nvSpPr>
          <p:cNvPr id="19" name="Shape 17"/>
          <p:cNvSpPr/>
          <p:nvPr/>
        </p:nvSpPr>
        <p:spPr>
          <a:xfrm>
            <a:off x="548640" y="3977640"/>
            <a:ext cx="2651760" cy="960120"/>
          </a:xfrm>
          <a:prstGeom prst="roundRect">
            <a:avLst>
              <a:gd name="adj" fmla="val 8571"/>
            </a:avLst>
          </a:prstGeom>
          <a:solidFill>
            <a:srgbClr val="1E2761"/>
          </a:solidFill>
          <a:ln/>
        </p:spPr>
      </p:sp>
      <p:sp>
        <p:nvSpPr>
          <p:cNvPr id="20" name="Text 18"/>
          <p:cNvSpPr txBox="1"/>
          <p:nvPr/>
        </p:nvSpPr>
        <p:spPr>
          <a:xfrm>
            <a:off x="548640" y="3977640"/>
            <a:ext cx="2651760" cy="9601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Courier New" pitchFamily="34" charset="0"/>
                <a:ea typeface="Courier New" pitchFamily="34" charset="-122"/>
                <a:cs typeface="Courier New" pitchFamily="34" charset="-120"/>
              </a:rPr>
              <a:t>READ_CONTROL</a:t>
            </a:r>
            <a:endParaRPr lang="en-US" sz="1800" dirty="0"/>
          </a:p>
        </p:txBody>
      </p:sp>
      <p:sp>
        <p:nvSpPr>
          <p:cNvPr id="21" name="Text 19"/>
          <p:cNvSpPr txBox="1"/>
          <p:nvPr/>
        </p:nvSpPr>
        <p:spPr>
          <a:xfrm>
            <a:off x="3429000" y="4050792"/>
            <a:ext cx="5760720" cy="411480"/>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Deskriptorni o'qish</a:t>
            </a:r>
            <a:endParaRPr lang="en-US" sz="1700" dirty="0"/>
          </a:p>
        </p:txBody>
      </p:sp>
      <p:sp>
        <p:nvSpPr>
          <p:cNvPr id="22" name="Text 20"/>
          <p:cNvSpPr txBox="1"/>
          <p:nvPr/>
        </p:nvSpPr>
        <p:spPr>
          <a:xfrm>
            <a:off x="3429000" y="4453128"/>
            <a:ext cx="5760720" cy="41148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Egasi ruxsatlarni doim ko'ra oladi</a:t>
            </a:r>
            <a:endParaRPr lang="en-US" sz="1500" dirty="0"/>
          </a:p>
        </p:txBody>
      </p:sp>
      <p:sp>
        <p:nvSpPr>
          <p:cNvPr id="23" name="Shape 21"/>
          <p:cNvSpPr/>
          <p:nvPr/>
        </p:nvSpPr>
        <p:spPr>
          <a:xfrm>
            <a:off x="9418320" y="4206240"/>
            <a:ext cx="2011680" cy="502920"/>
          </a:xfrm>
          <a:prstGeom prst="roundRect">
            <a:avLst>
              <a:gd name="adj" fmla="val 16364"/>
            </a:avLst>
          </a:prstGeom>
          <a:solidFill>
            <a:srgbClr val="FFFFFF"/>
          </a:solidFill>
          <a:ln w="15875">
            <a:solidFill>
              <a:srgbClr val="D9932B"/>
            </a:solidFill>
            <a:prstDash val="solid"/>
          </a:ln>
        </p:spPr>
      </p:sp>
      <p:sp>
        <p:nvSpPr>
          <p:cNvPr id="24" name="Text 22"/>
          <p:cNvSpPr txBox="1"/>
          <p:nvPr/>
        </p:nvSpPr>
        <p:spPr>
          <a:xfrm>
            <a:off x="9418320" y="4206240"/>
            <a:ext cx="2011680" cy="502920"/>
          </a:xfrm>
          <a:prstGeom prst="rect">
            <a:avLst/>
          </a:prstGeom>
          <a:noFill/>
          <a:ln/>
        </p:spPr>
        <p:txBody>
          <a:bodyPr wrap="square" lIns="50800" tIns="50800" rIns="50800" bIns="50800" rtlCol="0" anchor="ctr"/>
          <a:lstStyle/>
          <a:p>
            <a:pPr algn="ctr" indent="0" marL="0">
              <a:lnSpc>
                <a:spcPct val="100000"/>
              </a:lnSpc>
              <a:buNone/>
            </a:pPr>
            <a:r>
              <a:rPr lang="en-US" sz="1400" b="1" dirty="0">
                <a:solidFill>
                  <a:srgbClr val="9A5B00"/>
                </a:solidFill>
                <a:latin typeface="Times New Roman" pitchFamily="34" charset="0"/>
                <a:ea typeface="Times New Roman" pitchFamily="34" charset="-122"/>
                <a:cs typeface="Times New Roman" pitchFamily="34" charset="-120"/>
              </a:rPr>
              <a:t>Take-Grant: —</a:t>
            </a:r>
            <a:endParaRPr lang="en-US" sz="1400" dirty="0"/>
          </a:p>
        </p:txBody>
      </p:sp>
      <p:sp>
        <p:nvSpPr>
          <p:cNvPr id="25" name="Shape 23"/>
          <p:cNvSpPr/>
          <p:nvPr/>
        </p:nvSpPr>
        <p:spPr>
          <a:xfrm>
            <a:off x="548640" y="5166360"/>
            <a:ext cx="11064240" cy="1051560"/>
          </a:xfrm>
          <a:prstGeom prst="roundRect">
            <a:avLst>
              <a:gd name="adj" fmla="val 7826"/>
            </a:avLst>
          </a:prstGeom>
          <a:solidFill>
            <a:srgbClr val="CADCFC"/>
          </a:solidFill>
          <a:ln/>
        </p:spPr>
      </p:sp>
      <p:sp>
        <p:nvSpPr>
          <p:cNvPr id="26" name="Text 24"/>
          <p:cNvSpPr txBox="1"/>
          <p:nvPr/>
        </p:nvSpPr>
        <p:spPr>
          <a:xfrm>
            <a:off x="777240" y="5166360"/>
            <a:ext cx="10607040" cy="1051560"/>
          </a:xfrm>
          <a:prstGeom prst="rect">
            <a:avLst/>
          </a:prstGeom>
          <a:noFill/>
          <a:ln/>
        </p:spPr>
        <p:txBody>
          <a:bodyPr wrap="square" lIns="0" tIns="0" rIns="0" bIns="0" rtlCol="0" anchor="ctr"/>
          <a:lstStyle/>
          <a:p>
            <a:pPr algn="l" indent="0" marL="0">
              <a:lnSpc>
                <a:spcPct val="105000"/>
              </a:lnSpc>
              <a:buNone/>
            </a:pPr>
            <a:r>
              <a:rPr lang="en-US" sz="1600" dirty="0">
                <a:solidFill>
                  <a:srgbClr val="1B1B2A"/>
                </a:solidFill>
                <a:latin typeface="Times New Roman" pitchFamily="34" charset="0"/>
                <a:ea typeface="Times New Roman" pitchFamily="34" charset="-122"/>
                <a:cs typeface="Times New Roman" pitchFamily="34" charset="-120"/>
              </a:rPr>
              <a:t>Cheklash: «OWNER RIGHTS» (S-1-3-4) SID i uchun ACE qo'shilsa, egasining yashirin huquqlari bekor bo'ladi — egasi ham faqat shu ACE da berilganlarni oladi. Bu DAC ni markaziy siyosatga yaqinlashtiradi.</a:t>
            </a:r>
            <a:endParaRPr lang="en-US" sz="1600" dirty="0"/>
          </a:p>
        </p:txBody>
      </p:sp>
      <p:sp>
        <p:nvSpPr>
          <p:cNvPr id="27" name="Text 2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28" name="Text 2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JONLI NAMOYISH · 10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icacls: DACL ni o'qish va o'zgartirish</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termina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7498080" cy="4434840"/>
          </a:xfrm>
          <a:prstGeom prst="roundRect">
            <a:avLst>
              <a:gd name="adj" fmla="val 1856"/>
            </a:avLst>
          </a:prstGeom>
          <a:solidFill>
            <a:srgbClr val="162048"/>
          </a:solidFill>
          <a:ln/>
        </p:spPr>
      </p:sp>
      <p:sp>
        <p:nvSpPr>
          <p:cNvPr id="7" name="Text 4"/>
          <p:cNvSpPr txBox="1"/>
          <p:nvPr/>
        </p:nvSpPr>
        <p:spPr>
          <a:xfrm>
            <a:off x="777240" y="1965960"/>
            <a:ext cx="7040880" cy="4069080"/>
          </a:xfrm>
          <a:prstGeom prst="rect">
            <a:avLst/>
          </a:prstGeom>
          <a:noFill/>
          <a:ln/>
        </p:spPr>
        <p:txBody>
          <a:bodyPr wrap="square" lIns="0" tIns="0" rIns="0" bIns="0" rtlCol="0" anchor="t"/>
          <a:lstStyle/>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A2 dagi LAB_ guruhlaridan foydalanamiz</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New-Item C:\Lab\baholar.txt -Force</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icacls C:\Lab\baholar.txt</a:t>
            </a:r>
            <a:endParaRPr lang="en-US" sz="1200" dirty="0"/>
          </a:p>
          <a:p>
            <a:pPr indent="0" marL="0">
              <a:lnSpc>
                <a:spcPct val="105000"/>
              </a:lnSpc>
              <a:buNone/>
            </a:pPr>
            <a:r>
              <a:rPr lang="en-US" sz="1200" dirty="0">
                <a:solidFill>
                  <a:srgbClr val="8FD3A8"/>
                </a:solidFill>
                <a:latin typeface="Courier New" pitchFamily="34" charset="0"/>
                <a:ea typeface="Courier New" pitchFamily="34" charset="-122"/>
                <a:cs typeface="Courier New" pitchFamily="34" charset="-120"/>
              </a:rPr>
              <a:t>      BUILTIN\Administrators:(I)(F) …  ← (I) = meros</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Merosni uzish, aniq ruxsatlar berish</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icacls C:\Lab\baholar.txt /inheritance:r</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icacls C:\Lab\baholar.txt /grant "LAB_Oqituvchilar:(R)"</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icacls C:\Lab\baholar.txt /grant "$env:USERNAME:(F)"</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PowerShell ko'rinishida</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(Get-Acl C:\Lab\baholar.txt).Access |</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      Format-Table IdentityReference, AccessControlType, FileSystemRights</a:t>
            </a:r>
            <a:endParaRPr lang="en-US" sz="1200" dirty="0"/>
          </a:p>
          <a:p>
            <a:pPr indent="0" marL="0">
              <a:lnSpc>
                <a:spcPct val="1050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indent="0" marL="0">
              <a:lnSpc>
                <a:spcPct val="105000"/>
              </a:lnSpc>
              <a:buNone/>
            </a:pPr>
            <a:r>
              <a:rPr lang="en-US" sz="1200" dirty="0">
                <a:solidFill>
                  <a:srgbClr val="9FB0E0"/>
                </a:solidFill>
                <a:latin typeface="Courier New" pitchFamily="34" charset="0"/>
                <a:ea typeface="Courier New" pitchFamily="34" charset="-122"/>
                <a:cs typeface="Courier New" pitchFamily="34" charset="-120"/>
              </a:rPr>
              <a:t># Egalikni olish (administrator)</a:t>
            </a:r>
            <a:endParaRPr lang="en-US" sz="1200" dirty="0"/>
          </a:p>
          <a:p>
            <a:pPr indent="0" marL="0">
              <a:lnSpc>
                <a:spcPct val="105000"/>
              </a:lnSpc>
              <a:buNone/>
            </a:pPr>
            <a:r>
              <a:rPr lang="en-US" sz="1200" b="1" dirty="0">
                <a:solidFill>
                  <a:srgbClr val="F2B544"/>
                </a:solidFill>
                <a:latin typeface="Courier New" pitchFamily="34" charset="0"/>
                <a:ea typeface="Courier New" pitchFamily="34" charset="-122"/>
                <a:cs typeface="Courier New" pitchFamily="34" charset="-120"/>
              </a:rPr>
              <a:t>PS&gt; takeown /f C:\Lab\baholar.txt</a:t>
            </a:r>
            <a:endParaRPr lang="en-US" sz="1200" dirty="0"/>
          </a:p>
        </p:txBody>
      </p:sp>
      <p:sp>
        <p:nvSpPr>
          <p:cNvPr id="8" name="Shape 5"/>
          <p:cNvSpPr/>
          <p:nvPr/>
        </p:nvSpPr>
        <p:spPr>
          <a:xfrm>
            <a:off x="8229600" y="1783080"/>
            <a:ext cx="3383280" cy="1371600"/>
          </a:xfrm>
          <a:prstGeom prst="roundRect">
            <a:avLst>
              <a:gd name="adj" fmla="val 6000"/>
            </a:avLst>
          </a:prstGeom>
          <a:solidFill>
            <a:srgbClr val="FFFFFF"/>
          </a:solidFill>
          <a:ln/>
        </p:spPr>
      </p:sp>
      <p:sp>
        <p:nvSpPr>
          <p:cNvPr id="9" name="Text 6"/>
          <p:cNvSpPr txBox="1"/>
          <p:nvPr/>
        </p:nvSpPr>
        <p:spPr>
          <a:xfrm>
            <a:off x="8412480" y="1874520"/>
            <a:ext cx="3017520" cy="365760"/>
          </a:xfrm>
          <a:prstGeom prst="rect">
            <a:avLst/>
          </a:prstGeom>
          <a:noFill/>
          <a:ln/>
        </p:spPr>
        <p:txBody>
          <a:bodyPr wrap="square" lIns="0" tIns="0" rIns="0" bIns="0" rtlCol="0" anchor="t"/>
          <a:lstStyle/>
          <a:p>
            <a:pPr algn="l"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Kuzating</a:t>
            </a:r>
            <a:endParaRPr lang="en-US" sz="1600" dirty="0"/>
          </a:p>
        </p:txBody>
      </p:sp>
      <p:sp>
        <p:nvSpPr>
          <p:cNvPr id="10" name="Text 7"/>
          <p:cNvSpPr txBox="1"/>
          <p:nvPr/>
        </p:nvSpPr>
        <p:spPr>
          <a:xfrm>
            <a:off x="8412480" y="2240280"/>
            <a:ext cx="3063240" cy="86868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Merosni uzgandan keyin kimlar ro'yxatdan tushib qoldi?</a:t>
            </a:r>
            <a:endParaRPr lang="en-US" sz="1500" dirty="0"/>
          </a:p>
        </p:txBody>
      </p:sp>
      <p:sp>
        <p:nvSpPr>
          <p:cNvPr id="11" name="Shape 8"/>
          <p:cNvSpPr/>
          <p:nvPr/>
        </p:nvSpPr>
        <p:spPr>
          <a:xfrm>
            <a:off x="8229600" y="3273552"/>
            <a:ext cx="3383280" cy="1371600"/>
          </a:xfrm>
          <a:prstGeom prst="roundRect">
            <a:avLst>
              <a:gd name="adj" fmla="val 6000"/>
            </a:avLst>
          </a:prstGeom>
          <a:solidFill>
            <a:srgbClr val="FFFFFF"/>
          </a:solidFill>
          <a:ln/>
        </p:spPr>
      </p:sp>
      <p:sp>
        <p:nvSpPr>
          <p:cNvPr id="12" name="Text 9"/>
          <p:cNvSpPr txBox="1"/>
          <p:nvPr/>
        </p:nvSpPr>
        <p:spPr>
          <a:xfrm>
            <a:off x="8412480" y="3364992"/>
            <a:ext cx="3017520" cy="365760"/>
          </a:xfrm>
          <a:prstGeom prst="rect">
            <a:avLst/>
          </a:prstGeom>
          <a:noFill/>
          <a:ln/>
        </p:spPr>
        <p:txBody>
          <a:bodyPr wrap="square" lIns="0" tIns="0" rIns="0" bIns="0" rtlCol="0" anchor="t"/>
          <a:lstStyle/>
          <a:p>
            <a:pPr algn="l"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Sinab ko'ring</a:t>
            </a:r>
            <a:endParaRPr lang="en-US" sz="1600" dirty="0"/>
          </a:p>
        </p:txBody>
      </p:sp>
      <p:sp>
        <p:nvSpPr>
          <p:cNvPr id="13" name="Text 10"/>
          <p:cNvSpPr txBox="1"/>
          <p:nvPr/>
        </p:nvSpPr>
        <p:spPr>
          <a:xfrm>
            <a:off x="8412480" y="3730752"/>
            <a:ext cx="3063240" cy="86868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lab_oqituvchi sifatida kirib, faylga yozib ko'ring — nima bo'ladi?</a:t>
            </a:r>
            <a:endParaRPr lang="en-US" sz="1500" dirty="0"/>
          </a:p>
        </p:txBody>
      </p:sp>
      <p:sp>
        <p:nvSpPr>
          <p:cNvPr id="14" name="Shape 11"/>
          <p:cNvSpPr/>
          <p:nvPr/>
        </p:nvSpPr>
        <p:spPr>
          <a:xfrm>
            <a:off x="8229600" y="4764024"/>
            <a:ext cx="3383280" cy="1371600"/>
          </a:xfrm>
          <a:prstGeom prst="roundRect">
            <a:avLst>
              <a:gd name="adj" fmla="val 6000"/>
            </a:avLst>
          </a:prstGeom>
          <a:solidFill>
            <a:srgbClr val="FFFFFF"/>
          </a:solidFill>
          <a:ln/>
        </p:spPr>
      </p:sp>
      <p:sp>
        <p:nvSpPr>
          <p:cNvPr id="15" name="Text 12"/>
          <p:cNvSpPr txBox="1"/>
          <p:nvPr/>
        </p:nvSpPr>
        <p:spPr>
          <a:xfrm>
            <a:off x="8412480" y="4855464"/>
            <a:ext cx="3017520" cy="365760"/>
          </a:xfrm>
          <a:prstGeom prst="rect">
            <a:avLst/>
          </a:prstGeom>
          <a:noFill/>
          <a:ln/>
        </p:spPr>
        <p:txBody>
          <a:bodyPr wrap="square" lIns="0" tIns="0" rIns="0" bIns="0" rtlCol="0" anchor="t"/>
          <a:lstStyle/>
          <a:p>
            <a:pPr algn="l" indent="0" marL="0">
              <a:lnSpc>
                <a:spcPct val="100000"/>
              </a:lnSpc>
              <a:buNone/>
            </a:pPr>
            <a:r>
              <a:rPr lang="en-US" sz="1600" b="1" dirty="0">
                <a:solidFill>
                  <a:srgbClr val="9A5B00"/>
                </a:solidFill>
                <a:latin typeface="Times New Roman" pitchFamily="34" charset="0"/>
                <a:ea typeface="Times New Roman" pitchFamily="34" charset="-122"/>
                <a:cs typeface="Times New Roman" pitchFamily="34" charset="-120"/>
              </a:rPr>
              <a:t>Savol</a:t>
            </a:r>
            <a:endParaRPr lang="en-US" sz="1600" dirty="0"/>
          </a:p>
        </p:txBody>
      </p:sp>
      <p:sp>
        <p:nvSpPr>
          <p:cNvPr id="16" name="Text 13"/>
          <p:cNvSpPr txBox="1"/>
          <p:nvPr/>
        </p:nvSpPr>
        <p:spPr>
          <a:xfrm>
            <a:off x="8412480" y="5221224"/>
            <a:ext cx="3063240" cy="86868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Oddiy foydalanuvchi o'z faylini Everyone ga ocha oladimi?</a:t>
            </a:r>
            <a:endParaRPr lang="en-US" sz="1500" dirty="0"/>
          </a:p>
        </p:txBody>
      </p:sp>
      <p:sp>
        <p:nvSpPr>
          <p:cNvPr id="17" name="Text 14"/>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18" name="Text 15"/>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 · DAC NING ASOSIY ZAIFLIGI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Troyan oti: dastur — sizning nomingizdan</a:t>
            </a:r>
            <a:endParaRPr lang="en-US" sz="3600" dirty="0"/>
          </a:p>
        </p:txBody>
      </p:sp>
      <p:sp>
        <p:nvSpPr>
          <p:cNvPr id="4" name="Shape 2"/>
          <p:cNvSpPr/>
          <p:nvPr/>
        </p:nvSpPr>
        <p:spPr>
          <a:xfrm>
            <a:off x="548640" y="1783080"/>
            <a:ext cx="2514600" cy="1920240"/>
          </a:xfrm>
          <a:prstGeom prst="roundRect">
            <a:avLst>
              <a:gd name="adj" fmla="val 4286"/>
            </a:avLst>
          </a:prstGeom>
          <a:solidFill>
            <a:srgbClr val="1E2761"/>
          </a:solidFill>
          <a:ln/>
        </p:spPr>
      </p:sp>
      <p:sp>
        <p:nvSpPr>
          <p:cNvPr id="5" name="Shape 3"/>
          <p:cNvSpPr/>
          <p:nvPr/>
        </p:nvSpPr>
        <p:spPr>
          <a:xfrm>
            <a:off x="1463040" y="1920240"/>
            <a:ext cx="685800" cy="685800"/>
          </a:xfrm>
          <a:prstGeom prst="ellipse">
            <a:avLst/>
          </a:prstGeom>
          <a:solidFill>
            <a:srgbClr val="162048"/>
          </a:solidFill>
          <a:ln/>
        </p:spPr>
      </p:sp>
      <p:pic>
        <p:nvPicPr>
          <p:cNvPr id="6" name="Image 0" descr="/home/claude/fob-slides/icons_out/users_white.png"/>
          <p:cNvPicPr>
            <a:picLocks noChangeAspect="1"/>
          </p:cNvPicPr>
          <p:nvPr/>
        </p:nvPicPr>
        <p:blipFill>
          <a:blip r:embed="rId1"/>
          <a:stretch>
            <a:fillRect/>
          </a:stretch>
        </p:blipFill>
        <p:spPr>
          <a:xfrm>
            <a:off x="1617345" y="2074545"/>
            <a:ext cx="377190" cy="377190"/>
          </a:xfrm>
          <a:prstGeom prst="rect">
            <a:avLst/>
          </a:prstGeom>
        </p:spPr>
      </p:pic>
      <p:sp>
        <p:nvSpPr>
          <p:cNvPr id="7" name="Text 4"/>
          <p:cNvSpPr txBox="1"/>
          <p:nvPr/>
        </p:nvSpPr>
        <p:spPr>
          <a:xfrm>
            <a:off x="548640" y="2651760"/>
            <a:ext cx="251460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Karimov</a:t>
            </a:r>
            <a:endParaRPr lang="en-US" sz="1800" dirty="0"/>
          </a:p>
        </p:txBody>
      </p:sp>
      <p:sp>
        <p:nvSpPr>
          <p:cNvPr id="8" name="Text 5"/>
          <p:cNvSpPr txBox="1"/>
          <p:nvPr/>
        </p:nvSpPr>
        <p:spPr>
          <a:xfrm>
            <a:off x="640080" y="3108960"/>
            <a:ext cx="2331720" cy="50292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«jadval.exe» ni ishga tushiradi</a:t>
            </a:r>
            <a:endParaRPr lang="en-US" sz="1400" dirty="0"/>
          </a:p>
        </p:txBody>
      </p:sp>
      <p:sp>
        <p:nvSpPr>
          <p:cNvPr id="9" name="Shape 6"/>
          <p:cNvSpPr/>
          <p:nvPr/>
        </p:nvSpPr>
        <p:spPr>
          <a:xfrm>
            <a:off x="3090672" y="2743200"/>
            <a:ext cx="265176" cy="0"/>
          </a:xfrm>
          <a:prstGeom prst="line">
            <a:avLst/>
          </a:prstGeom>
          <a:noFill/>
          <a:ln w="31750">
            <a:solidFill>
              <a:srgbClr val="1E2761"/>
            </a:solidFill>
            <a:prstDash val="solid"/>
            <a:tailEnd type="triangle"/>
          </a:ln>
        </p:spPr>
      </p:sp>
      <p:sp>
        <p:nvSpPr>
          <p:cNvPr id="10" name="Shape 7"/>
          <p:cNvSpPr/>
          <p:nvPr/>
        </p:nvSpPr>
        <p:spPr>
          <a:xfrm>
            <a:off x="3383280" y="1783080"/>
            <a:ext cx="2514600" cy="1920240"/>
          </a:xfrm>
          <a:prstGeom prst="roundRect">
            <a:avLst>
              <a:gd name="adj" fmla="val 4286"/>
            </a:avLst>
          </a:prstGeom>
          <a:solidFill>
            <a:srgbClr val="9E3B2E"/>
          </a:solidFill>
          <a:ln/>
        </p:spPr>
      </p:sp>
      <p:sp>
        <p:nvSpPr>
          <p:cNvPr id="11" name="Shape 8"/>
          <p:cNvSpPr/>
          <p:nvPr/>
        </p:nvSpPr>
        <p:spPr>
          <a:xfrm>
            <a:off x="4297680" y="1920240"/>
            <a:ext cx="685800" cy="685800"/>
          </a:xfrm>
          <a:prstGeom prst="ellipse">
            <a:avLst/>
          </a:prstGeom>
          <a:solidFill>
            <a:srgbClr val="7A2D23"/>
          </a:solidFill>
          <a:ln/>
        </p:spPr>
      </p:sp>
      <p:pic>
        <p:nvPicPr>
          <p:cNvPr id="12" name="Image 1" descr="/home/claude/fob-slides/icons_out/code_navy.png"/>
          <p:cNvPicPr>
            <a:picLocks noChangeAspect="1"/>
          </p:cNvPicPr>
          <p:nvPr/>
        </p:nvPicPr>
        <p:blipFill>
          <a:blip r:embed="rId2"/>
          <a:stretch>
            <a:fillRect/>
          </a:stretch>
        </p:blipFill>
        <p:spPr>
          <a:xfrm>
            <a:off x="4451985" y="2074545"/>
            <a:ext cx="377190" cy="377190"/>
          </a:xfrm>
          <a:prstGeom prst="rect">
            <a:avLst/>
          </a:prstGeom>
        </p:spPr>
      </p:pic>
      <p:sp>
        <p:nvSpPr>
          <p:cNvPr id="13" name="Text 9"/>
          <p:cNvSpPr txBox="1"/>
          <p:nvPr/>
        </p:nvSpPr>
        <p:spPr>
          <a:xfrm>
            <a:off x="3383280" y="2651760"/>
            <a:ext cx="251460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jadval.exe</a:t>
            </a:r>
            <a:endParaRPr lang="en-US" sz="1800" dirty="0"/>
          </a:p>
        </p:txBody>
      </p:sp>
      <p:sp>
        <p:nvSpPr>
          <p:cNvPr id="14" name="Text 10"/>
          <p:cNvSpPr txBox="1"/>
          <p:nvPr/>
        </p:nvSpPr>
        <p:spPr>
          <a:xfrm>
            <a:off x="3474720" y="3108960"/>
            <a:ext cx="2331720" cy="50292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Karimov tokeni bilan ishlaydi</a:t>
            </a:r>
            <a:endParaRPr lang="en-US" sz="1400" dirty="0"/>
          </a:p>
        </p:txBody>
      </p:sp>
      <p:sp>
        <p:nvSpPr>
          <p:cNvPr id="15" name="Shape 11"/>
          <p:cNvSpPr/>
          <p:nvPr/>
        </p:nvSpPr>
        <p:spPr>
          <a:xfrm>
            <a:off x="5925312" y="2743200"/>
            <a:ext cx="265176" cy="0"/>
          </a:xfrm>
          <a:prstGeom prst="line">
            <a:avLst/>
          </a:prstGeom>
          <a:noFill/>
          <a:ln w="31750">
            <a:solidFill>
              <a:srgbClr val="1E2761"/>
            </a:solidFill>
            <a:prstDash val="solid"/>
            <a:tailEnd type="triangle"/>
          </a:ln>
        </p:spPr>
      </p:sp>
      <p:sp>
        <p:nvSpPr>
          <p:cNvPr id="16" name="Shape 12"/>
          <p:cNvSpPr/>
          <p:nvPr/>
        </p:nvSpPr>
        <p:spPr>
          <a:xfrm>
            <a:off x="6217920" y="1783080"/>
            <a:ext cx="2514600" cy="1920240"/>
          </a:xfrm>
          <a:prstGeom prst="roundRect">
            <a:avLst>
              <a:gd name="adj" fmla="val 4286"/>
            </a:avLst>
          </a:prstGeom>
          <a:solidFill>
            <a:srgbClr val="2A3778"/>
          </a:solidFill>
          <a:ln/>
        </p:spPr>
      </p:sp>
      <p:sp>
        <p:nvSpPr>
          <p:cNvPr id="17" name="Shape 13"/>
          <p:cNvSpPr/>
          <p:nvPr/>
        </p:nvSpPr>
        <p:spPr>
          <a:xfrm>
            <a:off x="7132320" y="1920240"/>
            <a:ext cx="685800" cy="685800"/>
          </a:xfrm>
          <a:prstGeom prst="ellipse">
            <a:avLst/>
          </a:prstGeom>
          <a:solidFill>
            <a:srgbClr val="162048"/>
          </a:solidFill>
          <a:ln/>
        </p:spPr>
      </p:sp>
      <p:pic>
        <p:nvPicPr>
          <p:cNvPr id="18" name="Image 2" descr="/home/claude/fob-slides/icons_out/file_white.png"/>
          <p:cNvPicPr>
            <a:picLocks noChangeAspect="1"/>
          </p:cNvPicPr>
          <p:nvPr/>
        </p:nvPicPr>
        <p:blipFill>
          <a:blip r:embed="rId3"/>
          <a:stretch>
            <a:fillRect/>
          </a:stretch>
        </p:blipFill>
        <p:spPr>
          <a:xfrm>
            <a:off x="7286625" y="2074545"/>
            <a:ext cx="377190" cy="377190"/>
          </a:xfrm>
          <a:prstGeom prst="rect">
            <a:avLst/>
          </a:prstGeom>
        </p:spPr>
      </p:pic>
      <p:sp>
        <p:nvSpPr>
          <p:cNvPr id="19" name="Text 14"/>
          <p:cNvSpPr txBox="1"/>
          <p:nvPr/>
        </p:nvSpPr>
        <p:spPr>
          <a:xfrm>
            <a:off x="6217920" y="2651760"/>
            <a:ext cx="251460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Courier New" pitchFamily="34" charset="0"/>
                <a:ea typeface="Courier New" pitchFamily="34" charset="-122"/>
                <a:cs typeface="Courier New" pitchFamily="34" charset="-120"/>
              </a:rPr>
              <a:t>baholar.xlsx</a:t>
            </a:r>
            <a:endParaRPr lang="en-US" sz="1800" dirty="0"/>
          </a:p>
        </p:txBody>
      </p:sp>
      <p:sp>
        <p:nvSpPr>
          <p:cNvPr id="20" name="Text 15"/>
          <p:cNvSpPr txBox="1"/>
          <p:nvPr/>
        </p:nvSpPr>
        <p:spPr>
          <a:xfrm>
            <a:off x="6309360" y="3108960"/>
            <a:ext cx="2331720" cy="50292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o'qiydi — ruxsat bor</a:t>
            </a:r>
            <a:endParaRPr lang="en-US" sz="1400" dirty="0"/>
          </a:p>
        </p:txBody>
      </p:sp>
      <p:sp>
        <p:nvSpPr>
          <p:cNvPr id="21" name="Shape 16"/>
          <p:cNvSpPr/>
          <p:nvPr/>
        </p:nvSpPr>
        <p:spPr>
          <a:xfrm>
            <a:off x="8759952" y="2743200"/>
            <a:ext cx="265176" cy="0"/>
          </a:xfrm>
          <a:prstGeom prst="line">
            <a:avLst/>
          </a:prstGeom>
          <a:noFill/>
          <a:ln w="31750">
            <a:solidFill>
              <a:srgbClr val="1E2761"/>
            </a:solidFill>
            <a:prstDash val="solid"/>
            <a:tailEnd type="triangle"/>
          </a:ln>
        </p:spPr>
      </p:sp>
      <p:sp>
        <p:nvSpPr>
          <p:cNvPr id="22" name="Shape 17"/>
          <p:cNvSpPr/>
          <p:nvPr/>
        </p:nvSpPr>
        <p:spPr>
          <a:xfrm>
            <a:off x="9052560" y="1783080"/>
            <a:ext cx="2514600" cy="1920240"/>
          </a:xfrm>
          <a:prstGeom prst="roundRect">
            <a:avLst>
              <a:gd name="adj" fmla="val 4286"/>
            </a:avLst>
          </a:prstGeom>
          <a:solidFill>
            <a:srgbClr val="2A3778"/>
          </a:solidFill>
          <a:ln/>
        </p:spPr>
      </p:sp>
      <p:sp>
        <p:nvSpPr>
          <p:cNvPr id="23" name="Shape 18"/>
          <p:cNvSpPr/>
          <p:nvPr/>
        </p:nvSpPr>
        <p:spPr>
          <a:xfrm>
            <a:off x="9966960" y="1920240"/>
            <a:ext cx="685800" cy="685800"/>
          </a:xfrm>
          <a:prstGeom prst="ellipse">
            <a:avLst/>
          </a:prstGeom>
          <a:solidFill>
            <a:srgbClr val="162048"/>
          </a:solidFill>
          <a:ln/>
        </p:spPr>
      </p:sp>
      <p:pic>
        <p:nvPicPr>
          <p:cNvPr id="24" name="Image 3" descr="/home/claude/fob-slides/icons_out/database_white.png"/>
          <p:cNvPicPr>
            <a:picLocks noChangeAspect="1"/>
          </p:cNvPicPr>
          <p:nvPr/>
        </p:nvPicPr>
        <p:blipFill>
          <a:blip r:embed="rId4"/>
          <a:stretch>
            <a:fillRect/>
          </a:stretch>
        </p:blipFill>
        <p:spPr>
          <a:xfrm>
            <a:off x="10121265" y="2074545"/>
            <a:ext cx="377190" cy="377190"/>
          </a:xfrm>
          <a:prstGeom prst="rect">
            <a:avLst/>
          </a:prstGeom>
        </p:spPr>
      </p:pic>
      <p:sp>
        <p:nvSpPr>
          <p:cNvPr id="25" name="Text 19"/>
          <p:cNvSpPr txBox="1"/>
          <p:nvPr/>
        </p:nvSpPr>
        <p:spPr>
          <a:xfrm>
            <a:off x="9052560" y="2651760"/>
            <a:ext cx="2514600" cy="45720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Courier New" pitchFamily="34" charset="0"/>
                <a:ea typeface="Courier New" pitchFamily="34" charset="-122"/>
                <a:cs typeface="Courier New" pitchFamily="34" charset="-120"/>
              </a:rPr>
              <a:t>\\fs\ochiq</a:t>
            </a:r>
            <a:endParaRPr lang="en-US" sz="1800" dirty="0"/>
          </a:p>
        </p:txBody>
      </p:sp>
      <p:sp>
        <p:nvSpPr>
          <p:cNvPr id="26" name="Text 20"/>
          <p:cNvSpPr txBox="1"/>
          <p:nvPr/>
        </p:nvSpPr>
        <p:spPr>
          <a:xfrm>
            <a:off x="9144000" y="3108960"/>
            <a:ext cx="2331720" cy="502920"/>
          </a:xfrm>
          <a:prstGeom prst="rect">
            <a:avLst/>
          </a:prstGeom>
          <a:noFill/>
          <a:ln/>
        </p:spPr>
        <p:txBody>
          <a:bodyPr wrap="square" lIns="50800" tIns="50800" rIns="50800" bIns="50800" rtlCol="0" anchor="ctr"/>
          <a:lstStyle/>
          <a:p>
            <a:pPr algn="ctr" indent="0" marL="0">
              <a:lnSpc>
                <a:spcPct val="100000"/>
              </a:lnSpc>
              <a:buNone/>
            </a:pPr>
            <a:r>
              <a:rPr lang="en-US" sz="1400" dirty="0">
                <a:solidFill>
                  <a:srgbClr val="CADCFC"/>
                </a:solidFill>
                <a:latin typeface="Times New Roman" pitchFamily="34" charset="0"/>
                <a:ea typeface="Times New Roman" pitchFamily="34" charset="-122"/>
                <a:cs typeface="Times New Roman" pitchFamily="34" charset="-120"/>
              </a:rPr>
              <a:t>nusxani yozadi — ruxsat bor</a:t>
            </a:r>
            <a:endParaRPr lang="en-US" sz="1400" dirty="0"/>
          </a:p>
        </p:txBody>
      </p:sp>
      <p:sp>
        <p:nvSpPr>
          <p:cNvPr id="27" name="Text 21"/>
          <p:cNvSpPr txBox="1"/>
          <p:nvPr/>
        </p:nvSpPr>
        <p:spPr>
          <a:xfrm>
            <a:off x="548640" y="3886200"/>
            <a:ext cx="11064240" cy="457200"/>
          </a:xfrm>
          <a:prstGeom prst="rect">
            <a:avLst/>
          </a:prstGeom>
          <a:noFill/>
          <a:ln/>
        </p:spPr>
        <p:txBody>
          <a:bodyPr wrap="square" lIns="0" tIns="0" rIns="0" bIns="0" rtlCol="0" anchor="t"/>
          <a:lstStyle/>
          <a:p>
            <a:pPr algn="ctr" indent="0" marL="0">
              <a:lnSpc>
                <a:spcPct val="100000"/>
              </a:lnSpc>
              <a:buNone/>
            </a:pPr>
            <a:r>
              <a:rPr lang="en-US" sz="1700" b="1" dirty="0">
                <a:solidFill>
                  <a:srgbClr val="9E3B2E"/>
                </a:solidFill>
                <a:latin typeface="Times New Roman" pitchFamily="34" charset="0"/>
                <a:ea typeface="Times New Roman" pitchFamily="34" charset="-122"/>
                <a:cs typeface="Times New Roman" pitchFamily="34" charset="-120"/>
              </a:rPr>
              <a:t>Har bir alohida murojaat DACL bo'yicha to'g'ri — va baribir maxfiy ma'lumot ochiq papkaga chiqdi.</a:t>
            </a:r>
            <a:endParaRPr lang="en-US" sz="1700" dirty="0"/>
          </a:p>
        </p:txBody>
      </p:sp>
      <p:sp>
        <p:nvSpPr>
          <p:cNvPr id="28" name="Shape 22"/>
          <p:cNvSpPr/>
          <p:nvPr/>
        </p:nvSpPr>
        <p:spPr>
          <a:xfrm>
            <a:off x="548640" y="4526280"/>
            <a:ext cx="11064240" cy="502920"/>
          </a:xfrm>
          <a:prstGeom prst="roundRect">
            <a:avLst>
              <a:gd name="adj" fmla="val 16364"/>
            </a:avLst>
          </a:prstGeom>
          <a:solidFill>
            <a:srgbClr val="EEF2FB"/>
          </a:solidFill>
          <a:ln/>
        </p:spPr>
      </p:sp>
      <p:sp>
        <p:nvSpPr>
          <p:cNvPr id="29" name="Text 23"/>
          <p:cNvSpPr txBox="1"/>
          <p:nvPr/>
        </p:nvSpPr>
        <p:spPr>
          <a:xfrm>
            <a:off x="777240" y="4526280"/>
            <a:ext cx="1645920" cy="502920"/>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Sabab</a:t>
            </a:r>
            <a:endParaRPr lang="en-US" sz="1600" dirty="0"/>
          </a:p>
        </p:txBody>
      </p:sp>
      <p:sp>
        <p:nvSpPr>
          <p:cNvPr id="30" name="Text 24"/>
          <p:cNvSpPr txBox="1"/>
          <p:nvPr/>
        </p:nvSpPr>
        <p:spPr>
          <a:xfrm>
            <a:off x="2423160" y="4526280"/>
            <a:ext cx="9052560" cy="50292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DAC obyektga kirishni nazorat qiladi, ma'lumot oqimini emas; dastur va foydalanuvchi bir xil deb hisoblanadi</a:t>
            </a:r>
            <a:endParaRPr lang="en-US" sz="1500" dirty="0"/>
          </a:p>
        </p:txBody>
      </p:sp>
      <p:sp>
        <p:nvSpPr>
          <p:cNvPr id="31" name="Shape 25"/>
          <p:cNvSpPr/>
          <p:nvPr/>
        </p:nvSpPr>
        <p:spPr>
          <a:xfrm>
            <a:off x="548640" y="5102352"/>
            <a:ext cx="11064240" cy="502920"/>
          </a:xfrm>
          <a:prstGeom prst="roundRect">
            <a:avLst>
              <a:gd name="adj" fmla="val 16364"/>
            </a:avLst>
          </a:prstGeom>
          <a:solidFill>
            <a:srgbClr val="EEF2FB"/>
          </a:solidFill>
          <a:ln/>
        </p:spPr>
      </p:sp>
      <p:sp>
        <p:nvSpPr>
          <p:cNvPr id="32" name="Text 26"/>
          <p:cNvSpPr txBox="1"/>
          <p:nvPr/>
        </p:nvSpPr>
        <p:spPr>
          <a:xfrm>
            <a:off x="777240" y="5102352"/>
            <a:ext cx="1645920" cy="502920"/>
          </a:xfrm>
          <a:prstGeom prst="rect">
            <a:avLst/>
          </a:prstGeom>
          <a:noFill/>
          <a:ln/>
        </p:spPr>
        <p:txBody>
          <a:bodyPr wrap="square" lIns="0" tIns="0" rIns="0" bIns="0" rtlCol="0" anchor="ctr"/>
          <a:lstStyle/>
          <a:p>
            <a:pPr algn="l" indent="0" marL="0">
              <a:lnSpc>
                <a:spcPct val="100000"/>
              </a:lnSpc>
              <a:buNone/>
            </a:pPr>
            <a:r>
              <a:rPr lang="en-US" sz="1600" b="1" dirty="0">
                <a:solidFill>
                  <a:srgbClr val="1E2761"/>
                </a:solidFill>
                <a:latin typeface="Times New Roman" pitchFamily="34" charset="0"/>
                <a:ea typeface="Times New Roman" pitchFamily="34" charset="-122"/>
                <a:cs typeface="Times New Roman" pitchFamily="34" charset="-120"/>
              </a:rPr>
              <a:t>Oqibat</a:t>
            </a:r>
            <a:endParaRPr lang="en-US" sz="1600" dirty="0"/>
          </a:p>
        </p:txBody>
      </p:sp>
      <p:sp>
        <p:nvSpPr>
          <p:cNvPr id="33" name="Text 27"/>
          <p:cNvSpPr txBox="1"/>
          <p:nvPr/>
        </p:nvSpPr>
        <p:spPr>
          <a:xfrm>
            <a:off x="2423160" y="5102352"/>
            <a:ext cx="9052560" cy="50292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Huquqlarning tarqalishini oldindan aytish qiyin — III bo'limdagi HRU xavfsizlik muammosi</a:t>
            </a:r>
            <a:endParaRPr lang="en-US" sz="1500" dirty="0"/>
          </a:p>
        </p:txBody>
      </p:sp>
      <p:sp>
        <p:nvSpPr>
          <p:cNvPr id="34" name="Shape 28"/>
          <p:cNvSpPr/>
          <p:nvPr/>
        </p:nvSpPr>
        <p:spPr>
          <a:xfrm>
            <a:off x="548640" y="5678424"/>
            <a:ext cx="11064240" cy="502920"/>
          </a:xfrm>
          <a:prstGeom prst="roundRect">
            <a:avLst>
              <a:gd name="adj" fmla="val 16364"/>
            </a:avLst>
          </a:prstGeom>
          <a:solidFill>
            <a:srgbClr val="E8F3EC"/>
          </a:solidFill>
          <a:ln/>
        </p:spPr>
      </p:sp>
      <p:sp>
        <p:nvSpPr>
          <p:cNvPr id="35" name="Text 29"/>
          <p:cNvSpPr txBox="1"/>
          <p:nvPr/>
        </p:nvSpPr>
        <p:spPr>
          <a:xfrm>
            <a:off x="777240" y="5678424"/>
            <a:ext cx="1645920" cy="502920"/>
          </a:xfrm>
          <a:prstGeom prst="rect">
            <a:avLst/>
          </a:prstGeom>
          <a:noFill/>
          <a:ln/>
        </p:spPr>
        <p:txBody>
          <a:bodyPr wrap="square" lIns="0" tIns="0" rIns="0" bIns="0" rtlCol="0" anchor="ctr"/>
          <a:lstStyle/>
          <a:p>
            <a:pPr algn="l" indent="0" marL="0">
              <a:lnSpc>
                <a:spcPct val="100000"/>
              </a:lnSpc>
              <a:buNone/>
            </a:pPr>
            <a:r>
              <a:rPr lang="en-US" sz="1600" b="1" dirty="0">
                <a:solidFill>
                  <a:srgbClr val="1F6B4A"/>
                </a:solidFill>
                <a:latin typeface="Times New Roman" pitchFamily="34" charset="0"/>
                <a:ea typeface="Times New Roman" pitchFamily="34" charset="-122"/>
                <a:cs typeface="Times New Roman" pitchFamily="34" charset="-120"/>
              </a:rPr>
              <a:t>Yechimlar</a:t>
            </a:r>
            <a:endParaRPr lang="en-US" sz="1600" dirty="0"/>
          </a:p>
        </p:txBody>
      </p:sp>
      <p:sp>
        <p:nvSpPr>
          <p:cNvPr id="36" name="Text 30"/>
          <p:cNvSpPr txBox="1"/>
          <p:nvPr/>
        </p:nvSpPr>
        <p:spPr>
          <a:xfrm>
            <a:off x="2423160" y="5678424"/>
            <a:ext cx="9052560" cy="50292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MAC (11-ma'ruza): yorliqlar va oqim qoidalari; Windows'da — yaxlitlik darajalari (MIC), AppLocker, eng kam imtiyoz</a:t>
            </a:r>
            <a:endParaRPr lang="en-US" sz="1500" dirty="0"/>
          </a:p>
        </p:txBody>
      </p:sp>
      <p:sp>
        <p:nvSpPr>
          <p:cNvPr id="37" name="Text 31"/>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38" name="Text 32"/>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HRU MODELI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HRU modeli: buyruqlar va primitiv amallar</a:t>
            </a:r>
            <a:endParaRPr lang="en-US" sz="3600" dirty="0"/>
          </a:p>
        </p:txBody>
      </p:sp>
      <p:sp>
        <p:nvSpPr>
          <p:cNvPr id="4" name="Text 2"/>
          <p:cNvSpPr txBox="1"/>
          <p:nvPr/>
        </p:nvSpPr>
        <p:spPr>
          <a:xfrm>
            <a:off x="548640" y="1737360"/>
            <a:ext cx="11064240" cy="45720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Holat — (S, O, A) uchligi. Holat oltita primitiv amal bilan o'zgaradi; amallar shartli buyruqlarga birlashtiriladi.</a:t>
            </a:r>
            <a:endParaRPr lang="en-US" sz="1600" dirty="0"/>
          </a:p>
        </p:txBody>
      </p:sp>
      <p:sp>
        <p:nvSpPr>
          <p:cNvPr id="5" name="Shape 3"/>
          <p:cNvSpPr/>
          <p:nvPr/>
        </p:nvSpPr>
        <p:spPr>
          <a:xfrm>
            <a:off x="548640" y="2331720"/>
            <a:ext cx="2606040" cy="566928"/>
          </a:xfrm>
          <a:prstGeom prst="roundRect">
            <a:avLst>
              <a:gd name="adj" fmla="val 9677"/>
            </a:avLst>
          </a:prstGeom>
          <a:solidFill>
            <a:srgbClr val="1E2761"/>
          </a:solidFill>
          <a:ln/>
        </p:spPr>
      </p:sp>
      <p:sp>
        <p:nvSpPr>
          <p:cNvPr id="6" name="Text 4"/>
          <p:cNvSpPr txBox="1"/>
          <p:nvPr/>
        </p:nvSpPr>
        <p:spPr>
          <a:xfrm>
            <a:off x="548640" y="2331720"/>
            <a:ext cx="2606040" cy="566928"/>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FFFFFF"/>
                </a:solidFill>
                <a:latin typeface="Courier New" pitchFamily="34" charset="0"/>
                <a:ea typeface="Courier New" pitchFamily="34" charset="-122"/>
                <a:cs typeface="Courier New" pitchFamily="34" charset="-120"/>
              </a:rPr>
              <a:t>enter r into A[s, o]</a:t>
            </a:r>
            <a:endParaRPr lang="en-US" sz="1400" dirty="0"/>
          </a:p>
        </p:txBody>
      </p:sp>
      <p:sp>
        <p:nvSpPr>
          <p:cNvPr id="7" name="Shape 5"/>
          <p:cNvSpPr/>
          <p:nvPr/>
        </p:nvSpPr>
        <p:spPr>
          <a:xfrm>
            <a:off x="3246120" y="2331720"/>
            <a:ext cx="2606040" cy="566928"/>
          </a:xfrm>
          <a:prstGeom prst="roundRect">
            <a:avLst>
              <a:gd name="adj" fmla="val 9677"/>
            </a:avLst>
          </a:prstGeom>
          <a:solidFill>
            <a:srgbClr val="1E2761"/>
          </a:solidFill>
          <a:ln/>
        </p:spPr>
      </p:sp>
      <p:sp>
        <p:nvSpPr>
          <p:cNvPr id="8" name="Text 6"/>
          <p:cNvSpPr txBox="1"/>
          <p:nvPr/>
        </p:nvSpPr>
        <p:spPr>
          <a:xfrm>
            <a:off x="3246120" y="2331720"/>
            <a:ext cx="2606040" cy="566928"/>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FFFFFF"/>
                </a:solidFill>
                <a:latin typeface="Courier New" pitchFamily="34" charset="0"/>
                <a:ea typeface="Courier New" pitchFamily="34" charset="-122"/>
                <a:cs typeface="Courier New" pitchFamily="34" charset="-120"/>
              </a:rPr>
              <a:t>delete r from A[s, o]</a:t>
            </a:r>
            <a:endParaRPr lang="en-US" sz="1400" dirty="0"/>
          </a:p>
        </p:txBody>
      </p:sp>
      <p:sp>
        <p:nvSpPr>
          <p:cNvPr id="9" name="Shape 7"/>
          <p:cNvSpPr/>
          <p:nvPr/>
        </p:nvSpPr>
        <p:spPr>
          <a:xfrm>
            <a:off x="548640" y="2990088"/>
            <a:ext cx="2606040" cy="566928"/>
          </a:xfrm>
          <a:prstGeom prst="roundRect">
            <a:avLst>
              <a:gd name="adj" fmla="val 9677"/>
            </a:avLst>
          </a:prstGeom>
          <a:solidFill>
            <a:srgbClr val="2A3778"/>
          </a:solidFill>
          <a:ln/>
        </p:spPr>
      </p:sp>
      <p:sp>
        <p:nvSpPr>
          <p:cNvPr id="10" name="Text 8"/>
          <p:cNvSpPr txBox="1"/>
          <p:nvPr/>
        </p:nvSpPr>
        <p:spPr>
          <a:xfrm>
            <a:off x="548640" y="2990088"/>
            <a:ext cx="2606040" cy="566928"/>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FFFFFF"/>
                </a:solidFill>
                <a:latin typeface="Courier New" pitchFamily="34" charset="0"/>
                <a:ea typeface="Courier New" pitchFamily="34" charset="-122"/>
                <a:cs typeface="Courier New" pitchFamily="34" charset="-120"/>
              </a:rPr>
              <a:t>create subject s</a:t>
            </a:r>
            <a:endParaRPr lang="en-US" sz="1400" dirty="0"/>
          </a:p>
        </p:txBody>
      </p:sp>
      <p:sp>
        <p:nvSpPr>
          <p:cNvPr id="11" name="Shape 9"/>
          <p:cNvSpPr/>
          <p:nvPr/>
        </p:nvSpPr>
        <p:spPr>
          <a:xfrm>
            <a:off x="3246120" y="2990088"/>
            <a:ext cx="2606040" cy="566928"/>
          </a:xfrm>
          <a:prstGeom prst="roundRect">
            <a:avLst>
              <a:gd name="adj" fmla="val 9677"/>
            </a:avLst>
          </a:prstGeom>
          <a:solidFill>
            <a:srgbClr val="2A3778"/>
          </a:solidFill>
          <a:ln/>
        </p:spPr>
      </p:sp>
      <p:sp>
        <p:nvSpPr>
          <p:cNvPr id="12" name="Text 10"/>
          <p:cNvSpPr txBox="1"/>
          <p:nvPr/>
        </p:nvSpPr>
        <p:spPr>
          <a:xfrm>
            <a:off x="3246120" y="2990088"/>
            <a:ext cx="2606040" cy="566928"/>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FFFFFF"/>
                </a:solidFill>
                <a:latin typeface="Courier New" pitchFamily="34" charset="0"/>
                <a:ea typeface="Courier New" pitchFamily="34" charset="-122"/>
                <a:cs typeface="Courier New" pitchFamily="34" charset="-120"/>
              </a:rPr>
              <a:t>create object o</a:t>
            </a:r>
            <a:endParaRPr lang="en-US" sz="1400" dirty="0"/>
          </a:p>
        </p:txBody>
      </p:sp>
      <p:sp>
        <p:nvSpPr>
          <p:cNvPr id="13" name="Shape 11"/>
          <p:cNvSpPr/>
          <p:nvPr/>
        </p:nvSpPr>
        <p:spPr>
          <a:xfrm>
            <a:off x="548640" y="3648456"/>
            <a:ext cx="2606040" cy="566928"/>
          </a:xfrm>
          <a:prstGeom prst="roundRect">
            <a:avLst>
              <a:gd name="adj" fmla="val 9677"/>
            </a:avLst>
          </a:prstGeom>
          <a:solidFill>
            <a:srgbClr val="2A3778"/>
          </a:solidFill>
          <a:ln/>
        </p:spPr>
      </p:sp>
      <p:sp>
        <p:nvSpPr>
          <p:cNvPr id="14" name="Text 12"/>
          <p:cNvSpPr txBox="1"/>
          <p:nvPr/>
        </p:nvSpPr>
        <p:spPr>
          <a:xfrm>
            <a:off x="548640" y="3648456"/>
            <a:ext cx="2606040" cy="566928"/>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FFFFFF"/>
                </a:solidFill>
                <a:latin typeface="Courier New" pitchFamily="34" charset="0"/>
                <a:ea typeface="Courier New" pitchFamily="34" charset="-122"/>
                <a:cs typeface="Courier New" pitchFamily="34" charset="-120"/>
              </a:rPr>
              <a:t>destroy subject s</a:t>
            </a:r>
            <a:endParaRPr lang="en-US" sz="1400" dirty="0"/>
          </a:p>
        </p:txBody>
      </p:sp>
      <p:sp>
        <p:nvSpPr>
          <p:cNvPr id="15" name="Shape 13"/>
          <p:cNvSpPr/>
          <p:nvPr/>
        </p:nvSpPr>
        <p:spPr>
          <a:xfrm>
            <a:off x="3246120" y="3648456"/>
            <a:ext cx="2606040" cy="566928"/>
          </a:xfrm>
          <a:prstGeom prst="roundRect">
            <a:avLst>
              <a:gd name="adj" fmla="val 9677"/>
            </a:avLst>
          </a:prstGeom>
          <a:solidFill>
            <a:srgbClr val="2A3778"/>
          </a:solidFill>
          <a:ln/>
        </p:spPr>
      </p:sp>
      <p:sp>
        <p:nvSpPr>
          <p:cNvPr id="16" name="Text 14"/>
          <p:cNvSpPr txBox="1"/>
          <p:nvPr/>
        </p:nvSpPr>
        <p:spPr>
          <a:xfrm>
            <a:off x="3246120" y="3648456"/>
            <a:ext cx="2606040" cy="566928"/>
          </a:xfrm>
          <a:prstGeom prst="rect">
            <a:avLst/>
          </a:prstGeom>
          <a:noFill/>
          <a:ln/>
        </p:spPr>
        <p:txBody>
          <a:bodyPr wrap="square" lIns="25400" tIns="25400" rIns="25400" bIns="25400" rtlCol="0" anchor="ctr"/>
          <a:lstStyle/>
          <a:p>
            <a:pPr algn="ctr" indent="0" marL="0">
              <a:lnSpc>
                <a:spcPct val="100000"/>
              </a:lnSpc>
              <a:buNone/>
            </a:pPr>
            <a:r>
              <a:rPr lang="en-US" sz="1400" b="1" dirty="0">
                <a:solidFill>
                  <a:srgbClr val="FFFFFF"/>
                </a:solidFill>
                <a:latin typeface="Courier New" pitchFamily="34" charset="0"/>
                <a:ea typeface="Courier New" pitchFamily="34" charset="-122"/>
                <a:cs typeface="Courier New" pitchFamily="34" charset="-120"/>
              </a:rPr>
              <a:t>destroy object o</a:t>
            </a:r>
            <a:endParaRPr lang="en-US" sz="1400" dirty="0"/>
          </a:p>
        </p:txBody>
      </p:sp>
      <p:sp>
        <p:nvSpPr>
          <p:cNvPr id="17" name="Text 15"/>
          <p:cNvSpPr txBox="1"/>
          <p:nvPr/>
        </p:nvSpPr>
        <p:spPr>
          <a:xfrm>
            <a:off x="548640" y="4343400"/>
            <a:ext cx="5303520" cy="320040"/>
          </a:xfrm>
          <a:prstGeom prst="rect">
            <a:avLst/>
          </a:prstGeom>
          <a:noFill/>
          <a:ln/>
        </p:spPr>
        <p:txBody>
          <a:bodyPr wrap="square" lIns="0" tIns="0" rIns="0" bIns="0" rtlCol="0" anchor="t"/>
          <a:lstStyle/>
          <a:p>
            <a:pPr algn="ct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Oltita primitiv amal</a:t>
            </a:r>
            <a:endParaRPr lang="en-US" sz="1400" dirty="0"/>
          </a:p>
        </p:txBody>
      </p:sp>
      <p:sp>
        <p:nvSpPr>
          <p:cNvPr id="18" name="Shape 16"/>
          <p:cNvSpPr/>
          <p:nvPr/>
        </p:nvSpPr>
        <p:spPr>
          <a:xfrm>
            <a:off x="6126480" y="2331720"/>
            <a:ext cx="5486400" cy="3291840"/>
          </a:xfrm>
          <a:prstGeom prst="roundRect">
            <a:avLst>
              <a:gd name="adj" fmla="val 2500"/>
            </a:avLst>
          </a:prstGeom>
          <a:solidFill>
            <a:srgbClr val="162048"/>
          </a:solidFill>
          <a:ln/>
        </p:spPr>
      </p:sp>
      <p:sp>
        <p:nvSpPr>
          <p:cNvPr id="19" name="Text 17"/>
          <p:cNvSpPr txBox="1"/>
          <p:nvPr/>
        </p:nvSpPr>
        <p:spPr>
          <a:xfrm>
            <a:off x="6355080" y="2514600"/>
            <a:ext cx="5029200" cy="2926080"/>
          </a:xfrm>
          <a:prstGeom prst="rect">
            <a:avLst/>
          </a:prstGeom>
          <a:noFill/>
          <a:ln/>
        </p:spPr>
        <p:txBody>
          <a:bodyPr wrap="square" lIns="0" tIns="0" rIns="0" bIns="0" rtlCol="0" anchor="t"/>
          <a:lstStyle/>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command CREATE_FILE(s, f)</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create object f</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enter own into A[s, f]</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enter r into A[s, f]</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enter w into A[s, f]</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end</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command GRANT_READ(s, p, f)</a:t>
            </a:r>
            <a:endParaRPr lang="en-US" sz="1300" dirty="0"/>
          </a:p>
          <a:p>
            <a:pPr indent="0" marL="0">
              <a:lnSpc>
                <a:spcPct val="105000"/>
              </a:lnSpc>
              <a:buNone/>
            </a:pPr>
            <a:r>
              <a:rPr lang="en-US" sz="1300" dirty="0">
                <a:solidFill>
                  <a:srgbClr val="8FD3A8"/>
                </a:solidFill>
                <a:latin typeface="Courier New" pitchFamily="34" charset="0"/>
                <a:ea typeface="Courier New" pitchFamily="34" charset="-122"/>
                <a:cs typeface="Courier New" pitchFamily="34" charset="-120"/>
              </a:rPr>
              <a:t>    if own in A[s, f]</a:t>
            </a:r>
            <a:endParaRPr lang="en-US" sz="1300" dirty="0"/>
          </a:p>
          <a:p>
            <a:pPr indent="0" marL="0">
              <a:lnSpc>
                <a:spcPct val="105000"/>
              </a:lnSpc>
              <a:buNone/>
            </a:pPr>
            <a:r>
              <a:rPr lang="en-US" sz="1300" dirty="0">
                <a:solidFill>
                  <a:srgbClr val="FFFFFF"/>
                </a:solidFill>
                <a:latin typeface="Courier New" pitchFamily="34" charset="0"/>
                <a:ea typeface="Courier New" pitchFamily="34" charset="-122"/>
                <a:cs typeface="Courier New" pitchFamily="34" charset="-120"/>
              </a:rPr>
              <a:t>    then enter r into A[p, f]</a:t>
            </a:r>
            <a:endParaRPr lang="en-US" sz="1300" dirty="0"/>
          </a:p>
          <a:p>
            <a:pPr indent="0" marL="0">
              <a:lnSpc>
                <a:spcPct val="105000"/>
              </a:lnSpc>
              <a:buNone/>
            </a:pPr>
            <a:r>
              <a:rPr lang="en-US" sz="1300" b="1" dirty="0">
                <a:solidFill>
                  <a:srgbClr val="F2B544"/>
                </a:solidFill>
                <a:latin typeface="Courier New" pitchFamily="34" charset="0"/>
                <a:ea typeface="Courier New" pitchFamily="34" charset="-122"/>
                <a:cs typeface="Courier New" pitchFamily="34" charset="-120"/>
              </a:rPr>
              <a:t>end</a:t>
            </a:r>
            <a:endParaRPr lang="en-US" sz="1300" dirty="0"/>
          </a:p>
        </p:txBody>
      </p:sp>
      <p:sp>
        <p:nvSpPr>
          <p:cNvPr id="20" name="Shape 18"/>
          <p:cNvSpPr/>
          <p:nvPr/>
        </p:nvSpPr>
        <p:spPr>
          <a:xfrm>
            <a:off x="548640" y="4754880"/>
            <a:ext cx="5303520" cy="868680"/>
          </a:xfrm>
          <a:prstGeom prst="roundRect">
            <a:avLst>
              <a:gd name="adj" fmla="val 9474"/>
            </a:avLst>
          </a:prstGeom>
          <a:solidFill>
            <a:srgbClr val="CADCFC"/>
          </a:solidFill>
          <a:ln/>
        </p:spPr>
      </p:sp>
      <p:sp>
        <p:nvSpPr>
          <p:cNvPr id="21" name="Text 19"/>
          <p:cNvSpPr txBox="1"/>
          <p:nvPr/>
        </p:nvSpPr>
        <p:spPr>
          <a:xfrm>
            <a:off x="731520" y="4754880"/>
            <a:ext cx="4937760" cy="86868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GRANT_READ — DAC ning «egasi beradi» qoidasi. CREATE_FILE — Windows'da fayl yaratilganda egalik berilishi.</a:t>
            </a:r>
            <a:endParaRPr lang="en-US" sz="1500" dirty="0"/>
          </a:p>
        </p:txBody>
      </p:sp>
      <p:sp>
        <p:nvSpPr>
          <p:cNvPr id="22" name="Text 20"/>
          <p:cNvSpPr txBox="1"/>
          <p:nvPr/>
        </p:nvSpPr>
        <p:spPr>
          <a:xfrm>
            <a:off x="548640" y="5852160"/>
            <a:ext cx="11064240" cy="411480"/>
          </a:xfrm>
          <a:prstGeom prst="rect">
            <a:avLst/>
          </a:prstGeom>
          <a:noFill/>
          <a:ln/>
        </p:spPr>
        <p:txBody>
          <a:bodyPr wrap="square" lIns="0" tIns="0" rIns="0" bIns="0" rtlCol="0" anchor="t"/>
          <a:lstStyle/>
          <a:p>
            <a:pPr algn="ctr" indent="0" marL="0">
              <a:lnSpc>
                <a:spcPct val="100000"/>
              </a:lnSpc>
              <a:buNone/>
            </a:pPr>
            <a:r>
              <a:rPr lang="en-US" sz="1600" dirty="0">
                <a:solidFill>
                  <a:srgbClr val="1E2761"/>
                </a:solidFill>
                <a:latin typeface="Times New Roman" pitchFamily="34" charset="0"/>
                <a:ea typeface="Times New Roman" pitchFamily="34" charset="-122"/>
                <a:cs typeface="Times New Roman" pitchFamily="34" charset="-120"/>
              </a:rPr>
              <a:t>Istalgan DAC tizimini — Windows NTFS ni ham — shunday buyruqlar to'plami sifatida yozish mumkin.</a:t>
            </a:r>
            <a:endParaRPr lang="en-US" sz="1600" dirty="0"/>
          </a:p>
        </p:txBody>
      </p:sp>
      <p:sp>
        <p:nvSpPr>
          <p:cNvPr id="23" name="Text 21"/>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24" name="Text 22"/>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XAVFSIZLIK MUAMMOSI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Huquq sizib chiqishi: hal qilib bo'lmaydi</a:t>
            </a:r>
            <a:endParaRPr lang="en-US" sz="3600" dirty="0"/>
          </a:p>
        </p:txBody>
      </p:sp>
      <p:sp>
        <p:nvSpPr>
          <p:cNvPr id="4" name="Shape 2"/>
          <p:cNvSpPr/>
          <p:nvPr/>
        </p:nvSpPr>
        <p:spPr>
          <a:xfrm>
            <a:off x="548640" y="1783080"/>
            <a:ext cx="11064240" cy="1097280"/>
          </a:xfrm>
          <a:prstGeom prst="roundRect">
            <a:avLst>
              <a:gd name="adj" fmla="val 7500"/>
            </a:avLst>
          </a:prstGeom>
          <a:solidFill>
            <a:srgbClr val="1E2761"/>
          </a:solidFill>
          <a:ln/>
        </p:spPr>
      </p:sp>
      <p:sp>
        <p:nvSpPr>
          <p:cNvPr id="5" name="Text 3"/>
          <p:cNvSpPr txBox="1"/>
          <p:nvPr/>
        </p:nvSpPr>
        <p:spPr>
          <a:xfrm>
            <a:off x="822960" y="1783080"/>
            <a:ext cx="10515600" cy="1097280"/>
          </a:xfrm>
          <a:prstGeom prst="rect">
            <a:avLst/>
          </a:prstGeom>
          <a:noFill/>
          <a:ln/>
        </p:spPr>
        <p:txBody>
          <a:bodyPr wrap="square" lIns="0" tIns="0" rIns="0" bIns="0" rtlCol="0" anchor="ctr"/>
          <a:lstStyle/>
          <a:p>
            <a:pPr algn="l" indent="0" marL="0">
              <a:lnSpc>
                <a:spcPct val="105000"/>
              </a:lnSpc>
              <a:buNone/>
            </a:pPr>
            <a:r>
              <a:rPr lang="en-US" sz="1800" dirty="0">
                <a:solidFill>
                  <a:srgbClr val="FFFFFF"/>
                </a:solidFill>
                <a:latin typeface="Times New Roman" pitchFamily="34" charset="0"/>
                <a:ea typeface="Times New Roman" pitchFamily="34" charset="-122"/>
                <a:cs typeface="Times New Roman" pitchFamily="34" charset="-120"/>
              </a:rPr>
              <a:t>Savol: berilgan boshlang'ich holat va buyruqlar to'plamida r huquqi ilgari bo'lmagan biror A[s, o] katakka tushishi mumkinmi?</a:t>
            </a:r>
            <a:endParaRPr lang="en-US" sz="1800" dirty="0"/>
          </a:p>
        </p:txBody>
      </p:sp>
      <p:sp>
        <p:nvSpPr>
          <p:cNvPr id="6" name="Shape 4"/>
          <p:cNvSpPr/>
          <p:nvPr/>
        </p:nvSpPr>
        <p:spPr>
          <a:xfrm>
            <a:off x="548640" y="3063240"/>
            <a:ext cx="11064240" cy="777240"/>
          </a:xfrm>
          <a:prstGeom prst="roundRect">
            <a:avLst>
              <a:gd name="adj" fmla="val 10588"/>
            </a:avLst>
          </a:prstGeom>
          <a:solidFill>
            <a:srgbClr val="F7ECEA"/>
          </a:solidFill>
          <a:ln/>
        </p:spPr>
      </p:sp>
      <p:sp>
        <p:nvSpPr>
          <p:cNvPr id="7" name="Text 5"/>
          <p:cNvSpPr txBox="1"/>
          <p:nvPr/>
        </p:nvSpPr>
        <p:spPr>
          <a:xfrm>
            <a:off x="777240" y="3063240"/>
            <a:ext cx="2286000" cy="777240"/>
          </a:xfrm>
          <a:prstGeom prst="rect">
            <a:avLst/>
          </a:prstGeom>
          <a:noFill/>
          <a:ln/>
        </p:spPr>
        <p:txBody>
          <a:bodyPr wrap="square" lIns="0" tIns="0" rIns="0" bIns="0" rtlCol="0" anchor="ctr"/>
          <a:lstStyle/>
          <a:p>
            <a:pPr algn="l" indent="0" marL="0">
              <a:lnSpc>
                <a:spcPct val="100000"/>
              </a:lnSpc>
              <a:buNone/>
            </a:pPr>
            <a:r>
              <a:rPr lang="en-US" sz="1700" b="1" dirty="0">
                <a:solidFill>
                  <a:srgbClr val="9E3B2E"/>
                </a:solidFill>
                <a:latin typeface="Times New Roman" pitchFamily="34" charset="0"/>
                <a:ea typeface="Times New Roman" pitchFamily="34" charset="-122"/>
                <a:cs typeface="Times New Roman" pitchFamily="34" charset="-120"/>
              </a:rPr>
              <a:t>Umumiy holda</a:t>
            </a:r>
            <a:endParaRPr lang="en-US" sz="1700" dirty="0"/>
          </a:p>
        </p:txBody>
      </p:sp>
      <p:sp>
        <p:nvSpPr>
          <p:cNvPr id="8" name="Text 6"/>
          <p:cNvSpPr txBox="1"/>
          <p:nvPr/>
        </p:nvSpPr>
        <p:spPr>
          <a:xfrm>
            <a:off x="3063240" y="3063240"/>
            <a:ext cx="5669280" cy="77724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Hal qilib bo'lmaydi: HRU tizimi Tyuring mashinasini modellashtiradi, xavfsizlik savoli esa to'xtash muammosiga keltiriladi</a:t>
            </a:r>
            <a:endParaRPr lang="en-US" sz="1500" dirty="0"/>
          </a:p>
        </p:txBody>
      </p:sp>
      <p:sp>
        <p:nvSpPr>
          <p:cNvPr id="9" name="Text 7"/>
          <p:cNvSpPr txBox="1"/>
          <p:nvPr/>
        </p:nvSpPr>
        <p:spPr>
          <a:xfrm>
            <a:off x="8778240" y="3063240"/>
            <a:ext cx="2697480" cy="777240"/>
          </a:xfrm>
          <a:prstGeom prst="rect">
            <a:avLst/>
          </a:prstGeom>
          <a:noFill/>
          <a:ln/>
        </p:spPr>
        <p:txBody>
          <a:bodyPr wrap="square" lIns="0" tIns="0" rIns="0" bIns="0" rtlCol="0" anchor="ctr"/>
          <a:lstStyle/>
          <a:p>
            <a:pPr algn="r" indent="0" marL="0">
              <a:lnSpc>
                <a:spcPct val="100000"/>
              </a:lnSpc>
              <a:buNone/>
            </a:pPr>
            <a:r>
              <a:rPr lang="en-US" sz="1600" b="1" dirty="0">
                <a:solidFill>
                  <a:srgbClr val="9E3B2E"/>
                </a:solidFill>
                <a:latin typeface="Times New Roman" pitchFamily="34" charset="0"/>
                <a:ea typeface="Times New Roman" pitchFamily="34" charset="-122"/>
                <a:cs typeface="Times New Roman" pitchFamily="34" charset="-120"/>
              </a:rPr>
              <a:t>algoritm yo'q</a:t>
            </a:r>
            <a:endParaRPr lang="en-US" sz="1600" dirty="0"/>
          </a:p>
        </p:txBody>
      </p:sp>
      <p:sp>
        <p:nvSpPr>
          <p:cNvPr id="10" name="Shape 8"/>
          <p:cNvSpPr/>
          <p:nvPr/>
        </p:nvSpPr>
        <p:spPr>
          <a:xfrm>
            <a:off x="548640" y="3931920"/>
            <a:ext cx="11064240" cy="777240"/>
          </a:xfrm>
          <a:prstGeom prst="roundRect">
            <a:avLst>
              <a:gd name="adj" fmla="val 10588"/>
            </a:avLst>
          </a:prstGeom>
          <a:solidFill>
            <a:srgbClr val="E8F3EC"/>
          </a:solidFill>
          <a:ln/>
        </p:spPr>
      </p:sp>
      <p:sp>
        <p:nvSpPr>
          <p:cNvPr id="11" name="Text 9"/>
          <p:cNvSpPr txBox="1"/>
          <p:nvPr/>
        </p:nvSpPr>
        <p:spPr>
          <a:xfrm>
            <a:off x="777240" y="3931920"/>
            <a:ext cx="2286000" cy="777240"/>
          </a:xfrm>
          <a:prstGeom prst="rect">
            <a:avLst/>
          </a:prstGeom>
          <a:noFill/>
          <a:ln/>
        </p:spPr>
        <p:txBody>
          <a:bodyPr wrap="square" lIns="0" tIns="0" rIns="0" bIns="0" rtlCol="0" anchor="ctr"/>
          <a:lstStyle/>
          <a:p>
            <a:pPr algn="l" indent="0" marL="0">
              <a:lnSpc>
                <a:spcPct val="100000"/>
              </a:lnSpc>
              <a:buNone/>
            </a:pPr>
            <a:r>
              <a:rPr lang="en-US" sz="1700" b="1" dirty="0">
                <a:solidFill>
                  <a:srgbClr val="1F6B4A"/>
                </a:solidFill>
                <a:latin typeface="Times New Roman" pitchFamily="34" charset="0"/>
                <a:ea typeface="Times New Roman" pitchFamily="34" charset="-122"/>
                <a:cs typeface="Times New Roman" pitchFamily="34" charset="-120"/>
              </a:rPr>
              <a:t>Mono-operatsion</a:t>
            </a:r>
            <a:endParaRPr lang="en-US" sz="1700" dirty="0"/>
          </a:p>
        </p:txBody>
      </p:sp>
      <p:sp>
        <p:nvSpPr>
          <p:cNvPr id="12" name="Text 10"/>
          <p:cNvSpPr txBox="1"/>
          <p:nvPr/>
        </p:nvSpPr>
        <p:spPr>
          <a:xfrm>
            <a:off x="3063240" y="3931920"/>
            <a:ext cx="5669280" cy="77724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Har bir buyruq faqat bitta primitiv amaldan iborat bo'lsa</a:t>
            </a:r>
            <a:endParaRPr lang="en-US" sz="1500" dirty="0"/>
          </a:p>
        </p:txBody>
      </p:sp>
      <p:sp>
        <p:nvSpPr>
          <p:cNvPr id="13" name="Text 11"/>
          <p:cNvSpPr txBox="1"/>
          <p:nvPr/>
        </p:nvSpPr>
        <p:spPr>
          <a:xfrm>
            <a:off x="8778240" y="3931920"/>
            <a:ext cx="2697480" cy="777240"/>
          </a:xfrm>
          <a:prstGeom prst="rect">
            <a:avLst/>
          </a:prstGeom>
          <a:noFill/>
          <a:ln/>
        </p:spPr>
        <p:txBody>
          <a:bodyPr wrap="square" lIns="0" tIns="0" rIns="0" bIns="0" rtlCol="0" anchor="ctr"/>
          <a:lstStyle/>
          <a:p>
            <a:pPr algn="r" indent="0" marL="0">
              <a:lnSpc>
                <a:spcPct val="100000"/>
              </a:lnSpc>
              <a:buNone/>
            </a:pPr>
            <a:r>
              <a:rPr lang="en-US" sz="1600" b="1" dirty="0">
                <a:solidFill>
                  <a:srgbClr val="1F6B4A"/>
                </a:solidFill>
                <a:latin typeface="Times New Roman" pitchFamily="34" charset="0"/>
                <a:ea typeface="Times New Roman" pitchFamily="34" charset="-122"/>
                <a:cs typeface="Times New Roman" pitchFamily="34" charset="-120"/>
              </a:rPr>
              <a:t>hal qilinadi (NP-to'liq)</a:t>
            </a:r>
            <a:endParaRPr lang="en-US" sz="1600" dirty="0"/>
          </a:p>
        </p:txBody>
      </p:sp>
      <p:sp>
        <p:nvSpPr>
          <p:cNvPr id="14" name="Shape 12"/>
          <p:cNvSpPr/>
          <p:nvPr/>
        </p:nvSpPr>
        <p:spPr>
          <a:xfrm>
            <a:off x="548640" y="4800600"/>
            <a:ext cx="11064240" cy="777240"/>
          </a:xfrm>
          <a:prstGeom prst="roundRect">
            <a:avLst>
              <a:gd name="adj" fmla="val 10588"/>
            </a:avLst>
          </a:prstGeom>
          <a:solidFill>
            <a:srgbClr val="E8F3EC"/>
          </a:solidFill>
          <a:ln/>
        </p:spPr>
      </p:sp>
      <p:sp>
        <p:nvSpPr>
          <p:cNvPr id="15" name="Text 13"/>
          <p:cNvSpPr txBox="1"/>
          <p:nvPr/>
        </p:nvSpPr>
        <p:spPr>
          <a:xfrm>
            <a:off x="777240" y="4800600"/>
            <a:ext cx="2286000" cy="777240"/>
          </a:xfrm>
          <a:prstGeom prst="rect">
            <a:avLst/>
          </a:prstGeom>
          <a:noFill/>
          <a:ln/>
        </p:spPr>
        <p:txBody>
          <a:bodyPr wrap="square" lIns="0" tIns="0" rIns="0" bIns="0" rtlCol="0" anchor="ctr"/>
          <a:lstStyle/>
          <a:p>
            <a:pPr algn="l" indent="0" marL="0">
              <a:lnSpc>
                <a:spcPct val="100000"/>
              </a:lnSpc>
              <a:buNone/>
            </a:pPr>
            <a:r>
              <a:rPr lang="en-US" sz="1700" b="1" dirty="0">
                <a:solidFill>
                  <a:srgbClr val="1F6B4A"/>
                </a:solidFill>
                <a:latin typeface="Times New Roman" pitchFamily="34" charset="0"/>
                <a:ea typeface="Times New Roman" pitchFamily="34" charset="-122"/>
                <a:cs typeface="Times New Roman" pitchFamily="34" charset="-120"/>
              </a:rPr>
              <a:t>«create» siz</a:t>
            </a:r>
            <a:endParaRPr lang="en-US" sz="1700" dirty="0"/>
          </a:p>
        </p:txBody>
      </p:sp>
      <p:sp>
        <p:nvSpPr>
          <p:cNvPr id="16" name="Text 14"/>
          <p:cNvSpPr txBox="1"/>
          <p:nvPr/>
        </p:nvSpPr>
        <p:spPr>
          <a:xfrm>
            <a:off x="3063240" y="4800600"/>
            <a:ext cx="5669280" cy="77724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Yangi sub'ekt va obyekt yaratilmasa</a:t>
            </a:r>
            <a:endParaRPr lang="en-US" sz="1500" dirty="0"/>
          </a:p>
        </p:txBody>
      </p:sp>
      <p:sp>
        <p:nvSpPr>
          <p:cNvPr id="17" name="Text 15"/>
          <p:cNvSpPr txBox="1"/>
          <p:nvPr/>
        </p:nvSpPr>
        <p:spPr>
          <a:xfrm>
            <a:off x="8778240" y="4800600"/>
            <a:ext cx="2697480" cy="777240"/>
          </a:xfrm>
          <a:prstGeom prst="rect">
            <a:avLst/>
          </a:prstGeom>
          <a:noFill/>
          <a:ln/>
        </p:spPr>
        <p:txBody>
          <a:bodyPr wrap="square" lIns="0" tIns="0" rIns="0" bIns="0" rtlCol="0" anchor="ctr"/>
          <a:lstStyle/>
          <a:p>
            <a:pPr algn="r" indent="0" marL="0">
              <a:lnSpc>
                <a:spcPct val="100000"/>
              </a:lnSpc>
              <a:buNone/>
            </a:pPr>
            <a:r>
              <a:rPr lang="en-US" sz="1600" b="1" dirty="0">
                <a:solidFill>
                  <a:srgbClr val="1F6B4A"/>
                </a:solidFill>
                <a:latin typeface="Times New Roman" pitchFamily="34" charset="0"/>
                <a:ea typeface="Times New Roman" pitchFamily="34" charset="-122"/>
                <a:cs typeface="Times New Roman" pitchFamily="34" charset="-120"/>
              </a:rPr>
              <a:t>hal qilinadi (PSPACE-to'liq)</a:t>
            </a:r>
            <a:endParaRPr lang="en-US" sz="1600" dirty="0"/>
          </a:p>
        </p:txBody>
      </p:sp>
      <p:sp>
        <p:nvSpPr>
          <p:cNvPr id="18" name="Shape 16"/>
          <p:cNvSpPr/>
          <p:nvPr/>
        </p:nvSpPr>
        <p:spPr>
          <a:xfrm>
            <a:off x="548640" y="5715000"/>
            <a:ext cx="11064240" cy="548640"/>
          </a:xfrm>
          <a:prstGeom prst="roundRect">
            <a:avLst>
              <a:gd name="adj" fmla="val 15000"/>
            </a:avLst>
          </a:prstGeom>
          <a:solidFill>
            <a:srgbClr val="FDF3E2"/>
          </a:solidFill>
          <a:ln/>
        </p:spPr>
      </p:sp>
      <p:sp>
        <p:nvSpPr>
          <p:cNvPr id="19" name="Text 17"/>
          <p:cNvSpPr txBox="1"/>
          <p:nvPr/>
        </p:nvSpPr>
        <p:spPr>
          <a:xfrm>
            <a:off x="777240" y="5715000"/>
            <a:ext cx="10607040" cy="548640"/>
          </a:xfrm>
          <a:prstGeom prst="rect">
            <a:avLst/>
          </a:prstGeom>
          <a:noFill/>
          <a:ln/>
        </p:spPr>
        <p:txBody>
          <a:bodyPr wrap="square" lIns="0" tIns="0" rIns="0" bIns="0" rtlCol="0" anchor="ctr"/>
          <a:lstStyle/>
          <a:p>
            <a:pPr algn="l" indent="0" marL="0">
              <a:lnSpc>
                <a:spcPct val="100000"/>
              </a:lnSpc>
              <a:buNone/>
            </a:pPr>
            <a:r>
              <a:rPr lang="en-US" sz="1500" b="1" dirty="0">
                <a:solidFill>
                  <a:srgbClr val="9A5B00"/>
                </a:solidFill>
                <a:latin typeface="Times New Roman" pitchFamily="34" charset="0"/>
                <a:ea typeface="Times New Roman" pitchFamily="34" charset="-122"/>
                <a:cs typeface="Times New Roman" pitchFamily="34" charset="-120"/>
              </a:rPr>
              <a:t>Amaliy xulosa: umumiy DAC tizimining xavfsizligini avtomatik isbotlab bo'lmaydi — shuning uchun cheklangan modellar kerak: Take-Grant, MAC, RBAC.</a:t>
            </a:r>
            <a:endParaRPr lang="en-US" sz="1500" dirty="0"/>
          </a:p>
        </p:txBody>
      </p:sp>
      <p:sp>
        <p:nvSpPr>
          <p:cNvPr id="20" name="Text 18"/>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21" name="Text 19"/>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TAKE-GRANT MODELI</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Take-Grant (1976): huquqlar grafi va to'rt qoida</a:t>
            </a:r>
            <a:endParaRPr lang="en-US" sz="3600" dirty="0"/>
          </a:p>
        </p:txBody>
      </p:sp>
      <p:sp>
        <p:nvSpPr>
          <p:cNvPr id="4" name="Text 2"/>
          <p:cNvSpPr txBox="1"/>
          <p:nvPr/>
        </p:nvSpPr>
        <p:spPr>
          <a:xfrm>
            <a:off x="548640" y="1691640"/>
            <a:ext cx="11064240" cy="411480"/>
          </a:xfrm>
          <a:prstGeom prst="rect">
            <a:avLst/>
          </a:prstGeom>
          <a:noFill/>
          <a:ln/>
        </p:spPr>
        <p:txBody>
          <a:bodyPr wrap="square" lIns="0" tIns="0" rIns="0" bIns="0" rtlCol="0" anchor="t"/>
          <a:lstStyle/>
          <a:p>
            <a:pPr algn="l" indent="0" marL="0">
              <a:lnSpc>
                <a:spcPct val="100000"/>
              </a:lnSpc>
              <a:buNone/>
            </a:pPr>
            <a:r>
              <a:rPr lang="en-US" sz="1600" dirty="0">
                <a:solidFill>
                  <a:srgbClr val="1B1B2A"/>
                </a:solidFill>
                <a:latin typeface="Times New Roman" pitchFamily="34" charset="0"/>
                <a:ea typeface="Times New Roman" pitchFamily="34" charset="-122"/>
                <a:cs typeface="Times New Roman" pitchFamily="34" charset="-120"/>
              </a:rPr>
              <a:t>Tugunlar: ● sub'ekt, ■ obyekt. Qirra x → y ustidagi yorliq — x ning y ga huquqlari: r, w, t (take), g (grant).</a:t>
            </a:r>
            <a:endParaRPr lang="en-US" sz="1600" dirty="0"/>
          </a:p>
        </p:txBody>
      </p:sp>
      <p:sp>
        <p:nvSpPr>
          <p:cNvPr id="5" name="Shape 3"/>
          <p:cNvSpPr/>
          <p:nvPr/>
        </p:nvSpPr>
        <p:spPr>
          <a:xfrm>
            <a:off x="548640" y="2240280"/>
            <a:ext cx="5486400" cy="2697480"/>
          </a:xfrm>
          <a:prstGeom prst="roundRect">
            <a:avLst>
              <a:gd name="adj" fmla="val 3051"/>
            </a:avLst>
          </a:prstGeom>
          <a:solidFill>
            <a:srgbClr val="EEF2FB"/>
          </a:solidFill>
          <a:ln/>
        </p:spPr>
      </p:sp>
      <p:sp>
        <p:nvSpPr>
          <p:cNvPr id="6" name="Text 4"/>
          <p:cNvSpPr txBox="1"/>
          <p:nvPr/>
        </p:nvSpPr>
        <p:spPr>
          <a:xfrm>
            <a:off x="777240" y="2286000"/>
            <a:ext cx="1828800" cy="457200"/>
          </a:xfrm>
          <a:prstGeom prst="rect">
            <a:avLst/>
          </a:prstGeom>
          <a:noFill/>
          <a:ln/>
        </p:spPr>
        <p:txBody>
          <a:bodyPr wrap="square" lIns="0" tIns="0" rIns="0" bIns="0" rtlCol="0" anchor="t"/>
          <a:lstStyle/>
          <a:p>
            <a:pPr algn="l" indent="0" marL="0">
              <a:lnSpc>
                <a:spcPct val="100000"/>
              </a:lnSpc>
              <a:buNone/>
            </a:pPr>
            <a:r>
              <a:rPr lang="en-US" sz="2200" b="1" dirty="0">
                <a:solidFill>
                  <a:srgbClr val="9E3B2E"/>
                </a:solidFill>
                <a:latin typeface="Courier New" pitchFamily="34" charset="0"/>
                <a:ea typeface="Courier New" pitchFamily="34" charset="-122"/>
                <a:cs typeface="Courier New" pitchFamily="34" charset="-120"/>
              </a:rPr>
              <a:t>take</a:t>
            </a:r>
            <a:endParaRPr lang="en-US" sz="2200" dirty="0"/>
          </a:p>
        </p:txBody>
      </p:sp>
      <p:sp>
        <p:nvSpPr>
          <p:cNvPr id="7" name="Shape 5"/>
          <p:cNvSpPr/>
          <p:nvPr/>
        </p:nvSpPr>
        <p:spPr>
          <a:xfrm>
            <a:off x="1051560" y="3154680"/>
            <a:ext cx="822960" cy="822960"/>
          </a:xfrm>
          <a:prstGeom prst="ellipse">
            <a:avLst/>
          </a:prstGeom>
          <a:solidFill>
            <a:srgbClr val="1E2761"/>
          </a:solidFill>
          <a:ln/>
        </p:spPr>
      </p:sp>
      <p:sp>
        <p:nvSpPr>
          <p:cNvPr id="8" name="Text 6"/>
          <p:cNvSpPr txBox="1"/>
          <p:nvPr/>
        </p:nvSpPr>
        <p:spPr>
          <a:xfrm>
            <a:off x="548640" y="4005072"/>
            <a:ext cx="1828800" cy="320040"/>
          </a:xfrm>
          <a:prstGeom prst="rect">
            <a:avLst/>
          </a:prstGeom>
          <a:noFill/>
          <a:ln/>
        </p:spPr>
        <p:txBody>
          <a:bodyPr wrap="square" lIns="0" tIns="0" rIns="0" bIns="0" rtlCol="0" anchor="t"/>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x</a:t>
            </a:r>
            <a:endParaRPr lang="en-US" sz="1400" dirty="0"/>
          </a:p>
        </p:txBody>
      </p:sp>
      <p:sp>
        <p:nvSpPr>
          <p:cNvPr id="9" name="Shape 7"/>
          <p:cNvSpPr/>
          <p:nvPr/>
        </p:nvSpPr>
        <p:spPr>
          <a:xfrm>
            <a:off x="2880360" y="3154680"/>
            <a:ext cx="822960" cy="822960"/>
          </a:xfrm>
          <a:prstGeom prst="ellipse">
            <a:avLst/>
          </a:prstGeom>
          <a:solidFill>
            <a:srgbClr val="1E2761"/>
          </a:solidFill>
          <a:ln/>
        </p:spPr>
      </p:sp>
      <p:sp>
        <p:nvSpPr>
          <p:cNvPr id="10" name="Text 8"/>
          <p:cNvSpPr txBox="1"/>
          <p:nvPr/>
        </p:nvSpPr>
        <p:spPr>
          <a:xfrm>
            <a:off x="2377440" y="4005072"/>
            <a:ext cx="1828800" cy="320040"/>
          </a:xfrm>
          <a:prstGeom prst="rect">
            <a:avLst/>
          </a:prstGeom>
          <a:noFill/>
          <a:ln/>
        </p:spPr>
        <p:txBody>
          <a:bodyPr wrap="square" lIns="0" tIns="0" rIns="0" bIns="0" rtlCol="0" anchor="t"/>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y</a:t>
            </a:r>
            <a:endParaRPr lang="en-US" sz="1400" dirty="0"/>
          </a:p>
        </p:txBody>
      </p:sp>
      <p:sp>
        <p:nvSpPr>
          <p:cNvPr id="11" name="Shape 9"/>
          <p:cNvSpPr/>
          <p:nvPr/>
        </p:nvSpPr>
        <p:spPr>
          <a:xfrm>
            <a:off x="4709160" y="3154680"/>
            <a:ext cx="822960" cy="822960"/>
          </a:xfrm>
          <a:prstGeom prst="rect">
            <a:avLst/>
          </a:prstGeom>
          <a:solidFill>
            <a:srgbClr val="FFFFFF"/>
          </a:solidFill>
          <a:ln w="25400">
            <a:solidFill>
              <a:srgbClr val="1E2761"/>
            </a:solidFill>
            <a:prstDash val="solid"/>
          </a:ln>
        </p:spPr>
      </p:sp>
      <p:sp>
        <p:nvSpPr>
          <p:cNvPr id="12" name="Text 10"/>
          <p:cNvSpPr txBox="1"/>
          <p:nvPr/>
        </p:nvSpPr>
        <p:spPr>
          <a:xfrm>
            <a:off x="4206240" y="4005072"/>
            <a:ext cx="1828800" cy="320040"/>
          </a:xfrm>
          <a:prstGeom prst="rect">
            <a:avLst/>
          </a:prstGeom>
          <a:noFill/>
          <a:ln/>
        </p:spPr>
        <p:txBody>
          <a:bodyPr wrap="square" lIns="0" tIns="0" rIns="0" bIns="0" rtlCol="0" anchor="t"/>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z</a:t>
            </a:r>
            <a:endParaRPr lang="en-US" sz="1400" dirty="0"/>
          </a:p>
        </p:txBody>
      </p:sp>
      <p:sp>
        <p:nvSpPr>
          <p:cNvPr id="13" name="Shape 11"/>
          <p:cNvSpPr/>
          <p:nvPr/>
        </p:nvSpPr>
        <p:spPr>
          <a:xfrm>
            <a:off x="1920240" y="3566160"/>
            <a:ext cx="914400" cy="914"/>
          </a:xfrm>
          <a:prstGeom prst="line">
            <a:avLst/>
          </a:prstGeom>
          <a:noFill/>
          <a:ln w="28575">
            <a:solidFill>
              <a:srgbClr val="1E2761"/>
            </a:solidFill>
            <a:prstDash val="solid"/>
            <a:tailEnd type="triangle"/>
          </a:ln>
        </p:spPr>
      </p:sp>
      <p:sp>
        <p:nvSpPr>
          <p:cNvPr id="14" name="Shape 12"/>
          <p:cNvSpPr/>
          <p:nvPr/>
        </p:nvSpPr>
        <p:spPr>
          <a:xfrm>
            <a:off x="2157984" y="3364992"/>
            <a:ext cx="438912" cy="365760"/>
          </a:xfrm>
          <a:prstGeom prst="roundRect">
            <a:avLst>
              <a:gd name="adj" fmla="val 15000"/>
            </a:avLst>
          </a:prstGeom>
          <a:solidFill>
            <a:srgbClr val="FFFFFF"/>
          </a:solidFill>
          <a:ln w="12700">
            <a:solidFill>
              <a:srgbClr val="1E2761"/>
            </a:solidFill>
            <a:prstDash val="solid"/>
          </a:ln>
        </p:spPr>
      </p:sp>
      <p:sp>
        <p:nvSpPr>
          <p:cNvPr id="15" name="Text 13"/>
          <p:cNvSpPr txBox="1"/>
          <p:nvPr/>
        </p:nvSpPr>
        <p:spPr>
          <a:xfrm>
            <a:off x="2157984" y="3364992"/>
            <a:ext cx="43891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t</a:t>
            </a:r>
            <a:endParaRPr lang="en-US" sz="1400" dirty="0"/>
          </a:p>
        </p:txBody>
      </p:sp>
      <p:sp>
        <p:nvSpPr>
          <p:cNvPr id="16" name="Shape 14"/>
          <p:cNvSpPr/>
          <p:nvPr/>
        </p:nvSpPr>
        <p:spPr>
          <a:xfrm>
            <a:off x="3749040" y="3566160"/>
            <a:ext cx="914400" cy="914"/>
          </a:xfrm>
          <a:prstGeom prst="line">
            <a:avLst/>
          </a:prstGeom>
          <a:noFill/>
          <a:ln w="28575">
            <a:solidFill>
              <a:srgbClr val="1E2761"/>
            </a:solidFill>
            <a:prstDash val="solid"/>
            <a:tailEnd type="triangle"/>
          </a:ln>
        </p:spPr>
      </p:sp>
      <p:sp>
        <p:nvSpPr>
          <p:cNvPr id="17" name="Shape 15"/>
          <p:cNvSpPr/>
          <p:nvPr/>
        </p:nvSpPr>
        <p:spPr>
          <a:xfrm>
            <a:off x="3986784" y="3364992"/>
            <a:ext cx="438912" cy="365760"/>
          </a:xfrm>
          <a:prstGeom prst="roundRect">
            <a:avLst>
              <a:gd name="adj" fmla="val 15000"/>
            </a:avLst>
          </a:prstGeom>
          <a:solidFill>
            <a:srgbClr val="FFFFFF"/>
          </a:solidFill>
          <a:ln w="12700">
            <a:solidFill>
              <a:srgbClr val="1E2761"/>
            </a:solidFill>
            <a:prstDash val="solid"/>
          </a:ln>
        </p:spPr>
      </p:sp>
      <p:sp>
        <p:nvSpPr>
          <p:cNvPr id="18" name="Text 16"/>
          <p:cNvSpPr txBox="1"/>
          <p:nvPr/>
        </p:nvSpPr>
        <p:spPr>
          <a:xfrm>
            <a:off x="3986784" y="3364992"/>
            <a:ext cx="43891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α</a:t>
            </a:r>
            <a:endParaRPr lang="en-US" sz="1400" dirty="0"/>
          </a:p>
        </p:txBody>
      </p:sp>
      <p:sp>
        <p:nvSpPr>
          <p:cNvPr id="19" name="Shape 17"/>
          <p:cNvSpPr/>
          <p:nvPr/>
        </p:nvSpPr>
        <p:spPr>
          <a:xfrm>
            <a:off x="1463040" y="3063240"/>
            <a:ext cx="3657600" cy="914"/>
          </a:xfrm>
          <a:prstGeom prst="line">
            <a:avLst/>
          </a:prstGeom>
          <a:noFill/>
          <a:ln w="28575">
            <a:solidFill>
              <a:srgbClr val="9E3B2E"/>
            </a:solidFill>
            <a:prstDash val="dash"/>
            <a:tailEnd type="triangle"/>
          </a:ln>
        </p:spPr>
      </p:sp>
      <p:sp>
        <p:nvSpPr>
          <p:cNvPr id="20" name="Shape 18"/>
          <p:cNvSpPr/>
          <p:nvPr/>
        </p:nvSpPr>
        <p:spPr>
          <a:xfrm>
            <a:off x="3072384" y="2862072"/>
            <a:ext cx="438912" cy="365760"/>
          </a:xfrm>
          <a:prstGeom prst="roundRect">
            <a:avLst>
              <a:gd name="adj" fmla="val 15000"/>
            </a:avLst>
          </a:prstGeom>
          <a:solidFill>
            <a:srgbClr val="FFFFFF"/>
          </a:solidFill>
          <a:ln w="12700">
            <a:solidFill>
              <a:srgbClr val="9E3B2E"/>
            </a:solidFill>
            <a:prstDash val="solid"/>
          </a:ln>
        </p:spPr>
      </p:sp>
      <p:sp>
        <p:nvSpPr>
          <p:cNvPr id="21" name="Text 19"/>
          <p:cNvSpPr txBox="1"/>
          <p:nvPr/>
        </p:nvSpPr>
        <p:spPr>
          <a:xfrm>
            <a:off x="3072384" y="2862072"/>
            <a:ext cx="43891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9E3B2E"/>
                </a:solidFill>
                <a:latin typeface="Courier New" pitchFamily="34" charset="0"/>
                <a:ea typeface="Courier New" pitchFamily="34" charset="-122"/>
                <a:cs typeface="Courier New" pitchFamily="34" charset="-120"/>
              </a:rPr>
              <a:t>α</a:t>
            </a:r>
            <a:endParaRPr lang="en-US" sz="1400" dirty="0"/>
          </a:p>
        </p:txBody>
      </p:sp>
      <p:sp>
        <p:nvSpPr>
          <p:cNvPr id="22" name="Text 20"/>
          <p:cNvSpPr txBox="1"/>
          <p:nvPr/>
        </p:nvSpPr>
        <p:spPr>
          <a:xfrm>
            <a:off x="777240" y="4206240"/>
            <a:ext cx="5029200" cy="68580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x ning y ga t huquqi, y ning z ga α huquqi bo'lsa → x ham z ga α oladi</a:t>
            </a:r>
            <a:endParaRPr lang="en-US" sz="1500" dirty="0"/>
          </a:p>
        </p:txBody>
      </p:sp>
      <p:sp>
        <p:nvSpPr>
          <p:cNvPr id="23" name="Shape 21"/>
          <p:cNvSpPr/>
          <p:nvPr/>
        </p:nvSpPr>
        <p:spPr>
          <a:xfrm>
            <a:off x="6126480" y="2240280"/>
            <a:ext cx="5486400" cy="2697480"/>
          </a:xfrm>
          <a:prstGeom prst="roundRect">
            <a:avLst>
              <a:gd name="adj" fmla="val 3051"/>
            </a:avLst>
          </a:prstGeom>
          <a:solidFill>
            <a:srgbClr val="EEF2FB"/>
          </a:solidFill>
          <a:ln/>
        </p:spPr>
      </p:sp>
      <p:sp>
        <p:nvSpPr>
          <p:cNvPr id="24" name="Text 22"/>
          <p:cNvSpPr txBox="1"/>
          <p:nvPr/>
        </p:nvSpPr>
        <p:spPr>
          <a:xfrm>
            <a:off x="6355080" y="2286000"/>
            <a:ext cx="1828800" cy="457200"/>
          </a:xfrm>
          <a:prstGeom prst="rect">
            <a:avLst/>
          </a:prstGeom>
          <a:noFill/>
          <a:ln/>
        </p:spPr>
        <p:txBody>
          <a:bodyPr wrap="square" lIns="0" tIns="0" rIns="0" bIns="0" rtlCol="0" anchor="t"/>
          <a:lstStyle/>
          <a:p>
            <a:pPr algn="l" indent="0" marL="0">
              <a:lnSpc>
                <a:spcPct val="100000"/>
              </a:lnSpc>
              <a:buNone/>
            </a:pPr>
            <a:r>
              <a:rPr lang="en-US" sz="2200" b="1" dirty="0">
                <a:solidFill>
                  <a:srgbClr val="1F6B4A"/>
                </a:solidFill>
                <a:latin typeface="Courier New" pitchFamily="34" charset="0"/>
                <a:ea typeface="Courier New" pitchFamily="34" charset="-122"/>
                <a:cs typeface="Courier New" pitchFamily="34" charset="-120"/>
              </a:rPr>
              <a:t>grant</a:t>
            </a:r>
            <a:endParaRPr lang="en-US" sz="2200" dirty="0"/>
          </a:p>
        </p:txBody>
      </p:sp>
      <p:sp>
        <p:nvSpPr>
          <p:cNvPr id="25" name="Shape 23"/>
          <p:cNvSpPr/>
          <p:nvPr/>
        </p:nvSpPr>
        <p:spPr>
          <a:xfrm>
            <a:off x="8458200" y="3154680"/>
            <a:ext cx="822960" cy="822960"/>
          </a:xfrm>
          <a:prstGeom prst="ellipse">
            <a:avLst/>
          </a:prstGeom>
          <a:solidFill>
            <a:srgbClr val="1E2761"/>
          </a:solidFill>
          <a:ln/>
        </p:spPr>
      </p:sp>
      <p:sp>
        <p:nvSpPr>
          <p:cNvPr id="26" name="Text 24"/>
          <p:cNvSpPr txBox="1"/>
          <p:nvPr/>
        </p:nvSpPr>
        <p:spPr>
          <a:xfrm>
            <a:off x="7955280" y="4005072"/>
            <a:ext cx="1828800" cy="320040"/>
          </a:xfrm>
          <a:prstGeom prst="rect">
            <a:avLst/>
          </a:prstGeom>
          <a:noFill/>
          <a:ln/>
        </p:spPr>
        <p:txBody>
          <a:bodyPr wrap="square" lIns="0" tIns="0" rIns="0" bIns="0" rtlCol="0" anchor="t"/>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x</a:t>
            </a:r>
            <a:endParaRPr lang="en-US" sz="1400" dirty="0"/>
          </a:p>
        </p:txBody>
      </p:sp>
      <p:sp>
        <p:nvSpPr>
          <p:cNvPr id="27" name="Shape 25"/>
          <p:cNvSpPr/>
          <p:nvPr/>
        </p:nvSpPr>
        <p:spPr>
          <a:xfrm>
            <a:off x="6629400" y="3154680"/>
            <a:ext cx="822960" cy="822960"/>
          </a:xfrm>
          <a:prstGeom prst="ellipse">
            <a:avLst/>
          </a:prstGeom>
          <a:solidFill>
            <a:srgbClr val="1E2761"/>
          </a:solidFill>
          <a:ln/>
        </p:spPr>
      </p:sp>
      <p:sp>
        <p:nvSpPr>
          <p:cNvPr id="28" name="Text 26"/>
          <p:cNvSpPr txBox="1"/>
          <p:nvPr/>
        </p:nvSpPr>
        <p:spPr>
          <a:xfrm>
            <a:off x="6126480" y="4005072"/>
            <a:ext cx="1828800" cy="320040"/>
          </a:xfrm>
          <a:prstGeom prst="rect">
            <a:avLst/>
          </a:prstGeom>
          <a:noFill/>
          <a:ln/>
        </p:spPr>
        <p:txBody>
          <a:bodyPr wrap="square" lIns="0" tIns="0" rIns="0" bIns="0" rtlCol="0" anchor="t"/>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y</a:t>
            </a:r>
            <a:endParaRPr lang="en-US" sz="1400" dirty="0"/>
          </a:p>
        </p:txBody>
      </p:sp>
      <p:sp>
        <p:nvSpPr>
          <p:cNvPr id="29" name="Shape 27"/>
          <p:cNvSpPr/>
          <p:nvPr/>
        </p:nvSpPr>
        <p:spPr>
          <a:xfrm>
            <a:off x="10287000" y="3154680"/>
            <a:ext cx="822960" cy="822960"/>
          </a:xfrm>
          <a:prstGeom prst="rect">
            <a:avLst/>
          </a:prstGeom>
          <a:solidFill>
            <a:srgbClr val="FFFFFF"/>
          </a:solidFill>
          <a:ln w="25400">
            <a:solidFill>
              <a:srgbClr val="1E2761"/>
            </a:solidFill>
            <a:prstDash val="solid"/>
          </a:ln>
        </p:spPr>
      </p:sp>
      <p:sp>
        <p:nvSpPr>
          <p:cNvPr id="30" name="Text 28"/>
          <p:cNvSpPr txBox="1"/>
          <p:nvPr/>
        </p:nvSpPr>
        <p:spPr>
          <a:xfrm>
            <a:off x="9784080" y="4005072"/>
            <a:ext cx="1828800" cy="320040"/>
          </a:xfrm>
          <a:prstGeom prst="rect">
            <a:avLst/>
          </a:prstGeom>
          <a:noFill/>
          <a:ln/>
        </p:spPr>
        <p:txBody>
          <a:bodyPr wrap="square" lIns="0" tIns="0" rIns="0" bIns="0" rtlCol="0" anchor="t"/>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z</a:t>
            </a:r>
            <a:endParaRPr lang="en-US" sz="1400" dirty="0"/>
          </a:p>
        </p:txBody>
      </p:sp>
      <p:sp>
        <p:nvSpPr>
          <p:cNvPr id="31" name="Shape 29"/>
          <p:cNvSpPr/>
          <p:nvPr/>
        </p:nvSpPr>
        <p:spPr>
          <a:xfrm flipH="1">
            <a:off x="7498080" y="3566160"/>
            <a:ext cx="914400" cy="914"/>
          </a:xfrm>
          <a:prstGeom prst="line">
            <a:avLst/>
          </a:prstGeom>
          <a:noFill/>
          <a:ln w="28575">
            <a:solidFill>
              <a:srgbClr val="1E2761"/>
            </a:solidFill>
            <a:prstDash val="solid"/>
            <a:tailEnd type="triangle"/>
          </a:ln>
        </p:spPr>
      </p:sp>
      <p:sp>
        <p:nvSpPr>
          <p:cNvPr id="32" name="Shape 30"/>
          <p:cNvSpPr/>
          <p:nvPr/>
        </p:nvSpPr>
        <p:spPr>
          <a:xfrm>
            <a:off x="7735824" y="3364992"/>
            <a:ext cx="438912" cy="365760"/>
          </a:xfrm>
          <a:prstGeom prst="roundRect">
            <a:avLst>
              <a:gd name="adj" fmla="val 15000"/>
            </a:avLst>
          </a:prstGeom>
          <a:solidFill>
            <a:srgbClr val="FFFFFF"/>
          </a:solidFill>
          <a:ln w="12700">
            <a:solidFill>
              <a:srgbClr val="1E2761"/>
            </a:solidFill>
            <a:prstDash val="solid"/>
          </a:ln>
        </p:spPr>
      </p:sp>
      <p:sp>
        <p:nvSpPr>
          <p:cNvPr id="33" name="Text 31"/>
          <p:cNvSpPr txBox="1"/>
          <p:nvPr/>
        </p:nvSpPr>
        <p:spPr>
          <a:xfrm>
            <a:off x="7735824" y="3364992"/>
            <a:ext cx="43891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g</a:t>
            </a:r>
            <a:endParaRPr lang="en-US" sz="1400" dirty="0"/>
          </a:p>
        </p:txBody>
      </p:sp>
      <p:sp>
        <p:nvSpPr>
          <p:cNvPr id="34" name="Shape 32"/>
          <p:cNvSpPr/>
          <p:nvPr/>
        </p:nvSpPr>
        <p:spPr>
          <a:xfrm>
            <a:off x="9326880" y="3566160"/>
            <a:ext cx="914400" cy="914"/>
          </a:xfrm>
          <a:prstGeom prst="line">
            <a:avLst/>
          </a:prstGeom>
          <a:noFill/>
          <a:ln w="28575">
            <a:solidFill>
              <a:srgbClr val="1E2761"/>
            </a:solidFill>
            <a:prstDash val="solid"/>
            <a:tailEnd type="triangle"/>
          </a:ln>
        </p:spPr>
      </p:sp>
      <p:sp>
        <p:nvSpPr>
          <p:cNvPr id="35" name="Shape 33"/>
          <p:cNvSpPr/>
          <p:nvPr/>
        </p:nvSpPr>
        <p:spPr>
          <a:xfrm>
            <a:off x="9564624" y="3364992"/>
            <a:ext cx="438912" cy="365760"/>
          </a:xfrm>
          <a:prstGeom prst="roundRect">
            <a:avLst>
              <a:gd name="adj" fmla="val 15000"/>
            </a:avLst>
          </a:prstGeom>
          <a:solidFill>
            <a:srgbClr val="FFFFFF"/>
          </a:solidFill>
          <a:ln w="12700">
            <a:solidFill>
              <a:srgbClr val="1E2761"/>
            </a:solidFill>
            <a:prstDash val="solid"/>
          </a:ln>
        </p:spPr>
      </p:sp>
      <p:sp>
        <p:nvSpPr>
          <p:cNvPr id="36" name="Text 34"/>
          <p:cNvSpPr txBox="1"/>
          <p:nvPr/>
        </p:nvSpPr>
        <p:spPr>
          <a:xfrm>
            <a:off x="9564624" y="3364992"/>
            <a:ext cx="43891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α</a:t>
            </a:r>
            <a:endParaRPr lang="en-US" sz="1400" dirty="0"/>
          </a:p>
        </p:txBody>
      </p:sp>
      <p:sp>
        <p:nvSpPr>
          <p:cNvPr id="37" name="Shape 35"/>
          <p:cNvSpPr/>
          <p:nvPr/>
        </p:nvSpPr>
        <p:spPr>
          <a:xfrm>
            <a:off x="7040880" y="3063240"/>
            <a:ext cx="3657600" cy="914"/>
          </a:xfrm>
          <a:prstGeom prst="line">
            <a:avLst/>
          </a:prstGeom>
          <a:noFill/>
          <a:ln w="28575">
            <a:solidFill>
              <a:srgbClr val="1F6B4A"/>
            </a:solidFill>
            <a:prstDash val="dash"/>
            <a:tailEnd type="triangle"/>
          </a:ln>
        </p:spPr>
      </p:sp>
      <p:sp>
        <p:nvSpPr>
          <p:cNvPr id="38" name="Shape 36"/>
          <p:cNvSpPr/>
          <p:nvPr/>
        </p:nvSpPr>
        <p:spPr>
          <a:xfrm>
            <a:off x="8650224" y="2862072"/>
            <a:ext cx="438912" cy="365760"/>
          </a:xfrm>
          <a:prstGeom prst="roundRect">
            <a:avLst>
              <a:gd name="adj" fmla="val 15000"/>
            </a:avLst>
          </a:prstGeom>
          <a:solidFill>
            <a:srgbClr val="FFFFFF"/>
          </a:solidFill>
          <a:ln w="12700">
            <a:solidFill>
              <a:srgbClr val="1F6B4A"/>
            </a:solidFill>
            <a:prstDash val="solid"/>
          </a:ln>
        </p:spPr>
      </p:sp>
      <p:sp>
        <p:nvSpPr>
          <p:cNvPr id="39" name="Text 37"/>
          <p:cNvSpPr txBox="1"/>
          <p:nvPr/>
        </p:nvSpPr>
        <p:spPr>
          <a:xfrm>
            <a:off x="8650224" y="2862072"/>
            <a:ext cx="43891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1F6B4A"/>
                </a:solidFill>
                <a:latin typeface="Courier New" pitchFamily="34" charset="0"/>
                <a:ea typeface="Courier New" pitchFamily="34" charset="-122"/>
                <a:cs typeface="Courier New" pitchFamily="34" charset="-120"/>
              </a:rPr>
              <a:t>α</a:t>
            </a:r>
            <a:endParaRPr lang="en-US" sz="1400" dirty="0"/>
          </a:p>
        </p:txBody>
      </p:sp>
      <p:sp>
        <p:nvSpPr>
          <p:cNvPr id="40" name="Text 38"/>
          <p:cNvSpPr txBox="1"/>
          <p:nvPr/>
        </p:nvSpPr>
        <p:spPr>
          <a:xfrm>
            <a:off x="6355080" y="4206240"/>
            <a:ext cx="5029200" cy="685800"/>
          </a:xfrm>
          <a:prstGeom prst="rect">
            <a:avLst/>
          </a:prstGeom>
          <a:noFill/>
          <a:ln/>
        </p:spPr>
        <p:txBody>
          <a:bodyPr wrap="square" lIns="0" tIns="0" rIns="0" bIns="0" rtlCol="0" anchor="t"/>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x ning y ga g huquqi, x ning z ga α huquqi bo'lsa → x y ga z ustidan α beradi</a:t>
            </a:r>
            <a:endParaRPr lang="en-US" sz="1500" dirty="0"/>
          </a:p>
        </p:txBody>
      </p:sp>
      <p:sp>
        <p:nvSpPr>
          <p:cNvPr id="41" name="Shape 39"/>
          <p:cNvSpPr/>
          <p:nvPr/>
        </p:nvSpPr>
        <p:spPr>
          <a:xfrm>
            <a:off x="548640" y="5120640"/>
            <a:ext cx="5486400" cy="685800"/>
          </a:xfrm>
          <a:prstGeom prst="roundRect">
            <a:avLst>
              <a:gd name="adj" fmla="val 12000"/>
            </a:avLst>
          </a:prstGeom>
          <a:solidFill>
            <a:srgbClr val="CADCFC"/>
          </a:solidFill>
          <a:ln/>
        </p:spPr>
      </p:sp>
      <p:sp>
        <p:nvSpPr>
          <p:cNvPr id="42" name="Text 40"/>
          <p:cNvSpPr txBox="1"/>
          <p:nvPr/>
        </p:nvSpPr>
        <p:spPr>
          <a:xfrm>
            <a:off x="777240" y="5120640"/>
            <a:ext cx="1280160" cy="685800"/>
          </a:xfrm>
          <a:prstGeom prst="rect">
            <a:avLst/>
          </a:prstGeom>
          <a:noFill/>
          <a:ln/>
        </p:spPr>
        <p:txBody>
          <a:bodyPr wrap="square" lIns="0" tIns="0" rIns="0" bIns="0" rtlCol="0" anchor="ctr"/>
          <a:lstStyle/>
          <a:p>
            <a:pPr algn="l" indent="0" marL="0">
              <a:lnSpc>
                <a:spcPct val="100000"/>
              </a:lnSpc>
              <a:buNone/>
            </a:pPr>
            <a:r>
              <a:rPr lang="en-US" sz="1700" b="1" dirty="0">
                <a:solidFill>
                  <a:srgbClr val="1E2761"/>
                </a:solidFill>
                <a:latin typeface="Courier New" pitchFamily="34" charset="0"/>
                <a:ea typeface="Courier New" pitchFamily="34" charset="-122"/>
                <a:cs typeface="Courier New" pitchFamily="34" charset="-120"/>
              </a:rPr>
              <a:t>create</a:t>
            </a:r>
            <a:endParaRPr lang="en-US" sz="1700" dirty="0"/>
          </a:p>
        </p:txBody>
      </p:sp>
      <p:sp>
        <p:nvSpPr>
          <p:cNvPr id="43" name="Text 41"/>
          <p:cNvSpPr txBox="1"/>
          <p:nvPr/>
        </p:nvSpPr>
        <p:spPr>
          <a:xfrm>
            <a:off x="2057400" y="5120640"/>
            <a:ext cx="3840480" cy="68580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x yangi tugun yaratadi va unga huquqlar oladi</a:t>
            </a:r>
            <a:endParaRPr lang="en-US" sz="1500" dirty="0"/>
          </a:p>
        </p:txBody>
      </p:sp>
      <p:sp>
        <p:nvSpPr>
          <p:cNvPr id="44" name="Shape 42"/>
          <p:cNvSpPr/>
          <p:nvPr/>
        </p:nvSpPr>
        <p:spPr>
          <a:xfrm>
            <a:off x="6126480" y="5120640"/>
            <a:ext cx="5486400" cy="685800"/>
          </a:xfrm>
          <a:prstGeom prst="roundRect">
            <a:avLst>
              <a:gd name="adj" fmla="val 12000"/>
            </a:avLst>
          </a:prstGeom>
          <a:solidFill>
            <a:srgbClr val="CADCFC"/>
          </a:solidFill>
          <a:ln/>
        </p:spPr>
      </p:sp>
      <p:sp>
        <p:nvSpPr>
          <p:cNvPr id="45" name="Text 43"/>
          <p:cNvSpPr txBox="1"/>
          <p:nvPr/>
        </p:nvSpPr>
        <p:spPr>
          <a:xfrm>
            <a:off x="6355080" y="5120640"/>
            <a:ext cx="1280160" cy="685800"/>
          </a:xfrm>
          <a:prstGeom prst="rect">
            <a:avLst/>
          </a:prstGeom>
          <a:noFill/>
          <a:ln/>
        </p:spPr>
        <p:txBody>
          <a:bodyPr wrap="square" lIns="0" tIns="0" rIns="0" bIns="0" rtlCol="0" anchor="ctr"/>
          <a:lstStyle/>
          <a:p>
            <a:pPr algn="l" indent="0" marL="0">
              <a:lnSpc>
                <a:spcPct val="100000"/>
              </a:lnSpc>
              <a:buNone/>
            </a:pPr>
            <a:r>
              <a:rPr lang="en-US" sz="1700" b="1" dirty="0">
                <a:solidFill>
                  <a:srgbClr val="1E2761"/>
                </a:solidFill>
                <a:latin typeface="Courier New" pitchFamily="34" charset="0"/>
                <a:ea typeface="Courier New" pitchFamily="34" charset="-122"/>
                <a:cs typeface="Courier New" pitchFamily="34" charset="-120"/>
              </a:rPr>
              <a:t>remove</a:t>
            </a:r>
            <a:endParaRPr lang="en-US" sz="1700" dirty="0"/>
          </a:p>
        </p:txBody>
      </p:sp>
      <p:sp>
        <p:nvSpPr>
          <p:cNvPr id="46" name="Text 44"/>
          <p:cNvSpPr txBox="1"/>
          <p:nvPr/>
        </p:nvSpPr>
        <p:spPr>
          <a:xfrm>
            <a:off x="7635240" y="5120640"/>
            <a:ext cx="3840480" cy="68580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x o'zining qirrasidan huquqni olib tashlaydi</a:t>
            </a:r>
            <a:endParaRPr lang="en-US" sz="1500" dirty="0"/>
          </a:p>
        </p:txBody>
      </p:sp>
      <p:sp>
        <p:nvSpPr>
          <p:cNvPr id="47" name="Text 45"/>
          <p:cNvSpPr txBox="1"/>
          <p:nvPr/>
        </p:nvSpPr>
        <p:spPr>
          <a:xfrm>
            <a:off x="548640" y="5943600"/>
            <a:ext cx="11064240" cy="365760"/>
          </a:xfrm>
          <a:prstGeom prst="rect">
            <a:avLst/>
          </a:prstGeom>
          <a:noFill/>
          <a:ln/>
        </p:spPr>
        <p:txBody>
          <a:bodyPr wrap="square" lIns="0" tIns="0" rIns="0" bIns="0" rtlCol="0" anchor="t"/>
          <a:lstStyle/>
          <a:p>
            <a:pPr algn="ctr" indent="0" marL="0">
              <a:lnSpc>
                <a:spcPct val="100000"/>
              </a:lnSpc>
              <a:buNone/>
            </a:pPr>
            <a:r>
              <a:rPr lang="en-US" sz="1400" dirty="0">
                <a:solidFill>
                  <a:srgbClr val="5B6270"/>
                </a:solidFill>
                <a:latin typeface="Times New Roman" pitchFamily="34" charset="0"/>
                <a:ea typeface="Times New Roman" pitchFamily="34" charset="-122"/>
                <a:cs typeface="Times New Roman" pitchFamily="34" charset="-120"/>
              </a:rPr>
              <a:t>Uzuq chiziq — qoida qo'llangandan keyin paydo bo'ladigan qirra.</a:t>
            </a:r>
            <a:endParaRPr lang="en-US" sz="1400" dirty="0"/>
          </a:p>
        </p:txBody>
      </p:sp>
      <p:sp>
        <p:nvSpPr>
          <p:cNvPr id="48" name="Text 46"/>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49" name="Text 47"/>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MISOL</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Talaba baholarni qanday o'qib qoldi?</a:t>
            </a:r>
            <a:endParaRPr lang="en-US" sz="3600" dirty="0"/>
          </a:p>
        </p:txBody>
      </p:sp>
      <p:sp>
        <p:nvSpPr>
          <p:cNvPr id="4" name="Shape 2"/>
          <p:cNvSpPr/>
          <p:nvPr/>
        </p:nvSpPr>
        <p:spPr>
          <a:xfrm>
            <a:off x="1051560" y="2514600"/>
            <a:ext cx="822960" cy="822960"/>
          </a:xfrm>
          <a:prstGeom prst="ellipse">
            <a:avLst/>
          </a:prstGeom>
          <a:solidFill>
            <a:srgbClr val="2A3778"/>
          </a:solidFill>
          <a:ln/>
        </p:spPr>
      </p:sp>
      <p:sp>
        <p:nvSpPr>
          <p:cNvPr id="5" name="Text 3"/>
          <p:cNvSpPr txBox="1"/>
          <p:nvPr/>
        </p:nvSpPr>
        <p:spPr>
          <a:xfrm>
            <a:off x="548640" y="3364992"/>
            <a:ext cx="1828800" cy="320040"/>
          </a:xfrm>
          <a:prstGeom prst="rect">
            <a:avLst/>
          </a:prstGeom>
          <a:noFill/>
          <a:ln/>
        </p:spPr>
        <p:txBody>
          <a:bodyPr wrap="square" lIns="0" tIns="0" rIns="0" bIns="0" rtlCol="0" anchor="t"/>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Talaba</a:t>
            </a:r>
            <a:endParaRPr lang="en-US" sz="1400" dirty="0"/>
          </a:p>
        </p:txBody>
      </p:sp>
      <p:sp>
        <p:nvSpPr>
          <p:cNvPr id="6" name="Shape 4"/>
          <p:cNvSpPr/>
          <p:nvPr/>
        </p:nvSpPr>
        <p:spPr>
          <a:xfrm>
            <a:off x="4069080" y="2514600"/>
            <a:ext cx="822960" cy="822960"/>
          </a:xfrm>
          <a:prstGeom prst="ellipse">
            <a:avLst/>
          </a:prstGeom>
          <a:solidFill>
            <a:srgbClr val="1E2761"/>
          </a:solidFill>
          <a:ln/>
        </p:spPr>
      </p:sp>
      <p:sp>
        <p:nvSpPr>
          <p:cNvPr id="7" name="Text 5"/>
          <p:cNvSpPr txBox="1"/>
          <p:nvPr/>
        </p:nvSpPr>
        <p:spPr>
          <a:xfrm>
            <a:off x="3566160" y="3364992"/>
            <a:ext cx="1828800" cy="320040"/>
          </a:xfrm>
          <a:prstGeom prst="rect">
            <a:avLst/>
          </a:prstGeom>
          <a:noFill/>
          <a:ln/>
        </p:spPr>
        <p:txBody>
          <a:bodyPr wrap="square" lIns="0" tIns="0" rIns="0" bIns="0" rtlCol="0" anchor="t"/>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Laborant</a:t>
            </a:r>
            <a:endParaRPr lang="en-US" sz="1400" dirty="0"/>
          </a:p>
        </p:txBody>
      </p:sp>
      <p:sp>
        <p:nvSpPr>
          <p:cNvPr id="8" name="Shape 6"/>
          <p:cNvSpPr/>
          <p:nvPr/>
        </p:nvSpPr>
        <p:spPr>
          <a:xfrm>
            <a:off x="7086600" y="2514600"/>
            <a:ext cx="822960" cy="822960"/>
          </a:xfrm>
          <a:prstGeom prst="rect">
            <a:avLst/>
          </a:prstGeom>
          <a:solidFill>
            <a:srgbClr val="FFFFFF"/>
          </a:solidFill>
          <a:ln w="25400">
            <a:solidFill>
              <a:srgbClr val="1E2761"/>
            </a:solidFill>
            <a:prstDash val="solid"/>
          </a:ln>
        </p:spPr>
      </p:sp>
      <p:sp>
        <p:nvSpPr>
          <p:cNvPr id="9" name="Text 7"/>
          <p:cNvSpPr txBox="1"/>
          <p:nvPr/>
        </p:nvSpPr>
        <p:spPr>
          <a:xfrm>
            <a:off x="6583680" y="3364992"/>
            <a:ext cx="1828800" cy="320040"/>
          </a:xfrm>
          <a:prstGeom prst="rect">
            <a:avLst/>
          </a:prstGeom>
          <a:noFill/>
          <a:ln/>
        </p:spPr>
        <p:txBody>
          <a:bodyPr wrap="square" lIns="0" tIns="0" rIns="0" bIns="0" rtlCol="0" anchor="t"/>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baholar.xlsx</a:t>
            </a:r>
            <a:endParaRPr lang="en-US" sz="1400" dirty="0"/>
          </a:p>
        </p:txBody>
      </p:sp>
      <p:sp>
        <p:nvSpPr>
          <p:cNvPr id="10" name="Shape 8"/>
          <p:cNvSpPr/>
          <p:nvPr/>
        </p:nvSpPr>
        <p:spPr>
          <a:xfrm>
            <a:off x="4069080" y="4617720"/>
            <a:ext cx="822960" cy="822960"/>
          </a:xfrm>
          <a:prstGeom prst="ellipse">
            <a:avLst/>
          </a:prstGeom>
          <a:solidFill>
            <a:srgbClr val="1E2761"/>
          </a:solidFill>
          <a:ln/>
        </p:spPr>
      </p:sp>
      <p:sp>
        <p:nvSpPr>
          <p:cNvPr id="11" name="Text 9"/>
          <p:cNvSpPr txBox="1"/>
          <p:nvPr/>
        </p:nvSpPr>
        <p:spPr>
          <a:xfrm>
            <a:off x="3566160" y="5468112"/>
            <a:ext cx="1828800" cy="320040"/>
          </a:xfrm>
          <a:prstGeom prst="rect">
            <a:avLst/>
          </a:prstGeom>
          <a:noFill/>
          <a:ln/>
        </p:spPr>
        <p:txBody>
          <a:bodyPr wrap="square" lIns="0" tIns="0" rIns="0" bIns="0" rtlCol="0" anchor="t"/>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O'qituvchi</a:t>
            </a:r>
            <a:endParaRPr lang="en-US" sz="1400" dirty="0"/>
          </a:p>
        </p:txBody>
      </p:sp>
      <p:sp>
        <p:nvSpPr>
          <p:cNvPr id="12" name="Shape 10"/>
          <p:cNvSpPr/>
          <p:nvPr/>
        </p:nvSpPr>
        <p:spPr>
          <a:xfrm>
            <a:off x="1920240" y="2926080"/>
            <a:ext cx="2103120" cy="914"/>
          </a:xfrm>
          <a:prstGeom prst="line">
            <a:avLst/>
          </a:prstGeom>
          <a:noFill/>
          <a:ln w="28575">
            <a:solidFill>
              <a:srgbClr val="9E3B2E"/>
            </a:solidFill>
            <a:prstDash val="solid"/>
            <a:tailEnd type="triangle"/>
          </a:ln>
        </p:spPr>
      </p:sp>
      <p:sp>
        <p:nvSpPr>
          <p:cNvPr id="13" name="Shape 11"/>
          <p:cNvSpPr/>
          <p:nvPr/>
        </p:nvSpPr>
        <p:spPr>
          <a:xfrm>
            <a:off x="2752344" y="2724912"/>
            <a:ext cx="438912" cy="365760"/>
          </a:xfrm>
          <a:prstGeom prst="roundRect">
            <a:avLst>
              <a:gd name="adj" fmla="val 15000"/>
            </a:avLst>
          </a:prstGeom>
          <a:solidFill>
            <a:srgbClr val="FFFFFF"/>
          </a:solidFill>
          <a:ln w="12700">
            <a:solidFill>
              <a:srgbClr val="9E3B2E"/>
            </a:solidFill>
            <a:prstDash val="solid"/>
          </a:ln>
        </p:spPr>
      </p:sp>
      <p:sp>
        <p:nvSpPr>
          <p:cNvPr id="14" name="Text 12"/>
          <p:cNvSpPr txBox="1"/>
          <p:nvPr/>
        </p:nvSpPr>
        <p:spPr>
          <a:xfrm>
            <a:off x="2752344" y="2724912"/>
            <a:ext cx="43891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9E3B2E"/>
                </a:solidFill>
                <a:latin typeface="Courier New" pitchFamily="34" charset="0"/>
                <a:ea typeface="Courier New" pitchFamily="34" charset="-122"/>
                <a:cs typeface="Courier New" pitchFamily="34" charset="-120"/>
              </a:rPr>
              <a:t>t</a:t>
            </a:r>
            <a:endParaRPr lang="en-US" sz="1400" dirty="0"/>
          </a:p>
        </p:txBody>
      </p:sp>
      <p:sp>
        <p:nvSpPr>
          <p:cNvPr id="15" name="Shape 13"/>
          <p:cNvSpPr/>
          <p:nvPr/>
        </p:nvSpPr>
        <p:spPr>
          <a:xfrm>
            <a:off x="4937760" y="2926080"/>
            <a:ext cx="2103120" cy="914"/>
          </a:xfrm>
          <a:prstGeom prst="line">
            <a:avLst/>
          </a:prstGeom>
          <a:noFill/>
          <a:ln w="28575">
            <a:solidFill>
              <a:srgbClr val="1E2761"/>
            </a:solidFill>
            <a:prstDash val="solid"/>
            <a:tailEnd type="triangle"/>
          </a:ln>
        </p:spPr>
      </p:sp>
      <p:sp>
        <p:nvSpPr>
          <p:cNvPr id="16" name="Shape 14"/>
          <p:cNvSpPr/>
          <p:nvPr/>
        </p:nvSpPr>
        <p:spPr>
          <a:xfrm>
            <a:off x="5769864" y="2724912"/>
            <a:ext cx="438912" cy="365760"/>
          </a:xfrm>
          <a:prstGeom prst="roundRect">
            <a:avLst>
              <a:gd name="adj" fmla="val 15000"/>
            </a:avLst>
          </a:prstGeom>
          <a:solidFill>
            <a:srgbClr val="FFFFFF"/>
          </a:solidFill>
          <a:ln w="12700">
            <a:solidFill>
              <a:srgbClr val="1E2761"/>
            </a:solidFill>
            <a:prstDash val="solid"/>
          </a:ln>
        </p:spPr>
      </p:sp>
      <p:sp>
        <p:nvSpPr>
          <p:cNvPr id="17" name="Text 15"/>
          <p:cNvSpPr txBox="1"/>
          <p:nvPr/>
        </p:nvSpPr>
        <p:spPr>
          <a:xfrm>
            <a:off x="5769864" y="2724912"/>
            <a:ext cx="43891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r</a:t>
            </a:r>
            <a:endParaRPr lang="en-US" sz="1400" dirty="0"/>
          </a:p>
        </p:txBody>
      </p:sp>
      <p:sp>
        <p:nvSpPr>
          <p:cNvPr id="18" name="Shape 16"/>
          <p:cNvSpPr/>
          <p:nvPr/>
        </p:nvSpPr>
        <p:spPr>
          <a:xfrm flipV="1">
            <a:off x="4480560" y="3383280"/>
            <a:ext cx="914" cy="1188720"/>
          </a:xfrm>
          <a:prstGeom prst="line">
            <a:avLst/>
          </a:prstGeom>
          <a:noFill/>
          <a:ln w="28575">
            <a:solidFill>
              <a:srgbClr val="1E2761"/>
            </a:solidFill>
            <a:prstDash val="solid"/>
            <a:tailEnd type="triangle"/>
          </a:ln>
        </p:spPr>
      </p:sp>
      <p:sp>
        <p:nvSpPr>
          <p:cNvPr id="19" name="Shape 17"/>
          <p:cNvSpPr/>
          <p:nvPr/>
        </p:nvSpPr>
        <p:spPr>
          <a:xfrm>
            <a:off x="4261104" y="3776472"/>
            <a:ext cx="438912" cy="365760"/>
          </a:xfrm>
          <a:prstGeom prst="roundRect">
            <a:avLst>
              <a:gd name="adj" fmla="val 15000"/>
            </a:avLst>
          </a:prstGeom>
          <a:solidFill>
            <a:srgbClr val="FFFFFF"/>
          </a:solidFill>
          <a:ln w="12700">
            <a:solidFill>
              <a:srgbClr val="1E2761"/>
            </a:solidFill>
            <a:prstDash val="solid"/>
          </a:ln>
        </p:spPr>
      </p:sp>
      <p:sp>
        <p:nvSpPr>
          <p:cNvPr id="20" name="Text 18"/>
          <p:cNvSpPr txBox="1"/>
          <p:nvPr/>
        </p:nvSpPr>
        <p:spPr>
          <a:xfrm>
            <a:off x="4261104" y="3776472"/>
            <a:ext cx="43891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g</a:t>
            </a:r>
            <a:endParaRPr lang="en-US" sz="1400" dirty="0"/>
          </a:p>
        </p:txBody>
      </p:sp>
      <p:sp>
        <p:nvSpPr>
          <p:cNvPr id="21" name="Shape 19"/>
          <p:cNvSpPr/>
          <p:nvPr/>
        </p:nvSpPr>
        <p:spPr>
          <a:xfrm flipV="1">
            <a:off x="4855646" y="3187504"/>
            <a:ext cx="2267348" cy="1580273"/>
          </a:xfrm>
          <a:prstGeom prst="line">
            <a:avLst/>
          </a:prstGeom>
          <a:noFill/>
          <a:ln w="28575">
            <a:solidFill>
              <a:srgbClr val="1E2761"/>
            </a:solidFill>
            <a:prstDash val="solid"/>
            <a:tailEnd type="triangle"/>
          </a:ln>
        </p:spPr>
      </p:sp>
      <p:sp>
        <p:nvSpPr>
          <p:cNvPr id="22" name="Shape 20"/>
          <p:cNvSpPr/>
          <p:nvPr/>
        </p:nvSpPr>
        <p:spPr>
          <a:xfrm>
            <a:off x="5769864" y="3776472"/>
            <a:ext cx="438912" cy="365760"/>
          </a:xfrm>
          <a:prstGeom prst="roundRect">
            <a:avLst>
              <a:gd name="adj" fmla="val 15000"/>
            </a:avLst>
          </a:prstGeom>
          <a:solidFill>
            <a:srgbClr val="FFFFFF"/>
          </a:solidFill>
          <a:ln w="12700">
            <a:solidFill>
              <a:srgbClr val="1E2761"/>
            </a:solidFill>
            <a:prstDash val="solid"/>
          </a:ln>
        </p:spPr>
      </p:sp>
      <p:sp>
        <p:nvSpPr>
          <p:cNvPr id="23" name="Text 21"/>
          <p:cNvSpPr txBox="1"/>
          <p:nvPr/>
        </p:nvSpPr>
        <p:spPr>
          <a:xfrm>
            <a:off x="5769864" y="3776472"/>
            <a:ext cx="43891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rw</a:t>
            </a:r>
            <a:endParaRPr lang="en-US" sz="1400" dirty="0"/>
          </a:p>
        </p:txBody>
      </p:sp>
      <p:sp>
        <p:nvSpPr>
          <p:cNvPr id="24" name="Shape 22"/>
          <p:cNvSpPr/>
          <p:nvPr/>
        </p:nvSpPr>
        <p:spPr>
          <a:xfrm>
            <a:off x="1463040" y="2148840"/>
            <a:ext cx="6035040" cy="914"/>
          </a:xfrm>
          <a:prstGeom prst="line">
            <a:avLst/>
          </a:prstGeom>
          <a:noFill/>
          <a:ln w="28575">
            <a:solidFill>
              <a:srgbClr val="9E3B2E"/>
            </a:solidFill>
            <a:prstDash val="dash"/>
            <a:tailEnd type="triangle"/>
          </a:ln>
        </p:spPr>
      </p:sp>
      <p:sp>
        <p:nvSpPr>
          <p:cNvPr id="25" name="Shape 23"/>
          <p:cNvSpPr/>
          <p:nvPr/>
        </p:nvSpPr>
        <p:spPr>
          <a:xfrm>
            <a:off x="4261104" y="1947672"/>
            <a:ext cx="438912" cy="365760"/>
          </a:xfrm>
          <a:prstGeom prst="roundRect">
            <a:avLst>
              <a:gd name="adj" fmla="val 15000"/>
            </a:avLst>
          </a:prstGeom>
          <a:solidFill>
            <a:srgbClr val="FFFFFF"/>
          </a:solidFill>
          <a:ln w="12700">
            <a:solidFill>
              <a:srgbClr val="9E3B2E"/>
            </a:solidFill>
            <a:prstDash val="solid"/>
          </a:ln>
        </p:spPr>
      </p:sp>
      <p:sp>
        <p:nvSpPr>
          <p:cNvPr id="26" name="Text 24"/>
          <p:cNvSpPr txBox="1"/>
          <p:nvPr/>
        </p:nvSpPr>
        <p:spPr>
          <a:xfrm>
            <a:off x="4261104" y="1947672"/>
            <a:ext cx="43891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9E3B2E"/>
                </a:solidFill>
                <a:latin typeface="Courier New" pitchFamily="34" charset="0"/>
                <a:ea typeface="Courier New" pitchFamily="34" charset="-122"/>
                <a:cs typeface="Courier New" pitchFamily="34" charset="-120"/>
              </a:rPr>
              <a:t>r</a:t>
            </a:r>
            <a:endParaRPr lang="en-US" sz="1400" dirty="0"/>
          </a:p>
        </p:txBody>
      </p:sp>
      <p:sp>
        <p:nvSpPr>
          <p:cNvPr id="27" name="Shape 25"/>
          <p:cNvSpPr/>
          <p:nvPr/>
        </p:nvSpPr>
        <p:spPr>
          <a:xfrm>
            <a:off x="8503920" y="1828800"/>
            <a:ext cx="3108960" cy="960120"/>
          </a:xfrm>
          <a:prstGeom prst="roundRect">
            <a:avLst>
              <a:gd name="adj" fmla="val 8571"/>
            </a:avLst>
          </a:prstGeom>
          <a:solidFill>
            <a:srgbClr val="EEF2FB"/>
          </a:solidFill>
          <a:ln/>
        </p:spPr>
      </p:sp>
      <p:sp>
        <p:nvSpPr>
          <p:cNvPr id="28" name="Shape 26"/>
          <p:cNvSpPr/>
          <p:nvPr/>
        </p:nvSpPr>
        <p:spPr>
          <a:xfrm>
            <a:off x="8641080" y="2103120"/>
            <a:ext cx="384048" cy="384048"/>
          </a:xfrm>
          <a:prstGeom prst="ellipse">
            <a:avLst/>
          </a:prstGeom>
          <a:solidFill>
            <a:srgbClr val="1E2761"/>
          </a:solidFill>
          <a:ln/>
        </p:spPr>
      </p:sp>
      <p:sp>
        <p:nvSpPr>
          <p:cNvPr id="29" name="Text 27"/>
          <p:cNvSpPr txBox="1"/>
          <p:nvPr/>
        </p:nvSpPr>
        <p:spPr>
          <a:xfrm>
            <a:off x="8641080" y="2103120"/>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30" name="Text 28"/>
          <p:cNvSpPr txBox="1"/>
          <p:nvPr/>
        </p:nvSpPr>
        <p:spPr>
          <a:xfrm>
            <a:off x="9144000" y="1828800"/>
            <a:ext cx="2377440" cy="96012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O'qituvchi Laborantga g orqali baholar ustidan r beradi</a:t>
            </a:r>
            <a:endParaRPr lang="en-US" sz="1400" dirty="0"/>
          </a:p>
        </p:txBody>
      </p:sp>
      <p:sp>
        <p:nvSpPr>
          <p:cNvPr id="31" name="Shape 29"/>
          <p:cNvSpPr/>
          <p:nvPr/>
        </p:nvSpPr>
        <p:spPr>
          <a:xfrm>
            <a:off x="8503920" y="2926080"/>
            <a:ext cx="3108960" cy="960120"/>
          </a:xfrm>
          <a:prstGeom prst="roundRect">
            <a:avLst>
              <a:gd name="adj" fmla="val 8571"/>
            </a:avLst>
          </a:prstGeom>
          <a:solidFill>
            <a:srgbClr val="EEF2FB"/>
          </a:solidFill>
          <a:ln/>
        </p:spPr>
      </p:sp>
      <p:sp>
        <p:nvSpPr>
          <p:cNvPr id="32" name="Shape 30"/>
          <p:cNvSpPr/>
          <p:nvPr/>
        </p:nvSpPr>
        <p:spPr>
          <a:xfrm>
            <a:off x="8641080" y="3200400"/>
            <a:ext cx="384048" cy="384048"/>
          </a:xfrm>
          <a:prstGeom prst="ellipse">
            <a:avLst/>
          </a:prstGeom>
          <a:solidFill>
            <a:srgbClr val="9E3B2E"/>
          </a:solidFill>
          <a:ln/>
        </p:spPr>
      </p:sp>
      <p:sp>
        <p:nvSpPr>
          <p:cNvPr id="33" name="Text 31"/>
          <p:cNvSpPr txBox="1"/>
          <p:nvPr/>
        </p:nvSpPr>
        <p:spPr>
          <a:xfrm>
            <a:off x="8641080" y="3200400"/>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34" name="Text 32"/>
          <p:cNvSpPr txBox="1"/>
          <p:nvPr/>
        </p:nvSpPr>
        <p:spPr>
          <a:xfrm>
            <a:off x="9144000" y="2926080"/>
            <a:ext cx="2377440" cy="96012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Talaba Laborant ustidan t ga ega (masalan, uning papkasini boshqaradi)</a:t>
            </a:r>
            <a:endParaRPr lang="en-US" sz="1400" dirty="0"/>
          </a:p>
        </p:txBody>
      </p:sp>
      <p:sp>
        <p:nvSpPr>
          <p:cNvPr id="35" name="Shape 33"/>
          <p:cNvSpPr/>
          <p:nvPr/>
        </p:nvSpPr>
        <p:spPr>
          <a:xfrm>
            <a:off x="8503920" y="4023360"/>
            <a:ext cx="3108960" cy="960120"/>
          </a:xfrm>
          <a:prstGeom prst="roundRect">
            <a:avLst>
              <a:gd name="adj" fmla="val 8571"/>
            </a:avLst>
          </a:prstGeom>
          <a:solidFill>
            <a:srgbClr val="F7ECEA"/>
          </a:solidFill>
          <a:ln/>
        </p:spPr>
      </p:sp>
      <p:sp>
        <p:nvSpPr>
          <p:cNvPr id="36" name="Shape 34"/>
          <p:cNvSpPr/>
          <p:nvPr/>
        </p:nvSpPr>
        <p:spPr>
          <a:xfrm>
            <a:off x="8641080" y="4297680"/>
            <a:ext cx="384048" cy="384048"/>
          </a:xfrm>
          <a:prstGeom prst="ellipse">
            <a:avLst/>
          </a:prstGeom>
          <a:solidFill>
            <a:srgbClr val="9E3B2E"/>
          </a:solidFill>
          <a:ln/>
        </p:spPr>
      </p:sp>
      <p:sp>
        <p:nvSpPr>
          <p:cNvPr id="37" name="Text 35"/>
          <p:cNvSpPr txBox="1"/>
          <p:nvPr/>
        </p:nvSpPr>
        <p:spPr>
          <a:xfrm>
            <a:off x="8641080" y="4297680"/>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38" name="Text 36"/>
          <p:cNvSpPr txBox="1"/>
          <p:nvPr/>
        </p:nvSpPr>
        <p:spPr>
          <a:xfrm>
            <a:off x="9144000" y="4023360"/>
            <a:ext cx="2377440" cy="960120"/>
          </a:xfrm>
          <a:prstGeom prst="rect">
            <a:avLst/>
          </a:prstGeom>
          <a:noFill/>
          <a:ln/>
        </p:spPr>
        <p:txBody>
          <a:bodyPr wrap="square" lIns="0" tIns="0" rIns="0" bIns="0" rtlCol="0" anchor="ctr"/>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take: Talaba Laborantning r huquqini oladi → baholarni o'qiydi</a:t>
            </a:r>
            <a:endParaRPr lang="en-US" sz="1400" dirty="0"/>
          </a:p>
        </p:txBody>
      </p:sp>
      <p:sp>
        <p:nvSpPr>
          <p:cNvPr id="39" name="Shape 37"/>
          <p:cNvSpPr/>
          <p:nvPr/>
        </p:nvSpPr>
        <p:spPr>
          <a:xfrm>
            <a:off x="8503920" y="5166360"/>
            <a:ext cx="3108960" cy="1051560"/>
          </a:xfrm>
          <a:prstGeom prst="roundRect">
            <a:avLst>
              <a:gd name="adj" fmla="val 7826"/>
            </a:avLst>
          </a:prstGeom>
          <a:solidFill>
            <a:srgbClr val="E8F3EC"/>
          </a:solidFill>
          <a:ln/>
        </p:spPr>
      </p:sp>
      <p:sp>
        <p:nvSpPr>
          <p:cNvPr id="40" name="Text 38"/>
          <p:cNvSpPr txBox="1"/>
          <p:nvPr/>
        </p:nvSpPr>
        <p:spPr>
          <a:xfrm>
            <a:off x="8641080" y="5166360"/>
            <a:ext cx="2880360" cy="1051560"/>
          </a:xfrm>
          <a:prstGeom prst="rect">
            <a:avLst/>
          </a:prstGeom>
          <a:noFill/>
          <a:ln/>
        </p:spPr>
        <p:txBody>
          <a:bodyPr wrap="square" lIns="0" tIns="0" rIns="0" bIns="0" rtlCol="0" anchor="ctr"/>
          <a:lstStyle/>
          <a:p>
            <a:pPr algn="l" indent="0" marL="0">
              <a:lnSpc>
                <a:spcPct val="100000"/>
              </a:lnSpc>
              <a:buNone/>
            </a:pPr>
            <a:r>
              <a:rPr lang="en-US" sz="1400" b="1" dirty="0">
                <a:solidFill>
                  <a:srgbClr val="1F6B4A"/>
                </a:solidFill>
                <a:latin typeface="Times New Roman" pitchFamily="34" charset="0"/>
                <a:ea typeface="Times New Roman" pitchFamily="34" charset="-122"/>
                <a:cs typeface="Times New Roman" pitchFamily="34" charset="-120"/>
              </a:rPr>
              <a:t>Himoya: t qirrasini olib tashlash — Laborant ob'ektlariga egalikni faqat ma'murga qoldirish</a:t>
            </a:r>
            <a:endParaRPr lang="en-US" sz="1400" dirty="0"/>
          </a:p>
        </p:txBody>
      </p:sp>
      <p:sp>
        <p:nvSpPr>
          <p:cNvPr id="41" name="Text 39"/>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42" name="Text 40"/>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MINI-VAZIFA · 6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Grafni tahlil qiling</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penci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868680" y="2606040"/>
            <a:ext cx="822960" cy="822960"/>
          </a:xfrm>
          <a:prstGeom prst="ellipse">
            <a:avLst/>
          </a:prstGeom>
          <a:solidFill>
            <a:srgbClr val="1E2761"/>
          </a:solidFill>
          <a:ln/>
        </p:spPr>
      </p:sp>
      <p:sp>
        <p:nvSpPr>
          <p:cNvPr id="7" name="Text 4"/>
          <p:cNvSpPr txBox="1"/>
          <p:nvPr/>
        </p:nvSpPr>
        <p:spPr>
          <a:xfrm>
            <a:off x="365760" y="3456432"/>
            <a:ext cx="1828800" cy="320040"/>
          </a:xfrm>
          <a:prstGeom prst="rect">
            <a:avLst/>
          </a:prstGeom>
          <a:noFill/>
          <a:ln/>
        </p:spPr>
        <p:txBody>
          <a:bodyPr wrap="square" lIns="0" tIns="0" rIns="0" bIns="0" rtlCol="0" anchor="t"/>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A</a:t>
            </a:r>
            <a:endParaRPr lang="en-US" sz="1400" dirty="0"/>
          </a:p>
        </p:txBody>
      </p:sp>
      <p:sp>
        <p:nvSpPr>
          <p:cNvPr id="8" name="Shape 5"/>
          <p:cNvSpPr/>
          <p:nvPr/>
        </p:nvSpPr>
        <p:spPr>
          <a:xfrm>
            <a:off x="2880360" y="2606040"/>
            <a:ext cx="822960" cy="822960"/>
          </a:xfrm>
          <a:prstGeom prst="ellipse">
            <a:avLst/>
          </a:prstGeom>
          <a:solidFill>
            <a:srgbClr val="1E2761"/>
          </a:solidFill>
          <a:ln/>
        </p:spPr>
      </p:sp>
      <p:sp>
        <p:nvSpPr>
          <p:cNvPr id="9" name="Text 6"/>
          <p:cNvSpPr txBox="1"/>
          <p:nvPr/>
        </p:nvSpPr>
        <p:spPr>
          <a:xfrm>
            <a:off x="2377440" y="3456432"/>
            <a:ext cx="1828800" cy="320040"/>
          </a:xfrm>
          <a:prstGeom prst="rect">
            <a:avLst/>
          </a:prstGeom>
          <a:noFill/>
          <a:ln/>
        </p:spPr>
        <p:txBody>
          <a:bodyPr wrap="square" lIns="0" tIns="0" rIns="0" bIns="0" rtlCol="0" anchor="t"/>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B</a:t>
            </a:r>
            <a:endParaRPr lang="en-US" sz="1400" dirty="0"/>
          </a:p>
        </p:txBody>
      </p:sp>
      <p:sp>
        <p:nvSpPr>
          <p:cNvPr id="10" name="Shape 7"/>
          <p:cNvSpPr/>
          <p:nvPr/>
        </p:nvSpPr>
        <p:spPr>
          <a:xfrm>
            <a:off x="4892040" y="2606040"/>
            <a:ext cx="822960" cy="822960"/>
          </a:xfrm>
          <a:prstGeom prst="ellipse">
            <a:avLst/>
          </a:prstGeom>
          <a:solidFill>
            <a:srgbClr val="1E2761"/>
          </a:solidFill>
          <a:ln/>
        </p:spPr>
      </p:sp>
      <p:sp>
        <p:nvSpPr>
          <p:cNvPr id="11" name="Text 8"/>
          <p:cNvSpPr txBox="1"/>
          <p:nvPr/>
        </p:nvSpPr>
        <p:spPr>
          <a:xfrm>
            <a:off x="4389120" y="3456432"/>
            <a:ext cx="1828800" cy="320040"/>
          </a:xfrm>
          <a:prstGeom prst="rect">
            <a:avLst/>
          </a:prstGeom>
          <a:noFill/>
          <a:ln/>
        </p:spPr>
        <p:txBody>
          <a:bodyPr wrap="square" lIns="0" tIns="0" rIns="0" bIns="0" rtlCol="0" anchor="t"/>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C</a:t>
            </a:r>
            <a:endParaRPr lang="en-US" sz="1400" dirty="0"/>
          </a:p>
        </p:txBody>
      </p:sp>
      <p:sp>
        <p:nvSpPr>
          <p:cNvPr id="12" name="Shape 9"/>
          <p:cNvSpPr/>
          <p:nvPr/>
        </p:nvSpPr>
        <p:spPr>
          <a:xfrm>
            <a:off x="6903720" y="2606040"/>
            <a:ext cx="822960" cy="822960"/>
          </a:xfrm>
          <a:prstGeom prst="rect">
            <a:avLst/>
          </a:prstGeom>
          <a:solidFill>
            <a:srgbClr val="FFFFFF"/>
          </a:solidFill>
          <a:ln w="25400">
            <a:solidFill>
              <a:srgbClr val="1E2761"/>
            </a:solidFill>
            <a:prstDash val="solid"/>
          </a:ln>
        </p:spPr>
      </p:sp>
      <p:sp>
        <p:nvSpPr>
          <p:cNvPr id="13" name="Text 10"/>
          <p:cNvSpPr txBox="1"/>
          <p:nvPr/>
        </p:nvSpPr>
        <p:spPr>
          <a:xfrm>
            <a:off x="6400800" y="3456432"/>
            <a:ext cx="1828800" cy="320040"/>
          </a:xfrm>
          <a:prstGeom prst="rect">
            <a:avLst/>
          </a:prstGeom>
          <a:noFill/>
          <a:ln/>
        </p:spPr>
        <p:txBody>
          <a:bodyPr wrap="square" lIns="0" tIns="0" rIns="0" bIns="0" rtlCol="0" anchor="t"/>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fayl</a:t>
            </a:r>
            <a:endParaRPr lang="en-US" sz="1400" dirty="0"/>
          </a:p>
        </p:txBody>
      </p:sp>
      <p:sp>
        <p:nvSpPr>
          <p:cNvPr id="14" name="Shape 11"/>
          <p:cNvSpPr/>
          <p:nvPr/>
        </p:nvSpPr>
        <p:spPr>
          <a:xfrm>
            <a:off x="2880360" y="4709160"/>
            <a:ext cx="822960" cy="822960"/>
          </a:xfrm>
          <a:prstGeom prst="ellipse">
            <a:avLst/>
          </a:prstGeom>
          <a:solidFill>
            <a:srgbClr val="1E2761"/>
          </a:solidFill>
          <a:ln/>
        </p:spPr>
      </p:sp>
      <p:sp>
        <p:nvSpPr>
          <p:cNvPr id="15" name="Text 12"/>
          <p:cNvSpPr txBox="1"/>
          <p:nvPr/>
        </p:nvSpPr>
        <p:spPr>
          <a:xfrm>
            <a:off x="2377440" y="5559552"/>
            <a:ext cx="1828800" cy="320040"/>
          </a:xfrm>
          <a:prstGeom prst="rect">
            <a:avLst/>
          </a:prstGeom>
          <a:noFill/>
          <a:ln/>
        </p:spPr>
        <p:txBody>
          <a:bodyPr wrap="square" lIns="0" tIns="0" rIns="0" bIns="0" rtlCol="0" anchor="t"/>
          <a:lstStyle/>
          <a:p>
            <a:pPr algn="ctr" indent="0" marL="0">
              <a:lnSpc>
                <a:spcPct val="100000"/>
              </a:lnSpc>
              <a:buNone/>
            </a:pPr>
            <a:r>
              <a:rPr lang="en-US" sz="1400" b="1" dirty="0">
                <a:solidFill>
                  <a:srgbClr val="1E2761"/>
                </a:solidFill>
                <a:latin typeface="Times New Roman" pitchFamily="34" charset="0"/>
                <a:ea typeface="Times New Roman" pitchFamily="34" charset="-122"/>
                <a:cs typeface="Times New Roman" pitchFamily="34" charset="-120"/>
              </a:rPr>
              <a:t>D</a:t>
            </a:r>
            <a:endParaRPr lang="en-US" sz="1400" dirty="0"/>
          </a:p>
        </p:txBody>
      </p:sp>
      <p:sp>
        <p:nvSpPr>
          <p:cNvPr id="16" name="Shape 13"/>
          <p:cNvSpPr/>
          <p:nvPr/>
        </p:nvSpPr>
        <p:spPr>
          <a:xfrm>
            <a:off x="1737360" y="3017520"/>
            <a:ext cx="1097280" cy="914"/>
          </a:xfrm>
          <a:prstGeom prst="line">
            <a:avLst/>
          </a:prstGeom>
          <a:noFill/>
          <a:ln w="28575">
            <a:solidFill>
              <a:srgbClr val="1E2761"/>
            </a:solidFill>
            <a:prstDash val="solid"/>
            <a:tailEnd type="triangle"/>
          </a:ln>
        </p:spPr>
      </p:sp>
      <p:sp>
        <p:nvSpPr>
          <p:cNvPr id="17" name="Shape 14"/>
          <p:cNvSpPr/>
          <p:nvPr/>
        </p:nvSpPr>
        <p:spPr>
          <a:xfrm>
            <a:off x="2066544" y="2816352"/>
            <a:ext cx="438912" cy="365760"/>
          </a:xfrm>
          <a:prstGeom prst="roundRect">
            <a:avLst>
              <a:gd name="adj" fmla="val 15000"/>
            </a:avLst>
          </a:prstGeom>
          <a:solidFill>
            <a:srgbClr val="FFFFFF"/>
          </a:solidFill>
          <a:ln w="12700">
            <a:solidFill>
              <a:srgbClr val="1E2761"/>
            </a:solidFill>
            <a:prstDash val="solid"/>
          </a:ln>
        </p:spPr>
      </p:sp>
      <p:sp>
        <p:nvSpPr>
          <p:cNvPr id="18" name="Text 15"/>
          <p:cNvSpPr txBox="1"/>
          <p:nvPr/>
        </p:nvSpPr>
        <p:spPr>
          <a:xfrm>
            <a:off x="2066544" y="2816352"/>
            <a:ext cx="43891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t</a:t>
            </a:r>
            <a:endParaRPr lang="en-US" sz="1400" dirty="0"/>
          </a:p>
        </p:txBody>
      </p:sp>
      <p:sp>
        <p:nvSpPr>
          <p:cNvPr id="19" name="Shape 16"/>
          <p:cNvSpPr/>
          <p:nvPr/>
        </p:nvSpPr>
        <p:spPr>
          <a:xfrm>
            <a:off x="3749040" y="3017520"/>
            <a:ext cx="1097280" cy="914"/>
          </a:xfrm>
          <a:prstGeom prst="line">
            <a:avLst/>
          </a:prstGeom>
          <a:noFill/>
          <a:ln w="28575">
            <a:solidFill>
              <a:srgbClr val="1E2761"/>
            </a:solidFill>
            <a:prstDash val="solid"/>
            <a:tailEnd type="triangle"/>
          </a:ln>
        </p:spPr>
      </p:sp>
      <p:sp>
        <p:nvSpPr>
          <p:cNvPr id="20" name="Shape 17"/>
          <p:cNvSpPr/>
          <p:nvPr/>
        </p:nvSpPr>
        <p:spPr>
          <a:xfrm>
            <a:off x="4078224" y="2816352"/>
            <a:ext cx="438912" cy="365760"/>
          </a:xfrm>
          <a:prstGeom prst="roundRect">
            <a:avLst>
              <a:gd name="adj" fmla="val 15000"/>
            </a:avLst>
          </a:prstGeom>
          <a:solidFill>
            <a:srgbClr val="FFFFFF"/>
          </a:solidFill>
          <a:ln w="12700">
            <a:solidFill>
              <a:srgbClr val="1E2761"/>
            </a:solidFill>
            <a:prstDash val="solid"/>
          </a:ln>
        </p:spPr>
      </p:sp>
      <p:sp>
        <p:nvSpPr>
          <p:cNvPr id="21" name="Text 18"/>
          <p:cNvSpPr txBox="1"/>
          <p:nvPr/>
        </p:nvSpPr>
        <p:spPr>
          <a:xfrm>
            <a:off x="4078224" y="2816352"/>
            <a:ext cx="43891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t</a:t>
            </a:r>
            <a:endParaRPr lang="en-US" sz="1400" dirty="0"/>
          </a:p>
        </p:txBody>
      </p:sp>
      <p:sp>
        <p:nvSpPr>
          <p:cNvPr id="22" name="Shape 19"/>
          <p:cNvSpPr/>
          <p:nvPr/>
        </p:nvSpPr>
        <p:spPr>
          <a:xfrm>
            <a:off x="5760720" y="3017520"/>
            <a:ext cx="1097280" cy="914"/>
          </a:xfrm>
          <a:prstGeom prst="line">
            <a:avLst/>
          </a:prstGeom>
          <a:noFill/>
          <a:ln w="28575">
            <a:solidFill>
              <a:srgbClr val="1E2761"/>
            </a:solidFill>
            <a:prstDash val="solid"/>
            <a:tailEnd type="triangle"/>
          </a:ln>
        </p:spPr>
      </p:sp>
      <p:sp>
        <p:nvSpPr>
          <p:cNvPr id="23" name="Shape 20"/>
          <p:cNvSpPr/>
          <p:nvPr/>
        </p:nvSpPr>
        <p:spPr>
          <a:xfrm>
            <a:off x="6089904" y="2816352"/>
            <a:ext cx="438912" cy="365760"/>
          </a:xfrm>
          <a:prstGeom prst="roundRect">
            <a:avLst>
              <a:gd name="adj" fmla="val 15000"/>
            </a:avLst>
          </a:prstGeom>
          <a:solidFill>
            <a:srgbClr val="FFFFFF"/>
          </a:solidFill>
          <a:ln w="12700">
            <a:solidFill>
              <a:srgbClr val="1E2761"/>
            </a:solidFill>
            <a:prstDash val="solid"/>
          </a:ln>
        </p:spPr>
      </p:sp>
      <p:sp>
        <p:nvSpPr>
          <p:cNvPr id="24" name="Text 21"/>
          <p:cNvSpPr txBox="1"/>
          <p:nvPr/>
        </p:nvSpPr>
        <p:spPr>
          <a:xfrm>
            <a:off x="6089904" y="2816352"/>
            <a:ext cx="43891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r</a:t>
            </a:r>
            <a:endParaRPr lang="en-US" sz="1400" dirty="0"/>
          </a:p>
        </p:txBody>
      </p:sp>
      <p:sp>
        <p:nvSpPr>
          <p:cNvPr id="25" name="Shape 22"/>
          <p:cNvSpPr/>
          <p:nvPr/>
        </p:nvSpPr>
        <p:spPr>
          <a:xfrm>
            <a:off x="1596187" y="3347912"/>
            <a:ext cx="1379626" cy="1442336"/>
          </a:xfrm>
          <a:prstGeom prst="line">
            <a:avLst/>
          </a:prstGeom>
          <a:noFill/>
          <a:ln w="28575">
            <a:solidFill>
              <a:srgbClr val="1E2761"/>
            </a:solidFill>
            <a:prstDash val="solid"/>
            <a:tailEnd type="triangle"/>
          </a:ln>
        </p:spPr>
      </p:sp>
      <p:sp>
        <p:nvSpPr>
          <p:cNvPr id="26" name="Shape 23"/>
          <p:cNvSpPr/>
          <p:nvPr/>
        </p:nvSpPr>
        <p:spPr>
          <a:xfrm>
            <a:off x="2066544" y="3867912"/>
            <a:ext cx="438912" cy="365760"/>
          </a:xfrm>
          <a:prstGeom prst="roundRect">
            <a:avLst>
              <a:gd name="adj" fmla="val 15000"/>
            </a:avLst>
          </a:prstGeom>
          <a:solidFill>
            <a:srgbClr val="FFFFFF"/>
          </a:solidFill>
          <a:ln w="12700">
            <a:solidFill>
              <a:srgbClr val="1E2761"/>
            </a:solidFill>
            <a:prstDash val="solid"/>
          </a:ln>
        </p:spPr>
      </p:sp>
      <p:sp>
        <p:nvSpPr>
          <p:cNvPr id="27" name="Text 24"/>
          <p:cNvSpPr txBox="1"/>
          <p:nvPr/>
        </p:nvSpPr>
        <p:spPr>
          <a:xfrm>
            <a:off x="2066544" y="3867912"/>
            <a:ext cx="438912"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1E2761"/>
                </a:solidFill>
                <a:latin typeface="Courier New" pitchFamily="34" charset="0"/>
                <a:ea typeface="Courier New" pitchFamily="34" charset="-122"/>
                <a:cs typeface="Courier New" pitchFamily="34" charset="-120"/>
              </a:rPr>
              <a:t>g</a:t>
            </a:r>
            <a:endParaRPr lang="en-US" sz="1400" dirty="0"/>
          </a:p>
        </p:txBody>
      </p:sp>
      <p:sp>
        <p:nvSpPr>
          <p:cNvPr id="28" name="Shape 25"/>
          <p:cNvSpPr/>
          <p:nvPr/>
        </p:nvSpPr>
        <p:spPr>
          <a:xfrm>
            <a:off x="8138160" y="1783080"/>
            <a:ext cx="3474720" cy="1005840"/>
          </a:xfrm>
          <a:prstGeom prst="roundRect">
            <a:avLst>
              <a:gd name="adj" fmla="val 8182"/>
            </a:avLst>
          </a:prstGeom>
          <a:solidFill>
            <a:srgbClr val="FFFFFF"/>
          </a:solidFill>
          <a:ln/>
        </p:spPr>
      </p:sp>
      <p:sp>
        <p:nvSpPr>
          <p:cNvPr id="29" name="Shape 26"/>
          <p:cNvSpPr/>
          <p:nvPr/>
        </p:nvSpPr>
        <p:spPr>
          <a:xfrm>
            <a:off x="8138160" y="1783080"/>
            <a:ext cx="457200" cy="1005840"/>
          </a:xfrm>
          <a:prstGeom prst="roundRect">
            <a:avLst>
              <a:gd name="adj" fmla="val 18000"/>
            </a:avLst>
          </a:prstGeom>
          <a:solidFill>
            <a:srgbClr val="D9932B"/>
          </a:solidFill>
          <a:ln/>
        </p:spPr>
      </p:sp>
      <p:sp>
        <p:nvSpPr>
          <p:cNvPr id="30" name="Text 27"/>
          <p:cNvSpPr txBox="1"/>
          <p:nvPr/>
        </p:nvSpPr>
        <p:spPr>
          <a:xfrm>
            <a:off x="8138160" y="1783080"/>
            <a:ext cx="457200" cy="10058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a</a:t>
            </a:r>
            <a:endParaRPr lang="en-US" sz="1800" dirty="0"/>
          </a:p>
        </p:txBody>
      </p:sp>
      <p:sp>
        <p:nvSpPr>
          <p:cNvPr id="31" name="Text 28"/>
          <p:cNvSpPr txBox="1"/>
          <p:nvPr/>
        </p:nvSpPr>
        <p:spPr>
          <a:xfrm>
            <a:off x="8686800" y="1783080"/>
            <a:ext cx="2834640" cy="100584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A fayl ni o'qiy oladimi? Qoidalar ketma-ketligini yozing</a:t>
            </a:r>
            <a:endParaRPr lang="en-US" sz="1500" dirty="0"/>
          </a:p>
        </p:txBody>
      </p:sp>
      <p:sp>
        <p:nvSpPr>
          <p:cNvPr id="32" name="Shape 29"/>
          <p:cNvSpPr/>
          <p:nvPr/>
        </p:nvSpPr>
        <p:spPr>
          <a:xfrm>
            <a:off x="8138160" y="2907792"/>
            <a:ext cx="3474720" cy="1005840"/>
          </a:xfrm>
          <a:prstGeom prst="roundRect">
            <a:avLst>
              <a:gd name="adj" fmla="val 8182"/>
            </a:avLst>
          </a:prstGeom>
          <a:solidFill>
            <a:srgbClr val="FFFFFF"/>
          </a:solidFill>
          <a:ln/>
        </p:spPr>
      </p:sp>
      <p:sp>
        <p:nvSpPr>
          <p:cNvPr id="33" name="Shape 30"/>
          <p:cNvSpPr/>
          <p:nvPr/>
        </p:nvSpPr>
        <p:spPr>
          <a:xfrm>
            <a:off x="8138160" y="2907792"/>
            <a:ext cx="457200" cy="1005840"/>
          </a:xfrm>
          <a:prstGeom prst="roundRect">
            <a:avLst>
              <a:gd name="adj" fmla="val 18000"/>
            </a:avLst>
          </a:prstGeom>
          <a:solidFill>
            <a:srgbClr val="D9932B"/>
          </a:solidFill>
          <a:ln/>
        </p:spPr>
      </p:sp>
      <p:sp>
        <p:nvSpPr>
          <p:cNvPr id="34" name="Text 31"/>
          <p:cNvSpPr txBox="1"/>
          <p:nvPr/>
        </p:nvSpPr>
        <p:spPr>
          <a:xfrm>
            <a:off x="8138160" y="2907792"/>
            <a:ext cx="457200" cy="10058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b</a:t>
            </a:r>
            <a:endParaRPr lang="en-US" sz="1800" dirty="0"/>
          </a:p>
        </p:txBody>
      </p:sp>
      <p:sp>
        <p:nvSpPr>
          <p:cNvPr id="35" name="Text 32"/>
          <p:cNvSpPr txBox="1"/>
          <p:nvPr/>
        </p:nvSpPr>
        <p:spPr>
          <a:xfrm>
            <a:off x="8686800" y="2907792"/>
            <a:ext cx="2834640" cy="100584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D fayl ni o'qiy oladimi?</a:t>
            </a:r>
            <a:endParaRPr lang="en-US" sz="1500" dirty="0"/>
          </a:p>
        </p:txBody>
      </p:sp>
      <p:sp>
        <p:nvSpPr>
          <p:cNvPr id="36" name="Shape 33"/>
          <p:cNvSpPr/>
          <p:nvPr/>
        </p:nvSpPr>
        <p:spPr>
          <a:xfrm>
            <a:off x="8138160" y="4032504"/>
            <a:ext cx="3474720" cy="1005840"/>
          </a:xfrm>
          <a:prstGeom prst="roundRect">
            <a:avLst>
              <a:gd name="adj" fmla="val 8182"/>
            </a:avLst>
          </a:prstGeom>
          <a:solidFill>
            <a:srgbClr val="FFFFFF"/>
          </a:solidFill>
          <a:ln/>
        </p:spPr>
      </p:sp>
      <p:sp>
        <p:nvSpPr>
          <p:cNvPr id="37" name="Shape 34"/>
          <p:cNvSpPr/>
          <p:nvPr/>
        </p:nvSpPr>
        <p:spPr>
          <a:xfrm>
            <a:off x="8138160" y="4032504"/>
            <a:ext cx="457200" cy="1005840"/>
          </a:xfrm>
          <a:prstGeom prst="roundRect">
            <a:avLst>
              <a:gd name="adj" fmla="val 18000"/>
            </a:avLst>
          </a:prstGeom>
          <a:solidFill>
            <a:srgbClr val="D9932B"/>
          </a:solidFill>
          <a:ln/>
        </p:spPr>
      </p:sp>
      <p:sp>
        <p:nvSpPr>
          <p:cNvPr id="38" name="Text 35"/>
          <p:cNvSpPr txBox="1"/>
          <p:nvPr/>
        </p:nvSpPr>
        <p:spPr>
          <a:xfrm>
            <a:off x="8138160" y="4032504"/>
            <a:ext cx="457200" cy="10058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c</a:t>
            </a:r>
            <a:endParaRPr lang="en-US" sz="1800" dirty="0"/>
          </a:p>
        </p:txBody>
      </p:sp>
      <p:sp>
        <p:nvSpPr>
          <p:cNvPr id="39" name="Text 36"/>
          <p:cNvSpPr txBox="1"/>
          <p:nvPr/>
        </p:nvSpPr>
        <p:spPr>
          <a:xfrm>
            <a:off x="8686800" y="4032504"/>
            <a:ext cx="2834640" cy="100584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Bitta qirrani olib tashlab A ni to'xtating. Qaysi variantlar bor?</a:t>
            </a:r>
            <a:endParaRPr lang="en-US" sz="1500" dirty="0"/>
          </a:p>
        </p:txBody>
      </p:sp>
      <p:sp>
        <p:nvSpPr>
          <p:cNvPr id="40" name="Shape 37"/>
          <p:cNvSpPr/>
          <p:nvPr/>
        </p:nvSpPr>
        <p:spPr>
          <a:xfrm>
            <a:off x="8138160" y="5157216"/>
            <a:ext cx="3474720" cy="1005840"/>
          </a:xfrm>
          <a:prstGeom prst="roundRect">
            <a:avLst>
              <a:gd name="adj" fmla="val 8182"/>
            </a:avLst>
          </a:prstGeom>
          <a:solidFill>
            <a:srgbClr val="FFFFFF"/>
          </a:solidFill>
          <a:ln/>
        </p:spPr>
      </p:sp>
      <p:sp>
        <p:nvSpPr>
          <p:cNvPr id="41" name="Shape 38"/>
          <p:cNvSpPr/>
          <p:nvPr/>
        </p:nvSpPr>
        <p:spPr>
          <a:xfrm>
            <a:off x="8138160" y="5157216"/>
            <a:ext cx="457200" cy="1005840"/>
          </a:xfrm>
          <a:prstGeom prst="roundRect">
            <a:avLst>
              <a:gd name="adj" fmla="val 18000"/>
            </a:avLst>
          </a:prstGeom>
          <a:solidFill>
            <a:srgbClr val="D9932B"/>
          </a:solidFill>
          <a:ln/>
        </p:spPr>
      </p:sp>
      <p:sp>
        <p:nvSpPr>
          <p:cNvPr id="42" name="Text 39"/>
          <p:cNvSpPr txBox="1"/>
          <p:nvPr/>
        </p:nvSpPr>
        <p:spPr>
          <a:xfrm>
            <a:off x="8138160" y="5157216"/>
            <a:ext cx="457200" cy="10058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d</a:t>
            </a:r>
            <a:endParaRPr lang="en-US" sz="1800" dirty="0"/>
          </a:p>
        </p:txBody>
      </p:sp>
      <p:sp>
        <p:nvSpPr>
          <p:cNvPr id="43" name="Text 40"/>
          <p:cNvSpPr txBox="1"/>
          <p:nvPr/>
        </p:nvSpPr>
        <p:spPr>
          <a:xfrm>
            <a:off x="8686800" y="5157216"/>
            <a:ext cx="2834640" cy="1005840"/>
          </a:xfrm>
          <a:prstGeom prst="rect">
            <a:avLst/>
          </a:prstGeom>
          <a:noFill/>
          <a:ln/>
        </p:spPr>
        <p:txBody>
          <a:bodyPr wrap="square" lIns="0" tIns="0" rIns="0" bIns="0" rtlCol="0" anchor="ctr"/>
          <a:lstStyle/>
          <a:p>
            <a:pPr algn="l"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Windows'da t qirrasiga qaysi huquq mos keladi?</a:t>
            </a:r>
            <a:endParaRPr lang="en-US" sz="1500" dirty="0"/>
          </a:p>
        </p:txBody>
      </p:sp>
      <p:sp>
        <p:nvSpPr>
          <p:cNvPr id="44" name="Text 41"/>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45" name="Text 42"/>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III · SOLISHTIRISH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Uchta model: ifodalilik va tahlil qilinuvchanlik</a:t>
            </a:r>
            <a:endParaRPr lang="en-US" sz="3600" dirty="0"/>
          </a:p>
        </p:txBody>
      </p:sp>
      <p:sp>
        <p:nvSpPr>
          <p:cNvPr id="4" name="Shape 2"/>
          <p:cNvSpPr/>
          <p:nvPr/>
        </p:nvSpPr>
        <p:spPr>
          <a:xfrm>
            <a:off x="2834640" y="1783080"/>
            <a:ext cx="2926080" cy="548640"/>
          </a:xfrm>
          <a:prstGeom prst="roundRect">
            <a:avLst>
              <a:gd name="adj" fmla="val 6667"/>
            </a:avLst>
          </a:prstGeom>
          <a:solidFill>
            <a:srgbClr val="1E2761"/>
          </a:solidFill>
          <a:ln/>
        </p:spPr>
      </p:sp>
      <p:sp>
        <p:nvSpPr>
          <p:cNvPr id="5" name="Text 3"/>
          <p:cNvSpPr txBox="1"/>
          <p:nvPr/>
        </p:nvSpPr>
        <p:spPr>
          <a:xfrm>
            <a:off x="2834640" y="1783080"/>
            <a:ext cx="2926080" cy="5486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Lampson matritsasi</a:t>
            </a:r>
            <a:endParaRPr lang="en-US" sz="1800" dirty="0"/>
          </a:p>
        </p:txBody>
      </p:sp>
      <p:sp>
        <p:nvSpPr>
          <p:cNvPr id="6" name="Shape 4"/>
          <p:cNvSpPr/>
          <p:nvPr/>
        </p:nvSpPr>
        <p:spPr>
          <a:xfrm>
            <a:off x="5806440" y="1783080"/>
            <a:ext cx="2926080" cy="548640"/>
          </a:xfrm>
          <a:prstGeom prst="roundRect">
            <a:avLst>
              <a:gd name="adj" fmla="val 6667"/>
            </a:avLst>
          </a:prstGeom>
          <a:solidFill>
            <a:srgbClr val="1E2761"/>
          </a:solidFill>
          <a:ln/>
        </p:spPr>
      </p:sp>
      <p:sp>
        <p:nvSpPr>
          <p:cNvPr id="7" name="Text 5"/>
          <p:cNvSpPr txBox="1"/>
          <p:nvPr/>
        </p:nvSpPr>
        <p:spPr>
          <a:xfrm>
            <a:off x="5806440" y="1783080"/>
            <a:ext cx="2926080" cy="5486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HRU</a:t>
            </a:r>
            <a:endParaRPr lang="en-US" sz="1800" dirty="0"/>
          </a:p>
        </p:txBody>
      </p:sp>
      <p:sp>
        <p:nvSpPr>
          <p:cNvPr id="8" name="Shape 6"/>
          <p:cNvSpPr/>
          <p:nvPr/>
        </p:nvSpPr>
        <p:spPr>
          <a:xfrm>
            <a:off x="8778240" y="1783080"/>
            <a:ext cx="2788920" cy="548640"/>
          </a:xfrm>
          <a:prstGeom prst="roundRect">
            <a:avLst>
              <a:gd name="adj" fmla="val 6667"/>
            </a:avLst>
          </a:prstGeom>
          <a:solidFill>
            <a:srgbClr val="1E2761"/>
          </a:solidFill>
          <a:ln/>
        </p:spPr>
      </p:sp>
      <p:sp>
        <p:nvSpPr>
          <p:cNvPr id="9" name="Text 7"/>
          <p:cNvSpPr txBox="1"/>
          <p:nvPr/>
        </p:nvSpPr>
        <p:spPr>
          <a:xfrm>
            <a:off x="8778240" y="1783080"/>
            <a:ext cx="2788920" cy="54864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Take-Grant</a:t>
            </a:r>
            <a:endParaRPr lang="en-US" sz="1800" dirty="0"/>
          </a:p>
        </p:txBody>
      </p:sp>
      <p:sp>
        <p:nvSpPr>
          <p:cNvPr id="10" name="Shape 8"/>
          <p:cNvSpPr/>
          <p:nvPr/>
        </p:nvSpPr>
        <p:spPr>
          <a:xfrm>
            <a:off x="548640" y="2404872"/>
            <a:ext cx="2240280" cy="777240"/>
          </a:xfrm>
          <a:prstGeom prst="roundRect">
            <a:avLst>
              <a:gd name="adj" fmla="val 4706"/>
            </a:avLst>
          </a:prstGeom>
          <a:solidFill>
            <a:srgbClr val="2A3778"/>
          </a:solidFill>
          <a:ln/>
        </p:spPr>
      </p:sp>
      <p:sp>
        <p:nvSpPr>
          <p:cNvPr id="11" name="Text 9"/>
          <p:cNvSpPr txBox="1"/>
          <p:nvPr/>
        </p:nvSpPr>
        <p:spPr>
          <a:xfrm>
            <a:off x="658368" y="2404872"/>
            <a:ext cx="2057400" cy="77724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Times New Roman" pitchFamily="34" charset="0"/>
                <a:ea typeface="Times New Roman" pitchFamily="34" charset="-122"/>
                <a:cs typeface="Times New Roman" pitchFamily="34" charset="-120"/>
              </a:rPr>
              <a:t>Nimani ifodalaydi</a:t>
            </a:r>
            <a:endParaRPr lang="en-US" sz="1500" dirty="0"/>
          </a:p>
        </p:txBody>
      </p:sp>
      <p:sp>
        <p:nvSpPr>
          <p:cNvPr id="12" name="Shape 10"/>
          <p:cNvSpPr/>
          <p:nvPr/>
        </p:nvSpPr>
        <p:spPr>
          <a:xfrm>
            <a:off x="2834640" y="2404872"/>
            <a:ext cx="2926080" cy="777240"/>
          </a:xfrm>
          <a:prstGeom prst="roundRect">
            <a:avLst>
              <a:gd name="adj" fmla="val 4706"/>
            </a:avLst>
          </a:prstGeom>
          <a:solidFill>
            <a:srgbClr val="EEF2FB"/>
          </a:solidFill>
          <a:ln/>
        </p:spPr>
      </p:sp>
      <p:sp>
        <p:nvSpPr>
          <p:cNvPr id="13" name="Text 11"/>
          <p:cNvSpPr txBox="1"/>
          <p:nvPr/>
        </p:nvSpPr>
        <p:spPr>
          <a:xfrm>
            <a:off x="2944368" y="2404872"/>
            <a:ext cx="2743200" cy="777240"/>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Bir paytdagi holat</a:t>
            </a:r>
            <a:endParaRPr lang="en-US" sz="1500" dirty="0"/>
          </a:p>
        </p:txBody>
      </p:sp>
      <p:sp>
        <p:nvSpPr>
          <p:cNvPr id="14" name="Shape 12"/>
          <p:cNvSpPr/>
          <p:nvPr/>
        </p:nvSpPr>
        <p:spPr>
          <a:xfrm>
            <a:off x="5806440" y="2404872"/>
            <a:ext cx="2926080" cy="777240"/>
          </a:xfrm>
          <a:prstGeom prst="roundRect">
            <a:avLst>
              <a:gd name="adj" fmla="val 4706"/>
            </a:avLst>
          </a:prstGeom>
          <a:solidFill>
            <a:srgbClr val="EEF2FB"/>
          </a:solidFill>
          <a:ln/>
        </p:spPr>
      </p:sp>
      <p:sp>
        <p:nvSpPr>
          <p:cNvPr id="15" name="Text 13"/>
          <p:cNvSpPr txBox="1"/>
          <p:nvPr/>
        </p:nvSpPr>
        <p:spPr>
          <a:xfrm>
            <a:off x="5916168" y="2404872"/>
            <a:ext cx="2743200" cy="777240"/>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Holat + o'zgarish buyruqlari</a:t>
            </a:r>
            <a:endParaRPr lang="en-US" sz="1500" dirty="0"/>
          </a:p>
        </p:txBody>
      </p:sp>
      <p:sp>
        <p:nvSpPr>
          <p:cNvPr id="16" name="Shape 14"/>
          <p:cNvSpPr/>
          <p:nvPr/>
        </p:nvSpPr>
        <p:spPr>
          <a:xfrm>
            <a:off x="8778240" y="2404872"/>
            <a:ext cx="2788920" cy="777240"/>
          </a:xfrm>
          <a:prstGeom prst="roundRect">
            <a:avLst>
              <a:gd name="adj" fmla="val 4706"/>
            </a:avLst>
          </a:prstGeom>
          <a:solidFill>
            <a:srgbClr val="EEF2FB"/>
          </a:solidFill>
          <a:ln/>
        </p:spPr>
      </p:sp>
      <p:sp>
        <p:nvSpPr>
          <p:cNvPr id="17" name="Text 15"/>
          <p:cNvSpPr txBox="1"/>
          <p:nvPr/>
        </p:nvSpPr>
        <p:spPr>
          <a:xfrm>
            <a:off x="8887968" y="2404872"/>
            <a:ext cx="2606040" cy="777240"/>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Huquqlar grafi + 4 qoida</a:t>
            </a:r>
            <a:endParaRPr lang="en-US" sz="1500" dirty="0"/>
          </a:p>
        </p:txBody>
      </p:sp>
      <p:sp>
        <p:nvSpPr>
          <p:cNvPr id="18" name="Shape 16"/>
          <p:cNvSpPr/>
          <p:nvPr/>
        </p:nvSpPr>
        <p:spPr>
          <a:xfrm>
            <a:off x="548640" y="3273552"/>
            <a:ext cx="2240280" cy="777240"/>
          </a:xfrm>
          <a:prstGeom prst="roundRect">
            <a:avLst>
              <a:gd name="adj" fmla="val 4706"/>
            </a:avLst>
          </a:prstGeom>
          <a:solidFill>
            <a:srgbClr val="2A3778"/>
          </a:solidFill>
          <a:ln/>
        </p:spPr>
      </p:sp>
      <p:sp>
        <p:nvSpPr>
          <p:cNvPr id="19" name="Text 17"/>
          <p:cNvSpPr txBox="1"/>
          <p:nvPr/>
        </p:nvSpPr>
        <p:spPr>
          <a:xfrm>
            <a:off x="658368" y="3273552"/>
            <a:ext cx="2057400" cy="77724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Times New Roman" pitchFamily="34" charset="0"/>
                <a:ea typeface="Times New Roman" pitchFamily="34" charset="-122"/>
                <a:cs typeface="Times New Roman" pitchFamily="34" charset="-120"/>
              </a:rPr>
              <a:t>Xavfsizlik savoli</a:t>
            </a:r>
            <a:endParaRPr lang="en-US" sz="1500" dirty="0"/>
          </a:p>
        </p:txBody>
      </p:sp>
      <p:sp>
        <p:nvSpPr>
          <p:cNvPr id="20" name="Shape 18"/>
          <p:cNvSpPr/>
          <p:nvPr/>
        </p:nvSpPr>
        <p:spPr>
          <a:xfrm>
            <a:off x="2834640" y="3273552"/>
            <a:ext cx="2926080" cy="777240"/>
          </a:xfrm>
          <a:prstGeom prst="roundRect">
            <a:avLst>
              <a:gd name="adj" fmla="val 4706"/>
            </a:avLst>
          </a:prstGeom>
          <a:solidFill>
            <a:srgbClr val="FFFFFF"/>
          </a:solidFill>
          <a:ln w="12700">
            <a:solidFill>
              <a:srgbClr val="CADCFC"/>
            </a:solidFill>
            <a:prstDash val="solid"/>
          </a:ln>
        </p:spPr>
      </p:sp>
      <p:sp>
        <p:nvSpPr>
          <p:cNvPr id="21" name="Text 19"/>
          <p:cNvSpPr txBox="1"/>
          <p:nvPr/>
        </p:nvSpPr>
        <p:spPr>
          <a:xfrm>
            <a:off x="2944368" y="3273552"/>
            <a:ext cx="2743200" cy="777240"/>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Qo'yilmaydi</a:t>
            </a:r>
            <a:endParaRPr lang="en-US" sz="1500" dirty="0"/>
          </a:p>
        </p:txBody>
      </p:sp>
      <p:sp>
        <p:nvSpPr>
          <p:cNvPr id="22" name="Shape 20"/>
          <p:cNvSpPr/>
          <p:nvPr/>
        </p:nvSpPr>
        <p:spPr>
          <a:xfrm>
            <a:off x="5806440" y="3273552"/>
            <a:ext cx="2926080" cy="777240"/>
          </a:xfrm>
          <a:prstGeom prst="roundRect">
            <a:avLst>
              <a:gd name="adj" fmla="val 4706"/>
            </a:avLst>
          </a:prstGeom>
          <a:solidFill>
            <a:srgbClr val="FFFFFF"/>
          </a:solidFill>
          <a:ln w="12700">
            <a:solidFill>
              <a:srgbClr val="CADCFC"/>
            </a:solidFill>
            <a:prstDash val="solid"/>
          </a:ln>
        </p:spPr>
      </p:sp>
      <p:sp>
        <p:nvSpPr>
          <p:cNvPr id="23" name="Text 21"/>
          <p:cNvSpPr txBox="1"/>
          <p:nvPr/>
        </p:nvSpPr>
        <p:spPr>
          <a:xfrm>
            <a:off x="5916168" y="3273552"/>
            <a:ext cx="2743200" cy="777240"/>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Umumiy holda hal qilinmaydi</a:t>
            </a:r>
            <a:endParaRPr lang="en-US" sz="1500" dirty="0"/>
          </a:p>
        </p:txBody>
      </p:sp>
      <p:sp>
        <p:nvSpPr>
          <p:cNvPr id="24" name="Shape 22"/>
          <p:cNvSpPr/>
          <p:nvPr/>
        </p:nvSpPr>
        <p:spPr>
          <a:xfrm>
            <a:off x="8778240" y="3273552"/>
            <a:ext cx="2788920" cy="777240"/>
          </a:xfrm>
          <a:prstGeom prst="roundRect">
            <a:avLst>
              <a:gd name="adj" fmla="val 4706"/>
            </a:avLst>
          </a:prstGeom>
          <a:solidFill>
            <a:srgbClr val="FFFFFF"/>
          </a:solidFill>
          <a:ln w="12700">
            <a:solidFill>
              <a:srgbClr val="CADCFC"/>
            </a:solidFill>
            <a:prstDash val="solid"/>
          </a:ln>
        </p:spPr>
      </p:sp>
      <p:sp>
        <p:nvSpPr>
          <p:cNvPr id="25" name="Text 23"/>
          <p:cNvSpPr txBox="1"/>
          <p:nvPr/>
        </p:nvSpPr>
        <p:spPr>
          <a:xfrm>
            <a:off x="8887968" y="3273552"/>
            <a:ext cx="2606040" cy="777240"/>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Chiziqli vaqtda hal qilinadi</a:t>
            </a:r>
            <a:endParaRPr lang="en-US" sz="1500" dirty="0"/>
          </a:p>
        </p:txBody>
      </p:sp>
      <p:sp>
        <p:nvSpPr>
          <p:cNvPr id="26" name="Shape 24"/>
          <p:cNvSpPr/>
          <p:nvPr/>
        </p:nvSpPr>
        <p:spPr>
          <a:xfrm>
            <a:off x="548640" y="4142232"/>
            <a:ext cx="2240280" cy="777240"/>
          </a:xfrm>
          <a:prstGeom prst="roundRect">
            <a:avLst>
              <a:gd name="adj" fmla="val 4706"/>
            </a:avLst>
          </a:prstGeom>
          <a:solidFill>
            <a:srgbClr val="2A3778"/>
          </a:solidFill>
          <a:ln/>
        </p:spPr>
      </p:sp>
      <p:sp>
        <p:nvSpPr>
          <p:cNvPr id="27" name="Text 25"/>
          <p:cNvSpPr txBox="1"/>
          <p:nvPr/>
        </p:nvSpPr>
        <p:spPr>
          <a:xfrm>
            <a:off x="658368" y="4142232"/>
            <a:ext cx="2057400" cy="77724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Times New Roman" pitchFamily="34" charset="0"/>
                <a:ea typeface="Times New Roman" pitchFamily="34" charset="-122"/>
                <a:cs typeface="Times New Roman" pitchFamily="34" charset="-120"/>
              </a:rPr>
              <a:t>Kuchli tomoni</a:t>
            </a:r>
            <a:endParaRPr lang="en-US" sz="1500" dirty="0"/>
          </a:p>
        </p:txBody>
      </p:sp>
      <p:sp>
        <p:nvSpPr>
          <p:cNvPr id="28" name="Shape 26"/>
          <p:cNvSpPr/>
          <p:nvPr/>
        </p:nvSpPr>
        <p:spPr>
          <a:xfrm>
            <a:off x="2834640" y="4142232"/>
            <a:ext cx="2926080" cy="777240"/>
          </a:xfrm>
          <a:prstGeom prst="roundRect">
            <a:avLst>
              <a:gd name="adj" fmla="val 4706"/>
            </a:avLst>
          </a:prstGeom>
          <a:solidFill>
            <a:srgbClr val="EEF2FB"/>
          </a:solidFill>
          <a:ln/>
        </p:spPr>
      </p:sp>
      <p:sp>
        <p:nvSpPr>
          <p:cNvPr id="29" name="Text 27"/>
          <p:cNvSpPr txBox="1"/>
          <p:nvPr/>
        </p:nvSpPr>
        <p:spPr>
          <a:xfrm>
            <a:off x="2944368" y="4142232"/>
            <a:ext cx="2743200" cy="777240"/>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Soddalik, tushunarli</a:t>
            </a:r>
            <a:endParaRPr lang="en-US" sz="1500" dirty="0"/>
          </a:p>
        </p:txBody>
      </p:sp>
      <p:sp>
        <p:nvSpPr>
          <p:cNvPr id="30" name="Shape 28"/>
          <p:cNvSpPr/>
          <p:nvPr/>
        </p:nvSpPr>
        <p:spPr>
          <a:xfrm>
            <a:off x="5806440" y="4142232"/>
            <a:ext cx="2926080" cy="777240"/>
          </a:xfrm>
          <a:prstGeom prst="roundRect">
            <a:avLst>
              <a:gd name="adj" fmla="val 4706"/>
            </a:avLst>
          </a:prstGeom>
          <a:solidFill>
            <a:srgbClr val="EEF2FB"/>
          </a:solidFill>
          <a:ln/>
        </p:spPr>
      </p:sp>
      <p:sp>
        <p:nvSpPr>
          <p:cNvPr id="31" name="Text 29"/>
          <p:cNvSpPr txBox="1"/>
          <p:nvPr/>
        </p:nvSpPr>
        <p:spPr>
          <a:xfrm>
            <a:off x="5916168" y="4142232"/>
            <a:ext cx="2743200" cy="777240"/>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Istalgan DAC ni yoza oladi</a:t>
            </a:r>
            <a:endParaRPr lang="en-US" sz="1500" dirty="0"/>
          </a:p>
        </p:txBody>
      </p:sp>
      <p:sp>
        <p:nvSpPr>
          <p:cNvPr id="32" name="Shape 30"/>
          <p:cNvSpPr/>
          <p:nvPr/>
        </p:nvSpPr>
        <p:spPr>
          <a:xfrm>
            <a:off x="8778240" y="4142232"/>
            <a:ext cx="2788920" cy="777240"/>
          </a:xfrm>
          <a:prstGeom prst="roundRect">
            <a:avLst>
              <a:gd name="adj" fmla="val 4706"/>
            </a:avLst>
          </a:prstGeom>
          <a:solidFill>
            <a:srgbClr val="EEF2FB"/>
          </a:solidFill>
          <a:ln/>
        </p:spPr>
      </p:sp>
      <p:sp>
        <p:nvSpPr>
          <p:cNvPr id="33" name="Text 31"/>
          <p:cNvSpPr txBox="1"/>
          <p:nvPr/>
        </p:nvSpPr>
        <p:spPr>
          <a:xfrm>
            <a:off x="8887968" y="4142232"/>
            <a:ext cx="2606040" cy="777240"/>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Tahlil qilish mumkin</a:t>
            </a:r>
            <a:endParaRPr lang="en-US" sz="1500" dirty="0"/>
          </a:p>
        </p:txBody>
      </p:sp>
      <p:sp>
        <p:nvSpPr>
          <p:cNvPr id="34" name="Shape 32"/>
          <p:cNvSpPr/>
          <p:nvPr/>
        </p:nvSpPr>
        <p:spPr>
          <a:xfrm>
            <a:off x="548640" y="5010912"/>
            <a:ext cx="2240280" cy="777240"/>
          </a:xfrm>
          <a:prstGeom prst="roundRect">
            <a:avLst>
              <a:gd name="adj" fmla="val 4706"/>
            </a:avLst>
          </a:prstGeom>
          <a:solidFill>
            <a:srgbClr val="2A3778"/>
          </a:solidFill>
          <a:ln/>
        </p:spPr>
      </p:sp>
      <p:sp>
        <p:nvSpPr>
          <p:cNvPr id="35" name="Text 33"/>
          <p:cNvSpPr txBox="1"/>
          <p:nvPr/>
        </p:nvSpPr>
        <p:spPr>
          <a:xfrm>
            <a:off x="658368" y="5010912"/>
            <a:ext cx="2057400" cy="77724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Times New Roman" pitchFamily="34" charset="0"/>
                <a:ea typeface="Times New Roman" pitchFamily="34" charset="-122"/>
                <a:cs typeface="Times New Roman" pitchFamily="34" charset="-120"/>
              </a:rPr>
              <a:t>Windows'da</a:t>
            </a:r>
            <a:endParaRPr lang="en-US" sz="1500" dirty="0"/>
          </a:p>
        </p:txBody>
      </p:sp>
      <p:sp>
        <p:nvSpPr>
          <p:cNvPr id="36" name="Shape 34"/>
          <p:cNvSpPr/>
          <p:nvPr/>
        </p:nvSpPr>
        <p:spPr>
          <a:xfrm>
            <a:off x="2834640" y="5010912"/>
            <a:ext cx="2926080" cy="777240"/>
          </a:xfrm>
          <a:prstGeom prst="roundRect">
            <a:avLst>
              <a:gd name="adj" fmla="val 4706"/>
            </a:avLst>
          </a:prstGeom>
          <a:solidFill>
            <a:srgbClr val="FFFFFF"/>
          </a:solidFill>
          <a:ln w="12700">
            <a:solidFill>
              <a:srgbClr val="CADCFC"/>
            </a:solidFill>
            <a:prstDash val="solid"/>
          </a:ln>
        </p:spPr>
      </p:sp>
      <p:sp>
        <p:nvSpPr>
          <p:cNvPr id="37" name="Text 35"/>
          <p:cNvSpPr txBox="1"/>
          <p:nvPr/>
        </p:nvSpPr>
        <p:spPr>
          <a:xfrm>
            <a:off x="2944368" y="5010912"/>
            <a:ext cx="2743200" cy="777240"/>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Har bir faylning DACL i — ustun</a:t>
            </a:r>
            <a:endParaRPr lang="en-US" sz="1500" dirty="0"/>
          </a:p>
        </p:txBody>
      </p:sp>
      <p:sp>
        <p:nvSpPr>
          <p:cNvPr id="38" name="Shape 36"/>
          <p:cNvSpPr/>
          <p:nvPr/>
        </p:nvSpPr>
        <p:spPr>
          <a:xfrm>
            <a:off x="5806440" y="5010912"/>
            <a:ext cx="2926080" cy="777240"/>
          </a:xfrm>
          <a:prstGeom prst="roundRect">
            <a:avLst>
              <a:gd name="adj" fmla="val 4706"/>
            </a:avLst>
          </a:prstGeom>
          <a:solidFill>
            <a:srgbClr val="FFFFFF"/>
          </a:solidFill>
          <a:ln w="12700">
            <a:solidFill>
              <a:srgbClr val="CADCFC"/>
            </a:solidFill>
            <a:prstDash val="solid"/>
          </a:ln>
        </p:spPr>
      </p:sp>
      <p:sp>
        <p:nvSpPr>
          <p:cNvPr id="39" name="Text 37"/>
          <p:cNvSpPr txBox="1"/>
          <p:nvPr/>
        </p:nvSpPr>
        <p:spPr>
          <a:xfrm>
            <a:off x="5916168" y="5010912"/>
            <a:ext cx="2743200" cy="777240"/>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icacls buyruqlari — HRU buyruqlari</a:t>
            </a:r>
            <a:endParaRPr lang="en-US" sz="1500" dirty="0"/>
          </a:p>
        </p:txBody>
      </p:sp>
      <p:sp>
        <p:nvSpPr>
          <p:cNvPr id="40" name="Shape 38"/>
          <p:cNvSpPr/>
          <p:nvPr/>
        </p:nvSpPr>
        <p:spPr>
          <a:xfrm>
            <a:off x="8778240" y="5010912"/>
            <a:ext cx="2788920" cy="777240"/>
          </a:xfrm>
          <a:prstGeom prst="roundRect">
            <a:avLst>
              <a:gd name="adj" fmla="val 4706"/>
            </a:avLst>
          </a:prstGeom>
          <a:solidFill>
            <a:srgbClr val="FFFFFF"/>
          </a:solidFill>
          <a:ln w="12700">
            <a:solidFill>
              <a:srgbClr val="CADCFC"/>
            </a:solidFill>
            <a:prstDash val="solid"/>
          </a:ln>
        </p:spPr>
      </p:sp>
      <p:sp>
        <p:nvSpPr>
          <p:cNvPr id="41" name="Text 39"/>
          <p:cNvSpPr txBox="1"/>
          <p:nvPr/>
        </p:nvSpPr>
        <p:spPr>
          <a:xfrm>
            <a:off x="8887968" y="5010912"/>
            <a:ext cx="2606040" cy="777240"/>
          </a:xfrm>
          <a:prstGeom prst="rect">
            <a:avLst/>
          </a:prstGeom>
          <a:noFill/>
          <a:ln/>
        </p:spPr>
        <p:txBody>
          <a:bodyPr wrap="square" lIns="0" tIns="0" rIns="0" bIns="0" rtlCol="0" anchor="ctr"/>
          <a:lstStyle/>
          <a:p>
            <a:pPr algn="ctr" indent="0" marL="0">
              <a:lnSpc>
                <a:spcPct val="100000"/>
              </a:lnSpc>
              <a:buNone/>
            </a:pPr>
            <a:r>
              <a:rPr lang="en-US" sz="1500" dirty="0">
                <a:solidFill>
                  <a:srgbClr val="1B1B2A"/>
                </a:solidFill>
                <a:latin typeface="Times New Roman" pitchFamily="34" charset="0"/>
                <a:ea typeface="Times New Roman" pitchFamily="34" charset="-122"/>
                <a:cs typeface="Times New Roman" pitchFamily="34" charset="-120"/>
              </a:rPr>
              <a:t>WRITE_DAC = g, egalikni olish = t</a:t>
            </a:r>
            <a:endParaRPr lang="en-US" sz="1500" dirty="0"/>
          </a:p>
        </p:txBody>
      </p:sp>
      <p:sp>
        <p:nvSpPr>
          <p:cNvPr id="42" name="Text 40"/>
          <p:cNvSpPr txBox="1"/>
          <p:nvPr/>
        </p:nvSpPr>
        <p:spPr>
          <a:xfrm>
            <a:off x="548640" y="5943600"/>
            <a:ext cx="11064240" cy="411480"/>
          </a:xfrm>
          <a:prstGeom prst="rect">
            <a:avLst/>
          </a:prstGeom>
          <a:noFill/>
          <a:ln/>
        </p:spPr>
        <p:txBody>
          <a:bodyPr wrap="square" lIns="0" tIns="0" rIns="0" bIns="0" rtlCol="0" anchor="t"/>
          <a:lstStyle/>
          <a:p>
            <a:pPr algn="ctr" indent="0" marL="0">
              <a:lnSpc>
                <a:spcPct val="100000"/>
              </a:lnSpc>
              <a:buNone/>
            </a:pPr>
            <a:r>
              <a:rPr lang="en-US" sz="1600" dirty="0">
                <a:solidFill>
                  <a:srgbClr val="1E2761"/>
                </a:solidFill>
                <a:latin typeface="Times New Roman" pitchFamily="34" charset="0"/>
                <a:ea typeface="Times New Roman" pitchFamily="34" charset="-122"/>
                <a:cs typeface="Times New Roman" pitchFamily="34" charset="-120"/>
              </a:rPr>
              <a:t>Qoida: model qanchalik ifodali bo'lsa, uning xavfsizligini isbotlash shunchalik qiyin.</a:t>
            </a:r>
            <a:endParaRPr lang="en-US" sz="1600" dirty="0"/>
          </a:p>
        </p:txBody>
      </p:sp>
      <p:sp>
        <p:nvSpPr>
          <p:cNvPr id="43" name="Text 41"/>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44" name="Text 42"/>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371600"/>
            <a:ext cx="4114800" cy="4114800"/>
          </a:xfrm>
          <a:prstGeom prst="ellipse">
            <a:avLst/>
          </a:prstGeom>
          <a:solidFill>
            <a:srgbClr val="2A3778"/>
          </a:solidFill>
          <a:ln/>
        </p:spPr>
      </p:sp>
      <p:sp>
        <p:nvSpPr>
          <p:cNvPr id="3" name="Text 1"/>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9FB0E0"/>
                </a:solidFill>
                <a:latin typeface="Times New Roman" pitchFamily="34" charset="0"/>
                <a:ea typeface="Times New Roman" pitchFamily="34" charset="-122"/>
                <a:cs typeface="Times New Roman" pitchFamily="34" charset="-120"/>
              </a:rPr>
              <a:t>XULOSA</a:t>
            </a:r>
            <a:endParaRPr lang="en-US" sz="1600" dirty="0"/>
          </a:p>
        </p:txBody>
      </p:sp>
      <p:sp>
        <p:nvSpPr>
          <p:cNvPr id="4" name="Text 2"/>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FFFFFF"/>
                </a:solidFill>
                <a:latin typeface="Times New Roman" pitchFamily="34" charset="0"/>
                <a:ea typeface="Times New Roman" pitchFamily="34" charset="-122"/>
                <a:cs typeface="Times New Roman" pitchFamily="34" charset="-120"/>
              </a:rPr>
              <a:t>Bugungi darsning besh asosiy xulosasi</a:t>
            </a:r>
            <a:endParaRPr lang="en-US" sz="3600" dirty="0"/>
          </a:p>
        </p:txBody>
      </p:sp>
      <p:sp>
        <p:nvSpPr>
          <p:cNvPr id="5" name="Shape 3"/>
          <p:cNvSpPr/>
          <p:nvPr/>
        </p:nvSpPr>
        <p:spPr>
          <a:xfrm>
            <a:off x="548640" y="1856232"/>
            <a:ext cx="548640" cy="548640"/>
          </a:xfrm>
          <a:prstGeom prst="roundRect">
            <a:avLst>
              <a:gd name="adj" fmla="val 13333"/>
            </a:avLst>
          </a:prstGeom>
          <a:solidFill>
            <a:srgbClr val="2A3778"/>
          </a:solidFill>
          <a:ln/>
        </p:spPr>
      </p:sp>
      <p:sp>
        <p:nvSpPr>
          <p:cNvPr id="6" name="Text 4"/>
          <p:cNvSpPr txBox="1"/>
          <p:nvPr/>
        </p:nvSpPr>
        <p:spPr>
          <a:xfrm>
            <a:off x="548640" y="185623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1</a:t>
            </a:r>
            <a:endParaRPr lang="en-US" sz="2000" dirty="0"/>
          </a:p>
        </p:txBody>
      </p:sp>
      <p:sp>
        <p:nvSpPr>
          <p:cNvPr id="7" name="Text 5"/>
          <p:cNvSpPr txBox="1"/>
          <p:nvPr/>
        </p:nvSpPr>
        <p:spPr>
          <a:xfrm>
            <a:off x="1325880" y="178308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DAC: obyekt egasi huquqlarni o'z ixtiyori bilan beradi — Windows NTFS ning asosiy modeli.</a:t>
            </a:r>
            <a:endParaRPr lang="en-US" sz="1800" dirty="0"/>
          </a:p>
        </p:txBody>
      </p:sp>
      <p:sp>
        <p:nvSpPr>
          <p:cNvPr id="8" name="Shape 6"/>
          <p:cNvSpPr/>
          <p:nvPr/>
        </p:nvSpPr>
        <p:spPr>
          <a:xfrm>
            <a:off x="548640" y="2679192"/>
            <a:ext cx="548640" cy="548640"/>
          </a:xfrm>
          <a:prstGeom prst="roundRect">
            <a:avLst>
              <a:gd name="adj" fmla="val 13333"/>
            </a:avLst>
          </a:prstGeom>
          <a:solidFill>
            <a:srgbClr val="2A3778"/>
          </a:solidFill>
          <a:ln/>
        </p:spPr>
      </p:sp>
      <p:sp>
        <p:nvSpPr>
          <p:cNvPr id="9" name="Text 7"/>
          <p:cNvSpPr txBox="1"/>
          <p:nvPr/>
        </p:nvSpPr>
        <p:spPr>
          <a:xfrm>
            <a:off x="548640" y="267919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2</a:t>
            </a:r>
            <a:endParaRPr lang="en-US" sz="2000" dirty="0"/>
          </a:p>
        </p:txBody>
      </p:sp>
      <p:sp>
        <p:nvSpPr>
          <p:cNvPr id="10" name="Text 8"/>
          <p:cNvSpPr txBox="1"/>
          <p:nvPr/>
        </p:nvSpPr>
        <p:spPr>
          <a:xfrm>
            <a:off x="1325880" y="260604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Matritsa ustun bo'yicha — ACL (Windows DACL), satr bo'yicha — imkoniyatlar ro'yxati (tokenlar).</a:t>
            </a:r>
            <a:endParaRPr lang="en-US" sz="1800" dirty="0"/>
          </a:p>
        </p:txBody>
      </p:sp>
      <p:sp>
        <p:nvSpPr>
          <p:cNvPr id="11" name="Shape 9"/>
          <p:cNvSpPr/>
          <p:nvPr/>
        </p:nvSpPr>
        <p:spPr>
          <a:xfrm>
            <a:off x="548640" y="3502152"/>
            <a:ext cx="548640" cy="548640"/>
          </a:xfrm>
          <a:prstGeom prst="roundRect">
            <a:avLst>
              <a:gd name="adj" fmla="val 13333"/>
            </a:avLst>
          </a:prstGeom>
          <a:solidFill>
            <a:srgbClr val="2A3778"/>
          </a:solidFill>
          <a:ln/>
        </p:spPr>
      </p:sp>
      <p:sp>
        <p:nvSpPr>
          <p:cNvPr id="12" name="Text 10"/>
          <p:cNvSpPr txBox="1"/>
          <p:nvPr/>
        </p:nvSpPr>
        <p:spPr>
          <a:xfrm>
            <a:off x="548640" y="350215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3</a:t>
            </a:r>
            <a:endParaRPr lang="en-US" sz="2000" dirty="0"/>
          </a:p>
        </p:txBody>
      </p:sp>
      <p:sp>
        <p:nvSpPr>
          <p:cNvPr id="13" name="Text 11"/>
          <p:cNvSpPr txBox="1"/>
          <p:nvPr/>
        </p:nvSpPr>
        <p:spPr>
          <a:xfrm>
            <a:off x="1325880" y="342900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Windows'da egasi doim WRITE_DAC ga ega; egalikni olish — ma'murning maxsus imtiyozi.</a:t>
            </a:r>
            <a:endParaRPr lang="en-US" sz="1800" dirty="0"/>
          </a:p>
        </p:txBody>
      </p:sp>
      <p:sp>
        <p:nvSpPr>
          <p:cNvPr id="14" name="Shape 12"/>
          <p:cNvSpPr/>
          <p:nvPr/>
        </p:nvSpPr>
        <p:spPr>
          <a:xfrm>
            <a:off x="548640" y="4325112"/>
            <a:ext cx="548640" cy="548640"/>
          </a:xfrm>
          <a:prstGeom prst="roundRect">
            <a:avLst>
              <a:gd name="adj" fmla="val 13333"/>
            </a:avLst>
          </a:prstGeom>
          <a:solidFill>
            <a:srgbClr val="2A3778"/>
          </a:solidFill>
          <a:ln/>
        </p:spPr>
      </p:sp>
      <p:sp>
        <p:nvSpPr>
          <p:cNvPr id="15" name="Text 13"/>
          <p:cNvSpPr txBox="1"/>
          <p:nvPr/>
        </p:nvSpPr>
        <p:spPr>
          <a:xfrm>
            <a:off x="548640" y="432511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4</a:t>
            </a:r>
            <a:endParaRPr lang="en-US" sz="2000" dirty="0"/>
          </a:p>
        </p:txBody>
      </p:sp>
      <p:sp>
        <p:nvSpPr>
          <p:cNvPr id="16" name="Text 14"/>
          <p:cNvSpPr txBox="1"/>
          <p:nvPr/>
        </p:nvSpPr>
        <p:spPr>
          <a:xfrm>
            <a:off x="1325880" y="425196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DAC ma'lumot oqimini nazorat qilmaydi — troyan oti muammosi MAC ga olib boradi.</a:t>
            </a:r>
            <a:endParaRPr lang="en-US" sz="1800" dirty="0"/>
          </a:p>
        </p:txBody>
      </p:sp>
      <p:sp>
        <p:nvSpPr>
          <p:cNvPr id="17" name="Shape 15"/>
          <p:cNvSpPr/>
          <p:nvPr/>
        </p:nvSpPr>
        <p:spPr>
          <a:xfrm>
            <a:off x="548640" y="5148072"/>
            <a:ext cx="548640" cy="548640"/>
          </a:xfrm>
          <a:prstGeom prst="roundRect">
            <a:avLst>
              <a:gd name="adj" fmla="val 13333"/>
            </a:avLst>
          </a:prstGeom>
          <a:solidFill>
            <a:srgbClr val="2A3778"/>
          </a:solidFill>
          <a:ln/>
        </p:spPr>
      </p:sp>
      <p:sp>
        <p:nvSpPr>
          <p:cNvPr id="18" name="Text 16"/>
          <p:cNvSpPr txBox="1"/>
          <p:nvPr/>
        </p:nvSpPr>
        <p:spPr>
          <a:xfrm>
            <a:off x="548640" y="5148072"/>
            <a:ext cx="548640" cy="548640"/>
          </a:xfrm>
          <a:prstGeom prst="rect">
            <a:avLst/>
          </a:prstGeom>
          <a:noFill/>
          <a:ln/>
        </p:spPr>
        <p:txBody>
          <a:bodyPr wrap="square" lIns="0" tIns="0" rIns="0" bIns="0" rtlCol="0" anchor="ctr"/>
          <a:lstStyle/>
          <a:p>
            <a:pPr algn="ctr" indent="0" marL="0">
              <a:lnSpc>
                <a:spcPct val="100000"/>
              </a:lnSpc>
              <a:buNone/>
            </a:pPr>
            <a:r>
              <a:rPr lang="en-US" sz="2000" b="1" dirty="0">
                <a:solidFill>
                  <a:srgbClr val="CADCFC"/>
                </a:solidFill>
                <a:latin typeface="Times New Roman" pitchFamily="34" charset="0"/>
                <a:ea typeface="Times New Roman" pitchFamily="34" charset="-122"/>
                <a:cs typeface="Times New Roman" pitchFamily="34" charset="-120"/>
              </a:rPr>
              <a:t>5</a:t>
            </a:r>
            <a:endParaRPr lang="en-US" sz="2000" dirty="0"/>
          </a:p>
        </p:txBody>
      </p:sp>
      <p:sp>
        <p:nvSpPr>
          <p:cNvPr id="19" name="Text 17"/>
          <p:cNvSpPr txBox="1"/>
          <p:nvPr/>
        </p:nvSpPr>
        <p:spPr>
          <a:xfrm>
            <a:off x="1325880" y="5074920"/>
            <a:ext cx="10287000" cy="694944"/>
          </a:xfrm>
          <a:prstGeom prst="rect">
            <a:avLst/>
          </a:prstGeom>
          <a:noFill/>
          <a:ln/>
        </p:spPr>
        <p:txBody>
          <a:bodyPr wrap="square" lIns="0" tIns="0" rIns="0" bIns="0" rtlCol="0" anchor="ctr"/>
          <a:lstStyle/>
          <a:p>
            <a:pPr algn="l" indent="0" marL="0">
              <a:lnSpc>
                <a:spcPct val="100000"/>
              </a:lnSpc>
              <a:buNone/>
            </a:pPr>
            <a:r>
              <a:rPr lang="en-US" sz="1800" dirty="0">
                <a:solidFill>
                  <a:srgbClr val="FFFFFF"/>
                </a:solidFill>
                <a:latin typeface="Times New Roman" pitchFamily="34" charset="0"/>
                <a:ea typeface="Times New Roman" pitchFamily="34" charset="-122"/>
                <a:cs typeface="Times New Roman" pitchFamily="34" charset="-120"/>
              </a:rPr>
              <a:t>HRU da huquq sizib chiqishi umuman hal qilinmaydi; Take-Grant da — chiziqli vaqtda.</a:t>
            </a:r>
            <a:endParaRPr lang="en-US" sz="1800" dirty="0"/>
          </a:p>
        </p:txBody>
      </p:sp>
      <p:sp>
        <p:nvSpPr>
          <p:cNvPr id="20" name="Text 18"/>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FB0E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21" name="Text 19"/>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FB0E0"/>
                </a:solidFill>
                <a:latin typeface="Times New Roman" pitchFamily="34" charset="0"/>
                <a:ea typeface="Times New Roman" pitchFamily="34" charset="-122"/>
                <a:cs typeface="Times New Roman"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DF3E2"/>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D9932B"/>
                </a:solidFill>
                <a:latin typeface="Times New Roman" pitchFamily="34" charset="0"/>
                <a:ea typeface="Times New Roman" pitchFamily="34" charset="-122"/>
                <a:cs typeface="Times New Roman" pitchFamily="34" charset="-120"/>
              </a:rPr>
              <a:t>TEZKOR TEST · 5 DAQIQA</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9A5B00"/>
                </a:solidFill>
                <a:latin typeface="Times New Roman" pitchFamily="34" charset="0"/>
                <a:ea typeface="Times New Roman" pitchFamily="34" charset="-122"/>
                <a:cs typeface="Times New Roman" pitchFamily="34" charset="-120"/>
              </a:rPr>
              <a:t>To'rt savol</a:t>
            </a:r>
            <a:endParaRPr lang="en-US" sz="3600" dirty="0"/>
          </a:p>
        </p:txBody>
      </p:sp>
      <p:sp>
        <p:nvSpPr>
          <p:cNvPr id="4" name="Shape 2"/>
          <p:cNvSpPr/>
          <p:nvPr/>
        </p:nvSpPr>
        <p:spPr>
          <a:xfrm>
            <a:off x="10744200" y="411480"/>
            <a:ext cx="868680" cy="868680"/>
          </a:xfrm>
          <a:prstGeom prst="ellipse">
            <a:avLst/>
          </a:prstGeom>
          <a:solidFill>
            <a:srgbClr val="D9932B"/>
          </a:solidFill>
          <a:ln/>
        </p:spPr>
      </p:sp>
      <p:pic>
        <p:nvPicPr>
          <p:cNvPr id="5" name="Image 0" descr="/home/claude/fob-slides/icons_out/listol_white.png"/>
          <p:cNvPicPr>
            <a:picLocks noChangeAspect="1"/>
          </p:cNvPicPr>
          <p:nvPr/>
        </p:nvPicPr>
        <p:blipFill>
          <a:blip r:embed="rId1"/>
          <a:stretch>
            <a:fillRect/>
          </a:stretch>
        </p:blipFill>
        <p:spPr>
          <a:xfrm>
            <a:off x="10978744" y="646024"/>
            <a:ext cx="399593" cy="399593"/>
          </a:xfrm>
          <a:prstGeom prst="rect">
            <a:avLst/>
          </a:prstGeom>
        </p:spPr>
      </p:pic>
      <p:sp>
        <p:nvSpPr>
          <p:cNvPr id="6" name="Shape 3"/>
          <p:cNvSpPr/>
          <p:nvPr/>
        </p:nvSpPr>
        <p:spPr>
          <a:xfrm>
            <a:off x="548640" y="1783080"/>
            <a:ext cx="5440680" cy="2103120"/>
          </a:xfrm>
          <a:prstGeom prst="roundRect">
            <a:avLst>
              <a:gd name="adj" fmla="val 3913"/>
            </a:avLst>
          </a:prstGeom>
          <a:solidFill>
            <a:srgbClr val="FFFFFF"/>
          </a:solidFill>
          <a:ln/>
        </p:spPr>
      </p:sp>
      <p:sp>
        <p:nvSpPr>
          <p:cNvPr id="7" name="Shape 4"/>
          <p:cNvSpPr/>
          <p:nvPr/>
        </p:nvSpPr>
        <p:spPr>
          <a:xfrm>
            <a:off x="548640" y="1783080"/>
            <a:ext cx="548640" cy="2103120"/>
          </a:xfrm>
          <a:prstGeom prst="roundRect">
            <a:avLst>
              <a:gd name="adj" fmla="val 15000"/>
            </a:avLst>
          </a:prstGeom>
          <a:solidFill>
            <a:srgbClr val="D9932B"/>
          </a:solidFill>
          <a:ln/>
        </p:spPr>
      </p:sp>
      <p:sp>
        <p:nvSpPr>
          <p:cNvPr id="8" name="Text 5"/>
          <p:cNvSpPr txBox="1"/>
          <p:nvPr/>
        </p:nvSpPr>
        <p:spPr>
          <a:xfrm>
            <a:off x="548640" y="1783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1</a:t>
            </a:r>
            <a:endParaRPr lang="en-US" sz="2200" dirty="0"/>
          </a:p>
        </p:txBody>
      </p:sp>
      <p:sp>
        <p:nvSpPr>
          <p:cNvPr id="9" name="Text 6"/>
          <p:cNvSpPr txBox="1"/>
          <p:nvPr/>
        </p:nvSpPr>
        <p:spPr>
          <a:xfrm>
            <a:off x="1280160" y="1892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ACL matritsaning qaysi qismi?</a:t>
            </a:r>
            <a:endParaRPr lang="en-US" sz="1800" dirty="0"/>
          </a:p>
        </p:txBody>
      </p:sp>
      <p:sp>
        <p:nvSpPr>
          <p:cNvPr id="10" name="Text 7"/>
          <p:cNvSpPr txBox="1"/>
          <p:nvPr/>
        </p:nvSpPr>
        <p:spPr>
          <a:xfrm>
            <a:off x="1280160" y="2423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Satr — sub'ekt bo'yicha</a:t>
            </a:r>
            <a:endParaRPr lang="en-US" sz="1600" dirty="0"/>
          </a:p>
        </p:txBody>
      </p:sp>
      <p:sp>
        <p:nvSpPr>
          <p:cNvPr id="11" name="Text 8"/>
          <p:cNvSpPr txBox="1"/>
          <p:nvPr/>
        </p:nvSpPr>
        <p:spPr>
          <a:xfrm>
            <a:off x="1280160" y="2770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Ustun — obyekt bo'yicha</a:t>
            </a:r>
            <a:endParaRPr lang="en-US" sz="1600" dirty="0"/>
          </a:p>
        </p:txBody>
      </p:sp>
      <p:sp>
        <p:nvSpPr>
          <p:cNvPr id="12" name="Text 9"/>
          <p:cNvSpPr txBox="1"/>
          <p:nvPr/>
        </p:nvSpPr>
        <p:spPr>
          <a:xfrm>
            <a:off x="1280160" y="3118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Diagonal</a:t>
            </a:r>
            <a:endParaRPr lang="en-US" sz="1600" dirty="0"/>
          </a:p>
        </p:txBody>
      </p:sp>
      <p:sp>
        <p:nvSpPr>
          <p:cNvPr id="13" name="Text 10"/>
          <p:cNvSpPr txBox="1"/>
          <p:nvPr/>
        </p:nvSpPr>
        <p:spPr>
          <a:xfrm>
            <a:off x="1280160" y="3465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Butun matritsa</a:t>
            </a:r>
            <a:endParaRPr lang="en-US" sz="1600" dirty="0"/>
          </a:p>
        </p:txBody>
      </p:sp>
      <p:sp>
        <p:nvSpPr>
          <p:cNvPr id="14" name="Shape 11"/>
          <p:cNvSpPr/>
          <p:nvPr/>
        </p:nvSpPr>
        <p:spPr>
          <a:xfrm>
            <a:off x="6172200" y="1783080"/>
            <a:ext cx="5440680" cy="2103120"/>
          </a:xfrm>
          <a:prstGeom prst="roundRect">
            <a:avLst>
              <a:gd name="adj" fmla="val 3913"/>
            </a:avLst>
          </a:prstGeom>
          <a:solidFill>
            <a:srgbClr val="FFFFFF"/>
          </a:solidFill>
          <a:ln/>
        </p:spPr>
      </p:sp>
      <p:sp>
        <p:nvSpPr>
          <p:cNvPr id="15" name="Shape 12"/>
          <p:cNvSpPr/>
          <p:nvPr/>
        </p:nvSpPr>
        <p:spPr>
          <a:xfrm>
            <a:off x="6172200" y="1783080"/>
            <a:ext cx="548640" cy="2103120"/>
          </a:xfrm>
          <a:prstGeom prst="roundRect">
            <a:avLst>
              <a:gd name="adj" fmla="val 15000"/>
            </a:avLst>
          </a:prstGeom>
          <a:solidFill>
            <a:srgbClr val="D9932B"/>
          </a:solidFill>
          <a:ln/>
        </p:spPr>
      </p:sp>
      <p:sp>
        <p:nvSpPr>
          <p:cNvPr id="16" name="Text 13"/>
          <p:cNvSpPr txBox="1"/>
          <p:nvPr/>
        </p:nvSpPr>
        <p:spPr>
          <a:xfrm>
            <a:off x="6172200" y="1783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2</a:t>
            </a:r>
            <a:endParaRPr lang="en-US" sz="2200" dirty="0"/>
          </a:p>
        </p:txBody>
      </p:sp>
      <p:sp>
        <p:nvSpPr>
          <p:cNvPr id="17" name="Text 14"/>
          <p:cNvSpPr txBox="1"/>
          <p:nvPr/>
        </p:nvSpPr>
        <p:spPr>
          <a:xfrm>
            <a:off x="6903720" y="1892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Fayl egasi doim qaysi huquqqa ega?</a:t>
            </a:r>
            <a:endParaRPr lang="en-US" sz="1800" dirty="0"/>
          </a:p>
        </p:txBody>
      </p:sp>
      <p:sp>
        <p:nvSpPr>
          <p:cNvPr id="18" name="Text 15"/>
          <p:cNvSpPr txBox="1"/>
          <p:nvPr/>
        </p:nvSpPr>
        <p:spPr>
          <a:xfrm>
            <a:off x="6903720" y="2423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SeDebugPrivilege</a:t>
            </a:r>
            <a:endParaRPr lang="en-US" sz="1600" dirty="0"/>
          </a:p>
        </p:txBody>
      </p:sp>
      <p:sp>
        <p:nvSpPr>
          <p:cNvPr id="19" name="Text 16"/>
          <p:cNvSpPr txBox="1"/>
          <p:nvPr/>
        </p:nvSpPr>
        <p:spPr>
          <a:xfrm>
            <a:off x="6903720" y="2770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WRITE_DAC</a:t>
            </a:r>
            <a:endParaRPr lang="en-US" sz="1600" dirty="0"/>
          </a:p>
        </p:txBody>
      </p:sp>
      <p:sp>
        <p:nvSpPr>
          <p:cNvPr id="20" name="Text 17"/>
          <p:cNvSpPr txBox="1"/>
          <p:nvPr/>
        </p:nvSpPr>
        <p:spPr>
          <a:xfrm>
            <a:off x="6903720" y="3118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Domain Admins</a:t>
            </a:r>
            <a:endParaRPr lang="en-US" sz="1600" dirty="0"/>
          </a:p>
        </p:txBody>
      </p:sp>
      <p:sp>
        <p:nvSpPr>
          <p:cNvPr id="21" name="Text 18"/>
          <p:cNvSpPr txBox="1"/>
          <p:nvPr/>
        </p:nvSpPr>
        <p:spPr>
          <a:xfrm>
            <a:off x="6903720" y="3465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FullControl</a:t>
            </a:r>
            <a:endParaRPr lang="en-US" sz="1600" dirty="0"/>
          </a:p>
        </p:txBody>
      </p:sp>
      <p:sp>
        <p:nvSpPr>
          <p:cNvPr id="22" name="Shape 19"/>
          <p:cNvSpPr/>
          <p:nvPr/>
        </p:nvSpPr>
        <p:spPr>
          <a:xfrm>
            <a:off x="548640" y="4069080"/>
            <a:ext cx="5440680" cy="2103120"/>
          </a:xfrm>
          <a:prstGeom prst="roundRect">
            <a:avLst>
              <a:gd name="adj" fmla="val 3913"/>
            </a:avLst>
          </a:prstGeom>
          <a:solidFill>
            <a:srgbClr val="FFFFFF"/>
          </a:solidFill>
          <a:ln/>
        </p:spPr>
      </p:sp>
      <p:sp>
        <p:nvSpPr>
          <p:cNvPr id="23" name="Shape 20"/>
          <p:cNvSpPr/>
          <p:nvPr/>
        </p:nvSpPr>
        <p:spPr>
          <a:xfrm>
            <a:off x="548640" y="4069080"/>
            <a:ext cx="548640" cy="2103120"/>
          </a:xfrm>
          <a:prstGeom prst="roundRect">
            <a:avLst>
              <a:gd name="adj" fmla="val 15000"/>
            </a:avLst>
          </a:prstGeom>
          <a:solidFill>
            <a:srgbClr val="D9932B"/>
          </a:solidFill>
          <a:ln/>
        </p:spPr>
      </p:sp>
      <p:sp>
        <p:nvSpPr>
          <p:cNvPr id="24" name="Text 21"/>
          <p:cNvSpPr txBox="1"/>
          <p:nvPr/>
        </p:nvSpPr>
        <p:spPr>
          <a:xfrm>
            <a:off x="548640" y="4069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3</a:t>
            </a:r>
            <a:endParaRPr lang="en-US" sz="2200" dirty="0"/>
          </a:p>
        </p:txBody>
      </p:sp>
      <p:sp>
        <p:nvSpPr>
          <p:cNvPr id="25" name="Text 22"/>
          <p:cNvSpPr txBox="1"/>
          <p:nvPr/>
        </p:nvSpPr>
        <p:spPr>
          <a:xfrm>
            <a:off x="1280160" y="4178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HRU da xavfsizlik savoli umumiy holda...</a:t>
            </a:r>
            <a:endParaRPr lang="en-US" sz="1800" dirty="0"/>
          </a:p>
        </p:txBody>
      </p:sp>
      <p:sp>
        <p:nvSpPr>
          <p:cNvPr id="26" name="Text 23"/>
          <p:cNvSpPr txBox="1"/>
          <p:nvPr/>
        </p:nvSpPr>
        <p:spPr>
          <a:xfrm>
            <a:off x="1280160" y="4709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Chiziqli vaqtda hal qilinadi</a:t>
            </a:r>
            <a:endParaRPr lang="en-US" sz="1600" dirty="0"/>
          </a:p>
        </p:txBody>
      </p:sp>
      <p:sp>
        <p:nvSpPr>
          <p:cNvPr id="27" name="Text 24"/>
          <p:cNvSpPr txBox="1"/>
          <p:nvPr/>
        </p:nvSpPr>
        <p:spPr>
          <a:xfrm>
            <a:off x="1280160" y="5056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Hal qilib bo'lmaydi</a:t>
            </a:r>
            <a:endParaRPr lang="en-US" sz="1600" dirty="0"/>
          </a:p>
        </p:txBody>
      </p:sp>
      <p:sp>
        <p:nvSpPr>
          <p:cNvPr id="28" name="Text 25"/>
          <p:cNvSpPr txBox="1"/>
          <p:nvPr/>
        </p:nvSpPr>
        <p:spPr>
          <a:xfrm>
            <a:off x="1280160" y="5404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Doim «ha»</a:t>
            </a:r>
            <a:endParaRPr lang="en-US" sz="1600" dirty="0"/>
          </a:p>
        </p:txBody>
      </p:sp>
      <p:sp>
        <p:nvSpPr>
          <p:cNvPr id="29" name="Text 26"/>
          <p:cNvSpPr txBox="1"/>
          <p:nvPr/>
        </p:nvSpPr>
        <p:spPr>
          <a:xfrm>
            <a:off x="1280160" y="5751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Faqat Windows'da hal qilinadi</a:t>
            </a:r>
            <a:endParaRPr lang="en-US" sz="1600" dirty="0"/>
          </a:p>
        </p:txBody>
      </p:sp>
      <p:sp>
        <p:nvSpPr>
          <p:cNvPr id="30" name="Shape 27"/>
          <p:cNvSpPr/>
          <p:nvPr/>
        </p:nvSpPr>
        <p:spPr>
          <a:xfrm>
            <a:off x="6172200" y="4069080"/>
            <a:ext cx="5440680" cy="2103120"/>
          </a:xfrm>
          <a:prstGeom prst="roundRect">
            <a:avLst>
              <a:gd name="adj" fmla="val 3913"/>
            </a:avLst>
          </a:prstGeom>
          <a:solidFill>
            <a:srgbClr val="FFFFFF"/>
          </a:solidFill>
          <a:ln/>
        </p:spPr>
      </p:sp>
      <p:sp>
        <p:nvSpPr>
          <p:cNvPr id="31" name="Shape 28"/>
          <p:cNvSpPr/>
          <p:nvPr/>
        </p:nvSpPr>
        <p:spPr>
          <a:xfrm>
            <a:off x="6172200" y="4069080"/>
            <a:ext cx="548640" cy="2103120"/>
          </a:xfrm>
          <a:prstGeom prst="roundRect">
            <a:avLst>
              <a:gd name="adj" fmla="val 15000"/>
            </a:avLst>
          </a:prstGeom>
          <a:solidFill>
            <a:srgbClr val="D9932B"/>
          </a:solidFill>
          <a:ln/>
        </p:spPr>
      </p:sp>
      <p:sp>
        <p:nvSpPr>
          <p:cNvPr id="32" name="Text 29"/>
          <p:cNvSpPr txBox="1"/>
          <p:nvPr/>
        </p:nvSpPr>
        <p:spPr>
          <a:xfrm>
            <a:off x="6172200" y="4069080"/>
            <a:ext cx="548640" cy="2103120"/>
          </a:xfrm>
          <a:prstGeom prst="rect">
            <a:avLst/>
          </a:prstGeom>
          <a:noFill/>
          <a:ln/>
        </p:spPr>
        <p:txBody>
          <a:bodyPr wrap="square" lIns="50800" tIns="50800" rIns="50800" bIns="50800" rtlCol="0" anchor="ctr"/>
          <a:lstStyle/>
          <a:p>
            <a:pPr algn="ctr" indent="0" marL="0">
              <a:lnSpc>
                <a:spcPct val="100000"/>
              </a:lnSpc>
              <a:buNone/>
            </a:pPr>
            <a:r>
              <a:rPr lang="en-US" sz="2200" b="1" dirty="0">
                <a:solidFill>
                  <a:srgbClr val="FFFFFF"/>
                </a:solidFill>
                <a:latin typeface="Times New Roman" pitchFamily="34" charset="0"/>
                <a:ea typeface="Times New Roman" pitchFamily="34" charset="-122"/>
                <a:cs typeface="Times New Roman" pitchFamily="34" charset="-120"/>
              </a:rPr>
              <a:t>4</a:t>
            </a:r>
            <a:endParaRPr lang="en-US" sz="2200" dirty="0"/>
          </a:p>
        </p:txBody>
      </p:sp>
      <p:sp>
        <p:nvSpPr>
          <p:cNvPr id="33" name="Text 30"/>
          <p:cNvSpPr txBox="1"/>
          <p:nvPr/>
        </p:nvSpPr>
        <p:spPr>
          <a:xfrm>
            <a:off x="6903720" y="4178808"/>
            <a:ext cx="4526280" cy="457200"/>
          </a:xfrm>
          <a:prstGeom prst="rect">
            <a:avLst/>
          </a:prstGeom>
          <a:noFill/>
          <a:ln/>
        </p:spPr>
        <p:txBody>
          <a:bodyPr wrap="square" lIns="0" tIns="0" rIns="0" bIns="0" rtlCol="0" anchor="t"/>
          <a:lstStyle/>
          <a:p>
            <a:pPr algn="l" indent="0" marL="0">
              <a:lnSpc>
                <a:spcPct val="100000"/>
              </a:lnSpc>
              <a:buNone/>
            </a:pPr>
            <a:r>
              <a:rPr lang="en-US" sz="1800" b="1" dirty="0">
                <a:solidFill>
                  <a:srgbClr val="1B1B2A"/>
                </a:solidFill>
                <a:latin typeface="Times New Roman" pitchFamily="34" charset="0"/>
                <a:ea typeface="Times New Roman" pitchFamily="34" charset="-122"/>
                <a:cs typeface="Times New Roman" pitchFamily="34" charset="-120"/>
              </a:rPr>
              <a:t>Take-Grant da «take» qoidasi uchun kerak:</a:t>
            </a:r>
            <a:endParaRPr lang="en-US" sz="1800" dirty="0"/>
          </a:p>
        </p:txBody>
      </p:sp>
      <p:sp>
        <p:nvSpPr>
          <p:cNvPr id="34" name="Text 31"/>
          <p:cNvSpPr txBox="1"/>
          <p:nvPr/>
        </p:nvSpPr>
        <p:spPr>
          <a:xfrm>
            <a:off x="6903720" y="4709160"/>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A) x → y qirrada g</a:t>
            </a:r>
            <a:endParaRPr lang="en-US" sz="1600" dirty="0"/>
          </a:p>
        </p:txBody>
      </p:sp>
      <p:sp>
        <p:nvSpPr>
          <p:cNvPr id="35" name="Text 32"/>
          <p:cNvSpPr txBox="1"/>
          <p:nvPr/>
        </p:nvSpPr>
        <p:spPr>
          <a:xfrm>
            <a:off x="6903720" y="5056632"/>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B) x → y qirrada t</a:t>
            </a:r>
            <a:endParaRPr lang="en-US" sz="1600" dirty="0"/>
          </a:p>
        </p:txBody>
      </p:sp>
      <p:sp>
        <p:nvSpPr>
          <p:cNvPr id="36" name="Text 33"/>
          <p:cNvSpPr txBox="1"/>
          <p:nvPr/>
        </p:nvSpPr>
        <p:spPr>
          <a:xfrm>
            <a:off x="6903720" y="5404104"/>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C) x → y qirrada r</a:t>
            </a:r>
            <a:endParaRPr lang="en-US" sz="1600" dirty="0"/>
          </a:p>
        </p:txBody>
      </p:sp>
      <p:sp>
        <p:nvSpPr>
          <p:cNvPr id="37" name="Text 34"/>
          <p:cNvSpPr txBox="1"/>
          <p:nvPr/>
        </p:nvSpPr>
        <p:spPr>
          <a:xfrm>
            <a:off x="6903720" y="5751576"/>
            <a:ext cx="4526280" cy="329184"/>
          </a:xfrm>
          <a:prstGeom prst="rect">
            <a:avLst/>
          </a:prstGeom>
          <a:noFill/>
          <a:ln/>
        </p:spPr>
        <p:txBody>
          <a:bodyPr wrap="square" lIns="0" tIns="0" rIns="0" bIns="0" rtlCol="0" anchor="t"/>
          <a:lstStyle/>
          <a:p>
            <a:pPr algn="l" indent="0" marL="0">
              <a:lnSpc>
                <a:spcPct val="100000"/>
              </a:lnSpc>
              <a:buNone/>
            </a:pPr>
            <a:r>
              <a:rPr lang="en-US" sz="1600" dirty="0">
                <a:solidFill>
                  <a:srgbClr val="5B6270"/>
                </a:solidFill>
                <a:latin typeface="Times New Roman" pitchFamily="34" charset="0"/>
                <a:ea typeface="Times New Roman" pitchFamily="34" charset="-122"/>
                <a:cs typeface="Times New Roman" pitchFamily="34" charset="-120"/>
              </a:rPr>
              <a:t>D) y → x qirrada w</a:t>
            </a:r>
            <a:endParaRPr lang="en-US" sz="1600" dirty="0"/>
          </a:p>
        </p:txBody>
      </p:sp>
      <p:sp>
        <p:nvSpPr>
          <p:cNvPr id="38" name="Text 35"/>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9A5B0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39" name="Text 36"/>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9A5B00"/>
                </a:solidFill>
                <a:latin typeface="Times New Roman" pitchFamily="34" charset="0"/>
                <a:ea typeface="Times New Roman" pitchFamily="34" charset="-122"/>
                <a:cs typeface="Times New Roman"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0058400" cy="365760"/>
          </a:xfrm>
          <a:prstGeom prst="rect">
            <a:avLst/>
          </a:prstGeom>
          <a:noFill/>
          <a:ln/>
        </p:spPr>
        <p:txBody>
          <a:bodyPr wrap="square" lIns="0" tIns="0" rIns="0" bIns="0" rtlCol="0" anchor="ctr"/>
          <a:lstStyle/>
          <a:p>
            <a:pPr indent="0" marL="0">
              <a:buNone/>
            </a:pPr>
            <a:r>
              <a:rPr lang="en-US" sz="1600" b="1" spc="220" kern="0" dirty="0">
                <a:solidFill>
                  <a:srgbClr val="5B6270"/>
                </a:solidFill>
                <a:latin typeface="Times New Roman" pitchFamily="34" charset="0"/>
                <a:ea typeface="Times New Roman" pitchFamily="34" charset="-122"/>
                <a:cs typeface="Times New Roman" pitchFamily="34" charset="-120"/>
              </a:rPr>
              <a:t>MUSTAQIL ISH</a:t>
            </a:r>
            <a:endParaRPr lang="en-US" sz="1600" dirty="0"/>
          </a:p>
        </p:txBody>
      </p:sp>
      <p:sp>
        <p:nvSpPr>
          <p:cNvPr id="3" name="Text 1"/>
          <p:cNvSpPr txBox="1"/>
          <p:nvPr/>
        </p:nvSpPr>
        <p:spPr>
          <a:xfrm>
            <a:off x="548640" y="731520"/>
            <a:ext cx="10058400" cy="777240"/>
          </a:xfrm>
          <a:prstGeom prst="rect">
            <a:avLst/>
          </a:prstGeom>
          <a:noFill/>
          <a:ln/>
        </p:spPr>
        <p:txBody>
          <a:bodyPr wrap="square" lIns="0" tIns="0" rIns="0" bIns="0" rtlCol="0" anchor="t"/>
          <a:lstStyle/>
          <a:p>
            <a:pPr indent="0" marL="0">
              <a:lnSpc>
                <a:spcPct val="95000"/>
              </a:lnSpc>
              <a:buNone/>
            </a:pPr>
            <a:r>
              <a:rPr lang="en-US" sz="3600" b="1" dirty="0">
                <a:solidFill>
                  <a:srgbClr val="1E2761"/>
                </a:solidFill>
                <a:latin typeface="Times New Roman" pitchFamily="34" charset="0"/>
                <a:ea typeface="Times New Roman" pitchFamily="34" charset="-122"/>
                <a:cs typeface="Times New Roman" pitchFamily="34" charset="-120"/>
              </a:rPr>
              <a:t>Uyga vazifa, keyingi mavzu va manbalar</a:t>
            </a:r>
            <a:endParaRPr lang="en-US" sz="3600" dirty="0"/>
          </a:p>
        </p:txBody>
      </p:sp>
      <p:sp>
        <p:nvSpPr>
          <p:cNvPr id="4" name="Shape 2"/>
          <p:cNvSpPr/>
          <p:nvPr/>
        </p:nvSpPr>
        <p:spPr>
          <a:xfrm>
            <a:off x="548640" y="1783080"/>
            <a:ext cx="6309360" cy="877824"/>
          </a:xfrm>
          <a:prstGeom prst="roundRect">
            <a:avLst>
              <a:gd name="adj" fmla="val 9375"/>
            </a:avLst>
          </a:prstGeom>
          <a:solidFill>
            <a:srgbClr val="EEF2FB"/>
          </a:solidFill>
          <a:ln/>
        </p:spPr>
      </p:sp>
      <p:sp>
        <p:nvSpPr>
          <p:cNvPr id="5" name="Shape 3"/>
          <p:cNvSpPr/>
          <p:nvPr/>
        </p:nvSpPr>
        <p:spPr>
          <a:xfrm>
            <a:off x="731520" y="1938528"/>
            <a:ext cx="566928" cy="566928"/>
          </a:xfrm>
          <a:prstGeom prst="ellipse">
            <a:avLst/>
          </a:prstGeom>
          <a:solidFill>
            <a:srgbClr val="1E2761"/>
          </a:solidFill>
          <a:ln/>
        </p:spPr>
      </p:sp>
      <p:pic>
        <p:nvPicPr>
          <p:cNvPr id="6" name="Image 0" descr="/home/claude/fob-slides/icons_out/terminal_white.png"/>
          <p:cNvPicPr>
            <a:picLocks noChangeAspect="1"/>
          </p:cNvPicPr>
          <p:nvPr/>
        </p:nvPicPr>
        <p:blipFill>
          <a:blip r:embed="rId1"/>
          <a:stretch>
            <a:fillRect/>
          </a:stretch>
        </p:blipFill>
        <p:spPr>
          <a:xfrm>
            <a:off x="859079" y="2066087"/>
            <a:ext cx="311810" cy="311810"/>
          </a:xfrm>
          <a:prstGeom prst="rect">
            <a:avLst/>
          </a:prstGeom>
        </p:spPr>
      </p:pic>
      <p:sp>
        <p:nvSpPr>
          <p:cNvPr id="7" name="Text 4"/>
          <p:cNvSpPr txBox="1"/>
          <p:nvPr/>
        </p:nvSpPr>
        <p:spPr>
          <a:xfrm>
            <a:off x="1463040" y="1819656"/>
            <a:ext cx="5303520" cy="365760"/>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Windows'da</a:t>
            </a:r>
            <a:endParaRPr lang="en-US" sz="1700" dirty="0"/>
          </a:p>
        </p:txBody>
      </p:sp>
      <p:sp>
        <p:nvSpPr>
          <p:cNvPr id="8" name="Text 5"/>
          <p:cNvSpPr txBox="1"/>
          <p:nvPr/>
        </p:nvSpPr>
        <p:spPr>
          <a:xfrm>
            <a:off x="1463040" y="2167128"/>
            <a:ext cx="5303520" cy="475488"/>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O'z kompyuteringizdagi 3 ta papkaning icacls natijasini yozib, har bir ACE ni izohlang.</a:t>
            </a:r>
            <a:endParaRPr lang="en-US" sz="1400" dirty="0"/>
          </a:p>
        </p:txBody>
      </p:sp>
      <p:sp>
        <p:nvSpPr>
          <p:cNvPr id="9" name="Shape 6"/>
          <p:cNvSpPr/>
          <p:nvPr/>
        </p:nvSpPr>
        <p:spPr>
          <a:xfrm>
            <a:off x="548640" y="2770632"/>
            <a:ext cx="6309360" cy="877824"/>
          </a:xfrm>
          <a:prstGeom prst="roundRect">
            <a:avLst>
              <a:gd name="adj" fmla="val 9375"/>
            </a:avLst>
          </a:prstGeom>
          <a:solidFill>
            <a:srgbClr val="EEF2FB"/>
          </a:solidFill>
          <a:ln/>
        </p:spPr>
      </p:sp>
      <p:sp>
        <p:nvSpPr>
          <p:cNvPr id="10" name="Shape 7"/>
          <p:cNvSpPr/>
          <p:nvPr/>
        </p:nvSpPr>
        <p:spPr>
          <a:xfrm>
            <a:off x="731520" y="2926080"/>
            <a:ext cx="566928" cy="566928"/>
          </a:xfrm>
          <a:prstGeom prst="ellipse">
            <a:avLst/>
          </a:prstGeom>
          <a:solidFill>
            <a:srgbClr val="1E2761"/>
          </a:solidFill>
          <a:ln/>
        </p:spPr>
      </p:sp>
      <p:pic>
        <p:nvPicPr>
          <p:cNvPr id="11" name="Image 1" descr="/home/claude/fob-slides/icons_out/sitemap_white.png"/>
          <p:cNvPicPr>
            <a:picLocks noChangeAspect="1"/>
          </p:cNvPicPr>
          <p:nvPr/>
        </p:nvPicPr>
        <p:blipFill>
          <a:blip r:embed="rId2"/>
          <a:stretch>
            <a:fillRect/>
          </a:stretch>
        </p:blipFill>
        <p:spPr>
          <a:xfrm>
            <a:off x="859079" y="3053639"/>
            <a:ext cx="311810" cy="311810"/>
          </a:xfrm>
          <a:prstGeom prst="rect">
            <a:avLst/>
          </a:prstGeom>
        </p:spPr>
      </p:pic>
      <p:sp>
        <p:nvSpPr>
          <p:cNvPr id="12" name="Text 8"/>
          <p:cNvSpPr txBox="1"/>
          <p:nvPr/>
        </p:nvSpPr>
        <p:spPr>
          <a:xfrm>
            <a:off x="1463040" y="2807208"/>
            <a:ext cx="5303520" cy="365760"/>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Take-Grant</a:t>
            </a:r>
            <a:endParaRPr lang="en-US" sz="1700" dirty="0"/>
          </a:p>
        </p:txBody>
      </p:sp>
      <p:sp>
        <p:nvSpPr>
          <p:cNvPr id="13" name="Text 9"/>
          <p:cNvSpPr txBox="1"/>
          <p:nvPr/>
        </p:nvSpPr>
        <p:spPr>
          <a:xfrm>
            <a:off x="1463040" y="3154680"/>
            <a:ext cx="5303520" cy="475488"/>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Shu papkalar uchun huquqlar grafini chizing: kim kimga huquq bera oladi?</a:t>
            </a:r>
            <a:endParaRPr lang="en-US" sz="1400" dirty="0"/>
          </a:p>
        </p:txBody>
      </p:sp>
      <p:sp>
        <p:nvSpPr>
          <p:cNvPr id="14" name="Shape 10"/>
          <p:cNvSpPr/>
          <p:nvPr/>
        </p:nvSpPr>
        <p:spPr>
          <a:xfrm>
            <a:off x="548640" y="3758184"/>
            <a:ext cx="6309360" cy="877824"/>
          </a:xfrm>
          <a:prstGeom prst="roundRect">
            <a:avLst>
              <a:gd name="adj" fmla="val 9375"/>
            </a:avLst>
          </a:prstGeom>
          <a:solidFill>
            <a:srgbClr val="EEF2FB"/>
          </a:solidFill>
          <a:ln/>
        </p:spPr>
      </p:sp>
      <p:sp>
        <p:nvSpPr>
          <p:cNvPr id="15" name="Shape 11"/>
          <p:cNvSpPr/>
          <p:nvPr/>
        </p:nvSpPr>
        <p:spPr>
          <a:xfrm>
            <a:off x="731520" y="3913632"/>
            <a:ext cx="566928" cy="566928"/>
          </a:xfrm>
          <a:prstGeom prst="ellipse">
            <a:avLst/>
          </a:prstGeom>
          <a:solidFill>
            <a:srgbClr val="1E2761"/>
          </a:solidFill>
          <a:ln/>
        </p:spPr>
      </p:sp>
      <p:pic>
        <p:nvPicPr>
          <p:cNvPr id="16" name="Image 2" descr="/home/claude/fob-slides/icons_out/code_white.png"/>
          <p:cNvPicPr>
            <a:picLocks noChangeAspect="1"/>
          </p:cNvPicPr>
          <p:nvPr/>
        </p:nvPicPr>
        <p:blipFill>
          <a:blip r:embed="rId3"/>
          <a:stretch>
            <a:fillRect/>
          </a:stretch>
        </p:blipFill>
        <p:spPr>
          <a:xfrm>
            <a:off x="859079" y="4041191"/>
            <a:ext cx="311810" cy="311810"/>
          </a:xfrm>
          <a:prstGeom prst="rect">
            <a:avLst/>
          </a:prstGeom>
        </p:spPr>
      </p:pic>
      <p:sp>
        <p:nvSpPr>
          <p:cNvPr id="17" name="Text 12"/>
          <p:cNvSpPr txBox="1"/>
          <p:nvPr/>
        </p:nvSpPr>
        <p:spPr>
          <a:xfrm>
            <a:off x="1463040" y="3794760"/>
            <a:ext cx="5303520" cy="365760"/>
          </a:xfrm>
          <a:prstGeom prst="rect">
            <a:avLst/>
          </a:prstGeom>
          <a:noFill/>
          <a:ln/>
        </p:spPr>
        <p:txBody>
          <a:bodyPr wrap="square" lIns="0" tIns="0" rIns="0" bIns="0" rtlCol="0" anchor="t"/>
          <a:lstStyle/>
          <a:p>
            <a:pPr algn="l" indent="0" marL="0">
              <a:lnSpc>
                <a:spcPct val="100000"/>
              </a:lnSpc>
              <a:buNone/>
            </a:pPr>
            <a:r>
              <a:rPr lang="en-US" sz="1700" b="1" dirty="0">
                <a:solidFill>
                  <a:srgbClr val="1E2761"/>
                </a:solidFill>
                <a:latin typeface="Times New Roman" pitchFamily="34" charset="0"/>
                <a:ea typeface="Times New Roman" pitchFamily="34" charset="-122"/>
                <a:cs typeface="Times New Roman" pitchFamily="34" charset="-120"/>
              </a:rPr>
              <a:t>A10 ga tayyorgarlik</a:t>
            </a:r>
            <a:endParaRPr lang="en-US" sz="1700" dirty="0"/>
          </a:p>
        </p:txBody>
      </p:sp>
      <p:sp>
        <p:nvSpPr>
          <p:cNvPr id="18" name="Text 13"/>
          <p:cNvSpPr txBox="1"/>
          <p:nvPr/>
        </p:nvSpPr>
        <p:spPr>
          <a:xfrm>
            <a:off x="1463040" y="4142232"/>
            <a:ext cx="5303520" cy="475488"/>
          </a:xfrm>
          <a:prstGeom prst="rect">
            <a:avLst/>
          </a:prstGeom>
          <a:noFill/>
          <a:ln/>
        </p:spPr>
        <p:txBody>
          <a:bodyPr wrap="square" lIns="0" tIns="0" rIns="0" bIns="0" rtlCol="0" anchor="t"/>
          <a:lstStyle/>
          <a:p>
            <a:pPr algn="l" indent="0" marL="0">
              <a:lnSpc>
                <a:spcPct val="100000"/>
              </a:lnSpc>
              <a:buNone/>
            </a:pPr>
            <a:r>
              <a:rPr lang="en-US" sz="1400" dirty="0">
                <a:solidFill>
                  <a:srgbClr val="1B1B2A"/>
                </a:solidFill>
                <a:latin typeface="Times New Roman" pitchFamily="34" charset="0"/>
                <a:ea typeface="Times New Roman" pitchFamily="34" charset="-122"/>
                <a:cs typeface="Times New Roman" pitchFamily="34" charset="-120"/>
              </a:rPr>
              <a:t>Python'da matritsani ACL va C-list ga aylantiruvchi funksiya qoralamasi.</a:t>
            </a:r>
            <a:endParaRPr lang="en-US" sz="1400" dirty="0"/>
          </a:p>
        </p:txBody>
      </p:sp>
      <p:sp>
        <p:nvSpPr>
          <p:cNvPr id="19" name="Shape 14"/>
          <p:cNvSpPr/>
          <p:nvPr/>
        </p:nvSpPr>
        <p:spPr>
          <a:xfrm>
            <a:off x="7086600" y="1783080"/>
            <a:ext cx="4526280" cy="2816352"/>
          </a:xfrm>
          <a:prstGeom prst="roundRect">
            <a:avLst>
              <a:gd name="adj" fmla="val 2922"/>
            </a:avLst>
          </a:prstGeom>
          <a:solidFill>
            <a:srgbClr val="1E2761"/>
          </a:solidFill>
          <a:ln/>
        </p:spPr>
      </p:sp>
      <p:sp>
        <p:nvSpPr>
          <p:cNvPr id="20" name="Text 15"/>
          <p:cNvSpPr txBox="1"/>
          <p:nvPr/>
        </p:nvSpPr>
        <p:spPr>
          <a:xfrm>
            <a:off x="7086600" y="1920240"/>
            <a:ext cx="4526280" cy="365760"/>
          </a:xfrm>
          <a:prstGeom prst="rect">
            <a:avLst/>
          </a:prstGeom>
          <a:noFill/>
          <a:ln/>
        </p:spPr>
        <p:txBody>
          <a:bodyPr wrap="square" lIns="0" tIns="0" rIns="0" bIns="0" rtlCol="0" anchor="t"/>
          <a:lstStyle/>
          <a:p>
            <a:pPr algn="ctr" indent="0" marL="0">
              <a:lnSpc>
                <a:spcPct val="100000"/>
              </a:lnSpc>
              <a:buNone/>
            </a:pPr>
            <a:r>
              <a:rPr lang="en-US" sz="1600" b="1" dirty="0">
                <a:solidFill>
                  <a:srgbClr val="CADCFC"/>
                </a:solidFill>
                <a:latin typeface="Times New Roman" pitchFamily="34" charset="0"/>
                <a:ea typeface="Times New Roman" pitchFamily="34" charset="-122"/>
                <a:cs typeface="Times New Roman" pitchFamily="34" charset="-120"/>
              </a:rPr>
              <a:t>KEYINGI MA'RUZA · M11</a:t>
            </a:r>
            <a:endParaRPr lang="en-US" sz="1600" dirty="0"/>
          </a:p>
        </p:txBody>
      </p:sp>
      <p:sp>
        <p:nvSpPr>
          <p:cNvPr id="21" name="Text 16"/>
          <p:cNvSpPr txBox="1"/>
          <p:nvPr/>
        </p:nvSpPr>
        <p:spPr>
          <a:xfrm>
            <a:off x="7315200" y="2377440"/>
            <a:ext cx="4069080" cy="1188720"/>
          </a:xfrm>
          <a:prstGeom prst="rect">
            <a:avLst/>
          </a:prstGeom>
          <a:noFill/>
          <a:ln/>
        </p:spPr>
        <p:txBody>
          <a:bodyPr wrap="square" lIns="50800" tIns="50800" rIns="50800" bIns="50800" rtlCol="0" anchor="ctr"/>
          <a:lstStyle/>
          <a:p>
            <a:pPr algn="ctr" indent="0" marL="0">
              <a:lnSpc>
                <a:spcPct val="100000"/>
              </a:lnSpc>
              <a:buNone/>
            </a:pPr>
            <a:r>
              <a:rPr lang="en-US" sz="1800" b="1" dirty="0">
                <a:solidFill>
                  <a:srgbClr val="FFFFFF"/>
                </a:solidFill>
                <a:latin typeface="Times New Roman" pitchFamily="34" charset="0"/>
                <a:ea typeface="Times New Roman" pitchFamily="34" charset="-122"/>
                <a:cs typeface="Times New Roman" pitchFamily="34" charset="-120"/>
              </a:rPr>
              <a:t>Mandatli foydalanish nazorati: Bell-LaPadula, Biba va Clark-Wilson</a:t>
            </a:r>
            <a:endParaRPr lang="en-US" sz="1800" dirty="0"/>
          </a:p>
        </p:txBody>
      </p:sp>
      <p:sp>
        <p:nvSpPr>
          <p:cNvPr id="22" name="Text 17"/>
          <p:cNvSpPr txBox="1"/>
          <p:nvPr/>
        </p:nvSpPr>
        <p:spPr>
          <a:xfrm>
            <a:off x="7315200" y="3657600"/>
            <a:ext cx="4069080" cy="731520"/>
          </a:xfrm>
          <a:prstGeom prst="rect">
            <a:avLst/>
          </a:prstGeom>
          <a:noFill/>
          <a:ln/>
        </p:spPr>
        <p:txBody>
          <a:bodyPr wrap="square" lIns="50800" tIns="50800" rIns="50800" bIns="50800" rtlCol="0" anchor="ctr"/>
          <a:lstStyle/>
          <a:p>
            <a:pPr algn="ctr" indent="0" marL="0">
              <a:lnSpc>
                <a:spcPct val="100000"/>
              </a:lnSpc>
              <a:buNone/>
            </a:pPr>
            <a:r>
              <a:rPr lang="en-US" sz="1500" dirty="0">
                <a:solidFill>
                  <a:srgbClr val="9FB0E0"/>
                </a:solidFill>
                <a:latin typeface="Times New Roman" pitchFamily="34" charset="0"/>
                <a:ea typeface="Times New Roman" pitchFamily="34" charset="-122"/>
                <a:cs typeface="Times New Roman" pitchFamily="34" charset="-120"/>
              </a:rPr>
              <a:t>Troyan otini qanday to'xtatamiz?</a:t>
            </a:r>
            <a:endParaRPr lang="en-US" sz="1500" dirty="0"/>
          </a:p>
        </p:txBody>
      </p:sp>
      <p:sp>
        <p:nvSpPr>
          <p:cNvPr id="23" name="Shape 18"/>
          <p:cNvSpPr/>
          <p:nvPr/>
        </p:nvSpPr>
        <p:spPr>
          <a:xfrm>
            <a:off x="548640" y="4846320"/>
            <a:ext cx="11064240" cy="1417320"/>
          </a:xfrm>
          <a:prstGeom prst="roundRect">
            <a:avLst>
              <a:gd name="adj" fmla="val 5806"/>
            </a:avLst>
          </a:prstGeom>
          <a:solidFill>
            <a:srgbClr val="FFFFFF"/>
          </a:solidFill>
          <a:ln w="12700">
            <a:solidFill>
              <a:srgbClr val="CADCFC"/>
            </a:solidFill>
            <a:prstDash val="solid"/>
          </a:ln>
        </p:spPr>
      </p:sp>
      <p:sp>
        <p:nvSpPr>
          <p:cNvPr id="24" name="Text 19"/>
          <p:cNvSpPr txBox="1"/>
          <p:nvPr/>
        </p:nvSpPr>
        <p:spPr>
          <a:xfrm>
            <a:off x="731520" y="4892040"/>
            <a:ext cx="10698480" cy="1325880"/>
          </a:xfrm>
          <a:prstGeom prst="rect">
            <a:avLst/>
          </a:prstGeom>
          <a:noFill/>
          <a:ln/>
        </p:spPr>
        <p:txBody>
          <a:bodyPr wrap="square" lIns="0" tIns="0" rIns="0" bIns="0" rtlCol="0" anchor="ctr"/>
          <a:lstStyle/>
          <a:p>
            <a:pPr indent="0" marL="0">
              <a:spcAft>
                <a:spcPts val="100"/>
              </a:spcAft>
              <a:buNone/>
            </a:pPr>
            <a:r>
              <a:rPr lang="en-US" sz="1200" dirty="0">
                <a:solidFill>
                  <a:srgbClr val="1E2761"/>
                </a:solidFill>
                <a:latin typeface="Times New Roman" pitchFamily="34" charset="0"/>
                <a:ea typeface="Times New Roman" pitchFamily="34" charset="-122"/>
                <a:cs typeface="Times New Roman" pitchFamily="34" charset="-120"/>
              </a:rPr>
              <a:t>[1] S.K. Ganiev va boshq. Kiberxavfsizlik asoslari. — T., 2021 (foydalanishni boshqarish usullari).</a:t>
            </a:r>
            <a:endParaRPr lang="en-US" sz="1200" dirty="0"/>
          </a:p>
          <a:p>
            <a:pPr indent="0" marL="0">
              <a:spcAft>
                <a:spcPts val="100"/>
              </a:spcAft>
              <a:buNone/>
            </a:pPr>
            <a:r>
              <a:rPr lang="en-US" sz="1200" dirty="0">
                <a:solidFill>
                  <a:srgbClr val="1E2761"/>
                </a:solidFill>
                <a:latin typeface="Times New Roman" pitchFamily="34" charset="0"/>
                <a:ea typeface="Times New Roman" pitchFamily="34" charset="-122"/>
                <a:cs typeface="Times New Roman" pitchFamily="34" charset="-120"/>
              </a:rPr>
              <a:t>[2] M.A. Harrison, W.L. Ruzzo, J.D. Ullman. Protection in Operating Systems. CACM, 1976.</a:t>
            </a:r>
            <a:endParaRPr lang="en-US" sz="1200" dirty="0"/>
          </a:p>
          <a:p>
            <a:pPr indent="0" marL="0">
              <a:spcAft>
                <a:spcPts val="100"/>
              </a:spcAft>
              <a:buNone/>
            </a:pPr>
            <a:r>
              <a:rPr lang="en-US" sz="1200" dirty="0">
                <a:solidFill>
                  <a:srgbClr val="1E2761"/>
                </a:solidFill>
                <a:latin typeface="Times New Roman" pitchFamily="34" charset="0"/>
                <a:ea typeface="Times New Roman" pitchFamily="34" charset="-122"/>
                <a:cs typeface="Times New Roman" pitchFamily="34" charset="-120"/>
              </a:rPr>
              <a:t>[3] A.K. Jones, R.J. Lipton, L. Snyder. A Linear Time Algorithm for Deciding Security. FOCS, 1976.</a:t>
            </a:r>
            <a:endParaRPr lang="en-US" sz="1200" dirty="0"/>
          </a:p>
          <a:p>
            <a:pPr indent="0" marL="0">
              <a:spcAft>
                <a:spcPts val="100"/>
              </a:spcAft>
              <a:buNone/>
            </a:pPr>
            <a:r>
              <a:rPr lang="en-US" sz="1200" dirty="0">
                <a:solidFill>
                  <a:srgbClr val="1E2761"/>
                </a:solidFill>
                <a:latin typeface="Times New Roman" pitchFamily="34" charset="0"/>
                <a:ea typeface="Times New Roman" pitchFamily="34" charset="-122"/>
                <a:cs typeface="Times New Roman" pitchFamily="34" charset="-120"/>
              </a:rPr>
              <a:t>[4] M. Bishop. Computer Security: Art and Science. 2-nashr, 2018 (3-bob).</a:t>
            </a:r>
            <a:endParaRPr lang="en-US" sz="1200" dirty="0"/>
          </a:p>
          <a:p>
            <a:pPr indent="0" marL="0">
              <a:spcAft>
                <a:spcPts val="100"/>
              </a:spcAft>
              <a:buNone/>
            </a:pPr>
            <a:r>
              <a:rPr lang="en-US" sz="1200" dirty="0">
                <a:solidFill>
                  <a:srgbClr val="1E2761"/>
                </a:solidFill>
                <a:latin typeface="Times New Roman" pitchFamily="34" charset="0"/>
                <a:ea typeface="Times New Roman" pitchFamily="34" charset="-122"/>
                <a:cs typeface="Times New Roman" pitchFamily="34" charset="-120"/>
              </a:rPr>
              <a:t>[5] Microsoft Learn. Access control lists; icacls.</a:t>
            </a:r>
            <a:endParaRPr lang="en-US" sz="1200" dirty="0"/>
          </a:p>
        </p:txBody>
      </p:sp>
      <p:sp>
        <p:nvSpPr>
          <p:cNvPr id="25" name="Text 20"/>
          <p:cNvSpPr txBox="1"/>
          <p:nvPr/>
        </p:nvSpPr>
        <p:spPr>
          <a:xfrm>
            <a:off x="548640" y="6492240"/>
            <a:ext cx="7315200" cy="274320"/>
          </a:xfrm>
          <a:prstGeom prst="rect">
            <a:avLst/>
          </a:prstGeom>
          <a:noFill/>
          <a:ln/>
        </p:spPr>
        <p:txBody>
          <a:bodyPr wrap="square" lIns="0" tIns="0" rIns="0" bIns="0" rtlCol="0" anchor="ctr"/>
          <a:lstStyle/>
          <a:p>
            <a:pPr indent="0" marL="0">
              <a:buNone/>
            </a:pPr>
            <a:r>
              <a:rPr lang="en-US" sz="1100" dirty="0">
                <a:solidFill>
                  <a:srgbClr val="5B6270"/>
                </a:solidFill>
                <a:latin typeface="Times New Roman" pitchFamily="34" charset="0"/>
                <a:ea typeface="Times New Roman" pitchFamily="34" charset="-122"/>
                <a:cs typeface="Times New Roman" pitchFamily="34" charset="-120"/>
              </a:rPr>
              <a:t>Foydalanishlarni boshqarish  ·  10-ma'ruza</a:t>
            </a:r>
            <a:endParaRPr lang="en-US" sz="1100" dirty="0"/>
          </a:p>
        </p:txBody>
      </p:sp>
      <p:sp>
        <p:nvSpPr>
          <p:cNvPr id="26" name="Text 21"/>
          <p:cNvSpPr txBox="1"/>
          <p:nvPr/>
        </p:nvSpPr>
        <p:spPr>
          <a:xfrm>
            <a:off x="11155680" y="6492240"/>
            <a:ext cx="457200" cy="274320"/>
          </a:xfrm>
          <a:prstGeom prst="rect">
            <a:avLst/>
          </a:prstGeom>
          <a:noFill/>
          <a:ln/>
        </p:spPr>
        <p:txBody>
          <a:bodyPr wrap="square" lIns="0" tIns="0" rIns="0" bIns="0" rtlCol="0" anchor="ctr"/>
          <a:lstStyle/>
          <a:p>
            <a:pPr algn="r" indent="0" marL="0">
              <a:buNone/>
            </a:pPr>
            <a:r>
              <a:rPr lang="en-US" sz="1100" dirty="0">
                <a:solidFill>
                  <a:srgbClr val="5B6270"/>
                </a:solidFill>
                <a:latin typeface="Times New Roman" pitchFamily="34" charset="0"/>
                <a:ea typeface="Times New Roman" pitchFamily="34" charset="-122"/>
                <a:cs typeface="Times New Roman" pitchFamily="34" charset="-120"/>
              </a:rPr>
              <a:t>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10-ma'ruza. Diskretsion foydalanishni boshqarish: ACL, HRU va Take-Grant</dc:title>
  <dc:subject>PptxGenJS Presentation</dc:subject>
  <dc:creator>PptxGenJS</dc:creator>
  <cp:lastModifiedBy>PptxGenJS</cp:lastModifiedBy>
  <cp:revision>1</cp:revision>
  <dcterms:created xsi:type="dcterms:W3CDTF">2026-09-26T16:31:49Z</dcterms:created>
  <dcterms:modified xsi:type="dcterms:W3CDTF">2026-09-26T16:31:49Z</dcterms:modified>
</cp:coreProperties>
</file>