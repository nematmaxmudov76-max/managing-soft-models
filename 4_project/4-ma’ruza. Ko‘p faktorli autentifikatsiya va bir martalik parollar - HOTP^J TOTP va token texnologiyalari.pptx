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61838" cy="6858000"/>
  <p:notesSz cx="6858000" cy="1216183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5" d="100"/>
          <a:sy n="105" d="100"/>
        </p:scale>
        <p:origin x="5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bidjon Bozorov" userId="ccb249de5d2a650e" providerId="LiveId" clId="{6F9F34B2-1C11-4B73-BB5F-9B545A900989}"/>
    <pc:docChg chg="modSld">
      <pc:chgData name="Obidjon Bozorov" userId="ccb249de5d2a650e" providerId="LiveId" clId="{6F9F34B2-1C11-4B73-BB5F-9B545A900989}" dt="2026-10-07T05:06:54.193" v="5" actId="255"/>
      <pc:docMkLst>
        <pc:docMk/>
      </pc:docMkLst>
      <pc:sldChg chg="modSp mod">
        <pc:chgData name="Obidjon Bozorov" userId="ccb249de5d2a650e" providerId="LiveId" clId="{6F9F34B2-1C11-4B73-BB5F-9B545A900989}" dt="2026-10-07T05:06:54.193" v="5" actId="255"/>
        <pc:sldMkLst>
          <pc:docMk/>
          <pc:sldMk cId="0" sldId="256"/>
        </pc:sldMkLst>
        <pc:spChg chg="mod">
          <ac:chgData name="Obidjon Bozorov" userId="ccb249de5d2a650e" providerId="LiveId" clId="{6F9F34B2-1C11-4B73-BB5F-9B545A900989}" dt="2026-10-07T05:06:54.193" v="5" actId="255"/>
          <ac:spMkLst>
            <pc:docMk/>
            <pc:sldMk cId="0" sldId="256"/>
            <ac:spMk id="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20722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3-ma'ruzada parolni serverda xavfsiz saqlashni o'rgandik. Lekin parol foydalanuvchining o'zidan ham o'g'irlanishi mumkin. Bugun: parol qo'lga tushsa ham tizimga kirib bo'lmasligi uchun ikkinchi omil.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(Alex Weinert, 2019): MFA yoqilgan qayd yozuvining buzilish ehtimoli 99,9% dan ko'proq kamayadi. Muhim izoh: bu raqam avtomatlashtirilgan hujumlar (parol purkash, credential stuffing) uchun; maqsadli fishingga qarshi oddiy OTP kuchsizroq — II bo'limda ko'ramiz. [1] darslik (91-bet): 'parol himoyasini kuchaytirishning radikal usuli — noyob elektron qurilmadan qo'shimcha foydalanib, ikki omilli autentifikatsiyaga o'tish'.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Yo'q — ikkalasi ham bilish omili; javobni ijtimoiy tarmoqdan topish mumkin. b) Ha (bilish + egalik), lekin SMS NIST SP 800-63B-4 da 'cheklangan' autentifikator: SIM almashtirish xavfi. c) Ha — egalik + bilish; klassik 2FA. d) Amalda yo'q — pochta qutisi ham xuddi shu parol bilan ochiladi, ya'ni ikkinchi omil yana 'bilish'. e) Ha — kod telefonga egalikni isbotlaydi; barmoq izi faqat telefonni ochadi, serverga uzatilmaydi.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Statik/dinamik, sinxron/asinxron qurilmalar tasnifi [1] darslikdan (91-92-betlar). Tarixiy misol: Lamport sxemasi (1981) va S/KEY (RFC 1760) — xesh zanjiriga asoslangan bir martali parollar. Bugun ikkita sinxron standartni batafsil ko'ramiz, chunki Google Authenticator, Microsoft Authenticator va boshqalar aynan ular asosida ishlaydi.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RFC 4226 (2005, OATH tashabbusi). Kalit uzunligi: RFC talabi kamida 128 bit, tavsiya 160 bit; NIST SP 800-63B-4 kamida 112 bit xavfsizlik kuchi talab qiladi. 755224 — RFC 4226 D ilovasidagi test qiymati: K = '12345678901234567890' (ASCII), C = 0. Sinxronlash oynasi s katta bo'lsa, tasodifiy topish ehtimoli oshadi — shuning uchun urinishlar soni cheklanadi.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RFC 4226 D ilovasidagi rasmiy test holati: C=0 uchun HMAC natijasi va 'Truncated' qiymati 0x4c93cf18 = 1284755224, kod 755224. Keyingi hisoblagichlar: C=1 → 287082, C=2 → 359152, C=3 → 969429. O'ngdagi Python kodi shu qiymatlarni beradi (sinab ko'rilgan) — A4 amaliy mashg'ulotining asosi. Eng katta bitni nollash ishorali/ishorasiz son chalkashligining oldini oladi.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RFC 6238 (2011). Oynadagi kodlar tasviriy. Oyna ±1 qadam — keng tarqalgan amaliyot; NIST SP 800-63B-4: OTP amal qilish muddati kutilayotgan soat og'ishiga qarab belgilanadi va har bir OTP amal qilish muddatida faqat bir marta qabul qilinadi (replay himoyasi). RFC 6238 test vektori: K = '12345678901234567890', t = 59 → 94287082; t = 1111111109 → 07081804. RFC 6238 SHA-256 va SHA-512 ni ham ruxsat etadi, lekin ilovalar ko'pincha SHA-1 dan foydalanadi — HMAC-SHA-1 hali ham xavfsiz hisoblanadi.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Javoblar: a) T = ⌊1111111109 / 30⌋ = 37037036. b) 37037036 × 30 = 1111111080; 1111111109 − 1111111080 = 29 → qadamning 29-soniyasi, 1 soniyadan keyin almashadi. c) ±1 qadam oynasida kod taxminan 60–90 soniya qabul qilinishi mumkin; shuning uchun replay himoyasi (bir marta qabul qilish) majburiy. d) 1/10⁶; oynada 3 ta kod bo'lsa 3/10⁶. NIST SP 800-63B-4: muvaffaqiyatsiz urinishlar soni 100 dan oshmasligi kerak. Tekshirish: RFC 6238 bo'yicha bu vaqtda 8 xonali kod 07081804, 6 xonali — 081804.</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otpauth URI formati — Google Authenticator tomonidan kiritilgan de-fakto standart; secret base32 da. Slayddagi QR kod RFC 4226/6238 test kaliti '12345678901234567890' ni o'z ichiga oladi: talabalar uni telefon ilovasiga skanerlab, A4 da o'z dasturlari natijasi bilan solishtirishi mumkin. Haqiqiy tizimda bu kalitdan foydalanilmaydi! Zaxira kodlar ham parol kabi xeshlab saqlanadi (bir martali bo'lgani uchun buni qilish mumkin).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NIST SP 800-63B-4: PSTN (SMS, ovozli qo'ng'iroq) orqali out-of-band tekshirish 'cheklangan' autentifikator — foydalanish mumkin, lekin xavf haqida ogohlantirish va muqobil variant taklif qilish talab etiladi. 'OTP authentication is not phishing-resistant' — NIST. AAL2 ilovalari fishingga bardoshli variantni taklif qilishi shart; AAL3 da fishingga bardosh majburiy.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AitM (adversary-in-the-middle) — Evilginx kabi ochiq vositalar bilan amalga oshiriladi; foydalanuvchi haqiqiy kodni kiritadi, lekin soxta saytga. Uber (2022-yil sentyabr): hujumchi pudratchining parolini qo'lga kiritgan, push so'rovlarni takroran yuborgan va WhatsApp orqali IT xodimi sifatida tasdiqlashni so'ragan. SIM almashtirish: 2019-yilda Twitter asoschisi J. Dorsey hisobi shu usulda egallangan. Hujumchi har doim eng zaif kanalni qidiradi — M3 dagi Ashley Madison saboqi.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AAL — Authenticator Assurance Level. NIST SP 800-63B-4 (2025-yil 31-iyul): AAL2 — ikki alohida omilga egalikni isbotlash; AAL2 ilovalari fishingga bardoshli variantni taklif qilishi SHART. AAL3 — ochiq kalitli kriptografik protokol va fishingga bardosh majburiy; autentifikatsiya niyatini ko'rsatish talab qilinadi. Raqam moslashtirish: ekranda ko'rsatilgan raqam telefonga kiritiladi — ko'r-ko'rona 'Tasdiqlash' bosishning oldini oladi (Microsoft 2023-yildan majburiy qilgan).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Namunaviy javob. Talaba: TOTP ilova yoki push + raqam moslashtirish (AAL2); SMS faqat vaqtinchalik muqobil sifatida; tiklash — dekanatda shaxsni tasdiqlab, zaxira kodlar bilan. O'qituvchi: TOTP yoki push (AAL2), baho o'zgartirishda qayta autentifikatsiya; kompyuter sinfida — seansni avtomatik yakunlash. Ma'mur: FIDO2 apparat kaliti (AAL3), ikkita kalit ro'yxatdan o'tkaziladi, tiklash faqat ikki kishi tasdig'i bilan (vazifalarni ajratish — M2). Guruhlar javoblarini solishtiring: kim SMS tanladi va nega?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Javoblar: 1-B, 2-C, 3-B, 4-B. 3-savol eng muhim — M3 bilan farqni tushunganini ko'rsatadi.</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326880" y="-1828800"/>
            <a:ext cx="5120640" cy="5120640"/>
          </a:xfrm>
          <a:prstGeom prst="ellipse">
            <a:avLst/>
          </a:prstGeom>
          <a:solidFill>
            <a:srgbClr val="2A3778"/>
          </a:solidFill>
          <a:ln/>
        </p:spPr>
        <p:txBody>
          <a:bodyPr/>
          <a:lstStyle/>
          <a:p>
            <a:endParaRPr lang="ru-RU"/>
          </a:p>
        </p:txBody>
      </p:sp>
      <p:sp>
        <p:nvSpPr>
          <p:cNvPr id="3" name="Shape 1"/>
          <p:cNvSpPr/>
          <p:nvPr/>
        </p:nvSpPr>
        <p:spPr>
          <a:xfrm>
            <a:off x="10515600" y="4023360"/>
            <a:ext cx="3291840" cy="3291840"/>
          </a:xfrm>
          <a:prstGeom prst="ellipse">
            <a:avLst/>
          </a:prstGeom>
          <a:solidFill>
            <a:srgbClr val="2A3778"/>
          </a:solidFill>
          <a:ln/>
        </p:spPr>
        <p:txBody>
          <a:bodyPr/>
          <a:lstStyle/>
          <a:p>
            <a:endParaRPr lang="ru-RU"/>
          </a:p>
        </p:txBody>
      </p:sp>
      <p:sp>
        <p:nvSpPr>
          <p:cNvPr id="4" name="Shape 2"/>
          <p:cNvSpPr/>
          <p:nvPr/>
        </p:nvSpPr>
        <p:spPr>
          <a:xfrm>
            <a:off x="822960" y="685800"/>
            <a:ext cx="868680" cy="868680"/>
          </a:xfrm>
          <a:prstGeom prst="ellipse">
            <a:avLst/>
          </a:prstGeom>
          <a:solidFill>
            <a:srgbClr val="2A3778"/>
          </a:solidFill>
          <a:ln/>
        </p:spPr>
        <p:txBody>
          <a:bodyPr/>
          <a:lstStyle/>
          <a:p>
            <a:endParaRPr lang="ru-RU"/>
          </a:p>
        </p:txBody>
      </p:sp>
      <p:pic>
        <p:nvPicPr>
          <p:cNvPr id="5" name="Image 0" descr="/home/claude/fob-slides/icons_out/mobile_white.png"/>
          <p:cNvPicPr>
            <a:picLocks noChangeAspect="1"/>
          </p:cNvPicPr>
          <p:nvPr/>
        </p:nvPicPr>
        <p:blipFill>
          <a:blip r:embed="rId3"/>
          <a:stretch>
            <a:fillRect/>
          </a:stretch>
        </p:blipFill>
        <p:spPr>
          <a:xfrm>
            <a:off x="1040130" y="902970"/>
            <a:ext cx="434340" cy="434340"/>
          </a:xfrm>
          <a:prstGeom prst="rect">
            <a:avLst/>
          </a:prstGeom>
        </p:spPr>
      </p:pic>
      <p:sp>
        <p:nvSpPr>
          <p:cNvPr id="6" name="Text 3"/>
          <p:cNvSpPr txBox="1"/>
          <p:nvPr/>
        </p:nvSpPr>
        <p:spPr>
          <a:xfrm>
            <a:off x="822960" y="1783080"/>
            <a:ext cx="10241280" cy="411480"/>
          </a:xfrm>
          <a:prstGeom prst="rect">
            <a:avLst/>
          </a:prstGeom>
          <a:noFill/>
          <a:ln/>
        </p:spPr>
        <p:txBody>
          <a:bodyPr wrap="square" lIns="0" tIns="0" rIns="0" bIns="0" rtlCol="0" anchor="t"/>
          <a:lstStyle/>
          <a:p>
            <a:pPr marL="0" indent="0" algn="l">
              <a:lnSpc>
                <a:spcPct val="100000"/>
              </a:lnSpc>
              <a:buNone/>
            </a:pPr>
            <a:r>
              <a:rPr lang="en-US" sz="1700" b="1" dirty="0">
                <a:solidFill>
                  <a:srgbClr val="CADCFC"/>
                </a:solidFill>
                <a:latin typeface="Times New Roman" pitchFamily="34" charset="0"/>
                <a:ea typeface="Times New Roman" pitchFamily="34" charset="-122"/>
                <a:cs typeface="Times New Roman" pitchFamily="34" charset="-120"/>
              </a:rPr>
              <a:t>FOYDALANISHLARNI BOSHQARISH  ·  FOB1506  ·  4-MA'RUZA</a:t>
            </a:r>
            <a:endParaRPr lang="en-US" sz="1700" dirty="0"/>
          </a:p>
        </p:txBody>
      </p:sp>
      <p:sp>
        <p:nvSpPr>
          <p:cNvPr id="7" name="Text 4"/>
          <p:cNvSpPr txBox="1"/>
          <p:nvPr/>
        </p:nvSpPr>
        <p:spPr>
          <a:xfrm>
            <a:off x="777081" y="2089722"/>
            <a:ext cx="11338878" cy="1371600"/>
          </a:xfrm>
          <a:prstGeom prst="rect">
            <a:avLst/>
          </a:prstGeom>
          <a:noFill/>
          <a:ln/>
        </p:spPr>
        <p:txBody>
          <a:bodyPr wrap="square" lIns="0" tIns="0" rIns="0" bIns="0" rtlCol="0" anchor="t"/>
          <a:lstStyle/>
          <a:p>
            <a:pPr marL="0" indent="0" algn="l">
              <a:lnSpc>
                <a:spcPct val="100000"/>
              </a:lnSpc>
              <a:buNone/>
            </a:pPr>
            <a:r>
              <a:rPr lang="en-US" sz="3600" b="1" dirty="0">
                <a:solidFill>
                  <a:srgbClr val="FFFFFF"/>
                </a:solidFill>
                <a:latin typeface="Times New Roman" pitchFamily="34" charset="0"/>
                <a:ea typeface="Times New Roman" pitchFamily="34" charset="-122"/>
                <a:cs typeface="Times New Roman" pitchFamily="34" charset="-120"/>
              </a:rPr>
              <a:t>Ko‘p faktorli autentifikatsiya va bir martalik parollar: HOTP, TOTP va token texnologiyalari</a:t>
            </a:r>
            <a:endParaRPr lang="en-US" sz="3600" dirty="0"/>
          </a:p>
        </p:txBody>
      </p:sp>
      <p:sp>
        <p:nvSpPr>
          <p:cNvPr id="8" name="Text 5"/>
          <p:cNvSpPr txBox="1"/>
          <p:nvPr/>
        </p:nvSpPr>
        <p:spPr>
          <a:xfrm>
            <a:off x="822960" y="3657600"/>
            <a:ext cx="9509760" cy="457200"/>
          </a:xfrm>
          <a:prstGeom prst="rect">
            <a:avLst/>
          </a:prstGeom>
          <a:noFill/>
          <a:ln/>
        </p:spPr>
        <p:txBody>
          <a:bodyPr wrap="square" lIns="0" tIns="0" rIns="0" bIns="0" rtlCol="0" anchor="t"/>
          <a:lstStyle/>
          <a:p>
            <a:pPr marL="0" indent="0" algn="l">
              <a:lnSpc>
                <a:spcPct val="100000"/>
              </a:lnSpc>
              <a:buNone/>
            </a:pPr>
            <a:r>
              <a:rPr lang="en-US" sz="2000" dirty="0">
                <a:solidFill>
                  <a:srgbClr val="CADCFC"/>
                </a:solidFill>
                <a:latin typeface="Times New Roman" pitchFamily="34" charset="0"/>
                <a:ea typeface="Times New Roman" pitchFamily="34" charset="-122"/>
                <a:cs typeface="Times New Roman" pitchFamily="34" charset="-120"/>
              </a:rPr>
              <a:t>HOTP (RFC 4226)  ·  TOTP (RFC 6238)  ·  MFA hujumlari</a:t>
            </a:r>
            <a:endParaRPr lang="en-US" sz="2000" dirty="0"/>
          </a:p>
        </p:txBody>
      </p:sp>
      <p:sp>
        <p:nvSpPr>
          <p:cNvPr id="9" name="Shape 6"/>
          <p:cNvSpPr/>
          <p:nvPr/>
        </p:nvSpPr>
        <p:spPr>
          <a:xfrm>
            <a:off x="822960" y="4434840"/>
            <a:ext cx="1143000" cy="438912"/>
          </a:xfrm>
          <a:prstGeom prst="roundRect">
            <a:avLst>
              <a:gd name="adj" fmla="val 50000"/>
            </a:avLst>
          </a:prstGeom>
          <a:solidFill>
            <a:srgbClr val="2A3778"/>
          </a:solidFill>
          <a:ln/>
        </p:spPr>
        <p:txBody>
          <a:bodyPr/>
          <a:lstStyle/>
          <a:p>
            <a:endParaRPr lang="ru-RU"/>
          </a:p>
        </p:txBody>
      </p:sp>
      <p:sp>
        <p:nvSpPr>
          <p:cNvPr id="10" name="Text 7"/>
          <p:cNvSpPr txBox="1"/>
          <p:nvPr/>
        </p:nvSpPr>
        <p:spPr>
          <a:xfrm>
            <a:off x="822960" y="4434840"/>
            <a:ext cx="1143000" cy="438912"/>
          </a:xfrm>
          <a:prstGeom prst="rect">
            <a:avLst/>
          </a:prstGeom>
          <a:noFill/>
          <a:ln/>
        </p:spPr>
        <p:txBody>
          <a:bodyPr wrap="square" lIns="50800" tIns="50800" rIns="50800" bIns="50800" rtlCol="0" anchor="ctr"/>
          <a:lstStyle/>
          <a:p>
            <a:pPr marL="0" indent="0" algn="ctr">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2 soat</a:t>
            </a:r>
            <a:endParaRPr lang="en-US" sz="1400" dirty="0"/>
          </a:p>
        </p:txBody>
      </p:sp>
      <p:sp>
        <p:nvSpPr>
          <p:cNvPr id="11" name="Shape 8"/>
          <p:cNvSpPr/>
          <p:nvPr/>
        </p:nvSpPr>
        <p:spPr>
          <a:xfrm>
            <a:off x="2148840" y="4434840"/>
            <a:ext cx="2514600" cy="438912"/>
          </a:xfrm>
          <a:prstGeom prst="roundRect">
            <a:avLst>
              <a:gd name="adj" fmla="val 50000"/>
            </a:avLst>
          </a:prstGeom>
          <a:solidFill>
            <a:srgbClr val="2A3778"/>
          </a:solidFill>
          <a:ln/>
        </p:spPr>
        <p:txBody>
          <a:bodyPr/>
          <a:lstStyle/>
          <a:p>
            <a:endParaRPr lang="ru-RU"/>
          </a:p>
        </p:txBody>
      </p:sp>
      <p:sp>
        <p:nvSpPr>
          <p:cNvPr id="12" name="Text 9"/>
          <p:cNvSpPr txBox="1"/>
          <p:nvPr/>
        </p:nvSpPr>
        <p:spPr>
          <a:xfrm>
            <a:off x="2148840" y="4434840"/>
            <a:ext cx="2514600" cy="438912"/>
          </a:xfrm>
          <a:prstGeom prst="rect">
            <a:avLst/>
          </a:prstGeom>
          <a:noFill/>
          <a:ln/>
        </p:spPr>
        <p:txBody>
          <a:bodyPr wrap="square" lIns="50800" tIns="50800" rIns="50800" bIns="50800" rtlCol="0" anchor="ctr"/>
          <a:lstStyle/>
          <a:p>
            <a:pPr marL="0" indent="0" algn="ctr">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18 ma'ruzadan 4-si</a:t>
            </a:r>
            <a:endParaRPr lang="en-US" sz="1400" dirty="0"/>
          </a:p>
        </p:txBody>
      </p:sp>
      <p:sp>
        <p:nvSpPr>
          <p:cNvPr id="13" name="Shape 10"/>
          <p:cNvSpPr/>
          <p:nvPr/>
        </p:nvSpPr>
        <p:spPr>
          <a:xfrm>
            <a:off x="4846320" y="4434840"/>
            <a:ext cx="1600200" cy="438912"/>
          </a:xfrm>
          <a:prstGeom prst="roundRect">
            <a:avLst>
              <a:gd name="adj" fmla="val 50000"/>
            </a:avLst>
          </a:prstGeom>
          <a:solidFill>
            <a:srgbClr val="2A3778"/>
          </a:solidFill>
          <a:ln/>
        </p:spPr>
        <p:txBody>
          <a:bodyPr/>
          <a:lstStyle/>
          <a:p>
            <a:endParaRPr lang="ru-RU"/>
          </a:p>
        </p:txBody>
      </p:sp>
      <p:sp>
        <p:nvSpPr>
          <p:cNvPr id="14" name="Text 11"/>
          <p:cNvSpPr txBox="1"/>
          <p:nvPr/>
        </p:nvSpPr>
        <p:spPr>
          <a:xfrm>
            <a:off x="4846320" y="4434840"/>
            <a:ext cx="1600200" cy="438912"/>
          </a:xfrm>
          <a:prstGeom prst="rect">
            <a:avLst/>
          </a:prstGeom>
          <a:noFill/>
          <a:ln/>
        </p:spPr>
        <p:txBody>
          <a:bodyPr wrap="square" lIns="50800" tIns="50800" rIns="50800" bIns="50800" rtlCol="0" anchor="ctr"/>
          <a:lstStyle/>
          <a:p>
            <a:pPr marL="0" indent="0" algn="ctr">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Amaliy: A4</a:t>
            </a:r>
            <a:endParaRPr lang="en-US" sz="1400" dirty="0"/>
          </a:p>
        </p:txBody>
      </p:sp>
      <p:sp>
        <p:nvSpPr>
          <p:cNvPr id="15" name="Shape 12"/>
          <p:cNvSpPr/>
          <p:nvPr/>
        </p:nvSpPr>
        <p:spPr>
          <a:xfrm>
            <a:off x="6629400" y="4434840"/>
            <a:ext cx="2628900" cy="438912"/>
          </a:xfrm>
          <a:prstGeom prst="roundRect">
            <a:avLst>
              <a:gd name="adj" fmla="val 50000"/>
            </a:avLst>
          </a:prstGeom>
          <a:solidFill>
            <a:srgbClr val="2A3778"/>
          </a:solidFill>
          <a:ln/>
        </p:spPr>
        <p:txBody>
          <a:bodyPr/>
          <a:lstStyle/>
          <a:p>
            <a:endParaRPr lang="ru-RU"/>
          </a:p>
        </p:txBody>
      </p:sp>
      <p:sp>
        <p:nvSpPr>
          <p:cNvPr id="16" name="Text 13"/>
          <p:cNvSpPr txBox="1"/>
          <p:nvPr/>
        </p:nvSpPr>
        <p:spPr>
          <a:xfrm>
            <a:off x="6629400" y="4434840"/>
            <a:ext cx="2628900" cy="438912"/>
          </a:xfrm>
          <a:prstGeom prst="rect">
            <a:avLst/>
          </a:prstGeom>
          <a:noFill/>
          <a:ln/>
        </p:spPr>
        <p:txBody>
          <a:bodyPr wrap="square" lIns="50800" tIns="50800" rIns="50800" bIns="50800" rtlCol="0" anchor="ctr"/>
          <a:lstStyle/>
          <a:p>
            <a:pPr marL="0" indent="0" algn="ctr">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Interaktiv: 4 nuqta</a:t>
            </a:r>
            <a:endParaRPr lang="en-US" sz="1400" dirty="0"/>
          </a:p>
        </p:txBody>
      </p:sp>
      <p:sp>
        <p:nvSpPr>
          <p:cNvPr id="17" name="Text 14"/>
          <p:cNvSpPr txBox="1"/>
          <p:nvPr/>
        </p:nvSpPr>
        <p:spPr>
          <a:xfrm>
            <a:off x="822960" y="5897880"/>
            <a:ext cx="9144000" cy="365760"/>
          </a:xfrm>
          <a:prstGeom prst="rect">
            <a:avLst/>
          </a:prstGeom>
          <a:noFill/>
          <a:ln/>
        </p:spPr>
        <p:txBody>
          <a:bodyPr wrap="square" lIns="0" tIns="0" rIns="0" bIns="0" rtlCol="0" anchor="t"/>
          <a:lstStyle/>
          <a:p>
            <a:pPr marL="0" indent="0" algn="l">
              <a:lnSpc>
                <a:spcPct val="100000"/>
              </a:lnSpc>
              <a:buNone/>
            </a:pPr>
            <a:r>
              <a:rPr lang="en-US" sz="1400" dirty="0">
                <a:solidFill>
                  <a:srgbClr val="9FB0E0"/>
                </a:solidFill>
                <a:latin typeface="Times New Roman" pitchFamily="34" charset="0"/>
                <a:ea typeface="Times New Roman" pitchFamily="34" charset="-122"/>
                <a:cs typeface="Times New Roman" pitchFamily="34" charset="-120"/>
              </a:rPr>
              <a:t>Mirzo Ulug'bek nomidagi O'zbekiston Milliy universiteti  ·  Axborot xavfsizligi kafedrasi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marL="0" indent="0">
              <a:buNone/>
            </a:pPr>
            <a:r>
              <a:rPr lang="en-US" sz="1600" b="1" kern="0" spc="220" dirty="0">
                <a:solidFill>
                  <a:srgbClr val="5B6270"/>
                </a:solidFill>
                <a:latin typeface="Times New Roman" pitchFamily="34" charset="0"/>
                <a:ea typeface="Times New Roman" pitchFamily="34" charset="-122"/>
                <a:cs typeface="Times New Roman" pitchFamily="34" charset="-120"/>
              </a:rPr>
              <a:t>DARS XARITASI</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marL="0" indent="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Bugungi ma'ruza qanday quriladi</a:t>
            </a:r>
            <a:endParaRPr lang="en-US" sz="3600" dirty="0"/>
          </a:p>
        </p:txBody>
      </p:sp>
      <p:sp>
        <p:nvSpPr>
          <p:cNvPr id="4" name="Shape 2"/>
          <p:cNvSpPr/>
          <p:nvPr/>
        </p:nvSpPr>
        <p:spPr>
          <a:xfrm>
            <a:off x="548640" y="1783080"/>
            <a:ext cx="7863840" cy="1234440"/>
          </a:xfrm>
          <a:prstGeom prst="roundRect">
            <a:avLst>
              <a:gd name="adj" fmla="val 6667"/>
            </a:avLst>
          </a:prstGeom>
          <a:solidFill>
            <a:srgbClr val="EEF2FB"/>
          </a:solidFill>
          <a:ln/>
        </p:spPr>
        <p:txBody>
          <a:bodyPr/>
          <a:lstStyle/>
          <a:p>
            <a:endParaRPr lang="ru-RU"/>
          </a:p>
        </p:txBody>
      </p:sp>
      <p:sp>
        <p:nvSpPr>
          <p:cNvPr id="5" name="Shape 3"/>
          <p:cNvSpPr/>
          <p:nvPr/>
        </p:nvSpPr>
        <p:spPr>
          <a:xfrm>
            <a:off x="548640" y="1783080"/>
            <a:ext cx="914400" cy="1234440"/>
          </a:xfrm>
          <a:prstGeom prst="roundRect">
            <a:avLst>
              <a:gd name="adj" fmla="val 9000"/>
            </a:avLst>
          </a:prstGeom>
          <a:solidFill>
            <a:srgbClr val="1E2761"/>
          </a:solidFill>
          <a:ln/>
        </p:spPr>
        <p:txBody>
          <a:bodyPr/>
          <a:lstStyle/>
          <a:p>
            <a:endParaRPr lang="ru-RU"/>
          </a:p>
        </p:txBody>
      </p:sp>
      <p:sp>
        <p:nvSpPr>
          <p:cNvPr id="6" name="Text 4"/>
          <p:cNvSpPr txBox="1"/>
          <p:nvPr/>
        </p:nvSpPr>
        <p:spPr>
          <a:xfrm>
            <a:off x="548640" y="1783080"/>
            <a:ext cx="914400" cy="1234440"/>
          </a:xfrm>
          <a:prstGeom prst="rect">
            <a:avLst/>
          </a:prstGeom>
          <a:noFill/>
          <a:ln/>
        </p:spPr>
        <p:txBody>
          <a:bodyPr wrap="square" lIns="50800" tIns="50800" rIns="50800" bIns="50800" rtlCol="0" anchor="ctr"/>
          <a:lstStyle/>
          <a:p>
            <a:pPr marL="0" indent="0" algn="ctr">
              <a:lnSpc>
                <a:spcPct val="100000"/>
              </a:lnSpc>
              <a:buNone/>
            </a:pPr>
            <a:r>
              <a:rPr lang="en-US" sz="3200" b="1" dirty="0">
                <a:solidFill>
                  <a:srgbClr val="FFFFFF"/>
                </a:solidFill>
                <a:latin typeface="Times New Roman" pitchFamily="34" charset="0"/>
                <a:ea typeface="Times New Roman" pitchFamily="34" charset="-122"/>
                <a:cs typeface="Times New Roman" pitchFamily="34" charset="-120"/>
              </a:rPr>
              <a:t>0</a:t>
            </a:r>
            <a:endParaRPr lang="en-US" sz="3200" dirty="0"/>
          </a:p>
        </p:txBody>
      </p:sp>
      <p:sp>
        <p:nvSpPr>
          <p:cNvPr id="7" name="Text 5"/>
          <p:cNvSpPr txBox="1"/>
          <p:nvPr/>
        </p:nvSpPr>
        <p:spPr>
          <a:xfrm>
            <a:off x="1691640" y="1947672"/>
            <a:ext cx="5394960" cy="411480"/>
          </a:xfrm>
          <a:prstGeom prst="rect">
            <a:avLst/>
          </a:prstGeom>
          <a:noFill/>
          <a:ln/>
        </p:spPr>
        <p:txBody>
          <a:bodyPr wrap="square" lIns="0" tIns="0" rIns="0" bIns="0" rtlCol="0" anchor="t"/>
          <a:lstStyle/>
          <a:p>
            <a:pPr marL="0" indent="0" algn="l">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Kirish: parol yetarli emas</a:t>
            </a:r>
            <a:endParaRPr lang="en-US" sz="2000" dirty="0"/>
          </a:p>
        </p:txBody>
      </p:sp>
      <p:sp>
        <p:nvSpPr>
          <p:cNvPr id="8" name="Text 6"/>
          <p:cNvSpPr txBox="1"/>
          <p:nvPr/>
        </p:nvSpPr>
        <p:spPr>
          <a:xfrm>
            <a:off x="1691640" y="2423160"/>
            <a:ext cx="5669280" cy="411480"/>
          </a:xfrm>
          <a:prstGeom prst="rect">
            <a:avLst/>
          </a:prstGeom>
          <a:noFill/>
          <a:ln/>
        </p:spPr>
        <p:txBody>
          <a:bodyPr wrap="square" lIns="0" tIns="0" rIns="0" bIns="0" rtlCol="0" anchor="t"/>
          <a:lstStyle/>
          <a:p>
            <a:pPr marL="0" indent="0" algn="l">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Muammo va birinchi muhokama</a:t>
            </a:r>
            <a:endParaRPr lang="en-US" sz="1600" dirty="0"/>
          </a:p>
        </p:txBody>
      </p:sp>
      <p:sp>
        <p:nvSpPr>
          <p:cNvPr id="9" name="Text 7"/>
          <p:cNvSpPr txBox="1"/>
          <p:nvPr/>
        </p:nvSpPr>
        <p:spPr>
          <a:xfrm>
            <a:off x="7223760" y="1965960"/>
            <a:ext cx="1051560" cy="365760"/>
          </a:xfrm>
          <a:prstGeom prst="rect">
            <a:avLst/>
          </a:prstGeom>
          <a:noFill/>
          <a:ln/>
        </p:spPr>
        <p:txBody>
          <a:bodyPr wrap="square" lIns="0" tIns="0" rIns="0" bIns="0" rtlCol="0" anchor="t"/>
          <a:lstStyle/>
          <a:p>
            <a:pPr marL="0" indent="0" algn="r">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~10 daq.</a:t>
            </a:r>
            <a:endParaRPr lang="en-US" sz="1600" dirty="0"/>
          </a:p>
        </p:txBody>
      </p:sp>
      <p:sp>
        <p:nvSpPr>
          <p:cNvPr id="10" name="Shape 8"/>
          <p:cNvSpPr/>
          <p:nvPr/>
        </p:nvSpPr>
        <p:spPr>
          <a:xfrm>
            <a:off x="548640" y="3182112"/>
            <a:ext cx="7863840" cy="1234440"/>
          </a:xfrm>
          <a:prstGeom prst="roundRect">
            <a:avLst>
              <a:gd name="adj" fmla="val 6667"/>
            </a:avLst>
          </a:prstGeom>
          <a:solidFill>
            <a:srgbClr val="EEF2FB"/>
          </a:solidFill>
          <a:ln/>
        </p:spPr>
        <p:txBody>
          <a:bodyPr/>
          <a:lstStyle/>
          <a:p>
            <a:endParaRPr lang="ru-RU"/>
          </a:p>
        </p:txBody>
      </p:sp>
      <p:sp>
        <p:nvSpPr>
          <p:cNvPr id="11" name="Shape 9"/>
          <p:cNvSpPr/>
          <p:nvPr/>
        </p:nvSpPr>
        <p:spPr>
          <a:xfrm>
            <a:off x="548640" y="3182112"/>
            <a:ext cx="914400" cy="1234440"/>
          </a:xfrm>
          <a:prstGeom prst="roundRect">
            <a:avLst>
              <a:gd name="adj" fmla="val 9000"/>
            </a:avLst>
          </a:prstGeom>
          <a:solidFill>
            <a:srgbClr val="1E2761"/>
          </a:solidFill>
          <a:ln/>
        </p:spPr>
        <p:txBody>
          <a:bodyPr/>
          <a:lstStyle/>
          <a:p>
            <a:endParaRPr lang="ru-RU"/>
          </a:p>
        </p:txBody>
      </p:sp>
      <p:sp>
        <p:nvSpPr>
          <p:cNvPr id="12" name="Text 10"/>
          <p:cNvSpPr txBox="1"/>
          <p:nvPr/>
        </p:nvSpPr>
        <p:spPr>
          <a:xfrm>
            <a:off x="548640" y="3182112"/>
            <a:ext cx="914400" cy="1234440"/>
          </a:xfrm>
          <a:prstGeom prst="rect">
            <a:avLst/>
          </a:prstGeom>
          <a:noFill/>
          <a:ln/>
        </p:spPr>
        <p:txBody>
          <a:bodyPr wrap="square" lIns="50800" tIns="50800" rIns="50800" bIns="50800" rtlCol="0" anchor="ctr"/>
          <a:lstStyle/>
          <a:p>
            <a:pPr marL="0" indent="0" algn="ctr">
              <a:lnSpc>
                <a:spcPct val="100000"/>
              </a:lnSpc>
              <a:buNone/>
            </a:pPr>
            <a:r>
              <a:rPr lang="en-US" sz="3200" b="1" dirty="0">
                <a:solidFill>
                  <a:srgbClr val="FFFFFF"/>
                </a:solidFill>
                <a:latin typeface="Times New Roman" pitchFamily="34" charset="0"/>
                <a:ea typeface="Times New Roman" pitchFamily="34" charset="-122"/>
                <a:cs typeface="Times New Roman" pitchFamily="34" charset="-120"/>
              </a:rPr>
              <a:t>I</a:t>
            </a:r>
            <a:endParaRPr lang="en-US" sz="3200" dirty="0"/>
          </a:p>
        </p:txBody>
      </p:sp>
      <p:sp>
        <p:nvSpPr>
          <p:cNvPr id="13" name="Text 11"/>
          <p:cNvSpPr txBox="1"/>
          <p:nvPr/>
        </p:nvSpPr>
        <p:spPr>
          <a:xfrm>
            <a:off x="1691640" y="3346704"/>
            <a:ext cx="5394960" cy="411480"/>
          </a:xfrm>
          <a:prstGeom prst="rect">
            <a:avLst/>
          </a:prstGeom>
          <a:noFill/>
          <a:ln/>
        </p:spPr>
        <p:txBody>
          <a:bodyPr wrap="square" lIns="0" tIns="0" rIns="0" bIns="0" rtlCol="0" anchor="t"/>
          <a:lstStyle/>
          <a:p>
            <a:pPr marL="0" indent="0" algn="l">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Bir martali parollar</a:t>
            </a:r>
            <a:endParaRPr lang="en-US" sz="2000" dirty="0"/>
          </a:p>
        </p:txBody>
      </p:sp>
      <p:sp>
        <p:nvSpPr>
          <p:cNvPr id="14" name="Text 12"/>
          <p:cNvSpPr txBox="1"/>
          <p:nvPr/>
        </p:nvSpPr>
        <p:spPr>
          <a:xfrm>
            <a:off x="1691640" y="3822192"/>
            <a:ext cx="5669280" cy="411480"/>
          </a:xfrm>
          <a:prstGeom prst="rect">
            <a:avLst/>
          </a:prstGeom>
          <a:noFill/>
          <a:ln/>
        </p:spPr>
        <p:txBody>
          <a:bodyPr wrap="square" lIns="0" tIns="0" rIns="0" bIns="0" rtlCol="0" anchor="t"/>
          <a:lstStyle/>
          <a:p>
            <a:pPr marL="0" indent="0" algn="l">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HOTP, dinamik kesish, TOTP, ro'yxatdan o'tish</a:t>
            </a:r>
            <a:endParaRPr lang="en-US" sz="1600" dirty="0"/>
          </a:p>
        </p:txBody>
      </p:sp>
      <p:sp>
        <p:nvSpPr>
          <p:cNvPr id="15" name="Text 13"/>
          <p:cNvSpPr txBox="1"/>
          <p:nvPr/>
        </p:nvSpPr>
        <p:spPr>
          <a:xfrm>
            <a:off x="7223760" y="3364992"/>
            <a:ext cx="1051560" cy="365760"/>
          </a:xfrm>
          <a:prstGeom prst="rect">
            <a:avLst/>
          </a:prstGeom>
          <a:noFill/>
          <a:ln/>
        </p:spPr>
        <p:txBody>
          <a:bodyPr wrap="square" lIns="0" tIns="0" rIns="0" bIns="0" rtlCol="0" anchor="t"/>
          <a:lstStyle/>
          <a:p>
            <a:pPr marL="0" indent="0" algn="r">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~40 daq.</a:t>
            </a:r>
            <a:endParaRPr lang="en-US" sz="1600" dirty="0"/>
          </a:p>
        </p:txBody>
      </p:sp>
      <p:sp>
        <p:nvSpPr>
          <p:cNvPr id="16" name="Shape 14"/>
          <p:cNvSpPr/>
          <p:nvPr/>
        </p:nvSpPr>
        <p:spPr>
          <a:xfrm>
            <a:off x="548640" y="4581144"/>
            <a:ext cx="7863840" cy="1234440"/>
          </a:xfrm>
          <a:prstGeom prst="roundRect">
            <a:avLst>
              <a:gd name="adj" fmla="val 6667"/>
            </a:avLst>
          </a:prstGeom>
          <a:solidFill>
            <a:srgbClr val="EEF2FB"/>
          </a:solidFill>
          <a:ln/>
        </p:spPr>
        <p:txBody>
          <a:bodyPr/>
          <a:lstStyle/>
          <a:p>
            <a:endParaRPr lang="ru-RU"/>
          </a:p>
        </p:txBody>
      </p:sp>
      <p:sp>
        <p:nvSpPr>
          <p:cNvPr id="17" name="Shape 15"/>
          <p:cNvSpPr/>
          <p:nvPr/>
        </p:nvSpPr>
        <p:spPr>
          <a:xfrm>
            <a:off x="548640" y="4581144"/>
            <a:ext cx="914400" cy="1234440"/>
          </a:xfrm>
          <a:prstGeom prst="roundRect">
            <a:avLst>
              <a:gd name="adj" fmla="val 9000"/>
            </a:avLst>
          </a:prstGeom>
          <a:solidFill>
            <a:srgbClr val="1E2761"/>
          </a:solidFill>
          <a:ln/>
        </p:spPr>
        <p:txBody>
          <a:bodyPr/>
          <a:lstStyle/>
          <a:p>
            <a:endParaRPr lang="ru-RU"/>
          </a:p>
        </p:txBody>
      </p:sp>
      <p:sp>
        <p:nvSpPr>
          <p:cNvPr id="18" name="Text 16"/>
          <p:cNvSpPr txBox="1"/>
          <p:nvPr/>
        </p:nvSpPr>
        <p:spPr>
          <a:xfrm>
            <a:off x="548640" y="4581144"/>
            <a:ext cx="914400" cy="1234440"/>
          </a:xfrm>
          <a:prstGeom prst="rect">
            <a:avLst/>
          </a:prstGeom>
          <a:noFill/>
          <a:ln/>
        </p:spPr>
        <p:txBody>
          <a:bodyPr wrap="square" lIns="50800" tIns="50800" rIns="50800" bIns="50800" rtlCol="0" anchor="ctr"/>
          <a:lstStyle/>
          <a:p>
            <a:pPr marL="0" indent="0" algn="ctr">
              <a:lnSpc>
                <a:spcPct val="100000"/>
              </a:lnSpc>
              <a:buNone/>
            </a:pPr>
            <a:r>
              <a:rPr lang="en-US" sz="3200" b="1" dirty="0">
                <a:solidFill>
                  <a:srgbClr val="FFFFFF"/>
                </a:solidFill>
                <a:latin typeface="Times New Roman" pitchFamily="34" charset="0"/>
                <a:ea typeface="Times New Roman" pitchFamily="34" charset="-122"/>
                <a:cs typeface="Times New Roman" pitchFamily="34" charset="-120"/>
              </a:rPr>
              <a:t>II</a:t>
            </a:r>
            <a:endParaRPr lang="en-US" sz="3200" dirty="0"/>
          </a:p>
        </p:txBody>
      </p:sp>
      <p:sp>
        <p:nvSpPr>
          <p:cNvPr id="19" name="Text 17"/>
          <p:cNvSpPr txBox="1"/>
          <p:nvPr/>
        </p:nvSpPr>
        <p:spPr>
          <a:xfrm>
            <a:off x="1691640" y="4745736"/>
            <a:ext cx="5394960" cy="411480"/>
          </a:xfrm>
          <a:prstGeom prst="rect">
            <a:avLst/>
          </a:prstGeom>
          <a:noFill/>
          <a:ln/>
        </p:spPr>
        <p:txBody>
          <a:bodyPr wrap="square" lIns="0" tIns="0" rIns="0" bIns="0" rtlCol="0" anchor="t"/>
          <a:lstStyle/>
          <a:p>
            <a:pPr marL="0" indent="0" algn="l">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Ko'p omilli autentifikatsiya</a:t>
            </a:r>
            <a:endParaRPr lang="en-US" sz="2000" dirty="0"/>
          </a:p>
        </p:txBody>
      </p:sp>
      <p:sp>
        <p:nvSpPr>
          <p:cNvPr id="20" name="Text 18"/>
          <p:cNvSpPr txBox="1"/>
          <p:nvPr/>
        </p:nvSpPr>
        <p:spPr>
          <a:xfrm>
            <a:off x="1691640" y="5221224"/>
            <a:ext cx="5669280" cy="411480"/>
          </a:xfrm>
          <a:prstGeom prst="rect">
            <a:avLst/>
          </a:prstGeom>
          <a:noFill/>
          <a:ln/>
        </p:spPr>
        <p:txBody>
          <a:bodyPr wrap="square" lIns="0" tIns="0" rIns="0" bIns="0" rtlCol="0" anchor="t"/>
          <a:lstStyle/>
          <a:p>
            <a:pPr marL="0" indent="0" algn="l">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MFA'ni aylanib o'tish hujumlari, NIST AAL</a:t>
            </a:r>
            <a:endParaRPr lang="en-US" sz="1600" dirty="0"/>
          </a:p>
        </p:txBody>
      </p:sp>
      <p:sp>
        <p:nvSpPr>
          <p:cNvPr id="21" name="Text 19"/>
          <p:cNvSpPr txBox="1"/>
          <p:nvPr/>
        </p:nvSpPr>
        <p:spPr>
          <a:xfrm>
            <a:off x="7223760" y="4764024"/>
            <a:ext cx="1051560" cy="365760"/>
          </a:xfrm>
          <a:prstGeom prst="rect">
            <a:avLst/>
          </a:prstGeom>
          <a:noFill/>
          <a:ln/>
        </p:spPr>
        <p:txBody>
          <a:bodyPr wrap="square" lIns="0" tIns="0" rIns="0" bIns="0" rtlCol="0" anchor="t"/>
          <a:lstStyle/>
          <a:p>
            <a:pPr marL="0" indent="0" algn="r">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~30 daq.</a:t>
            </a:r>
            <a:endParaRPr lang="en-US" sz="1600" dirty="0"/>
          </a:p>
        </p:txBody>
      </p:sp>
      <p:sp>
        <p:nvSpPr>
          <p:cNvPr id="22" name="Shape 20"/>
          <p:cNvSpPr/>
          <p:nvPr/>
        </p:nvSpPr>
        <p:spPr>
          <a:xfrm>
            <a:off x="8686800" y="1783080"/>
            <a:ext cx="2926080" cy="4032504"/>
          </a:xfrm>
          <a:prstGeom prst="roundRect">
            <a:avLst>
              <a:gd name="adj" fmla="val 2813"/>
            </a:avLst>
          </a:prstGeom>
          <a:solidFill>
            <a:srgbClr val="FDF3E2"/>
          </a:solidFill>
          <a:ln/>
        </p:spPr>
        <p:txBody>
          <a:bodyPr/>
          <a:lstStyle/>
          <a:p>
            <a:endParaRPr lang="ru-RU"/>
          </a:p>
        </p:txBody>
      </p:sp>
      <p:sp>
        <p:nvSpPr>
          <p:cNvPr id="23" name="Shape 21"/>
          <p:cNvSpPr/>
          <p:nvPr/>
        </p:nvSpPr>
        <p:spPr>
          <a:xfrm>
            <a:off x="8961120" y="2011680"/>
            <a:ext cx="566928" cy="566928"/>
          </a:xfrm>
          <a:prstGeom prst="ellipse">
            <a:avLst/>
          </a:prstGeom>
          <a:solidFill>
            <a:srgbClr val="D9932B"/>
          </a:solidFill>
          <a:ln/>
        </p:spPr>
        <p:txBody>
          <a:bodyPr/>
          <a:lstStyle/>
          <a:p>
            <a:endParaRPr lang="ru-RU"/>
          </a:p>
        </p:txBody>
      </p:sp>
      <p:pic>
        <p:nvPicPr>
          <p:cNvPr id="24" name="Image 0" descr="/home/claude/fob-slides/icons_out/bulb_white.png"/>
          <p:cNvPicPr>
            <a:picLocks noChangeAspect="1"/>
          </p:cNvPicPr>
          <p:nvPr/>
        </p:nvPicPr>
        <p:blipFill>
          <a:blip r:embed="rId3"/>
          <a:stretch>
            <a:fillRect/>
          </a:stretch>
        </p:blipFill>
        <p:spPr>
          <a:xfrm>
            <a:off x="9088679" y="2139239"/>
            <a:ext cx="311810" cy="311810"/>
          </a:xfrm>
          <a:prstGeom prst="rect">
            <a:avLst/>
          </a:prstGeom>
        </p:spPr>
      </p:pic>
      <p:sp>
        <p:nvSpPr>
          <p:cNvPr id="25" name="Text 22"/>
          <p:cNvSpPr txBox="1"/>
          <p:nvPr/>
        </p:nvSpPr>
        <p:spPr>
          <a:xfrm>
            <a:off x="8961120" y="2697480"/>
            <a:ext cx="2468880" cy="411480"/>
          </a:xfrm>
          <a:prstGeom prst="rect">
            <a:avLst/>
          </a:prstGeom>
          <a:noFill/>
          <a:ln/>
        </p:spPr>
        <p:txBody>
          <a:bodyPr wrap="square" lIns="0" tIns="0" rIns="0" bIns="0" rtlCol="0" anchor="t"/>
          <a:lstStyle/>
          <a:p>
            <a:pPr marL="0" indent="0" algn="l">
              <a:lnSpc>
                <a:spcPct val="100000"/>
              </a:lnSpc>
              <a:buNone/>
            </a:pPr>
            <a:r>
              <a:rPr lang="en-US" sz="1800" b="1" dirty="0">
                <a:solidFill>
                  <a:srgbClr val="9A5B00"/>
                </a:solidFill>
                <a:latin typeface="Times New Roman" pitchFamily="34" charset="0"/>
                <a:ea typeface="Times New Roman" pitchFamily="34" charset="-122"/>
                <a:cs typeface="Times New Roman" pitchFamily="34" charset="-120"/>
              </a:rPr>
              <a:t>Interaktiv nuqtalar</a:t>
            </a:r>
            <a:endParaRPr lang="en-US" sz="1800" dirty="0"/>
          </a:p>
        </p:txBody>
      </p:sp>
      <p:sp>
        <p:nvSpPr>
          <p:cNvPr id="26" name="Text 23"/>
          <p:cNvSpPr txBox="1"/>
          <p:nvPr/>
        </p:nvSpPr>
        <p:spPr>
          <a:xfrm>
            <a:off x="9006840" y="3154680"/>
            <a:ext cx="2514600" cy="256032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Muhokama: haqiqiy 2FA qaysi?</a:t>
            </a:r>
            <a:endParaRPr lang="en-US" sz="1600" dirty="0"/>
          </a:p>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Mini-vazifa: TOTP hisoblash</a:t>
            </a:r>
            <a:endParaRPr lang="en-US" sz="1600" dirty="0"/>
          </a:p>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Loyiha: HEMIS uchun MFA</a:t>
            </a:r>
            <a:endParaRPr lang="en-US" sz="1600" dirty="0"/>
          </a:p>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Tezkor test (4 savol)</a:t>
            </a:r>
            <a:endParaRPr lang="en-US" sz="1600" dirty="0"/>
          </a:p>
        </p:txBody>
      </p:sp>
      <p:sp>
        <p:nvSpPr>
          <p:cNvPr id="27" name="Text 24"/>
          <p:cNvSpPr txBox="1"/>
          <p:nvPr/>
        </p:nvSpPr>
        <p:spPr>
          <a:xfrm>
            <a:off x="548640" y="6492240"/>
            <a:ext cx="7315200" cy="274320"/>
          </a:xfrm>
          <a:prstGeom prst="rect">
            <a:avLst/>
          </a:prstGeom>
          <a:noFill/>
          <a:ln/>
        </p:spPr>
        <p:txBody>
          <a:bodyPr wrap="square" lIns="0" tIns="0" rIns="0" bIns="0" rtlCol="0" anchor="ctr"/>
          <a:lstStyle/>
          <a:p>
            <a:pPr marL="0" indent="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4-ma'ruza</a:t>
            </a:r>
            <a:endParaRPr lang="en-US" sz="1100" dirty="0"/>
          </a:p>
        </p:txBody>
      </p:sp>
      <p:sp>
        <p:nvSpPr>
          <p:cNvPr id="28" name="Text 25"/>
          <p:cNvSpPr txBox="1"/>
          <p:nvPr/>
        </p:nvSpPr>
        <p:spPr>
          <a:xfrm>
            <a:off x="11155680" y="6492240"/>
            <a:ext cx="457200" cy="274320"/>
          </a:xfrm>
          <a:prstGeom prst="rect">
            <a:avLst/>
          </a:prstGeom>
          <a:noFill/>
          <a:ln/>
        </p:spPr>
        <p:txBody>
          <a:bodyPr wrap="square" lIns="0" tIns="0" rIns="0" bIns="0" rtlCol="0" anchor="ctr"/>
          <a:lstStyle/>
          <a:p>
            <a:pPr marL="0" indent="0" algn="r">
              <a:buNone/>
            </a:pPr>
            <a:r>
              <a:rPr lang="en-US" sz="1100" dirty="0">
                <a:solidFill>
                  <a:srgbClr val="5B6270"/>
                </a:solidFill>
                <a:latin typeface="Times New Roman" pitchFamily="34" charset="0"/>
                <a:ea typeface="Times New Roman" pitchFamily="34" charset="-122"/>
                <a:cs typeface="Times New Roman"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marL="0" indent="0">
              <a:buNone/>
            </a:pPr>
            <a:r>
              <a:rPr lang="en-US" sz="1600" b="1" kern="0" spc="220" dirty="0">
                <a:solidFill>
                  <a:srgbClr val="5B6270"/>
                </a:solidFill>
                <a:latin typeface="Times New Roman" pitchFamily="34" charset="0"/>
                <a:ea typeface="Times New Roman" pitchFamily="34" charset="-122"/>
                <a:cs typeface="Times New Roman" pitchFamily="34" charset="-120"/>
              </a:rPr>
              <a:t>KIRISH</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marL="0" indent="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Parol sizib chiqsa, hujumchini nima to'xtatadi?</a:t>
            </a:r>
            <a:endParaRPr lang="en-US" sz="3600" dirty="0"/>
          </a:p>
        </p:txBody>
      </p:sp>
      <p:sp>
        <p:nvSpPr>
          <p:cNvPr id="4" name="Shape 2"/>
          <p:cNvSpPr/>
          <p:nvPr/>
        </p:nvSpPr>
        <p:spPr>
          <a:xfrm>
            <a:off x="548640" y="1783080"/>
            <a:ext cx="5669280" cy="896112"/>
          </a:xfrm>
          <a:prstGeom prst="roundRect">
            <a:avLst>
              <a:gd name="adj" fmla="val 9184"/>
            </a:avLst>
          </a:prstGeom>
          <a:solidFill>
            <a:srgbClr val="F7ECEA"/>
          </a:solidFill>
          <a:ln/>
        </p:spPr>
        <p:txBody>
          <a:bodyPr/>
          <a:lstStyle/>
          <a:p>
            <a:endParaRPr lang="ru-RU"/>
          </a:p>
        </p:txBody>
      </p:sp>
      <p:sp>
        <p:nvSpPr>
          <p:cNvPr id="5" name="Shape 3"/>
          <p:cNvSpPr/>
          <p:nvPr/>
        </p:nvSpPr>
        <p:spPr>
          <a:xfrm>
            <a:off x="731520" y="1947672"/>
            <a:ext cx="566928" cy="566928"/>
          </a:xfrm>
          <a:prstGeom prst="ellipse">
            <a:avLst/>
          </a:prstGeom>
          <a:solidFill>
            <a:srgbClr val="9E3B2E"/>
          </a:solidFill>
          <a:ln/>
        </p:spPr>
        <p:txBody>
          <a:bodyPr/>
          <a:lstStyle/>
          <a:p>
            <a:endParaRPr lang="ru-RU"/>
          </a:p>
        </p:txBody>
      </p:sp>
      <p:pic>
        <p:nvPicPr>
          <p:cNvPr id="6" name="Image 0" descr="/home/claude/fob-slides/icons_out/fish_white.png"/>
          <p:cNvPicPr>
            <a:picLocks noChangeAspect="1"/>
          </p:cNvPicPr>
          <p:nvPr/>
        </p:nvPicPr>
        <p:blipFill>
          <a:blip r:embed="rId3"/>
          <a:stretch>
            <a:fillRect/>
          </a:stretch>
        </p:blipFill>
        <p:spPr>
          <a:xfrm>
            <a:off x="859079" y="2075231"/>
            <a:ext cx="311810" cy="311810"/>
          </a:xfrm>
          <a:prstGeom prst="rect">
            <a:avLst/>
          </a:prstGeom>
        </p:spPr>
      </p:pic>
      <p:sp>
        <p:nvSpPr>
          <p:cNvPr id="7" name="Text 4"/>
          <p:cNvSpPr txBox="1"/>
          <p:nvPr/>
        </p:nvSpPr>
        <p:spPr>
          <a:xfrm>
            <a:off x="1463040" y="1856232"/>
            <a:ext cx="4572000" cy="384048"/>
          </a:xfrm>
          <a:prstGeom prst="rect">
            <a:avLst/>
          </a:prstGeom>
          <a:noFill/>
          <a:ln/>
        </p:spPr>
        <p:txBody>
          <a:bodyPr wrap="square" lIns="0" tIns="0" rIns="0" bIns="0" rtlCol="0" anchor="t"/>
          <a:lstStyle/>
          <a:p>
            <a:pPr marL="0" indent="0" algn="l">
              <a:lnSpc>
                <a:spcPct val="100000"/>
              </a:lnSpc>
              <a:buNone/>
            </a:pPr>
            <a:r>
              <a:rPr lang="en-US" sz="1800" b="1" dirty="0">
                <a:solidFill>
                  <a:srgbClr val="9E3B2E"/>
                </a:solidFill>
                <a:latin typeface="Times New Roman" pitchFamily="34" charset="0"/>
                <a:ea typeface="Times New Roman" pitchFamily="34" charset="-122"/>
                <a:cs typeface="Times New Roman" pitchFamily="34" charset="-120"/>
              </a:rPr>
              <a:t>Fishing</a:t>
            </a:r>
            <a:endParaRPr lang="en-US" sz="1800" dirty="0"/>
          </a:p>
        </p:txBody>
      </p:sp>
      <p:sp>
        <p:nvSpPr>
          <p:cNvPr id="8" name="Text 5"/>
          <p:cNvSpPr txBox="1"/>
          <p:nvPr/>
        </p:nvSpPr>
        <p:spPr>
          <a:xfrm>
            <a:off x="1463040" y="2240280"/>
            <a:ext cx="4572000" cy="365760"/>
          </a:xfrm>
          <a:prstGeom prst="rect">
            <a:avLst/>
          </a:prstGeom>
          <a:noFill/>
          <a:ln/>
        </p:spPr>
        <p:txBody>
          <a:bodyPr wrap="square" lIns="0" tIns="0" rIns="0" bIns="0" rtlCol="0" anchor="t"/>
          <a:lstStyle/>
          <a:p>
            <a:pPr marL="0" indent="0" algn="l">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Foydalanuvchi parolni soxta saytga o'zi kiritadi</a:t>
            </a:r>
            <a:endParaRPr lang="en-US" sz="1600" dirty="0"/>
          </a:p>
        </p:txBody>
      </p:sp>
      <p:sp>
        <p:nvSpPr>
          <p:cNvPr id="9" name="Shape 6"/>
          <p:cNvSpPr/>
          <p:nvPr/>
        </p:nvSpPr>
        <p:spPr>
          <a:xfrm>
            <a:off x="548640" y="2807208"/>
            <a:ext cx="5669280" cy="896112"/>
          </a:xfrm>
          <a:prstGeom prst="roundRect">
            <a:avLst>
              <a:gd name="adj" fmla="val 9184"/>
            </a:avLst>
          </a:prstGeom>
          <a:solidFill>
            <a:srgbClr val="F7ECEA"/>
          </a:solidFill>
          <a:ln/>
        </p:spPr>
        <p:txBody>
          <a:bodyPr/>
          <a:lstStyle/>
          <a:p>
            <a:endParaRPr lang="ru-RU"/>
          </a:p>
        </p:txBody>
      </p:sp>
      <p:sp>
        <p:nvSpPr>
          <p:cNvPr id="10" name="Shape 7"/>
          <p:cNvSpPr/>
          <p:nvPr/>
        </p:nvSpPr>
        <p:spPr>
          <a:xfrm>
            <a:off x="731520" y="2971800"/>
            <a:ext cx="566928" cy="566928"/>
          </a:xfrm>
          <a:prstGeom prst="ellipse">
            <a:avLst/>
          </a:prstGeom>
          <a:solidFill>
            <a:srgbClr val="9E3B2E"/>
          </a:solidFill>
          <a:ln/>
        </p:spPr>
        <p:txBody>
          <a:bodyPr/>
          <a:lstStyle/>
          <a:p>
            <a:endParaRPr lang="ru-RU"/>
          </a:p>
        </p:txBody>
      </p:sp>
      <p:pic>
        <p:nvPicPr>
          <p:cNvPr id="11" name="Image 1" descr="/home/claude/fob-slides/icons_out/database_white.png"/>
          <p:cNvPicPr>
            <a:picLocks noChangeAspect="1"/>
          </p:cNvPicPr>
          <p:nvPr/>
        </p:nvPicPr>
        <p:blipFill>
          <a:blip r:embed="rId4"/>
          <a:stretch>
            <a:fillRect/>
          </a:stretch>
        </p:blipFill>
        <p:spPr>
          <a:xfrm>
            <a:off x="859079" y="3099359"/>
            <a:ext cx="311810" cy="311810"/>
          </a:xfrm>
          <a:prstGeom prst="rect">
            <a:avLst/>
          </a:prstGeom>
        </p:spPr>
      </p:pic>
      <p:sp>
        <p:nvSpPr>
          <p:cNvPr id="12" name="Text 8"/>
          <p:cNvSpPr txBox="1"/>
          <p:nvPr/>
        </p:nvSpPr>
        <p:spPr>
          <a:xfrm>
            <a:off x="1463040" y="2880360"/>
            <a:ext cx="4572000" cy="384048"/>
          </a:xfrm>
          <a:prstGeom prst="rect">
            <a:avLst/>
          </a:prstGeom>
          <a:noFill/>
          <a:ln/>
        </p:spPr>
        <p:txBody>
          <a:bodyPr wrap="square" lIns="0" tIns="0" rIns="0" bIns="0" rtlCol="0" anchor="t"/>
          <a:lstStyle/>
          <a:p>
            <a:pPr marL="0" indent="0" algn="l">
              <a:lnSpc>
                <a:spcPct val="100000"/>
              </a:lnSpc>
              <a:buNone/>
            </a:pPr>
            <a:r>
              <a:rPr lang="en-US" sz="1800" b="1" dirty="0">
                <a:solidFill>
                  <a:srgbClr val="9E3B2E"/>
                </a:solidFill>
                <a:latin typeface="Times New Roman" pitchFamily="34" charset="0"/>
                <a:ea typeface="Times New Roman" pitchFamily="34" charset="-122"/>
                <a:cs typeface="Times New Roman" pitchFamily="34" charset="-120"/>
              </a:rPr>
              <a:t>Boshqa saytdan sizish</a:t>
            </a:r>
            <a:endParaRPr lang="en-US" sz="1800" dirty="0"/>
          </a:p>
        </p:txBody>
      </p:sp>
      <p:sp>
        <p:nvSpPr>
          <p:cNvPr id="13" name="Text 9"/>
          <p:cNvSpPr txBox="1"/>
          <p:nvPr/>
        </p:nvSpPr>
        <p:spPr>
          <a:xfrm>
            <a:off x="1463040" y="3264408"/>
            <a:ext cx="4572000" cy="365760"/>
          </a:xfrm>
          <a:prstGeom prst="rect">
            <a:avLst/>
          </a:prstGeom>
          <a:noFill/>
          <a:ln/>
        </p:spPr>
        <p:txBody>
          <a:bodyPr wrap="square" lIns="0" tIns="0" rIns="0" bIns="0" rtlCol="0" anchor="t"/>
          <a:lstStyle/>
          <a:p>
            <a:pPr marL="0" indent="0" algn="l">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Takroriy parol — credential stuffing</a:t>
            </a:r>
            <a:endParaRPr lang="en-US" sz="1600" dirty="0"/>
          </a:p>
        </p:txBody>
      </p:sp>
      <p:sp>
        <p:nvSpPr>
          <p:cNvPr id="14" name="Shape 10"/>
          <p:cNvSpPr/>
          <p:nvPr/>
        </p:nvSpPr>
        <p:spPr>
          <a:xfrm>
            <a:off x="548640" y="3831336"/>
            <a:ext cx="5669280" cy="896112"/>
          </a:xfrm>
          <a:prstGeom prst="roundRect">
            <a:avLst>
              <a:gd name="adj" fmla="val 9184"/>
            </a:avLst>
          </a:prstGeom>
          <a:solidFill>
            <a:srgbClr val="F7ECEA"/>
          </a:solidFill>
          <a:ln/>
        </p:spPr>
        <p:txBody>
          <a:bodyPr/>
          <a:lstStyle/>
          <a:p>
            <a:endParaRPr lang="ru-RU"/>
          </a:p>
        </p:txBody>
      </p:sp>
      <p:sp>
        <p:nvSpPr>
          <p:cNvPr id="15" name="Shape 11"/>
          <p:cNvSpPr/>
          <p:nvPr/>
        </p:nvSpPr>
        <p:spPr>
          <a:xfrm>
            <a:off x="731520" y="3995928"/>
            <a:ext cx="566928" cy="566928"/>
          </a:xfrm>
          <a:prstGeom prst="ellipse">
            <a:avLst/>
          </a:prstGeom>
          <a:solidFill>
            <a:srgbClr val="9E3B2E"/>
          </a:solidFill>
          <a:ln/>
        </p:spPr>
        <p:txBody>
          <a:bodyPr/>
          <a:lstStyle/>
          <a:p>
            <a:endParaRPr lang="ru-RU"/>
          </a:p>
        </p:txBody>
      </p:sp>
      <p:pic>
        <p:nvPicPr>
          <p:cNvPr id="16" name="Image 2" descr="/home/claude/fob-slides/icons_out/keyboard_white.png"/>
          <p:cNvPicPr>
            <a:picLocks noChangeAspect="1"/>
          </p:cNvPicPr>
          <p:nvPr/>
        </p:nvPicPr>
        <p:blipFill>
          <a:blip r:embed="rId5"/>
          <a:stretch>
            <a:fillRect/>
          </a:stretch>
        </p:blipFill>
        <p:spPr>
          <a:xfrm>
            <a:off x="859079" y="4123487"/>
            <a:ext cx="311810" cy="311810"/>
          </a:xfrm>
          <a:prstGeom prst="rect">
            <a:avLst/>
          </a:prstGeom>
        </p:spPr>
      </p:pic>
      <p:sp>
        <p:nvSpPr>
          <p:cNvPr id="17" name="Text 12"/>
          <p:cNvSpPr txBox="1"/>
          <p:nvPr/>
        </p:nvSpPr>
        <p:spPr>
          <a:xfrm>
            <a:off x="1463040" y="3904488"/>
            <a:ext cx="4572000" cy="384048"/>
          </a:xfrm>
          <a:prstGeom prst="rect">
            <a:avLst/>
          </a:prstGeom>
          <a:noFill/>
          <a:ln/>
        </p:spPr>
        <p:txBody>
          <a:bodyPr wrap="square" lIns="0" tIns="0" rIns="0" bIns="0" rtlCol="0" anchor="t"/>
          <a:lstStyle/>
          <a:p>
            <a:pPr marL="0" indent="0" algn="l">
              <a:lnSpc>
                <a:spcPct val="100000"/>
              </a:lnSpc>
              <a:buNone/>
            </a:pPr>
            <a:r>
              <a:rPr lang="en-US" sz="1800" b="1" dirty="0">
                <a:solidFill>
                  <a:srgbClr val="9E3B2E"/>
                </a:solidFill>
                <a:latin typeface="Times New Roman" pitchFamily="34" charset="0"/>
                <a:ea typeface="Times New Roman" pitchFamily="34" charset="-122"/>
                <a:cs typeface="Times New Roman" pitchFamily="34" charset="-120"/>
              </a:rPr>
              <a:t>Keylogger</a:t>
            </a:r>
            <a:endParaRPr lang="en-US" sz="1800" dirty="0"/>
          </a:p>
        </p:txBody>
      </p:sp>
      <p:sp>
        <p:nvSpPr>
          <p:cNvPr id="18" name="Text 13"/>
          <p:cNvSpPr txBox="1"/>
          <p:nvPr/>
        </p:nvSpPr>
        <p:spPr>
          <a:xfrm>
            <a:off x="1463040" y="4288536"/>
            <a:ext cx="4572000" cy="365760"/>
          </a:xfrm>
          <a:prstGeom prst="rect">
            <a:avLst/>
          </a:prstGeom>
          <a:noFill/>
          <a:ln/>
        </p:spPr>
        <p:txBody>
          <a:bodyPr wrap="square" lIns="0" tIns="0" rIns="0" bIns="0" rtlCol="0" anchor="t"/>
          <a:lstStyle/>
          <a:p>
            <a:pPr marL="0" indent="0" algn="l">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Klaviaturadan yozib olinadi</a:t>
            </a:r>
            <a:endParaRPr lang="en-US" sz="1600" dirty="0"/>
          </a:p>
        </p:txBody>
      </p:sp>
      <p:sp>
        <p:nvSpPr>
          <p:cNvPr id="19" name="Text 14"/>
          <p:cNvSpPr txBox="1"/>
          <p:nvPr/>
        </p:nvSpPr>
        <p:spPr>
          <a:xfrm>
            <a:off x="548640" y="4892040"/>
            <a:ext cx="5669280" cy="685800"/>
          </a:xfrm>
          <a:prstGeom prst="rect">
            <a:avLst/>
          </a:prstGeom>
          <a:noFill/>
          <a:ln/>
        </p:spPr>
        <p:txBody>
          <a:bodyPr wrap="square" lIns="0" tIns="0" rIns="0" bIns="0" rtlCol="0" anchor="t"/>
          <a:lstStyle/>
          <a:p>
            <a:pPr marL="0" indent="0" algn="l">
              <a:lnSpc>
                <a:spcPct val="100000"/>
              </a:lnSpc>
              <a:buNone/>
            </a:pPr>
            <a:r>
              <a:rPr lang="en-US" sz="1600" dirty="0">
                <a:solidFill>
                  <a:srgbClr val="1E2761"/>
                </a:solidFill>
                <a:latin typeface="Times New Roman" pitchFamily="34" charset="0"/>
                <a:ea typeface="Times New Roman" pitchFamily="34" charset="-122"/>
                <a:cs typeface="Times New Roman" pitchFamily="34" charset="-120"/>
              </a:rPr>
              <a:t>Uchala holatda ham hujumchi to'g'ri parolga ega. Argon2id bu yerda yordam bermaydi.</a:t>
            </a:r>
            <a:endParaRPr lang="en-US" sz="1600" dirty="0"/>
          </a:p>
        </p:txBody>
      </p:sp>
      <p:sp>
        <p:nvSpPr>
          <p:cNvPr id="20" name="Shape 15"/>
          <p:cNvSpPr/>
          <p:nvPr/>
        </p:nvSpPr>
        <p:spPr>
          <a:xfrm>
            <a:off x="6492240" y="1783080"/>
            <a:ext cx="5120640" cy="3794760"/>
          </a:xfrm>
          <a:prstGeom prst="roundRect">
            <a:avLst>
              <a:gd name="adj" fmla="val 2169"/>
            </a:avLst>
          </a:prstGeom>
          <a:solidFill>
            <a:srgbClr val="1E2761"/>
          </a:solidFill>
          <a:ln/>
        </p:spPr>
        <p:txBody>
          <a:bodyPr/>
          <a:lstStyle/>
          <a:p>
            <a:endParaRPr lang="ru-RU"/>
          </a:p>
        </p:txBody>
      </p:sp>
      <p:sp>
        <p:nvSpPr>
          <p:cNvPr id="21" name="Text 16"/>
          <p:cNvSpPr txBox="1"/>
          <p:nvPr/>
        </p:nvSpPr>
        <p:spPr>
          <a:xfrm>
            <a:off x="6492240" y="2011680"/>
            <a:ext cx="5120640" cy="1188720"/>
          </a:xfrm>
          <a:prstGeom prst="rect">
            <a:avLst/>
          </a:prstGeom>
          <a:noFill/>
          <a:ln/>
        </p:spPr>
        <p:txBody>
          <a:bodyPr wrap="square" lIns="50800" tIns="50800" rIns="50800" bIns="50800" rtlCol="0" anchor="ctr"/>
          <a:lstStyle/>
          <a:p>
            <a:pPr marL="0" indent="0" algn="ctr">
              <a:lnSpc>
                <a:spcPct val="100000"/>
              </a:lnSpc>
              <a:buNone/>
            </a:pPr>
            <a:r>
              <a:rPr lang="en-US" sz="6400" b="1" dirty="0">
                <a:solidFill>
                  <a:srgbClr val="FFFFFF"/>
                </a:solidFill>
                <a:latin typeface="Times New Roman" pitchFamily="34" charset="0"/>
                <a:ea typeface="Times New Roman" pitchFamily="34" charset="-122"/>
                <a:cs typeface="Times New Roman" pitchFamily="34" charset="-120"/>
              </a:rPr>
              <a:t>&gt; 99,9%</a:t>
            </a:r>
            <a:endParaRPr lang="en-US" sz="6400" dirty="0"/>
          </a:p>
        </p:txBody>
      </p:sp>
      <p:sp>
        <p:nvSpPr>
          <p:cNvPr id="22" name="Text 17"/>
          <p:cNvSpPr txBox="1"/>
          <p:nvPr/>
        </p:nvSpPr>
        <p:spPr>
          <a:xfrm>
            <a:off x="6858000" y="3246120"/>
            <a:ext cx="4389120" cy="914400"/>
          </a:xfrm>
          <a:prstGeom prst="rect">
            <a:avLst/>
          </a:prstGeom>
          <a:noFill/>
          <a:ln/>
        </p:spPr>
        <p:txBody>
          <a:bodyPr wrap="square" lIns="50800" tIns="50800" rIns="50800" bIns="50800" rtlCol="0" anchor="ctr"/>
          <a:lstStyle/>
          <a:p>
            <a:pPr marL="0" indent="0" algn="ctr">
              <a:lnSpc>
                <a:spcPct val="100000"/>
              </a:lnSpc>
              <a:buNone/>
            </a:pPr>
            <a:r>
              <a:rPr lang="en-US" sz="1800" dirty="0">
                <a:solidFill>
                  <a:srgbClr val="CADCFC"/>
                </a:solidFill>
                <a:latin typeface="Times New Roman" pitchFamily="34" charset="0"/>
                <a:ea typeface="Times New Roman" pitchFamily="34" charset="-122"/>
                <a:cs typeface="Times New Roman" pitchFamily="34" charset="-120"/>
              </a:rPr>
              <a:t>avtomatlashtirilgan hujumlardan himoyalangan — MFA yoqilgan qayd yozuvlari</a:t>
            </a:r>
            <a:endParaRPr lang="en-US" sz="1800" dirty="0"/>
          </a:p>
        </p:txBody>
      </p:sp>
      <p:sp>
        <p:nvSpPr>
          <p:cNvPr id="23" name="Text 18"/>
          <p:cNvSpPr txBox="1"/>
          <p:nvPr/>
        </p:nvSpPr>
        <p:spPr>
          <a:xfrm>
            <a:off x="6492240" y="4206240"/>
            <a:ext cx="5120640" cy="365760"/>
          </a:xfrm>
          <a:prstGeom prst="rect">
            <a:avLst/>
          </a:prstGeom>
          <a:noFill/>
          <a:ln/>
        </p:spPr>
        <p:txBody>
          <a:bodyPr wrap="square" lIns="50800" tIns="50800" rIns="50800" bIns="50800" rtlCol="0" anchor="ctr"/>
          <a:lstStyle/>
          <a:p>
            <a:pPr marL="0" indent="0" algn="ctr">
              <a:lnSpc>
                <a:spcPct val="100000"/>
              </a:lnSpc>
              <a:buNone/>
            </a:pPr>
            <a:r>
              <a:rPr lang="en-US" sz="1400" dirty="0">
                <a:solidFill>
                  <a:srgbClr val="9FB0E0"/>
                </a:solidFill>
                <a:latin typeface="Times New Roman" pitchFamily="34" charset="0"/>
                <a:ea typeface="Times New Roman" pitchFamily="34" charset="-122"/>
                <a:cs typeface="Times New Roman" pitchFamily="34" charset="-120"/>
              </a:rPr>
              <a:t>Microsoft, 2019</a:t>
            </a:r>
            <a:endParaRPr lang="en-US" sz="1400" dirty="0"/>
          </a:p>
        </p:txBody>
      </p:sp>
      <p:sp>
        <p:nvSpPr>
          <p:cNvPr id="24" name="Shape 19"/>
          <p:cNvSpPr/>
          <p:nvPr/>
        </p:nvSpPr>
        <p:spPr>
          <a:xfrm>
            <a:off x="6766560" y="4709160"/>
            <a:ext cx="4572000" cy="640080"/>
          </a:xfrm>
          <a:prstGeom prst="roundRect">
            <a:avLst>
              <a:gd name="adj" fmla="val 12857"/>
            </a:avLst>
          </a:prstGeom>
          <a:solidFill>
            <a:srgbClr val="2A3778"/>
          </a:solidFill>
          <a:ln/>
        </p:spPr>
        <p:txBody>
          <a:bodyPr/>
          <a:lstStyle/>
          <a:p>
            <a:endParaRPr lang="ru-RU"/>
          </a:p>
        </p:txBody>
      </p:sp>
      <p:sp>
        <p:nvSpPr>
          <p:cNvPr id="25" name="Text 20"/>
          <p:cNvSpPr txBox="1"/>
          <p:nvPr/>
        </p:nvSpPr>
        <p:spPr>
          <a:xfrm>
            <a:off x="6766560" y="4709160"/>
            <a:ext cx="4572000" cy="640080"/>
          </a:xfrm>
          <a:prstGeom prst="rect">
            <a:avLst/>
          </a:prstGeom>
          <a:noFill/>
          <a:ln/>
        </p:spPr>
        <p:txBody>
          <a:bodyPr wrap="square" lIns="50800" tIns="50800" rIns="50800" bIns="50800" rtlCol="0" anchor="ctr"/>
          <a:lstStyle/>
          <a:p>
            <a:pPr marL="0" indent="0" algn="ctr">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G'oya: hujumchida yo'q ikkinchi omil</a:t>
            </a:r>
            <a:endParaRPr lang="en-US" sz="1600" dirty="0"/>
          </a:p>
        </p:txBody>
      </p:sp>
      <p:sp>
        <p:nvSpPr>
          <p:cNvPr id="26" name="Text 21"/>
          <p:cNvSpPr txBox="1"/>
          <p:nvPr/>
        </p:nvSpPr>
        <p:spPr>
          <a:xfrm>
            <a:off x="548640" y="5760720"/>
            <a:ext cx="11064240" cy="548640"/>
          </a:xfrm>
          <a:prstGeom prst="rect">
            <a:avLst/>
          </a:prstGeom>
          <a:noFill/>
          <a:ln/>
        </p:spPr>
        <p:txBody>
          <a:bodyPr wrap="square" lIns="0" tIns="0" rIns="0" bIns="0" rtlCol="0" anchor="t"/>
          <a:lstStyle/>
          <a:p>
            <a:pPr marL="0" indent="0" algn="ctr">
              <a:lnSpc>
                <a:spcPct val="100000"/>
              </a:lnSpc>
              <a:buNone/>
            </a:pPr>
            <a:r>
              <a:rPr lang="en-US" sz="1600" dirty="0">
                <a:solidFill>
                  <a:srgbClr val="1E2761"/>
                </a:solidFill>
                <a:latin typeface="Times New Roman" pitchFamily="34" charset="0"/>
                <a:ea typeface="Times New Roman" pitchFamily="34" charset="-122"/>
                <a:cs typeface="Times New Roman" pitchFamily="34" charset="-120"/>
              </a:rPr>
              <a:t>Ko'p omilli autentifikatsiya — turli turdagi omillarni birgalikda ishlatish; parol himoyasini kuchaytirishning radikal usuli [1].</a:t>
            </a:r>
            <a:endParaRPr lang="en-US" sz="1600" dirty="0"/>
          </a:p>
        </p:txBody>
      </p:sp>
      <p:sp>
        <p:nvSpPr>
          <p:cNvPr id="27" name="Text 22"/>
          <p:cNvSpPr txBox="1"/>
          <p:nvPr/>
        </p:nvSpPr>
        <p:spPr>
          <a:xfrm>
            <a:off x="548640" y="6492240"/>
            <a:ext cx="7315200" cy="274320"/>
          </a:xfrm>
          <a:prstGeom prst="rect">
            <a:avLst/>
          </a:prstGeom>
          <a:noFill/>
          <a:ln/>
        </p:spPr>
        <p:txBody>
          <a:bodyPr wrap="square" lIns="0" tIns="0" rIns="0" bIns="0" rtlCol="0" anchor="ctr"/>
          <a:lstStyle/>
          <a:p>
            <a:pPr marL="0" indent="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4-ma'ruza</a:t>
            </a:r>
            <a:endParaRPr lang="en-US" sz="1100" dirty="0"/>
          </a:p>
        </p:txBody>
      </p:sp>
      <p:sp>
        <p:nvSpPr>
          <p:cNvPr id="28" name="Text 23"/>
          <p:cNvSpPr txBox="1"/>
          <p:nvPr/>
        </p:nvSpPr>
        <p:spPr>
          <a:xfrm>
            <a:off x="11155680" y="6492240"/>
            <a:ext cx="457200" cy="274320"/>
          </a:xfrm>
          <a:prstGeom prst="rect">
            <a:avLst/>
          </a:prstGeom>
          <a:noFill/>
          <a:ln/>
        </p:spPr>
        <p:txBody>
          <a:bodyPr wrap="square" lIns="0" tIns="0" rIns="0" bIns="0" rtlCol="0" anchor="ctr"/>
          <a:lstStyle/>
          <a:p>
            <a:pPr marL="0" indent="0" algn="r">
              <a:buNone/>
            </a:pPr>
            <a:r>
              <a:rPr lang="en-US" sz="1100" dirty="0">
                <a:solidFill>
                  <a:srgbClr val="5B6270"/>
                </a:solidFill>
                <a:latin typeface="Times New Roman" pitchFamily="34" charset="0"/>
                <a:ea typeface="Times New Roman" pitchFamily="34" charset="-122"/>
                <a:cs typeface="Times New Roman"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3E2"/>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marL="0" indent="0">
              <a:buNone/>
            </a:pPr>
            <a:r>
              <a:rPr lang="en-US" sz="1600" b="1" kern="0" spc="220" dirty="0">
                <a:solidFill>
                  <a:srgbClr val="D9932B"/>
                </a:solidFill>
                <a:latin typeface="Times New Roman" pitchFamily="34" charset="0"/>
                <a:ea typeface="Times New Roman" pitchFamily="34" charset="-122"/>
                <a:cs typeface="Times New Roman" pitchFamily="34" charset="-120"/>
              </a:rPr>
              <a:t>MUHOKAMA · 5 DAQIQA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marL="0" indent="0">
              <a:lnSpc>
                <a:spcPct val="95000"/>
              </a:lnSpc>
              <a:buNone/>
            </a:pPr>
            <a:r>
              <a:rPr lang="en-US" sz="3600" b="1" dirty="0">
                <a:solidFill>
                  <a:srgbClr val="9A5B00"/>
                </a:solidFill>
                <a:latin typeface="Times New Roman" pitchFamily="34" charset="0"/>
                <a:ea typeface="Times New Roman" pitchFamily="34" charset="-122"/>
                <a:cs typeface="Times New Roman" pitchFamily="34" charset="-120"/>
              </a:rPr>
              <a:t>Qaysi biri haqiqiy ikki omilli?</a:t>
            </a:r>
            <a:endParaRPr lang="en-US" sz="3600" dirty="0"/>
          </a:p>
        </p:txBody>
      </p:sp>
      <p:sp>
        <p:nvSpPr>
          <p:cNvPr id="4" name="Shape 2"/>
          <p:cNvSpPr/>
          <p:nvPr/>
        </p:nvSpPr>
        <p:spPr>
          <a:xfrm>
            <a:off x="10744200" y="411480"/>
            <a:ext cx="868680" cy="868680"/>
          </a:xfrm>
          <a:prstGeom prst="ellipse">
            <a:avLst/>
          </a:prstGeom>
          <a:solidFill>
            <a:srgbClr val="D9932B"/>
          </a:solidFill>
          <a:ln/>
        </p:spPr>
        <p:txBody>
          <a:bodyPr/>
          <a:lstStyle/>
          <a:p>
            <a:endParaRPr lang="ru-RU"/>
          </a:p>
        </p:txBody>
      </p:sp>
      <p:pic>
        <p:nvPicPr>
          <p:cNvPr id="5" name="Image 0" descr="/home/claude/fob-slides/icons_out/users_white.png"/>
          <p:cNvPicPr>
            <a:picLocks noChangeAspect="1"/>
          </p:cNvPicPr>
          <p:nvPr/>
        </p:nvPicPr>
        <p:blipFill>
          <a:blip r:embed="rId3"/>
          <a:stretch>
            <a:fillRect/>
          </a:stretch>
        </p:blipFill>
        <p:spPr>
          <a:xfrm>
            <a:off x="10978744" y="646024"/>
            <a:ext cx="399593" cy="399593"/>
          </a:xfrm>
          <a:prstGeom prst="rect">
            <a:avLst/>
          </a:prstGeom>
        </p:spPr>
      </p:pic>
      <p:sp>
        <p:nvSpPr>
          <p:cNvPr id="6" name="Shape 3"/>
          <p:cNvSpPr/>
          <p:nvPr/>
        </p:nvSpPr>
        <p:spPr>
          <a:xfrm>
            <a:off x="548640" y="1783080"/>
            <a:ext cx="11064240" cy="731520"/>
          </a:xfrm>
          <a:prstGeom prst="roundRect">
            <a:avLst>
              <a:gd name="adj" fmla="val 11250"/>
            </a:avLst>
          </a:prstGeom>
          <a:solidFill>
            <a:srgbClr val="FFFFFF"/>
          </a:solidFill>
          <a:ln/>
        </p:spPr>
        <p:txBody>
          <a:bodyPr/>
          <a:lstStyle/>
          <a:p>
            <a:endParaRPr lang="ru-RU"/>
          </a:p>
        </p:txBody>
      </p:sp>
      <p:sp>
        <p:nvSpPr>
          <p:cNvPr id="7" name="Shape 4"/>
          <p:cNvSpPr/>
          <p:nvPr/>
        </p:nvSpPr>
        <p:spPr>
          <a:xfrm>
            <a:off x="548640" y="1783080"/>
            <a:ext cx="685800" cy="731520"/>
          </a:xfrm>
          <a:prstGeom prst="roundRect">
            <a:avLst>
              <a:gd name="adj" fmla="val 12000"/>
            </a:avLst>
          </a:prstGeom>
          <a:solidFill>
            <a:srgbClr val="D9932B"/>
          </a:solidFill>
          <a:ln/>
        </p:spPr>
        <p:txBody>
          <a:bodyPr/>
          <a:lstStyle/>
          <a:p>
            <a:endParaRPr lang="ru-RU"/>
          </a:p>
        </p:txBody>
      </p:sp>
      <p:sp>
        <p:nvSpPr>
          <p:cNvPr id="8" name="Text 5"/>
          <p:cNvSpPr txBox="1"/>
          <p:nvPr/>
        </p:nvSpPr>
        <p:spPr>
          <a:xfrm>
            <a:off x="548640" y="1783080"/>
            <a:ext cx="685800" cy="731520"/>
          </a:xfrm>
          <a:prstGeom prst="rect">
            <a:avLst/>
          </a:prstGeom>
          <a:noFill/>
          <a:ln/>
        </p:spPr>
        <p:txBody>
          <a:bodyPr wrap="square" lIns="50800" tIns="50800" rIns="50800" bIns="50800" rtlCol="0" anchor="ctr"/>
          <a:lstStyle/>
          <a:p>
            <a:pPr marL="0" indent="0" algn="ctr">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a</a:t>
            </a:r>
            <a:endParaRPr lang="en-US" sz="1800" dirty="0"/>
          </a:p>
        </p:txBody>
      </p:sp>
      <p:sp>
        <p:nvSpPr>
          <p:cNvPr id="9" name="Text 6"/>
          <p:cNvSpPr txBox="1"/>
          <p:nvPr/>
        </p:nvSpPr>
        <p:spPr>
          <a:xfrm>
            <a:off x="1417320" y="1783080"/>
            <a:ext cx="8412480" cy="731520"/>
          </a:xfrm>
          <a:prstGeom prst="rect">
            <a:avLst/>
          </a:prstGeom>
          <a:noFill/>
          <a:ln/>
        </p:spPr>
        <p:txBody>
          <a:bodyPr wrap="square" lIns="0" tIns="0" rIns="0" bIns="0" rtlCol="0" anchor="ctr"/>
          <a:lstStyle/>
          <a:p>
            <a:pPr marL="0" indent="0" algn="l">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Parol + «Birinchi maktabingiz nomi?» degan maxfiy savol</a:t>
            </a:r>
            <a:endParaRPr lang="en-US" sz="1700" dirty="0"/>
          </a:p>
        </p:txBody>
      </p:sp>
      <p:sp>
        <p:nvSpPr>
          <p:cNvPr id="10" name="Shape 7"/>
          <p:cNvSpPr/>
          <p:nvPr/>
        </p:nvSpPr>
        <p:spPr>
          <a:xfrm>
            <a:off x="10012680" y="1901952"/>
            <a:ext cx="1417320" cy="493776"/>
          </a:xfrm>
          <a:prstGeom prst="roundRect">
            <a:avLst>
              <a:gd name="adj" fmla="val 16667"/>
            </a:avLst>
          </a:prstGeom>
          <a:solidFill>
            <a:srgbClr val="FDF3E2"/>
          </a:solidFill>
          <a:ln w="12700">
            <a:solidFill>
              <a:srgbClr val="D9932B"/>
            </a:solidFill>
            <a:prstDash val="solid"/>
          </a:ln>
        </p:spPr>
        <p:txBody>
          <a:bodyPr/>
          <a:lstStyle/>
          <a:p>
            <a:endParaRPr lang="ru-RU"/>
          </a:p>
        </p:txBody>
      </p:sp>
      <p:sp>
        <p:nvSpPr>
          <p:cNvPr id="11" name="Text 8"/>
          <p:cNvSpPr txBox="1"/>
          <p:nvPr/>
        </p:nvSpPr>
        <p:spPr>
          <a:xfrm>
            <a:off x="10012680" y="1901952"/>
            <a:ext cx="1417320" cy="493776"/>
          </a:xfrm>
          <a:prstGeom prst="rect">
            <a:avLst/>
          </a:prstGeom>
          <a:noFill/>
          <a:ln/>
        </p:spPr>
        <p:txBody>
          <a:bodyPr wrap="square" lIns="50800" tIns="50800" rIns="50800" bIns="50800" rtlCol="0" anchor="ctr"/>
          <a:lstStyle/>
          <a:p>
            <a:pPr marL="0" indent="0" algn="ctr">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Ha / Yo'q</a:t>
            </a:r>
            <a:endParaRPr lang="en-US" sz="1600" dirty="0"/>
          </a:p>
        </p:txBody>
      </p:sp>
      <p:sp>
        <p:nvSpPr>
          <p:cNvPr id="12" name="Shape 9"/>
          <p:cNvSpPr/>
          <p:nvPr/>
        </p:nvSpPr>
        <p:spPr>
          <a:xfrm>
            <a:off x="548640" y="2633472"/>
            <a:ext cx="11064240" cy="731520"/>
          </a:xfrm>
          <a:prstGeom prst="roundRect">
            <a:avLst>
              <a:gd name="adj" fmla="val 11250"/>
            </a:avLst>
          </a:prstGeom>
          <a:solidFill>
            <a:srgbClr val="FFFFFF"/>
          </a:solidFill>
          <a:ln/>
        </p:spPr>
        <p:txBody>
          <a:bodyPr/>
          <a:lstStyle/>
          <a:p>
            <a:endParaRPr lang="ru-RU"/>
          </a:p>
        </p:txBody>
      </p:sp>
      <p:sp>
        <p:nvSpPr>
          <p:cNvPr id="13" name="Shape 10"/>
          <p:cNvSpPr/>
          <p:nvPr/>
        </p:nvSpPr>
        <p:spPr>
          <a:xfrm>
            <a:off x="548640" y="2633472"/>
            <a:ext cx="685800" cy="731520"/>
          </a:xfrm>
          <a:prstGeom prst="roundRect">
            <a:avLst>
              <a:gd name="adj" fmla="val 12000"/>
            </a:avLst>
          </a:prstGeom>
          <a:solidFill>
            <a:srgbClr val="D9932B"/>
          </a:solidFill>
          <a:ln/>
        </p:spPr>
        <p:txBody>
          <a:bodyPr/>
          <a:lstStyle/>
          <a:p>
            <a:endParaRPr lang="ru-RU"/>
          </a:p>
        </p:txBody>
      </p:sp>
      <p:sp>
        <p:nvSpPr>
          <p:cNvPr id="14" name="Text 11"/>
          <p:cNvSpPr txBox="1"/>
          <p:nvPr/>
        </p:nvSpPr>
        <p:spPr>
          <a:xfrm>
            <a:off x="548640" y="2633472"/>
            <a:ext cx="685800" cy="731520"/>
          </a:xfrm>
          <a:prstGeom prst="rect">
            <a:avLst/>
          </a:prstGeom>
          <a:noFill/>
          <a:ln/>
        </p:spPr>
        <p:txBody>
          <a:bodyPr wrap="square" lIns="50800" tIns="50800" rIns="50800" bIns="50800" rtlCol="0" anchor="ctr"/>
          <a:lstStyle/>
          <a:p>
            <a:pPr marL="0" indent="0" algn="ctr">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b</a:t>
            </a:r>
            <a:endParaRPr lang="en-US" sz="1800" dirty="0"/>
          </a:p>
        </p:txBody>
      </p:sp>
      <p:sp>
        <p:nvSpPr>
          <p:cNvPr id="15" name="Text 12"/>
          <p:cNvSpPr txBox="1"/>
          <p:nvPr/>
        </p:nvSpPr>
        <p:spPr>
          <a:xfrm>
            <a:off x="1417320" y="2633472"/>
            <a:ext cx="8412480" cy="731520"/>
          </a:xfrm>
          <a:prstGeom prst="rect">
            <a:avLst/>
          </a:prstGeom>
          <a:noFill/>
          <a:ln/>
        </p:spPr>
        <p:txBody>
          <a:bodyPr wrap="square" lIns="0" tIns="0" rIns="0" bIns="0" rtlCol="0" anchor="ctr"/>
          <a:lstStyle/>
          <a:p>
            <a:pPr marL="0" indent="0" algn="l">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Parol + telefonga SMS orqali kelgan 6 xonali kod</a:t>
            </a:r>
            <a:endParaRPr lang="en-US" sz="1700" dirty="0"/>
          </a:p>
        </p:txBody>
      </p:sp>
      <p:sp>
        <p:nvSpPr>
          <p:cNvPr id="16" name="Shape 13"/>
          <p:cNvSpPr/>
          <p:nvPr/>
        </p:nvSpPr>
        <p:spPr>
          <a:xfrm>
            <a:off x="10012680" y="2752344"/>
            <a:ext cx="1417320" cy="493776"/>
          </a:xfrm>
          <a:prstGeom prst="roundRect">
            <a:avLst>
              <a:gd name="adj" fmla="val 16667"/>
            </a:avLst>
          </a:prstGeom>
          <a:solidFill>
            <a:srgbClr val="FDF3E2"/>
          </a:solidFill>
          <a:ln w="12700">
            <a:solidFill>
              <a:srgbClr val="D9932B"/>
            </a:solidFill>
            <a:prstDash val="solid"/>
          </a:ln>
        </p:spPr>
        <p:txBody>
          <a:bodyPr/>
          <a:lstStyle/>
          <a:p>
            <a:endParaRPr lang="ru-RU"/>
          </a:p>
        </p:txBody>
      </p:sp>
      <p:sp>
        <p:nvSpPr>
          <p:cNvPr id="17" name="Text 14"/>
          <p:cNvSpPr txBox="1"/>
          <p:nvPr/>
        </p:nvSpPr>
        <p:spPr>
          <a:xfrm>
            <a:off x="10012680" y="2752344"/>
            <a:ext cx="1417320" cy="493776"/>
          </a:xfrm>
          <a:prstGeom prst="rect">
            <a:avLst/>
          </a:prstGeom>
          <a:noFill/>
          <a:ln/>
        </p:spPr>
        <p:txBody>
          <a:bodyPr wrap="square" lIns="50800" tIns="50800" rIns="50800" bIns="50800" rtlCol="0" anchor="ctr"/>
          <a:lstStyle/>
          <a:p>
            <a:pPr marL="0" indent="0" algn="ctr">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Ha / Yo'q</a:t>
            </a:r>
            <a:endParaRPr lang="en-US" sz="1600" dirty="0"/>
          </a:p>
        </p:txBody>
      </p:sp>
      <p:sp>
        <p:nvSpPr>
          <p:cNvPr id="18" name="Shape 15"/>
          <p:cNvSpPr/>
          <p:nvPr/>
        </p:nvSpPr>
        <p:spPr>
          <a:xfrm>
            <a:off x="548640" y="3483864"/>
            <a:ext cx="11064240" cy="731520"/>
          </a:xfrm>
          <a:prstGeom prst="roundRect">
            <a:avLst>
              <a:gd name="adj" fmla="val 11250"/>
            </a:avLst>
          </a:prstGeom>
          <a:solidFill>
            <a:srgbClr val="FFFFFF"/>
          </a:solidFill>
          <a:ln/>
        </p:spPr>
        <p:txBody>
          <a:bodyPr/>
          <a:lstStyle/>
          <a:p>
            <a:endParaRPr lang="ru-RU"/>
          </a:p>
        </p:txBody>
      </p:sp>
      <p:sp>
        <p:nvSpPr>
          <p:cNvPr id="19" name="Shape 16"/>
          <p:cNvSpPr/>
          <p:nvPr/>
        </p:nvSpPr>
        <p:spPr>
          <a:xfrm>
            <a:off x="548640" y="3483864"/>
            <a:ext cx="685800" cy="731520"/>
          </a:xfrm>
          <a:prstGeom prst="roundRect">
            <a:avLst>
              <a:gd name="adj" fmla="val 12000"/>
            </a:avLst>
          </a:prstGeom>
          <a:solidFill>
            <a:srgbClr val="D9932B"/>
          </a:solidFill>
          <a:ln/>
        </p:spPr>
        <p:txBody>
          <a:bodyPr/>
          <a:lstStyle/>
          <a:p>
            <a:endParaRPr lang="ru-RU"/>
          </a:p>
        </p:txBody>
      </p:sp>
      <p:sp>
        <p:nvSpPr>
          <p:cNvPr id="20" name="Text 17"/>
          <p:cNvSpPr txBox="1"/>
          <p:nvPr/>
        </p:nvSpPr>
        <p:spPr>
          <a:xfrm>
            <a:off x="548640" y="3483864"/>
            <a:ext cx="685800" cy="731520"/>
          </a:xfrm>
          <a:prstGeom prst="rect">
            <a:avLst/>
          </a:prstGeom>
          <a:noFill/>
          <a:ln/>
        </p:spPr>
        <p:txBody>
          <a:bodyPr wrap="square" lIns="50800" tIns="50800" rIns="50800" bIns="50800" rtlCol="0" anchor="ctr"/>
          <a:lstStyle/>
          <a:p>
            <a:pPr marL="0" indent="0" algn="ctr">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c</a:t>
            </a:r>
            <a:endParaRPr lang="en-US" sz="1800" dirty="0"/>
          </a:p>
        </p:txBody>
      </p:sp>
      <p:sp>
        <p:nvSpPr>
          <p:cNvPr id="21" name="Text 18"/>
          <p:cNvSpPr txBox="1"/>
          <p:nvPr/>
        </p:nvSpPr>
        <p:spPr>
          <a:xfrm>
            <a:off x="1417320" y="3483864"/>
            <a:ext cx="8412480" cy="731520"/>
          </a:xfrm>
          <a:prstGeom prst="rect">
            <a:avLst/>
          </a:prstGeom>
          <a:noFill/>
          <a:ln/>
        </p:spPr>
        <p:txBody>
          <a:bodyPr wrap="square" lIns="0" tIns="0" rIns="0" bIns="0" rtlCol="0" anchor="ctr"/>
          <a:lstStyle/>
          <a:p>
            <a:pPr marL="0" indent="0" algn="l">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Bank kartasi + PIN-kod (bankomatda)</a:t>
            </a:r>
            <a:endParaRPr lang="en-US" sz="1700" dirty="0"/>
          </a:p>
        </p:txBody>
      </p:sp>
      <p:sp>
        <p:nvSpPr>
          <p:cNvPr id="22" name="Shape 19"/>
          <p:cNvSpPr/>
          <p:nvPr/>
        </p:nvSpPr>
        <p:spPr>
          <a:xfrm>
            <a:off x="10012680" y="3602736"/>
            <a:ext cx="1417320" cy="493776"/>
          </a:xfrm>
          <a:prstGeom prst="roundRect">
            <a:avLst>
              <a:gd name="adj" fmla="val 16667"/>
            </a:avLst>
          </a:prstGeom>
          <a:solidFill>
            <a:srgbClr val="FDF3E2"/>
          </a:solidFill>
          <a:ln w="12700">
            <a:solidFill>
              <a:srgbClr val="D9932B"/>
            </a:solidFill>
            <a:prstDash val="solid"/>
          </a:ln>
        </p:spPr>
        <p:txBody>
          <a:bodyPr/>
          <a:lstStyle/>
          <a:p>
            <a:endParaRPr lang="ru-RU"/>
          </a:p>
        </p:txBody>
      </p:sp>
      <p:sp>
        <p:nvSpPr>
          <p:cNvPr id="23" name="Text 20"/>
          <p:cNvSpPr txBox="1"/>
          <p:nvPr/>
        </p:nvSpPr>
        <p:spPr>
          <a:xfrm>
            <a:off x="10012680" y="3602736"/>
            <a:ext cx="1417320" cy="493776"/>
          </a:xfrm>
          <a:prstGeom prst="rect">
            <a:avLst/>
          </a:prstGeom>
          <a:noFill/>
          <a:ln/>
        </p:spPr>
        <p:txBody>
          <a:bodyPr wrap="square" lIns="50800" tIns="50800" rIns="50800" bIns="50800" rtlCol="0" anchor="ctr"/>
          <a:lstStyle/>
          <a:p>
            <a:pPr marL="0" indent="0" algn="ctr">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Ha / Yo'q</a:t>
            </a:r>
            <a:endParaRPr lang="en-US" sz="1600" dirty="0"/>
          </a:p>
        </p:txBody>
      </p:sp>
      <p:sp>
        <p:nvSpPr>
          <p:cNvPr id="24" name="Shape 21"/>
          <p:cNvSpPr/>
          <p:nvPr/>
        </p:nvSpPr>
        <p:spPr>
          <a:xfrm>
            <a:off x="548640" y="4334256"/>
            <a:ext cx="11064240" cy="731520"/>
          </a:xfrm>
          <a:prstGeom prst="roundRect">
            <a:avLst>
              <a:gd name="adj" fmla="val 11250"/>
            </a:avLst>
          </a:prstGeom>
          <a:solidFill>
            <a:srgbClr val="FFFFFF"/>
          </a:solidFill>
          <a:ln/>
        </p:spPr>
        <p:txBody>
          <a:bodyPr/>
          <a:lstStyle/>
          <a:p>
            <a:endParaRPr lang="ru-RU"/>
          </a:p>
        </p:txBody>
      </p:sp>
      <p:sp>
        <p:nvSpPr>
          <p:cNvPr id="25" name="Shape 22"/>
          <p:cNvSpPr/>
          <p:nvPr/>
        </p:nvSpPr>
        <p:spPr>
          <a:xfrm>
            <a:off x="548640" y="4334256"/>
            <a:ext cx="685800" cy="731520"/>
          </a:xfrm>
          <a:prstGeom prst="roundRect">
            <a:avLst>
              <a:gd name="adj" fmla="val 12000"/>
            </a:avLst>
          </a:prstGeom>
          <a:solidFill>
            <a:srgbClr val="D9932B"/>
          </a:solidFill>
          <a:ln/>
        </p:spPr>
        <p:txBody>
          <a:bodyPr/>
          <a:lstStyle/>
          <a:p>
            <a:endParaRPr lang="ru-RU"/>
          </a:p>
        </p:txBody>
      </p:sp>
      <p:sp>
        <p:nvSpPr>
          <p:cNvPr id="26" name="Text 23"/>
          <p:cNvSpPr txBox="1"/>
          <p:nvPr/>
        </p:nvSpPr>
        <p:spPr>
          <a:xfrm>
            <a:off x="548640" y="4334256"/>
            <a:ext cx="685800" cy="731520"/>
          </a:xfrm>
          <a:prstGeom prst="rect">
            <a:avLst/>
          </a:prstGeom>
          <a:noFill/>
          <a:ln/>
        </p:spPr>
        <p:txBody>
          <a:bodyPr wrap="square" lIns="50800" tIns="50800" rIns="50800" bIns="50800" rtlCol="0" anchor="ctr"/>
          <a:lstStyle/>
          <a:p>
            <a:pPr marL="0" indent="0" algn="ctr">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d</a:t>
            </a:r>
            <a:endParaRPr lang="en-US" sz="1800" dirty="0"/>
          </a:p>
        </p:txBody>
      </p:sp>
      <p:sp>
        <p:nvSpPr>
          <p:cNvPr id="27" name="Text 24"/>
          <p:cNvSpPr txBox="1"/>
          <p:nvPr/>
        </p:nvSpPr>
        <p:spPr>
          <a:xfrm>
            <a:off x="1417320" y="4334256"/>
            <a:ext cx="8412480" cy="731520"/>
          </a:xfrm>
          <a:prstGeom prst="rect">
            <a:avLst/>
          </a:prstGeom>
          <a:noFill/>
          <a:ln/>
        </p:spPr>
        <p:txBody>
          <a:bodyPr wrap="square" lIns="0" tIns="0" rIns="0" bIns="0" rtlCol="0" anchor="ctr"/>
          <a:lstStyle/>
          <a:p>
            <a:pPr marL="0" indent="0" algn="l">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Parol + pochtaga kelgan tasdiqlash havolasi (pochta ham shu parol bilan)</a:t>
            </a:r>
            <a:endParaRPr lang="en-US" sz="1700" dirty="0"/>
          </a:p>
        </p:txBody>
      </p:sp>
      <p:sp>
        <p:nvSpPr>
          <p:cNvPr id="28" name="Shape 25"/>
          <p:cNvSpPr/>
          <p:nvPr/>
        </p:nvSpPr>
        <p:spPr>
          <a:xfrm>
            <a:off x="10012680" y="4453128"/>
            <a:ext cx="1417320" cy="493776"/>
          </a:xfrm>
          <a:prstGeom prst="roundRect">
            <a:avLst>
              <a:gd name="adj" fmla="val 16667"/>
            </a:avLst>
          </a:prstGeom>
          <a:solidFill>
            <a:srgbClr val="FDF3E2"/>
          </a:solidFill>
          <a:ln w="12700">
            <a:solidFill>
              <a:srgbClr val="D9932B"/>
            </a:solidFill>
            <a:prstDash val="solid"/>
          </a:ln>
        </p:spPr>
        <p:txBody>
          <a:bodyPr/>
          <a:lstStyle/>
          <a:p>
            <a:endParaRPr lang="ru-RU"/>
          </a:p>
        </p:txBody>
      </p:sp>
      <p:sp>
        <p:nvSpPr>
          <p:cNvPr id="29" name="Text 26"/>
          <p:cNvSpPr txBox="1"/>
          <p:nvPr/>
        </p:nvSpPr>
        <p:spPr>
          <a:xfrm>
            <a:off x="10012680" y="4453128"/>
            <a:ext cx="1417320" cy="493776"/>
          </a:xfrm>
          <a:prstGeom prst="rect">
            <a:avLst/>
          </a:prstGeom>
          <a:noFill/>
          <a:ln/>
        </p:spPr>
        <p:txBody>
          <a:bodyPr wrap="square" lIns="50800" tIns="50800" rIns="50800" bIns="50800" rtlCol="0" anchor="ctr"/>
          <a:lstStyle/>
          <a:p>
            <a:pPr marL="0" indent="0" algn="ctr">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Ha / Yo'q</a:t>
            </a:r>
            <a:endParaRPr lang="en-US" sz="1600" dirty="0"/>
          </a:p>
        </p:txBody>
      </p:sp>
      <p:sp>
        <p:nvSpPr>
          <p:cNvPr id="30" name="Shape 27"/>
          <p:cNvSpPr/>
          <p:nvPr/>
        </p:nvSpPr>
        <p:spPr>
          <a:xfrm>
            <a:off x="548640" y="5184648"/>
            <a:ext cx="11064240" cy="731520"/>
          </a:xfrm>
          <a:prstGeom prst="roundRect">
            <a:avLst>
              <a:gd name="adj" fmla="val 11250"/>
            </a:avLst>
          </a:prstGeom>
          <a:solidFill>
            <a:srgbClr val="FFFFFF"/>
          </a:solidFill>
          <a:ln/>
        </p:spPr>
        <p:txBody>
          <a:bodyPr/>
          <a:lstStyle/>
          <a:p>
            <a:endParaRPr lang="ru-RU"/>
          </a:p>
        </p:txBody>
      </p:sp>
      <p:sp>
        <p:nvSpPr>
          <p:cNvPr id="31" name="Shape 28"/>
          <p:cNvSpPr/>
          <p:nvPr/>
        </p:nvSpPr>
        <p:spPr>
          <a:xfrm>
            <a:off x="548640" y="5184648"/>
            <a:ext cx="685800" cy="731520"/>
          </a:xfrm>
          <a:prstGeom prst="roundRect">
            <a:avLst>
              <a:gd name="adj" fmla="val 12000"/>
            </a:avLst>
          </a:prstGeom>
          <a:solidFill>
            <a:srgbClr val="D9932B"/>
          </a:solidFill>
          <a:ln/>
        </p:spPr>
        <p:txBody>
          <a:bodyPr/>
          <a:lstStyle/>
          <a:p>
            <a:endParaRPr lang="ru-RU"/>
          </a:p>
        </p:txBody>
      </p:sp>
      <p:sp>
        <p:nvSpPr>
          <p:cNvPr id="32" name="Text 29"/>
          <p:cNvSpPr txBox="1"/>
          <p:nvPr/>
        </p:nvSpPr>
        <p:spPr>
          <a:xfrm>
            <a:off x="548640" y="5184648"/>
            <a:ext cx="685800" cy="731520"/>
          </a:xfrm>
          <a:prstGeom prst="rect">
            <a:avLst/>
          </a:prstGeom>
          <a:noFill/>
          <a:ln/>
        </p:spPr>
        <p:txBody>
          <a:bodyPr wrap="square" lIns="50800" tIns="50800" rIns="50800" bIns="50800" rtlCol="0" anchor="ctr"/>
          <a:lstStyle/>
          <a:p>
            <a:pPr marL="0" indent="0" algn="ctr">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e</a:t>
            </a:r>
            <a:endParaRPr lang="en-US" sz="1800" dirty="0"/>
          </a:p>
        </p:txBody>
      </p:sp>
      <p:sp>
        <p:nvSpPr>
          <p:cNvPr id="33" name="Text 30"/>
          <p:cNvSpPr txBox="1"/>
          <p:nvPr/>
        </p:nvSpPr>
        <p:spPr>
          <a:xfrm>
            <a:off x="1417320" y="5184648"/>
            <a:ext cx="8412480" cy="731520"/>
          </a:xfrm>
          <a:prstGeom prst="rect">
            <a:avLst/>
          </a:prstGeom>
          <a:noFill/>
          <a:ln/>
        </p:spPr>
        <p:txBody>
          <a:bodyPr wrap="square" lIns="0" tIns="0" rIns="0" bIns="0" rtlCol="0" anchor="ctr"/>
          <a:lstStyle/>
          <a:p>
            <a:pPr marL="0" indent="0" algn="l">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Parol + barmoq izi bilan ochiladigan telefondagi autentifikator ilovasi kodi</a:t>
            </a:r>
            <a:endParaRPr lang="en-US" sz="1700" dirty="0"/>
          </a:p>
        </p:txBody>
      </p:sp>
      <p:sp>
        <p:nvSpPr>
          <p:cNvPr id="34" name="Shape 31"/>
          <p:cNvSpPr/>
          <p:nvPr/>
        </p:nvSpPr>
        <p:spPr>
          <a:xfrm>
            <a:off x="10012680" y="5303520"/>
            <a:ext cx="1417320" cy="493776"/>
          </a:xfrm>
          <a:prstGeom prst="roundRect">
            <a:avLst>
              <a:gd name="adj" fmla="val 16667"/>
            </a:avLst>
          </a:prstGeom>
          <a:solidFill>
            <a:srgbClr val="FDF3E2"/>
          </a:solidFill>
          <a:ln w="12700">
            <a:solidFill>
              <a:srgbClr val="D9932B"/>
            </a:solidFill>
            <a:prstDash val="solid"/>
          </a:ln>
        </p:spPr>
        <p:txBody>
          <a:bodyPr/>
          <a:lstStyle/>
          <a:p>
            <a:endParaRPr lang="ru-RU"/>
          </a:p>
        </p:txBody>
      </p:sp>
      <p:sp>
        <p:nvSpPr>
          <p:cNvPr id="35" name="Text 32"/>
          <p:cNvSpPr txBox="1"/>
          <p:nvPr/>
        </p:nvSpPr>
        <p:spPr>
          <a:xfrm>
            <a:off x="10012680" y="5303520"/>
            <a:ext cx="1417320" cy="493776"/>
          </a:xfrm>
          <a:prstGeom prst="rect">
            <a:avLst/>
          </a:prstGeom>
          <a:noFill/>
          <a:ln/>
        </p:spPr>
        <p:txBody>
          <a:bodyPr wrap="square" lIns="50800" tIns="50800" rIns="50800" bIns="50800" rtlCol="0" anchor="ctr"/>
          <a:lstStyle/>
          <a:p>
            <a:pPr marL="0" indent="0" algn="ctr">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Ha / Yo'q</a:t>
            </a:r>
            <a:endParaRPr lang="en-US" sz="1600" dirty="0"/>
          </a:p>
        </p:txBody>
      </p:sp>
      <p:sp>
        <p:nvSpPr>
          <p:cNvPr id="36" name="Text 33"/>
          <p:cNvSpPr txBox="1"/>
          <p:nvPr/>
        </p:nvSpPr>
        <p:spPr>
          <a:xfrm>
            <a:off x="548640" y="6126480"/>
            <a:ext cx="11064240" cy="320040"/>
          </a:xfrm>
          <a:prstGeom prst="rect">
            <a:avLst/>
          </a:prstGeom>
          <a:noFill/>
          <a:ln/>
        </p:spPr>
        <p:txBody>
          <a:bodyPr wrap="square" lIns="0" tIns="0" rIns="0" bIns="0" rtlCol="0" anchor="t"/>
          <a:lstStyle/>
          <a:p>
            <a:pPr marL="0" indent="0" algn="l">
              <a:lnSpc>
                <a:spcPct val="100000"/>
              </a:lnSpc>
              <a:buNone/>
            </a:pPr>
            <a:r>
              <a:rPr lang="en-US" sz="1400" dirty="0">
                <a:solidFill>
                  <a:srgbClr val="9A5B00"/>
                </a:solidFill>
                <a:latin typeface="Times New Roman" pitchFamily="34" charset="0"/>
                <a:ea typeface="Times New Roman" pitchFamily="34" charset="-122"/>
                <a:cs typeface="Times New Roman" pitchFamily="34" charset="-120"/>
              </a:rPr>
              <a:t>Har bir holat uchun omil turlarini ayting: bilish, egalik yoki biometrik.</a:t>
            </a:r>
            <a:endParaRPr lang="en-US" sz="1400" dirty="0"/>
          </a:p>
        </p:txBody>
      </p:sp>
      <p:sp>
        <p:nvSpPr>
          <p:cNvPr id="37" name="Text 34"/>
          <p:cNvSpPr txBox="1"/>
          <p:nvPr/>
        </p:nvSpPr>
        <p:spPr>
          <a:xfrm>
            <a:off x="548640" y="6492240"/>
            <a:ext cx="7315200" cy="274320"/>
          </a:xfrm>
          <a:prstGeom prst="rect">
            <a:avLst/>
          </a:prstGeom>
          <a:noFill/>
          <a:ln/>
        </p:spPr>
        <p:txBody>
          <a:bodyPr wrap="square" lIns="0" tIns="0" rIns="0" bIns="0" rtlCol="0" anchor="ctr"/>
          <a:lstStyle/>
          <a:p>
            <a:pPr marL="0" indent="0">
              <a:buNone/>
            </a:pPr>
            <a:r>
              <a:rPr lang="en-US" sz="1100" dirty="0">
                <a:solidFill>
                  <a:srgbClr val="9A5B00"/>
                </a:solidFill>
                <a:latin typeface="Times New Roman" pitchFamily="34" charset="0"/>
                <a:ea typeface="Times New Roman" pitchFamily="34" charset="-122"/>
                <a:cs typeface="Times New Roman" pitchFamily="34" charset="-120"/>
              </a:rPr>
              <a:t>Foydalanishlarni boshqarish  ·  4-ma'ruza</a:t>
            </a:r>
            <a:endParaRPr lang="en-US" sz="1100" dirty="0"/>
          </a:p>
        </p:txBody>
      </p:sp>
      <p:sp>
        <p:nvSpPr>
          <p:cNvPr id="38" name="Text 35"/>
          <p:cNvSpPr txBox="1"/>
          <p:nvPr/>
        </p:nvSpPr>
        <p:spPr>
          <a:xfrm>
            <a:off x="11155680" y="6492240"/>
            <a:ext cx="457200" cy="274320"/>
          </a:xfrm>
          <a:prstGeom prst="rect">
            <a:avLst/>
          </a:prstGeom>
          <a:noFill/>
          <a:ln/>
        </p:spPr>
        <p:txBody>
          <a:bodyPr wrap="square" lIns="0" tIns="0" rIns="0" bIns="0" rtlCol="0" anchor="ctr"/>
          <a:lstStyle/>
          <a:p>
            <a:pPr marL="0" indent="0" algn="r">
              <a:buNone/>
            </a:pPr>
            <a:r>
              <a:rPr lang="en-US" sz="1100" dirty="0">
                <a:solidFill>
                  <a:srgbClr val="9A5B00"/>
                </a:solidFill>
                <a:latin typeface="Times New Roman" pitchFamily="34" charset="0"/>
                <a:ea typeface="Times New Roman" pitchFamily="34" charset="-122"/>
                <a:cs typeface="Times New Roman"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463040" y="4206240"/>
            <a:ext cx="4572000" cy="4572000"/>
          </a:xfrm>
          <a:prstGeom prst="ellipse">
            <a:avLst/>
          </a:prstGeom>
          <a:solidFill>
            <a:srgbClr val="2A3778"/>
          </a:solidFill>
          <a:ln/>
        </p:spPr>
        <p:txBody>
          <a:bodyPr/>
          <a:lstStyle/>
          <a:p>
            <a:endParaRPr lang="ru-RU"/>
          </a:p>
        </p:txBody>
      </p:sp>
      <p:sp>
        <p:nvSpPr>
          <p:cNvPr id="3" name="Text 1"/>
          <p:cNvSpPr txBox="1"/>
          <p:nvPr/>
        </p:nvSpPr>
        <p:spPr>
          <a:xfrm>
            <a:off x="1005840" y="2286000"/>
            <a:ext cx="5486400" cy="411480"/>
          </a:xfrm>
          <a:prstGeom prst="rect">
            <a:avLst/>
          </a:prstGeom>
          <a:noFill/>
          <a:ln/>
        </p:spPr>
        <p:txBody>
          <a:bodyPr wrap="square" lIns="0" tIns="0" rIns="0" bIns="0" rtlCol="0" anchor="ctr"/>
          <a:lstStyle/>
          <a:p>
            <a:pPr marL="0" indent="0">
              <a:buNone/>
            </a:pPr>
            <a:r>
              <a:rPr lang="en-US" sz="1600" b="1" kern="0" spc="300" dirty="0">
                <a:solidFill>
                  <a:srgbClr val="9FB0E0"/>
                </a:solidFill>
                <a:latin typeface="Times New Roman" pitchFamily="34" charset="0"/>
                <a:ea typeface="Times New Roman" pitchFamily="34" charset="-122"/>
                <a:cs typeface="Times New Roman" pitchFamily="34" charset="-120"/>
              </a:rPr>
              <a:t>I BO'LIM</a:t>
            </a:r>
            <a:endParaRPr lang="en-US" sz="1600" dirty="0"/>
          </a:p>
        </p:txBody>
      </p:sp>
      <p:sp>
        <p:nvSpPr>
          <p:cNvPr id="4" name="Text 2"/>
          <p:cNvSpPr txBox="1"/>
          <p:nvPr/>
        </p:nvSpPr>
        <p:spPr>
          <a:xfrm>
            <a:off x="1005840" y="2724912"/>
            <a:ext cx="8229600" cy="914400"/>
          </a:xfrm>
          <a:prstGeom prst="rect">
            <a:avLst/>
          </a:prstGeom>
          <a:noFill/>
          <a:ln/>
        </p:spPr>
        <p:txBody>
          <a:bodyPr wrap="square" lIns="0" tIns="0" rIns="0" bIns="0" rtlCol="0" anchor="ctr"/>
          <a:lstStyle/>
          <a:p>
            <a:pPr marL="0" indent="0">
              <a:buNone/>
            </a:pPr>
            <a:r>
              <a:rPr lang="en-US" sz="4400" b="1" dirty="0">
                <a:solidFill>
                  <a:srgbClr val="FFFFFF"/>
                </a:solidFill>
                <a:latin typeface="Times New Roman" pitchFamily="34" charset="0"/>
                <a:ea typeface="Times New Roman" pitchFamily="34" charset="-122"/>
                <a:cs typeface="Times New Roman" pitchFamily="34" charset="-120"/>
              </a:rPr>
              <a:t>Bir martali parollar</a:t>
            </a:r>
            <a:endParaRPr lang="en-US" sz="4400" dirty="0"/>
          </a:p>
        </p:txBody>
      </p:sp>
      <p:sp>
        <p:nvSpPr>
          <p:cNvPr id="5" name="Text 3"/>
          <p:cNvSpPr txBox="1"/>
          <p:nvPr/>
        </p:nvSpPr>
        <p:spPr>
          <a:xfrm>
            <a:off x="1005840" y="3703320"/>
            <a:ext cx="8229600" cy="502920"/>
          </a:xfrm>
          <a:prstGeom prst="rect">
            <a:avLst/>
          </a:prstGeom>
          <a:noFill/>
          <a:ln/>
        </p:spPr>
        <p:txBody>
          <a:bodyPr wrap="square" lIns="0" tIns="0" rIns="0" bIns="0" rtlCol="0" anchor="ctr"/>
          <a:lstStyle/>
          <a:p>
            <a:pPr marL="0" indent="0">
              <a:buNone/>
            </a:pPr>
            <a:r>
              <a:rPr lang="en-US" sz="2000" dirty="0">
                <a:solidFill>
                  <a:srgbClr val="CADCFC"/>
                </a:solidFill>
                <a:latin typeface="Times New Roman" pitchFamily="34" charset="0"/>
                <a:ea typeface="Times New Roman" pitchFamily="34" charset="-122"/>
                <a:cs typeface="Times New Roman" pitchFamily="34" charset="-120"/>
              </a:rPr>
              <a:t>Statik va dinamik · HOTP · TOTP</a:t>
            </a:r>
            <a:endParaRPr lang="en-US" sz="2000" dirty="0"/>
          </a:p>
        </p:txBody>
      </p:sp>
      <p:sp>
        <p:nvSpPr>
          <p:cNvPr id="6" name="Text 4"/>
          <p:cNvSpPr txBox="1"/>
          <p:nvPr/>
        </p:nvSpPr>
        <p:spPr>
          <a:xfrm>
            <a:off x="9052560" y="1920240"/>
            <a:ext cx="2560320" cy="2743200"/>
          </a:xfrm>
          <a:prstGeom prst="rect">
            <a:avLst/>
          </a:prstGeom>
          <a:noFill/>
          <a:ln/>
        </p:spPr>
        <p:txBody>
          <a:bodyPr wrap="square" rtlCol="0" anchor="ctr"/>
          <a:lstStyle/>
          <a:p>
            <a:pPr marL="0" indent="0" algn="ctr">
              <a:buNone/>
            </a:pPr>
            <a:r>
              <a:rPr lang="en-US" sz="13000" b="1" dirty="0">
                <a:solidFill>
                  <a:srgbClr val="2A3778"/>
                </a:solidFill>
                <a:latin typeface="Times New Roman" pitchFamily="34" charset="0"/>
                <a:ea typeface="Times New Roman" pitchFamily="34" charset="-122"/>
                <a:cs typeface="Times New Roman" pitchFamily="34" charset="-120"/>
              </a:rPr>
              <a:t>I</a:t>
            </a:r>
            <a:endParaRPr lang="en-US" sz="13000" dirty="0"/>
          </a:p>
        </p:txBody>
      </p:sp>
      <p:sp>
        <p:nvSpPr>
          <p:cNvPr id="7" name="Text 5"/>
          <p:cNvSpPr txBox="1"/>
          <p:nvPr/>
        </p:nvSpPr>
        <p:spPr>
          <a:xfrm>
            <a:off x="548640" y="6492240"/>
            <a:ext cx="7315200" cy="274320"/>
          </a:xfrm>
          <a:prstGeom prst="rect">
            <a:avLst/>
          </a:prstGeom>
          <a:noFill/>
          <a:ln/>
        </p:spPr>
        <p:txBody>
          <a:bodyPr wrap="square" lIns="0" tIns="0" rIns="0" bIns="0" rtlCol="0" anchor="ctr"/>
          <a:lstStyle/>
          <a:p>
            <a:pPr marL="0" indent="0">
              <a:buNone/>
            </a:pPr>
            <a:r>
              <a:rPr lang="en-US" sz="1100" dirty="0">
                <a:solidFill>
                  <a:srgbClr val="9FB0E0"/>
                </a:solidFill>
                <a:latin typeface="Times New Roman" pitchFamily="34" charset="0"/>
                <a:ea typeface="Times New Roman" pitchFamily="34" charset="-122"/>
                <a:cs typeface="Times New Roman" pitchFamily="34" charset="-120"/>
              </a:rPr>
              <a:t>Foydalanishlarni boshqarish  ·  4-ma'ruza</a:t>
            </a:r>
            <a:endParaRPr lang="en-US" sz="1100" dirty="0"/>
          </a:p>
        </p:txBody>
      </p:sp>
      <p:sp>
        <p:nvSpPr>
          <p:cNvPr id="8" name="Text 6"/>
          <p:cNvSpPr txBox="1"/>
          <p:nvPr/>
        </p:nvSpPr>
        <p:spPr>
          <a:xfrm>
            <a:off x="11155680" y="6492240"/>
            <a:ext cx="457200" cy="274320"/>
          </a:xfrm>
          <a:prstGeom prst="rect">
            <a:avLst/>
          </a:prstGeom>
          <a:noFill/>
          <a:ln/>
        </p:spPr>
        <p:txBody>
          <a:bodyPr wrap="square" lIns="0" tIns="0" rIns="0" bIns="0" rtlCol="0" anchor="ctr"/>
          <a:lstStyle/>
          <a:p>
            <a:pPr marL="0" indent="0" algn="r">
              <a:buNone/>
            </a:pPr>
            <a:r>
              <a:rPr lang="en-US" sz="1100" dirty="0">
                <a:solidFill>
                  <a:srgbClr val="9FB0E0"/>
                </a:solidFill>
                <a:latin typeface="Times New Roman" pitchFamily="34" charset="0"/>
                <a:ea typeface="Times New Roman" pitchFamily="34" charset="-122"/>
                <a:cs typeface="Times New Roman"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marL="0" indent="0">
              <a:buNone/>
            </a:pPr>
            <a:r>
              <a:rPr lang="en-US" sz="1600" b="1" kern="0" spc="220" dirty="0">
                <a:solidFill>
                  <a:srgbClr val="5B6270"/>
                </a:solidFill>
                <a:latin typeface="Times New Roman" pitchFamily="34" charset="0"/>
                <a:ea typeface="Times New Roman" pitchFamily="34" charset="-122"/>
                <a:cs typeface="Times New Roman" pitchFamily="34" charset="-120"/>
              </a:rPr>
              <a:t>TUSHUNCHA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marL="0" indent="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Statik paroldan dinamik parolga</a:t>
            </a:r>
            <a:endParaRPr lang="en-US" sz="3600" dirty="0"/>
          </a:p>
        </p:txBody>
      </p:sp>
      <p:sp>
        <p:nvSpPr>
          <p:cNvPr id="4" name="Text 2"/>
          <p:cNvSpPr txBox="1"/>
          <p:nvPr/>
        </p:nvSpPr>
        <p:spPr>
          <a:xfrm>
            <a:off x="548640" y="1737360"/>
            <a:ext cx="11064240" cy="868680"/>
          </a:xfrm>
          <a:prstGeom prst="rect">
            <a:avLst/>
          </a:prstGeom>
          <a:noFill/>
          <a:ln/>
        </p:spPr>
        <p:txBody>
          <a:bodyPr wrap="square" lIns="0" tIns="0" rIns="0" bIns="0" rtlCol="0" anchor="t"/>
          <a:lstStyle/>
          <a:p>
            <a:pPr marL="0" indent="0" algn="l">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Dinamik parol ma'lum hodisa yoki vaqt oralig'idan so'ng yangilanadi; mijoz va server parolni generatsiyalashning bir xil algoritmi va umumiy maxfiy kalitidan foydalanadi [1].</a:t>
            </a:r>
            <a:endParaRPr lang="en-US" sz="1600" dirty="0"/>
          </a:p>
        </p:txBody>
      </p:sp>
      <p:sp>
        <p:nvSpPr>
          <p:cNvPr id="5" name="Shape 3"/>
          <p:cNvSpPr/>
          <p:nvPr/>
        </p:nvSpPr>
        <p:spPr>
          <a:xfrm>
            <a:off x="548640" y="2743200"/>
            <a:ext cx="3566160" cy="2926080"/>
          </a:xfrm>
          <a:prstGeom prst="roundRect">
            <a:avLst>
              <a:gd name="adj" fmla="val 2813"/>
            </a:avLst>
          </a:prstGeom>
          <a:solidFill>
            <a:srgbClr val="EEF2FB"/>
          </a:solidFill>
          <a:ln/>
        </p:spPr>
        <p:txBody>
          <a:bodyPr/>
          <a:lstStyle/>
          <a:p>
            <a:endParaRPr lang="ru-RU"/>
          </a:p>
        </p:txBody>
      </p:sp>
      <p:sp>
        <p:nvSpPr>
          <p:cNvPr id="6" name="Shape 4"/>
          <p:cNvSpPr/>
          <p:nvPr/>
        </p:nvSpPr>
        <p:spPr>
          <a:xfrm>
            <a:off x="822960" y="2971800"/>
            <a:ext cx="640080" cy="640080"/>
          </a:xfrm>
          <a:prstGeom prst="ellipse">
            <a:avLst/>
          </a:prstGeom>
          <a:solidFill>
            <a:srgbClr val="1E2761"/>
          </a:solidFill>
          <a:ln/>
        </p:spPr>
        <p:txBody>
          <a:bodyPr/>
          <a:lstStyle/>
          <a:p>
            <a:endParaRPr lang="ru-RU"/>
          </a:p>
        </p:txBody>
      </p:sp>
      <p:pic>
        <p:nvPicPr>
          <p:cNvPr id="7" name="Image 0" descr="/home/claude/fob-slides/icons_out/listol_white.png"/>
          <p:cNvPicPr>
            <a:picLocks noChangeAspect="1"/>
          </p:cNvPicPr>
          <p:nvPr/>
        </p:nvPicPr>
        <p:blipFill>
          <a:blip r:embed="rId3"/>
          <a:stretch>
            <a:fillRect/>
          </a:stretch>
        </p:blipFill>
        <p:spPr>
          <a:xfrm>
            <a:off x="966978" y="3115818"/>
            <a:ext cx="352044" cy="352044"/>
          </a:xfrm>
          <a:prstGeom prst="rect">
            <a:avLst/>
          </a:prstGeom>
        </p:spPr>
      </p:pic>
      <p:sp>
        <p:nvSpPr>
          <p:cNvPr id="8" name="Text 5"/>
          <p:cNvSpPr txBox="1"/>
          <p:nvPr/>
        </p:nvSpPr>
        <p:spPr>
          <a:xfrm>
            <a:off x="1600200" y="2926080"/>
            <a:ext cx="2377440" cy="411480"/>
          </a:xfrm>
          <a:prstGeom prst="rect">
            <a:avLst/>
          </a:prstGeom>
          <a:noFill/>
          <a:ln/>
        </p:spPr>
        <p:txBody>
          <a:bodyPr wrap="square" lIns="0" tIns="0" rIns="0" bIns="0" rtlCol="0" anchor="t"/>
          <a:lstStyle/>
          <a:p>
            <a:pPr marL="0" indent="0" algn="l">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Hodisaga asoslangan</a:t>
            </a:r>
            <a:endParaRPr lang="en-US" sz="2000" dirty="0"/>
          </a:p>
        </p:txBody>
      </p:sp>
      <p:sp>
        <p:nvSpPr>
          <p:cNvPr id="9" name="Text 6"/>
          <p:cNvSpPr txBox="1"/>
          <p:nvPr/>
        </p:nvSpPr>
        <p:spPr>
          <a:xfrm>
            <a:off x="1600200" y="3310128"/>
            <a:ext cx="2377440" cy="320040"/>
          </a:xfrm>
          <a:prstGeom prst="rect">
            <a:avLst/>
          </a:prstGeom>
          <a:noFill/>
          <a:ln/>
        </p:spPr>
        <p:txBody>
          <a:bodyPr wrap="square" lIns="0" tIns="0" rIns="0" bIns="0" rtlCol="0" anchor="t"/>
          <a:lstStyle/>
          <a:p>
            <a:pPr marL="0" indent="0" algn="l">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HOTP · RFC 4226</a:t>
            </a:r>
            <a:endParaRPr lang="en-US" sz="1400" dirty="0"/>
          </a:p>
        </p:txBody>
      </p:sp>
      <p:sp>
        <p:nvSpPr>
          <p:cNvPr id="10" name="Text 7"/>
          <p:cNvSpPr txBox="1"/>
          <p:nvPr/>
        </p:nvSpPr>
        <p:spPr>
          <a:xfrm>
            <a:off x="822960" y="3840480"/>
            <a:ext cx="3017520" cy="1097280"/>
          </a:xfrm>
          <a:prstGeom prst="rect">
            <a:avLst/>
          </a:prstGeom>
          <a:noFill/>
          <a:ln/>
        </p:spPr>
        <p:txBody>
          <a:bodyPr wrap="square" lIns="0" tIns="0" rIns="0" bIns="0" rtlCol="0" anchor="t"/>
          <a:lstStyle/>
          <a:p>
            <a:pPr marL="0" indent="0" algn="l">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Har bir kirish hisoblagich C ni oshiradi. Kod ishlatilmaguncha amal qiladi.</a:t>
            </a:r>
            <a:endParaRPr lang="en-US" sz="1600" dirty="0"/>
          </a:p>
        </p:txBody>
      </p:sp>
      <p:sp>
        <p:nvSpPr>
          <p:cNvPr id="11" name="Shape 8"/>
          <p:cNvSpPr/>
          <p:nvPr/>
        </p:nvSpPr>
        <p:spPr>
          <a:xfrm>
            <a:off x="822960" y="5029200"/>
            <a:ext cx="1463040" cy="411480"/>
          </a:xfrm>
          <a:prstGeom prst="roundRect">
            <a:avLst>
              <a:gd name="adj" fmla="val 48889"/>
            </a:avLst>
          </a:prstGeom>
          <a:solidFill>
            <a:srgbClr val="FFFFFF"/>
          </a:solidFill>
          <a:ln/>
        </p:spPr>
        <p:txBody>
          <a:bodyPr/>
          <a:lstStyle/>
          <a:p>
            <a:endParaRPr lang="ru-RU"/>
          </a:p>
        </p:txBody>
      </p:sp>
      <p:sp>
        <p:nvSpPr>
          <p:cNvPr id="12" name="Text 9"/>
          <p:cNvSpPr txBox="1"/>
          <p:nvPr/>
        </p:nvSpPr>
        <p:spPr>
          <a:xfrm>
            <a:off x="822960" y="5029200"/>
            <a:ext cx="1463040" cy="411480"/>
          </a:xfrm>
          <a:prstGeom prst="rect">
            <a:avLst/>
          </a:prstGeom>
          <a:noFill/>
          <a:ln/>
        </p:spPr>
        <p:txBody>
          <a:bodyPr wrap="square" lIns="50800" tIns="50800" rIns="50800" bIns="50800" rtlCol="0" anchor="ctr"/>
          <a:lstStyle/>
          <a:p>
            <a:pPr marL="0" indent="0" algn="ctr">
              <a:lnSpc>
                <a:spcPct val="100000"/>
              </a:lnSpc>
              <a:buNone/>
            </a:pPr>
            <a:r>
              <a:rPr lang="en-US" sz="1400" dirty="0">
                <a:solidFill>
                  <a:srgbClr val="1E2761"/>
                </a:solidFill>
                <a:latin typeface="Times New Roman" pitchFamily="34" charset="0"/>
                <a:ea typeface="Times New Roman" pitchFamily="34" charset="-122"/>
                <a:cs typeface="Times New Roman" pitchFamily="34" charset="-120"/>
              </a:rPr>
              <a:t>sinxron</a:t>
            </a:r>
            <a:endParaRPr lang="en-US" sz="1400" dirty="0"/>
          </a:p>
        </p:txBody>
      </p:sp>
      <p:sp>
        <p:nvSpPr>
          <p:cNvPr id="13" name="Shape 10"/>
          <p:cNvSpPr/>
          <p:nvPr/>
        </p:nvSpPr>
        <p:spPr>
          <a:xfrm>
            <a:off x="4297680" y="2743200"/>
            <a:ext cx="3566160" cy="2926080"/>
          </a:xfrm>
          <a:prstGeom prst="roundRect">
            <a:avLst>
              <a:gd name="adj" fmla="val 2813"/>
            </a:avLst>
          </a:prstGeom>
          <a:solidFill>
            <a:srgbClr val="1E2761"/>
          </a:solidFill>
          <a:ln/>
        </p:spPr>
        <p:txBody>
          <a:bodyPr/>
          <a:lstStyle/>
          <a:p>
            <a:endParaRPr lang="ru-RU"/>
          </a:p>
        </p:txBody>
      </p:sp>
      <p:sp>
        <p:nvSpPr>
          <p:cNvPr id="14" name="Shape 11"/>
          <p:cNvSpPr/>
          <p:nvPr/>
        </p:nvSpPr>
        <p:spPr>
          <a:xfrm>
            <a:off x="4572000" y="2971800"/>
            <a:ext cx="640080" cy="640080"/>
          </a:xfrm>
          <a:prstGeom prst="ellipse">
            <a:avLst/>
          </a:prstGeom>
          <a:solidFill>
            <a:srgbClr val="2A3778"/>
          </a:solidFill>
          <a:ln/>
        </p:spPr>
        <p:txBody>
          <a:bodyPr/>
          <a:lstStyle/>
          <a:p>
            <a:endParaRPr lang="ru-RU"/>
          </a:p>
        </p:txBody>
      </p:sp>
      <p:pic>
        <p:nvPicPr>
          <p:cNvPr id="15" name="Image 1" descr="/home/claude/fob-slides/icons_out/clock_white.png"/>
          <p:cNvPicPr>
            <a:picLocks noChangeAspect="1"/>
          </p:cNvPicPr>
          <p:nvPr/>
        </p:nvPicPr>
        <p:blipFill>
          <a:blip r:embed="rId4"/>
          <a:stretch>
            <a:fillRect/>
          </a:stretch>
        </p:blipFill>
        <p:spPr>
          <a:xfrm>
            <a:off x="4716018" y="3115818"/>
            <a:ext cx="352044" cy="352044"/>
          </a:xfrm>
          <a:prstGeom prst="rect">
            <a:avLst/>
          </a:prstGeom>
        </p:spPr>
      </p:pic>
      <p:sp>
        <p:nvSpPr>
          <p:cNvPr id="16" name="Text 12"/>
          <p:cNvSpPr txBox="1"/>
          <p:nvPr/>
        </p:nvSpPr>
        <p:spPr>
          <a:xfrm>
            <a:off x="5349240" y="2926080"/>
            <a:ext cx="2377440" cy="411480"/>
          </a:xfrm>
          <a:prstGeom prst="rect">
            <a:avLst/>
          </a:prstGeom>
          <a:noFill/>
          <a:ln/>
        </p:spPr>
        <p:txBody>
          <a:bodyPr wrap="square" lIns="0" tIns="0" rIns="0" bIns="0" rtlCol="0" anchor="t"/>
          <a:lstStyle/>
          <a:p>
            <a:pPr marL="0" indent="0" algn="l">
              <a:lnSpc>
                <a:spcPct val="100000"/>
              </a:lnSpc>
              <a:buNone/>
            </a:pPr>
            <a:r>
              <a:rPr lang="en-US" sz="2000" b="1" dirty="0">
                <a:solidFill>
                  <a:srgbClr val="FFFFFF"/>
                </a:solidFill>
                <a:latin typeface="Times New Roman" pitchFamily="34" charset="0"/>
                <a:ea typeface="Times New Roman" pitchFamily="34" charset="-122"/>
                <a:cs typeface="Times New Roman" pitchFamily="34" charset="-120"/>
              </a:rPr>
              <a:t>Vaqtga asoslangan</a:t>
            </a:r>
            <a:endParaRPr lang="en-US" sz="2000" dirty="0"/>
          </a:p>
        </p:txBody>
      </p:sp>
      <p:sp>
        <p:nvSpPr>
          <p:cNvPr id="17" name="Text 13"/>
          <p:cNvSpPr txBox="1"/>
          <p:nvPr/>
        </p:nvSpPr>
        <p:spPr>
          <a:xfrm>
            <a:off x="5349240" y="3310128"/>
            <a:ext cx="2377440" cy="320040"/>
          </a:xfrm>
          <a:prstGeom prst="rect">
            <a:avLst/>
          </a:prstGeom>
          <a:noFill/>
          <a:ln/>
        </p:spPr>
        <p:txBody>
          <a:bodyPr wrap="square" lIns="0" tIns="0" rIns="0" bIns="0" rtlCol="0" anchor="t"/>
          <a:lstStyle/>
          <a:p>
            <a:pPr marL="0" indent="0" algn="l">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TOTP · RFC 6238</a:t>
            </a:r>
            <a:endParaRPr lang="en-US" sz="1400" dirty="0"/>
          </a:p>
        </p:txBody>
      </p:sp>
      <p:sp>
        <p:nvSpPr>
          <p:cNvPr id="18" name="Text 14"/>
          <p:cNvSpPr txBox="1"/>
          <p:nvPr/>
        </p:nvSpPr>
        <p:spPr>
          <a:xfrm>
            <a:off x="4572000" y="3840480"/>
            <a:ext cx="3017520" cy="1097280"/>
          </a:xfrm>
          <a:prstGeom prst="rect">
            <a:avLst/>
          </a:prstGeom>
          <a:noFill/>
          <a:ln/>
        </p:spPr>
        <p:txBody>
          <a:bodyPr wrap="square" lIns="0" tIns="0" rIns="0" bIns="0" rtlCol="0" anchor="t"/>
          <a:lstStyle/>
          <a:p>
            <a:pPr marL="0" indent="0" algn="l">
              <a:lnSpc>
                <a:spcPct val="105000"/>
              </a:lnSpc>
              <a:buNone/>
            </a:pPr>
            <a:r>
              <a:rPr lang="en-US" sz="1600" dirty="0">
                <a:solidFill>
                  <a:srgbClr val="FFFFFF"/>
                </a:solidFill>
                <a:latin typeface="Times New Roman" pitchFamily="34" charset="0"/>
                <a:ea typeface="Times New Roman" pitchFamily="34" charset="-122"/>
                <a:cs typeface="Times New Roman" pitchFamily="34" charset="-120"/>
              </a:rPr>
              <a:t>Kod joriy vaqt qadamidan (odatda 30 s) hisoblanadi va o'zi eskiradi.</a:t>
            </a:r>
            <a:endParaRPr lang="en-US" sz="1600" dirty="0"/>
          </a:p>
        </p:txBody>
      </p:sp>
      <p:sp>
        <p:nvSpPr>
          <p:cNvPr id="19" name="Shape 15"/>
          <p:cNvSpPr/>
          <p:nvPr/>
        </p:nvSpPr>
        <p:spPr>
          <a:xfrm>
            <a:off x="4572000" y="5029200"/>
            <a:ext cx="1463040" cy="411480"/>
          </a:xfrm>
          <a:prstGeom prst="roundRect">
            <a:avLst>
              <a:gd name="adj" fmla="val 48889"/>
            </a:avLst>
          </a:prstGeom>
          <a:solidFill>
            <a:srgbClr val="2A3778"/>
          </a:solidFill>
          <a:ln/>
        </p:spPr>
        <p:txBody>
          <a:bodyPr/>
          <a:lstStyle/>
          <a:p>
            <a:endParaRPr lang="ru-RU"/>
          </a:p>
        </p:txBody>
      </p:sp>
      <p:sp>
        <p:nvSpPr>
          <p:cNvPr id="20" name="Text 16"/>
          <p:cNvSpPr txBox="1"/>
          <p:nvPr/>
        </p:nvSpPr>
        <p:spPr>
          <a:xfrm>
            <a:off x="4572000" y="5029200"/>
            <a:ext cx="1463040" cy="411480"/>
          </a:xfrm>
          <a:prstGeom prst="rect">
            <a:avLst/>
          </a:prstGeom>
          <a:noFill/>
          <a:ln/>
        </p:spPr>
        <p:txBody>
          <a:bodyPr wrap="square" lIns="50800" tIns="50800" rIns="50800" bIns="50800" rtlCol="0" anchor="ctr"/>
          <a:lstStyle/>
          <a:p>
            <a:pPr marL="0" indent="0" algn="ctr">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sinxron</a:t>
            </a:r>
            <a:endParaRPr lang="en-US" sz="1400" dirty="0"/>
          </a:p>
        </p:txBody>
      </p:sp>
      <p:sp>
        <p:nvSpPr>
          <p:cNvPr id="21" name="Shape 17"/>
          <p:cNvSpPr/>
          <p:nvPr/>
        </p:nvSpPr>
        <p:spPr>
          <a:xfrm>
            <a:off x="8046720" y="2743200"/>
            <a:ext cx="3566160" cy="2926080"/>
          </a:xfrm>
          <a:prstGeom prst="roundRect">
            <a:avLst>
              <a:gd name="adj" fmla="val 2813"/>
            </a:avLst>
          </a:prstGeom>
          <a:solidFill>
            <a:srgbClr val="EEF2FB"/>
          </a:solidFill>
          <a:ln/>
        </p:spPr>
        <p:txBody>
          <a:bodyPr/>
          <a:lstStyle/>
          <a:p>
            <a:endParaRPr lang="ru-RU"/>
          </a:p>
        </p:txBody>
      </p:sp>
      <p:sp>
        <p:nvSpPr>
          <p:cNvPr id="22" name="Shape 18"/>
          <p:cNvSpPr/>
          <p:nvPr/>
        </p:nvSpPr>
        <p:spPr>
          <a:xfrm>
            <a:off x="8321040" y="2971800"/>
            <a:ext cx="640080" cy="640080"/>
          </a:xfrm>
          <a:prstGeom prst="ellipse">
            <a:avLst/>
          </a:prstGeom>
          <a:solidFill>
            <a:srgbClr val="1E2761"/>
          </a:solidFill>
          <a:ln/>
        </p:spPr>
        <p:txBody>
          <a:bodyPr/>
          <a:lstStyle/>
          <a:p>
            <a:endParaRPr lang="ru-RU"/>
          </a:p>
        </p:txBody>
      </p:sp>
      <p:pic>
        <p:nvPicPr>
          <p:cNvPr id="23" name="Image 2" descr="/home/claude/fob-slides/icons_out/exchange_white.png"/>
          <p:cNvPicPr>
            <a:picLocks noChangeAspect="1"/>
          </p:cNvPicPr>
          <p:nvPr/>
        </p:nvPicPr>
        <p:blipFill>
          <a:blip r:embed="rId5"/>
          <a:stretch>
            <a:fillRect/>
          </a:stretch>
        </p:blipFill>
        <p:spPr>
          <a:xfrm>
            <a:off x="8465058" y="3115818"/>
            <a:ext cx="352044" cy="352044"/>
          </a:xfrm>
          <a:prstGeom prst="rect">
            <a:avLst/>
          </a:prstGeom>
        </p:spPr>
      </p:pic>
      <p:sp>
        <p:nvSpPr>
          <p:cNvPr id="24" name="Text 19"/>
          <p:cNvSpPr txBox="1"/>
          <p:nvPr/>
        </p:nvSpPr>
        <p:spPr>
          <a:xfrm>
            <a:off x="9098280" y="2926080"/>
            <a:ext cx="2377440" cy="411480"/>
          </a:xfrm>
          <a:prstGeom prst="rect">
            <a:avLst/>
          </a:prstGeom>
          <a:noFill/>
          <a:ln/>
        </p:spPr>
        <p:txBody>
          <a:bodyPr wrap="square" lIns="0" tIns="0" rIns="0" bIns="0" rtlCol="0" anchor="t"/>
          <a:lstStyle/>
          <a:p>
            <a:pPr marL="0" indent="0" algn="l">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So'rov-javob</a:t>
            </a:r>
            <a:endParaRPr lang="en-US" sz="2000" dirty="0"/>
          </a:p>
        </p:txBody>
      </p:sp>
      <p:sp>
        <p:nvSpPr>
          <p:cNvPr id="25" name="Text 20"/>
          <p:cNvSpPr txBox="1"/>
          <p:nvPr/>
        </p:nvSpPr>
        <p:spPr>
          <a:xfrm>
            <a:off x="9098280" y="3310128"/>
            <a:ext cx="2377440" cy="320040"/>
          </a:xfrm>
          <a:prstGeom prst="rect">
            <a:avLst/>
          </a:prstGeom>
          <a:noFill/>
          <a:ln/>
        </p:spPr>
        <p:txBody>
          <a:bodyPr wrap="square" lIns="0" tIns="0" rIns="0" bIns="0" rtlCol="0" anchor="t"/>
          <a:lstStyle/>
          <a:p>
            <a:pPr marL="0" indent="0" algn="l">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challenge-response</a:t>
            </a:r>
            <a:endParaRPr lang="en-US" sz="1400" dirty="0"/>
          </a:p>
        </p:txBody>
      </p:sp>
      <p:sp>
        <p:nvSpPr>
          <p:cNvPr id="26" name="Text 21"/>
          <p:cNvSpPr txBox="1"/>
          <p:nvPr/>
        </p:nvSpPr>
        <p:spPr>
          <a:xfrm>
            <a:off x="8321040" y="3840480"/>
            <a:ext cx="3017520" cy="1097280"/>
          </a:xfrm>
          <a:prstGeom prst="rect">
            <a:avLst/>
          </a:prstGeom>
          <a:noFill/>
          <a:ln/>
        </p:spPr>
        <p:txBody>
          <a:bodyPr wrap="square" lIns="0" tIns="0" rIns="0" bIns="0" rtlCol="0" anchor="t"/>
          <a:lstStyle/>
          <a:p>
            <a:pPr marL="0" indent="0" algn="l">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Server tasodifiy so'rov yuboradi, qurilma kalit bilan javob hisoblaydi.</a:t>
            </a:r>
            <a:endParaRPr lang="en-US" sz="1600" dirty="0"/>
          </a:p>
        </p:txBody>
      </p:sp>
      <p:sp>
        <p:nvSpPr>
          <p:cNvPr id="27" name="Shape 22"/>
          <p:cNvSpPr/>
          <p:nvPr/>
        </p:nvSpPr>
        <p:spPr>
          <a:xfrm>
            <a:off x="8321040" y="5029200"/>
            <a:ext cx="1463040" cy="411480"/>
          </a:xfrm>
          <a:prstGeom prst="roundRect">
            <a:avLst>
              <a:gd name="adj" fmla="val 48889"/>
            </a:avLst>
          </a:prstGeom>
          <a:solidFill>
            <a:srgbClr val="FFFFFF"/>
          </a:solidFill>
          <a:ln/>
        </p:spPr>
        <p:txBody>
          <a:bodyPr/>
          <a:lstStyle/>
          <a:p>
            <a:endParaRPr lang="ru-RU"/>
          </a:p>
        </p:txBody>
      </p:sp>
      <p:sp>
        <p:nvSpPr>
          <p:cNvPr id="28" name="Text 23"/>
          <p:cNvSpPr txBox="1"/>
          <p:nvPr/>
        </p:nvSpPr>
        <p:spPr>
          <a:xfrm>
            <a:off x="8321040" y="5029200"/>
            <a:ext cx="1463040" cy="411480"/>
          </a:xfrm>
          <a:prstGeom prst="rect">
            <a:avLst/>
          </a:prstGeom>
          <a:noFill/>
          <a:ln/>
        </p:spPr>
        <p:txBody>
          <a:bodyPr wrap="square" lIns="50800" tIns="50800" rIns="50800" bIns="50800" rtlCol="0" anchor="ctr"/>
          <a:lstStyle/>
          <a:p>
            <a:pPr marL="0" indent="0" algn="ctr">
              <a:lnSpc>
                <a:spcPct val="100000"/>
              </a:lnSpc>
              <a:buNone/>
            </a:pPr>
            <a:r>
              <a:rPr lang="en-US" sz="1400" dirty="0">
                <a:solidFill>
                  <a:srgbClr val="1E2761"/>
                </a:solidFill>
                <a:latin typeface="Times New Roman" pitchFamily="34" charset="0"/>
                <a:ea typeface="Times New Roman" pitchFamily="34" charset="-122"/>
                <a:cs typeface="Times New Roman" pitchFamily="34" charset="-120"/>
              </a:rPr>
              <a:t>asinxron</a:t>
            </a:r>
            <a:endParaRPr lang="en-US" sz="1400" dirty="0"/>
          </a:p>
        </p:txBody>
      </p:sp>
      <p:sp>
        <p:nvSpPr>
          <p:cNvPr id="29" name="Text 24"/>
          <p:cNvSpPr txBox="1"/>
          <p:nvPr/>
        </p:nvSpPr>
        <p:spPr>
          <a:xfrm>
            <a:off x="548640" y="5852160"/>
            <a:ext cx="11064240" cy="457200"/>
          </a:xfrm>
          <a:prstGeom prst="rect">
            <a:avLst/>
          </a:prstGeom>
          <a:noFill/>
          <a:ln/>
        </p:spPr>
        <p:txBody>
          <a:bodyPr wrap="square" lIns="0" tIns="0" rIns="0" bIns="0" rtlCol="0" anchor="t"/>
          <a:lstStyle/>
          <a:p>
            <a:pPr marL="0" indent="0" algn="ctr">
              <a:lnSpc>
                <a:spcPct val="100000"/>
              </a:lnSpc>
              <a:buNone/>
            </a:pPr>
            <a:r>
              <a:rPr lang="en-US" sz="1600" dirty="0">
                <a:solidFill>
                  <a:srgbClr val="1E2761"/>
                </a:solidFill>
                <a:latin typeface="Times New Roman" pitchFamily="34" charset="0"/>
                <a:ea typeface="Times New Roman" pitchFamily="34" charset="-122"/>
                <a:cs typeface="Times New Roman" pitchFamily="34" charset="-120"/>
              </a:rPr>
              <a:t>Asosiy afzallik: tutib olingan kodni qayta ishlatib bo'lmaydi — u bir marta va qisqa muddat amal qiladi.</a:t>
            </a:r>
            <a:endParaRPr lang="en-US" sz="1600" dirty="0"/>
          </a:p>
        </p:txBody>
      </p:sp>
      <p:sp>
        <p:nvSpPr>
          <p:cNvPr id="30" name="Text 25"/>
          <p:cNvSpPr txBox="1"/>
          <p:nvPr/>
        </p:nvSpPr>
        <p:spPr>
          <a:xfrm>
            <a:off x="548640" y="6492240"/>
            <a:ext cx="7315200" cy="274320"/>
          </a:xfrm>
          <a:prstGeom prst="rect">
            <a:avLst/>
          </a:prstGeom>
          <a:noFill/>
          <a:ln/>
        </p:spPr>
        <p:txBody>
          <a:bodyPr wrap="square" lIns="0" tIns="0" rIns="0" bIns="0" rtlCol="0" anchor="ctr"/>
          <a:lstStyle/>
          <a:p>
            <a:pPr marL="0" indent="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4-ma'ruza</a:t>
            </a:r>
            <a:endParaRPr lang="en-US" sz="1100" dirty="0"/>
          </a:p>
        </p:txBody>
      </p:sp>
      <p:sp>
        <p:nvSpPr>
          <p:cNvPr id="31" name="Text 26"/>
          <p:cNvSpPr txBox="1"/>
          <p:nvPr/>
        </p:nvSpPr>
        <p:spPr>
          <a:xfrm>
            <a:off x="11155680" y="6492240"/>
            <a:ext cx="457200" cy="274320"/>
          </a:xfrm>
          <a:prstGeom prst="rect">
            <a:avLst/>
          </a:prstGeom>
          <a:noFill/>
          <a:ln/>
        </p:spPr>
        <p:txBody>
          <a:bodyPr wrap="square" lIns="0" tIns="0" rIns="0" bIns="0" rtlCol="0" anchor="ctr"/>
          <a:lstStyle/>
          <a:p>
            <a:pPr marL="0" indent="0" algn="r">
              <a:buNone/>
            </a:pPr>
            <a:r>
              <a:rPr lang="en-US" sz="1100" dirty="0">
                <a:solidFill>
                  <a:srgbClr val="5B6270"/>
                </a:solidFill>
                <a:latin typeface="Times New Roman" pitchFamily="34" charset="0"/>
                <a:ea typeface="Times New Roman" pitchFamily="34" charset="-122"/>
                <a:cs typeface="Times New Roman"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marL="0" indent="0">
              <a:buNone/>
            </a:pPr>
            <a:r>
              <a:rPr lang="en-US" sz="1600" b="1" kern="0" spc="220" dirty="0">
                <a:solidFill>
                  <a:srgbClr val="5B6270"/>
                </a:solidFill>
                <a:latin typeface="Times New Roman" pitchFamily="34" charset="0"/>
                <a:ea typeface="Times New Roman" pitchFamily="34" charset="-122"/>
                <a:cs typeface="Times New Roman" pitchFamily="34" charset="-120"/>
              </a:rPr>
              <a:t>HOTP · RFC 4226</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marL="0" indent="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HOTP: hodisaga asoslangan bir martali parol</a:t>
            </a:r>
            <a:endParaRPr lang="en-US" sz="3600" dirty="0"/>
          </a:p>
        </p:txBody>
      </p:sp>
      <p:sp>
        <p:nvSpPr>
          <p:cNvPr id="4" name="Text 2"/>
          <p:cNvSpPr txBox="1"/>
          <p:nvPr/>
        </p:nvSpPr>
        <p:spPr>
          <a:xfrm>
            <a:off x="548640" y="1691640"/>
            <a:ext cx="11064240" cy="457200"/>
          </a:xfrm>
          <a:prstGeom prst="rect">
            <a:avLst/>
          </a:prstGeom>
          <a:noFill/>
          <a:ln/>
        </p:spPr>
        <p:txBody>
          <a:bodyPr wrap="square" lIns="0" tIns="0" rIns="0" bIns="0" rtlCol="0" anchor="t"/>
          <a:lstStyle/>
          <a:p>
            <a:pPr marL="0" indent="0" algn="l">
              <a:lnSpc>
                <a:spcPct val="100000"/>
              </a:lnSpc>
              <a:buNone/>
            </a:pPr>
            <a:r>
              <a:rPr lang="en-US" sz="2000" b="1" dirty="0">
                <a:solidFill>
                  <a:srgbClr val="1E2761"/>
                </a:solidFill>
                <a:latin typeface="Courier New" pitchFamily="34" charset="0"/>
                <a:ea typeface="Courier New" pitchFamily="34" charset="-122"/>
                <a:cs typeface="Courier New" pitchFamily="34" charset="-120"/>
              </a:rPr>
              <a:t>HOTP(K, C) = Truncate(HMAC-SHA-1(K, C)) mod 10ᵈ</a:t>
            </a:r>
            <a:endParaRPr lang="en-US" sz="2000" dirty="0"/>
          </a:p>
        </p:txBody>
      </p:sp>
      <p:sp>
        <p:nvSpPr>
          <p:cNvPr id="5" name="Shape 3"/>
          <p:cNvSpPr/>
          <p:nvPr/>
        </p:nvSpPr>
        <p:spPr>
          <a:xfrm>
            <a:off x="548640" y="2286000"/>
            <a:ext cx="2194560" cy="1051560"/>
          </a:xfrm>
          <a:prstGeom prst="roundRect">
            <a:avLst>
              <a:gd name="adj" fmla="val 7826"/>
            </a:avLst>
          </a:prstGeom>
          <a:solidFill>
            <a:srgbClr val="1E2761"/>
          </a:solidFill>
          <a:ln/>
        </p:spPr>
        <p:txBody>
          <a:bodyPr/>
          <a:lstStyle/>
          <a:p>
            <a:endParaRPr lang="ru-RU"/>
          </a:p>
        </p:txBody>
      </p:sp>
      <p:sp>
        <p:nvSpPr>
          <p:cNvPr id="6" name="Text 4"/>
          <p:cNvSpPr txBox="1"/>
          <p:nvPr/>
        </p:nvSpPr>
        <p:spPr>
          <a:xfrm>
            <a:off x="548640" y="2359152"/>
            <a:ext cx="2194560" cy="457200"/>
          </a:xfrm>
          <a:prstGeom prst="rect">
            <a:avLst/>
          </a:prstGeom>
          <a:noFill/>
          <a:ln/>
        </p:spPr>
        <p:txBody>
          <a:bodyPr wrap="square" lIns="50800" tIns="50800" rIns="50800" bIns="50800" rtlCol="0" anchor="ctr"/>
          <a:lstStyle/>
          <a:p>
            <a:pPr marL="0" indent="0" algn="ctr">
              <a:lnSpc>
                <a:spcPct val="100000"/>
              </a:lnSpc>
              <a:buNone/>
            </a:pPr>
            <a:r>
              <a:rPr lang="en-US" sz="2600" b="1" dirty="0">
                <a:solidFill>
                  <a:srgbClr val="FFFFFF"/>
                </a:solidFill>
                <a:latin typeface="Courier New" pitchFamily="34" charset="0"/>
                <a:ea typeface="Courier New" pitchFamily="34" charset="-122"/>
                <a:cs typeface="Courier New" pitchFamily="34" charset="-120"/>
              </a:rPr>
              <a:t>K</a:t>
            </a:r>
            <a:endParaRPr lang="en-US" sz="2600" dirty="0"/>
          </a:p>
        </p:txBody>
      </p:sp>
      <p:sp>
        <p:nvSpPr>
          <p:cNvPr id="7" name="Text 5"/>
          <p:cNvSpPr txBox="1"/>
          <p:nvPr/>
        </p:nvSpPr>
        <p:spPr>
          <a:xfrm>
            <a:off x="640080" y="2788920"/>
            <a:ext cx="2011680" cy="502920"/>
          </a:xfrm>
          <a:prstGeom prst="rect">
            <a:avLst/>
          </a:prstGeom>
          <a:noFill/>
          <a:ln/>
        </p:spPr>
        <p:txBody>
          <a:bodyPr wrap="square" lIns="50800" tIns="50800" rIns="50800" bIns="50800" rtlCol="0" anchor="ctr"/>
          <a:lstStyle/>
          <a:p>
            <a:pPr marL="0" indent="0" algn="ctr">
              <a:lnSpc>
                <a:spcPct val="100000"/>
              </a:lnSpc>
              <a:buNone/>
            </a:pPr>
            <a:r>
              <a:rPr lang="en-US" sz="1300" dirty="0">
                <a:solidFill>
                  <a:srgbClr val="CADCFC"/>
                </a:solidFill>
                <a:latin typeface="Times New Roman" pitchFamily="34" charset="0"/>
                <a:ea typeface="Times New Roman" pitchFamily="34" charset="-122"/>
                <a:cs typeface="Times New Roman" pitchFamily="34" charset="-120"/>
              </a:rPr>
              <a:t>umumiy maxfiy kalit</a:t>
            </a:r>
            <a:endParaRPr lang="en-US" sz="1300" dirty="0"/>
          </a:p>
          <a:p>
            <a:pPr marL="0" indent="0" algn="ctr">
              <a:lnSpc>
                <a:spcPct val="100000"/>
              </a:lnSpc>
              <a:buNone/>
            </a:pPr>
            <a:r>
              <a:rPr lang="en-US" sz="1300" dirty="0">
                <a:solidFill>
                  <a:srgbClr val="CADCFC"/>
                </a:solidFill>
                <a:latin typeface="Times New Roman" pitchFamily="34" charset="0"/>
                <a:ea typeface="Times New Roman" pitchFamily="34" charset="-122"/>
                <a:cs typeface="Times New Roman" pitchFamily="34" charset="-120"/>
              </a:rPr>
              <a:t>≥ 128 bit, tavsiya 160</a:t>
            </a:r>
            <a:endParaRPr lang="en-US" sz="1300" dirty="0"/>
          </a:p>
        </p:txBody>
      </p:sp>
      <p:sp>
        <p:nvSpPr>
          <p:cNvPr id="8" name="Shape 6"/>
          <p:cNvSpPr/>
          <p:nvPr/>
        </p:nvSpPr>
        <p:spPr>
          <a:xfrm>
            <a:off x="548640" y="3474720"/>
            <a:ext cx="2194560" cy="1051560"/>
          </a:xfrm>
          <a:prstGeom prst="roundRect">
            <a:avLst>
              <a:gd name="adj" fmla="val 7826"/>
            </a:avLst>
          </a:prstGeom>
          <a:solidFill>
            <a:srgbClr val="1E2761"/>
          </a:solidFill>
          <a:ln/>
        </p:spPr>
        <p:txBody>
          <a:bodyPr/>
          <a:lstStyle/>
          <a:p>
            <a:endParaRPr lang="ru-RU"/>
          </a:p>
        </p:txBody>
      </p:sp>
      <p:sp>
        <p:nvSpPr>
          <p:cNvPr id="9" name="Text 7"/>
          <p:cNvSpPr txBox="1"/>
          <p:nvPr/>
        </p:nvSpPr>
        <p:spPr>
          <a:xfrm>
            <a:off x="548640" y="3547872"/>
            <a:ext cx="2194560" cy="457200"/>
          </a:xfrm>
          <a:prstGeom prst="rect">
            <a:avLst/>
          </a:prstGeom>
          <a:noFill/>
          <a:ln/>
        </p:spPr>
        <p:txBody>
          <a:bodyPr wrap="square" lIns="50800" tIns="50800" rIns="50800" bIns="50800" rtlCol="0" anchor="ctr"/>
          <a:lstStyle/>
          <a:p>
            <a:pPr marL="0" indent="0" algn="ctr">
              <a:lnSpc>
                <a:spcPct val="100000"/>
              </a:lnSpc>
              <a:buNone/>
            </a:pPr>
            <a:r>
              <a:rPr lang="en-US" sz="2600" b="1" dirty="0">
                <a:solidFill>
                  <a:srgbClr val="FFFFFF"/>
                </a:solidFill>
                <a:latin typeface="Courier New" pitchFamily="34" charset="0"/>
                <a:ea typeface="Courier New" pitchFamily="34" charset="-122"/>
                <a:cs typeface="Courier New" pitchFamily="34" charset="-120"/>
              </a:rPr>
              <a:t>C</a:t>
            </a:r>
            <a:endParaRPr lang="en-US" sz="2600" dirty="0"/>
          </a:p>
        </p:txBody>
      </p:sp>
      <p:sp>
        <p:nvSpPr>
          <p:cNvPr id="10" name="Text 8"/>
          <p:cNvSpPr txBox="1"/>
          <p:nvPr/>
        </p:nvSpPr>
        <p:spPr>
          <a:xfrm>
            <a:off x="640080" y="3977640"/>
            <a:ext cx="2011680" cy="502920"/>
          </a:xfrm>
          <a:prstGeom prst="rect">
            <a:avLst/>
          </a:prstGeom>
          <a:noFill/>
          <a:ln/>
        </p:spPr>
        <p:txBody>
          <a:bodyPr wrap="square" lIns="50800" tIns="50800" rIns="50800" bIns="50800" rtlCol="0" anchor="ctr"/>
          <a:lstStyle/>
          <a:p>
            <a:pPr marL="0" indent="0" algn="ctr">
              <a:lnSpc>
                <a:spcPct val="100000"/>
              </a:lnSpc>
              <a:buNone/>
            </a:pPr>
            <a:r>
              <a:rPr lang="en-US" sz="1300" dirty="0">
                <a:solidFill>
                  <a:srgbClr val="CADCFC"/>
                </a:solidFill>
                <a:latin typeface="Times New Roman" pitchFamily="34" charset="0"/>
                <a:ea typeface="Times New Roman" pitchFamily="34" charset="-122"/>
                <a:cs typeface="Times New Roman" pitchFamily="34" charset="-120"/>
              </a:rPr>
              <a:t>8 baytli hisoblagich</a:t>
            </a:r>
            <a:endParaRPr lang="en-US" sz="1300" dirty="0"/>
          </a:p>
          <a:p>
            <a:pPr marL="0" indent="0" algn="ctr">
              <a:lnSpc>
                <a:spcPct val="100000"/>
              </a:lnSpc>
              <a:buNone/>
            </a:pPr>
            <a:r>
              <a:rPr lang="en-US" sz="1300" dirty="0">
                <a:solidFill>
                  <a:srgbClr val="CADCFC"/>
                </a:solidFill>
                <a:latin typeface="Times New Roman" pitchFamily="34" charset="0"/>
                <a:ea typeface="Times New Roman" pitchFamily="34" charset="-122"/>
                <a:cs typeface="Times New Roman" pitchFamily="34" charset="-120"/>
              </a:rPr>
              <a:t>(hodisalar soni)</a:t>
            </a:r>
            <a:endParaRPr lang="en-US" sz="1300" dirty="0"/>
          </a:p>
        </p:txBody>
      </p:sp>
      <p:sp>
        <p:nvSpPr>
          <p:cNvPr id="11" name="Shape 9"/>
          <p:cNvSpPr/>
          <p:nvPr/>
        </p:nvSpPr>
        <p:spPr>
          <a:xfrm>
            <a:off x="3246120" y="2926080"/>
            <a:ext cx="2331720" cy="1051560"/>
          </a:xfrm>
          <a:prstGeom prst="roundRect">
            <a:avLst>
              <a:gd name="adj" fmla="val 7826"/>
            </a:avLst>
          </a:prstGeom>
          <a:solidFill>
            <a:srgbClr val="2A3778"/>
          </a:solidFill>
          <a:ln/>
        </p:spPr>
        <p:txBody>
          <a:bodyPr/>
          <a:lstStyle/>
          <a:p>
            <a:endParaRPr lang="ru-RU"/>
          </a:p>
        </p:txBody>
      </p:sp>
      <p:sp>
        <p:nvSpPr>
          <p:cNvPr id="12" name="Text 10"/>
          <p:cNvSpPr txBox="1"/>
          <p:nvPr/>
        </p:nvSpPr>
        <p:spPr>
          <a:xfrm>
            <a:off x="3246120" y="2999232"/>
            <a:ext cx="2331720" cy="457200"/>
          </a:xfrm>
          <a:prstGeom prst="rect">
            <a:avLst/>
          </a:prstGeom>
          <a:noFill/>
          <a:ln/>
        </p:spPr>
        <p:txBody>
          <a:bodyPr wrap="square" lIns="50800" tIns="50800" rIns="50800" bIns="50800" rtlCol="0" anchor="ctr"/>
          <a:lstStyle/>
          <a:p>
            <a:pPr marL="0" indent="0" algn="ctr">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HMAC-SHA-1</a:t>
            </a:r>
            <a:endParaRPr lang="en-US" sz="1800" dirty="0"/>
          </a:p>
        </p:txBody>
      </p:sp>
      <p:sp>
        <p:nvSpPr>
          <p:cNvPr id="13" name="Text 11"/>
          <p:cNvSpPr txBox="1"/>
          <p:nvPr/>
        </p:nvSpPr>
        <p:spPr>
          <a:xfrm>
            <a:off x="3337560" y="3429000"/>
            <a:ext cx="2148840" cy="502920"/>
          </a:xfrm>
          <a:prstGeom prst="rect">
            <a:avLst/>
          </a:prstGeom>
          <a:noFill/>
          <a:ln/>
        </p:spPr>
        <p:txBody>
          <a:bodyPr wrap="square" lIns="50800" tIns="50800" rIns="50800" bIns="50800" rtlCol="0" anchor="ctr"/>
          <a:lstStyle/>
          <a:p>
            <a:pPr marL="0" indent="0" algn="ctr">
              <a:lnSpc>
                <a:spcPct val="100000"/>
              </a:lnSpc>
              <a:buNone/>
            </a:pPr>
            <a:r>
              <a:rPr lang="en-US" sz="1300" dirty="0">
                <a:solidFill>
                  <a:srgbClr val="CADCFC"/>
                </a:solidFill>
                <a:latin typeface="Times New Roman" pitchFamily="34" charset="0"/>
                <a:ea typeface="Times New Roman" pitchFamily="34" charset="-122"/>
                <a:cs typeface="Times New Roman" pitchFamily="34" charset="-120"/>
              </a:rPr>
              <a:t>20 baytli natija</a:t>
            </a:r>
            <a:endParaRPr lang="en-US" sz="1300" dirty="0"/>
          </a:p>
        </p:txBody>
      </p:sp>
      <p:sp>
        <p:nvSpPr>
          <p:cNvPr id="14" name="Shape 12"/>
          <p:cNvSpPr/>
          <p:nvPr/>
        </p:nvSpPr>
        <p:spPr>
          <a:xfrm>
            <a:off x="6035040" y="2926080"/>
            <a:ext cx="2331720" cy="1051560"/>
          </a:xfrm>
          <a:prstGeom prst="roundRect">
            <a:avLst>
              <a:gd name="adj" fmla="val 7826"/>
            </a:avLst>
          </a:prstGeom>
          <a:solidFill>
            <a:srgbClr val="2A3778"/>
          </a:solidFill>
          <a:ln/>
        </p:spPr>
        <p:txBody>
          <a:bodyPr/>
          <a:lstStyle/>
          <a:p>
            <a:endParaRPr lang="ru-RU"/>
          </a:p>
        </p:txBody>
      </p:sp>
      <p:sp>
        <p:nvSpPr>
          <p:cNvPr id="15" name="Text 13"/>
          <p:cNvSpPr txBox="1"/>
          <p:nvPr/>
        </p:nvSpPr>
        <p:spPr>
          <a:xfrm>
            <a:off x="6035040" y="2999232"/>
            <a:ext cx="2331720" cy="457200"/>
          </a:xfrm>
          <a:prstGeom prst="rect">
            <a:avLst/>
          </a:prstGeom>
          <a:noFill/>
          <a:ln/>
        </p:spPr>
        <p:txBody>
          <a:bodyPr wrap="square" lIns="50800" tIns="50800" rIns="50800" bIns="50800" rtlCol="0" anchor="ctr"/>
          <a:lstStyle/>
          <a:p>
            <a:pPr marL="0" indent="0" algn="ctr">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Dinamik kesish</a:t>
            </a:r>
            <a:endParaRPr lang="en-US" sz="1800" dirty="0"/>
          </a:p>
        </p:txBody>
      </p:sp>
      <p:sp>
        <p:nvSpPr>
          <p:cNvPr id="16" name="Text 14"/>
          <p:cNvSpPr txBox="1"/>
          <p:nvPr/>
        </p:nvSpPr>
        <p:spPr>
          <a:xfrm>
            <a:off x="6126480" y="3429000"/>
            <a:ext cx="2148840" cy="502920"/>
          </a:xfrm>
          <a:prstGeom prst="rect">
            <a:avLst/>
          </a:prstGeom>
          <a:noFill/>
          <a:ln/>
        </p:spPr>
        <p:txBody>
          <a:bodyPr wrap="square" lIns="50800" tIns="50800" rIns="50800" bIns="50800" rtlCol="0" anchor="ctr"/>
          <a:lstStyle/>
          <a:p>
            <a:pPr marL="0" indent="0" algn="ctr">
              <a:lnSpc>
                <a:spcPct val="100000"/>
              </a:lnSpc>
              <a:buNone/>
            </a:pPr>
            <a:r>
              <a:rPr lang="en-US" sz="1300" dirty="0">
                <a:solidFill>
                  <a:srgbClr val="CADCFC"/>
                </a:solidFill>
                <a:latin typeface="Times New Roman" pitchFamily="34" charset="0"/>
                <a:ea typeface="Times New Roman" pitchFamily="34" charset="-122"/>
                <a:cs typeface="Times New Roman" pitchFamily="34" charset="-120"/>
              </a:rPr>
              <a:t>31 bitli son</a:t>
            </a:r>
            <a:endParaRPr lang="en-US" sz="1300" dirty="0"/>
          </a:p>
        </p:txBody>
      </p:sp>
      <p:sp>
        <p:nvSpPr>
          <p:cNvPr id="17" name="Shape 15"/>
          <p:cNvSpPr/>
          <p:nvPr/>
        </p:nvSpPr>
        <p:spPr>
          <a:xfrm>
            <a:off x="8823960" y="2926080"/>
            <a:ext cx="2331720" cy="1051560"/>
          </a:xfrm>
          <a:prstGeom prst="roundRect">
            <a:avLst>
              <a:gd name="adj" fmla="val 7826"/>
            </a:avLst>
          </a:prstGeom>
          <a:solidFill>
            <a:srgbClr val="1F6B4A"/>
          </a:solidFill>
          <a:ln/>
        </p:spPr>
        <p:txBody>
          <a:bodyPr/>
          <a:lstStyle/>
          <a:p>
            <a:endParaRPr lang="ru-RU"/>
          </a:p>
        </p:txBody>
      </p:sp>
      <p:sp>
        <p:nvSpPr>
          <p:cNvPr id="18" name="Text 16"/>
          <p:cNvSpPr txBox="1"/>
          <p:nvPr/>
        </p:nvSpPr>
        <p:spPr>
          <a:xfrm>
            <a:off x="8823960" y="2999232"/>
            <a:ext cx="2331720" cy="457200"/>
          </a:xfrm>
          <a:prstGeom prst="rect">
            <a:avLst/>
          </a:prstGeom>
          <a:noFill/>
          <a:ln/>
        </p:spPr>
        <p:txBody>
          <a:bodyPr wrap="square" lIns="50800" tIns="50800" rIns="50800" bIns="50800" rtlCol="0" anchor="ctr"/>
          <a:lstStyle/>
          <a:p>
            <a:pPr marL="0" indent="0" algn="ctr">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mod 10⁶</a:t>
            </a:r>
            <a:endParaRPr lang="en-US" sz="1800" dirty="0"/>
          </a:p>
        </p:txBody>
      </p:sp>
      <p:sp>
        <p:nvSpPr>
          <p:cNvPr id="19" name="Text 17"/>
          <p:cNvSpPr txBox="1"/>
          <p:nvPr/>
        </p:nvSpPr>
        <p:spPr>
          <a:xfrm>
            <a:off x="8915400" y="3429000"/>
            <a:ext cx="2148840" cy="502920"/>
          </a:xfrm>
          <a:prstGeom prst="rect">
            <a:avLst/>
          </a:prstGeom>
          <a:noFill/>
          <a:ln/>
        </p:spPr>
        <p:txBody>
          <a:bodyPr wrap="square" lIns="50800" tIns="50800" rIns="50800" bIns="50800" rtlCol="0" anchor="ctr"/>
          <a:lstStyle/>
          <a:p>
            <a:pPr marL="0" indent="0" algn="ctr">
              <a:lnSpc>
                <a:spcPct val="100000"/>
              </a:lnSpc>
              <a:buNone/>
            </a:pPr>
            <a:r>
              <a:rPr lang="en-US" sz="1300" dirty="0">
                <a:solidFill>
                  <a:srgbClr val="CADCFC"/>
                </a:solidFill>
                <a:latin typeface="Times New Roman" pitchFamily="34" charset="0"/>
                <a:ea typeface="Times New Roman" pitchFamily="34" charset="-122"/>
                <a:cs typeface="Times New Roman" pitchFamily="34" charset="-120"/>
              </a:rPr>
              <a:t>6 xonali kod</a:t>
            </a:r>
            <a:endParaRPr lang="en-US" sz="1300" dirty="0"/>
          </a:p>
        </p:txBody>
      </p:sp>
      <p:sp>
        <p:nvSpPr>
          <p:cNvPr id="20" name="Shape 18"/>
          <p:cNvSpPr/>
          <p:nvPr/>
        </p:nvSpPr>
        <p:spPr>
          <a:xfrm>
            <a:off x="2788920" y="2811780"/>
            <a:ext cx="411480" cy="548640"/>
          </a:xfrm>
          <a:prstGeom prst="line">
            <a:avLst/>
          </a:prstGeom>
          <a:noFill/>
          <a:ln w="28575">
            <a:solidFill>
              <a:srgbClr val="1E2761"/>
            </a:solidFill>
            <a:prstDash val="solid"/>
            <a:tailEnd type="triangle"/>
          </a:ln>
        </p:spPr>
        <p:txBody>
          <a:bodyPr/>
          <a:lstStyle/>
          <a:p>
            <a:endParaRPr lang="ru-RU"/>
          </a:p>
        </p:txBody>
      </p:sp>
      <p:sp>
        <p:nvSpPr>
          <p:cNvPr id="21" name="Shape 19"/>
          <p:cNvSpPr/>
          <p:nvPr/>
        </p:nvSpPr>
        <p:spPr>
          <a:xfrm flipV="1">
            <a:off x="2788920" y="3543300"/>
            <a:ext cx="411480" cy="457200"/>
          </a:xfrm>
          <a:prstGeom prst="line">
            <a:avLst/>
          </a:prstGeom>
          <a:noFill/>
          <a:ln w="28575">
            <a:solidFill>
              <a:srgbClr val="1E2761"/>
            </a:solidFill>
            <a:prstDash val="solid"/>
            <a:tailEnd type="triangle"/>
          </a:ln>
        </p:spPr>
        <p:txBody>
          <a:bodyPr/>
          <a:lstStyle/>
          <a:p>
            <a:endParaRPr lang="ru-RU"/>
          </a:p>
        </p:txBody>
      </p:sp>
      <p:sp>
        <p:nvSpPr>
          <p:cNvPr id="22" name="Shape 20"/>
          <p:cNvSpPr/>
          <p:nvPr/>
        </p:nvSpPr>
        <p:spPr>
          <a:xfrm>
            <a:off x="5623560" y="3451860"/>
            <a:ext cx="365760" cy="0"/>
          </a:xfrm>
          <a:prstGeom prst="line">
            <a:avLst/>
          </a:prstGeom>
          <a:noFill/>
          <a:ln w="28575">
            <a:solidFill>
              <a:srgbClr val="1E2761"/>
            </a:solidFill>
            <a:prstDash val="solid"/>
            <a:tailEnd type="triangle"/>
          </a:ln>
        </p:spPr>
        <p:txBody>
          <a:bodyPr/>
          <a:lstStyle/>
          <a:p>
            <a:endParaRPr lang="ru-RU"/>
          </a:p>
        </p:txBody>
      </p:sp>
      <p:sp>
        <p:nvSpPr>
          <p:cNvPr id="23" name="Shape 21"/>
          <p:cNvSpPr/>
          <p:nvPr/>
        </p:nvSpPr>
        <p:spPr>
          <a:xfrm>
            <a:off x="8412480" y="3451860"/>
            <a:ext cx="365760" cy="0"/>
          </a:xfrm>
          <a:prstGeom prst="line">
            <a:avLst/>
          </a:prstGeom>
          <a:noFill/>
          <a:ln w="28575">
            <a:solidFill>
              <a:srgbClr val="1E2761"/>
            </a:solidFill>
            <a:prstDash val="solid"/>
            <a:tailEnd type="triangle"/>
          </a:ln>
        </p:spPr>
        <p:txBody>
          <a:bodyPr/>
          <a:lstStyle/>
          <a:p>
            <a:endParaRPr lang="ru-RU"/>
          </a:p>
        </p:txBody>
      </p:sp>
      <p:sp>
        <p:nvSpPr>
          <p:cNvPr id="24" name="Text 22"/>
          <p:cNvSpPr txBox="1"/>
          <p:nvPr/>
        </p:nvSpPr>
        <p:spPr>
          <a:xfrm>
            <a:off x="8823960" y="4041648"/>
            <a:ext cx="2331720" cy="548640"/>
          </a:xfrm>
          <a:prstGeom prst="rect">
            <a:avLst/>
          </a:prstGeom>
          <a:noFill/>
          <a:ln/>
        </p:spPr>
        <p:txBody>
          <a:bodyPr wrap="square" lIns="0" tIns="0" rIns="0" bIns="0" rtlCol="0" anchor="t"/>
          <a:lstStyle/>
          <a:p>
            <a:pPr marL="0" indent="0" algn="ctr">
              <a:lnSpc>
                <a:spcPct val="100000"/>
              </a:lnSpc>
              <a:buNone/>
            </a:pPr>
            <a:r>
              <a:rPr lang="en-US" sz="2600" b="1" dirty="0">
                <a:solidFill>
                  <a:srgbClr val="1F6B4A"/>
                </a:solidFill>
                <a:latin typeface="Courier New" pitchFamily="34" charset="0"/>
                <a:ea typeface="Courier New" pitchFamily="34" charset="-122"/>
                <a:cs typeface="Courier New" pitchFamily="34" charset="-120"/>
              </a:rPr>
              <a:t>755224</a:t>
            </a:r>
            <a:endParaRPr lang="en-US" sz="2600" dirty="0"/>
          </a:p>
        </p:txBody>
      </p:sp>
      <p:sp>
        <p:nvSpPr>
          <p:cNvPr id="25" name="Shape 23"/>
          <p:cNvSpPr/>
          <p:nvPr/>
        </p:nvSpPr>
        <p:spPr>
          <a:xfrm>
            <a:off x="548640" y="4709160"/>
            <a:ext cx="5440680" cy="1554480"/>
          </a:xfrm>
          <a:prstGeom prst="roundRect">
            <a:avLst>
              <a:gd name="adj" fmla="val 5294"/>
            </a:avLst>
          </a:prstGeom>
          <a:solidFill>
            <a:srgbClr val="EEF2FB"/>
          </a:solidFill>
          <a:ln/>
        </p:spPr>
        <p:txBody>
          <a:bodyPr/>
          <a:lstStyle/>
          <a:p>
            <a:endParaRPr lang="ru-RU"/>
          </a:p>
        </p:txBody>
      </p:sp>
      <p:sp>
        <p:nvSpPr>
          <p:cNvPr id="26" name="Text 24"/>
          <p:cNvSpPr txBox="1"/>
          <p:nvPr/>
        </p:nvSpPr>
        <p:spPr>
          <a:xfrm>
            <a:off x="777240" y="4773168"/>
            <a:ext cx="5029200" cy="365760"/>
          </a:xfrm>
          <a:prstGeom prst="rect">
            <a:avLst/>
          </a:prstGeom>
          <a:noFill/>
          <a:ln/>
        </p:spPr>
        <p:txBody>
          <a:bodyPr wrap="square" lIns="0" tIns="0" rIns="0" bIns="0" rtlCol="0" anchor="t"/>
          <a:lstStyle/>
          <a:p>
            <a:pPr marL="0" indent="0" algn="l">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Ikkala tomonda nima sodir bo'ladi</a:t>
            </a:r>
            <a:endParaRPr lang="en-US" sz="1600" dirty="0"/>
          </a:p>
        </p:txBody>
      </p:sp>
      <p:sp>
        <p:nvSpPr>
          <p:cNvPr id="27" name="Text 25"/>
          <p:cNvSpPr txBox="1"/>
          <p:nvPr/>
        </p:nvSpPr>
        <p:spPr>
          <a:xfrm>
            <a:off x="777240" y="5138928"/>
            <a:ext cx="5029200" cy="109728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Qurilma: tugma bosilganda C ni oshiradi va kod ko'rsatadi</a:t>
            </a:r>
            <a:endParaRPr lang="en-US" sz="1600" dirty="0"/>
          </a:p>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Server: kod to'g'ri bo'lsa, o'zidagi C ni yangilaydi</a:t>
            </a:r>
            <a:endParaRPr lang="en-US" sz="1600" dirty="0"/>
          </a:p>
        </p:txBody>
      </p:sp>
      <p:sp>
        <p:nvSpPr>
          <p:cNvPr id="28" name="Shape 26"/>
          <p:cNvSpPr/>
          <p:nvPr/>
        </p:nvSpPr>
        <p:spPr>
          <a:xfrm>
            <a:off x="6172200" y="4709160"/>
            <a:ext cx="5440680" cy="1554480"/>
          </a:xfrm>
          <a:prstGeom prst="roundRect">
            <a:avLst>
              <a:gd name="adj" fmla="val 5294"/>
            </a:avLst>
          </a:prstGeom>
          <a:solidFill>
            <a:srgbClr val="FDF3E2"/>
          </a:solidFill>
          <a:ln/>
        </p:spPr>
        <p:txBody>
          <a:bodyPr/>
          <a:lstStyle/>
          <a:p>
            <a:endParaRPr lang="ru-RU"/>
          </a:p>
        </p:txBody>
      </p:sp>
      <p:sp>
        <p:nvSpPr>
          <p:cNvPr id="29" name="Text 27"/>
          <p:cNvSpPr txBox="1"/>
          <p:nvPr/>
        </p:nvSpPr>
        <p:spPr>
          <a:xfrm>
            <a:off x="6400800" y="4773168"/>
            <a:ext cx="5029200" cy="365760"/>
          </a:xfrm>
          <a:prstGeom prst="rect">
            <a:avLst/>
          </a:prstGeom>
          <a:noFill/>
          <a:ln/>
        </p:spPr>
        <p:txBody>
          <a:bodyPr wrap="square" lIns="0" tIns="0" rIns="0" bIns="0" rtlCol="0" anchor="t"/>
          <a:lstStyle/>
          <a:p>
            <a:pPr marL="0" indent="0" algn="l">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Muammo: hisoblagich sinxronligi</a:t>
            </a:r>
            <a:endParaRPr lang="en-US" sz="1600" dirty="0"/>
          </a:p>
        </p:txBody>
      </p:sp>
      <p:sp>
        <p:nvSpPr>
          <p:cNvPr id="30" name="Text 28"/>
          <p:cNvSpPr txBox="1"/>
          <p:nvPr/>
        </p:nvSpPr>
        <p:spPr>
          <a:xfrm>
            <a:off x="6400800" y="5138928"/>
            <a:ext cx="5029200" cy="1097280"/>
          </a:xfrm>
          <a:prstGeom prst="rect">
            <a:avLst/>
          </a:prstGeom>
          <a:noFill/>
          <a:ln/>
        </p:spPr>
        <p:txBody>
          <a:bodyPr wrap="square" lIns="0" tIns="0" rIns="0" bIns="0" rtlCol="0" anchor="t"/>
          <a:lstStyle/>
          <a:p>
            <a:pPr marL="0" indent="0" algn="l">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Foydalanuvchi tugmani bekorga bossa, qurilmadagi C oldinga ketadi. Server C, C+1, …, C+s oynasini tekshiradi va topilgan qiymatga sinxronlashadi.</a:t>
            </a:r>
            <a:endParaRPr lang="en-US" sz="1600" dirty="0"/>
          </a:p>
        </p:txBody>
      </p:sp>
      <p:sp>
        <p:nvSpPr>
          <p:cNvPr id="31" name="Text 29"/>
          <p:cNvSpPr txBox="1"/>
          <p:nvPr/>
        </p:nvSpPr>
        <p:spPr>
          <a:xfrm>
            <a:off x="548640" y="6492240"/>
            <a:ext cx="7315200" cy="274320"/>
          </a:xfrm>
          <a:prstGeom prst="rect">
            <a:avLst/>
          </a:prstGeom>
          <a:noFill/>
          <a:ln/>
        </p:spPr>
        <p:txBody>
          <a:bodyPr wrap="square" lIns="0" tIns="0" rIns="0" bIns="0" rtlCol="0" anchor="ctr"/>
          <a:lstStyle/>
          <a:p>
            <a:pPr marL="0" indent="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4-ma'ruza</a:t>
            </a:r>
            <a:endParaRPr lang="en-US" sz="1100" dirty="0"/>
          </a:p>
        </p:txBody>
      </p:sp>
      <p:sp>
        <p:nvSpPr>
          <p:cNvPr id="32" name="Text 30"/>
          <p:cNvSpPr txBox="1"/>
          <p:nvPr/>
        </p:nvSpPr>
        <p:spPr>
          <a:xfrm>
            <a:off x="11155680" y="6492240"/>
            <a:ext cx="457200" cy="274320"/>
          </a:xfrm>
          <a:prstGeom prst="rect">
            <a:avLst/>
          </a:prstGeom>
          <a:noFill/>
          <a:ln/>
        </p:spPr>
        <p:txBody>
          <a:bodyPr wrap="square" lIns="0" tIns="0" rIns="0" bIns="0" rtlCol="0" anchor="ctr"/>
          <a:lstStyle/>
          <a:p>
            <a:pPr marL="0" indent="0" algn="r">
              <a:buNone/>
            </a:pPr>
            <a:r>
              <a:rPr lang="en-US" sz="1100" dirty="0">
                <a:solidFill>
                  <a:srgbClr val="5B6270"/>
                </a:solidFill>
                <a:latin typeface="Times New Roman" pitchFamily="34" charset="0"/>
                <a:ea typeface="Times New Roman" pitchFamily="34" charset="-122"/>
                <a:cs typeface="Times New Roman"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marL="0" indent="0">
              <a:buNone/>
            </a:pPr>
            <a:r>
              <a:rPr lang="en-US" sz="1600" b="1" kern="0" spc="220" dirty="0">
                <a:solidFill>
                  <a:srgbClr val="5B6270"/>
                </a:solidFill>
                <a:latin typeface="Times New Roman" pitchFamily="34" charset="0"/>
                <a:ea typeface="Times New Roman" pitchFamily="34" charset="-122"/>
                <a:cs typeface="Times New Roman" pitchFamily="34" charset="-120"/>
              </a:rPr>
              <a:t>DINAMIK KESISH</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marL="0" indent="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20 baytdan 6 xonali kodga: qadamma-qadam</a:t>
            </a:r>
            <a:endParaRPr lang="en-US" sz="3600" dirty="0"/>
          </a:p>
        </p:txBody>
      </p:sp>
      <p:sp>
        <p:nvSpPr>
          <p:cNvPr id="4" name="Text 2"/>
          <p:cNvSpPr txBox="1"/>
          <p:nvPr/>
        </p:nvSpPr>
        <p:spPr>
          <a:xfrm>
            <a:off x="548640" y="1737360"/>
            <a:ext cx="11064240" cy="365760"/>
          </a:xfrm>
          <a:prstGeom prst="rect">
            <a:avLst/>
          </a:prstGeom>
          <a:noFill/>
          <a:ln/>
        </p:spPr>
        <p:txBody>
          <a:bodyPr wrap="square" lIns="0" tIns="0" rIns="0" bIns="0" rtlCol="0" anchor="t"/>
          <a:lstStyle/>
          <a:p>
            <a:pPr marL="0" indent="0" algn="l">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HMAC-SHA-1(K, C=0) natijasi, K = «12345678901234567890»:</a:t>
            </a:r>
            <a:endParaRPr lang="en-US" sz="1600" dirty="0"/>
          </a:p>
        </p:txBody>
      </p:sp>
      <p:sp>
        <p:nvSpPr>
          <p:cNvPr id="5" name="Shape 3"/>
          <p:cNvSpPr/>
          <p:nvPr/>
        </p:nvSpPr>
        <p:spPr>
          <a:xfrm>
            <a:off x="548640" y="2194560"/>
            <a:ext cx="498348" cy="566928"/>
          </a:xfrm>
          <a:prstGeom prst="roundRect">
            <a:avLst>
              <a:gd name="adj" fmla="val 7339"/>
            </a:avLst>
          </a:prstGeom>
          <a:solidFill>
            <a:srgbClr val="1F6B4A"/>
          </a:solidFill>
          <a:ln/>
        </p:spPr>
        <p:txBody>
          <a:bodyPr/>
          <a:lstStyle/>
          <a:p>
            <a:endParaRPr lang="ru-RU"/>
          </a:p>
        </p:txBody>
      </p:sp>
      <p:sp>
        <p:nvSpPr>
          <p:cNvPr id="6" name="Text 4"/>
          <p:cNvSpPr txBox="1"/>
          <p:nvPr/>
        </p:nvSpPr>
        <p:spPr>
          <a:xfrm>
            <a:off x="548640" y="2194560"/>
            <a:ext cx="498348" cy="566928"/>
          </a:xfrm>
          <a:prstGeom prst="rect">
            <a:avLst/>
          </a:prstGeom>
          <a:noFill/>
          <a:ln/>
        </p:spPr>
        <p:txBody>
          <a:bodyPr wrap="square" lIns="0" tIns="0" rIns="0" bIns="0" rtlCol="0" anchor="ctr"/>
          <a:lstStyle/>
          <a:p>
            <a:pPr marL="0" indent="0" algn="ctr">
              <a:lnSpc>
                <a:spcPct val="100000"/>
              </a:lnSpc>
              <a:buNone/>
            </a:pPr>
            <a:r>
              <a:rPr lang="en-US" sz="1500" b="1" dirty="0">
                <a:solidFill>
                  <a:srgbClr val="FFFFFF"/>
                </a:solidFill>
                <a:latin typeface="Courier New" pitchFamily="34" charset="0"/>
                <a:ea typeface="Courier New" pitchFamily="34" charset="-122"/>
                <a:cs typeface="Courier New" pitchFamily="34" charset="-120"/>
              </a:rPr>
              <a:t>cc</a:t>
            </a:r>
            <a:endParaRPr lang="en-US" sz="1500" dirty="0"/>
          </a:p>
        </p:txBody>
      </p:sp>
      <p:sp>
        <p:nvSpPr>
          <p:cNvPr id="7" name="Text 5"/>
          <p:cNvSpPr txBox="1"/>
          <p:nvPr/>
        </p:nvSpPr>
        <p:spPr>
          <a:xfrm>
            <a:off x="548640" y="2788920"/>
            <a:ext cx="498348" cy="256032"/>
          </a:xfrm>
          <a:prstGeom prst="rect">
            <a:avLst/>
          </a:prstGeom>
          <a:noFill/>
          <a:ln/>
        </p:spPr>
        <p:txBody>
          <a:bodyPr wrap="square" lIns="0" tIns="0" rIns="0" bIns="0" rtlCol="0" anchor="t"/>
          <a:lstStyle/>
          <a:p>
            <a:pPr marL="0" indent="0" algn="ctr">
              <a:lnSpc>
                <a:spcPct val="100000"/>
              </a:lnSpc>
              <a:buNone/>
            </a:pPr>
            <a:r>
              <a:rPr lang="en-US" sz="1100" dirty="0">
                <a:solidFill>
                  <a:srgbClr val="5B6270"/>
                </a:solidFill>
                <a:latin typeface="Times New Roman" pitchFamily="34" charset="0"/>
                <a:ea typeface="Times New Roman" pitchFamily="34" charset="-122"/>
                <a:cs typeface="Times New Roman" pitchFamily="34" charset="-120"/>
              </a:rPr>
              <a:t>0</a:t>
            </a:r>
            <a:endParaRPr lang="en-US" sz="1100" dirty="0"/>
          </a:p>
        </p:txBody>
      </p:sp>
      <p:sp>
        <p:nvSpPr>
          <p:cNvPr id="8" name="Shape 6"/>
          <p:cNvSpPr/>
          <p:nvPr/>
        </p:nvSpPr>
        <p:spPr>
          <a:xfrm>
            <a:off x="1092708" y="2194560"/>
            <a:ext cx="498348" cy="566928"/>
          </a:xfrm>
          <a:prstGeom prst="roundRect">
            <a:avLst>
              <a:gd name="adj" fmla="val 7339"/>
            </a:avLst>
          </a:prstGeom>
          <a:solidFill>
            <a:srgbClr val="1F6B4A"/>
          </a:solidFill>
          <a:ln/>
        </p:spPr>
        <p:txBody>
          <a:bodyPr/>
          <a:lstStyle/>
          <a:p>
            <a:endParaRPr lang="ru-RU"/>
          </a:p>
        </p:txBody>
      </p:sp>
      <p:sp>
        <p:nvSpPr>
          <p:cNvPr id="9" name="Text 7"/>
          <p:cNvSpPr txBox="1"/>
          <p:nvPr/>
        </p:nvSpPr>
        <p:spPr>
          <a:xfrm>
            <a:off x="1092708" y="2194560"/>
            <a:ext cx="498348" cy="566928"/>
          </a:xfrm>
          <a:prstGeom prst="rect">
            <a:avLst/>
          </a:prstGeom>
          <a:noFill/>
          <a:ln/>
        </p:spPr>
        <p:txBody>
          <a:bodyPr wrap="square" lIns="0" tIns="0" rIns="0" bIns="0" rtlCol="0" anchor="ctr"/>
          <a:lstStyle/>
          <a:p>
            <a:pPr marL="0" indent="0" algn="ctr">
              <a:lnSpc>
                <a:spcPct val="100000"/>
              </a:lnSpc>
              <a:buNone/>
            </a:pPr>
            <a:r>
              <a:rPr lang="en-US" sz="1500" b="1" dirty="0">
                <a:solidFill>
                  <a:srgbClr val="FFFFFF"/>
                </a:solidFill>
                <a:latin typeface="Courier New" pitchFamily="34" charset="0"/>
                <a:ea typeface="Courier New" pitchFamily="34" charset="-122"/>
                <a:cs typeface="Courier New" pitchFamily="34" charset="-120"/>
              </a:rPr>
              <a:t>93</a:t>
            </a:r>
            <a:endParaRPr lang="en-US" sz="1500" dirty="0"/>
          </a:p>
        </p:txBody>
      </p:sp>
      <p:sp>
        <p:nvSpPr>
          <p:cNvPr id="10" name="Text 8"/>
          <p:cNvSpPr txBox="1"/>
          <p:nvPr/>
        </p:nvSpPr>
        <p:spPr>
          <a:xfrm>
            <a:off x="1092708" y="2788920"/>
            <a:ext cx="498348" cy="256032"/>
          </a:xfrm>
          <a:prstGeom prst="rect">
            <a:avLst/>
          </a:prstGeom>
          <a:noFill/>
          <a:ln/>
        </p:spPr>
        <p:txBody>
          <a:bodyPr wrap="square" lIns="0" tIns="0" rIns="0" bIns="0" rtlCol="0" anchor="t"/>
          <a:lstStyle/>
          <a:p>
            <a:pPr marL="0" indent="0" algn="ctr">
              <a:lnSpc>
                <a:spcPct val="100000"/>
              </a:lnSpc>
              <a:buNone/>
            </a:pPr>
            <a:r>
              <a:rPr lang="en-US" sz="1100" dirty="0">
                <a:solidFill>
                  <a:srgbClr val="5B6270"/>
                </a:solidFill>
                <a:latin typeface="Times New Roman" pitchFamily="34" charset="0"/>
                <a:ea typeface="Times New Roman" pitchFamily="34" charset="-122"/>
                <a:cs typeface="Times New Roman" pitchFamily="34" charset="-120"/>
              </a:rPr>
              <a:t>1</a:t>
            </a:r>
            <a:endParaRPr lang="en-US" sz="1100" dirty="0"/>
          </a:p>
        </p:txBody>
      </p:sp>
      <p:sp>
        <p:nvSpPr>
          <p:cNvPr id="11" name="Shape 9"/>
          <p:cNvSpPr/>
          <p:nvPr/>
        </p:nvSpPr>
        <p:spPr>
          <a:xfrm>
            <a:off x="1636776" y="2194560"/>
            <a:ext cx="498348" cy="566928"/>
          </a:xfrm>
          <a:prstGeom prst="roundRect">
            <a:avLst>
              <a:gd name="adj" fmla="val 7339"/>
            </a:avLst>
          </a:prstGeom>
          <a:solidFill>
            <a:srgbClr val="1F6B4A"/>
          </a:solidFill>
          <a:ln/>
        </p:spPr>
        <p:txBody>
          <a:bodyPr/>
          <a:lstStyle/>
          <a:p>
            <a:endParaRPr lang="ru-RU"/>
          </a:p>
        </p:txBody>
      </p:sp>
      <p:sp>
        <p:nvSpPr>
          <p:cNvPr id="12" name="Text 10"/>
          <p:cNvSpPr txBox="1"/>
          <p:nvPr/>
        </p:nvSpPr>
        <p:spPr>
          <a:xfrm>
            <a:off x="1636776" y="2194560"/>
            <a:ext cx="498348" cy="566928"/>
          </a:xfrm>
          <a:prstGeom prst="rect">
            <a:avLst/>
          </a:prstGeom>
          <a:noFill/>
          <a:ln/>
        </p:spPr>
        <p:txBody>
          <a:bodyPr wrap="square" lIns="0" tIns="0" rIns="0" bIns="0" rtlCol="0" anchor="ctr"/>
          <a:lstStyle/>
          <a:p>
            <a:pPr marL="0" indent="0" algn="ctr">
              <a:lnSpc>
                <a:spcPct val="100000"/>
              </a:lnSpc>
              <a:buNone/>
            </a:pPr>
            <a:r>
              <a:rPr lang="en-US" sz="1500" b="1" dirty="0">
                <a:solidFill>
                  <a:srgbClr val="FFFFFF"/>
                </a:solidFill>
                <a:latin typeface="Courier New" pitchFamily="34" charset="0"/>
                <a:ea typeface="Courier New" pitchFamily="34" charset="-122"/>
                <a:cs typeface="Courier New" pitchFamily="34" charset="-120"/>
              </a:rPr>
              <a:t>cf</a:t>
            </a:r>
            <a:endParaRPr lang="en-US" sz="1500" dirty="0"/>
          </a:p>
        </p:txBody>
      </p:sp>
      <p:sp>
        <p:nvSpPr>
          <p:cNvPr id="13" name="Text 11"/>
          <p:cNvSpPr txBox="1"/>
          <p:nvPr/>
        </p:nvSpPr>
        <p:spPr>
          <a:xfrm>
            <a:off x="1636776" y="2788920"/>
            <a:ext cx="498348" cy="256032"/>
          </a:xfrm>
          <a:prstGeom prst="rect">
            <a:avLst/>
          </a:prstGeom>
          <a:noFill/>
          <a:ln/>
        </p:spPr>
        <p:txBody>
          <a:bodyPr wrap="square" lIns="0" tIns="0" rIns="0" bIns="0" rtlCol="0" anchor="t"/>
          <a:lstStyle/>
          <a:p>
            <a:pPr marL="0" indent="0" algn="ctr">
              <a:lnSpc>
                <a:spcPct val="100000"/>
              </a:lnSpc>
              <a:buNone/>
            </a:pPr>
            <a:r>
              <a:rPr lang="en-US" sz="1100" dirty="0">
                <a:solidFill>
                  <a:srgbClr val="5B6270"/>
                </a:solidFill>
                <a:latin typeface="Times New Roman" pitchFamily="34" charset="0"/>
                <a:ea typeface="Times New Roman" pitchFamily="34" charset="-122"/>
                <a:cs typeface="Times New Roman" pitchFamily="34" charset="-120"/>
              </a:rPr>
              <a:t>2</a:t>
            </a:r>
            <a:endParaRPr lang="en-US" sz="1100" dirty="0"/>
          </a:p>
        </p:txBody>
      </p:sp>
      <p:sp>
        <p:nvSpPr>
          <p:cNvPr id="14" name="Shape 12"/>
          <p:cNvSpPr/>
          <p:nvPr/>
        </p:nvSpPr>
        <p:spPr>
          <a:xfrm>
            <a:off x="2180844" y="2194560"/>
            <a:ext cx="498348" cy="566928"/>
          </a:xfrm>
          <a:prstGeom prst="roundRect">
            <a:avLst>
              <a:gd name="adj" fmla="val 7339"/>
            </a:avLst>
          </a:prstGeom>
          <a:solidFill>
            <a:srgbClr val="1F6B4A"/>
          </a:solidFill>
          <a:ln/>
        </p:spPr>
        <p:txBody>
          <a:bodyPr/>
          <a:lstStyle/>
          <a:p>
            <a:endParaRPr lang="ru-RU"/>
          </a:p>
        </p:txBody>
      </p:sp>
      <p:sp>
        <p:nvSpPr>
          <p:cNvPr id="15" name="Text 13"/>
          <p:cNvSpPr txBox="1"/>
          <p:nvPr/>
        </p:nvSpPr>
        <p:spPr>
          <a:xfrm>
            <a:off x="2180844" y="2194560"/>
            <a:ext cx="498348" cy="566928"/>
          </a:xfrm>
          <a:prstGeom prst="rect">
            <a:avLst/>
          </a:prstGeom>
          <a:noFill/>
          <a:ln/>
        </p:spPr>
        <p:txBody>
          <a:bodyPr wrap="square" lIns="0" tIns="0" rIns="0" bIns="0" rtlCol="0" anchor="ctr"/>
          <a:lstStyle/>
          <a:p>
            <a:pPr marL="0" indent="0" algn="ctr">
              <a:lnSpc>
                <a:spcPct val="100000"/>
              </a:lnSpc>
              <a:buNone/>
            </a:pPr>
            <a:r>
              <a:rPr lang="en-US" sz="1500" b="1" dirty="0">
                <a:solidFill>
                  <a:srgbClr val="FFFFFF"/>
                </a:solidFill>
                <a:latin typeface="Courier New" pitchFamily="34" charset="0"/>
                <a:ea typeface="Courier New" pitchFamily="34" charset="-122"/>
                <a:cs typeface="Courier New" pitchFamily="34" charset="-120"/>
              </a:rPr>
              <a:t>18</a:t>
            </a:r>
            <a:endParaRPr lang="en-US" sz="1500" dirty="0"/>
          </a:p>
        </p:txBody>
      </p:sp>
      <p:sp>
        <p:nvSpPr>
          <p:cNvPr id="16" name="Text 14"/>
          <p:cNvSpPr txBox="1"/>
          <p:nvPr/>
        </p:nvSpPr>
        <p:spPr>
          <a:xfrm>
            <a:off x="2180844" y="2788920"/>
            <a:ext cx="498348" cy="256032"/>
          </a:xfrm>
          <a:prstGeom prst="rect">
            <a:avLst/>
          </a:prstGeom>
          <a:noFill/>
          <a:ln/>
        </p:spPr>
        <p:txBody>
          <a:bodyPr wrap="square" lIns="0" tIns="0" rIns="0" bIns="0" rtlCol="0" anchor="t"/>
          <a:lstStyle/>
          <a:p>
            <a:pPr marL="0" indent="0" algn="ctr">
              <a:lnSpc>
                <a:spcPct val="100000"/>
              </a:lnSpc>
              <a:buNone/>
            </a:pPr>
            <a:r>
              <a:rPr lang="en-US" sz="1100" dirty="0">
                <a:solidFill>
                  <a:srgbClr val="5B6270"/>
                </a:solidFill>
                <a:latin typeface="Times New Roman" pitchFamily="34" charset="0"/>
                <a:ea typeface="Times New Roman" pitchFamily="34" charset="-122"/>
                <a:cs typeface="Times New Roman" pitchFamily="34" charset="-120"/>
              </a:rPr>
              <a:t>3</a:t>
            </a:r>
            <a:endParaRPr lang="en-US" sz="1100" dirty="0"/>
          </a:p>
        </p:txBody>
      </p:sp>
      <p:sp>
        <p:nvSpPr>
          <p:cNvPr id="17" name="Shape 15"/>
          <p:cNvSpPr/>
          <p:nvPr/>
        </p:nvSpPr>
        <p:spPr>
          <a:xfrm>
            <a:off x="2724912" y="2194560"/>
            <a:ext cx="498348" cy="566928"/>
          </a:xfrm>
          <a:prstGeom prst="roundRect">
            <a:avLst>
              <a:gd name="adj" fmla="val 7339"/>
            </a:avLst>
          </a:prstGeom>
          <a:solidFill>
            <a:srgbClr val="EEF2FB"/>
          </a:solidFill>
          <a:ln/>
        </p:spPr>
        <p:txBody>
          <a:bodyPr/>
          <a:lstStyle/>
          <a:p>
            <a:endParaRPr lang="ru-RU"/>
          </a:p>
        </p:txBody>
      </p:sp>
      <p:sp>
        <p:nvSpPr>
          <p:cNvPr id="18" name="Text 16"/>
          <p:cNvSpPr txBox="1"/>
          <p:nvPr/>
        </p:nvSpPr>
        <p:spPr>
          <a:xfrm>
            <a:off x="2724912" y="2194560"/>
            <a:ext cx="498348" cy="566928"/>
          </a:xfrm>
          <a:prstGeom prst="rect">
            <a:avLst/>
          </a:prstGeom>
          <a:noFill/>
          <a:ln/>
        </p:spPr>
        <p:txBody>
          <a:bodyPr wrap="square" lIns="0" tIns="0" rIns="0" bIns="0" rtlCol="0" anchor="ctr"/>
          <a:lstStyle/>
          <a:p>
            <a:pPr marL="0" indent="0" algn="ctr">
              <a:lnSpc>
                <a:spcPct val="100000"/>
              </a:lnSpc>
              <a:buNone/>
            </a:pPr>
            <a:r>
              <a:rPr lang="en-US" sz="1500" b="1" dirty="0">
                <a:solidFill>
                  <a:srgbClr val="1E2761"/>
                </a:solidFill>
                <a:latin typeface="Courier New" pitchFamily="34" charset="0"/>
                <a:ea typeface="Courier New" pitchFamily="34" charset="-122"/>
                <a:cs typeface="Courier New" pitchFamily="34" charset="-120"/>
              </a:rPr>
              <a:t>50</a:t>
            </a:r>
            <a:endParaRPr lang="en-US" sz="1500" dirty="0"/>
          </a:p>
        </p:txBody>
      </p:sp>
      <p:sp>
        <p:nvSpPr>
          <p:cNvPr id="19" name="Text 17"/>
          <p:cNvSpPr txBox="1"/>
          <p:nvPr/>
        </p:nvSpPr>
        <p:spPr>
          <a:xfrm>
            <a:off x="2724912" y="2788920"/>
            <a:ext cx="498348" cy="256032"/>
          </a:xfrm>
          <a:prstGeom prst="rect">
            <a:avLst/>
          </a:prstGeom>
          <a:noFill/>
          <a:ln/>
        </p:spPr>
        <p:txBody>
          <a:bodyPr wrap="square" lIns="0" tIns="0" rIns="0" bIns="0" rtlCol="0" anchor="t"/>
          <a:lstStyle/>
          <a:p>
            <a:pPr marL="0" indent="0" algn="ctr">
              <a:lnSpc>
                <a:spcPct val="100000"/>
              </a:lnSpc>
              <a:buNone/>
            </a:pPr>
            <a:r>
              <a:rPr lang="en-US" sz="1100" dirty="0">
                <a:solidFill>
                  <a:srgbClr val="5B6270"/>
                </a:solidFill>
                <a:latin typeface="Times New Roman" pitchFamily="34" charset="0"/>
                <a:ea typeface="Times New Roman" pitchFamily="34" charset="-122"/>
                <a:cs typeface="Times New Roman" pitchFamily="34" charset="-120"/>
              </a:rPr>
              <a:t>4</a:t>
            </a:r>
            <a:endParaRPr lang="en-US" sz="1100" dirty="0"/>
          </a:p>
        </p:txBody>
      </p:sp>
      <p:sp>
        <p:nvSpPr>
          <p:cNvPr id="20" name="Shape 18"/>
          <p:cNvSpPr/>
          <p:nvPr/>
        </p:nvSpPr>
        <p:spPr>
          <a:xfrm>
            <a:off x="3268980" y="2194560"/>
            <a:ext cx="498348" cy="566928"/>
          </a:xfrm>
          <a:prstGeom prst="roundRect">
            <a:avLst>
              <a:gd name="adj" fmla="val 7339"/>
            </a:avLst>
          </a:prstGeom>
          <a:solidFill>
            <a:srgbClr val="EEF2FB"/>
          </a:solidFill>
          <a:ln/>
        </p:spPr>
        <p:txBody>
          <a:bodyPr/>
          <a:lstStyle/>
          <a:p>
            <a:endParaRPr lang="ru-RU"/>
          </a:p>
        </p:txBody>
      </p:sp>
      <p:sp>
        <p:nvSpPr>
          <p:cNvPr id="21" name="Text 19"/>
          <p:cNvSpPr txBox="1"/>
          <p:nvPr/>
        </p:nvSpPr>
        <p:spPr>
          <a:xfrm>
            <a:off x="3268980" y="2194560"/>
            <a:ext cx="498348" cy="566928"/>
          </a:xfrm>
          <a:prstGeom prst="rect">
            <a:avLst/>
          </a:prstGeom>
          <a:noFill/>
          <a:ln/>
        </p:spPr>
        <p:txBody>
          <a:bodyPr wrap="square" lIns="0" tIns="0" rIns="0" bIns="0" rtlCol="0" anchor="ctr"/>
          <a:lstStyle/>
          <a:p>
            <a:pPr marL="0" indent="0" algn="ctr">
              <a:lnSpc>
                <a:spcPct val="100000"/>
              </a:lnSpc>
              <a:buNone/>
            </a:pPr>
            <a:r>
              <a:rPr lang="en-US" sz="1500" b="1" dirty="0">
                <a:solidFill>
                  <a:srgbClr val="1E2761"/>
                </a:solidFill>
                <a:latin typeface="Courier New" pitchFamily="34" charset="0"/>
                <a:ea typeface="Courier New" pitchFamily="34" charset="-122"/>
                <a:cs typeface="Courier New" pitchFamily="34" charset="-120"/>
              </a:rPr>
              <a:t>8d</a:t>
            </a:r>
            <a:endParaRPr lang="en-US" sz="1500" dirty="0"/>
          </a:p>
        </p:txBody>
      </p:sp>
      <p:sp>
        <p:nvSpPr>
          <p:cNvPr id="22" name="Text 20"/>
          <p:cNvSpPr txBox="1"/>
          <p:nvPr/>
        </p:nvSpPr>
        <p:spPr>
          <a:xfrm>
            <a:off x="3268980" y="2788920"/>
            <a:ext cx="498348" cy="256032"/>
          </a:xfrm>
          <a:prstGeom prst="rect">
            <a:avLst/>
          </a:prstGeom>
          <a:noFill/>
          <a:ln/>
        </p:spPr>
        <p:txBody>
          <a:bodyPr wrap="square" lIns="0" tIns="0" rIns="0" bIns="0" rtlCol="0" anchor="t"/>
          <a:lstStyle/>
          <a:p>
            <a:pPr marL="0" indent="0" algn="ctr">
              <a:lnSpc>
                <a:spcPct val="100000"/>
              </a:lnSpc>
              <a:buNone/>
            </a:pPr>
            <a:r>
              <a:rPr lang="en-US" sz="1100" dirty="0">
                <a:solidFill>
                  <a:srgbClr val="5B6270"/>
                </a:solidFill>
                <a:latin typeface="Times New Roman" pitchFamily="34" charset="0"/>
                <a:ea typeface="Times New Roman" pitchFamily="34" charset="-122"/>
                <a:cs typeface="Times New Roman" pitchFamily="34" charset="-120"/>
              </a:rPr>
              <a:t>5</a:t>
            </a:r>
            <a:endParaRPr lang="en-US" sz="1100" dirty="0"/>
          </a:p>
        </p:txBody>
      </p:sp>
      <p:sp>
        <p:nvSpPr>
          <p:cNvPr id="23" name="Shape 21"/>
          <p:cNvSpPr/>
          <p:nvPr/>
        </p:nvSpPr>
        <p:spPr>
          <a:xfrm>
            <a:off x="3813048" y="2194560"/>
            <a:ext cx="498348" cy="566928"/>
          </a:xfrm>
          <a:prstGeom prst="roundRect">
            <a:avLst>
              <a:gd name="adj" fmla="val 7339"/>
            </a:avLst>
          </a:prstGeom>
          <a:solidFill>
            <a:srgbClr val="EEF2FB"/>
          </a:solidFill>
          <a:ln/>
        </p:spPr>
        <p:txBody>
          <a:bodyPr/>
          <a:lstStyle/>
          <a:p>
            <a:endParaRPr lang="ru-RU"/>
          </a:p>
        </p:txBody>
      </p:sp>
      <p:sp>
        <p:nvSpPr>
          <p:cNvPr id="24" name="Text 22"/>
          <p:cNvSpPr txBox="1"/>
          <p:nvPr/>
        </p:nvSpPr>
        <p:spPr>
          <a:xfrm>
            <a:off x="3813048" y="2194560"/>
            <a:ext cx="498348" cy="566928"/>
          </a:xfrm>
          <a:prstGeom prst="rect">
            <a:avLst/>
          </a:prstGeom>
          <a:noFill/>
          <a:ln/>
        </p:spPr>
        <p:txBody>
          <a:bodyPr wrap="square" lIns="0" tIns="0" rIns="0" bIns="0" rtlCol="0" anchor="ctr"/>
          <a:lstStyle/>
          <a:p>
            <a:pPr marL="0" indent="0" algn="ctr">
              <a:lnSpc>
                <a:spcPct val="100000"/>
              </a:lnSpc>
              <a:buNone/>
            </a:pPr>
            <a:r>
              <a:rPr lang="en-US" sz="1500" b="1" dirty="0">
                <a:solidFill>
                  <a:srgbClr val="1E2761"/>
                </a:solidFill>
                <a:latin typeface="Courier New" pitchFamily="34" charset="0"/>
                <a:ea typeface="Courier New" pitchFamily="34" charset="-122"/>
                <a:cs typeface="Courier New" pitchFamily="34" charset="-120"/>
              </a:rPr>
              <a:t>94</a:t>
            </a:r>
            <a:endParaRPr lang="en-US" sz="1500" dirty="0"/>
          </a:p>
        </p:txBody>
      </p:sp>
      <p:sp>
        <p:nvSpPr>
          <p:cNvPr id="25" name="Text 23"/>
          <p:cNvSpPr txBox="1"/>
          <p:nvPr/>
        </p:nvSpPr>
        <p:spPr>
          <a:xfrm>
            <a:off x="3813048" y="2788920"/>
            <a:ext cx="498348" cy="256032"/>
          </a:xfrm>
          <a:prstGeom prst="rect">
            <a:avLst/>
          </a:prstGeom>
          <a:noFill/>
          <a:ln/>
        </p:spPr>
        <p:txBody>
          <a:bodyPr wrap="square" lIns="0" tIns="0" rIns="0" bIns="0" rtlCol="0" anchor="t"/>
          <a:lstStyle/>
          <a:p>
            <a:pPr marL="0" indent="0" algn="ctr">
              <a:lnSpc>
                <a:spcPct val="100000"/>
              </a:lnSpc>
              <a:buNone/>
            </a:pPr>
            <a:r>
              <a:rPr lang="en-US" sz="1100" dirty="0">
                <a:solidFill>
                  <a:srgbClr val="5B6270"/>
                </a:solidFill>
                <a:latin typeface="Times New Roman" pitchFamily="34" charset="0"/>
                <a:ea typeface="Times New Roman" pitchFamily="34" charset="-122"/>
                <a:cs typeface="Times New Roman" pitchFamily="34" charset="-120"/>
              </a:rPr>
              <a:t>6</a:t>
            </a:r>
            <a:endParaRPr lang="en-US" sz="1100" dirty="0"/>
          </a:p>
        </p:txBody>
      </p:sp>
      <p:sp>
        <p:nvSpPr>
          <p:cNvPr id="26" name="Shape 24"/>
          <p:cNvSpPr/>
          <p:nvPr/>
        </p:nvSpPr>
        <p:spPr>
          <a:xfrm>
            <a:off x="4357116" y="2194560"/>
            <a:ext cx="498348" cy="566928"/>
          </a:xfrm>
          <a:prstGeom prst="roundRect">
            <a:avLst>
              <a:gd name="adj" fmla="val 7339"/>
            </a:avLst>
          </a:prstGeom>
          <a:solidFill>
            <a:srgbClr val="EEF2FB"/>
          </a:solidFill>
          <a:ln/>
        </p:spPr>
        <p:txBody>
          <a:bodyPr/>
          <a:lstStyle/>
          <a:p>
            <a:endParaRPr lang="ru-RU"/>
          </a:p>
        </p:txBody>
      </p:sp>
      <p:sp>
        <p:nvSpPr>
          <p:cNvPr id="27" name="Text 25"/>
          <p:cNvSpPr txBox="1"/>
          <p:nvPr/>
        </p:nvSpPr>
        <p:spPr>
          <a:xfrm>
            <a:off x="4357116" y="2194560"/>
            <a:ext cx="498348" cy="566928"/>
          </a:xfrm>
          <a:prstGeom prst="rect">
            <a:avLst/>
          </a:prstGeom>
          <a:noFill/>
          <a:ln/>
        </p:spPr>
        <p:txBody>
          <a:bodyPr wrap="square" lIns="0" tIns="0" rIns="0" bIns="0" rtlCol="0" anchor="ctr"/>
          <a:lstStyle/>
          <a:p>
            <a:pPr marL="0" indent="0" algn="ctr">
              <a:lnSpc>
                <a:spcPct val="100000"/>
              </a:lnSpc>
              <a:buNone/>
            </a:pPr>
            <a:r>
              <a:rPr lang="en-US" sz="1500" b="1" dirty="0">
                <a:solidFill>
                  <a:srgbClr val="1E2761"/>
                </a:solidFill>
                <a:latin typeface="Courier New" pitchFamily="34" charset="0"/>
                <a:ea typeface="Courier New" pitchFamily="34" charset="-122"/>
                <a:cs typeface="Courier New" pitchFamily="34" charset="-120"/>
              </a:rPr>
              <a:t>93</a:t>
            </a:r>
            <a:endParaRPr lang="en-US" sz="1500" dirty="0"/>
          </a:p>
        </p:txBody>
      </p:sp>
      <p:sp>
        <p:nvSpPr>
          <p:cNvPr id="28" name="Text 26"/>
          <p:cNvSpPr txBox="1"/>
          <p:nvPr/>
        </p:nvSpPr>
        <p:spPr>
          <a:xfrm>
            <a:off x="4357116" y="2788920"/>
            <a:ext cx="498348" cy="256032"/>
          </a:xfrm>
          <a:prstGeom prst="rect">
            <a:avLst/>
          </a:prstGeom>
          <a:noFill/>
          <a:ln/>
        </p:spPr>
        <p:txBody>
          <a:bodyPr wrap="square" lIns="0" tIns="0" rIns="0" bIns="0" rtlCol="0" anchor="t"/>
          <a:lstStyle/>
          <a:p>
            <a:pPr marL="0" indent="0" algn="ctr">
              <a:lnSpc>
                <a:spcPct val="100000"/>
              </a:lnSpc>
              <a:buNone/>
            </a:pPr>
            <a:r>
              <a:rPr lang="en-US" sz="1100" dirty="0">
                <a:solidFill>
                  <a:srgbClr val="5B6270"/>
                </a:solidFill>
                <a:latin typeface="Times New Roman" pitchFamily="34" charset="0"/>
                <a:ea typeface="Times New Roman" pitchFamily="34" charset="-122"/>
                <a:cs typeface="Times New Roman" pitchFamily="34" charset="-120"/>
              </a:rPr>
              <a:t>7</a:t>
            </a:r>
            <a:endParaRPr lang="en-US" sz="1100" dirty="0"/>
          </a:p>
        </p:txBody>
      </p:sp>
      <p:sp>
        <p:nvSpPr>
          <p:cNvPr id="29" name="Shape 27"/>
          <p:cNvSpPr/>
          <p:nvPr/>
        </p:nvSpPr>
        <p:spPr>
          <a:xfrm>
            <a:off x="4901184" y="2194560"/>
            <a:ext cx="498348" cy="566928"/>
          </a:xfrm>
          <a:prstGeom prst="roundRect">
            <a:avLst>
              <a:gd name="adj" fmla="val 7339"/>
            </a:avLst>
          </a:prstGeom>
          <a:solidFill>
            <a:srgbClr val="EEF2FB"/>
          </a:solidFill>
          <a:ln/>
        </p:spPr>
        <p:txBody>
          <a:bodyPr/>
          <a:lstStyle/>
          <a:p>
            <a:endParaRPr lang="ru-RU"/>
          </a:p>
        </p:txBody>
      </p:sp>
      <p:sp>
        <p:nvSpPr>
          <p:cNvPr id="30" name="Text 28"/>
          <p:cNvSpPr txBox="1"/>
          <p:nvPr/>
        </p:nvSpPr>
        <p:spPr>
          <a:xfrm>
            <a:off x="4901184" y="2194560"/>
            <a:ext cx="498348" cy="566928"/>
          </a:xfrm>
          <a:prstGeom prst="rect">
            <a:avLst/>
          </a:prstGeom>
          <a:noFill/>
          <a:ln/>
        </p:spPr>
        <p:txBody>
          <a:bodyPr wrap="square" lIns="0" tIns="0" rIns="0" bIns="0" rtlCol="0" anchor="ctr"/>
          <a:lstStyle/>
          <a:p>
            <a:pPr marL="0" indent="0" algn="ctr">
              <a:lnSpc>
                <a:spcPct val="100000"/>
              </a:lnSpc>
              <a:buNone/>
            </a:pPr>
            <a:r>
              <a:rPr lang="en-US" sz="1500" b="1" dirty="0">
                <a:solidFill>
                  <a:srgbClr val="1E2761"/>
                </a:solidFill>
                <a:latin typeface="Courier New" pitchFamily="34" charset="0"/>
                <a:ea typeface="Courier New" pitchFamily="34" charset="-122"/>
                <a:cs typeface="Courier New" pitchFamily="34" charset="-120"/>
              </a:rPr>
              <a:t>4c</a:t>
            </a:r>
            <a:endParaRPr lang="en-US" sz="1500" dirty="0"/>
          </a:p>
        </p:txBody>
      </p:sp>
      <p:sp>
        <p:nvSpPr>
          <p:cNvPr id="31" name="Text 29"/>
          <p:cNvSpPr txBox="1"/>
          <p:nvPr/>
        </p:nvSpPr>
        <p:spPr>
          <a:xfrm>
            <a:off x="4901184" y="2788920"/>
            <a:ext cx="498348" cy="256032"/>
          </a:xfrm>
          <a:prstGeom prst="rect">
            <a:avLst/>
          </a:prstGeom>
          <a:noFill/>
          <a:ln/>
        </p:spPr>
        <p:txBody>
          <a:bodyPr wrap="square" lIns="0" tIns="0" rIns="0" bIns="0" rtlCol="0" anchor="t"/>
          <a:lstStyle/>
          <a:p>
            <a:pPr marL="0" indent="0" algn="ctr">
              <a:lnSpc>
                <a:spcPct val="100000"/>
              </a:lnSpc>
              <a:buNone/>
            </a:pPr>
            <a:r>
              <a:rPr lang="en-US" sz="1100" dirty="0">
                <a:solidFill>
                  <a:srgbClr val="5B6270"/>
                </a:solidFill>
                <a:latin typeface="Times New Roman" pitchFamily="34" charset="0"/>
                <a:ea typeface="Times New Roman" pitchFamily="34" charset="-122"/>
                <a:cs typeface="Times New Roman" pitchFamily="34" charset="-120"/>
              </a:rPr>
              <a:t>8</a:t>
            </a:r>
            <a:endParaRPr lang="en-US" sz="1100" dirty="0"/>
          </a:p>
        </p:txBody>
      </p:sp>
      <p:sp>
        <p:nvSpPr>
          <p:cNvPr id="32" name="Shape 30"/>
          <p:cNvSpPr/>
          <p:nvPr/>
        </p:nvSpPr>
        <p:spPr>
          <a:xfrm>
            <a:off x="5445252" y="2194560"/>
            <a:ext cx="498348" cy="566928"/>
          </a:xfrm>
          <a:prstGeom prst="roundRect">
            <a:avLst>
              <a:gd name="adj" fmla="val 7339"/>
            </a:avLst>
          </a:prstGeom>
          <a:solidFill>
            <a:srgbClr val="EEF2FB"/>
          </a:solidFill>
          <a:ln/>
        </p:spPr>
        <p:txBody>
          <a:bodyPr/>
          <a:lstStyle/>
          <a:p>
            <a:endParaRPr lang="ru-RU"/>
          </a:p>
        </p:txBody>
      </p:sp>
      <p:sp>
        <p:nvSpPr>
          <p:cNvPr id="33" name="Text 31"/>
          <p:cNvSpPr txBox="1"/>
          <p:nvPr/>
        </p:nvSpPr>
        <p:spPr>
          <a:xfrm>
            <a:off x="5445252" y="2194560"/>
            <a:ext cx="498348" cy="566928"/>
          </a:xfrm>
          <a:prstGeom prst="rect">
            <a:avLst/>
          </a:prstGeom>
          <a:noFill/>
          <a:ln/>
        </p:spPr>
        <p:txBody>
          <a:bodyPr wrap="square" lIns="0" tIns="0" rIns="0" bIns="0" rtlCol="0" anchor="ctr"/>
          <a:lstStyle/>
          <a:p>
            <a:pPr marL="0" indent="0" algn="ctr">
              <a:lnSpc>
                <a:spcPct val="100000"/>
              </a:lnSpc>
              <a:buNone/>
            </a:pPr>
            <a:r>
              <a:rPr lang="en-US" sz="1500" b="1" dirty="0">
                <a:solidFill>
                  <a:srgbClr val="1E2761"/>
                </a:solidFill>
                <a:latin typeface="Courier New" pitchFamily="34" charset="0"/>
                <a:ea typeface="Courier New" pitchFamily="34" charset="-122"/>
                <a:cs typeface="Courier New" pitchFamily="34" charset="-120"/>
              </a:rPr>
              <a:t>64</a:t>
            </a:r>
            <a:endParaRPr lang="en-US" sz="1500" dirty="0"/>
          </a:p>
        </p:txBody>
      </p:sp>
      <p:sp>
        <p:nvSpPr>
          <p:cNvPr id="34" name="Text 32"/>
          <p:cNvSpPr txBox="1"/>
          <p:nvPr/>
        </p:nvSpPr>
        <p:spPr>
          <a:xfrm>
            <a:off x="5445252" y="2788920"/>
            <a:ext cx="498348" cy="256032"/>
          </a:xfrm>
          <a:prstGeom prst="rect">
            <a:avLst/>
          </a:prstGeom>
          <a:noFill/>
          <a:ln/>
        </p:spPr>
        <p:txBody>
          <a:bodyPr wrap="square" lIns="0" tIns="0" rIns="0" bIns="0" rtlCol="0" anchor="t"/>
          <a:lstStyle/>
          <a:p>
            <a:pPr marL="0" indent="0" algn="ctr">
              <a:lnSpc>
                <a:spcPct val="100000"/>
              </a:lnSpc>
              <a:buNone/>
            </a:pPr>
            <a:r>
              <a:rPr lang="en-US" sz="1100" dirty="0">
                <a:solidFill>
                  <a:srgbClr val="5B6270"/>
                </a:solidFill>
                <a:latin typeface="Times New Roman" pitchFamily="34" charset="0"/>
                <a:ea typeface="Times New Roman" pitchFamily="34" charset="-122"/>
                <a:cs typeface="Times New Roman" pitchFamily="34" charset="-120"/>
              </a:rPr>
              <a:t>9</a:t>
            </a:r>
            <a:endParaRPr lang="en-US" sz="1100" dirty="0"/>
          </a:p>
        </p:txBody>
      </p:sp>
      <p:sp>
        <p:nvSpPr>
          <p:cNvPr id="35" name="Shape 33"/>
          <p:cNvSpPr/>
          <p:nvPr/>
        </p:nvSpPr>
        <p:spPr>
          <a:xfrm>
            <a:off x="5989320" y="2194560"/>
            <a:ext cx="498348" cy="566928"/>
          </a:xfrm>
          <a:prstGeom prst="roundRect">
            <a:avLst>
              <a:gd name="adj" fmla="val 7339"/>
            </a:avLst>
          </a:prstGeom>
          <a:solidFill>
            <a:srgbClr val="EEF2FB"/>
          </a:solidFill>
          <a:ln/>
        </p:spPr>
        <p:txBody>
          <a:bodyPr/>
          <a:lstStyle/>
          <a:p>
            <a:endParaRPr lang="ru-RU"/>
          </a:p>
        </p:txBody>
      </p:sp>
      <p:sp>
        <p:nvSpPr>
          <p:cNvPr id="36" name="Text 34"/>
          <p:cNvSpPr txBox="1"/>
          <p:nvPr/>
        </p:nvSpPr>
        <p:spPr>
          <a:xfrm>
            <a:off x="5989320" y="2194560"/>
            <a:ext cx="498348" cy="566928"/>
          </a:xfrm>
          <a:prstGeom prst="rect">
            <a:avLst/>
          </a:prstGeom>
          <a:noFill/>
          <a:ln/>
        </p:spPr>
        <p:txBody>
          <a:bodyPr wrap="square" lIns="0" tIns="0" rIns="0" bIns="0" rtlCol="0" anchor="ctr"/>
          <a:lstStyle/>
          <a:p>
            <a:pPr marL="0" indent="0" algn="ctr">
              <a:lnSpc>
                <a:spcPct val="100000"/>
              </a:lnSpc>
              <a:buNone/>
            </a:pPr>
            <a:r>
              <a:rPr lang="en-US" sz="1500" b="1" dirty="0">
                <a:solidFill>
                  <a:srgbClr val="1E2761"/>
                </a:solidFill>
                <a:latin typeface="Courier New" pitchFamily="34" charset="0"/>
                <a:ea typeface="Courier New" pitchFamily="34" charset="-122"/>
                <a:cs typeface="Courier New" pitchFamily="34" charset="-120"/>
              </a:rPr>
              <a:t>b6</a:t>
            </a:r>
            <a:endParaRPr lang="en-US" sz="1500" dirty="0"/>
          </a:p>
        </p:txBody>
      </p:sp>
      <p:sp>
        <p:nvSpPr>
          <p:cNvPr id="37" name="Text 35"/>
          <p:cNvSpPr txBox="1"/>
          <p:nvPr/>
        </p:nvSpPr>
        <p:spPr>
          <a:xfrm>
            <a:off x="5989320" y="2788920"/>
            <a:ext cx="498348" cy="256032"/>
          </a:xfrm>
          <a:prstGeom prst="rect">
            <a:avLst/>
          </a:prstGeom>
          <a:noFill/>
          <a:ln/>
        </p:spPr>
        <p:txBody>
          <a:bodyPr wrap="square" lIns="0" tIns="0" rIns="0" bIns="0" rtlCol="0" anchor="t"/>
          <a:lstStyle/>
          <a:p>
            <a:pPr marL="0" indent="0" algn="ctr">
              <a:lnSpc>
                <a:spcPct val="100000"/>
              </a:lnSpc>
              <a:buNone/>
            </a:pPr>
            <a:r>
              <a:rPr lang="en-US" sz="1100" dirty="0">
                <a:solidFill>
                  <a:srgbClr val="5B6270"/>
                </a:solidFill>
                <a:latin typeface="Times New Roman" pitchFamily="34" charset="0"/>
                <a:ea typeface="Times New Roman" pitchFamily="34" charset="-122"/>
                <a:cs typeface="Times New Roman" pitchFamily="34" charset="-120"/>
              </a:rPr>
              <a:t>10</a:t>
            </a:r>
            <a:endParaRPr lang="en-US" sz="1100" dirty="0"/>
          </a:p>
        </p:txBody>
      </p:sp>
      <p:sp>
        <p:nvSpPr>
          <p:cNvPr id="38" name="Shape 36"/>
          <p:cNvSpPr/>
          <p:nvPr/>
        </p:nvSpPr>
        <p:spPr>
          <a:xfrm>
            <a:off x="6533388" y="2194560"/>
            <a:ext cx="498348" cy="566928"/>
          </a:xfrm>
          <a:prstGeom prst="roundRect">
            <a:avLst>
              <a:gd name="adj" fmla="val 7339"/>
            </a:avLst>
          </a:prstGeom>
          <a:solidFill>
            <a:srgbClr val="EEF2FB"/>
          </a:solidFill>
          <a:ln/>
        </p:spPr>
        <p:txBody>
          <a:bodyPr/>
          <a:lstStyle/>
          <a:p>
            <a:endParaRPr lang="ru-RU"/>
          </a:p>
        </p:txBody>
      </p:sp>
      <p:sp>
        <p:nvSpPr>
          <p:cNvPr id="39" name="Text 37"/>
          <p:cNvSpPr txBox="1"/>
          <p:nvPr/>
        </p:nvSpPr>
        <p:spPr>
          <a:xfrm>
            <a:off x="6533388" y="2194560"/>
            <a:ext cx="498348" cy="566928"/>
          </a:xfrm>
          <a:prstGeom prst="rect">
            <a:avLst/>
          </a:prstGeom>
          <a:noFill/>
          <a:ln/>
        </p:spPr>
        <p:txBody>
          <a:bodyPr wrap="square" lIns="0" tIns="0" rIns="0" bIns="0" rtlCol="0" anchor="ctr"/>
          <a:lstStyle/>
          <a:p>
            <a:pPr marL="0" indent="0" algn="ctr">
              <a:lnSpc>
                <a:spcPct val="100000"/>
              </a:lnSpc>
              <a:buNone/>
            </a:pPr>
            <a:r>
              <a:rPr lang="en-US" sz="1500" b="1" dirty="0">
                <a:solidFill>
                  <a:srgbClr val="1E2761"/>
                </a:solidFill>
                <a:latin typeface="Courier New" pitchFamily="34" charset="0"/>
                <a:ea typeface="Courier New" pitchFamily="34" charset="-122"/>
                <a:cs typeface="Courier New" pitchFamily="34" charset="-120"/>
              </a:rPr>
              <a:t>5d</a:t>
            </a:r>
            <a:endParaRPr lang="en-US" sz="1500" dirty="0"/>
          </a:p>
        </p:txBody>
      </p:sp>
      <p:sp>
        <p:nvSpPr>
          <p:cNvPr id="40" name="Text 38"/>
          <p:cNvSpPr txBox="1"/>
          <p:nvPr/>
        </p:nvSpPr>
        <p:spPr>
          <a:xfrm>
            <a:off x="6533388" y="2788920"/>
            <a:ext cx="498348" cy="256032"/>
          </a:xfrm>
          <a:prstGeom prst="rect">
            <a:avLst/>
          </a:prstGeom>
          <a:noFill/>
          <a:ln/>
        </p:spPr>
        <p:txBody>
          <a:bodyPr wrap="square" lIns="0" tIns="0" rIns="0" bIns="0" rtlCol="0" anchor="t"/>
          <a:lstStyle/>
          <a:p>
            <a:pPr marL="0" indent="0" algn="ctr">
              <a:lnSpc>
                <a:spcPct val="100000"/>
              </a:lnSpc>
              <a:buNone/>
            </a:pPr>
            <a:r>
              <a:rPr lang="en-US" sz="1100" dirty="0">
                <a:solidFill>
                  <a:srgbClr val="5B6270"/>
                </a:solidFill>
                <a:latin typeface="Times New Roman" pitchFamily="34" charset="0"/>
                <a:ea typeface="Times New Roman" pitchFamily="34" charset="-122"/>
                <a:cs typeface="Times New Roman" pitchFamily="34" charset="-120"/>
              </a:rPr>
              <a:t>11</a:t>
            </a:r>
            <a:endParaRPr lang="en-US" sz="1100" dirty="0"/>
          </a:p>
        </p:txBody>
      </p:sp>
      <p:sp>
        <p:nvSpPr>
          <p:cNvPr id="41" name="Shape 39"/>
          <p:cNvSpPr/>
          <p:nvPr/>
        </p:nvSpPr>
        <p:spPr>
          <a:xfrm>
            <a:off x="7077456" y="2194560"/>
            <a:ext cx="498348" cy="566928"/>
          </a:xfrm>
          <a:prstGeom prst="roundRect">
            <a:avLst>
              <a:gd name="adj" fmla="val 7339"/>
            </a:avLst>
          </a:prstGeom>
          <a:solidFill>
            <a:srgbClr val="EEF2FB"/>
          </a:solidFill>
          <a:ln/>
        </p:spPr>
        <p:txBody>
          <a:bodyPr/>
          <a:lstStyle/>
          <a:p>
            <a:endParaRPr lang="ru-RU"/>
          </a:p>
        </p:txBody>
      </p:sp>
      <p:sp>
        <p:nvSpPr>
          <p:cNvPr id="42" name="Text 40"/>
          <p:cNvSpPr txBox="1"/>
          <p:nvPr/>
        </p:nvSpPr>
        <p:spPr>
          <a:xfrm>
            <a:off x="7077456" y="2194560"/>
            <a:ext cx="498348" cy="566928"/>
          </a:xfrm>
          <a:prstGeom prst="rect">
            <a:avLst/>
          </a:prstGeom>
          <a:noFill/>
          <a:ln/>
        </p:spPr>
        <p:txBody>
          <a:bodyPr wrap="square" lIns="0" tIns="0" rIns="0" bIns="0" rtlCol="0" anchor="ctr"/>
          <a:lstStyle/>
          <a:p>
            <a:pPr marL="0" indent="0" algn="ctr">
              <a:lnSpc>
                <a:spcPct val="100000"/>
              </a:lnSpc>
              <a:buNone/>
            </a:pPr>
            <a:r>
              <a:rPr lang="en-US" sz="1500" b="1" dirty="0">
                <a:solidFill>
                  <a:srgbClr val="1E2761"/>
                </a:solidFill>
                <a:latin typeface="Courier New" pitchFamily="34" charset="0"/>
                <a:ea typeface="Courier New" pitchFamily="34" charset="-122"/>
                <a:cs typeface="Courier New" pitchFamily="34" charset="-120"/>
              </a:rPr>
              <a:t>8b</a:t>
            </a:r>
            <a:endParaRPr lang="en-US" sz="1500" dirty="0"/>
          </a:p>
        </p:txBody>
      </p:sp>
      <p:sp>
        <p:nvSpPr>
          <p:cNvPr id="43" name="Text 41"/>
          <p:cNvSpPr txBox="1"/>
          <p:nvPr/>
        </p:nvSpPr>
        <p:spPr>
          <a:xfrm>
            <a:off x="7077456" y="2788920"/>
            <a:ext cx="498348" cy="256032"/>
          </a:xfrm>
          <a:prstGeom prst="rect">
            <a:avLst/>
          </a:prstGeom>
          <a:noFill/>
          <a:ln/>
        </p:spPr>
        <p:txBody>
          <a:bodyPr wrap="square" lIns="0" tIns="0" rIns="0" bIns="0" rtlCol="0" anchor="t"/>
          <a:lstStyle/>
          <a:p>
            <a:pPr marL="0" indent="0" algn="ctr">
              <a:lnSpc>
                <a:spcPct val="100000"/>
              </a:lnSpc>
              <a:buNone/>
            </a:pPr>
            <a:r>
              <a:rPr lang="en-US" sz="1100" dirty="0">
                <a:solidFill>
                  <a:srgbClr val="5B6270"/>
                </a:solidFill>
                <a:latin typeface="Times New Roman" pitchFamily="34" charset="0"/>
                <a:ea typeface="Times New Roman" pitchFamily="34" charset="-122"/>
                <a:cs typeface="Times New Roman" pitchFamily="34" charset="-120"/>
              </a:rPr>
              <a:t>12</a:t>
            </a:r>
            <a:endParaRPr lang="en-US" sz="1100" dirty="0"/>
          </a:p>
        </p:txBody>
      </p:sp>
      <p:sp>
        <p:nvSpPr>
          <p:cNvPr id="44" name="Shape 42"/>
          <p:cNvSpPr/>
          <p:nvPr/>
        </p:nvSpPr>
        <p:spPr>
          <a:xfrm>
            <a:off x="7621524" y="2194560"/>
            <a:ext cx="498348" cy="566928"/>
          </a:xfrm>
          <a:prstGeom prst="roundRect">
            <a:avLst>
              <a:gd name="adj" fmla="val 7339"/>
            </a:avLst>
          </a:prstGeom>
          <a:solidFill>
            <a:srgbClr val="EEF2FB"/>
          </a:solidFill>
          <a:ln/>
        </p:spPr>
        <p:txBody>
          <a:bodyPr/>
          <a:lstStyle/>
          <a:p>
            <a:endParaRPr lang="ru-RU"/>
          </a:p>
        </p:txBody>
      </p:sp>
      <p:sp>
        <p:nvSpPr>
          <p:cNvPr id="45" name="Text 43"/>
          <p:cNvSpPr txBox="1"/>
          <p:nvPr/>
        </p:nvSpPr>
        <p:spPr>
          <a:xfrm>
            <a:off x="7621524" y="2194560"/>
            <a:ext cx="498348" cy="566928"/>
          </a:xfrm>
          <a:prstGeom prst="rect">
            <a:avLst/>
          </a:prstGeom>
          <a:noFill/>
          <a:ln/>
        </p:spPr>
        <p:txBody>
          <a:bodyPr wrap="square" lIns="0" tIns="0" rIns="0" bIns="0" rtlCol="0" anchor="ctr"/>
          <a:lstStyle/>
          <a:p>
            <a:pPr marL="0" indent="0" algn="ctr">
              <a:lnSpc>
                <a:spcPct val="100000"/>
              </a:lnSpc>
              <a:buNone/>
            </a:pPr>
            <a:r>
              <a:rPr lang="en-US" sz="1500" b="1" dirty="0">
                <a:solidFill>
                  <a:srgbClr val="1E2761"/>
                </a:solidFill>
                <a:latin typeface="Courier New" pitchFamily="34" charset="0"/>
                <a:ea typeface="Courier New" pitchFamily="34" charset="-122"/>
                <a:cs typeface="Courier New" pitchFamily="34" charset="-120"/>
              </a:rPr>
              <a:t>a7</a:t>
            </a:r>
            <a:endParaRPr lang="en-US" sz="1500" dirty="0"/>
          </a:p>
        </p:txBody>
      </p:sp>
      <p:sp>
        <p:nvSpPr>
          <p:cNvPr id="46" name="Text 44"/>
          <p:cNvSpPr txBox="1"/>
          <p:nvPr/>
        </p:nvSpPr>
        <p:spPr>
          <a:xfrm>
            <a:off x="7621524" y="2788920"/>
            <a:ext cx="498348" cy="256032"/>
          </a:xfrm>
          <a:prstGeom prst="rect">
            <a:avLst/>
          </a:prstGeom>
          <a:noFill/>
          <a:ln/>
        </p:spPr>
        <p:txBody>
          <a:bodyPr wrap="square" lIns="0" tIns="0" rIns="0" bIns="0" rtlCol="0" anchor="t"/>
          <a:lstStyle/>
          <a:p>
            <a:pPr marL="0" indent="0" algn="ctr">
              <a:lnSpc>
                <a:spcPct val="100000"/>
              </a:lnSpc>
              <a:buNone/>
            </a:pPr>
            <a:r>
              <a:rPr lang="en-US" sz="1100" dirty="0">
                <a:solidFill>
                  <a:srgbClr val="5B6270"/>
                </a:solidFill>
                <a:latin typeface="Times New Roman" pitchFamily="34" charset="0"/>
                <a:ea typeface="Times New Roman" pitchFamily="34" charset="-122"/>
                <a:cs typeface="Times New Roman" pitchFamily="34" charset="-120"/>
              </a:rPr>
              <a:t>13</a:t>
            </a:r>
            <a:endParaRPr lang="en-US" sz="1100" dirty="0"/>
          </a:p>
        </p:txBody>
      </p:sp>
      <p:sp>
        <p:nvSpPr>
          <p:cNvPr id="47" name="Shape 45"/>
          <p:cNvSpPr/>
          <p:nvPr/>
        </p:nvSpPr>
        <p:spPr>
          <a:xfrm>
            <a:off x="8165592" y="2194560"/>
            <a:ext cx="498348" cy="566928"/>
          </a:xfrm>
          <a:prstGeom prst="roundRect">
            <a:avLst>
              <a:gd name="adj" fmla="val 7339"/>
            </a:avLst>
          </a:prstGeom>
          <a:solidFill>
            <a:srgbClr val="EEF2FB"/>
          </a:solidFill>
          <a:ln/>
        </p:spPr>
        <p:txBody>
          <a:bodyPr/>
          <a:lstStyle/>
          <a:p>
            <a:endParaRPr lang="ru-RU"/>
          </a:p>
        </p:txBody>
      </p:sp>
      <p:sp>
        <p:nvSpPr>
          <p:cNvPr id="48" name="Text 46"/>
          <p:cNvSpPr txBox="1"/>
          <p:nvPr/>
        </p:nvSpPr>
        <p:spPr>
          <a:xfrm>
            <a:off x="8165592" y="2194560"/>
            <a:ext cx="498348" cy="566928"/>
          </a:xfrm>
          <a:prstGeom prst="rect">
            <a:avLst/>
          </a:prstGeom>
          <a:noFill/>
          <a:ln/>
        </p:spPr>
        <p:txBody>
          <a:bodyPr wrap="square" lIns="0" tIns="0" rIns="0" bIns="0" rtlCol="0" anchor="ctr"/>
          <a:lstStyle/>
          <a:p>
            <a:pPr marL="0" indent="0" algn="ctr">
              <a:lnSpc>
                <a:spcPct val="100000"/>
              </a:lnSpc>
              <a:buNone/>
            </a:pPr>
            <a:r>
              <a:rPr lang="en-US" sz="1500" b="1" dirty="0">
                <a:solidFill>
                  <a:srgbClr val="1E2761"/>
                </a:solidFill>
                <a:latin typeface="Courier New" pitchFamily="34" charset="0"/>
                <a:ea typeface="Courier New" pitchFamily="34" charset="-122"/>
                <a:cs typeface="Courier New" pitchFamily="34" charset="-120"/>
              </a:rPr>
              <a:t>66</a:t>
            </a:r>
            <a:endParaRPr lang="en-US" sz="1500" dirty="0"/>
          </a:p>
        </p:txBody>
      </p:sp>
      <p:sp>
        <p:nvSpPr>
          <p:cNvPr id="49" name="Text 47"/>
          <p:cNvSpPr txBox="1"/>
          <p:nvPr/>
        </p:nvSpPr>
        <p:spPr>
          <a:xfrm>
            <a:off x="8165592" y="2788920"/>
            <a:ext cx="498348" cy="256032"/>
          </a:xfrm>
          <a:prstGeom prst="rect">
            <a:avLst/>
          </a:prstGeom>
          <a:noFill/>
          <a:ln/>
        </p:spPr>
        <p:txBody>
          <a:bodyPr wrap="square" lIns="0" tIns="0" rIns="0" bIns="0" rtlCol="0" anchor="t"/>
          <a:lstStyle/>
          <a:p>
            <a:pPr marL="0" indent="0" algn="ctr">
              <a:lnSpc>
                <a:spcPct val="100000"/>
              </a:lnSpc>
              <a:buNone/>
            </a:pPr>
            <a:r>
              <a:rPr lang="en-US" sz="1100" dirty="0">
                <a:solidFill>
                  <a:srgbClr val="5B6270"/>
                </a:solidFill>
                <a:latin typeface="Times New Roman" pitchFamily="34" charset="0"/>
                <a:ea typeface="Times New Roman" pitchFamily="34" charset="-122"/>
                <a:cs typeface="Times New Roman" pitchFamily="34" charset="-120"/>
              </a:rPr>
              <a:t>14</a:t>
            </a:r>
            <a:endParaRPr lang="en-US" sz="1100" dirty="0"/>
          </a:p>
        </p:txBody>
      </p:sp>
      <p:sp>
        <p:nvSpPr>
          <p:cNvPr id="50" name="Shape 48"/>
          <p:cNvSpPr/>
          <p:nvPr/>
        </p:nvSpPr>
        <p:spPr>
          <a:xfrm>
            <a:off x="8709660" y="2194560"/>
            <a:ext cx="498348" cy="566928"/>
          </a:xfrm>
          <a:prstGeom prst="roundRect">
            <a:avLst>
              <a:gd name="adj" fmla="val 7339"/>
            </a:avLst>
          </a:prstGeom>
          <a:solidFill>
            <a:srgbClr val="EEF2FB"/>
          </a:solidFill>
          <a:ln/>
        </p:spPr>
        <p:txBody>
          <a:bodyPr/>
          <a:lstStyle/>
          <a:p>
            <a:endParaRPr lang="ru-RU"/>
          </a:p>
        </p:txBody>
      </p:sp>
      <p:sp>
        <p:nvSpPr>
          <p:cNvPr id="51" name="Text 49"/>
          <p:cNvSpPr txBox="1"/>
          <p:nvPr/>
        </p:nvSpPr>
        <p:spPr>
          <a:xfrm>
            <a:off x="8709660" y="2194560"/>
            <a:ext cx="498348" cy="566928"/>
          </a:xfrm>
          <a:prstGeom prst="rect">
            <a:avLst/>
          </a:prstGeom>
          <a:noFill/>
          <a:ln/>
        </p:spPr>
        <p:txBody>
          <a:bodyPr wrap="square" lIns="0" tIns="0" rIns="0" bIns="0" rtlCol="0" anchor="ctr"/>
          <a:lstStyle/>
          <a:p>
            <a:pPr marL="0" indent="0" algn="ctr">
              <a:lnSpc>
                <a:spcPct val="100000"/>
              </a:lnSpc>
              <a:buNone/>
            </a:pPr>
            <a:r>
              <a:rPr lang="en-US" sz="1500" b="1" dirty="0">
                <a:solidFill>
                  <a:srgbClr val="1E2761"/>
                </a:solidFill>
                <a:latin typeface="Courier New" pitchFamily="34" charset="0"/>
                <a:ea typeface="Courier New" pitchFamily="34" charset="-122"/>
                <a:cs typeface="Courier New" pitchFamily="34" charset="-120"/>
              </a:rPr>
              <a:t>7f</a:t>
            </a:r>
            <a:endParaRPr lang="en-US" sz="1500" dirty="0"/>
          </a:p>
        </p:txBody>
      </p:sp>
      <p:sp>
        <p:nvSpPr>
          <p:cNvPr id="52" name="Text 50"/>
          <p:cNvSpPr txBox="1"/>
          <p:nvPr/>
        </p:nvSpPr>
        <p:spPr>
          <a:xfrm>
            <a:off x="8709660" y="2788920"/>
            <a:ext cx="498348" cy="256032"/>
          </a:xfrm>
          <a:prstGeom prst="rect">
            <a:avLst/>
          </a:prstGeom>
          <a:noFill/>
          <a:ln/>
        </p:spPr>
        <p:txBody>
          <a:bodyPr wrap="square" lIns="0" tIns="0" rIns="0" bIns="0" rtlCol="0" anchor="t"/>
          <a:lstStyle/>
          <a:p>
            <a:pPr marL="0" indent="0" algn="ctr">
              <a:lnSpc>
                <a:spcPct val="100000"/>
              </a:lnSpc>
              <a:buNone/>
            </a:pPr>
            <a:r>
              <a:rPr lang="en-US" sz="1100" dirty="0">
                <a:solidFill>
                  <a:srgbClr val="5B6270"/>
                </a:solidFill>
                <a:latin typeface="Times New Roman" pitchFamily="34" charset="0"/>
                <a:ea typeface="Times New Roman" pitchFamily="34" charset="-122"/>
                <a:cs typeface="Times New Roman" pitchFamily="34" charset="-120"/>
              </a:rPr>
              <a:t>15</a:t>
            </a:r>
            <a:endParaRPr lang="en-US" sz="1100" dirty="0"/>
          </a:p>
        </p:txBody>
      </p:sp>
      <p:sp>
        <p:nvSpPr>
          <p:cNvPr id="53" name="Shape 51"/>
          <p:cNvSpPr/>
          <p:nvPr/>
        </p:nvSpPr>
        <p:spPr>
          <a:xfrm>
            <a:off x="9253728" y="2194560"/>
            <a:ext cx="498348" cy="566928"/>
          </a:xfrm>
          <a:prstGeom prst="roundRect">
            <a:avLst>
              <a:gd name="adj" fmla="val 7339"/>
            </a:avLst>
          </a:prstGeom>
          <a:solidFill>
            <a:srgbClr val="EEF2FB"/>
          </a:solidFill>
          <a:ln/>
        </p:spPr>
        <p:txBody>
          <a:bodyPr/>
          <a:lstStyle/>
          <a:p>
            <a:endParaRPr lang="ru-RU"/>
          </a:p>
        </p:txBody>
      </p:sp>
      <p:sp>
        <p:nvSpPr>
          <p:cNvPr id="54" name="Text 52"/>
          <p:cNvSpPr txBox="1"/>
          <p:nvPr/>
        </p:nvSpPr>
        <p:spPr>
          <a:xfrm>
            <a:off x="9253728" y="2194560"/>
            <a:ext cx="498348" cy="566928"/>
          </a:xfrm>
          <a:prstGeom prst="rect">
            <a:avLst/>
          </a:prstGeom>
          <a:noFill/>
          <a:ln/>
        </p:spPr>
        <p:txBody>
          <a:bodyPr wrap="square" lIns="0" tIns="0" rIns="0" bIns="0" rtlCol="0" anchor="ctr"/>
          <a:lstStyle/>
          <a:p>
            <a:pPr marL="0" indent="0" algn="ctr">
              <a:lnSpc>
                <a:spcPct val="100000"/>
              </a:lnSpc>
              <a:buNone/>
            </a:pPr>
            <a:r>
              <a:rPr lang="en-US" sz="1500" b="1" dirty="0">
                <a:solidFill>
                  <a:srgbClr val="1E2761"/>
                </a:solidFill>
                <a:latin typeface="Courier New" pitchFamily="34" charset="0"/>
                <a:ea typeface="Courier New" pitchFamily="34" charset="-122"/>
                <a:cs typeface="Courier New" pitchFamily="34" charset="-120"/>
              </a:rPr>
              <a:t>b7</a:t>
            </a:r>
            <a:endParaRPr lang="en-US" sz="1500" dirty="0"/>
          </a:p>
        </p:txBody>
      </p:sp>
      <p:sp>
        <p:nvSpPr>
          <p:cNvPr id="55" name="Text 53"/>
          <p:cNvSpPr txBox="1"/>
          <p:nvPr/>
        </p:nvSpPr>
        <p:spPr>
          <a:xfrm>
            <a:off x="9253728" y="2788920"/>
            <a:ext cx="498348" cy="256032"/>
          </a:xfrm>
          <a:prstGeom prst="rect">
            <a:avLst/>
          </a:prstGeom>
          <a:noFill/>
          <a:ln/>
        </p:spPr>
        <p:txBody>
          <a:bodyPr wrap="square" lIns="0" tIns="0" rIns="0" bIns="0" rtlCol="0" anchor="t"/>
          <a:lstStyle/>
          <a:p>
            <a:pPr marL="0" indent="0" algn="ctr">
              <a:lnSpc>
                <a:spcPct val="100000"/>
              </a:lnSpc>
              <a:buNone/>
            </a:pPr>
            <a:r>
              <a:rPr lang="en-US" sz="1100" dirty="0">
                <a:solidFill>
                  <a:srgbClr val="5B6270"/>
                </a:solidFill>
                <a:latin typeface="Times New Roman" pitchFamily="34" charset="0"/>
                <a:ea typeface="Times New Roman" pitchFamily="34" charset="-122"/>
                <a:cs typeface="Times New Roman" pitchFamily="34" charset="-120"/>
              </a:rPr>
              <a:t>16</a:t>
            </a:r>
            <a:endParaRPr lang="en-US" sz="1100" dirty="0"/>
          </a:p>
        </p:txBody>
      </p:sp>
      <p:sp>
        <p:nvSpPr>
          <p:cNvPr id="56" name="Shape 54"/>
          <p:cNvSpPr/>
          <p:nvPr/>
        </p:nvSpPr>
        <p:spPr>
          <a:xfrm>
            <a:off x="9797796" y="2194560"/>
            <a:ext cx="498348" cy="566928"/>
          </a:xfrm>
          <a:prstGeom prst="roundRect">
            <a:avLst>
              <a:gd name="adj" fmla="val 7339"/>
            </a:avLst>
          </a:prstGeom>
          <a:solidFill>
            <a:srgbClr val="EEF2FB"/>
          </a:solidFill>
          <a:ln/>
        </p:spPr>
        <p:txBody>
          <a:bodyPr/>
          <a:lstStyle/>
          <a:p>
            <a:endParaRPr lang="ru-RU"/>
          </a:p>
        </p:txBody>
      </p:sp>
      <p:sp>
        <p:nvSpPr>
          <p:cNvPr id="57" name="Text 55"/>
          <p:cNvSpPr txBox="1"/>
          <p:nvPr/>
        </p:nvSpPr>
        <p:spPr>
          <a:xfrm>
            <a:off x="9797796" y="2194560"/>
            <a:ext cx="498348" cy="566928"/>
          </a:xfrm>
          <a:prstGeom prst="rect">
            <a:avLst/>
          </a:prstGeom>
          <a:noFill/>
          <a:ln/>
        </p:spPr>
        <p:txBody>
          <a:bodyPr wrap="square" lIns="0" tIns="0" rIns="0" bIns="0" rtlCol="0" anchor="ctr"/>
          <a:lstStyle/>
          <a:p>
            <a:pPr marL="0" indent="0" algn="ctr">
              <a:lnSpc>
                <a:spcPct val="100000"/>
              </a:lnSpc>
              <a:buNone/>
            </a:pPr>
            <a:r>
              <a:rPr lang="en-US" sz="1500" b="1" dirty="0">
                <a:solidFill>
                  <a:srgbClr val="1E2761"/>
                </a:solidFill>
                <a:latin typeface="Courier New" pitchFamily="34" charset="0"/>
                <a:ea typeface="Courier New" pitchFamily="34" charset="-122"/>
                <a:cs typeface="Courier New" pitchFamily="34" charset="-120"/>
              </a:rPr>
              <a:t>cd</a:t>
            </a:r>
            <a:endParaRPr lang="en-US" sz="1500" dirty="0"/>
          </a:p>
        </p:txBody>
      </p:sp>
      <p:sp>
        <p:nvSpPr>
          <p:cNvPr id="58" name="Text 56"/>
          <p:cNvSpPr txBox="1"/>
          <p:nvPr/>
        </p:nvSpPr>
        <p:spPr>
          <a:xfrm>
            <a:off x="9797796" y="2788920"/>
            <a:ext cx="498348" cy="256032"/>
          </a:xfrm>
          <a:prstGeom prst="rect">
            <a:avLst/>
          </a:prstGeom>
          <a:noFill/>
          <a:ln/>
        </p:spPr>
        <p:txBody>
          <a:bodyPr wrap="square" lIns="0" tIns="0" rIns="0" bIns="0" rtlCol="0" anchor="t"/>
          <a:lstStyle/>
          <a:p>
            <a:pPr marL="0" indent="0" algn="ctr">
              <a:lnSpc>
                <a:spcPct val="100000"/>
              </a:lnSpc>
              <a:buNone/>
            </a:pPr>
            <a:r>
              <a:rPr lang="en-US" sz="1100" dirty="0">
                <a:solidFill>
                  <a:srgbClr val="5B6270"/>
                </a:solidFill>
                <a:latin typeface="Times New Roman" pitchFamily="34" charset="0"/>
                <a:ea typeface="Times New Roman" pitchFamily="34" charset="-122"/>
                <a:cs typeface="Times New Roman" pitchFamily="34" charset="-120"/>
              </a:rPr>
              <a:t>17</a:t>
            </a:r>
            <a:endParaRPr lang="en-US" sz="1100" dirty="0"/>
          </a:p>
        </p:txBody>
      </p:sp>
      <p:sp>
        <p:nvSpPr>
          <p:cNvPr id="59" name="Shape 57"/>
          <p:cNvSpPr/>
          <p:nvPr/>
        </p:nvSpPr>
        <p:spPr>
          <a:xfrm>
            <a:off x="10341864" y="2194560"/>
            <a:ext cx="498348" cy="566928"/>
          </a:xfrm>
          <a:prstGeom prst="roundRect">
            <a:avLst>
              <a:gd name="adj" fmla="val 7339"/>
            </a:avLst>
          </a:prstGeom>
          <a:solidFill>
            <a:srgbClr val="EEF2FB"/>
          </a:solidFill>
          <a:ln/>
        </p:spPr>
        <p:txBody>
          <a:bodyPr/>
          <a:lstStyle/>
          <a:p>
            <a:endParaRPr lang="ru-RU"/>
          </a:p>
        </p:txBody>
      </p:sp>
      <p:sp>
        <p:nvSpPr>
          <p:cNvPr id="60" name="Text 58"/>
          <p:cNvSpPr txBox="1"/>
          <p:nvPr/>
        </p:nvSpPr>
        <p:spPr>
          <a:xfrm>
            <a:off x="10341864" y="2194560"/>
            <a:ext cx="498348" cy="566928"/>
          </a:xfrm>
          <a:prstGeom prst="rect">
            <a:avLst/>
          </a:prstGeom>
          <a:noFill/>
          <a:ln/>
        </p:spPr>
        <p:txBody>
          <a:bodyPr wrap="square" lIns="0" tIns="0" rIns="0" bIns="0" rtlCol="0" anchor="ctr"/>
          <a:lstStyle/>
          <a:p>
            <a:pPr marL="0" indent="0" algn="ctr">
              <a:lnSpc>
                <a:spcPct val="100000"/>
              </a:lnSpc>
              <a:buNone/>
            </a:pPr>
            <a:r>
              <a:rPr lang="en-US" sz="1500" b="1" dirty="0">
                <a:solidFill>
                  <a:srgbClr val="1E2761"/>
                </a:solidFill>
                <a:latin typeface="Courier New" pitchFamily="34" charset="0"/>
                <a:ea typeface="Courier New" pitchFamily="34" charset="-122"/>
                <a:cs typeface="Courier New" pitchFamily="34" charset="-120"/>
              </a:rPr>
              <a:t>e4</a:t>
            </a:r>
            <a:endParaRPr lang="en-US" sz="1500" dirty="0"/>
          </a:p>
        </p:txBody>
      </p:sp>
      <p:sp>
        <p:nvSpPr>
          <p:cNvPr id="61" name="Text 59"/>
          <p:cNvSpPr txBox="1"/>
          <p:nvPr/>
        </p:nvSpPr>
        <p:spPr>
          <a:xfrm>
            <a:off x="10341864" y="2788920"/>
            <a:ext cx="498348" cy="256032"/>
          </a:xfrm>
          <a:prstGeom prst="rect">
            <a:avLst/>
          </a:prstGeom>
          <a:noFill/>
          <a:ln/>
        </p:spPr>
        <p:txBody>
          <a:bodyPr wrap="square" lIns="0" tIns="0" rIns="0" bIns="0" rtlCol="0" anchor="t"/>
          <a:lstStyle/>
          <a:p>
            <a:pPr marL="0" indent="0" algn="ctr">
              <a:lnSpc>
                <a:spcPct val="100000"/>
              </a:lnSpc>
              <a:buNone/>
            </a:pPr>
            <a:r>
              <a:rPr lang="en-US" sz="1100" dirty="0">
                <a:solidFill>
                  <a:srgbClr val="5B6270"/>
                </a:solidFill>
                <a:latin typeface="Times New Roman" pitchFamily="34" charset="0"/>
                <a:ea typeface="Times New Roman" pitchFamily="34" charset="-122"/>
                <a:cs typeface="Times New Roman" pitchFamily="34" charset="-120"/>
              </a:rPr>
              <a:t>18</a:t>
            </a:r>
            <a:endParaRPr lang="en-US" sz="1100" dirty="0"/>
          </a:p>
        </p:txBody>
      </p:sp>
      <p:sp>
        <p:nvSpPr>
          <p:cNvPr id="62" name="Shape 60"/>
          <p:cNvSpPr/>
          <p:nvPr/>
        </p:nvSpPr>
        <p:spPr>
          <a:xfrm>
            <a:off x="10885932" y="2194560"/>
            <a:ext cx="498348" cy="566928"/>
          </a:xfrm>
          <a:prstGeom prst="roundRect">
            <a:avLst>
              <a:gd name="adj" fmla="val 7339"/>
            </a:avLst>
          </a:prstGeom>
          <a:solidFill>
            <a:srgbClr val="D9932B"/>
          </a:solidFill>
          <a:ln/>
        </p:spPr>
        <p:txBody>
          <a:bodyPr/>
          <a:lstStyle/>
          <a:p>
            <a:endParaRPr lang="ru-RU"/>
          </a:p>
        </p:txBody>
      </p:sp>
      <p:sp>
        <p:nvSpPr>
          <p:cNvPr id="63" name="Text 61"/>
          <p:cNvSpPr txBox="1"/>
          <p:nvPr/>
        </p:nvSpPr>
        <p:spPr>
          <a:xfrm>
            <a:off x="10885932" y="2194560"/>
            <a:ext cx="498348" cy="566928"/>
          </a:xfrm>
          <a:prstGeom prst="rect">
            <a:avLst/>
          </a:prstGeom>
          <a:noFill/>
          <a:ln/>
        </p:spPr>
        <p:txBody>
          <a:bodyPr wrap="square" lIns="0" tIns="0" rIns="0" bIns="0" rtlCol="0" anchor="ctr"/>
          <a:lstStyle/>
          <a:p>
            <a:pPr marL="0" indent="0" algn="ctr">
              <a:lnSpc>
                <a:spcPct val="100000"/>
              </a:lnSpc>
              <a:buNone/>
            </a:pPr>
            <a:r>
              <a:rPr lang="en-US" sz="1500" b="1" dirty="0">
                <a:solidFill>
                  <a:srgbClr val="FFFFFF"/>
                </a:solidFill>
                <a:latin typeface="Courier New" pitchFamily="34" charset="0"/>
                <a:ea typeface="Courier New" pitchFamily="34" charset="-122"/>
                <a:cs typeface="Courier New" pitchFamily="34" charset="-120"/>
              </a:rPr>
              <a:t>b0</a:t>
            </a:r>
            <a:endParaRPr lang="en-US" sz="1500" dirty="0"/>
          </a:p>
        </p:txBody>
      </p:sp>
      <p:sp>
        <p:nvSpPr>
          <p:cNvPr id="64" name="Text 62"/>
          <p:cNvSpPr txBox="1"/>
          <p:nvPr/>
        </p:nvSpPr>
        <p:spPr>
          <a:xfrm>
            <a:off x="10885932" y="2788920"/>
            <a:ext cx="498348" cy="256032"/>
          </a:xfrm>
          <a:prstGeom prst="rect">
            <a:avLst/>
          </a:prstGeom>
          <a:noFill/>
          <a:ln/>
        </p:spPr>
        <p:txBody>
          <a:bodyPr wrap="square" lIns="0" tIns="0" rIns="0" bIns="0" rtlCol="0" anchor="t"/>
          <a:lstStyle/>
          <a:p>
            <a:pPr marL="0" indent="0" algn="ctr">
              <a:lnSpc>
                <a:spcPct val="100000"/>
              </a:lnSpc>
              <a:buNone/>
            </a:pPr>
            <a:r>
              <a:rPr lang="en-US" sz="1100" dirty="0">
                <a:solidFill>
                  <a:srgbClr val="5B6270"/>
                </a:solidFill>
                <a:latin typeface="Times New Roman" pitchFamily="34" charset="0"/>
                <a:ea typeface="Times New Roman" pitchFamily="34" charset="-122"/>
                <a:cs typeface="Times New Roman" pitchFamily="34" charset="-120"/>
              </a:rPr>
              <a:t>19</a:t>
            </a:r>
            <a:endParaRPr lang="en-US" sz="1100" dirty="0"/>
          </a:p>
        </p:txBody>
      </p:sp>
      <p:sp>
        <p:nvSpPr>
          <p:cNvPr id="65" name="Shape 63"/>
          <p:cNvSpPr/>
          <p:nvPr/>
        </p:nvSpPr>
        <p:spPr>
          <a:xfrm>
            <a:off x="548640" y="3200400"/>
            <a:ext cx="6309360" cy="640080"/>
          </a:xfrm>
          <a:prstGeom prst="roundRect">
            <a:avLst>
              <a:gd name="adj" fmla="val 12857"/>
            </a:avLst>
          </a:prstGeom>
          <a:solidFill>
            <a:srgbClr val="EEF2FB"/>
          </a:solidFill>
          <a:ln/>
        </p:spPr>
        <p:txBody>
          <a:bodyPr/>
          <a:lstStyle/>
          <a:p>
            <a:endParaRPr lang="ru-RU"/>
          </a:p>
        </p:txBody>
      </p:sp>
      <p:sp>
        <p:nvSpPr>
          <p:cNvPr id="66" name="Shape 64"/>
          <p:cNvSpPr/>
          <p:nvPr/>
        </p:nvSpPr>
        <p:spPr>
          <a:xfrm>
            <a:off x="548640" y="3200400"/>
            <a:ext cx="548640" cy="640080"/>
          </a:xfrm>
          <a:prstGeom prst="roundRect">
            <a:avLst>
              <a:gd name="adj" fmla="val 15000"/>
            </a:avLst>
          </a:prstGeom>
          <a:solidFill>
            <a:srgbClr val="9A5B00"/>
          </a:solidFill>
          <a:ln/>
        </p:spPr>
        <p:txBody>
          <a:bodyPr/>
          <a:lstStyle/>
          <a:p>
            <a:endParaRPr lang="ru-RU"/>
          </a:p>
        </p:txBody>
      </p:sp>
      <p:sp>
        <p:nvSpPr>
          <p:cNvPr id="67" name="Text 65"/>
          <p:cNvSpPr txBox="1"/>
          <p:nvPr/>
        </p:nvSpPr>
        <p:spPr>
          <a:xfrm>
            <a:off x="548640" y="3200400"/>
            <a:ext cx="548640" cy="640080"/>
          </a:xfrm>
          <a:prstGeom prst="rect">
            <a:avLst/>
          </a:prstGeom>
          <a:noFill/>
          <a:ln/>
        </p:spPr>
        <p:txBody>
          <a:bodyPr wrap="square" lIns="0" tIns="0" rIns="0" bIns="0" rtlCol="0" anchor="ctr"/>
          <a:lstStyle/>
          <a:p>
            <a:pPr marL="0" indent="0" algn="ctr">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1</a:t>
            </a:r>
            <a:endParaRPr lang="en-US" sz="1600" dirty="0"/>
          </a:p>
        </p:txBody>
      </p:sp>
      <p:sp>
        <p:nvSpPr>
          <p:cNvPr id="68" name="Text 66"/>
          <p:cNvSpPr txBox="1"/>
          <p:nvPr/>
        </p:nvSpPr>
        <p:spPr>
          <a:xfrm>
            <a:off x="1234440" y="3200400"/>
            <a:ext cx="3017520" cy="640080"/>
          </a:xfrm>
          <a:prstGeom prst="rect">
            <a:avLst/>
          </a:prstGeom>
          <a:noFill/>
          <a:ln/>
        </p:spPr>
        <p:txBody>
          <a:bodyPr wrap="square" lIns="0" tIns="0" rIns="0" bIns="0" rtlCol="0" anchor="ctr"/>
          <a:lstStyle/>
          <a:p>
            <a:pPr marL="0" indent="0" algn="l">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offset = oxirgi bayt &amp; 0x0F</a:t>
            </a:r>
            <a:endParaRPr lang="en-US" sz="1500" dirty="0"/>
          </a:p>
        </p:txBody>
      </p:sp>
      <p:sp>
        <p:nvSpPr>
          <p:cNvPr id="69" name="Text 67"/>
          <p:cNvSpPr txBox="1"/>
          <p:nvPr/>
        </p:nvSpPr>
        <p:spPr>
          <a:xfrm>
            <a:off x="4343400" y="3200400"/>
            <a:ext cx="2423160" cy="640080"/>
          </a:xfrm>
          <a:prstGeom prst="rect">
            <a:avLst/>
          </a:prstGeom>
          <a:noFill/>
          <a:ln/>
        </p:spPr>
        <p:txBody>
          <a:bodyPr wrap="square" lIns="0" tIns="0" rIns="0" bIns="0" rtlCol="0" anchor="ctr"/>
          <a:lstStyle/>
          <a:p>
            <a:pPr marL="0" indent="0" algn="l">
              <a:lnSpc>
                <a:spcPct val="100000"/>
              </a:lnSpc>
              <a:buNone/>
            </a:pPr>
            <a:r>
              <a:rPr lang="en-US" sz="1500" b="1" dirty="0">
                <a:solidFill>
                  <a:srgbClr val="9A5B00"/>
                </a:solidFill>
                <a:latin typeface="Courier New" pitchFamily="34" charset="0"/>
                <a:ea typeface="Courier New" pitchFamily="34" charset="-122"/>
                <a:cs typeface="Courier New" pitchFamily="34" charset="-120"/>
              </a:rPr>
              <a:t>0xb0 &amp; 0x0F = 0</a:t>
            </a:r>
            <a:endParaRPr lang="en-US" sz="1500" dirty="0"/>
          </a:p>
        </p:txBody>
      </p:sp>
      <p:sp>
        <p:nvSpPr>
          <p:cNvPr id="70" name="Shape 68"/>
          <p:cNvSpPr/>
          <p:nvPr/>
        </p:nvSpPr>
        <p:spPr>
          <a:xfrm>
            <a:off x="548640" y="3950208"/>
            <a:ext cx="6309360" cy="640080"/>
          </a:xfrm>
          <a:prstGeom prst="roundRect">
            <a:avLst>
              <a:gd name="adj" fmla="val 12857"/>
            </a:avLst>
          </a:prstGeom>
          <a:solidFill>
            <a:srgbClr val="EEF2FB"/>
          </a:solidFill>
          <a:ln/>
        </p:spPr>
        <p:txBody>
          <a:bodyPr/>
          <a:lstStyle/>
          <a:p>
            <a:endParaRPr lang="ru-RU"/>
          </a:p>
        </p:txBody>
      </p:sp>
      <p:sp>
        <p:nvSpPr>
          <p:cNvPr id="71" name="Shape 69"/>
          <p:cNvSpPr/>
          <p:nvPr/>
        </p:nvSpPr>
        <p:spPr>
          <a:xfrm>
            <a:off x="548640" y="3950208"/>
            <a:ext cx="548640" cy="640080"/>
          </a:xfrm>
          <a:prstGeom prst="roundRect">
            <a:avLst>
              <a:gd name="adj" fmla="val 15000"/>
            </a:avLst>
          </a:prstGeom>
          <a:solidFill>
            <a:srgbClr val="1F6B4A"/>
          </a:solidFill>
          <a:ln/>
        </p:spPr>
        <p:txBody>
          <a:bodyPr/>
          <a:lstStyle/>
          <a:p>
            <a:endParaRPr lang="ru-RU"/>
          </a:p>
        </p:txBody>
      </p:sp>
      <p:sp>
        <p:nvSpPr>
          <p:cNvPr id="72" name="Text 70"/>
          <p:cNvSpPr txBox="1"/>
          <p:nvPr/>
        </p:nvSpPr>
        <p:spPr>
          <a:xfrm>
            <a:off x="548640" y="3950208"/>
            <a:ext cx="548640" cy="640080"/>
          </a:xfrm>
          <a:prstGeom prst="rect">
            <a:avLst/>
          </a:prstGeom>
          <a:noFill/>
          <a:ln/>
        </p:spPr>
        <p:txBody>
          <a:bodyPr wrap="square" lIns="0" tIns="0" rIns="0" bIns="0" rtlCol="0" anchor="ctr"/>
          <a:lstStyle/>
          <a:p>
            <a:pPr marL="0" indent="0" algn="ctr">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2</a:t>
            </a:r>
            <a:endParaRPr lang="en-US" sz="1600" dirty="0"/>
          </a:p>
        </p:txBody>
      </p:sp>
      <p:sp>
        <p:nvSpPr>
          <p:cNvPr id="73" name="Text 71"/>
          <p:cNvSpPr txBox="1"/>
          <p:nvPr/>
        </p:nvSpPr>
        <p:spPr>
          <a:xfrm>
            <a:off x="1234440" y="3950208"/>
            <a:ext cx="3017520" cy="640080"/>
          </a:xfrm>
          <a:prstGeom prst="rect">
            <a:avLst/>
          </a:prstGeom>
          <a:noFill/>
          <a:ln/>
        </p:spPr>
        <p:txBody>
          <a:bodyPr wrap="square" lIns="0" tIns="0" rIns="0" bIns="0" rtlCol="0" anchor="ctr"/>
          <a:lstStyle/>
          <a:p>
            <a:pPr marL="0" indent="0" algn="l">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offset dan boshlab 4 bayt olinadi</a:t>
            </a:r>
            <a:endParaRPr lang="en-US" sz="1500" dirty="0"/>
          </a:p>
        </p:txBody>
      </p:sp>
      <p:sp>
        <p:nvSpPr>
          <p:cNvPr id="74" name="Text 72"/>
          <p:cNvSpPr txBox="1"/>
          <p:nvPr/>
        </p:nvSpPr>
        <p:spPr>
          <a:xfrm>
            <a:off x="4343400" y="3950208"/>
            <a:ext cx="2423160" cy="640080"/>
          </a:xfrm>
          <a:prstGeom prst="rect">
            <a:avLst/>
          </a:prstGeom>
          <a:noFill/>
          <a:ln/>
        </p:spPr>
        <p:txBody>
          <a:bodyPr wrap="square" lIns="0" tIns="0" rIns="0" bIns="0" rtlCol="0" anchor="ctr"/>
          <a:lstStyle/>
          <a:p>
            <a:pPr marL="0" indent="0" algn="l">
              <a:lnSpc>
                <a:spcPct val="100000"/>
              </a:lnSpc>
              <a:buNone/>
            </a:pPr>
            <a:r>
              <a:rPr lang="en-US" sz="1500" b="1" dirty="0">
                <a:solidFill>
                  <a:srgbClr val="1F6B4A"/>
                </a:solidFill>
                <a:latin typeface="Courier New" pitchFamily="34" charset="0"/>
                <a:ea typeface="Courier New" pitchFamily="34" charset="-122"/>
                <a:cs typeface="Courier New" pitchFamily="34" charset="-120"/>
              </a:rPr>
              <a:t>cc 93 cf 18</a:t>
            </a:r>
            <a:endParaRPr lang="en-US" sz="1500" dirty="0"/>
          </a:p>
        </p:txBody>
      </p:sp>
      <p:sp>
        <p:nvSpPr>
          <p:cNvPr id="75" name="Shape 73"/>
          <p:cNvSpPr/>
          <p:nvPr/>
        </p:nvSpPr>
        <p:spPr>
          <a:xfrm>
            <a:off x="548640" y="4700016"/>
            <a:ext cx="6309360" cy="640080"/>
          </a:xfrm>
          <a:prstGeom prst="roundRect">
            <a:avLst>
              <a:gd name="adj" fmla="val 12857"/>
            </a:avLst>
          </a:prstGeom>
          <a:solidFill>
            <a:srgbClr val="EEF2FB"/>
          </a:solidFill>
          <a:ln/>
        </p:spPr>
        <p:txBody>
          <a:bodyPr/>
          <a:lstStyle/>
          <a:p>
            <a:endParaRPr lang="ru-RU"/>
          </a:p>
        </p:txBody>
      </p:sp>
      <p:sp>
        <p:nvSpPr>
          <p:cNvPr id="76" name="Shape 74"/>
          <p:cNvSpPr/>
          <p:nvPr/>
        </p:nvSpPr>
        <p:spPr>
          <a:xfrm>
            <a:off x="548640" y="4700016"/>
            <a:ext cx="548640" cy="640080"/>
          </a:xfrm>
          <a:prstGeom prst="roundRect">
            <a:avLst>
              <a:gd name="adj" fmla="val 15000"/>
            </a:avLst>
          </a:prstGeom>
          <a:solidFill>
            <a:srgbClr val="1E2761"/>
          </a:solidFill>
          <a:ln/>
        </p:spPr>
        <p:txBody>
          <a:bodyPr/>
          <a:lstStyle/>
          <a:p>
            <a:endParaRPr lang="ru-RU"/>
          </a:p>
        </p:txBody>
      </p:sp>
      <p:sp>
        <p:nvSpPr>
          <p:cNvPr id="77" name="Text 75"/>
          <p:cNvSpPr txBox="1"/>
          <p:nvPr/>
        </p:nvSpPr>
        <p:spPr>
          <a:xfrm>
            <a:off x="548640" y="4700016"/>
            <a:ext cx="548640" cy="640080"/>
          </a:xfrm>
          <a:prstGeom prst="rect">
            <a:avLst/>
          </a:prstGeom>
          <a:noFill/>
          <a:ln/>
        </p:spPr>
        <p:txBody>
          <a:bodyPr wrap="square" lIns="0" tIns="0" rIns="0" bIns="0" rtlCol="0" anchor="ctr"/>
          <a:lstStyle/>
          <a:p>
            <a:pPr marL="0" indent="0" algn="ctr">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3</a:t>
            </a:r>
            <a:endParaRPr lang="en-US" sz="1600" dirty="0"/>
          </a:p>
        </p:txBody>
      </p:sp>
      <p:sp>
        <p:nvSpPr>
          <p:cNvPr id="78" name="Text 76"/>
          <p:cNvSpPr txBox="1"/>
          <p:nvPr/>
        </p:nvSpPr>
        <p:spPr>
          <a:xfrm>
            <a:off x="1234440" y="4700016"/>
            <a:ext cx="3017520" cy="640080"/>
          </a:xfrm>
          <a:prstGeom prst="rect">
            <a:avLst/>
          </a:prstGeom>
          <a:noFill/>
          <a:ln/>
        </p:spPr>
        <p:txBody>
          <a:bodyPr wrap="square" lIns="0" tIns="0" rIns="0" bIns="0" rtlCol="0" anchor="ctr"/>
          <a:lstStyle/>
          <a:p>
            <a:pPr marL="0" indent="0" algn="l">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&amp; 0x7FFFFFFF — eng katta bit nollanadi</a:t>
            </a:r>
            <a:endParaRPr lang="en-US" sz="1500" dirty="0"/>
          </a:p>
        </p:txBody>
      </p:sp>
      <p:sp>
        <p:nvSpPr>
          <p:cNvPr id="79" name="Text 77"/>
          <p:cNvSpPr txBox="1"/>
          <p:nvPr/>
        </p:nvSpPr>
        <p:spPr>
          <a:xfrm>
            <a:off x="4343400" y="4700016"/>
            <a:ext cx="2423160" cy="640080"/>
          </a:xfrm>
          <a:prstGeom prst="rect">
            <a:avLst/>
          </a:prstGeom>
          <a:noFill/>
          <a:ln/>
        </p:spPr>
        <p:txBody>
          <a:bodyPr wrap="square" lIns="0" tIns="0" rIns="0" bIns="0" rtlCol="0" anchor="ctr"/>
          <a:lstStyle/>
          <a:p>
            <a:pPr marL="0" indent="0" algn="l">
              <a:lnSpc>
                <a:spcPct val="100000"/>
              </a:lnSpc>
              <a:buNone/>
            </a:pPr>
            <a:r>
              <a:rPr lang="en-US" sz="1500" b="1" dirty="0">
                <a:solidFill>
                  <a:srgbClr val="1E2761"/>
                </a:solidFill>
                <a:latin typeface="Courier New" pitchFamily="34" charset="0"/>
                <a:ea typeface="Courier New" pitchFamily="34" charset="-122"/>
                <a:cs typeface="Courier New" pitchFamily="34" charset="-120"/>
              </a:rPr>
              <a:t>0x4c93cf18</a:t>
            </a:r>
            <a:endParaRPr lang="en-US" sz="1500" dirty="0"/>
          </a:p>
        </p:txBody>
      </p:sp>
      <p:sp>
        <p:nvSpPr>
          <p:cNvPr id="80" name="Shape 78"/>
          <p:cNvSpPr/>
          <p:nvPr/>
        </p:nvSpPr>
        <p:spPr>
          <a:xfrm>
            <a:off x="548640" y="5449824"/>
            <a:ext cx="6309360" cy="640080"/>
          </a:xfrm>
          <a:prstGeom prst="roundRect">
            <a:avLst>
              <a:gd name="adj" fmla="val 12857"/>
            </a:avLst>
          </a:prstGeom>
          <a:solidFill>
            <a:srgbClr val="EEF2FB"/>
          </a:solidFill>
          <a:ln/>
        </p:spPr>
        <p:txBody>
          <a:bodyPr/>
          <a:lstStyle/>
          <a:p>
            <a:endParaRPr lang="ru-RU"/>
          </a:p>
        </p:txBody>
      </p:sp>
      <p:sp>
        <p:nvSpPr>
          <p:cNvPr id="81" name="Shape 79"/>
          <p:cNvSpPr/>
          <p:nvPr/>
        </p:nvSpPr>
        <p:spPr>
          <a:xfrm>
            <a:off x="548640" y="5449824"/>
            <a:ext cx="548640" cy="640080"/>
          </a:xfrm>
          <a:prstGeom prst="roundRect">
            <a:avLst>
              <a:gd name="adj" fmla="val 15000"/>
            </a:avLst>
          </a:prstGeom>
          <a:solidFill>
            <a:srgbClr val="1F6B4A"/>
          </a:solidFill>
          <a:ln/>
        </p:spPr>
        <p:txBody>
          <a:bodyPr/>
          <a:lstStyle/>
          <a:p>
            <a:endParaRPr lang="ru-RU"/>
          </a:p>
        </p:txBody>
      </p:sp>
      <p:sp>
        <p:nvSpPr>
          <p:cNvPr id="82" name="Text 80"/>
          <p:cNvSpPr txBox="1"/>
          <p:nvPr/>
        </p:nvSpPr>
        <p:spPr>
          <a:xfrm>
            <a:off x="548640" y="5449824"/>
            <a:ext cx="548640" cy="640080"/>
          </a:xfrm>
          <a:prstGeom prst="rect">
            <a:avLst/>
          </a:prstGeom>
          <a:noFill/>
          <a:ln/>
        </p:spPr>
        <p:txBody>
          <a:bodyPr wrap="square" lIns="0" tIns="0" rIns="0" bIns="0" rtlCol="0" anchor="ctr"/>
          <a:lstStyle/>
          <a:p>
            <a:pPr marL="0" indent="0" algn="ctr">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4</a:t>
            </a:r>
            <a:endParaRPr lang="en-US" sz="1600" dirty="0"/>
          </a:p>
        </p:txBody>
      </p:sp>
      <p:sp>
        <p:nvSpPr>
          <p:cNvPr id="83" name="Text 81"/>
          <p:cNvSpPr txBox="1"/>
          <p:nvPr/>
        </p:nvSpPr>
        <p:spPr>
          <a:xfrm>
            <a:off x="1234440" y="5449824"/>
            <a:ext cx="3017520" cy="640080"/>
          </a:xfrm>
          <a:prstGeom prst="rect">
            <a:avLst/>
          </a:prstGeom>
          <a:noFill/>
          <a:ln/>
        </p:spPr>
        <p:txBody>
          <a:bodyPr wrap="square" lIns="0" tIns="0" rIns="0" bIns="0" rtlCol="0" anchor="ctr"/>
          <a:lstStyle/>
          <a:p>
            <a:pPr marL="0" indent="0" algn="l">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1 284 755 224 mod 10⁶</a:t>
            </a:r>
            <a:endParaRPr lang="en-US" sz="1500" dirty="0"/>
          </a:p>
        </p:txBody>
      </p:sp>
      <p:sp>
        <p:nvSpPr>
          <p:cNvPr id="84" name="Text 82"/>
          <p:cNvSpPr txBox="1"/>
          <p:nvPr/>
        </p:nvSpPr>
        <p:spPr>
          <a:xfrm>
            <a:off x="4343400" y="5449824"/>
            <a:ext cx="2423160" cy="640080"/>
          </a:xfrm>
          <a:prstGeom prst="rect">
            <a:avLst/>
          </a:prstGeom>
          <a:noFill/>
          <a:ln/>
        </p:spPr>
        <p:txBody>
          <a:bodyPr wrap="square" lIns="0" tIns="0" rIns="0" bIns="0" rtlCol="0" anchor="ctr"/>
          <a:lstStyle/>
          <a:p>
            <a:pPr marL="0" indent="0" algn="l">
              <a:lnSpc>
                <a:spcPct val="100000"/>
              </a:lnSpc>
              <a:buNone/>
            </a:pPr>
            <a:r>
              <a:rPr lang="en-US" sz="1500" b="1" dirty="0">
                <a:solidFill>
                  <a:srgbClr val="1F6B4A"/>
                </a:solidFill>
                <a:latin typeface="Courier New" pitchFamily="34" charset="0"/>
                <a:ea typeface="Courier New" pitchFamily="34" charset="-122"/>
                <a:cs typeface="Courier New" pitchFamily="34" charset="-120"/>
              </a:rPr>
              <a:t>755224</a:t>
            </a:r>
            <a:endParaRPr lang="en-US" sz="1500" dirty="0"/>
          </a:p>
        </p:txBody>
      </p:sp>
      <p:sp>
        <p:nvSpPr>
          <p:cNvPr id="85" name="Shape 83"/>
          <p:cNvSpPr/>
          <p:nvPr/>
        </p:nvSpPr>
        <p:spPr>
          <a:xfrm>
            <a:off x="7086600" y="3200400"/>
            <a:ext cx="4526280" cy="2926080"/>
          </a:xfrm>
          <a:prstGeom prst="roundRect">
            <a:avLst>
              <a:gd name="adj" fmla="val 2813"/>
            </a:avLst>
          </a:prstGeom>
          <a:solidFill>
            <a:srgbClr val="162048"/>
          </a:solidFill>
          <a:ln/>
        </p:spPr>
        <p:txBody>
          <a:bodyPr/>
          <a:lstStyle/>
          <a:p>
            <a:endParaRPr lang="ru-RU"/>
          </a:p>
        </p:txBody>
      </p:sp>
      <p:sp>
        <p:nvSpPr>
          <p:cNvPr id="86" name="Text 84"/>
          <p:cNvSpPr txBox="1"/>
          <p:nvPr/>
        </p:nvSpPr>
        <p:spPr>
          <a:xfrm>
            <a:off x="7315200" y="3383280"/>
            <a:ext cx="4069080" cy="2560320"/>
          </a:xfrm>
          <a:prstGeom prst="rect">
            <a:avLst/>
          </a:prstGeom>
          <a:noFill/>
          <a:ln/>
        </p:spPr>
        <p:txBody>
          <a:bodyPr wrap="square" lIns="0" tIns="0" rIns="0" bIns="0" rtlCol="0" anchor="t"/>
          <a:lstStyle/>
          <a:p>
            <a:pPr marL="0" indent="0">
              <a:lnSpc>
                <a:spcPct val="105000"/>
              </a:lnSpc>
              <a:buNone/>
            </a:pPr>
            <a:r>
              <a:rPr lang="en-US" sz="1200" b="1" dirty="0">
                <a:solidFill>
                  <a:srgbClr val="F2B544"/>
                </a:solidFill>
                <a:latin typeface="Courier New" pitchFamily="34" charset="0"/>
                <a:ea typeface="Courier New" pitchFamily="34" charset="-122"/>
                <a:cs typeface="Courier New" pitchFamily="34" charset="-120"/>
              </a:rPr>
              <a:t>import hmac, hashlib, struct, time</a:t>
            </a:r>
            <a:endParaRPr lang="en-US" sz="1200" dirty="0"/>
          </a:p>
          <a:p>
            <a:pPr marL="0" indent="0">
              <a:lnSpc>
                <a:spcPct val="105000"/>
              </a:lnSpc>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marL="0" indent="0">
              <a:lnSpc>
                <a:spcPct val="105000"/>
              </a:lnSpc>
              <a:buNone/>
            </a:pPr>
            <a:r>
              <a:rPr lang="en-US" sz="1200" b="1" dirty="0">
                <a:solidFill>
                  <a:srgbClr val="F2B544"/>
                </a:solidFill>
                <a:latin typeface="Courier New" pitchFamily="34" charset="0"/>
                <a:ea typeface="Courier New" pitchFamily="34" charset="-122"/>
                <a:cs typeface="Courier New" pitchFamily="34" charset="-120"/>
              </a:rPr>
              <a:t>def hotp(key, c, d=6):</a:t>
            </a:r>
            <a:endParaRPr lang="en-US" sz="1200" dirty="0"/>
          </a:p>
          <a:p>
            <a:pPr marL="0" indent="0">
              <a:lnSpc>
                <a:spcPct val="105000"/>
              </a:lnSpc>
              <a:buNone/>
            </a:pPr>
            <a:r>
              <a:rPr lang="en-US" sz="1200" dirty="0">
                <a:solidFill>
                  <a:srgbClr val="FFFFFF"/>
                </a:solidFill>
                <a:latin typeface="Courier New" pitchFamily="34" charset="0"/>
                <a:ea typeface="Courier New" pitchFamily="34" charset="-122"/>
                <a:cs typeface="Courier New" pitchFamily="34" charset="-120"/>
              </a:rPr>
              <a:t>    h = hmac.new(key, struct.pack('&gt;Q', c),</a:t>
            </a:r>
            <a:endParaRPr lang="en-US" sz="1200" dirty="0"/>
          </a:p>
          <a:p>
            <a:pPr marL="0" indent="0">
              <a:lnSpc>
                <a:spcPct val="105000"/>
              </a:lnSpc>
              <a:buNone/>
            </a:pPr>
            <a:r>
              <a:rPr lang="en-US" sz="1200" dirty="0">
                <a:solidFill>
                  <a:srgbClr val="FFFFFF"/>
                </a:solidFill>
                <a:latin typeface="Courier New" pitchFamily="34" charset="0"/>
                <a:ea typeface="Courier New" pitchFamily="34" charset="-122"/>
                <a:cs typeface="Courier New" pitchFamily="34" charset="-120"/>
              </a:rPr>
              <a:t>                 hashlib.sha1).digest()</a:t>
            </a:r>
            <a:endParaRPr lang="en-US" sz="1200" dirty="0"/>
          </a:p>
          <a:p>
            <a:pPr marL="0" indent="0">
              <a:lnSpc>
                <a:spcPct val="105000"/>
              </a:lnSpc>
              <a:buNone/>
            </a:pPr>
            <a:r>
              <a:rPr lang="en-US" sz="1200" dirty="0">
                <a:solidFill>
                  <a:srgbClr val="8FD3A8"/>
                </a:solidFill>
                <a:latin typeface="Courier New" pitchFamily="34" charset="0"/>
                <a:ea typeface="Courier New" pitchFamily="34" charset="-122"/>
                <a:cs typeface="Courier New" pitchFamily="34" charset="-120"/>
              </a:rPr>
              <a:t>    o = h[-1] &amp; 0x0F          # 1-qadam</a:t>
            </a:r>
            <a:endParaRPr lang="en-US" sz="1200" dirty="0"/>
          </a:p>
          <a:p>
            <a:pPr marL="0" indent="0">
              <a:lnSpc>
                <a:spcPct val="105000"/>
              </a:lnSpc>
              <a:buNone/>
            </a:pPr>
            <a:r>
              <a:rPr lang="en-US" sz="1200" dirty="0">
                <a:solidFill>
                  <a:srgbClr val="FFFFFF"/>
                </a:solidFill>
                <a:latin typeface="Courier New" pitchFamily="34" charset="0"/>
                <a:ea typeface="Courier New" pitchFamily="34" charset="-122"/>
                <a:cs typeface="Courier New" pitchFamily="34" charset="-120"/>
              </a:rPr>
              <a:t>    n = struct.unpack('&gt;I', h[o:o+4])[0]</a:t>
            </a:r>
            <a:endParaRPr lang="en-US" sz="1200" dirty="0"/>
          </a:p>
          <a:p>
            <a:pPr marL="0" indent="0">
              <a:lnSpc>
                <a:spcPct val="105000"/>
              </a:lnSpc>
              <a:buNone/>
            </a:pPr>
            <a:r>
              <a:rPr lang="en-US" sz="1200" dirty="0">
                <a:solidFill>
                  <a:srgbClr val="8FD3A8"/>
                </a:solidFill>
                <a:latin typeface="Courier New" pitchFamily="34" charset="0"/>
                <a:ea typeface="Courier New" pitchFamily="34" charset="-122"/>
                <a:cs typeface="Courier New" pitchFamily="34" charset="-120"/>
              </a:rPr>
              <a:t>    n &amp;= 0x7FFFFFFF           # 3-qadam</a:t>
            </a:r>
            <a:endParaRPr lang="en-US" sz="1200" dirty="0"/>
          </a:p>
          <a:p>
            <a:pPr marL="0" indent="0">
              <a:lnSpc>
                <a:spcPct val="105000"/>
              </a:lnSpc>
              <a:buNone/>
            </a:pPr>
            <a:r>
              <a:rPr lang="en-US" sz="1200" dirty="0">
                <a:solidFill>
                  <a:srgbClr val="FFFFFF"/>
                </a:solidFill>
                <a:latin typeface="Courier New" pitchFamily="34" charset="0"/>
                <a:ea typeface="Courier New" pitchFamily="34" charset="-122"/>
                <a:cs typeface="Courier New" pitchFamily="34" charset="-120"/>
              </a:rPr>
              <a:t>    return str(n % 10**d).zfill(d)</a:t>
            </a:r>
            <a:endParaRPr lang="en-US" sz="1200" dirty="0"/>
          </a:p>
          <a:p>
            <a:pPr marL="0" indent="0">
              <a:lnSpc>
                <a:spcPct val="105000"/>
              </a:lnSpc>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marL="0" indent="0">
              <a:lnSpc>
                <a:spcPct val="105000"/>
              </a:lnSpc>
              <a:buNone/>
            </a:pPr>
            <a:r>
              <a:rPr lang="en-US" sz="1200" b="1" dirty="0">
                <a:solidFill>
                  <a:srgbClr val="F2B544"/>
                </a:solidFill>
                <a:latin typeface="Courier New" pitchFamily="34" charset="0"/>
                <a:ea typeface="Courier New" pitchFamily="34" charset="-122"/>
                <a:cs typeface="Courier New" pitchFamily="34" charset="-120"/>
              </a:rPr>
              <a:t>def totp(key, t=None, x=30, d=6):</a:t>
            </a:r>
            <a:endParaRPr lang="en-US" sz="1200" dirty="0"/>
          </a:p>
          <a:p>
            <a:pPr marL="0" indent="0">
              <a:lnSpc>
                <a:spcPct val="105000"/>
              </a:lnSpc>
              <a:buNone/>
            </a:pPr>
            <a:r>
              <a:rPr lang="en-US" sz="1200" dirty="0">
                <a:solidFill>
                  <a:srgbClr val="FFFFFF"/>
                </a:solidFill>
                <a:latin typeface="Courier New" pitchFamily="34" charset="0"/>
                <a:ea typeface="Courier New" pitchFamily="34" charset="-122"/>
                <a:cs typeface="Courier New" pitchFamily="34" charset="-120"/>
              </a:rPr>
              <a:t>    t = time.time() if t is None else t</a:t>
            </a:r>
            <a:endParaRPr lang="en-US" sz="1200" dirty="0"/>
          </a:p>
          <a:p>
            <a:pPr marL="0" indent="0">
              <a:lnSpc>
                <a:spcPct val="105000"/>
              </a:lnSpc>
              <a:buNone/>
            </a:pPr>
            <a:r>
              <a:rPr lang="en-US" sz="1200" dirty="0">
                <a:solidFill>
                  <a:srgbClr val="FFFFFF"/>
                </a:solidFill>
                <a:latin typeface="Courier New" pitchFamily="34" charset="0"/>
                <a:ea typeface="Courier New" pitchFamily="34" charset="-122"/>
                <a:cs typeface="Courier New" pitchFamily="34" charset="-120"/>
              </a:rPr>
              <a:t>    return hotp(key, int(t // x), d)</a:t>
            </a:r>
            <a:endParaRPr lang="en-US" sz="1200" dirty="0"/>
          </a:p>
        </p:txBody>
      </p:sp>
      <p:sp>
        <p:nvSpPr>
          <p:cNvPr id="87" name="Text 85"/>
          <p:cNvSpPr txBox="1"/>
          <p:nvPr/>
        </p:nvSpPr>
        <p:spPr>
          <a:xfrm>
            <a:off x="548640" y="6492240"/>
            <a:ext cx="7315200" cy="274320"/>
          </a:xfrm>
          <a:prstGeom prst="rect">
            <a:avLst/>
          </a:prstGeom>
          <a:noFill/>
          <a:ln/>
        </p:spPr>
        <p:txBody>
          <a:bodyPr wrap="square" lIns="0" tIns="0" rIns="0" bIns="0" rtlCol="0" anchor="ctr"/>
          <a:lstStyle/>
          <a:p>
            <a:pPr marL="0" indent="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4-ma'ruza</a:t>
            </a:r>
            <a:endParaRPr lang="en-US" sz="1100" dirty="0"/>
          </a:p>
        </p:txBody>
      </p:sp>
      <p:sp>
        <p:nvSpPr>
          <p:cNvPr id="88" name="Text 86"/>
          <p:cNvSpPr txBox="1"/>
          <p:nvPr/>
        </p:nvSpPr>
        <p:spPr>
          <a:xfrm>
            <a:off x="11155680" y="6492240"/>
            <a:ext cx="457200" cy="274320"/>
          </a:xfrm>
          <a:prstGeom prst="rect">
            <a:avLst/>
          </a:prstGeom>
          <a:noFill/>
          <a:ln/>
        </p:spPr>
        <p:txBody>
          <a:bodyPr wrap="square" lIns="0" tIns="0" rIns="0" bIns="0" rtlCol="0" anchor="ctr"/>
          <a:lstStyle/>
          <a:p>
            <a:pPr marL="0" indent="0" algn="r">
              <a:buNone/>
            </a:pPr>
            <a:r>
              <a:rPr lang="en-US" sz="1100" dirty="0">
                <a:solidFill>
                  <a:srgbClr val="5B6270"/>
                </a:solidFill>
                <a:latin typeface="Times New Roman" pitchFamily="34" charset="0"/>
                <a:ea typeface="Times New Roman" pitchFamily="34" charset="-122"/>
                <a:cs typeface="Times New Roman"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marL="0" indent="0">
              <a:buNone/>
            </a:pPr>
            <a:r>
              <a:rPr lang="en-US" sz="1600" b="1" kern="0" spc="220" dirty="0">
                <a:solidFill>
                  <a:srgbClr val="5B6270"/>
                </a:solidFill>
                <a:latin typeface="Times New Roman" pitchFamily="34" charset="0"/>
                <a:ea typeface="Times New Roman" pitchFamily="34" charset="-122"/>
                <a:cs typeface="Times New Roman" pitchFamily="34" charset="-120"/>
              </a:rPr>
              <a:t>TOTP · RFC 6238</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marL="0" indent="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TOTP = HOTP(K, T),   T = ⌊(Unix vaqt − T₀) / X⌋</a:t>
            </a:r>
            <a:endParaRPr lang="en-US" sz="3600" dirty="0"/>
          </a:p>
        </p:txBody>
      </p:sp>
      <p:sp>
        <p:nvSpPr>
          <p:cNvPr id="4" name="Text 2"/>
          <p:cNvSpPr txBox="1"/>
          <p:nvPr/>
        </p:nvSpPr>
        <p:spPr>
          <a:xfrm>
            <a:off x="548640" y="1737360"/>
            <a:ext cx="11064240" cy="685800"/>
          </a:xfrm>
          <a:prstGeom prst="rect">
            <a:avLst/>
          </a:prstGeom>
          <a:noFill/>
          <a:ln/>
        </p:spPr>
        <p:txBody>
          <a:bodyPr wrap="square" lIns="0" tIns="0" rIns="0" bIns="0" rtlCol="0" anchor="t"/>
          <a:lstStyle/>
          <a:p>
            <a:pPr marL="0" indent="0" algn="l">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Hisoblagich o'rniga vaqt: X — vaqt qadami (odatda 30 s), T₀ — boshlang'ich nuqta (odatda 0). Sinxronlash uchun faqat soatlar mos bo'lishi kifoya.</a:t>
            </a:r>
            <a:endParaRPr lang="en-US" sz="1600" dirty="0"/>
          </a:p>
        </p:txBody>
      </p:sp>
      <p:sp>
        <p:nvSpPr>
          <p:cNvPr id="5" name="Text 3"/>
          <p:cNvSpPr txBox="1"/>
          <p:nvPr/>
        </p:nvSpPr>
        <p:spPr>
          <a:xfrm>
            <a:off x="548640" y="2606040"/>
            <a:ext cx="1097280" cy="365760"/>
          </a:xfrm>
          <a:prstGeom prst="rect">
            <a:avLst/>
          </a:prstGeom>
          <a:noFill/>
          <a:ln/>
        </p:spPr>
        <p:txBody>
          <a:bodyPr wrap="square" lIns="0" tIns="0" rIns="0" bIns="0" rtlCol="0" anchor="t"/>
          <a:lstStyle/>
          <a:p>
            <a:pPr marL="0" indent="0" algn="l">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vaqt  →</a:t>
            </a:r>
            <a:endParaRPr lang="en-US" sz="1400" dirty="0"/>
          </a:p>
        </p:txBody>
      </p:sp>
      <p:sp>
        <p:nvSpPr>
          <p:cNvPr id="6" name="Shape 4"/>
          <p:cNvSpPr/>
          <p:nvPr/>
        </p:nvSpPr>
        <p:spPr>
          <a:xfrm>
            <a:off x="1645920" y="2560320"/>
            <a:ext cx="2423160" cy="1143000"/>
          </a:xfrm>
          <a:prstGeom prst="roundRect">
            <a:avLst>
              <a:gd name="adj" fmla="val 7200"/>
            </a:avLst>
          </a:prstGeom>
          <a:solidFill>
            <a:srgbClr val="FDF3E2"/>
          </a:solidFill>
          <a:ln/>
        </p:spPr>
        <p:txBody>
          <a:bodyPr/>
          <a:lstStyle/>
          <a:p>
            <a:endParaRPr lang="ru-RU"/>
          </a:p>
        </p:txBody>
      </p:sp>
      <p:sp>
        <p:nvSpPr>
          <p:cNvPr id="7" name="Text 5"/>
          <p:cNvSpPr txBox="1"/>
          <p:nvPr/>
        </p:nvSpPr>
        <p:spPr>
          <a:xfrm>
            <a:off x="1645920" y="2606040"/>
            <a:ext cx="2423160" cy="411480"/>
          </a:xfrm>
          <a:prstGeom prst="rect">
            <a:avLst/>
          </a:prstGeom>
          <a:noFill/>
          <a:ln/>
        </p:spPr>
        <p:txBody>
          <a:bodyPr wrap="square" lIns="50800" tIns="50800" rIns="50800" bIns="50800" rtlCol="0" anchor="ctr"/>
          <a:lstStyle/>
          <a:p>
            <a:pPr marL="0" indent="0" algn="ctr">
              <a:lnSpc>
                <a:spcPct val="100000"/>
              </a:lnSpc>
              <a:buNone/>
            </a:pPr>
            <a:r>
              <a:rPr lang="en-US" sz="1800" b="1" dirty="0">
                <a:solidFill>
                  <a:srgbClr val="1E2761"/>
                </a:solidFill>
                <a:latin typeface="Courier New" pitchFamily="34" charset="0"/>
                <a:ea typeface="Courier New" pitchFamily="34" charset="-122"/>
                <a:cs typeface="Courier New" pitchFamily="34" charset="-120"/>
              </a:rPr>
              <a:t>T−1</a:t>
            </a:r>
            <a:endParaRPr lang="en-US" sz="1800" dirty="0"/>
          </a:p>
        </p:txBody>
      </p:sp>
      <p:sp>
        <p:nvSpPr>
          <p:cNvPr id="8" name="Text 6"/>
          <p:cNvSpPr txBox="1"/>
          <p:nvPr/>
        </p:nvSpPr>
        <p:spPr>
          <a:xfrm>
            <a:off x="1645920" y="3017520"/>
            <a:ext cx="2423160" cy="548640"/>
          </a:xfrm>
          <a:prstGeom prst="rect">
            <a:avLst/>
          </a:prstGeom>
          <a:noFill/>
          <a:ln/>
        </p:spPr>
        <p:txBody>
          <a:bodyPr wrap="square" lIns="50800" tIns="50800" rIns="50800" bIns="50800" rtlCol="0" anchor="ctr"/>
          <a:lstStyle/>
          <a:p>
            <a:pPr marL="0" indent="0" algn="ctr">
              <a:lnSpc>
                <a:spcPct val="100000"/>
              </a:lnSpc>
              <a:buNone/>
            </a:pPr>
            <a:r>
              <a:rPr lang="en-US" sz="2400" b="1" dirty="0">
                <a:solidFill>
                  <a:srgbClr val="5B6270"/>
                </a:solidFill>
                <a:latin typeface="Courier New" pitchFamily="34" charset="0"/>
                <a:ea typeface="Courier New" pitchFamily="34" charset="-122"/>
                <a:cs typeface="Courier New" pitchFamily="34" charset="-120"/>
              </a:rPr>
              <a:t>093417</a:t>
            </a:r>
            <a:endParaRPr lang="en-US" sz="2400" dirty="0"/>
          </a:p>
        </p:txBody>
      </p:sp>
      <p:sp>
        <p:nvSpPr>
          <p:cNvPr id="9" name="Text 7"/>
          <p:cNvSpPr txBox="1"/>
          <p:nvPr/>
        </p:nvSpPr>
        <p:spPr>
          <a:xfrm>
            <a:off x="1645920" y="3730752"/>
            <a:ext cx="2423160" cy="274320"/>
          </a:xfrm>
          <a:prstGeom prst="rect">
            <a:avLst/>
          </a:prstGeom>
          <a:noFill/>
          <a:ln/>
        </p:spPr>
        <p:txBody>
          <a:bodyPr wrap="square" lIns="0" tIns="0" rIns="0" bIns="0" rtlCol="0" anchor="t"/>
          <a:lstStyle/>
          <a:p>
            <a:pPr marL="0" indent="0" algn="ctr">
              <a:lnSpc>
                <a:spcPct val="100000"/>
              </a:lnSpc>
              <a:buNone/>
            </a:pPr>
            <a:r>
              <a:rPr lang="en-US" sz="1200" dirty="0">
                <a:solidFill>
                  <a:srgbClr val="5B6270"/>
                </a:solidFill>
                <a:latin typeface="Times New Roman" pitchFamily="34" charset="0"/>
                <a:ea typeface="Times New Roman" pitchFamily="34" charset="-122"/>
                <a:cs typeface="Times New Roman" pitchFamily="34" charset="-120"/>
              </a:rPr>
              <a:t>30 s</a:t>
            </a:r>
            <a:endParaRPr lang="en-US" sz="1200" dirty="0"/>
          </a:p>
        </p:txBody>
      </p:sp>
      <p:sp>
        <p:nvSpPr>
          <p:cNvPr id="10" name="Shape 8"/>
          <p:cNvSpPr/>
          <p:nvPr/>
        </p:nvSpPr>
        <p:spPr>
          <a:xfrm>
            <a:off x="4160520" y="2560320"/>
            <a:ext cx="2423160" cy="1143000"/>
          </a:xfrm>
          <a:prstGeom prst="roundRect">
            <a:avLst>
              <a:gd name="adj" fmla="val 7200"/>
            </a:avLst>
          </a:prstGeom>
          <a:solidFill>
            <a:srgbClr val="CADCFC"/>
          </a:solidFill>
          <a:ln/>
        </p:spPr>
        <p:txBody>
          <a:bodyPr/>
          <a:lstStyle/>
          <a:p>
            <a:endParaRPr lang="ru-RU"/>
          </a:p>
        </p:txBody>
      </p:sp>
      <p:sp>
        <p:nvSpPr>
          <p:cNvPr id="11" name="Text 9"/>
          <p:cNvSpPr txBox="1"/>
          <p:nvPr/>
        </p:nvSpPr>
        <p:spPr>
          <a:xfrm>
            <a:off x="4160520" y="2606040"/>
            <a:ext cx="2423160" cy="411480"/>
          </a:xfrm>
          <a:prstGeom prst="rect">
            <a:avLst/>
          </a:prstGeom>
          <a:noFill/>
          <a:ln/>
        </p:spPr>
        <p:txBody>
          <a:bodyPr wrap="square" lIns="50800" tIns="50800" rIns="50800" bIns="50800" rtlCol="0" anchor="ctr"/>
          <a:lstStyle/>
          <a:p>
            <a:pPr marL="0" indent="0" algn="ctr">
              <a:lnSpc>
                <a:spcPct val="100000"/>
              </a:lnSpc>
              <a:buNone/>
            </a:pPr>
            <a:r>
              <a:rPr lang="en-US" sz="1800" b="1" dirty="0">
                <a:solidFill>
                  <a:srgbClr val="1E2761"/>
                </a:solidFill>
                <a:latin typeface="Courier New" pitchFamily="34" charset="0"/>
                <a:ea typeface="Courier New" pitchFamily="34" charset="-122"/>
                <a:cs typeface="Courier New" pitchFamily="34" charset="-120"/>
              </a:rPr>
              <a:t>T</a:t>
            </a:r>
            <a:endParaRPr lang="en-US" sz="1800" dirty="0"/>
          </a:p>
        </p:txBody>
      </p:sp>
      <p:sp>
        <p:nvSpPr>
          <p:cNvPr id="12" name="Text 10"/>
          <p:cNvSpPr txBox="1"/>
          <p:nvPr/>
        </p:nvSpPr>
        <p:spPr>
          <a:xfrm>
            <a:off x="4160520" y="3017520"/>
            <a:ext cx="2423160" cy="548640"/>
          </a:xfrm>
          <a:prstGeom prst="rect">
            <a:avLst/>
          </a:prstGeom>
          <a:noFill/>
          <a:ln/>
        </p:spPr>
        <p:txBody>
          <a:bodyPr wrap="square" lIns="50800" tIns="50800" rIns="50800" bIns="50800" rtlCol="0" anchor="ctr"/>
          <a:lstStyle/>
          <a:p>
            <a:pPr marL="0" indent="0" algn="ctr">
              <a:lnSpc>
                <a:spcPct val="100000"/>
              </a:lnSpc>
              <a:buNone/>
            </a:pPr>
            <a:r>
              <a:rPr lang="en-US" sz="2400" b="1" dirty="0">
                <a:solidFill>
                  <a:srgbClr val="1E2761"/>
                </a:solidFill>
                <a:latin typeface="Courier New" pitchFamily="34" charset="0"/>
                <a:ea typeface="Courier New" pitchFamily="34" charset="-122"/>
                <a:cs typeface="Courier New" pitchFamily="34" charset="-120"/>
              </a:rPr>
              <a:t>621588</a:t>
            </a:r>
            <a:endParaRPr lang="en-US" sz="2400" dirty="0"/>
          </a:p>
        </p:txBody>
      </p:sp>
      <p:sp>
        <p:nvSpPr>
          <p:cNvPr id="13" name="Text 11"/>
          <p:cNvSpPr txBox="1"/>
          <p:nvPr/>
        </p:nvSpPr>
        <p:spPr>
          <a:xfrm>
            <a:off x="4160520" y="3730752"/>
            <a:ext cx="2423160" cy="274320"/>
          </a:xfrm>
          <a:prstGeom prst="rect">
            <a:avLst/>
          </a:prstGeom>
          <a:noFill/>
          <a:ln/>
        </p:spPr>
        <p:txBody>
          <a:bodyPr wrap="square" lIns="0" tIns="0" rIns="0" bIns="0" rtlCol="0" anchor="t"/>
          <a:lstStyle/>
          <a:p>
            <a:pPr marL="0" indent="0" algn="ctr">
              <a:lnSpc>
                <a:spcPct val="100000"/>
              </a:lnSpc>
              <a:buNone/>
            </a:pPr>
            <a:r>
              <a:rPr lang="en-US" sz="1200" dirty="0">
                <a:solidFill>
                  <a:srgbClr val="5B6270"/>
                </a:solidFill>
                <a:latin typeface="Times New Roman" pitchFamily="34" charset="0"/>
                <a:ea typeface="Times New Roman" pitchFamily="34" charset="-122"/>
                <a:cs typeface="Times New Roman" pitchFamily="34" charset="-120"/>
              </a:rPr>
              <a:t>30 s</a:t>
            </a:r>
            <a:endParaRPr lang="en-US" sz="1200" dirty="0"/>
          </a:p>
        </p:txBody>
      </p:sp>
      <p:sp>
        <p:nvSpPr>
          <p:cNvPr id="14" name="Shape 12"/>
          <p:cNvSpPr/>
          <p:nvPr/>
        </p:nvSpPr>
        <p:spPr>
          <a:xfrm>
            <a:off x="6675120" y="2560320"/>
            <a:ext cx="2423160" cy="1143000"/>
          </a:xfrm>
          <a:prstGeom prst="roundRect">
            <a:avLst>
              <a:gd name="adj" fmla="val 7200"/>
            </a:avLst>
          </a:prstGeom>
          <a:solidFill>
            <a:srgbClr val="FDF3E2"/>
          </a:solidFill>
          <a:ln/>
        </p:spPr>
        <p:txBody>
          <a:bodyPr/>
          <a:lstStyle/>
          <a:p>
            <a:endParaRPr lang="ru-RU"/>
          </a:p>
        </p:txBody>
      </p:sp>
      <p:sp>
        <p:nvSpPr>
          <p:cNvPr id="15" name="Text 13"/>
          <p:cNvSpPr txBox="1"/>
          <p:nvPr/>
        </p:nvSpPr>
        <p:spPr>
          <a:xfrm>
            <a:off x="6675120" y="2606040"/>
            <a:ext cx="2423160" cy="411480"/>
          </a:xfrm>
          <a:prstGeom prst="rect">
            <a:avLst/>
          </a:prstGeom>
          <a:noFill/>
          <a:ln/>
        </p:spPr>
        <p:txBody>
          <a:bodyPr wrap="square" lIns="50800" tIns="50800" rIns="50800" bIns="50800" rtlCol="0" anchor="ctr"/>
          <a:lstStyle/>
          <a:p>
            <a:pPr marL="0" indent="0" algn="ctr">
              <a:lnSpc>
                <a:spcPct val="100000"/>
              </a:lnSpc>
              <a:buNone/>
            </a:pPr>
            <a:r>
              <a:rPr lang="en-US" sz="1800" b="1" dirty="0">
                <a:solidFill>
                  <a:srgbClr val="1E2761"/>
                </a:solidFill>
                <a:latin typeface="Courier New" pitchFamily="34" charset="0"/>
                <a:ea typeface="Courier New" pitchFamily="34" charset="-122"/>
                <a:cs typeface="Courier New" pitchFamily="34" charset="-120"/>
              </a:rPr>
              <a:t>T+1</a:t>
            </a:r>
            <a:endParaRPr lang="en-US" sz="1800" dirty="0"/>
          </a:p>
        </p:txBody>
      </p:sp>
      <p:sp>
        <p:nvSpPr>
          <p:cNvPr id="16" name="Text 14"/>
          <p:cNvSpPr txBox="1"/>
          <p:nvPr/>
        </p:nvSpPr>
        <p:spPr>
          <a:xfrm>
            <a:off x="6675120" y="3017520"/>
            <a:ext cx="2423160" cy="548640"/>
          </a:xfrm>
          <a:prstGeom prst="rect">
            <a:avLst/>
          </a:prstGeom>
          <a:noFill/>
          <a:ln/>
        </p:spPr>
        <p:txBody>
          <a:bodyPr wrap="square" lIns="50800" tIns="50800" rIns="50800" bIns="50800" rtlCol="0" anchor="ctr"/>
          <a:lstStyle/>
          <a:p>
            <a:pPr marL="0" indent="0" algn="ctr">
              <a:lnSpc>
                <a:spcPct val="100000"/>
              </a:lnSpc>
              <a:buNone/>
            </a:pPr>
            <a:r>
              <a:rPr lang="en-US" sz="2400" b="1" dirty="0">
                <a:solidFill>
                  <a:srgbClr val="5B6270"/>
                </a:solidFill>
                <a:latin typeface="Courier New" pitchFamily="34" charset="0"/>
                <a:ea typeface="Courier New" pitchFamily="34" charset="-122"/>
                <a:cs typeface="Courier New" pitchFamily="34" charset="-120"/>
              </a:rPr>
              <a:t>408215</a:t>
            </a:r>
            <a:endParaRPr lang="en-US" sz="2400" dirty="0"/>
          </a:p>
        </p:txBody>
      </p:sp>
      <p:sp>
        <p:nvSpPr>
          <p:cNvPr id="17" name="Text 15"/>
          <p:cNvSpPr txBox="1"/>
          <p:nvPr/>
        </p:nvSpPr>
        <p:spPr>
          <a:xfrm>
            <a:off x="6675120" y="3730752"/>
            <a:ext cx="2423160" cy="274320"/>
          </a:xfrm>
          <a:prstGeom prst="rect">
            <a:avLst/>
          </a:prstGeom>
          <a:noFill/>
          <a:ln/>
        </p:spPr>
        <p:txBody>
          <a:bodyPr wrap="square" lIns="0" tIns="0" rIns="0" bIns="0" rtlCol="0" anchor="t"/>
          <a:lstStyle/>
          <a:p>
            <a:pPr marL="0" indent="0" algn="ctr">
              <a:lnSpc>
                <a:spcPct val="100000"/>
              </a:lnSpc>
              <a:buNone/>
            </a:pPr>
            <a:r>
              <a:rPr lang="en-US" sz="1200" dirty="0">
                <a:solidFill>
                  <a:srgbClr val="5B6270"/>
                </a:solidFill>
                <a:latin typeface="Times New Roman" pitchFamily="34" charset="0"/>
                <a:ea typeface="Times New Roman" pitchFamily="34" charset="-122"/>
                <a:cs typeface="Times New Roman" pitchFamily="34" charset="-120"/>
              </a:rPr>
              <a:t>30 s</a:t>
            </a:r>
            <a:endParaRPr lang="en-US" sz="1200" dirty="0"/>
          </a:p>
        </p:txBody>
      </p:sp>
      <p:sp>
        <p:nvSpPr>
          <p:cNvPr id="18" name="Shape 16"/>
          <p:cNvSpPr/>
          <p:nvPr/>
        </p:nvSpPr>
        <p:spPr>
          <a:xfrm>
            <a:off x="9189720" y="2560320"/>
            <a:ext cx="2423160" cy="1143000"/>
          </a:xfrm>
          <a:prstGeom prst="roundRect">
            <a:avLst>
              <a:gd name="adj" fmla="val 7200"/>
            </a:avLst>
          </a:prstGeom>
          <a:solidFill>
            <a:srgbClr val="EEF2FB"/>
          </a:solidFill>
          <a:ln/>
        </p:spPr>
        <p:txBody>
          <a:bodyPr/>
          <a:lstStyle/>
          <a:p>
            <a:endParaRPr lang="ru-RU"/>
          </a:p>
        </p:txBody>
      </p:sp>
      <p:sp>
        <p:nvSpPr>
          <p:cNvPr id="19" name="Text 17"/>
          <p:cNvSpPr txBox="1"/>
          <p:nvPr/>
        </p:nvSpPr>
        <p:spPr>
          <a:xfrm>
            <a:off x="9189720" y="2606040"/>
            <a:ext cx="2423160" cy="411480"/>
          </a:xfrm>
          <a:prstGeom prst="rect">
            <a:avLst/>
          </a:prstGeom>
          <a:noFill/>
          <a:ln/>
        </p:spPr>
        <p:txBody>
          <a:bodyPr wrap="square" lIns="50800" tIns="50800" rIns="50800" bIns="50800" rtlCol="0" anchor="ctr"/>
          <a:lstStyle/>
          <a:p>
            <a:pPr marL="0" indent="0" algn="ctr">
              <a:lnSpc>
                <a:spcPct val="100000"/>
              </a:lnSpc>
              <a:buNone/>
            </a:pPr>
            <a:r>
              <a:rPr lang="en-US" sz="1800" b="1" dirty="0">
                <a:solidFill>
                  <a:srgbClr val="1E2761"/>
                </a:solidFill>
                <a:latin typeface="Courier New" pitchFamily="34" charset="0"/>
                <a:ea typeface="Courier New" pitchFamily="34" charset="-122"/>
                <a:cs typeface="Courier New" pitchFamily="34" charset="-120"/>
              </a:rPr>
              <a:t>T+2</a:t>
            </a:r>
            <a:endParaRPr lang="en-US" sz="1800" dirty="0"/>
          </a:p>
        </p:txBody>
      </p:sp>
      <p:sp>
        <p:nvSpPr>
          <p:cNvPr id="20" name="Text 18"/>
          <p:cNvSpPr txBox="1"/>
          <p:nvPr/>
        </p:nvSpPr>
        <p:spPr>
          <a:xfrm>
            <a:off x="9189720" y="3017520"/>
            <a:ext cx="2423160" cy="548640"/>
          </a:xfrm>
          <a:prstGeom prst="rect">
            <a:avLst/>
          </a:prstGeom>
          <a:noFill/>
          <a:ln/>
        </p:spPr>
        <p:txBody>
          <a:bodyPr wrap="square" lIns="50800" tIns="50800" rIns="50800" bIns="50800" rtlCol="0" anchor="ctr"/>
          <a:lstStyle/>
          <a:p>
            <a:pPr marL="0" indent="0" algn="ctr">
              <a:lnSpc>
                <a:spcPct val="100000"/>
              </a:lnSpc>
              <a:buNone/>
            </a:pPr>
            <a:r>
              <a:rPr lang="en-US" sz="2400" b="1" dirty="0">
                <a:solidFill>
                  <a:srgbClr val="5B6270"/>
                </a:solidFill>
                <a:latin typeface="Courier New" pitchFamily="34" charset="0"/>
                <a:ea typeface="Courier New" pitchFamily="34" charset="-122"/>
                <a:cs typeface="Courier New" pitchFamily="34" charset="-120"/>
              </a:rPr>
              <a:t>…</a:t>
            </a:r>
            <a:endParaRPr lang="en-US" sz="2400" dirty="0"/>
          </a:p>
        </p:txBody>
      </p:sp>
      <p:sp>
        <p:nvSpPr>
          <p:cNvPr id="21" name="Text 19"/>
          <p:cNvSpPr txBox="1"/>
          <p:nvPr/>
        </p:nvSpPr>
        <p:spPr>
          <a:xfrm>
            <a:off x="9189720" y="3730752"/>
            <a:ext cx="2423160" cy="274320"/>
          </a:xfrm>
          <a:prstGeom prst="rect">
            <a:avLst/>
          </a:prstGeom>
          <a:noFill/>
          <a:ln/>
        </p:spPr>
        <p:txBody>
          <a:bodyPr wrap="square" lIns="0" tIns="0" rIns="0" bIns="0" rtlCol="0" anchor="t"/>
          <a:lstStyle/>
          <a:p>
            <a:pPr marL="0" indent="0" algn="ctr">
              <a:lnSpc>
                <a:spcPct val="100000"/>
              </a:lnSpc>
              <a:buNone/>
            </a:pPr>
            <a:r>
              <a:rPr lang="en-US" sz="1200" dirty="0">
                <a:solidFill>
                  <a:srgbClr val="5B6270"/>
                </a:solidFill>
                <a:latin typeface="Times New Roman" pitchFamily="34" charset="0"/>
                <a:ea typeface="Times New Roman" pitchFamily="34" charset="-122"/>
                <a:cs typeface="Times New Roman" pitchFamily="34" charset="-120"/>
              </a:rPr>
              <a:t>30 s</a:t>
            </a:r>
            <a:endParaRPr lang="en-US" sz="1200" dirty="0"/>
          </a:p>
        </p:txBody>
      </p:sp>
      <p:sp>
        <p:nvSpPr>
          <p:cNvPr id="22" name="Shape 20"/>
          <p:cNvSpPr/>
          <p:nvPr/>
        </p:nvSpPr>
        <p:spPr>
          <a:xfrm>
            <a:off x="1645920" y="4041648"/>
            <a:ext cx="7498080" cy="73152"/>
          </a:xfrm>
          <a:prstGeom prst="rect">
            <a:avLst/>
          </a:prstGeom>
          <a:solidFill>
            <a:srgbClr val="D9932B"/>
          </a:solidFill>
          <a:ln/>
        </p:spPr>
        <p:txBody>
          <a:bodyPr/>
          <a:lstStyle/>
          <a:p>
            <a:endParaRPr lang="ru-RU"/>
          </a:p>
        </p:txBody>
      </p:sp>
      <p:sp>
        <p:nvSpPr>
          <p:cNvPr id="23" name="Text 21"/>
          <p:cNvSpPr txBox="1"/>
          <p:nvPr/>
        </p:nvSpPr>
        <p:spPr>
          <a:xfrm>
            <a:off x="1645920" y="4133088"/>
            <a:ext cx="7498080" cy="320040"/>
          </a:xfrm>
          <a:prstGeom prst="rect">
            <a:avLst/>
          </a:prstGeom>
          <a:noFill/>
          <a:ln/>
        </p:spPr>
        <p:txBody>
          <a:bodyPr wrap="square" lIns="0" tIns="0" rIns="0" bIns="0" rtlCol="0" anchor="t"/>
          <a:lstStyle/>
          <a:p>
            <a:pPr marL="0" indent="0" algn="ctr">
              <a:lnSpc>
                <a:spcPct val="100000"/>
              </a:lnSpc>
              <a:buNone/>
            </a:pPr>
            <a:r>
              <a:rPr lang="en-US" sz="1400" dirty="0">
                <a:solidFill>
                  <a:srgbClr val="9A5B00"/>
                </a:solidFill>
                <a:latin typeface="Times New Roman" pitchFamily="34" charset="0"/>
                <a:ea typeface="Times New Roman" pitchFamily="34" charset="-122"/>
                <a:cs typeface="Times New Roman" pitchFamily="34" charset="-120"/>
              </a:rPr>
              <a:t>server qabul qiladigan oyna: soat og'ishiga ruxsat</a:t>
            </a:r>
            <a:endParaRPr lang="en-US" sz="1400" dirty="0"/>
          </a:p>
        </p:txBody>
      </p:sp>
      <p:sp>
        <p:nvSpPr>
          <p:cNvPr id="24" name="Shape 22"/>
          <p:cNvSpPr/>
          <p:nvPr/>
        </p:nvSpPr>
        <p:spPr>
          <a:xfrm>
            <a:off x="548640" y="4617720"/>
            <a:ext cx="3566160" cy="1600200"/>
          </a:xfrm>
          <a:prstGeom prst="roundRect">
            <a:avLst>
              <a:gd name="adj" fmla="val 5143"/>
            </a:avLst>
          </a:prstGeom>
          <a:solidFill>
            <a:srgbClr val="EEF2FB"/>
          </a:solidFill>
          <a:ln/>
        </p:spPr>
        <p:txBody>
          <a:bodyPr/>
          <a:lstStyle/>
          <a:p>
            <a:endParaRPr lang="ru-RU"/>
          </a:p>
        </p:txBody>
      </p:sp>
      <p:sp>
        <p:nvSpPr>
          <p:cNvPr id="25" name="Text 23"/>
          <p:cNvSpPr txBox="1"/>
          <p:nvPr/>
        </p:nvSpPr>
        <p:spPr>
          <a:xfrm>
            <a:off x="777240" y="4709160"/>
            <a:ext cx="3108960" cy="365760"/>
          </a:xfrm>
          <a:prstGeom prst="rect">
            <a:avLst/>
          </a:prstGeom>
          <a:noFill/>
          <a:ln/>
        </p:spPr>
        <p:txBody>
          <a:bodyPr wrap="square" lIns="0" tIns="0" rIns="0" bIns="0" rtlCol="0" anchor="t"/>
          <a:lstStyle/>
          <a:p>
            <a:pPr marL="0" indent="0" algn="l">
              <a:lnSpc>
                <a:spcPct val="100000"/>
              </a:lnSpc>
              <a:buNone/>
            </a:pPr>
            <a:r>
              <a:rPr lang="en-US" sz="1600" b="1" dirty="0">
                <a:solidFill>
                  <a:srgbClr val="1F6B4A"/>
                </a:solidFill>
                <a:latin typeface="Times New Roman" pitchFamily="34" charset="0"/>
                <a:ea typeface="Times New Roman" pitchFamily="34" charset="-122"/>
                <a:cs typeface="Times New Roman" pitchFamily="34" charset="-120"/>
              </a:rPr>
              <a:t>Afzalligi</a:t>
            </a:r>
            <a:endParaRPr lang="en-US" sz="1600" dirty="0"/>
          </a:p>
        </p:txBody>
      </p:sp>
      <p:sp>
        <p:nvSpPr>
          <p:cNvPr id="26" name="Text 24"/>
          <p:cNvSpPr txBox="1"/>
          <p:nvPr/>
        </p:nvSpPr>
        <p:spPr>
          <a:xfrm>
            <a:off x="777240" y="5074920"/>
            <a:ext cx="3108960" cy="1051560"/>
          </a:xfrm>
          <a:prstGeom prst="rect">
            <a:avLst/>
          </a:prstGeom>
          <a:noFill/>
          <a:ln/>
        </p:spPr>
        <p:txBody>
          <a:bodyPr wrap="square" lIns="0" tIns="0" rIns="0" bIns="0" rtlCol="0" anchor="t"/>
          <a:lstStyle/>
          <a:p>
            <a:pPr marL="0" indent="0" algn="l">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Kod o'zi eskiradi; hisoblagich sinxronligi muammosi yo'q; ilova oflayn ishlaydi.</a:t>
            </a:r>
            <a:endParaRPr lang="en-US" sz="1600" dirty="0"/>
          </a:p>
        </p:txBody>
      </p:sp>
      <p:sp>
        <p:nvSpPr>
          <p:cNvPr id="27" name="Shape 25"/>
          <p:cNvSpPr/>
          <p:nvPr/>
        </p:nvSpPr>
        <p:spPr>
          <a:xfrm>
            <a:off x="4297680" y="4617720"/>
            <a:ext cx="3566160" cy="1600200"/>
          </a:xfrm>
          <a:prstGeom prst="roundRect">
            <a:avLst>
              <a:gd name="adj" fmla="val 5143"/>
            </a:avLst>
          </a:prstGeom>
          <a:solidFill>
            <a:srgbClr val="EEF2FB"/>
          </a:solidFill>
          <a:ln/>
        </p:spPr>
        <p:txBody>
          <a:bodyPr/>
          <a:lstStyle/>
          <a:p>
            <a:endParaRPr lang="ru-RU"/>
          </a:p>
        </p:txBody>
      </p:sp>
      <p:sp>
        <p:nvSpPr>
          <p:cNvPr id="28" name="Text 26"/>
          <p:cNvSpPr txBox="1"/>
          <p:nvPr/>
        </p:nvSpPr>
        <p:spPr>
          <a:xfrm>
            <a:off x="4526280" y="4709160"/>
            <a:ext cx="3108960" cy="365760"/>
          </a:xfrm>
          <a:prstGeom prst="rect">
            <a:avLst/>
          </a:prstGeom>
          <a:noFill/>
          <a:ln/>
        </p:spPr>
        <p:txBody>
          <a:bodyPr wrap="square" lIns="0" tIns="0" rIns="0" bIns="0" rtlCol="0" anchor="t"/>
          <a:lstStyle/>
          <a:p>
            <a:pPr marL="0" indent="0" algn="l">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Talab</a:t>
            </a:r>
            <a:endParaRPr lang="en-US" sz="1600" dirty="0"/>
          </a:p>
        </p:txBody>
      </p:sp>
      <p:sp>
        <p:nvSpPr>
          <p:cNvPr id="29" name="Text 27"/>
          <p:cNvSpPr txBox="1"/>
          <p:nvPr/>
        </p:nvSpPr>
        <p:spPr>
          <a:xfrm>
            <a:off x="4526280" y="5074920"/>
            <a:ext cx="3108960" cy="1051560"/>
          </a:xfrm>
          <a:prstGeom prst="rect">
            <a:avLst/>
          </a:prstGeom>
          <a:noFill/>
          <a:ln/>
        </p:spPr>
        <p:txBody>
          <a:bodyPr wrap="square" lIns="0" tIns="0" rIns="0" bIns="0" rtlCol="0" anchor="t"/>
          <a:lstStyle/>
          <a:p>
            <a:pPr marL="0" indent="0" algn="l">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Har bir kod faqat bir marta qabul qilinadi; soatlar NTP bilan sinxron bo'lishi kerak.</a:t>
            </a:r>
            <a:endParaRPr lang="en-US" sz="1600" dirty="0"/>
          </a:p>
        </p:txBody>
      </p:sp>
      <p:sp>
        <p:nvSpPr>
          <p:cNvPr id="30" name="Shape 28"/>
          <p:cNvSpPr/>
          <p:nvPr/>
        </p:nvSpPr>
        <p:spPr>
          <a:xfrm>
            <a:off x="8046720" y="4617720"/>
            <a:ext cx="3566160" cy="1600200"/>
          </a:xfrm>
          <a:prstGeom prst="roundRect">
            <a:avLst>
              <a:gd name="adj" fmla="val 5143"/>
            </a:avLst>
          </a:prstGeom>
          <a:solidFill>
            <a:srgbClr val="CADCFC"/>
          </a:solidFill>
          <a:ln/>
        </p:spPr>
        <p:txBody>
          <a:bodyPr/>
          <a:lstStyle/>
          <a:p>
            <a:endParaRPr lang="ru-RU"/>
          </a:p>
        </p:txBody>
      </p:sp>
      <p:sp>
        <p:nvSpPr>
          <p:cNvPr id="31" name="Text 29"/>
          <p:cNvSpPr txBox="1"/>
          <p:nvPr/>
        </p:nvSpPr>
        <p:spPr>
          <a:xfrm>
            <a:off x="8275320" y="4709160"/>
            <a:ext cx="3108960" cy="365760"/>
          </a:xfrm>
          <a:prstGeom prst="rect">
            <a:avLst/>
          </a:prstGeom>
          <a:noFill/>
          <a:ln/>
        </p:spPr>
        <p:txBody>
          <a:bodyPr wrap="square" lIns="0" tIns="0" rIns="0" bIns="0" rtlCol="0" anchor="t"/>
          <a:lstStyle/>
          <a:p>
            <a:pPr marL="0" indent="0" algn="l">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Test qiymati</a:t>
            </a:r>
            <a:endParaRPr lang="en-US" sz="1600" dirty="0"/>
          </a:p>
        </p:txBody>
      </p:sp>
      <p:sp>
        <p:nvSpPr>
          <p:cNvPr id="32" name="Text 30"/>
          <p:cNvSpPr txBox="1"/>
          <p:nvPr/>
        </p:nvSpPr>
        <p:spPr>
          <a:xfrm>
            <a:off x="8275320" y="5074920"/>
            <a:ext cx="3108960" cy="1051560"/>
          </a:xfrm>
          <a:prstGeom prst="rect">
            <a:avLst/>
          </a:prstGeom>
          <a:noFill/>
          <a:ln/>
        </p:spPr>
        <p:txBody>
          <a:bodyPr wrap="square" lIns="0" tIns="0" rIns="0" bIns="0" rtlCol="0" anchor="t"/>
          <a:lstStyle/>
          <a:p>
            <a:pPr marL="0" indent="0" algn="l">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t = 59 s → T = 1 → 94287082 (8 xona, SHA-1, RFC 6238)</a:t>
            </a:r>
            <a:endParaRPr lang="en-US" sz="1500" dirty="0"/>
          </a:p>
        </p:txBody>
      </p:sp>
      <p:sp>
        <p:nvSpPr>
          <p:cNvPr id="33" name="Text 31"/>
          <p:cNvSpPr txBox="1"/>
          <p:nvPr/>
        </p:nvSpPr>
        <p:spPr>
          <a:xfrm>
            <a:off x="548640" y="6492240"/>
            <a:ext cx="7315200" cy="274320"/>
          </a:xfrm>
          <a:prstGeom prst="rect">
            <a:avLst/>
          </a:prstGeom>
          <a:noFill/>
          <a:ln/>
        </p:spPr>
        <p:txBody>
          <a:bodyPr wrap="square" lIns="0" tIns="0" rIns="0" bIns="0" rtlCol="0" anchor="ctr"/>
          <a:lstStyle/>
          <a:p>
            <a:pPr marL="0" indent="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4-ma'ruza</a:t>
            </a:r>
            <a:endParaRPr lang="en-US" sz="1100" dirty="0"/>
          </a:p>
        </p:txBody>
      </p:sp>
      <p:sp>
        <p:nvSpPr>
          <p:cNvPr id="34" name="Text 32"/>
          <p:cNvSpPr txBox="1"/>
          <p:nvPr/>
        </p:nvSpPr>
        <p:spPr>
          <a:xfrm>
            <a:off x="11155680" y="6492240"/>
            <a:ext cx="457200" cy="274320"/>
          </a:xfrm>
          <a:prstGeom prst="rect">
            <a:avLst/>
          </a:prstGeom>
          <a:noFill/>
          <a:ln/>
        </p:spPr>
        <p:txBody>
          <a:bodyPr wrap="square" lIns="0" tIns="0" rIns="0" bIns="0" rtlCol="0" anchor="ctr"/>
          <a:lstStyle/>
          <a:p>
            <a:pPr marL="0" indent="0" algn="r">
              <a:buNone/>
            </a:pPr>
            <a:r>
              <a:rPr lang="en-US" sz="1100" dirty="0">
                <a:solidFill>
                  <a:srgbClr val="5B6270"/>
                </a:solidFill>
                <a:latin typeface="Times New Roman" pitchFamily="34" charset="0"/>
                <a:ea typeface="Times New Roman" pitchFamily="34" charset="-122"/>
                <a:cs typeface="Times New Roman"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3E2"/>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marL="0" indent="0">
              <a:buNone/>
            </a:pPr>
            <a:r>
              <a:rPr lang="en-US" sz="1600" b="1" kern="0" spc="220" dirty="0">
                <a:solidFill>
                  <a:srgbClr val="D9932B"/>
                </a:solidFill>
                <a:latin typeface="Times New Roman" pitchFamily="34" charset="0"/>
                <a:ea typeface="Times New Roman" pitchFamily="34" charset="-122"/>
                <a:cs typeface="Times New Roman" pitchFamily="34" charset="-120"/>
              </a:rPr>
              <a:t>MINI-VAZIFA · 6 DAQIQA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marL="0" indent="0">
              <a:lnSpc>
                <a:spcPct val="95000"/>
              </a:lnSpc>
              <a:buNone/>
            </a:pPr>
            <a:r>
              <a:rPr lang="en-US" sz="3600" b="1" dirty="0">
                <a:solidFill>
                  <a:srgbClr val="9A5B00"/>
                </a:solidFill>
                <a:latin typeface="Times New Roman" pitchFamily="34" charset="0"/>
                <a:ea typeface="Times New Roman" pitchFamily="34" charset="-122"/>
                <a:cs typeface="Times New Roman" pitchFamily="34" charset="-120"/>
              </a:rPr>
              <a:t>TOTP ni qo'lda hisoblang</a:t>
            </a:r>
            <a:endParaRPr lang="en-US" sz="3600" dirty="0"/>
          </a:p>
        </p:txBody>
      </p:sp>
      <p:sp>
        <p:nvSpPr>
          <p:cNvPr id="4" name="Shape 2"/>
          <p:cNvSpPr/>
          <p:nvPr/>
        </p:nvSpPr>
        <p:spPr>
          <a:xfrm>
            <a:off x="10744200" y="411480"/>
            <a:ext cx="868680" cy="868680"/>
          </a:xfrm>
          <a:prstGeom prst="ellipse">
            <a:avLst/>
          </a:prstGeom>
          <a:solidFill>
            <a:srgbClr val="D9932B"/>
          </a:solidFill>
          <a:ln/>
        </p:spPr>
        <p:txBody>
          <a:bodyPr/>
          <a:lstStyle/>
          <a:p>
            <a:endParaRPr lang="ru-RU"/>
          </a:p>
        </p:txBody>
      </p:sp>
      <p:pic>
        <p:nvPicPr>
          <p:cNvPr id="5" name="Image 0" descr="/home/claude/fob-slides/icons_out/pencil_white.png"/>
          <p:cNvPicPr>
            <a:picLocks noChangeAspect="1"/>
          </p:cNvPicPr>
          <p:nvPr/>
        </p:nvPicPr>
        <p:blipFill>
          <a:blip r:embed="rId3"/>
          <a:stretch>
            <a:fillRect/>
          </a:stretch>
        </p:blipFill>
        <p:spPr>
          <a:xfrm>
            <a:off x="10978744" y="646024"/>
            <a:ext cx="399593" cy="399593"/>
          </a:xfrm>
          <a:prstGeom prst="rect">
            <a:avLst/>
          </a:prstGeom>
        </p:spPr>
      </p:pic>
      <p:sp>
        <p:nvSpPr>
          <p:cNvPr id="6" name="Shape 3"/>
          <p:cNvSpPr/>
          <p:nvPr/>
        </p:nvSpPr>
        <p:spPr>
          <a:xfrm>
            <a:off x="548640" y="1783080"/>
            <a:ext cx="11064240" cy="731520"/>
          </a:xfrm>
          <a:prstGeom prst="roundRect">
            <a:avLst>
              <a:gd name="adj" fmla="val 11250"/>
            </a:avLst>
          </a:prstGeom>
          <a:solidFill>
            <a:srgbClr val="FFFFFF"/>
          </a:solidFill>
          <a:ln/>
        </p:spPr>
        <p:txBody>
          <a:bodyPr/>
          <a:lstStyle/>
          <a:p>
            <a:endParaRPr lang="ru-RU"/>
          </a:p>
        </p:txBody>
      </p:sp>
      <p:sp>
        <p:nvSpPr>
          <p:cNvPr id="7" name="Text 4"/>
          <p:cNvSpPr txBox="1"/>
          <p:nvPr/>
        </p:nvSpPr>
        <p:spPr>
          <a:xfrm>
            <a:off x="868680" y="1783080"/>
            <a:ext cx="10424160" cy="731520"/>
          </a:xfrm>
          <a:prstGeom prst="rect">
            <a:avLst/>
          </a:prstGeom>
          <a:noFill/>
          <a:ln/>
        </p:spPr>
        <p:txBody>
          <a:bodyPr wrap="square" lIns="0" tIns="0" rIns="0" bIns="0" rtlCol="0" anchor="ctr"/>
          <a:lstStyle/>
          <a:p>
            <a:pPr marL="0" indent="0">
              <a:buNone/>
            </a:pPr>
            <a:r>
              <a:rPr lang="en-US" sz="1800" dirty="0">
                <a:solidFill>
                  <a:srgbClr val="1B1B2A"/>
                </a:solidFill>
                <a:latin typeface="Times New Roman" pitchFamily="34" charset="0"/>
                <a:ea typeface="Times New Roman" pitchFamily="34" charset="-122"/>
                <a:cs typeface="Times New Roman" pitchFamily="34" charset="-120"/>
              </a:rPr>
              <a:t>Berilgan: Unix vaqt t = </a:t>
            </a:r>
            <a:r>
              <a:rPr lang="en-US" sz="1800" b="1" dirty="0">
                <a:solidFill>
                  <a:srgbClr val="9A5B00"/>
                </a:solidFill>
                <a:latin typeface="Courier New" pitchFamily="34" charset="0"/>
                <a:ea typeface="Courier New" pitchFamily="34" charset="-122"/>
                <a:cs typeface="Courier New" pitchFamily="34" charset="-120"/>
              </a:rPr>
              <a:t>1111111109</a:t>
            </a:r>
            <a:r>
              <a:rPr lang="en-US" sz="1800" dirty="0">
                <a:solidFill>
                  <a:srgbClr val="1B1B2A"/>
                </a:solidFill>
                <a:latin typeface="Times New Roman" pitchFamily="34" charset="0"/>
                <a:ea typeface="Times New Roman" pitchFamily="34" charset="-122"/>
                <a:cs typeface="Times New Roman" pitchFamily="34" charset="-120"/>
              </a:rPr>
              <a:t> s,  X = 30 s,  T₀ = 0,  server ±1 qadamni qabul qiladi.</a:t>
            </a:r>
            <a:endParaRPr lang="en-US" sz="1800" dirty="0"/>
          </a:p>
        </p:txBody>
      </p:sp>
      <p:sp>
        <p:nvSpPr>
          <p:cNvPr id="8" name="Shape 5"/>
          <p:cNvSpPr/>
          <p:nvPr/>
        </p:nvSpPr>
        <p:spPr>
          <a:xfrm>
            <a:off x="548640" y="2697480"/>
            <a:ext cx="11064240" cy="731520"/>
          </a:xfrm>
          <a:prstGeom prst="roundRect">
            <a:avLst>
              <a:gd name="adj" fmla="val 11250"/>
            </a:avLst>
          </a:prstGeom>
          <a:solidFill>
            <a:srgbClr val="FFFFFF"/>
          </a:solidFill>
          <a:ln/>
        </p:spPr>
        <p:txBody>
          <a:bodyPr/>
          <a:lstStyle/>
          <a:p>
            <a:endParaRPr lang="ru-RU"/>
          </a:p>
        </p:txBody>
      </p:sp>
      <p:sp>
        <p:nvSpPr>
          <p:cNvPr id="9" name="Shape 6"/>
          <p:cNvSpPr/>
          <p:nvPr/>
        </p:nvSpPr>
        <p:spPr>
          <a:xfrm>
            <a:off x="548640" y="2697480"/>
            <a:ext cx="685800" cy="731520"/>
          </a:xfrm>
          <a:prstGeom prst="roundRect">
            <a:avLst>
              <a:gd name="adj" fmla="val 12000"/>
            </a:avLst>
          </a:prstGeom>
          <a:solidFill>
            <a:srgbClr val="D9932B"/>
          </a:solidFill>
          <a:ln/>
        </p:spPr>
        <p:txBody>
          <a:bodyPr/>
          <a:lstStyle/>
          <a:p>
            <a:endParaRPr lang="ru-RU"/>
          </a:p>
        </p:txBody>
      </p:sp>
      <p:sp>
        <p:nvSpPr>
          <p:cNvPr id="10" name="Text 7"/>
          <p:cNvSpPr txBox="1"/>
          <p:nvPr/>
        </p:nvSpPr>
        <p:spPr>
          <a:xfrm>
            <a:off x="548640" y="2697480"/>
            <a:ext cx="685800" cy="731520"/>
          </a:xfrm>
          <a:prstGeom prst="rect">
            <a:avLst/>
          </a:prstGeom>
          <a:noFill/>
          <a:ln/>
        </p:spPr>
        <p:txBody>
          <a:bodyPr wrap="square" lIns="50800" tIns="50800" rIns="50800" bIns="50800" rtlCol="0" anchor="ctr"/>
          <a:lstStyle/>
          <a:p>
            <a:pPr marL="0" indent="0" algn="ctr">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a</a:t>
            </a:r>
            <a:endParaRPr lang="en-US" sz="1800" dirty="0"/>
          </a:p>
        </p:txBody>
      </p:sp>
      <p:sp>
        <p:nvSpPr>
          <p:cNvPr id="11" name="Text 8"/>
          <p:cNvSpPr txBox="1"/>
          <p:nvPr/>
        </p:nvSpPr>
        <p:spPr>
          <a:xfrm>
            <a:off x="1417320" y="2697480"/>
            <a:ext cx="8412480" cy="731520"/>
          </a:xfrm>
          <a:prstGeom prst="rect">
            <a:avLst/>
          </a:prstGeom>
          <a:noFill/>
          <a:ln/>
        </p:spPr>
        <p:txBody>
          <a:bodyPr wrap="square" lIns="0" tIns="0" rIns="0" bIns="0" rtlCol="0" anchor="ctr"/>
          <a:lstStyle/>
          <a:p>
            <a:pPr marL="0" indent="0" algn="l">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T qiymatini hisoblang.</a:t>
            </a:r>
            <a:endParaRPr lang="en-US" sz="1700" dirty="0"/>
          </a:p>
        </p:txBody>
      </p:sp>
      <p:sp>
        <p:nvSpPr>
          <p:cNvPr id="12" name="Shape 9"/>
          <p:cNvSpPr/>
          <p:nvPr/>
        </p:nvSpPr>
        <p:spPr>
          <a:xfrm>
            <a:off x="10012680" y="2816352"/>
            <a:ext cx="1417320" cy="493776"/>
          </a:xfrm>
          <a:prstGeom prst="roundRect">
            <a:avLst>
              <a:gd name="adj" fmla="val 16667"/>
            </a:avLst>
          </a:prstGeom>
          <a:solidFill>
            <a:srgbClr val="FDF3E2"/>
          </a:solidFill>
          <a:ln w="12700">
            <a:solidFill>
              <a:srgbClr val="D9932B"/>
            </a:solidFill>
            <a:prstDash val="solid"/>
          </a:ln>
        </p:spPr>
        <p:txBody>
          <a:bodyPr/>
          <a:lstStyle/>
          <a:p>
            <a:endParaRPr lang="ru-RU"/>
          </a:p>
        </p:txBody>
      </p:sp>
      <p:sp>
        <p:nvSpPr>
          <p:cNvPr id="13" name="Text 10"/>
          <p:cNvSpPr txBox="1"/>
          <p:nvPr/>
        </p:nvSpPr>
        <p:spPr>
          <a:xfrm>
            <a:off x="10012680" y="2816352"/>
            <a:ext cx="1417320" cy="493776"/>
          </a:xfrm>
          <a:prstGeom prst="rect">
            <a:avLst/>
          </a:prstGeom>
          <a:noFill/>
          <a:ln/>
        </p:spPr>
        <p:txBody>
          <a:bodyPr wrap="square" lIns="50800" tIns="50800" rIns="50800" bIns="50800" rtlCol="0" anchor="ctr"/>
          <a:lstStyle/>
          <a:p>
            <a:pPr marL="0" indent="0" algn="ctr">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a:t>
            </a:r>
            <a:endParaRPr lang="en-US" sz="1600" dirty="0"/>
          </a:p>
        </p:txBody>
      </p:sp>
      <p:sp>
        <p:nvSpPr>
          <p:cNvPr id="14" name="Shape 11"/>
          <p:cNvSpPr/>
          <p:nvPr/>
        </p:nvSpPr>
        <p:spPr>
          <a:xfrm>
            <a:off x="548640" y="3547872"/>
            <a:ext cx="11064240" cy="731520"/>
          </a:xfrm>
          <a:prstGeom prst="roundRect">
            <a:avLst>
              <a:gd name="adj" fmla="val 11250"/>
            </a:avLst>
          </a:prstGeom>
          <a:solidFill>
            <a:srgbClr val="FFFFFF"/>
          </a:solidFill>
          <a:ln/>
        </p:spPr>
        <p:txBody>
          <a:bodyPr/>
          <a:lstStyle/>
          <a:p>
            <a:endParaRPr lang="ru-RU"/>
          </a:p>
        </p:txBody>
      </p:sp>
      <p:sp>
        <p:nvSpPr>
          <p:cNvPr id="15" name="Shape 12"/>
          <p:cNvSpPr/>
          <p:nvPr/>
        </p:nvSpPr>
        <p:spPr>
          <a:xfrm>
            <a:off x="548640" y="3547872"/>
            <a:ext cx="685800" cy="731520"/>
          </a:xfrm>
          <a:prstGeom prst="roundRect">
            <a:avLst>
              <a:gd name="adj" fmla="val 12000"/>
            </a:avLst>
          </a:prstGeom>
          <a:solidFill>
            <a:srgbClr val="D9932B"/>
          </a:solidFill>
          <a:ln/>
        </p:spPr>
        <p:txBody>
          <a:bodyPr/>
          <a:lstStyle/>
          <a:p>
            <a:endParaRPr lang="ru-RU"/>
          </a:p>
        </p:txBody>
      </p:sp>
      <p:sp>
        <p:nvSpPr>
          <p:cNvPr id="16" name="Text 13"/>
          <p:cNvSpPr txBox="1"/>
          <p:nvPr/>
        </p:nvSpPr>
        <p:spPr>
          <a:xfrm>
            <a:off x="548640" y="3547872"/>
            <a:ext cx="685800" cy="731520"/>
          </a:xfrm>
          <a:prstGeom prst="rect">
            <a:avLst/>
          </a:prstGeom>
          <a:noFill/>
          <a:ln/>
        </p:spPr>
        <p:txBody>
          <a:bodyPr wrap="square" lIns="50800" tIns="50800" rIns="50800" bIns="50800" rtlCol="0" anchor="ctr"/>
          <a:lstStyle/>
          <a:p>
            <a:pPr marL="0" indent="0" algn="ctr">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b</a:t>
            </a:r>
            <a:endParaRPr lang="en-US" sz="1800" dirty="0"/>
          </a:p>
        </p:txBody>
      </p:sp>
      <p:sp>
        <p:nvSpPr>
          <p:cNvPr id="17" name="Text 14"/>
          <p:cNvSpPr txBox="1"/>
          <p:nvPr/>
        </p:nvSpPr>
        <p:spPr>
          <a:xfrm>
            <a:off x="1417320" y="3547872"/>
            <a:ext cx="8412480" cy="731520"/>
          </a:xfrm>
          <a:prstGeom prst="rect">
            <a:avLst/>
          </a:prstGeom>
          <a:noFill/>
          <a:ln/>
        </p:spPr>
        <p:txBody>
          <a:bodyPr wrap="square" lIns="0" tIns="0" rIns="0" bIns="0" rtlCol="0" anchor="ctr"/>
          <a:lstStyle/>
          <a:p>
            <a:pPr marL="0" indent="0" algn="l">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Joriy kod necha soniyadan keyin almashadi?</a:t>
            </a:r>
            <a:endParaRPr lang="en-US" sz="1700" dirty="0"/>
          </a:p>
        </p:txBody>
      </p:sp>
      <p:sp>
        <p:nvSpPr>
          <p:cNvPr id="18" name="Shape 15"/>
          <p:cNvSpPr/>
          <p:nvPr/>
        </p:nvSpPr>
        <p:spPr>
          <a:xfrm>
            <a:off x="10012680" y="3666744"/>
            <a:ext cx="1417320" cy="493776"/>
          </a:xfrm>
          <a:prstGeom prst="roundRect">
            <a:avLst>
              <a:gd name="adj" fmla="val 16667"/>
            </a:avLst>
          </a:prstGeom>
          <a:solidFill>
            <a:srgbClr val="FDF3E2"/>
          </a:solidFill>
          <a:ln w="12700">
            <a:solidFill>
              <a:srgbClr val="D9932B"/>
            </a:solidFill>
            <a:prstDash val="solid"/>
          </a:ln>
        </p:spPr>
        <p:txBody>
          <a:bodyPr/>
          <a:lstStyle/>
          <a:p>
            <a:endParaRPr lang="ru-RU"/>
          </a:p>
        </p:txBody>
      </p:sp>
      <p:sp>
        <p:nvSpPr>
          <p:cNvPr id="19" name="Text 16"/>
          <p:cNvSpPr txBox="1"/>
          <p:nvPr/>
        </p:nvSpPr>
        <p:spPr>
          <a:xfrm>
            <a:off x="10012680" y="3666744"/>
            <a:ext cx="1417320" cy="493776"/>
          </a:xfrm>
          <a:prstGeom prst="rect">
            <a:avLst/>
          </a:prstGeom>
          <a:noFill/>
          <a:ln/>
        </p:spPr>
        <p:txBody>
          <a:bodyPr wrap="square" lIns="50800" tIns="50800" rIns="50800" bIns="50800" rtlCol="0" anchor="ctr"/>
          <a:lstStyle/>
          <a:p>
            <a:pPr marL="0" indent="0" algn="ctr">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a:t>
            </a:r>
            <a:endParaRPr lang="en-US" sz="1600" dirty="0"/>
          </a:p>
        </p:txBody>
      </p:sp>
      <p:sp>
        <p:nvSpPr>
          <p:cNvPr id="20" name="Shape 17"/>
          <p:cNvSpPr/>
          <p:nvPr/>
        </p:nvSpPr>
        <p:spPr>
          <a:xfrm>
            <a:off x="548640" y="4398264"/>
            <a:ext cx="11064240" cy="731520"/>
          </a:xfrm>
          <a:prstGeom prst="roundRect">
            <a:avLst>
              <a:gd name="adj" fmla="val 11250"/>
            </a:avLst>
          </a:prstGeom>
          <a:solidFill>
            <a:srgbClr val="FFFFFF"/>
          </a:solidFill>
          <a:ln/>
        </p:spPr>
        <p:txBody>
          <a:bodyPr/>
          <a:lstStyle/>
          <a:p>
            <a:endParaRPr lang="ru-RU"/>
          </a:p>
        </p:txBody>
      </p:sp>
      <p:sp>
        <p:nvSpPr>
          <p:cNvPr id="21" name="Shape 18"/>
          <p:cNvSpPr/>
          <p:nvPr/>
        </p:nvSpPr>
        <p:spPr>
          <a:xfrm>
            <a:off x="548640" y="4398264"/>
            <a:ext cx="685800" cy="731520"/>
          </a:xfrm>
          <a:prstGeom prst="roundRect">
            <a:avLst>
              <a:gd name="adj" fmla="val 12000"/>
            </a:avLst>
          </a:prstGeom>
          <a:solidFill>
            <a:srgbClr val="D9932B"/>
          </a:solidFill>
          <a:ln/>
        </p:spPr>
        <p:txBody>
          <a:bodyPr/>
          <a:lstStyle/>
          <a:p>
            <a:endParaRPr lang="ru-RU"/>
          </a:p>
        </p:txBody>
      </p:sp>
      <p:sp>
        <p:nvSpPr>
          <p:cNvPr id="22" name="Text 19"/>
          <p:cNvSpPr txBox="1"/>
          <p:nvPr/>
        </p:nvSpPr>
        <p:spPr>
          <a:xfrm>
            <a:off x="548640" y="4398264"/>
            <a:ext cx="685800" cy="731520"/>
          </a:xfrm>
          <a:prstGeom prst="rect">
            <a:avLst/>
          </a:prstGeom>
          <a:noFill/>
          <a:ln/>
        </p:spPr>
        <p:txBody>
          <a:bodyPr wrap="square" lIns="50800" tIns="50800" rIns="50800" bIns="50800" rtlCol="0" anchor="ctr"/>
          <a:lstStyle/>
          <a:p>
            <a:pPr marL="0" indent="0" algn="ctr">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c</a:t>
            </a:r>
            <a:endParaRPr lang="en-US" sz="1800" dirty="0"/>
          </a:p>
        </p:txBody>
      </p:sp>
      <p:sp>
        <p:nvSpPr>
          <p:cNvPr id="23" name="Text 20"/>
          <p:cNvSpPr txBox="1"/>
          <p:nvPr/>
        </p:nvSpPr>
        <p:spPr>
          <a:xfrm>
            <a:off x="1417320" y="4398264"/>
            <a:ext cx="8412480" cy="731520"/>
          </a:xfrm>
          <a:prstGeom prst="rect">
            <a:avLst/>
          </a:prstGeom>
          <a:noFill/>
          <a:ln/>
        </p:spPr>
        <p:txBody>
          <a:bodyPr wrap="square" lIns="0" tIns="0" rIns="0" bIns="0" rtlCol="0" anchor="ctr"/>
          <a:lstStyle/>
          <a:p>
            <a:pPr marL="0" indent="0" algn="l">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Tutib olingan kod eng ko'pi bilan necha soniya yaroqli bo'lishi mumkin?</a:t>
            </a:r>
            <a:endParaRPr lang="en-US" sz="1700" dirty="0"/>
          </a:p>
        </p:txBody>
      </p:sp>
      <p:sp>
        <p:nvSpPr>
          <p:cNvPr id="24" name="Shape 21"/>
          <p:cNvSpPr/>
          <p:nvPr/>
        </p:nvSpPr>
        <p:spPr>
          <a:xfrm>
            <a:off x="10012680" y="4517136"/>
            <a:ext cx="1417320" cy="493776"/>
          </a:xfrm>
          <a:prstGeom prst="roundRect">
            <a:avLst>
              <a:gd name="adj" fmla="val 16667"/>
            </a:avLst>
          </a:prstGeom>
          <a:solidFill>
            <a:srgbClr val="FDF3E2"/>
          </a:solidFill>
          <a:ln w="12700">
            <a:solidFill>
              <a:srgbClr val="D9932B"/>
            </a:solidFill>
            <a:prstDash val="solid"/>
          </a:ln>
        </p:spPr>
        <p:txBody>
          <a:bodyPr/>
          <a:lstStyle/>
          <a:p>
            <a:endParaRPr lang="ru-RU"/>
          </a:p>
        </p:txBody>
      </p:sp>
      <p:sp>
        <p:nvSpPr>
          <p:cNvPr id="25" name="Text 22"/>
          <p:cNvSpPr txBox="1"/>
          <p:nvPr/>
        </p:nvSpPr>
        <p:spPr>
          <a:xfrm>
            <a:off x="10012680" y="4517136"/>
            <a:ext cx="1417320" cy="493776"/>
          </a:xfrm>
          <a:prstGeom prst="rect">
            <a:avLst/>
          </a:prstGeom>
          <a:noFill/>
          <a:ln/>
        </p:spPr>
        <p:txBody>
          <a:bodyPr wrap="square" lIns="50800" tIns="50800" rIns="50800" bIns="50800" rtlCol="0" anchor="ctr"/>
          <a:lstStyle/>
          <a:p>
            <a:pPr marL="0" indent="0" algn="ctr">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a:t>
            </a:r>
            <a:endParaRPr lang="en-US" sz="1600" dirty="0"/>
          </a:p>
        </p:txBody>
      </p:sp>
      <p:sp>
        <p:nvSpPr>
          <p:cNvPr id="26" name="Shape 23"/>
          <p:cNvSpPr/>
          <p:nvPr/>
        </p:nvSpPr>
        <p:spPr>
          <a:xfrm>
            <a:off x="548640" y="5248656"/>
            <a:ext cx="11064240" cy="731520"/>
          </a:xfrm>
          <a:prstGeom prst="roundRect">
            <a:avLst>
              <a:gd name="adj" fmla="val 11250"/>
            </a:avLst>
          </a:prstGeom>
          <a:solidFill>
            <a:srgbClr val="FFFFFF"/>
          </a:solidFill>
          <a:ln/>
        </p:spPr>
        <p:txBody>
          <a:bodyPr/>
          <a:lstStyle/>
          <a:p>
            <a:endParaRPr lang="ru-RU"/>
          </a:p>
        </p:txBody>
      </p:sp>
      <p:sp>
        <p:nvSpPr>
          <p:cNvPr id="27" name="Shape 24"/>
          <p:cNvSpPr/>
          <p:nvPr/>
        </p:nvSpPr>
        <p:spPr>
          <a:xfrm>
            <a:off x="548640" y="5248656"/>
            <a:ext cx="685800" cy="731520"/>
          </a:xfrm>
          <a:prstGeom prst="roundRect">
            <a:avLst>
              <a:gd name="adj" fmla="val 12000"/>
            </a:avLst>
          </a:prstGeom>
          <a:solidFill>
            <a:srgbClr val="D9932B"/>
          </a:solidFill>
          <a:ln/>
        </p:spPr>
        <p:txBody>
          <a:bodyPr/>
          <a:lstStyle/>
          <a:p>
            <a:endParaRPr lang="ru-RU"/>
          </a:p>
        </p:txBody>
      </p:sp>
      <p:sp>
        <p:nvSpPr>
          <p:cNvPr id="28" name="Text 25"/>
          <p:cNvSpPr txBox="1"/>
          <p:nvPr/>
        </p:nvSpPr>
        <p:spPr>
          <a:xfrm>
            <a:off x="548640" y="5248656"/>
            <a:ext cx="685800" cy="731520"/>
          </a:xfrm>
          <a:prstGeom prst="rect">
            <a:avLst/>
          </a:prstGeom>
          <a:noFill/>
          <a:ln/>
        </p:spPr>
        <p:txBody>
          <a:bodyPr wrap="square" lIns="50800" tIns="50800" rIns="50800" bIns="50800" rtlCol="0" anchor="ctr"/>
          <a:lstStyle/>
          <a:p>
            <a:pPr marL="0" indent="0" algn="ctr">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d</a:t>
            </a:r>
            <a:endParaRPr lang="en-US" sz="1800" dirty="0"/>
          </a:p>
        </p:txBody>
      </p:sp>
      <p:sp>
        <p:nvSpPr>
          <p:cNvPr id="29" name="Text 26"/>
          <p:cNvSpPr txBox="1"/>
          <p:nvPr/>
        </p:nvSpPr>
        <p:spPr>
          <a:xfrm>
            <a:off x="1417320" y="5248656"/>
            <a:ext cx="8412480" cy="731520"/>
          </a:xfrm>
          <a:prstGeom prst="rect">
            <a:avLst/>
          </a:prstGeom>
          <a:noFill/>
          <a:ln/>
        </p:spPr>
        <p:txBody>
          <a:bodyPr wrap="square" lIns="0" tIns="0" rIns="0" bIns="0" rtlCol="0" anchor="ctr"/>
          <a:lstStyle/>
          <a:p>
            <a:pPr marL="0" indent="0" algn="l">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6 xonali kodni bitta urinishda topish ehtimoli qancha? Nega urinishlar cheklanadi?</a:t>
            </a:r>
            <a:endParaRPr lang="en-US" sz="1700" dirty="0"/>
          </a:p>
        </p:txBody>
      </p:sp>
      <p:sp>
        <p:nvSpPr>
          <p:cNvPr id="30" name="Shape 27"/>
          <p:cNvSpPr/>
          <p:nvPr/>
        </p:nvSpPr>
        <p:spPr>
          <a:xfrm>
            <a:off x="10012680" y="5367528"/>
            <a:ext cx="1417320" cy="493776"/>
          </a:xfrm>
          <a:prstGeom prst="roundRect">
            <a:avLst>
              <a:gd name="adj" fmla="val 16667"/>
            </a:avLst>
          </a:prstGeom>
          <a:solidFill>
            <a:srgbClr val="FDF3E2"/>
          </a:solidFill>
          <a:ln w="12700">
            <a:solidFill>
              <a:srgbClr val="D9932B"/>
            </a:solidFill>
            <a:prstDash val="solid"/>
          </a:ln>
        </p:spPr>
        <p:txBody>
          <a:bodyPr/>
          <a:lstStyle/>
          <a:p>
            <a:endParaRPr lang="ru-RU"/>
          </a:p>
        </p:txBody>
      </p:sp>
      <p:sp>
        <p:nvSpPr>
          <p:cNvPr id="31" name="Text 28"/>
          <p:cNvSpPr txBox="1"/>
          <p:nvPr/>
        </p:nvSpPr>
        <p:spPr>
          <a:xfrm>
            <a:off x="10012680" y="5367528"/>
            <a:ext cx="1417320" cy="493776"/>
          </a:xfrm>
          <a:prstGeom prst="rect">
            <a:avLst/>
          </a:prstGeom>
          <a:noFill/>
          <a:ln/>
        </p:spPr>
        <p:txBody>
          <a:bodyPr wrap="square" lIns="50800" tIns="50800" rIns="50800" bIns="50800" rtlCol="0" anchor="ctr"/>
          <a:lstStyle/>
          <a:p>
            <a:pPr marL="0" indent="0" algn="ctr">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a:t>
            </a:r>
            <a:endParaRPr lang="en-US" sz="1600" dirty="0"/>
          </a:p>
        </p:txBody>
      </p:sp>
      <p:sp>
        <p:nvSpPr>
          <p:cNvPr id="32" name="Text 29"/>
          <p:cNvSpPr txBox="1"/>
          <p:nvPr/>
        </p:nvSpPr>
        <p:spPr>
          <a:xfrm>
            <a:off x="548640" y="6492240"/>
            <a:ext cx="7315200" cy="274320"/>
          </a:xfrm>
          <a:prstGeom prst="rect">
            <a:avLst/>
          </a:prstGeom>
          <a:noFill/>
          <a:ln/>
        </p:spPr>
        <p:txBody>
          <a:bodyPr wrap="square" lIns="0" tIns="0" rIns="0" bIns="0" rtlCol="0" anchor="ctr"/>
          <a:lstStyle/>
          <a:p>
            <a:pPr marL="0" indent="0">
              <a:buNone/>
            </a:pPr>
            <a:r>
              <a:rPr lang="en-US" sz="1100" dirty="0">
                <a:solidFill>
                  <a:srgbClr val="9A5B00"/>
                </a:solidFill>
                <a:latin typeface="Times New Roman" pitchFamily="34" charset="0"/>
                <a:ea typeface="Times New Roman" pitchFamily="34" charset="-122"/>
                <a:cs typeface="Times New Roman" pitchFamily="34" charset="-120"/>
              </a:rPr>
              <a:t>Foydalanishlarni boshqarish  ·  4-ma'ruza</a:t>
            </a:r>
            <a:endParaRPr lang="en-US" sz="1100" dirty="0"/>
          </a:p>
        </p:txBody>
      </p:sp>
      <p:sp>
        <p:nvSpPr>
          <p:cNvPr id="33" name="Text 30"/>
          <p:cNvSpPr txBox="1"/>
          <p:nvPr/>
        </p:nvSpPr>
        <p:spPr>
          <a:xfrm>
            <a:off x="11155680" y="6492240"/>
            <a:ext cx="457200" cy="274320"/>
          </a:xfrm>
          <a:prstGeom prst="rect">
            <a:avLst/>
          </a:prstGeom>
          <a:noFill/>
          <a:ln/>
        </p:spPr>
        <p:txBody>
          <a:bodyPr wrap="square" lIns="0" tIns="0" rIns="0" bIns="0" rtlCol="0" anchor="ctr"/>
          <a:lstStyle/>
          <a:p>
            <a:pPr marL="0" indent="0" algn="r">
              <a:buNone/>
            </a:pPr>
            <a:r>
              <a:rPr lang="en-US" sz="1100" dirty="0">
                <a:solidFill>
                  <a:srgbClr val="9A5B00"/>
                </a:solidFill>
                <a:latin typeface="Times New Roman" pitchFamily="34" charset="0"/>
                <a:ea typeface="Times New Roman" pitchFamily="34" charset="-122"/>
                <a:cs typeface="Times New Roman"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marL="0" indent="0">
              <a:buNone/>
            </a:pPr>
            <a:r>
              <a:rPr lang="en-US" sz="1600" b="1" kern="0" spc="220" dirty="0">
                <a:solidFill>
                  <a:srgbClr val="5B6270"/>
                </a:solidFill>
                <a:latin typeface="Times New Roman" pitchFamily="34" charset="0"/>
                <a:ea typeface="Times New Roman" pitchFamily="34" charset="-122"/>
                <a:cs typeface="Times New Roman" pitchFamily="34" charset="-120"/>
              </a:rPr>
              <a:t>RO'YXATDAN O'TISH</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marL="0" indent="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Kalit qanday uzatiladi va qanday saqlanadi?</a:t>
            </a:r>
            <a:endParaRPr lang="en-US" sz="3600" dirty="0"/>
          </a:p>
        </p:txBody>
      </p:sp>
      <p:sp>
        <p:nvSpPr>
          <p:cNvPr id="4" name="Shape 2"/>
          <p:cNvSpPr/>
          <p:nvPr/>
        </p:nvSpPr>
        <p:spPr>
          <a:xfrm>
            <a:off x="548640" y="1801368"/>
            <a:ext cx="457200" cy="457200"/>
          </a:xfrm>
          <a:prstGeom prst="ellipse">
            <a:avLst/>
          </a:prstGeom>
          <a:solidFill>
            <a:srgbClr val="1E2761"/>
          </a:solidFill>
          <a:ln/>
        </p:spPr>
        <p:txBody>
          <a:bodyPr/>
          <a:lstStyle/>
          <a:p>
            <a:endParaRPr lang="ru-RU"/>
          </a:p>
        </p:txBody>
      </p:sp>
      <p:sp>
        <p:nvSpPr>
          <p:cNvPr id="5" name="Text 3"/>
          <p:cNvSpPr txBox="1"/>
          <p:nvPr/>
        </p:nvSpPr>
        <p:spPr>
          <a:xfrm>
            <a:off x="548640" y="1801368"/>
            <a:ext cx="457200" cy="457200"/>
          </a:xfrm>
          <a:prstGeom prst="rect">
            <a:avLst/>
          </a:prstGeom>
          <a:noFill/>
          <a:ln/>
        </p:spPr>
        <p:txBody>
          <a:bodyPr wrap="square" lIns="0" tIns="0" rIns="0" bIns="0" rtlCol="0" anchor="ctr"/>
          <a:lstStyle/>
          <a:p>
            <a:pPr marL="0" indent="0" algn="ctr">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1</a:t>
            </a:r>
            <a:endParaRPr lang="en-US" sz="1400" dirty="0"/>
          </a:p>
        </p:txBody>
      </p:sp>
      <p:sp>
        <p:nvSpPr>
          <p:cNvPr id="6" name="Text 4"/>
          <p:cNvSpPr txBox="1"/>
          <p:nvPr/>
        </p:nvSpPr>
        <p:spPr>
          <a:xfrm>
            <a:off x="1188720" y="1737360"/>
            <a:ext cx="4206240" cy="585216"/>
          </a:xfrm>
          <a:prstGeom prst="rect">
            <a:avLst/>
          </a:prstGeom>
          <a:noFill/>
          <a:ln/>
        </p:spPr>
        <p:txBody>
          <a:bodyPr wrap="square" lIns="0" tIns="0" rIns="0" bIns="0" rtlCol="0" anchor="ctr"/>
          <a:lstStyle/>
          <a:p>
            <a:pPr marL="0" indent="0" algn="l">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Server tasodifiy K yaratadi (160 bit)</a:t>
            </a:r>
            <a:endParaRPr lang="en-US" sz="1600" dirty="0"/>
          </a:p>
        </p:txBody>
      </p:sp>
      <p:sp>
        <p:nvSpPr>
          <p:cNvPr id="7" name="Shape 5"/>
          <p:cNvSpPr/>
          <p:nvPr/>
        </p:nvSpPr>
        <p:spPr>
          <a:xfrm>
            <a:off x="548640" y="2386584"/>
            <a:ext cx="457200" cy="457200"/>
          </a:xfrm>
          <a:prstGeom prst="ellipse">
            <a:avLst/>
          </a:prstGeom>
          <a:solidFill>
            <a:srgbClr val="1E2761"/>
          </a:solidFill>
          <a:ln/>
        </p:spPr>
        <p:txBody>
          <a:bodyPr/>
          <a:lstStyle/>
          <a:p>
            <a:endParaRPr lang="ru-RU"/>
          </a:p>
        </p:txBody>
      </p:sp>
      <p:sp>
        <p:nvSpPr>
          <p:cNvPr id="8" name="Text 6"/>
          <p:cNvSpPr txBox="1"/>
          <p:nvPr/>
        </p:nvSpPr>
        <p:spPr>
          <a:xfrm>
            <a:off x="548640" y="2386584"/>
            <a:ext cx="457200" cy="457200"/>
          </a:xfrm>
          <a:prstGeom prst="rect">
            <a:avLst/>
          </a:prstGeom>
          <a:noFill/>
          <a:ln/>
        </p:spPr>
        <p:txBody>
          <a:bodyPr wrap="square" lIns="0" tIns="0" rIns="0" bIns="0" rtlCol="0" anchor="ctr"/>
          <a:lstStyle/>
          <a:p>
            <a:pPr marL="0" indent="0" algn="ctr">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2</a:t>
            </a:r>
            <a:endParaRPr lang="en-US" sz="1400" dirty="0"/>
          </a:p>
        </p:txBody>
      </p:sp>
      <p:sp>
        <p:nvSpPr>
          <p:cNvPr id="9" name="Text 7"/>
          <p:cNvSpPr txBox="1"/>
          <p:nvPr/>
        </p:nvSpPr>
        <p:spPr>
          <a:xfrm>
            <a:off x="1188720" y="2322576"/>
            <a:ext cx="4206240" cy="585216"/>
          </a:xfrm>
          <a:prstGeom prst="rect">
            <a:avLst/>
          </a:prstGeom>
          <a:noFill/>
          <a:ln/>
        </p:spPr>
        <p:txBody>
          <a:bodyPr wrap="square" lIns="0" tIns="0" rIns="0" bIns="0" rtlCol="0" anchor="ctr"/>
          <a:lstStyle/>
          <a:p>
            <a:pPr marL="0" indent="0" algn="l">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K ni QR kod ko'rinishida ko'rsatadi</a:t>
            </a:r>
            <a:endParaRPr lang="en-US" sz="1600" dirty="0"/>
          </a:p>
        </p:txBody>
      </p:sp>
      <p:sp>
        <p:nvSpPr>
          <p:cNvPr id="10" name="Shape 8"/>
          <p:cNvSpPr/>
          <p:nvPr/>
        </p:nvSpPr>
        <p:spPr>
          <a:xfrm>
            <a:off x="548640" y="2971800"/>
            <a:ext cx="457200" cy="457200"/>
          </a:xfrm>
          <a:prstGeom prst="ellipse">
            <a:avLst/>
          </a:prstGeom>
          <a:solidFill>
            <a:srgbClr val="1E2761"/>
          </a:solidFill>
          <a:ln/>
        </p:spPr>
        <p:txBody>
          <a:bodyPr/>
          <a:lstStyle/>
          <a:p>
            <a:endParaRPr lang="ru-RU"/>
          </a:p>
        </p:txBody>
      </p:sp>
      <p:sp>
        <p:nvSpPr>
          <p:cNvPr id="11" name="Text 9"/>
          <p:cNvSpPr txBox="1"/>
          <p:nvPr/>
        </p:nvSpPr>
        <p:spPr>
          <a:xfrm>
            <a:off x="548640" y="2971800"/>
            <a:ext cx="457200" cy="457200"/>
          </a:xfrm>
          <a:prstGeom prst="rect">
            <a:avLst/>
          </a:prstGeom>
          <a:noFill/>
          <a:ln/>
        </p:spPr>
        <p:txBody>
          <a:bodyPr wrap="square" lIns="0" tIns="0" rIns="0" bIns="0" rtlCol="0" anchor="ctr"/>
          <a:lstStyle/>
          <a:p>
            <a:pPr marL="0" indent="0" algn="ctr">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3</a:t>
            </a:r>
            <a:endParaRPr lang="en-US" sz="1400" dirty="0"/>
          </a:p>
        </p:txBody>
      </p:sp>
      <p:sp>
        <p:nvSpPr>
          <p:cNvPr id="12" name="Text 10"/>
          <p:cNvSpPr txBox="1"/>
          <p:nvPr/>
        </p:nvSpPr>
        <p:spPr>
          <a:xfrm>
            <a:off x="1188720" y="2907792"/>
            <a:ext cx="4206240" cy="585216"/>
          </a:xfrm>
          <a:prstGeom prst="rect">
            <a:avLst/>
          </a:prstGeom>
          <a:noFill/>
          <a:ln/>
        </p:spPr>
        <p:txBody>
          <a:bodyPr wrap="square" lIns="0" tIns="0" rIns="0" bIns="0" rtlCol="0" anchor="ctr"/>
          <a:lstStyle/>
          <a:p>
            <a:pPr marL="0" indent="0" algn="l">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Foydalanuvchi ilovada skanerlaydi</a:t>
            </a:r>
            <a:endParaRPr lang="en-US" sz="1600" dirty="0"/>
          </a:p>
        </p:txBody>
      </p:sp>
      <p:sp>
        <p:nvSpPr>
          <p:cNvPr id="13" name="Shape 11"/>
          <p:cNvSpPr/>
          <p:nvPr/>
        </p:nvSpPr>
        <p:spPr>
          <a:xfrm>
            <a:off x="548640" y="3557016"/>
            <a:ext cx="457200" cy="457200"/>
          </a:xfrm>
          <a:prstGeom prst="ellipse">
            <a:avLst/>
          </a:prstGeom>
          <a:solidFill>
            <a:srgbClr val="1E2761"/>
          </a:solidFill>
          <a:ln/>
        </p:spPr>
        <p:txBody>
          <a:bodyPr/>
          <a:lstStyle/>
          <a:p>
            <a:endParaRPr lang="ru-RU"/>
          </a:p>
        </p:txBody>
      </p:sp>
      <p:sp>
        <p:nvSpPr>
          <p:cNvPr id="14" name="Text 12"/>
          <p:cNvSpPr txBox="1"/>
          <p:nvPr/>
        </p:nvSpPr>
        <p:spPr>
          <a:xfrm>
            <a:off x="548640" y="3557016"/>
            <a:ext cx="457200" cy="457200"/>
          </a:xfrm>
          <a:prstGeom prst="rect">
            <a:avLst/>
          </a:prstGeom>
          <a:noFill/>
          <a:ln/>
        </p:spPr>
        <p:txBody>
          <a:bodyPr wrap="square" lIns="0" tIns="0" rIns="0" bIns="0" rtlCol="0" anchor="ctr"/>
          <a:lstStyle/>
          <a:p>
            <a:pPr marL="0" indent="0" algn="ctr">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4</a:t>
            </a:r>
            <a:endParaRPr lang="en-US" sz="1400" dirty="0"/>
          </a:p>
        </p:txBody>
      </p:sp>
      <p:sp>
        <p:nvSpPr>
          <p:cNvPr id="15" name="Text 13"/>
          <p:cNvSpPr txBox="1"/>
          <p:nvPr/>
        </p:nvSpPr>
        <p:spPr>
          <a:xfrm>
            <a:off x="1188720" y="3493008"/>
            <a:ext cx="4206240" cy="585216"/>
          </a:xfrm>
          <a:prstGeom prst="rect">
            <a:avLst/>
          </a:prstGeom>
          <a:noFill/>
          <a:ln/>
        </p:spPr>
        <p:txBody>
          <a:bodyPr wrap="square" lIns="0" tIns="0" rIns="0" bIns="0" rtlCol="0" anchor="ctr"/>
          <a:lstStyle/>
          <a:p>
            <a:pPr marL="0" indent="0" algn="l">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Birinchi kodni kiritib, bog'lanishni tasdiqlaydi</a:t>
            </a:r>
            <a:endParaRPr lang="en-US" sz="1600" dirty="0"/>
          </a:p>
        </p:txBody>
      </p:sp>
      <p:sp>
        <p:nvSpPr>
          <p:cNvPr id="16" name="Shape 14"/>
          <p:cNvSpPr/>
          <p:nvPr/>
        </p:nvSpPr>
        <p:spPr>
          <a:xfrm>
            <a:off x="548640" y="4142232"/>
            <a:ext cx="457200" cy="457200"/>
          </a:xfrm>
          <a:prstGeom prst="ellipse">
            <a:avLst/>
          </a:prstGeom>
          <a:solidFill>
            <a:srgbClr val="1E2761"/>
          </a:solidFill>
          <a:ln/>
        </p:spPr>
        <p:txBody>
          <a:bodyPr/>
          <a:lstStyle/>
          <a:p>
            <a:endParaRPr lang="ru-RU"/>
          </a:p>
        </p:txBody>
      </p:sp>
      <p:sp>
        <p:nvSpPr>
          <p:cNvPr id="17" name="Text 15"/>
          <p:cNvSpPr txBox="1"/>
          <p:nvPr/>
        </p:nvSpPr>
        <p:spPr>
          <a:xfrm>
            <a:off x="548640" y="4142232"/>
            <a:ext cx="457200" cy="457200"/>
          </a:xfrm>
          <a:prstGeom prst="rect">
            <a:avLst/>
          </a:prstGeom>
          <a:noFill/>
          <a:ln/>
        </p:spPr>
        <p:txBody>
          <a:bodyPr wrap="square" lIns="0" tIns="0" rIns="0" bIns="0" rtlCol="0" anchor="ctr"/>
          <a:lstStyle/>
          <a:p>
            <a:pPr marL="0" indent="0" algn="ctr">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5</a:t>
            </a:r>
            <a:endParaRPr lang="en-US" sz="1400" dirty="0"/>
          </a:p>
        </p:txBody>
      </p:sp>
      <p:sp>
        <p:nvSpPr>
          <p:cNvPr id="18" name="Text 16"/>
          <p:cNvSpPr txBox="1"/>
          <p:nvPr/>
        </p:nvSpPr>
        <p:spPr>
          <a:xfrm>
            <a:off x="1188720" y="4078224"/>
            <a:ext cx="4206240" cy="585216"/>
          </a:xfrm>
          <a:prstGeom prst="rect">
            <a:avLst/>
          </a:prstGeom>
          <a:noFill/>
          <a:ln/>
        </p:spPr>
        <p:txBody>
          <a:bodyPr wrap="square" lIns="0" tIns="0" rIns="0" bIns="0" rtlCol="0" anchor="ctr"/>
          <a:lstStyle/>
          <a:p>
            <a:pPr marL="0" indent="0" algn="l">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Zaxira kodlar beriladi (bir martali)</a:t>
            </a:r>
            <a:endParaRPr lang="en-US" sz="1600" dirty="0"/>
          </a:p>
        </p:txBody>
      </p:sp>
      <p:pic>
        <p:nvPicPr>
          <p:cNvPr id="19" name="Image 0" descr="/home/claude/fob-slides/icons_out/totp_qr.png"/>
          <p:cNvPicPr>
            <a:picLocks noChangeAspect="1"/>
          </p:cNvPicPr>
          <p:nvPr/>
        </p:nvPicPr>
        <p:blipFill>
          <a:blip r:embed="rId3"/>
          <a:stretch>
            <a:fillRect/>
          </a:stretch>
        </p:blipFill>
        <p:spPr>
          <a:xfrm>
            <a:off x="5577840" y="1783080"/>
            <a:ext cx="2194560" cy="2194560"/>
          </a:xfrm>
          <a:prstGeom prst="rect">
            <a:avLst/>
          </a:prstGeom>
        </p:spPr>
      </p:pic>
      <p:sp>
        <p:nvSpPr>
          <p:cNvPr id="20" name="Text 17"/>
          <p:cNvSpPr txBox="1"/>
          <p:nvPr/>
        </p:nvSpPr>
        <p:spPr>
          <a:xfrm>
            <a:off x="5440680" y="4023360"/>
            <a:ext cx="2468880" cy="457200"/>
          </a:xfrm>
          <a:prstGeom prst="rect">
            <a:avLst/>
          </a:prstGeom>
          <a:noFill/>
          <a:ln/>
        </p:spPr>
        <p:txBody>
          <a:bodyPr wrap="square" lIns="0" tIns="0" rIns="0" bIns="0" rtlCol="0" anchor="t"/>
          <a:lstStyle/>
          <a:p>
            <a:pPr marL="0" indent="0" algn="ctr">
              <a:lnSpc>
                <a:spcPct val="100000"/>
              </a:lnSpc>
              <a:buNone/>
            </a:pPr>
            <a:r>
              <a:rPr lang="en-US" sz="1100" dirty="0">
                <a:solidFill>
                  <a:srgbClr val="5B6270"/>
                </a:solidFill>
                <a:latin typeface="Times New Roman" pitchFamily="34" charset="0"/>
                <a:ea typeface="Times New Roman" pitchFamily="34" charset="-122"/>
                <a:cs typeface="Times New Roman" pitchFamily="34" charset="-120"/>
              </a:rPr>
              <a:t>RFC test kaliti — A4 da tekshirish uchun</a:t>
            </a:r>
            <a:endParaRPr lang="en-US" sz="1100" dirty="0"/>
          </a:p>
        </p:txBody>
      </p:sp>
      <p:sp>
        <p:nvSpPr>
          <p:cNvPr id="21" name="Shape 18"/>
          <p:cNvSpPr/>
          <p:nvPr/>
        </p:nvSpPr>
        <p:spPr>
          <a:xfrm>
            <a:off x="8001000" y="1783080"/>
            <a:ext cx="3611880" cy="2697480"/>
          </a:xfrm>
          <a:prstGeom prst="roundRect">
            <a:avLst>
              <a:gd name="adj" fmla="val 3051"/>
            </a:avLst>
          </a:prstGeom>
          <a:solidFill>
            <a:srgbClr val="162048"/>
          </a:solidFill>
          <a:ln/>
        </p:spPr>
        <p:txBody>
          <a:bodyPr/>
          <a:lstStyle/>
          <a:p>
            <a:endParaRPr lang="ru-RU"/>
          </a:p>
        </p:txBody>
      </p:sp>
      <p:sp>
        <p:nvSpPr>
          <p:cNvPr id="22" name="Text 19"/>
          <p:cNvSpPr txBox="1"/>
          <p:nvPr/>
        </p:nvSpPr>
        <p:spPr>
          <a:xfrm>
            <a:off x="8229600" y="1965960"/>
            <a:ext cx="3154680" cy="2331720"/>
          </a:xfrm>
          <a:prstGeom prst="rect">
            <a:avLst/>
          </a:prstGeom>
          <a:noFill/>
          <a:ln/>
        </p:spPr>
        <p:txBody>
          <a:bodyPr wrap="square" lIns="0" tIns="0" rIns="0" bIns="0" rtlCol="0" anchor="t"/>
          <a:lstStyle/>
          <a:p>
            <a:pPr marL="0" indent="0">
              <a:lnSpc>
                <a:spcPct val="105000"/>
              </a:lnSpc>
              <a:buNone/>
            </a:pPr>
            <a:r>
              <a:rPr lang="en-US" sz="1400" b="1" dirty="0">
                <a:solidFill>
                  <a:srgbClr val="F2B544"/>
                </a:solidFill>
                <a:latin typeface="Courier New" pitchFamily="34" charset="0"/>
                <a:ea typeface="Courier New" pitchFamily="34" charset="-122"/>
                <a:cs typeface="Courier New" pitchFamily="34" charset="-120"/>
              </a:rPr>
              <a:t>otpauth://totp/NUU:a.karimov</a:t>
            </a:r>
            <a:endParaRPr lang="en-US" sz="1400" dirty="0"/>
          </a:p>
          <a:p>
            <a:pPr marL="0" indent="0">
              <a:lnSpc>
                <a:spcPct val="105000"/>
              </a:lnSpc>
              <a:buNone/>
            </a:pPr>
            <a:r>
              <a:rPr lang="en-US" sz="1400" dirty="0">
                <a:solidFill>
                  <a:srgbClr val="FFFFFF"/>
                </a:solidFill>
                <a:latin typeface="Courier New" pitchFamily="34" charset="0"/>
                <a:ea typeface="Courier New" pitchFamily="34" charset="-122"/>
                <a:cs typeface="Courier New" pitchFamily="34" charset="-120"/>
              </a:rPr>
              <a:t>?secret=GEZDGNBVGY3TQOJQ</a:t>
            </a:r>
            <a:endParaRPr lang="en-US" sz="1400" dirty="0"/>
          </a:p>
          <a:p>
            <a:pPr marL="0" indent="0">
              <a:lnSpc>
                <a:spcPct val="105000"/>
              </a:lnSpc>
              <a:buNone/>
            </a:pPr>
            <a:r>
              <a:rPr lang="en-US" sz="1400" dirty="0">
                <a:solidFill>
                  <a:srgbClr val="FFFFFF"/>
                </a:solidFill>
                <a:latin typeface="Courier New" pitchFamily="34" charset="0"/>
                <a:ea typeface="Courier New" pitchFamily="34" charset="-122"/>
                <a:cs typeface="Courier New" pitchFamily="34" charset="-120"/>
              </a:rPr>
              <a:t>  GEZDGNBVGY3TQOJQ</a:t>
            </a:r>
            <a:endParaRPr lang="en-US" sz="1400" dirty="0"/>
          </a:p>
          <a:p>
            <a:pPr marL="0" indent="0">
              <a:lnSpc>
                <a:spcPct val="105000"/>
              </a:lnSpc>
              <a:buNone/>
            </a:pPr>
            <a:r>
              <a:rPr lang="en-US" sz="1400" dirty="0">
                <a:solidFill>
                  <a:srgbClr val="FFFFFF"/>
                </a:solidFill>
                <a:latin typeface="Courier New" pitchFamily="34" charset="0"/>
                <a:ea typeface="Courier New" pitchFamily="34" charset="-122"/>
                <a:cs typeface="Courier New" pitchFamily="34" charset="-120"/>
              </a:rPr>
              <a:t>&amp;issuer=NUU</a:t>
            </a:r>
            <a:endParaRPr lang="en-US" sz="1400" dirty="0"/>
          </a:p>
          <a:p>
            <a:pPr marL="0" indent="0">
              <a:lnSpc>
                <a:spcPct val="105000"/>
              </a:lnSpc>
              <a:buNone/>
            </a:pPr>
            <a:r>
              <a:rPr lang="en-US" sz="1400" dirty="0">
                <a:solidFill>
                  <a:srgbClr val="FFFFFF"/>
                </a:solidFill>
                <a:latin typeface="Courier New" pitchFamily="34" charset="0"/>
                <a:ea typeface="Courier New" pitchFamily="34" charset="-122"/>
                <a:cs typeface="Courier New" pitchFamily="34" charset="-120"/>
              </a:rPr>
              <a:t>&amp;algorithm=SHA1</a:t>
            </a:r>
            <a:endParaRPr lang="en-US" sz="1400" dirty="0"/>
          </a:p>
          <a:p>
            <a:pPr marL="0" indent="0">
              <a:lnSpc>
                <a:spcPct val="105000"/>
              </a:lnSpc>
              <a:buNone/>
            </a:pPr>
            <a:r>
              <a:rPr lang="en-US" sz="1400" dirty="0">
                <a:solidFill>
                  <a:srgbClr val="FFFFFF"/>
                </a:solidFill>
                <a:latin typeface="Courier New" pitchFamily="34" charset="0"/>
                <a:ea typeface="Courier New" pitchFamily="34" charset="-122"/>
                <a:cs typeface="Courier New" pitchFamily="34" charset="-120"/>
              </a:rPr>
              <a:t>&amp;digits=6&amp;period=30</a:t>
            </a:r>
            <a:endParaRPr lang="en-US" sz="1400" dirty="0"/>
          </a:p>
        </p:txBody>
      </p:sp>
      <p:sp>
        <p:nvSpPr>
          <p:cNvPr id="23" name="Shape 20"/>
          <p:cNvSpPr/>
          <p:nvPr/>
        </p:nvSpPr>
        <p:spPr>
          <a:xfrm>
            <a:off x="548640" y="4846320"/>
            <a:ext cx="11064240" cy="1325880"/>
          </a:xfrm>
          <a:prstGeom prst="roundRect">
            <a:avLst>
              <a:gd name="adj" fmla="val 6207"/>
            </a:avLst>
          </a:prstGeom>
          <a:solidFill>
            <a:srgbClr val="F7ECEA"/>
          </a:solidFill>
          <a:ln/>
        </p:spPr>
        <p:txBody>
          <a:bodyPr/>
          <a:lstStyle/>
          <a:p>
            <a:endParaRPr lang="ru-RU"/>
          </a:p>
        </p:txBody>
      </p:sp>
      <p:sp>
        <p:nvSpPr>
          <p:cNvPr id="24" name="Shape 21"/>
          <p:cNvSpPr/>
          <p:nvPr/>
        </p:nvSpPr>
        <p:spPr>
          <a:xfrm>
            <a:off x="822960" y="5120640"/>
            <a:ext cx="731520" cy="731520"/>
          </a:xfrm>
          <a:prstGeom prst="ellipse">
            <a:avLst/>
          </a:prstGeom>
          <a:solidFill>
            <a:srgbClr val="9E3B2E"/>
          </a:solidFill>
          <a:ln/>
        </p:spPr>
        <p:txBody>
          <a:bodyPr/>
          <a:lstStyle/>
          <a:p>
            <a:endParaRPr lang="ru-RU"/>
          </a:p>
        </p:txBody>
      </p:sp>
      <p:pic>
        <p:nvPicPr>
          <p:cNvPr id="25" name="Image 1" descr="/home/claude/fob-slides/icons_out/warn_white.png"/>
          <p:cNvPicPr>
            <a:picLocks noChangeAspect="1"/>
          </p:cNvPicPr>
          <p:nvPr/>
        </p:nvPicPr>
        <p:blipFill>
          <a:blip r:embed="rId4"/>
          <a:stretch>
            <a:fillRect/>
          </a:stretch>
        </p:blipFill>
        <p:spPr>
          <a:xfrm>
            <a:off x="1005840" y="5303520"/>
            <a:ext cx="365760" cy="365760"/>
          </a:xfrm>
          <a:prstGeom prst="rect">
            <a:avLst/>
          </a:prstGeom>
        </p:spPr>
      </p:pic>
      <p:sp>
        <p:nvSpPr>
          <p:cNvPr id="26" name="Text 22"/>
          <p:cNvSpPr txBox="1"/>
          <p:nvPr/>
        </p:nvSpPr>
        <p:spPr>
          <a:xfrm>
            <a:off x="1783080" y="4846320"/>
            <a:ext cx="9646920" cy="1325880"/>
          </a:xfrm>
          <a:prstGeom prst="rect">
            <a:avLst/>
          </a:prstGeom>
          <a:noFill/>
          <a:ln/>
        </p:spPr>
        <p:txBody>
          <a:bodyPr wrap="square" lIns="0" tIns="0" rIns="0" bIns="0" rtlCol="0" anchor="ctr"/>
          <a:lstStyle/>
          <a:p>
            <a:pPr marL="0" indent="0">
              <a:lnSpc>
                <a:spcPct val="105000"/>
              </a:lnSpc>
              <a:buNone/>
            </a:pPr>
            <a:r>
              <a:rPr lang="en-US" sz="1600" b="1" dirty="0">
                <a:solidFill>
                  <a:srgbClr val="9E3B2E"/>
                </a:solidFill>
                <a:latin typeface="Times New Roman" pitchFamily="34" charset="0"/>
                <a:ea typeface="Times New Roman" pitchFamily="34" charset="-122"/>
                <a:cs typeface="Times New Roman" pitchFamily="34" charset="-120"/>
              </a:rPr>
              <a:t>3-ma'ruzadan farq: </a:t>
            </a:r>
            <a:r>
              <a:rPr lang="en-US" sz="1600" dirty="0">
                <a:solidFill>
                  <a:srgbClr val="1B1B2A"/>
                </a:solidFill>
                <a:latin typeface="Times New Roman" pitchFamily="34" charset="0"/>
                <a:ea typeface="Times New Roman" pitchFamily="34" charset="-122"/>
                <a:cs typeface="Times New Roman" pitchFamily="34" charset="-120"/>
              </a:rPr>
              <a:t>parolni xeshlab saqlaymiz, lekin K ni xeshlab bo'lmaydi — server kodni hisoblash uchun kalitning o'zini bilishi kerak. Shuning uchun K shifrlab saqlanadi (HSM yoki kalitlar ombori). Baza sizsa, barcha TOTP kalitlari ham sizadi.</a:t>
            </a:r>
            <a:endParaRPr lang="en-US" sz="1600" dirty="0"/>
          </a:p>
        </p:txBody>
      </p:sp>
      <p:sp>
        <p:nvSpPr>
          <p:cNvPr id="27" name="Text 23"/>
          <p:cNvSpPr txBox="1"/>
          <p:nvPr/>
        </p:nvSpPr>
        <p:spPr>
          <a:xfrm>
            <a:off x="548640" y="6492240"/>
            <a:ext cx="7315200" cy="274320"/>
          </a:xfrm>
          <a:prstGeom prst="rect">
            <a:avLst/>
          </a:prstGeom>
          <a:noFill/>
          <a:ln/>
        </p:spPr>
        <p:txBody>
          <a:bodyPr wrap="square" lIns="0" tIns="0" rIns="0" bIns="0" rtlCol="0" anchor="ctr"/>
          <a:lstStyle/>
          <a:p>
            <a:pPr marL="0" indent="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4-ma'ruza</a:t>
            </a:r>
            <a:endParaRPr lang="en-US" sz="1100" dirty="0"/>
          </a:p>
        </p:txBody>
      </p:sp>
      <p:sp>
        <p:nvSpPr>
          <p:cNvPr id="28" name="Text 24"/>
          <p:cNvSpPr txBox="1"/>
          <p:nvPr/>
        </p:nvSpPr>
        <p:spPr>
          <a:xfrm>
            <a:off x="11155680" y="6492240"/>
            <a:ext cx="457200" cy="274320"/>
          </a:xfrm>
          <a:prstGeom prst="rect">
            <a:avLst/>
          </a:prstGeom>
          <a:noFill/>
          <a:ln/>
        </p:spPr>
        <p:txBody>
          <a:bodyPr wrap="square" lIns="0" tIns="0" rIns="0" bIns="0" rtlCol="0" anchor="ctr"/>
          <a:lstStyle/>
          <a:p>
            <a:pPr marL="0" indent="0" algn="r">
              <a:buNone/>
            </a:pPr>
            <a:r>
              <a:rPr lang="en-US" sz="1100" dirty="0">
                <a:solidFill>
                  <a:srgbClr val="5B6270"/>
                </a:solidFill>
                <a:latin typeface="Times New Roman" pitchFamily="34" charset="0"/>
                <a:ea typeface="Times New Roman" pitchFamily="34" charset="-122"/>
                <a:cs typeface="Times New Roman"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marL="0" indent="0">
              <a:buNone/>
            </a:pPr>
            <a:r>
              <a:rPr lang="en-US" sz="1600" b="1" kern="0" spc="220" dirty="0">
                <a:solidFill>
                  <a:srgbClr val="5B6270"/>
                </a:solidFill>
                <a:latin typeface="Times New Roman" pitchFamily="34" charset="0"/>
                <a:ea typeface="Times New Roman" pitchFamily="34" charset="-122"/>
                <a:cs typeface="Times New Roman" pitchFamily="34" charset="-120"/>
              </a:rPr>
              <a:t>SOLISHTIRISH</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marL="0" indent="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Ikkinchi omil variantlari</a:t>
            </a:r>
            <a:endParaRPr lang="en-US" sz="3600" dirty="0"/>
          </a:p>
        </p:txBody>
      </p:sp>
      <p:sp>
        <p:nvSpPr>
          <p:cNvPr id="4" name="Shape 2"/>
          <p:cNvSpPr/>
          <p:nvPr/>
        </p:nvSpPr>
        <p:spPr>
          <a:xfrm>
            <a:off x="2743200" y="1783080"/>
            <a:ext cx="2194560" cy="548640"/>
          </a:xfrm>
          <a:prstGeom prst="roundRect">
            <a:avLst>
              <a:gd name="adj" fmla="val 6667"/>
            </a:avLst>
          </a:prstGeom>
          <a:solidFill>
            <a:srgbClr val="1E2761"/>
          </a:solidFill>
          <a:ln/>
        </p:spPr>
        <p:txBody>
          <a:bodyPr/>
          <a:lstStyle/>
          <a:p>
            <a:endParaRPr lang="ru-RU"/>
          </a:p>
        </p:txBody>
      </p:sp>
      <p:sp>
        <p:nvSpPr>
          <p:cNvPr id="5" name="Text 3"/>
          <p:cNvSpPr txBox="1"/>
          <p:nvPr/>
        </p:nvSpPr>
        <p:spPr>
          <a:xfrm>
            <a:off x="2743200" y="1783080"/>
            <a:ext cx="2194560" cy="548640"/>
          </a:xfrm>
          <a:prstGeom prst="rect">
            <a:avLst/>
          </a:prstGeom>
          <a:noFill/>
          <a:ln/>
        </p:spPr>
        <p:txBody>
          <a:bodyPr wrap="square" lIns="50800" tIns="50800" rIns="50800" bIns="50800" rtlCol="0" anchor="ctr"/>
          <a:lstStyle/>
          <a:p>
            <a:pPr marL="0" indent="0" algn="ctr">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SMS kod</a:t>
            </a:r>
            <a:endParaRPr lang="en-US" sz="1600" dirty="0"/>
          </a:p>
        </p:txBody>
      </p:sp>
      <p:sp>
        <p:nvSpPr>
          <p:cNvPr id="6" name="Shape 4"/>
          <p:cNvSpPr/>
          <p:nvPr/>
        </p:nvSpPr>
        <p:spPr>
          <a:xfrm>
            <a:off x="4983480" y="1783080"/>
            <a:ext cx="2194560" cy="548640"/>
          </a:xfrm>
          <a:prstGeom prst="roundRect">
            <a:avLst>
              <a:gd name="adj" fmla="val 6667"/>
            </a:avLst>
          </a:prstGeom>
          <a:solidFill>
            <a:srgbClr val="1E2761"/>
          </a:solidFill>
          <a:ln/>
        </p:spPr>
        <p:txBody>
          <a:bodyPr/>
          <a:lstStyle/>
          <a:p>
            <a:endParaRPr lang="ru-RU"/>
          </a:p>
        </p:txBody>
      </p:sp>
      <p:sp>
        <p:nvSpPr>
          <p:cNvPr id="7" name="Text 5"/>
          <p:cNvSpPr txBox="1"/>
          <p:nvPr/>
        </p:nvSpPr>
        <p:spPr>
          <a:xfrm>
            <a:off x="4983480" y="1783080"/>
            <a:ext cx="2194560" cy="548640"/>
          </a:xfrm>
          <a:prstGeom prst="rect">
            <a:avLst/>
          </a:prstGeom>
          <a:noFill/>
          <a:ln/>
        </p:spPr>
        <p:txBody>
          <a:bodyPr wrap="square" lIns="50800" tIns="50800" rIns="50800" bIns="50800" rtlCol="0" anchor="ctr"/>
          <a:lstStyle/>
          <a:p>
            <a:pPr marL="0" indent="0" algn="ctr">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TOTP ilova</a:t>
            </a:r>
            <a:endParaRPr lang="en-US" sz="1600" dirty="0"/>
          </a:p>
        </p:txBody>
      </p:sp>
      <p:sp>
        <p:nvSpPr>
          <p:cNvPr id="8" name="Shape 6"/>
          <p:cNvSpPr/>
          <p:nvPr/>
        </p:nvSpPr>
        <p:spPr>
          <a:xfrm>
            <a:off x="7223760" y="1783080"/>
            <a:ext cx="2194560" cy="548640"/>
          </a:xfrm>
          <a:prstGeom prst="roundRect">
            <a:avLst>
              <a:gd name="adj" fmla="val 6667"/>
            </a:avLst>
          </a:prstGeom>
          <a:solidFill>
            <a:srgbClr val="1E2761"/>
          </a:solidFill>
          <a:ln/>
        </p:spPr>
        <p:txBody>
          <a:bodyPr/>
          <a:lstStyle/>
          <a:p>
            <a:endParaRPr lang="ru-RU"/>
          </a:p>
        </p:txBody>
      </p:sp>
      <p:sp>
        <p:nvSpPr>
          <p:cNvPr id="9" name="Text 7"/>
          <p:cNvSpPr txBox="1"/>
          <p:nvPr/>
        </p:nvSpPr>
        <p:spPr>
          <a:xfrm>
            <a:off x="7223760" y="1783080"/>
            <a:ext cx="2194560" cy="548640"/>
          </a:xfrm>
          <a:prstGeom prst="rect">
            <a:avLst/>
          </a:prstGeom>
          <a:noFill/>
          <a:ln/>
        </p:spPr>
        <p:txBody>
          <a:bodyPr wrap="square" lIns="50800" tIns="50800" rIns="50800" bIns="50800" rtlCol="0" anchor="ctr"/>
          <a:lstStyle/>
          <a:p>
            <a:pPr marL="0" indent="0" algn="ctr">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Push tasdiqlash</a:t>
            </a:r>
            <a:endParaRPr lang="en-US" sz="1600" dirty="0"/>
          </a:p>
        </p:txBody>
      </p:sp>
      <p:sp>
        <p:nvSpPr>
          <p:cNvPr id="10" name="Shape 8"/>
          <p:cNvSpPr/>
          <p:nvPr/>
        </p:nvSpPr>
        <p:spPr>
          <a:xfrm>
            <a:off x="9464040" y="1783080"/>
            <a:ext cx="2103120" cy="548640"/>
          </a:xfrm>
          <a:prstGeom prst="roundRect">
            <a:avLst>
              <a:gd name="adj" fmla="val 6667"/>
            </a:avLst>
          </a:prstGeom>
          <a:solidFill>
            <a:srgbClr val="1F6B4A"/>
          </a:solidFill>
          <a:ln/>
        </p:spPr>
        <p:txBody>
          <a:bodyPr/>
          <a:lstStyle/>
          <a:p>
            <a:endParaRPr lang="ru-RU"/>
          </a:p>
        </p:txBody>
      </p:sp>
      <p:sp>
        <p:nvSpPr>
          <p:cNvPr id="11" name="Text 9"/>
          <p:cNvSpPr txBox="1"/>
          <p:nvPr/>
        </p:nvSpPr>
        <p:spPr>
          <a:xfrm>
            <a:off x="9464040" y="1783080"/>
            <a:ext cx="2103120" cy="548640"/>
          </a:xfrm>
          <a:prstGeom prst="rect">
            <a:avLst/>
          </a:prstGeom>
          <a:noFill/>
          <a:ln/>
        </p:spPr>
        <p:txBody>
          <a:bodyPr wrap="square" lIns="50800" tIns="50800" rIns="50800" bIns="50800" rtlCol="0" anchor="ctr"/>
          <a:lstStyle/>
          <a:p>
            <a:pPr marL="0" indent="0" algn="ctr">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FIDO2 kalit</a:t>
            </a:r>
            <a:endParaRPr lang="en-US" sz="1600" dirty="0"/>
          </a:p>
        </p:txBody>
      </p:sp>
      <p:sp>
        <p:nvSpPr>
          <p:cNvPr id="12" name="Shape 10"/>
          <p:cNvSpPr/>
          <p:nvPr/>
        </p:nvSpPr>
        <p:spPr>
          <a:xfrm>
            <a:off x="548640" y="2404872"/>
            <a:ext cx="2148840" cy="777240"/>
          </a:xfrm>
          <a:prstGeom prst="roundRect">
            <a:avLst>
              <a:gd name="adj" fmla="val 4706"/>
            </a:avLst>
          </a:prstGeom>
          <a:solidFill>
            <a:srgbClr val="2A3778"/>
          </a:solidFill>
          <a:ln/>
        </p:spPr>
        <p:txBody>
          <a:bodyPr/>
          <a:lstStyle/>
          <a:p>
            <a:endParaRPr lang="ru-RU"/>
          </a:p>
        </p:txBody>
      </p:sp>
      <p:sp>
        <p:nvSpPr>
          <p:cNvPr id="13" name="Text 11"/>
          <p:cNvSpPr txBox="1"/>
          <p:nvPr/>
        </p:nvSpPr>
        <p:spPr>
          <a:xfrm>
            <a:off x="658368" y="2404872"/>
            <a:ext cx="1965960" cy="777240"/>
          </a:xfrm>
          <a:prstGeom prst="rect">
            <a:avLst/>
          </a:prstGeom>
          <a:noFill/>
          <a:ln/>
        </p:spPr>
        <p:txBody>
          <a:bodyPr wrap="square" lIns="0" tIns="0" rIns="0" bIns="0" rtlCol="0" anchor="ctr"/>
          <a:lstStyle/>
          <a:p>
            <a:pPr marL="0" indent="0" algn="l">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Tarmoq kerakmi</a:t>
            </a:r>
            <a:endParaRPr lang="en-US" sz="1600" dirty="0"/>
          </a:p>
        </p:txBody>
      </p:sp>
      <p:sp>
        <p:nvSpPr>
          <p:cNvPr id="14" name="Shape 12"/>
          <p:cNvSpPr/>
          <p:nvPr/>
        </p:nvSpPr>
        <p:spPr>
          <a:xfrm>
            <a:off x="2743200" y="2404872"/>
            <a:ext cx="2194560" cy="777240"/>
          </a:xfrm>
          <a:prstGeom prst="roundRect">
            <a:avLst>
              <a:gd name="adj" fmla="val 4706"/>
            </a:avLst>
          </a:prstGeom>
          <a:solidFill>
            <a:srgbClr val="EEF2FB"/>
          </a:solidFill>
          <a:ln/>
        </p:spPr>
        <p:txBody>
          <a:bodyPr/>
          <a:lstStyle/>
          <a:p>
            <a:endParaRPr lang="ru-RU"/>
          </a:p>
        </p:txBody>
      </p:sp>
      <p:sp>
        <p:nvSpPr>
          <p:cNvPr id="15" name="Text 13"/>
          <p:cNvSpPr txBox="1"/>
          <p:nvPr/>
        </p:nvSpPr>
        <p:spPr>
          <a:xfrm>
            <a:off x="2852928" y="2404872"/>
            <a:ext cx="2011680" cy="777240"/>
          </a:xfrm>
          <a:prstGeom prst="rect">
            <a:avLst/>
          </a:prstGeom>
          <a:noFill/>
          <a:ln/>
        </p:spPr>
        <p:txBody>
          <a:bodyPr wrap="square" lIns="0" tIns="0" rIns="0" bIns="0" rtlCol="0" anchor="ctr"/>
          <a:lstStyle/>
          <a:p>
            <a:pPr marL="0" indent="0" algn="ctr">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Ha, mobil aloqa</a:t>
            </a:r>
            <a:endParaRPr lang="en-US" sz="1500" dirty="0"/>
          </a:p>
        </p:txBody>
      </p:sp>
      <p:sp>
        <p:nvSpPr>
          <p:cNvPr id="16" name="Shape 14"/>
          <p:cNvSpPr/>
          <p:nvPr/>
        </p:nvSpPr>
        <p:spPr>
          <a:xfrm>
            <a:off x="4983480" y="2404872"/>
            <a:ext cx="2194560" cy="777240"/>
          </a:xfrm>
          <a:prstGeom prst="roundRect">
            <a:avLst>
              <a:gd name="adj" fmla="val 4706"/>
            </a:avLst>
          </a:prstGeom>
          <a:solidFill>
            <a:srgbClr val="EEF2FB"/>
          </a:solidFill>
          <a:ln/>
        </p:spPr>
        <p:txBody>
          <a:bodyPr/>
          <a:lstStyle/>
          <a:p>
            <a:endParaRPr lang="ru-RU"/>
          </a:p>
        </p:txBody>
      </p:sp>
      <p:sp>
        <p:nvSpPr>
          <p:cNvPr id="17" name="Text 15"/>
          <p:cNvSpPr txBox="1"/>
          <p:nvPr/>
        </p:nvSpPr>
        <p:spPr>
          <a:xfrm>
            <a:off x="5093208" y="2404872"/>
            <a:ext cx="2011680" cy="777240"/>
          </a:xfrm>
          <a:prstGeom prst="rect">
            <a:avLst/>
          </a:prstGeom>
          <a:noFill/>
          <a:ln/>
        </p:spPr>
        <p:txBody>
          <a:bodyPr wrap="square" lIns="0" tIns="0" rIns="0" bIns="0" rtlCol="0" anchor="ctr"/>
          <a:lstStyle/>
          <a:p>
            <a:pPr marL="0" indent="0" algn="ctr">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Yo'q, oflayn</a:t>
            </a:r>
            <a:endParaRPr lang="en-US" sz="1500" dirty="0"/>
          </a:p>
        </p:txBody>
      </p:sp>
      <p:sp>
        <p:nvSpPr>
          <p:cNvPr id="18" name="Shape 16"/>
          <p:cNvSpPr/>
          <p:nvPr/>
        </p:nvSpPr>
        <p:spPr>
          <a:xfrm>
            <a:off x="7223760" y="2404872"/>
            <a:ext cx="2194560" cy="777240"/>
          </a:xfrm>
          <a:prstGeom prst="roundRect">
            <a:avLst>
              <a:gd name="adj" fmla="val 4706"/>
            </a:avLst>
          </a:prstGeom>
          <a:solidFill>
            <a:srgbClr val="EEF2FB"/>
          </a:solidFill>
          <a:ln/>
        </p:spPr>
        <p:txBody>
          <a:bodyPr/>
          <a:lstStyle/>
          <a:p>
            <a:endParaRPr lang="ru-RU"/>
          </a:p>
        </p:txBody>
      </p:sp>
      <p:sp>
        <p:nvSpPr>
          <p:cNvPr id="19" name="Text 17"/>
          <p:cNvSpPr txBox="1"/>
          <p:nvPr/>
        </p:nvSpPr>
        <p:spPr>
          <a:xfrm>
            <a:off x="7333488" y="2404872"/>
            <a:ext cx="2011680" cy="777240"/>
          </a:xfrm>
          <a:prstGeom prst="rect">
            <a:avLst/>
          </a:prstGeom>
          <a:noFill/>
          <a:ln/>
        </p:spPr>
        <p:txBody>
          <a:bodyPr wrap="square" lIns="0" tIns="0" rIns="0" bIns="0" rtlCol="0" anchor="ctr"/>
          <a:lstStyle/>
          <a:p>
            <a:pPr marL="0" indent="0" algn="ctr">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Ha, internet</a:t>
            </a:r>
            <a:endParaRPr lang="en-US" sz="1500" dirty="0"/>
          </a:p>
        </p:txBody>
      </p:sp>
      <p:sp>
        <p:nvSpPr>
          <p:cNvPr id="20" name="Shape 18"/>
          <p:cNvSpPr/>
          <p:nvPr/>
        </p:nvSpPr>
        <p:spPr>
          <a:xfrm>
            <a:off x="9464040" y="2404872"/>
            <a:ext cx="2103120" cy="777240"/>
          </a:xfrm>
          <a:prstGeom prst="roundRect">
            <a:avLst>
              <a:gd name="adj" fmla="val 4706"/>
            </a:avLst>
          </a:prstGeom>
          <a:solidFill>
            <a:srgbClr val="EEF2FB"/>
          </a:solidFill>
          <a:ln/>
        </p:spPr>
        <p:txBody>
          <a:bodyPr/>
          <a:lstStyle/>
          <a:p>
            <a:endParaRPr lang="ru-RU"/>
          </a:p>
        </p:txBody>
      </p:sp>
      <p:sp>
        <p:nvSpPr>
          <p:cNvPr id="21" name="Text 19"/>
          <p:cNvSpPr txBox="1"/>
          <p:nvPr/>
        </p:nvSpPr>
        <p:spPr>
          <a:xfrm>
            <a:off x="9573768" y="2404872"/>
            <a:ext cx="1920240" cy="777240"/>
          </a:xfrm>
          <a:prstGeom prst="rect">
            <a:avLst/>
          </a:prstGeom>
          <a:noFill/>
          <a:ln/>
        </p:spPr>
        <p:txBody>
          <a:bodyPr wrap="square" lIns="0" tIns="0" rIns="0" bIns="0" rtlCol="0" anchor="ctr"/>
          <a:lstStyle/>
          <a:p>
            <a:pPr marL="0" indent="0" algn="ctr">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Yo'q</a:t>
            </a:r>
            <a:endParaRPr lang="en-US" sz="1500" dirty="0"/>
          </a:p>
        </p:txBody>
      </p:sp>
      <p:sp>
        <p:nvSpPr>
          <p:cNvPr id="22" name="Shape 20"/>
          <p:cNvSpPr/>
          <p:nvPr/>
        </p:nvSpPr>
        <p:spPr>
          <a:xfrm>
            <a:off x="548640" y="3273552"/>
            <a:ext cx="2148840" cy="777240"/>
          </a:xfrm>
          <a:prstGeom prst="roundRect">
            <a:avLst>
              <a:gd name="adj" fmla="val 4706"/>
            </a:avLst>
          </a:prstGeom>
          <a:solidFill>
            <a:srgbClr val="2A3778"/>
          </a:solidFill>
          <a:ln/>
        </p:spPr>
        <p:txBody>
          <a:bodyPr/>
          <a:lstStyle/>
          <a:p>
            <a:endParaRPr lang="ru-RU"/>
          </a:p>
        </p:txBody>
      </p:sp>
      <p:sp>
        <p:nvSpPr>
          <p:cNvPr id="23" name="Text 21"/>
          <p:cNvSpPr txBox="1"/>
          <p:nvPr/>
        </p:nvSpPr>
        <p:spPr>
          <a:xfrm>
            <a:off x="658368" y="3273552"/>
            <a:ext cx="1965960" cy="777240"/>
          </a:xfrm>
          <a:prstGeom prst="rect">
            <a:avLst/>
          </a:prstGeom>
          <a:noFill/>
          <a:ln/>
        </p:spPr>
        <p:txBody>
          <a:bodyPr wrap="square" lIns="0" tIns="0" rIns="0" bIns="0" rtlCol="0" anchor="ctr"/>
          <a:lstStyle/>
          <a:p>
            <a:pPr marL="0" indent="0" algn="l">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Asosiy xavf</a:t>
            </a:r>
            <a:endParaRPr lang="en-US" sz="1600" dirty="0"/>
          </a:p>
        </p:txBody>
      </p:sp>
      <p:sp>
        <p:nvSpPr>
          <p:cNvPr id="24" name="Shape 22"/>
          <p:cNvSpPr/>
          <p:nvPr/>
        </p:nvSpPr>
        <p:spPr>
          <a:xfrm>
            <a:off x="2743200" y="3273552"/>
            <a:ext cx="2194560" cy="777240"/>
          </a:xfrm>
          <a:prstGeom prst="roundRect">
            <a:avLst>
              <a:gd name="adj" fmla="val 4706"/>
            </a:avLst>
          </a:prstGeom>
          <a:solidFill>
            <a:srgbClr val="FFFFFF"/>
          </a:solidFill>
          <a:ln w="12700">
            <a:solidFill>
              <a:srgbClr val="CADCFC"/>
            </a:solidFill>
            <a:prstDash val="solid"/>
          </a:ln>
        </p:spPr>
        <p:txBody>
          <a:bodyPr/>
          <a:lstStyle/>
          <a:p>
            <a:endParaRPr lang="ru-RU"/>
          </a:p>
        </p:txBody>
      </p:sp>
      <p:sp>
        <p:nvSpPr>
          <p:cNvPr id="25" name="Text 23"/>
          <p:cNvSpPr txBox="1"/>
          <p:nvPr/>
        </p:nvSpPr>
        <p:spPr>
          <a:xfrm>
            <a:off x="2852928" y="3273552"/>
            <a:ext cx="2011680" cy="777240"/>
          </a:xfrm>
          <a:prstGeom prst="rect">
            <a:avLst/>
          </a:prstGeom>
          <a:noFill/>
          <a:ln/>
        </p:spPr>
        <p:txBody>
          <a:bodyPr wrap="square" lIns="0" tIns="0" rIns="0" bIns="0" rtlCol="0" anchor="ctr"/>
          <a:lstStyle/>
          <a:p>
            <a:pPr marL="0" indent="0" algn="ctr">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SIM almashtirish, tutib olish</a:t>
            </a:r>
            <a:endParaRPr lang="en-US" sz="1500" dirty="0"/>
          </a:p>
        </p:txBody>
      </p:sp>
      <p:sp>
        <p:nvSpPr>
          <p:cNvPr id="26" name="Shape 24"/>
          <p:cNvSpPr/>
          <p:nvPr/>
        </p:nvSpPr>
        <p:spPr>
          <a:xfrm>
            <a:off x="4983480" y="3273552"/>
            <a:ext cx="2194560" cy="777240"/>
          </a:xfrm>
          <a:prstGeom prst="roundRect">
            <a:avLst>
              <a:gd name="adj" fmla="val 4706"/>
            </a:avLst>
          </a:prstGeom>
          <a:solidFill>
            <a:srgbClr val="FFFFFF"/>
          </a:solidFill>
          <a:ln w="12700">
            <a:solidFill>
              <a:srgbClr val="CADCFC"/>
            </a:solidFill>
            <a:prstDash val="solid"/>
          </a:ln>
        </p:spPr>
        <p:txBody>
          <a:bodyPr/>
          <a:lstStyle/>
          <a:p>
            <a:endParaRPr lang="ru-RU"/>
          </a:p>
        </p:txBody>
      </p:sp>
      <p:sp>
        <p:nvSpPr>
          <p:cNvPr id="27" name="Text 25"/>
          <p:cNvSpPr txBox="1"/>
          <p:nvPr/>
        </p:nvSpPr>
        <p:spPr>
          <a:xfrm>
            <a:off x="5093208" y="3273552"/>
            <a:ext cx="2011680" cy="777240"/>
          </a:xfrm>
          <a:prstGeom prst="rect">
            <a:avLst/>
          </a:prstGeom>
          <a:noFill/>
          <a:ln/>
        </p:spPr>
        <p:txBody>
          <a:bodyPr wrap="square" lIns="0" tIns="0" rIns="0" bIns="0" rtlCol="0" anchor="ctr"/>
          <a:lstStyle/>
          <a:p>
            <a:pPr marL="0" indent="0" algn="ctr">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Fishing, K ning sizishi</a:t>
            </a:r>
            <a:endParaRPr lang="en-US" sz="1500" dirty="0"/>
          </a:p>
        </p:txBody>
      </p:sp>
      <p:sp>
        <p:nvSpPr>
          <p:cNvPr id="28" name="Shape 26"/>
          <p:cNvSpPr/>
          <p:nvPr/>
        </p:nvSpPr>
        <p:spPr>
          <a:xfrm>
            <a:off x="7223760" y="3273552"/>
            <a:ext cx="2194560" cy="777240"/>
          </a:xfrm>
          <a:prstGeom prst="roundRect">
            <a:avLst>
              <a:gd name="adj" fmla="val 4706"/>
            </a:avLst>
          </a:prstGeom>
          <a:solidFill>
            <a:srgbClr val="FFFFFF"/>
          </a:solidFill>
          <a:ln w="12700">
            <a:solidFill>
              <a:srgbClr val="CADCFC"/>
            </a:solidFill>
            <a:prstDash val="solid"/>
          </a:ln>
        </p:spPr>
        <p:txBody>
          <a:bodyPr/>
          <a:lstStyle/>
          <a:p>
            <a:endParaRPr lang="ru-RU"/>
          </a:p>
        </p:txBody>
      </p:sp>
      <p:sp>
        <p:nvSpPr>
          <p:cNvPr id="29" name="Text 27"/>
          <p:cNvSpPr txBox="1"/>
          <p:nvPr/>
        </p:nvSpPr>
        <p:spPr>
          <a:xfrm>
            <a:off x="7333488" y="3273552"/>
            <a:ext cx="2011680" cy="777240"/>
          </a:xfrm>
          <a:prstGeom prst="rect">
            <a:avLst/>
          </a:prstGeom>
          <a:noFill/>
          <a:ln/>
        </p:spPr>
        <p:txBody>
          <a:bodyPr wrap="square" lIns="0" tIns="0" rIns="0" bIns="0" rtlCol="0" anchor="ctr"/>
          <a:lstStyle/>
          <a:p>
            <a:pPr marL="0" indent="0" algn="ctr">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MFA charchoqi, fishing</a:t>
            </a:r>
            <a:endParaRPr lang="en-US" sz="1500" dirty="0"/>
          </a:p>
        </p:txBody>
      </p:sp>
      <p:sp>
        <p:nvSpPr>
          <p:cNvPr id="30" name="Shape 28"/>
          <p:cNvSpPr/>
          <p:nvPr/>
        </p:nvSpPr>
        <p:spPr>
          <a:xfrm>
            <a:off x="9464040" y="3273552"/>
            <a:ext cx="2103120" cy="777240"/>
          </a:xfrm>
          <a:prstGeom prst="roundRect">
            <a:avLst>
              <a:gd name="adj" fmla="val 4706"/>
            </a:avLst>
          </a:prstGeom>
          <a:solidFill>
            <a:srgbClr val="FFFFFF"/>
          </a:solidFill>
          <a:ln w="12700">
            <a:solidFill>
              <a:srgbClr val="CADCFC"/>
            </a:solidFill>
            <a:prstDash val="solid"/>
          </a:ln>
        </p:spPr>
        <p:txBody>
          <a:bodyPr/>
          <a:lstStyle/>
          <a:p>
            <a:endParaRPr lang="ru-RU"/>
          </a:p>
        </p:txBody>
      </p:sp>
      <p:sp>
        <p:nvSpPr>
          <p:cNvPr id="31" name="Text 29"/>
          <p:cNvSpPr txBox="1"/>
          <p:nvPr/>
        </p:nvSpPr>
        <p:spPr>
          <a:xfrm>
            <a:off x="9573768" y="3273552"/>
            <a:ext cx="1920240" cy="777240"/>
          </a:xfrm>
          <a:prstGeom prst="rect">
            <a:avLst/>
          </a:prstGeom>
          <a:noFill/>
          <a:ln/>
        </p:spPr>
        <p:txBody>
          <a:bodyPr wrap="square" lIns="0" tIns="0" rIns="0" bIns="0" rtlCol="0" anchor="ctr"/>
          <a:lstStyle/>
          <a:p>
            <a:pPr marL="0" indent="0" algn="ctr">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Qurilmani yo'qotish</a:t>
            </a:r>
            <a:endParaRPr lang="en-US" sz="1500" dirty="0"/>
          </a:p>
        </p:txBody>
      </p:sp>
      <p:sp>
        <p:nvSpPr>
          <p:cNvPr id="32" name="Shape 30"/>
          <p:cNvSpPr/>
          <p:nvPr/>
        </p:nvSpPr>
        <p:spPr>
          <a:xfrm>
            <a:off x="548640" y="4142232"/>
            <a:ext cx="2148840" cy="777240"/>
          </a:xfrm>
          <a:prstGeom prst="roundRect">
            <a:avLst>
              <a:gd name="adj" fmla="val 4706"/>
            </a:avLst>
          </a:prstGeom>
          <a:solidFill>
            <a:srgbClr val="2A3778"/>
          </a:solidFill>
          <a:ln/>
        </p:spPr>
        <p:txBody>
          <a:bodyPr/>
          <a:lstStyle/>
          <a:p>
            <a:endParaRPr lang="ru-RU"/>
          </a:p>
        </p:txBody>
      </p:sp>
      <p:sp>
        <p:nvSpPr>
          <p:cNvPr id="33" name="Text 31"/>
          <p:cNvSpPr txBox="1"/>
          <p:nvPr/>
        </p:nvSpPr>
        <p:spPr>
          <a:xfrm>
            <a:off x="658368" y="4142232"/>
            <a:ext cx="1965960" cy="777240"/>
          </a:xfrm>
          <a:prstGeom prst="rect">
            <a:avLst/>
          </a:prstGeom>
          <a:noFill/>
          <a:ln/>
        </p:spPr>
        <p:txBody>
          <a:bodyPr wrap="square" lIns="0" tIns="0" rIns="0" bIns="0" rtlCol="0" anchor="ctr"/>
          <a:lstStyle/>
          <a:p>
            <a:pPr marL="0" indent="0" algn="l">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Fishingga bardosh</a:t>
            </a:r>
            <a:endParaRPr lang="en-US" sz="1600" dirty="0"/>
          </a:p>
        </p:txBody>
      </p:sp>
      <p:sp>
        <p:nvSpPr>
          <p:cNvPr id="34" name="Shape 32"/>
          <p:cNvSpPr/>
          <p:nvPr/>
        </p:nvSpPr>
        <p:spPr>
          <a:xfrm>
            <a:off x="2743200" y="4142232"/>
            <a:ext cx="2194560" cy="777240"/>
          </a:xfrm>
          <a:prstGeom prst="roundRect">
            <a:avLst>
              <a:gd name="adj" fmla="val 4706"/>
            </a:avLst>
          </a:prstGeom>
          <a:solidFill>
            <a:srgbClr val="F7ECEA"/>
          </a:solidFill>
          <a:ln/>
        </p:spPr>
        <p:txBody>
          <a:bodyPr/>
          <a:lstStyle/>
          <a:p>
            <a:endParaRPr lang="ru-RU"/>
          </a:p>
        </p:txBody>
      </p:sp>
      <p:sp>
        <p:nvSpPr>
          <p:cNvPr id="35" name="Text 33"/>
          <p:cNvSpPr txBox="1"/>
          <p:nvPr/>
        </p:nvSpPr>
        <p:spPr>
          <a:xfrm>
            <a:off x="2852928" y="4142232"/>
            <a:ext cx="2011680" cy="777240"/>
          </a:xfrm>
          <a:prstGeom prst="rect">
            <a:avLst/>
          </a:prstGeom>
          <a:noFill/>
          <a:ln/>
        </p:spPr>
        <p:txBody>
          <a:bodyPr wrap="square" lIns="0" tIns="0" rIns="0" bIns="0" rtlCol="0" anchor="ctr"/>
          <a:lstStyle/>
          <a:p>
            <a:pPr marL="0" indent="0" algn="ctr">
              <a:lnSpc>
                <a:spcPct val="100000"/>
              </a:lnSpc>
              <a:buNone/>
            </a:pPr>
            <a:r>
              <a:rPr lang="en-US" sz="1500" b="1" dirty="0">
                <a:solidFill>
                  <a:srgbClr val="9E3B2E"/>
                </a:solidFill>
                <a:latin typeface="Times New Roman" pitchFamily="34" charset="0"/>
                <a:ea typeface="Times New Roman" pitchFamily="34" charset="-122"/>
                <a:cs typeface="Times New Roman" pitchFamily="34" charset="-120"/>
              </a:rPr>
              <a:t>Yo'q</a:t>
            </a:r>
            <a:endParaRPr lang="en-US" sz="1500" dirty="0"/>
          </a:p>
        </p:txBody>
      </p:sp>
      <p:sp>
        <p:nvSpPr>
          <p:cNvPr id="36" name="Shape 34"/>
          <p:cNvSpPr/>
          <p:nvPr/>
        </p:nvSpPr>
        <p:spPr>
          <a:xfrm>
            <a:off x="4983480" y="4142232"/>
            <a:ext cx="2194560" cy="777240"/>
          </a:xfrm>
          <a:prstGeom prst="roundRect">
            <a:avLst>
              <a:gd name="adj" fmla="val 4706"/>
            </a:avLst>
          </a:prstGeom>
          <a:solidFill>
            <a:srgbClr val="F7ECEA"/>
          </a:solidFill>
          <a:ln/>
        </p:spPr>
        <p:txBody>
          <a:bodyPr/>
          <a:lstStyle/>
          <a:p>
            <a:endParaRPr lang="ru-RU"/>
          </a:p>
        </p:txBody>
      </p:sp>
      <p:sp>
        <p:nvSpPr>
          <p:cNvPr id="37" name="Text 35"/>
          <p:cNvSpPr txBox="1"/>
          <p:nvPr/>
        </p:nvSpPr>
        <p:spPr>
          <a:xfrm>
            <a:off x="5093208" y="4142232"/>
            <a:ext cx="2011680" cy="777240"/>
          </a:xfrm>
          <a:prstGeom prst="rect">
            <a:avLst/>
          </a:prstGeom>
          <a:noFill/>
          <a:ln/>
        </p:spPr>
        <p:txBody>
          <a:bodyPr wrap="square" lIns="0" tIns="0" rIns="0" bIns="0" rtlCol="0" anchor="ctr"/>
          <a:lstStyle/>
          <a:p>
            <a:pPr marL="0" indent="0" algn="ctr">
              <a:lnSpc>
                <a:spcPct val="100000"/>
              </a:lnSpc>
              <a:buNone/>
            </a:pPr>
            <a:r>
              <a:rPr lang="en-US" sz="1500" b="1" dirty="0">
                <a:solidFill>
                  <a:srgbClr val="9E3B2E"/>
                </a:solidFill>
                <a:latin typeface="Times New Roman" pitchFamily="34" charset="0"/>
                <a:ea typeface="Times New Roman" pitchFamily="34" charset="-122"/>
                <a:cs typeface="Times New Roman" pitchFamily="34" charset="-120"/>
              </a:rPr>
              <a:t>Yo'q</a:t>
            </a:r>
            <a:endParaRPr lang="en-US" sz="1500" dirty="0"/>
          </a:p>
        </p:txBody>
      </p:sp>
      <p:sp>
        <p:nvSpPr>
          <p:cNvPr id="38" name="Shape 36"/>
          <p:cNvSpPr/>
          <p:nvPr/>
        </p:nvSpPr>
        <p:spPr>
          <a:xfrm>
            <a:off x="7223760" y="4142232"/>
            <a:ext cx="2194560" cy="777240"/>
          </a:xfrm>
          <a:prstGeom prst="roundRect">
            <a:avLst>
              <a:gd name="adj" fmla="val 4706"/>
            </a:avLst>
          </a:prstGeom>
          <a:solidFill>
            <a:srgbClr val="EEF2FB"/>
          </a:solidFill>
          <a:ln/>
        </p:spPr>
        <p:txBody>
          <a:bodyPr/>
          <a:lstStyle/>
          <a:p>
            <a:endParaRPr lang="ru-RU"/>
          </a:p>
        </p:txBody>
      </p:sp>
      <p:sp>
        <p:nvSpPr>
          <p:cNvPr id="39" name="Text 37"/>
          <p:cNvSpPr txBox="1"/>
          <p:nvPr/>
        </p:nvSpPr>
        <p:spPr>
          <a:xfrm>
            <a:off x="7333488" y="4142232"/>
            <a:ext cx="2011680" cy="777240"/>
          </a:xfrm>
          <a:prstGeom prst="rect">
            <a:avLst/>
          </a:prstGeom>
          <a:noFill/>
          <a:ln/>
        </p:spPr>
        <p:txBody>
          <a:bodyPr wrap="square" lIns="0" tIns="0" rIns="0" bIns="0" rtlCol="0" anchor="ctr"/>
          <a:lstStyle/>
          <a:p>
            <a:pPr marL="0" indent="0" algn="ctr">
              <a:lnSpc>
                <a:spcPct val="100000"/>
              </a:lnSpc>
              <a:buNone/>
            </a:pPr>
            <a:r>
              <a:rPr lang="en-US" sz="1500" b="1" dirty="0">
                <a:solidFill>
                  <a:srgbClr val="1B1B2A"/>
                </a:solidFill>
                <a:latin typeface="Times New Roman" pitchFamily="34" charset="0"/>
                <a:ea typeface="Times New Roman" pitchFamily="34" charset="-122"/>
                <a:cs typeface="Times New Roman" pitchFamily="34" charset="-120"/>
              </a:rPr>
              <a:t>Qisman (raqam moslashtirish)</a:t>
            </a:r>
            <a:endParaRPr lang="en-US" sz="1500" dirty="0"/>
          </a:p>
        </p:txBody>
      </p:sp>
      <p:sp>
        <p:nvSpPr>
          <p:cNvPr id="40" name="Shape 38"/>
          <p:cNvSpPr/>
          <p:nvPr/>
        </p:nvSpPr>
        <p:spPr>
          <a:xfrm>
            <a:off x="9464040" y="4142232"/>
            <a:ext cx="2103120" cy="777240"/>
          </a:xfrm>
          <a:prstGeom prst="roundRect">
            <a:avLst>
              <a:gd name="adj" fmla="val 4706"/>
            </a:avLst>
          </a:prstGeom>
          <a:solidFill>
            <a:srgbClr val="E8F3EC"/>
          </a:solidFill>
          <a:ln/>
        </p:spPr>
        <p:txBody>
          <a:bodyPr/>
          <a:lstStyle/>
          <a:p>
            <a:endParaRPr lang="ru-RU"/>
          </a:p>
        </p:txBody>
      </p:sp>
      <p:sp>
        <p:nvSpPr>
          <p:cNvPr id="41" name="Text 39"/>
          <p:cNvSpPr txBox="1"/>
          <p:nvPr/>
        </p:nvSpPr>
        <p:spPr>
          <a:xfrm>
            <a:off x="9573768" y="4142232"/>
            <a:ext cx="1920240" cy="777240"/>
          </a:xfrm>
          <a:prstGeom prst="rect">
            <a:avLst/>
          </a:prstGeom>
          <a:noFill/>
          <a:ln/>
        </p:spPr>
        <p:txBody>
          <a:bodyPr wrap="square" lIns="0" tIns="0" rIns="0" bIns="0" rtlCol="0" anchor="ctr"/>
          <a:lstStyle/>
          <a:p>
            <a:pPr marL="0" indent="0" algn="ctr">
              <a:lnSpc>
                <a:spcPct val="100000"/>
              </a:lnSpc>
              <a:buNone/>
            </a:pPr>
            <a:r>
              <a:rPr lang="en-US" sz="1500" b="1" dirty="0">
                <a:solidFill>
                  <a:srgbClr val="1F6B4A"/>
                </a:solidFill>
                <a:latin typeface="Times New Roman" pitchFamily="34" charset="0"/>
                <a:ea typeface="Times New Roman" pitchFamily="34" charset="-122"/>
                <a:cs typeface="Times New Roman" pitchFamily="34" charset="-120"/>
              </a:rPr>
              <a:t>Ha</a:t>
            </a:r>
            <a:endParaRPr lang="en-US" sz="1500" dirty="0"/>
          </a:p>
        </p:txBody>
      </p:sp>
      <p:sp>
        <p:nvSpPr>
          <p:cNvPr id="42" name="Shape 40"/>
          <p:cNvSpPr/>
          <p:nvPr/>
        </p:nvSpPr>
        <p:spPr>
          <a:xfrm>
            <a:off x="548640" y="5010912"/>
            <a:ext cx="2148840" cy="777240"/>
          </a:xfrm>
          <a:prstGeom prst="roundRect">
            <a:avLst>
              <a:gd name="adj" fmla="val 4706"/>
            </a:avLst>
          </a:prstGeom>
          <a:solidFill>
            <a:srgbClr val="2A3778"/>
          </a:solidFill>
          <a:ln/>
        </p:spPr>
        <p:txBody>
          <a:bodyPr/>
          <a:lstStyle/>
          <a:p>
            <a:endParaRPr lang="ru-RU"/>
          </a:p>
        </p:txBody>
      </p:sp>
      <p:sp>
        <p:nvSpPr>
          <p:cNvPr id="43" name="Text 41"/>
          <p:cNvSpPr txBox="1"/>
          <p:nvPr/>
        </p:nvSpPr>
        <p:spPr>
          <a:xfrm>
            <a:off x="658368" y="5010912"/>
            <a:ext cx="1965960" cy="777240"/>
          </a:xfrm>
          <a:prstGeom prst="rect">
            <a:avLst/>
          </a:prstGeom>
          <a:noFill/>
          <a:ln/>
        </p:spPr>
        <p:txBody>
          <a:bodyPr wrap="square" lIns="0" tIns="0" rIns="0" bIns="0" rtlCol="0" anchor="ctr"/>
          <a:lstStyle/>
          <a:p>
            <a:pPr marL="0" indent="0" algn="l">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NIST SP 800-63B-4</a:t>
            </a:r>
            <a:endParaRPr lang="en-US" sz="1600" dirty="0"/>
          </a:p>
        </p:txBody>
      </p:sp>
      <p:sp>
        <p:nvSpPr>
          <p:cNvPr id="44" name="Shape 42"/>
          <p:cNvSpPr/>
          <p:nvPr/>
        </p:nvSpPr>
        <p:spPr>
          <a:xfrm>
            <a:off x="2743200" y="5010912"/>
            <a:ext cx="2194560" cy="777240"/>
          </a:xfrm>
          <a:prstGeom prst="roundRect">
            <a:avLst>
              <a:gd name="adj" fmla="val 4706"/>
            </a:avLst>
          </a:prstGeom>
          <a:solidFill>
            <a:srgbClr val="F7ECEA"/>
          </a:solidFill>
          <a:ln/>
        </p:spPr>
        <p:txBody>
          <a:bodyPr/>
          <a:lstStyle/>
          <a:p>
            <a:endParaRPr lang="ru-RU"/>
          </a:p>
        </p:txBody>
      </p:sp>
      <p:sp>
        <p:nvSpPr>
          <p:cNvPr id="45" name="Text 43"/>
          <p:cNvSpPr txBox="1"/>
          <p:nvPr/>
        </p:nvSpPr>
        <p:spPr>
          <a:xfrm>
            <a:off x="2852928" y="5010912"/>
            <a:ext cx="2011680" cy="777240"/>
          </a:xfrm>
          <a:prstGeom prst="rect">
            <a:avLst/>
          </a:prstGeom>
          <a:noFill/>
          <a:ln/>
        </p:spPr>
        <p:txBody>
          <a:bodyPr wrap="square" lIns="0" tIns="0" rIns="0" bIns="0" rtlCol="0" anchor="ctr"/>
          <a:lstStyle/>
          <a:p>
            <a:pPr marL="0" indent="0" algn="ctr">
              <a:lnSpc>
                <a:spcPct val="100000"/>
              </a:lnSpc>
              <a:buNone/>
            </a:pPr>
            <a:r>
              <a:rPr lang="en-US" sz="1500" b="1" dirty="0">
                <a:solidFill>
                  <a:srgbClr val="9E3B2E"/>
                </a:solidFill>
                <a:latin typeface="Times New Roman" pitchFamily="34" charset="0"/>
                <a:ea typeface="Times New Roman" pitchFamily="34" charset="-122"/>
                <a:cs typeface="Times New Roman" pitchFamily="34" charset="-120"/>
              </a:rPr>
              <a:t>Cheklangan</a:t>
            </a:r>
            <a:endParaRPr lang="en-US" sz="1500" dirty="0"/>
          </a:p>
        </p:txBody>
      </p:sp>
      <p:sp>
        <p:nvSpPr>
          <p:cNvPr id="46" name="Shape 44"/>
          <p:cNvSpPr/>
          <p:nvPr/>
        </p:nvSpPr>
        <p:spPr>
          <a:xfrm>
            <a:off x="4983480" y="5010912"/>
            <a:ext cx="2194560" cy="777240"/>
          </a:xfrm>
          <a:prstGeom prst="roundRect">
            <a:avLst>
              <a:gd name="adj" fmla="val 4706"/>
            </a:avLst>
          </a:prstGeom>
          <a:solidFill>
            <a:srgbClr val="FFFFFF"/>
          </a:solidFill>
          <a:ln w="12700">
            <a:solidFill>
              <a:srgbClr val="CADCFC"/>
            </a:solidFill>
            <a:prstDash val="solid"/>
          </a:ln>
        </p:spPr>
        <p:txBody>
          <a:bodyPr/>
          <a:lstStyle/>
          <a:p>
            <a:endParaRPr lang="ru-RU"/>
          </a:p>
        </p:txBody>
      </p:sp>
      <p:sp>
        <p:nvSpPr>
          <p:cNvPr id="47" name="Text 45"/>
          <p:cNvSpPr txBox="1"/>
          <p:nvPr/>
        </p:nvSpPr>
        <p:spPr>
          <a:xfrm>
            <a:off x="5093208" y="5010912"/>
            <a:ext cx="2011680" cy="777240"/>
          </a:xfrm>
          <a:prstGeom prst="rect">
            <a:avLst/>
          </a:prstGeom>
          <a:noFill/>
          <a:ln/>
        </p:spPr>
        <p:txBody>
          <a:bodyPr wrap="square" lIns="0" tIns="0" rIns="0" bIns="0" rtlCol="0" anchor="ctr"/>
          <a:lstStyle/>
          <a:p>
            <a:pPr marL="0" indent="0" algn="ctr">
              <a:lnSpc>
                <a:spcPct val="100000"/>
              </a:lnSpc>
              <a:buNone/>
            </a:pPr>
            <a:r>
              <a:rPr lang="en-US" sz="1500" b="1" dirty="0">
                <a:solidFill>
                  <a:srgbClr val="1B1B2A"/>
                </a:solidFill>
                <a:latin typeface="Times New Roman" pitchFamily="34" charset="0"/>
                <a:ea typeface="Times New Roman" pitchFamily="34" charset="-122"/>
                <a:cs typeface="Times New Roman" pitchFamily="34" charset="-120"/>
              </a:rPr>
              <a:t>AAL2</a:t>
            </a:r>
            <a:endParaRPr lang="en-US" sz="1500" dirty="0"/>
          </a:p>
        </p:txBody>
      </p:sp>
      <p:sp>
        <p:nvSpPr>
          <p:cNvPr id="48" name="Shape 46"/>
          <p:cNvSpPr/>
          <p:nvPr/>
        </p:nvSpPr>
        <p:spPr>
          <a:xfrm>
            <a:off x="7223760" y="5010912"/>
            <a:ext cx="2194560" cy="777240"/>
          </a:xfrm>
          <a:prstGeom prst="roundRect">
            <a:avLst>
              <a:gd name="adj" fmla="val 4706"/>
            </a:avLst>
          </a:prstGeom>
          <a:solidFill>
            <a:srgbClr val="FFFFFF"/>
          </a:solidFill>
          <a:ln w="12700">
            <a:solidFill>
              <a:srgbClr val="CADCFC"/>
            </a:solidFill>
            <a:prstDash val="solid"/>
          </a:ln>
        </p:spPr>
        <p:txBody>
          <a:bodyPr/>
          <a:lstStyle/>
          <a:p>
            <a:endParaRPr lang="ru-RU"/>
          </a:p>
        </p:txBody>
      </p:sp>
      <p:sp>
        <p:nvSpPr>
          <p:cNvPr id="49" name="Text 47"/>
          <p:cNvSpPr txBox="1"/>
          <p:nvPr/>
        </p:nvSpPr>
        <p:spPr>
          <a:xfrm>
            <a:off x="7333488" y="5010912"/>
            <a:ext cx="2011680" cy="777240"/>
          </a:xfrm>
          <a:prstGeom prst="rect">
            <a:avLst/>
          </a:prstGeom>
          <a:noFill/>
          <a:ln/>
        </p:spPr>
        <p:txBody>
          <a:bodyPr wrap="square" lIns="0" tIns="0" rIns="0" bIns="0" rtlCol="0" anchor="ctr"/>
          <a:lstStyle/>
          <a:p>
            <a:pPr marL="0" indent="0" algn="ctr">
              <a:lnSpc>
                <a:spcPct val="100000"/>
              </a:lnSpc>
              <a:buNone/>
            </a:pPr>
            <a:r>
              <a:rPr lang="en-US" sz="1500" b="1" dirty="0">
                <a:solidFill>
                  <a:srgbClr val="1B1B2A"/>
                </a:solidFill>
                <a:latin typeface="Times New Roman" pitchFamily="34" charset="0"/>
                <a:ea typeface="Times New Roman" pitchFamily="34" charset="-122"/>
                <a:cs typeface="Times New Roman" pitchFamily="34" charset="-120"/>
              </a:rPr>
              <a:t>AAL2</a:t>
            </a:r>
            <a:endParaRPr lang="en-US" sz="1500" dirty="0"/>
          </a:p>
        </p:txBody>
      </p:sp>
      <p:sp>
        <p:nvSpPr>
          <p:cNvPr id="50" name="Shape 48"/>
          <p:cNvSpPr/>
          <p:nvPr/>
        </p:nvSpPr>
        <p:spPr>
          <a:xfrm>
            <a:off x="9464040" y="5010912"/>
            <a:ext cx="2103120" cy="777240"/>
          </a:xfrm>
          <a:prstGeom prst="roundRect">
            <a:avLst>
              <a:gd name="adj" fmla="val 4706"/>
            </a:avLst>
          </a:prstGeom>
          <a:solidFill>
            <a:srgbClr val="E8F3EC"/>
          </a:solidFill>
          <a:ln/>
        </p:spPr>
        <p:txBody>
          <a:bodyPr/>
          <a:lstStyle/>
          <a:p>
            <a:endParaRPr lang="ru-RU"/>
          </a:p>
        </p:txBody>
      </p:sp>
      <p:sp>
        <p:nvSpPr>
          <p:cNvPr id="51" name="Text 49"/>
          <p:cNvSpPr txBox="1"/>
          <p:nvPr/>
        </p:nvSpPr>
        <p:spPr>
          <a:xfrm>
            <a:off x="9573768" y="5010912"/>
            <a:ext cx="1920240" cy="777240"/>
          </a:xfrm>
          <a:prstGeom prst="rect">
            <a:avLst/>
          </a:prstGeom>
          <a:noFill/>
          <a:ln/>
        </p:spPr>
        <p:txBody>
          <a:bodyPr wrap="square" lIns="0" tIns="0" rIns="0" bIns="0" rtlCol="0" anchor="ctr"/>
          <a:lstStyle/>
          <a:p>
            <a:pPr marL="0" indent="0" algn="ctr">
              <a:lnSpc>
                <a:spcPct val="100000"/>
              </a:lnSpc>
              <a:buNone/>
            </a:pPr>
            <a:r>
              <a:rPr lang="en-US" sz="1500" b="1" dirty="0">
                <a:solidFill>
                  <a:srgbClr val="1F6B4A"/>
                </a:solidFill>
                <a:latin typeface="Times New Roman" pitchFamily="34" charset="0"/>
                <a:ea typeface="Times New Roman" pitchFamily="34" charset="-122"/>
                <a:cs typeface="Times New Roman" pitchFamily="34" charset="-120"/>
              </a:rPr>
              <a:t>AAL3</a:t>
            </a:r>
            <a:endParaRPr lang="en-US" sz="1500" dirty="0"/>
          </a:p>
        </p:txBody>
      </p:sp>
      <p:sp>
        <p:nvSpPr>
          <p:cNvPr id="52" name="Text 50"/>
          <p:cNvSpPr txBox="1"/>
          <p:nvPr/>
        </p:nvSpPr>
        <p:spPr>
          <a:xfrm>
            <a:off x="548640" y="5943600"/>
            <a:ext cx="11064240" cy="457200"/>
          </a:xfrm>
          <a:prstGeom prst="rect">
            <a:avLst/>
          </a:prstGeom>
          <a:noFill/>
          <a:ln/>
        </p:spPr>
        <p:txBody>
          <a:bodyPr wrap="square" lIns="0" tIns="0" rIns="0" bIns="0" rtlCol="0" anchor="t"/>
          <a:lstStyle/>
          <a:p>
            <a:pPr marL="0" indent="0" algn="ctr">
              <a:lnSpc>
                <a:spcPct val="100000"/>
              </a:lnSpc>
              <a:buNone/>
            </a:pPr>
            <a:r>
              <a:rPr lang="en-US" sz="1600" dirty="0">
                <a:solidFill>
                  <a:srgbClr val="1E2761"/>
                </a:solidFill>
                <a:latin typeface="Times New Roman" pitchFamily="34" charset="0"/>
                <a:ea typeface="Times New Roman" pitchFamily="34" charset="-122"/>
                <a:cs typeface="Times New Roman" pitchFamily="34" charset="-120"/>
              </a:rPr>
              <a:t>FIDO2 — keyingi, 5-ma'ruza mavzusi. OTP qanchalik yaxshi bo'lmasin, foydalanuvchi uni soxta saytga ham kiritishi mumkin.</a:t>
            </a:r>
            <a:endParaRPr lang="en-US" sz="1600" dirty="0"/>
          </a:p>
        </p:txBody>
      </p:sp>
      <p:sp>
        <p:nvSpPr>
          <p:cNvPr id="53" name="Text 51"/>
          <p:cNvSpPr txBox="1"/>
          <p:nvPr/>
        </p:nvSpPr>
        <p:spPr>
          <a:xfrm>
            <a:off x="548640" y="6492240"/>
            <a:ext cx="7315200" cy="274320"/>
          </a:xfrm>
          <a:prstGeom prst="rect">
            <a:avLst/>
          </a:prstGeom>
          <a:noFill/>
          <a:ln/>
        </p:spPr>
        <p:txBody>
          <a:bodyPr wrap="square" lIns="0" tIns="0" rIns="0" bIns="0" rtlCol="0" anchor="ctr"/>
          <a:lstStyle/>
          <a:p>
            <a:pPr marL="0" indent="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4-ma'ruza</a:t>
            </a:r>
            <a:endParaRPr lang="en-US" sz="1100" dirty="0"/>
          </a:p>
        </p:txBody>
      </p:sp>
      <p:sp>
        <p:nvSpPr>
          <p:cNvPr id="54" name="Text 52"/>
          <p:cNvSpPr txBox="1"/>
          <p:nvPr/>
        </p:nvSpPr>
        <p:spPr>
          <a:xfrm>
            <a:off x="11155680" y="6492240"/>
            <a:ext cx="457200" cy="274320"/>
          </a:xfrm>
          <a:prstGeom prst="rect">
            <a:avLst/>
          </a:prstGeom>
          <a:noFill/>
          <a:ln/>
        </p:spPr>
        <p:txBody>
          <a:bodyPr wrap="square" lIns="0" tIns="0" rIns="0" bIns="0" rtlCol="0" anchor="ctr"/>
          <a:lstStyle/>
          <a:p>
            <a:pPr marL="0" indent="0" algn="r">
              <a:buNone/>
            </a:pPr>
            <a:r>
              <a:rPr lang="en-US" sz="1100" dirty="0">
                <a:solidFill>
                  <a:srgbClr val="5B6270"/>
                </a:solidFill>
                <a:latin typeface="Times New Roman" pitchFamily="34" charset="0"/>
                <a:ea typeface="Times New Roman" pitchFamily="34" charset="-122"/>
                <a:cs typeface="Times New Roman"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463040" y="4206240"/>
            <a:ext cx="4572000" cy="4572000"/>
          </a:xfrm>
          <a:prstGeom prst="ellipse">
            <a:avLst/>
          </a:prstGeom>
          <a:solidFill>
            <a:srgbClr val="2A3778"/>
          </a:solidFill>
          <a:ln/>
        </p:spPr>
        <p:txBody>
          <a:bodyPr/>
          <a:lstStyle/>
          <a:p>
            <a:endParaRPr lang="ru-RU"/>
          </a:p>
        </p:txBody>
      </p:sp>
      <p:sp>
        <p:nvSpPr>
          <p:cNvPr id="3" name="Text 1"/>
          <p:cNvSpPr txBox="1"/>
          <p:nvPr/>
        </p:nvSpPr>
        <p:spPr>
          <a:xfrm>
            <a:off x="1005840" y="2286000"/>
            <a:ext cx="5486400" cy="411480"/>
          </a:xfrm>
          <a:prstGeom prst="rect">
            <a:avLst/>
          </a:prstGeom>
          <a:noFill/>
          <a:ln/>
        </p:spPr>
        <p:txBody>
          <a:bodyPr wrap="square" lIns="0" tIns="0" rIns="0" bIns="0" rtlCol="0" anchor="ctr"/>
          <a:lstStyle/>
          <a:p>
            <a:pPr marL="0" indent="0">
              <a:buNone/>
            </a:pPr>
            <a:r>
              <a:rPr lang="en-US" sz="1600" b="1" kern="0" spc="300" dirty="0">
                <a:solidFill>
                  <a:srgbClr val="9FB0E0"/>
                </a:solidFill>
                <a:latin typeface="Times New Roman" pitchFamily="34" charset="0"/>
                <a:ea typeface="Times New Roman" pitchFamily="34" charset="-122"/>
                <a:cs typeface="Times New Roman" pitchFamily="34" charset="-120"/>
              </a:rPr>
              <a:t>II BO'LIM</a:t>
            </a:r>
            <a:endParaRPr lang="en-US" sz="1600" dirty="0"/>
          </a:p>
        </p:txBody>
      </p:sp>
      <p:sp>
        <p:nvSpPr>
          <p:cNvPr id="4" name="Text 2"/>
          <p:cNvSpPr txBox="1"/>
          <p:nvPr/>
        </p:nvSpPr>
        <p:spPr>
          <a:xfrm>
            <a:off x="1005840" y="2724912"/>
            <a:ext cx="8229600" cy="914400"/>
          </a:xfrm>
          <a:prstGeom prst="rect">
            <a:avLst/>
          </a:prstGeom>
          <a:noFill/>
          <a:ln/>
        </p:spPr>
        <p:txBody>
          <a:bodyPr wrap="square" lIns="0" tIns="0" rIns="0" bIns="0" rtlCol="0" anchor="ctr"/>
          <a:lstStyle/>
          <a:p>
            <a:pPr marL="0" indent="0">
              <a:buNone/>
            </a:pPr>
            <a:r>
              <a:rPr lang="en-US" sz="4400" b="1" dirty="0">
                <a:solidFill>
                  <a:srgbClr val="FFFFFF"/>
                </a:solidFill>
                <a:latin typeface="Times New Roman" pitchFamily="34" charset="0"/>
                <a:ea typeface="Times New Roman" pitchFamily="34" charset="-122"/>
                <a:cs typeface="Times New Roman" pitchFamily="34" charset="-120"/>
              </a:rPr>
              <a:t>Ko'p omilli autentifikatsiya</a:t>
            </a:r>
            <a:endParaRPr lang="en-US" sz="4400" dirty="0"/>
          </a:p>
        </p:txBody>
      </p:sp>
      <p:sp>
        <p:nvSpPr>
          <p:cNvPr id="5" name="Text 3"/>
          <p:cNvSpPr txBox="1"/>
          <p:nvPr/>
        </p:nvSpPr>
        <p:spPr>
          <a:xfrm>
            <a:off x="1005840" y="3703320"/>
            <a:ext cx="8229600" cy="502920"/>
          </a:xfrm>
          <a:prstGeom prst="rect">
            <a:avLst/>
          </a:prstGeom>
          <a:noFill/>
          <a:ln/>
        </p:spPr>
        <p:txBody>
          <a:bodyPr wrap="square" lIns="0" tIns="0" rIns="0" bIns="0" rtlCol="0" anchor="ctr"/>
          <a:lstStyle/>
          <a:p>
            <a:pPr marL="0" indent="0">
              <a:buNone/>
            </a:pPr>
            <a:r>
              <a:rPr lang="en-US" sz="2000" dirty="0">
                <a:solidFill>
                  <a:srgbClr val="CADCFC"/>
                </a:solidFill>
                <a:latin typeface="Times New Roman" pitchFamily="34" charset="0"/>
                <a:ea typeface="Times New Roman" pitchFamily="34" charset="-122"/>
                <a:cs typeface="Times New Roman" pitchFamily="34" charset="-120"/>
              </a:rPr>
              <a:t>Hujumlar · Himoya · Ishonch darajalari</a:t>
            </a:r>
            <a:endParaRPr lang="en-US" sz="2000" dirty="0"/>
          </a:p>
        </p:txBody>
      </p:sp>
      <p:sp>
        <p:nvSpPr>
          <p:cNvPr id="6" name="Text 4"/>
          <p:cNvSpPr txBox="1"/>
          <p:nvPr/>
        </p:nvSpPr>
        <p:spPr>
          <a:xfrm>
            <a:off x="9052560" y="1920240"/>
            <a:ext cx="2560320" cy="2743200"/>
          </a:xfrm>
          <a:prstGeom prst="rect">
            <a:avLst/>
          </a:prstGeom>
          <a:noFill/>
          <a:ln/>
        </p:spPr>
        <p:txBody>
          <a:bodyPr wrap="square" rtlCol="0" anchor="ctr"/>
          <a:lstStyle/>
          <a:p>
            <a:pPr marL="0" indent="0" algn="ctr">
              <a:buNone/>
            </a:pPr>
            <a:r>
              <a:rPr lang="en-US" sz="13000" b="1" dirty="0">
                <a:solidFill>
                  <a:srgbClr val="2A3778"/>
                </a:solidFill>
                <a:latin typeface="Times New Roman" pitchFamily="34" charset="0"/>
                <a:ea typeface="Times New Roman" pitchFamily="34" charset="-122"/>
                <a:cs typeface="Times New Roman" pitchFamily="34" charset="-120"/>
              </a:rPr>
              <a:t>II</a:t>
            </a:r>
            <a:endParaRPr lang="en-US" sz="13000" dirty="0"/>
          </a:p>
        </p:txBody>
      </p:sp>
      <p:sp>
        <p:nvSpPr>
          <p:cNvPr id="7" name="Text 5"/>
          <p:cNvSpPr txBox="1"/>
          <p:nvPr/>
        </p:nvSpPr>
        <p:spPr>
          <a:xfrm>
            <a:off x="548640" y="6492240"/>
            <a:ext cx="7315200" cy="274320"/>
          </a:xfrm>
          <a:prstGeom prst="rect">
            <a:avLst/>
          </a:prstGeom>
          <a:noFill/>
          <a:ln/>
        </p:spPr>
        <p:txBody>
          <a:bodyPr wrap="square" lIns="0" tIns="0" rIns="0" bIns="0" rtlCol="0" anchor="ctr"/>
          <a:lstStyle/>
          <a:p>
            <a:pPr marL="0" indent="0">
              <a:buNone/>
            </a:pPr>
            <a:r>
              <a:rPr lang="en-US" sz="1100" dirty="0">
                <a:solidFill>
                  <a:srgbClr val="9FB0E0"/>
                </a:solidFill>
                <a:latin typeface="Times New Roman" pitchFamily="34" charset="0"/>
                <a:ea typeface="Times New Roman" pitchFamily="34" charset="-122"/>
                <a:cs typeface="Times New Roman" pitchFamily="34" charset="-120"/>
              </a:rPr>
              <a:t>Foydalanishlarni boshqarish  ·  4-ma'ruza</a:t>
            </a:r>
            <a:endParaRPr lang="en-US" sz="1100" dirty="0"/>
          </a:p>
        </p:txBody>
      </p:sp>
      <p:sp>
        <p:nvSpPr>
          <p:cNvPr id="8" name="Text 6"/>
          <p:cNvSpPr txBox="1"/>
          <p:nvPr/>
        </p:nvSpPr>
        <p:spPr>
          <a:xfrm>
            <a:off x="11155680" y="6492240"/>
            <a:ext cx="457200" cy="274320"/>
          </a:xfrm>
          <a:prstGeom prst="rect">
            <a:avLst/>
          </a:prstGeom>
          <a:noFill/>
          <a:ln/>
        </p:spPr>
        <p:txBody>
          <a:bodyPr wrap="square" lIns="0" tIns="0" rIns="0" bIns="0" rtlCol="0" anchor="ctr"/>
          <a:lstStyle/>
          <a:p>
            <a:pPr marL="0" indent="0" algn="r">
              <a:buNone/>
            </a:pPr>
            <a:r>
              <a:rPr lang="en-US" sz="1100" dirty="0">
                <a:solidFill>
                  <a:srgbClr val="9FB0E0"/>
                </a:solidFill>
                <a:latin typeface="Times New Roman" pitchFamily="34" charset="0"/>
                <a:ea typeface="Times New Roman" pitchFamily="34" charset="-122"/>
                <a:cs typeface="Times New Roman"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marL="0" indent="0">
              <a:buNone/>
            </a:pPr>
            <a:r>
              <a:rPr lang="en-US" sz="1600" b="1" kern="0" spc="220" dirty="0">
                <a:solidFill>
                  <a:srgbClr val="5B6270"/>
                </a:solidFill>
                <a:latin typeface="Times New Roman" pitchFamily="34" charset="0"/>
                <a:ea typeface="Times New Roman" pitchFamily="34" charset="-122"/>
                <a:cs typeface="Times New Roman" pitchFamily="34" charset="-120"/>
              </a:rPr>
              <a:t>HUJUMLAR</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marL="0" indent="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Ikkinchi omilni qanday aylanib o'tishadi?</a:t>
            </a:r>
            <a:endParaRPr lang="en-US" sz="3600" dirty="0"/>
          </a:p>
        </p:txBody>
      </p:sp>
      <p:sp>
        <p:nvSpPr>
          <p:cNvPr id="4" name="Shape 2"/>
          <p:cNvSpPr/>
          <p:nvPr/>
        </p:nvSpPr>
        <p:spPr>
          <a:xfrm>
            <a:off x="548640" y="1783080"/>
            <a:ext cx="5440680" cy="1920240"/>
          </a:xfrm>
          <a:prstGeom prst="roundRect">
            <a:avLst>
              <a:gd name="adj" fmla="val 4286"/>
            </a:avLst>
          </a:prstGeom>
          <a:solidFill>
            <a:srgbClr val="EEF2FB"/>
          </a:solidFill>
          <a:ln/>
        </p:spPr>
        <p:txBody>
          <a:bodyPr/>
          <a:lstStyle/>
          <a:p>
            <a:endParaRPr lang="ru-RU"/>
          </a:p>
        </p:txBody>
      </p:sp>
      <p:sp>
        <p:nvSpPr>
          <p:cNvPr id="5" name="Shape 3"/>
          <p:cNvSpPr/>
          <p:nvPr/>
        </p:nvSpPr>
        <p:spPr>
          <a:xfrm>
            <a:off x="777240" y="2011680"/>
            <a:ext cx="621792" cy="621792"/>
          </a:xfrm>
          <a:prstGeom prst="ellipse">
            <a:avLst/>
          </a:prstGeom>
          <a:solidFill>
            <a:srgbClr val="9E3B2E"/>
          </a:solidFill>
          <a:ln/>
        </p:spPr>
        <p:txBody>
          <a:bodyPr/>
          <a:lstStyle/>
          <a:p>
            <a:endParaRPr lang="ru-RU"/>
          </a:p>
        </p:txBody>
      </p:sp>
      <p:pic>
        <p:nvPicPr>
          <p:cNvPr id="6" name="Image 0" descr="/home/claude/fob-slides/icons_out/fish_white.png"/>
          <p:cNvPicPr>
            <a:picLocks noChangeAspect="1"/>
          </p:cNvPicPr>
          <p:nvPr/>
        </p:nvPicPr>
        <p:blipFill>
          <a:blip r:embed="rId3"/>
          <a:stretch>
            <a:fillRect/>
          </a:stretch>
        </p:blipFill>
        <p:spPr>
          <a:xfrm>
            <a:off x="917143" y="2151583"/>
            <a:ext cx="341986" cy="341986"/>
          </a:xfrm>
          <a:prstGeom prst="rect">
            <a:avLst/>
          </a:prstGeom>
        </p:spPr>
      </p:pic>
      <p:sp>
        <p:nvSpPr>
          <p:cNvPr id="7" name="Text 4"/>
          <p:cNvSpPr txBox="1"/>
          <p:nvPr/>
        </p:nvSpPr>
        <p:spPr>
          <a:xfrm>
            <a:off x="1600200" y="2011680"/>
            <a:ext cx="4206240" cy="621792"/>
          </a:xfrm>
          <a:prstGeom prst="rect">
            <a:avLst/>
          </a:prstGeom>
          <a:noFill/>
          <a:ln/>
        </p:spPr>
        <p:txBody>
          <a:bodyPr wrap="square" lIns="0" tIns="0" rIns="0" bIns="0" rtlCol="0" anchor="ctr"/>
          <a:lstStyle/>
          <a:p>
            <a:pPr marL="0" indent="0" algn="l">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Real vaqtdagi fishing</a:t>
            </a:r>
            <a:endParaRPr lang="en-US" sz="2000" dirty="0"/>
          </a:p>
        </p:txBody>
      </p:sp>
      <p:sp>
        <p:nvSpPr>
          <p:cNvPr id="8" name="Text 5"/>
          <p:cNvSpPr txBox="1"/>
          <p:nvPr/>
        </p:nvSpPr>
        <p:spPr>
          <a:xfrm>
            <a:off x="777240" y="2697480"/>
            <a:ext cx="4983480" cy="685800"/>
          </a:xfrm>
          <a:prstGeom prst="rect">
            <a:avLst/>
          </a:prstGeom>
          <a:noFill/>
          <a:ln/>
        </p:spPr>
        <p:txBody>
          <a:bodyPr wrap="square" lIns="0" tIns="0" rIns="0" bIns="0" rtlCol="0" anchor="t"/>
          <a:lstStyle/>
          <a:p>
            <a:pPr marL="0" indent="0" algn="l">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Soxta sayt parol va kodni darhol haqiqiy saytga uzatadi, seans cookie'sini o'g'irlaydi (AitM).</a:t>
            </a:r>
            <a:endParaRPr lang="en-US" sz="1600" dirty="0"/>
          </a:p>
        </p:txBody>
      </p:sp>
      <p:sp>
        <p:nvSpPr>
          <p:cNvPr id="9" name="Text 6"/>
          <p:cNvSpPr txBox="1"/>
          <p:nvPr/>
        </p:nvSpPr>
        <p:spPr>
          <a:xfrm>
            <a:off x="777240" y="3337560"/>
            <a:ext cx="4983480" cy="320040"/>
          </a:xfrm>
          <a:prstGeom prst="rect">
            <a:avLst/>
          </a:prstGeom>
          <a:noFill/>
          <a:ln/>
        </p:spPr>
        <p:txBody>
          <a:bodyPr wrap="square" lIns="0" tIns="0" rIns="0" bIns="0" rtlCol="0" anchor="t"/>
          <a:lstStyle/>
          <a:p>
            <a:pPr marL="0" indent="0" algn="l">
              <a:lnSpc>
                <a:spcPct val="100000"/>
              </a:lnSpc>
              <a:buNone/>
            </a:pPr>
            <a:r>
              <a:rPr lang="en-US" sz="1400" b="1" dirty="0">
                <a:solidFill>
                  <a:srgbClr val="1F6B4A"/>
                </a:solidFill>
                <a:latin typeface="Times New Roman" pitchFamily="34" charset="0"/>
                <a:ea typeface="Times New Roman" pitchFamily="34" charset="-122"/>
                <a:cs typeface="Times New Roman" pitchFamily="34" charset="-120"/>
              </a:rPr>
              <a:t>Qarshi: FIDO2</a:t>
            </a:r>
            <a:endParaRPr lang="en-US" sz="1400" dirty="0"/>
          </a:p>
        </p:txBody>
      </p:sp>
      <p:sp>
        <p:nvSpPr>
          <p:cNvPr id="10" name="Shape 7"/>
          <p:cNvSpPr/>
          <p:nvPr/>
        </p:nvSpPr>
        <p:spPr>
          <a:xfrm>
            <a:off x="6172200" y="1783080"/>
            <a:ext cx="5440680" cy="1920240"/>
          </a:xfrm>
          <a:prstGeom prst="roundRect">
            <a:avLst>
              <a:gd name="adj" fmla="val 4286"/>
            </a:avLst>
          </a:prstGeom>
          <a:solidFill>
            <a:srgbClr val="EEF2FB"/>
          </a:solidFill>
          <a:ln/>
        </p:spPr>
        <p:txBody>
          <a:bodyPr/>
          <a:lstStyle/>
          <a:p>
            <a:endParaRPr lang="ru-RU"/>
          </a:p>
        </p:txBody>
      </p:sp>
      <p:sp>
        <p:nvSpPr>
          <p:cNvPr id="11" name="Shape 8"/>
          <p:cNvSpPr/>
          <p:nvPr/>
        </p:nvSpPr>
        <p:spPr>
          <a:xfrm>
            <a:off x="6400800" y="2011680"/>
            <a:ext cx="621792" cy="621792"/>
          </a:xfrm>
          <a:prstGeom prst="ellipse">
            <a:avLst/>
          </a:prstGeom>
          <a:solidFill>
            <a:srgbClr val="9E3B2E"/>
          </a:solidFill>
          <a:ln/>
        </p:spPr>
        <p:txBody>
          <a:bodyPr/>
          <a:lstStyle/>
          <a:p>
            <a:endParaRPr lang="ru-RU"/>
          </a:p>
        </p:txBody>
      </p:sp>
      <p:pic>
        <p:nvPicPr>
          <p:cNvPr id="12" name="Image 1" descr="/home/claude/fob-slides/icons_out/mobile_white.png"/>
          <p:cNvPicPr>
            <a:picLocks noChangeAspect="1"/>
          </p:cNvPicPr>
          <p:nvPr/>
        </p:nvPicPr>
        <p:blipFill>
          <a:blip r:embed="rId4"/>
          <a:stretch>
            <a:fillRect/>
          </a:stretch>
        </p:blipFill>
        <p:spPr>
          <a:xfrm>
            <a:off x="6540703" y="2151583"/>
            <a:ext cx="341986" cy="341986"/>
          </a:xfrm>
          <a:prstGeom prst="rect">
            <a:avLst/>
          </a:prstGeom>
        </p:spPr>
      </p:pic>
      <p:sp>
        <p:nvSpPr>
          <p:cNvPr id="13" name="Text 9"/>
          <p:cNvSpPr txBox="1"/>
          <p:nvPr/>
        </p:nvSpPr>
        <p:spPr>
          <a:xfrm>
            <a:off x="7223760" y="2011680"/>
            <a:ext cx="4206240" cy="621792"/>
          </a:xfrm>
          <a:prstGeom prst="rect">
            <a:avLst/>
          </a:prstGeom>
          <a:noFill/>
          <a:ln/>
        </p:spPr>
        <p:txBody>
          <a:bodyPr wrap="square" lIns="0" tIns="0" rIns="0" bIns="0" rtlCol="0" anchor="ctr"/>
          <a:lstStyle/>
          <a:p>
            <a:pPr marL="0" indent="0" algn="l">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MFA charchoqi</a:t>
            </a:r>
            <a:endParaRPr lang="en-US" sz="2000" dirty="0"/>
          </a:p>
        </p:txBody>
      </p:sp>
      <p:sp>
        <p:nvSpPr>
          <p:cNvPr id="14" name="Text 10"/>
          <p:cNvSpPr txBox="1"/>
          <p:nvPr/>
        </p:nvSpPr>
        <p:spPr>
          <a:xfrm>
            <a:off x="6400800" y="2697480"/>
            <a:ext cx="4983480" cy="685800"/>
          </a:xfrm>
          <a:prstGeom prst="rect">
            <a:avLst/>
          </a:prstGeom>
          <a:noFill/>
          <a:ln/>
        </p:spPr>
        <p:txBody>
          <a:bodyPr wrap="square" lIns="0" tIns="0" rIns="0" bIns="0" rtlCol="0" anchor="t"/>
          <a:lstStyle/>
          <a:p>
            <a:pPr marL="0" indent="0" algn="l">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Uber, 2022: push so'rovlar ketma-ket yuborilgan, so'ng «IT xodimi» nomidan tasdiqlash so'ralgan.</a:t>
            </a:r>
            <a:endParaRPr lang="en-US" sz="1600" dirty="0"/>
          </a:p>
        </p:txBody>
      </p:sp>
      <p:sp>
        <p:nvSpPr>
          <p:cNvPr id="15" name="Text 11"/>
          <p:cNvSpPr txBox="1"/>
          <p:nvPr/>
        </p:nvSpPr>
        <p:spPr>
          <a:xfrm>
            <a:off x="6400800" y="3337560"/>
            <a:ext cx="4983480" cy="320040"/>
          </a:xfrm>
          <a:prstGeom prst="rect">
            <a:avLst/>
          </a:prstGeom>
          <a:noFill/>
          <a:ln/>
        </p:spPr>
        <p:txBody>
          <a:bodyPr wrap="square" lIns="0" tIns="0" rIns="0" bIns="0" rtlCol="0" anchor="t"/>
          <a:lstStyle/>
          <a:p>
            <a:pPr marL="0" indent="0" algn="l">
              <a:lnSpc>
                <a:spcPct val="100000"/>
              </a:lnSpc>
              <a:buNone/>
            </a:pPr>
            <a:r>
              <a:rPr lang="en-US" sz="1400" b="1" dirty="0">
                <a:solidFill>
                  <a:srgbClr val="1F6B4A"/>
                </a:solidFill>
                <a:latin typeface="Times New Roman" pitchFamily="34" charset="0"/>
                <a:ea typeface="Times New Roman" pitchFamily="34" charset="-122"/>
                <a:cs typeface="Times New Roman" pitchFamily="34" charset="-120"/>
              </a:rPr>
              <a:t>Qarshi: raqam moslashtirish</a:t>
            </a:r>
            <a:endParaRPr lang="en-US" sz="1400" dirty="0"/>
          </a:p>
        </p:txBody>
      </p:sp>
      <p:sp>
        <p:nvSpPr>
          <p:cNvPr id="16" name="Shape 12"/>
          <p:cNvSpPr/>
          <p:nvPr/>
        </p:nvSpPr>
        <p:spPr>
          <a:xfrm>
            <a:off x="548640" y="3886200"/>
            <a:ext cx="5440680" cy="1920240"/>
          </a:xfrm>
          <a:prstGeom prst="roundRect">
            <a:avLst>
              <a:gd name="adj" fmla="val 4286"/>
            </a:avLst>
          </a:prstGeom>
          <a:solidFill>
            <a:srgbClr val="EEF2FB"/>
          </a:solidFill>
          <a:ln/>
        </p:spPr>
        <p:txBody>
          <a:bodyPr/>
          <a:lstStyle/>
          <a:p>
            <a:endParaRPr lang="ru-RU"/>
          </a:p>
        </p:txBody>
      </p:sp>
      <p:sp>
        <p:nvSpPr>
          <p:cNvPr id="17" name="Shape 13"/>
          <p:cNvSpPr/>
          <p:nvPr/>
        </p:nvSpPr>
        <p:spPr>
          <a:xfrm>
            <a:off x="777240" y="4114800"/>
            <a:ext cx="621792" cy="621792"/>
          </a:xfrm>
          <a:prstGeom prst="ellipse">
            <a:avLst/>
          </a:prstGeom>
          <a:solidFill>
            <a:srgbClr val="9E3B2E"/>
          </a:solidFill>
          <a:ln/>
        </p:spPr>
        <p:txBody>
          <a:bodyPr/>
          <a:lstStyle/>
          <a:p>
            <a:endParaRPr lang="ru-RU"/>
          </a:p>
        </p:txBody>
      </p:sp>
      <p:pic>
        <p:nvPicPr>
          <p:cNvPr id="18" name="Image 2" descr="/home/claude/fob-slides/icons_out/idcard_white.png"/>
          <p:cNvPicPr>
            <a:picLocks noChangeAspect="1"/>
          </p:cNvPicPr>
          <p:nvPr/>
        </p:nvPicPr>
        <p:blipFill>
          <a:blip r:embed="rId5"/>
          <a:stretch>
            <a:fillRect/>
          </a:stretch>
        </p:blipFill>
        <p:spPr>
          <a:xfrm>
            <a:off x="917143" y="4254703"/>
            <a:ext cx="341986" cy="341986"/>
          </a:xfrm>
          <a:prstGeom prst="rect">
            <a:avLst/>
          </a:prstGeom>
        </p:spPr>
      </p:pic>
      <p:sp>
        <p:nvSpPr>
          <p:cNvPr id="19" name="Text 14"/>
          <p:cNvSpPr txBox="1"/>
          <p:nvPr/>
        </p:nvSpPr>
        <p:spPr>
          <a:xfrm>
            <a:off x="1600200" y="4114800"/>
            <a:ext cx="4206240" cy="621792"/>
          </a:xfrm>
          <a:prstGeom prst="rect">
            <a:avLst/>
          </a:prstGeom>
          <a:noFill/>
          <a:ln/>
        </p:spPr>
        <p:txBody>
          <a:bodyPr wrap="square" lIns="0" tIns="0" rIns="0" bIns="0" rtlCol="0" anchor="ctr"/>
          <a:lstStyle/>
          <a:p>
            <a:pPr marL="0" indent="0" algn="l">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SIM almashtirish</a:t>
            </a:r>
            <a:endParaRPr lang="en-US" sz="2000" dirty="0"/>
          </a:p>
        </p:txBody>
      </p:sp>
      <p:sp>
        <p:nvSpPr>
          <p:cNvPr id="20" name="Text 15"/>
          <p:cNvSpPr txBox="1"/>
          <p:nvPr/>
        </p:nvSpPr>
        <p:spPr>
          <a:xfrm>
            <a:off x="777240" y="4800600"/>
            <a:ext cx="4983480" cy="685800"/>
          </a:xfrm>
          <a:prstGeom prst="rect">
            <a:avLst/>
          </a:prstGeom>
          <a:noFill/>
          <a:ln/>
        </p:spPr>
        <p:txBody>
          <a:bodyPr wrap="square" lIns="0" tIns="0" rIns="0" bIns="0" rtlCol="0" anchor="t"/>
          <a:lstStyle/>
          <a:p>
            <a:pPr marL="0" indent="0" algn="l">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Operatorni aldab, raqam hujumchi SIM kartasiga o'tkaziladi — SMS kodlar unga keladi.</a:t>
            </a:r>
            <a:endParaRPr lang="en-US" sz="1600" dirty="0"/>
          </a:p>
        </p:txBody>
      </p:sp>
      <p:sp>
        <p:nvSpPr>
          <p:cNvPr id="21" name="Text 16"/>
          <p:cNvSpPr txBox="1"/>
          <p:nvPr/>
        </p:nvSpPr>
        <p:spPr>
          <a:xfrm>
            <a:off x="777240" y="5440680"/>
            <a:ext cx="4983480" cy="320040"/>
          </a:xfrm>
          <a:prstGeom prst="rect">
            <a:avLst/>
          </a:prstGeom>
          <a:noFill/>
          <a:ln/>
        </p:spPr>
        <p:txBody>
          <a:bodyPr wrap="square" lIns="0" tIns="0" rIns="0" bIns="0" rtlCol="0" anchor="t"/>
          <a:lstStyle/>
          <a:p>
            <a:pPr marL="0" indent="0" algn="l">
              <a:lnSpc>
                <a:spcPct val="100000"/>
              </a:lnSpc>
              <a:buNone/>
            </a:pPr>
            <a:r>
              <a:rPr lang="en-US" sz="1400" b="1" dirty="0">
                <a:solidFill>
                  <a:srgbClr val="1F6B4A"/>
                </a:solidFill>
                <a:latin typeface="Times New Roman" pitchFamily="34" charset="0"/>
                <a:ea typeface="Times New Roman" pitchFamily="34" charset="-122"/>
                <a:cs typeface="Times New Roman" pitchFamily="34" charset="-120"/>
              </a:rPr>
              <a:t>Qarshi: SMS dan voz kechish</a:t>
            </a:r>
            <a:endParaRPr lang="en-US" sz="1400" dirty="0"/>
          </a:p>
        </p:txBody>
      </p:sp>
      <p:sp>
        <p:nvSpPr>
          <p:cNvPr id="22" name="Shape 17"/>
          <p:cNvSpPr/>
          <p:nvPr/>
        </p:nvSpPr>
        <p:spPr>
          <a:xfrm>
            <a:off x="6172200" y="3886200"/>
            <a:ext cx="5440680" cy="1920240"/>
          </a:xfrm>
          <a:prstGeom prst="roundRect">
            <a:avLst>
              <a:gd name="adj" fmla="val 4286"/>
            </a:avLst>
          </a:prstGeom>
          <a:solidFill>
            <a:srgbClr val="EEF2FB"/>
          </a:solidFill>
          <a:ln/>
        </p:spPr>
        <p:txBody>
          <a:bodyPr/>
          <a:lstStyle/>
          <a:p>
            <a:endParaRPr lang="ru-RU"/>
          </a:p>
        </p:txBody>
      </p:sp>
      <p:sp>
        <p:nvSpPr>
          <p:cNvPr id="23" name="Shape 18"/>
          <p:cNvSpPr/>
          <p:nvPr/>
        </p:nvSpPr>
        <p:spPr>
          <a:xfrm>
            <a:off x="6400800" y="4114800"/>
            <a:ext cx="621792" cy="621792"/>
          </a:xfrm>
          <a:prstGeom prst="ellipse">
            <a:avLst/>
          </a:prstGeom>
          <a:solidFill>
            <a:srgbClr val="9E3B2E"/>
          </a:solidFill>
          <a:ln/>
        </p:spPr>
        <p:txBody>
          <a:bodyPr/>
          <a:lstStyle/>
          <a:p>
            <a:endParaRPr lang="ru-RU"/>
          </a:p>
        </p:txBody>
      </p:sp>
      <p:pic>
        <p:nvPicPr>
          <p:cNvPr id="24" name="Image 3" descr="/home/claude/fob-slides/icons_out/sync_white.png"/>
          <p:cNvPicPr>
            <a:picLocks noChangeAspect="1"/>
          </p:cNvPicPr>
          <p:nvPr/>
        </p:nvPicPr>
        <p:blipFill>
          <a:blip r:embed="rId6"/>
          <a:stretch>
            <a:fillRect/>
          </a:stretch>
        </p:blipFill>
        <p:spPr>
          <a:xfrm>
            <a:off x="6540703" y="4254703"/>
            <a:ext cx="341986" cy="341986"/>
          </a:xfrm>
          <a:prstGeom prst="rect">
            <a:avLst/>
          </a:prstGeom>
        </p:spPr>
      </p:pic>
      <p:sp>
        <p:nvSpPr>
          <p:cNvPr id="25" name="Text 19"/>
          <p:cNvSpPr txBox="1"/>
          <p:nvPr/>
        </p:nvSpPr>
        <p:spPr>
          <a:xfrm>
            <a:off x="7223760" y="4114800"/>
            <a:ext cx="4206240" cy="621792"/>
          </a:xfrm>
          <a:prstGeom prst="rect">
            <a:avLst/>
          </a:prstGeom>
          <a:noFill/>
          <a:ln/>
        </p:spPr>
        <p:txBody>
          <a:bodyPr wrap="square" lIns="0" tIns="0" rIns="0" bIns="0" rtlCol="0" anchor="ctr"/>
          <a:lstStyle/>
          <a:p>
            <a:pPr marL="0" indent="0" algn="l">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Tiklash kanali</a:t>
            </a:r>
            <a:endParaRPr lang="en-US" sz="2000" dirty="0"/>
          </a:p>
        </p:txBody>
      </p:sp>
      <p:sp>
        <p:nvSpPr>
          <p:cNvPr id="26" name="Text 20"/>
          <p:cNvSpPr txBox="1"/>
          <p:nvPr/>
        </p:nvSpPr>
        <p:spPr>
          <a:xfrm>
            <a:off x="6400800" y="4800600"/>
            <a:ext cx="4983480" cy="685800"/>
          </a:xfrm>
          <a:prstGeom prst="rect">
            <a:avLst/>
          </a:prstGeom>
          <a:noFill/>
          <a:ln/>
        </p:spPr>
        <p:txBody>
          <a:bodyPr wrap="square" lIns="0" tIns="0" rIns="0" bIns="0" rtlCol="0" anchor="t"/>
          <a:lstStyle/>
          <a:p>
            <a:pPr marL="0" indent="0" algn="l">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«Parolni unutdim» yoki zaxira kodlar kuchsiz bo'lsa, MFA butunlay chetlab o'tiladi.</a:t>
            </a:r>
            <a:endParaRPr lang="en-US" sz="1600" dirty="0"/>
          </a:p>
        </p:txBody>
      </p:sp>
      <p:sp>
        <p:nvSpPr>
          <p:cNvPr id="27" name="Text 21"/>
          <p:cNvSpPr txBox="1"/>
          <p:nvPr/>
        </p:nvSpPr>
        <p:spPr>
          <a:xfrm>
            <a:off x="6400800" y="5440680"/>
            <a:ext cx="4983480" cy="320040"/>
          </a:xfrm>
          <a:prstGeom prst="rect">
            <a:avLst/>
          </a:prstGeom>
          <a:noFill/>
          <a:ln/>
        </p:spPr>
        <p:txBody>
          <a:bodyPr wrap="square" lIns="0" tIns="0" rIns="0" bIns="0" rtlCol="0" anchor="t"/>
          <a:lstStyle/>
          <a:p>
            <a:pPr marL="0" indent="0" algn="l">
              <a:lnSpc>
                <a:spcPct val="100000"/>
              </a:lnSpc>
              <a:buNone/>
            </a:pPr>
            <a:r>
              <a:rPr lang="en-US" sz="1400" b="1" dirty="0">
                <a:solidFill>
                  <a:srgbClr val="1F6B4A"/>
                </a:solidFill>
                <a:latin typeface="Times New Roman" pitchFamily="34" charset="0"/>
                <a:ea typeface="Times New Roman" pitchFamily="34" charset="-122"/>
                <a:cs typeface="Times New Roman" pitchFamily="34" charset="-120"/>
              </a:rPr>
              <a:t>Qarshi: tiklash ham MFA bilan</a:t>
            </a:r>
            <a:endParaRPr lang="en-US" sz="1400" dirty="0"/>
          </a:p>
        </p:txBody>
      </p:sp>
      <p:sp>
        <p:nvSpPr>
          <p:cNvPr id="28" name="Text 22"/>
          <p:cNvSpPr txBox="1"/>
          <p:nvPr/>
        </p:nvSpPr>
        <p:spPr>
          <a:xfrm>
            <a:off x="548640" y="6035040"/>
            <a:ext cx="11064240" cy="365760"/>
          </a:xfrm>
          <a:prstGeom prst="rect">
            <a:avLst/>
          </a:prstGeom>
          <a:noFill/>
          <a:ln/>
        </p:spPr>
        <p:txBody>
          <a:bodyPr wrap="square" lIns="0" tIns="0" rIns="0" bIns="0" rtlCol="0" anchor="t"/>
          <a:lstStyle/>
          <a:p>
            <a:pPr marL="0" indent="0" algn="ctr">
              <a:lnSpc>
                <a:spcPct val="100000"/>
              </a:lnSpc>
              <a:buNone/>
            </a:pPr>
            <a:r>
              <a:rPr lang="en-US" sz="1600" dirty="0">
                <a:solidFill>
                  <a:srgbClr val="9E3B2E"/>
                </a:solidFill>
                <a:latin typeface="Times New Roman" pitchFamily="34" charset="0"/>
                <a:ea typeface="Times New Roman" pitchFamily="34" charset="-122"/>
                <a:cs typeface="Times New Roman" pitchFamily="34" charset="-120"/>
              </a:rPr>
              <a:t>NIST SP 800-63B-4: «OTP bilan autentifikatsiya fishingga bardoshli emas».</a:t>
            </a:r>
            <a:endParaRPr lang="en-US" sz="1600" dirty="0"/>
          </a:p>
        </p:txBody>
      </p:sp>
      <p:sp>
        <p:nvSpPr>
          <p:cNvPr id="29" name="Text 23"/>
          <p:cNvSpPr txBox="1"/>
          <p:nvPr/>
        </p:nvSpPr>
        <p:spPr>
          <a:xfrm>
            <a:off x="548640" y="6492240"/>
            <a:ext cx="7315200" cy="274320"/>
          </a:xfrm>
          <a:prstGeom prst="rect">
            <a:avLst/>
          </a:prstGeom>
          <a:noFill/>
          <a:ln/>
        </p:spPr>
        <p:txBody>
          <a:bodyPr wrap="square" lIns="0" tIns="0" rIns="0" bIns="0" rtlCol="0" anchor="ctr"/>
          <a:lstStyle/>
          <a:p>
            <a:pPr marL="0" indent="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4-ma'ruza</a:t>
            </a:r>
            <a:endParaRPr lang="en-US" sz="1100" dirty="0"/>
          </a:p>
        </p:txBody>
      </p:sp>
      <p:sp>
        <p:nvSpPr>
          <p:cNvPr id="30" name="Text 24"/>
          <p:cNvSpPr txBox="1"/>
          <p:nvPr/>
        </p:nvSpPr>
        <p:spPr>
          <a:xfrm>
            <a:off x="11155680" y="6492240"/>
            <a:ext cx="457200" cy="274320"/>
          </a:xfrm>
          <a:prstGeom prst="rect">
            <a:avLst/>
          </a:prstGeom>
          <a:noFill/>
          <a:ln/>
        </p:spPr>
        <p:txBody>
          <a:bodyPr wrap="square" lIns="0" tIns="0" rIns="0" bIns="0" rtlCol="0" anchor="ctr"/>
          <a:lstStyle/>
          <a:p>
            <a:pPr marL="0" indent="0" algn="r">
              <a:buNone/>
            </a:pPr>
            <a:r>
              <a:rPr lang="en-US" sz="1100" dirty="0">
                <a:solidFill>
                  <a:srgbClr val="5B6270"/>
                </a:solidFill>
                <a:latin typeface="Times New Roman" pitchFamily="34" charset="0"/>
                <a:ea typeface="Times New Roman" pitchFamily="34" charset="-122"/>
                <a:cs typeface="Times New Roman"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marL="0" indent="0">
              <a:buNone/>
            </a:pPr>
            <a:r>
              <a:rPr lang="en-US" sz="1600" b="1" kern="0" spc="220" dirty="0">
                <a:solidFill>
                  <a:srgbClr val="5B6270"/>
                </a:solidFill>
                <a:latin typeface="Times New Roman" pitchFamily="34" charset="0"/>
                <a:ea typeface="Times New Roman" pitchFamily="34" charset="-122"/>
                <a:cs typeface="Times New Roman" pitchFamily="34" charset="-120"/>
              </a:rPr>
              <a:t>ME'YORIY ASOS</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marL="0" indent="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Autentifikatsiya ishonch darajalari (AAL)</a:t>
            </a:r>
            <a:endParaRPr lang="en-US" sz="3600" dirty="0"/>
          </a:p>
        </p:txBody>
      </p:sp>
      <p:sp>
        <p:nvSpPr>
          <p:cNvPr id="4" name="Shape 2"/>
          <p:cNvSpPr/>
          <p:nvPr/>
        </p:nvSpPr>
        <p:spPr>
          <a:xfrm>
            <a:off x="548640" y="4434840"/>
            <a:ext cx="3840480" cy="1051560"/>
          </a:xfrm>
          <a:prstGeom prst="roundRect">
            <a:avLst>
              <a:gd name="adj" fmla="val 7826"/>
            </a:avLst>
          </a:prstGeom>
          <a:solidFill>
            <a:srgbClr val="CADCFC"/>
          </a:solidFill>
          <a:ln/>
        </p:spPr>
        <p:txBody>
          <a:bodyPr/>
          <a:lstStyle/>
          <a:p>
            <a:endParaRPr lang="ru-RU"/>
          </a:p>
        </p:txBody>
      </p:sp>
      <p:sp>
        <p:nvSpPr>
          <p:cNvPr id="5" name="Text 3"/>
          <p:cNvSpPr txBox="1"/>
          <p:nvPr/>
        </p:nvSpPr>
        <p:spPr>
          <a:xfrm>
            <a:off x="777240" y="4434840"/>
            <a:ext cx="1188720" cy="1051560"/>
          </a:xfrm>
          <a:prstGeom prst="rect">
            <a:avLst/>
          </a:prstGeom>
          <a:noFill/>
          <a:ln/>
        </p:spPr>
        <p:txBody>
          <a:bodyPr wrap="square" lIns="0" tIns="0" rIns="0" bIns="0" rtlCol="0" anchor="ctr"/>
          <a:lstStyle/>
          <a:p>
            <a:pPr marL="0" indent="0" algn="l">
              <a:lnSpc>
                <a:spcPct val="100000"/>
              </a:lnSpc>
              <a:buNone/>
            </a:pPr>
            <a:r>
              <a:rPr lang="en-US" sz="2400" b="1" dirty="0">
                <a:solidFill>
                  <a:srgbClr val="1E2761"/>
                </a:solidFill>
                <a:latin typeface="Times New Roman" pitchFamily="34" charset="0"/>
                <a:ea typeface="Times New Roman" pitchFamily="34" charset="-122"/>
                <a:cs typeface="Times New Roman" pitchFamily="34" charset="-120"/>
              </a:rPr>
              <a:t>AAL1</a:t>
            </a:r>
            <a:endParaRPr lang="en-US" sz="2400" dirty="0"/>
          </a:p>
        </p:txBody>
      </p:sp>
      <p:sp>
        <p:nvSpPr>
          <p:cNvPr id="6" name="Text 4"/>
          <p:cNvSpPr txBox="1"/>
          <p:nvPr/>
        </p:nvSpPr>
        <p:spPr>
          <a:xfrm>
            <a:off x="1965960" y="4434840"/>
            <a:ext cx="2286000" cy="1051560"/>
          </a:xfrm>
          <a:prstGeom prst="rect">
            <a:avLst/>
          </a:prstGeom>
          <a:noFill/>
          <a:ln/>
        </p:spPr>
        <p:txBody>
          <a:bodyPr wrap="square" lIns="0" tIns="0" rIns="0" bIns="0" rtlCol="0" anchor="ctr"/>
          <a:lstStyle/>
          <a:p>
            <a:pPr marL="0" indent="0" algn="l">
              <a:lnSpc>
                <a:spcPct val="100000"/>
              </a:lnSpc>
              <a:buNone/>
            </a:pPr>
            <a:r>
              <a:rPr lang="en-US" sz="1600" dirty="0">
                <a:solidFill>
                  <a:srgbClr val="1E2761"/>
                </a:solidFill>
                <a:latin typeface="Times New Roman" pitchFamily="34" charset="0"/>
                <a:ea typeface="Times New Roman" pitchFamily="34" charset="-122"/>
                <a:cs typeface="Times New Roman" pitchFamily="34" charset="-120"/>
              </a:rPr>
              <a:t>Bitta omil yetarli: parol yoki OTP qurilma</a:t>
            </a:r>
            <a:endParaRPr lang="en-US" sz="1600" dirty="0"/>
          </a:p>
        </p:txBody>
      </p:sp>
      <p:sp>
        <p:nvSpPr>
          <p:cNvPr id="7" name="Shape 5"/>
          <p:cNvSpPr/>
          <p:nvPr/>
        </p:nvSpPr>
        <p:spPr>
          <a:xfrm>
            <a:off x="548640" y="3246120"/>
            <a:ext cx="4754880" cy="1051560"/>
          </a:xfrm>
          <a:prstGeom prst="roundRect">
            <a:avLst>
              <a:gd name="adj" fmla="val 7826"/>
            </a:avLst>
          </a:prstGeom>
          <a:solidFill>
            <a:srgbClr val="2A3778"/>
          </a:solidFill>
          <a:ln/>
        </p:spPr>
        <p:txBody>
          <a:bodyPr/>
          <a:lstStyle/>
          <a:p>
            <a:endParaRPr lang="ru-RU"/>
          </a:p>
        </p:txBody>
      </p:sp>
      <p:sp>
        <p:nvSpPr>
          <p:cNvPr id="8" name="Text 6"/>
          <p:cNvSpPr txBox="1"/>
          <p:nvPr/>
        </p:nvSpPr>
        <p:spPr>
          <a:xfrm>
            <a:off x="777240" y="3246120"/>
            <a:ext cx="1188720" cy="1051560"/>
          </a:xfrm>
          <a:prstGeom prst="rect">
            <a:avLst/>
          </a:prstGeom>
          <a:noFill/>
          <a:ln/>
        </p:spPr>
        <p:txBody>
          <a:bodyPr wrap="square" lIns="0" tIns="0" rIns="0" bIns="0" rtlCol="0" anchor="ctr"/>
          <a:lstStyle/>
          <a:p>
            <a:pPr marL="0" indent="0" algn="l">
              <a:lnSpc>
                <a:spcPct val="100000"/>
              </a:lnSpc>
              <a:buNone/>
            </a:pPr>
            <a:r>
              <a:rPr lang="en-US" sz="2400" b="1" dirty="0">
                <a:solidFill>
                  <a:srgbClr val="FFFFFF"/>
                </a:solidFill>
                <a:latin typeface="Times New Roman" pitchFamily="34" charset="0"/>
                <a:ea typeface="Times New Roman" pitchFamily="34" charset="-122"/>
                <a:cs typeface="Times New Roman" pitchFamily="34" charset="-120"/>
              </a:rPr>
              <a:t>AAL2</a:t>
            </a:r>
            <a:endParaRPr lang="en-US" sz="2400" dirty="0"/>
          </a:p>
        </p:txBody>
      </p:sp>
      <p:sp>
        <p:nvSpPr>
          <p:cNvPr id="9" name="Text 7"/>
          <p:cNvSpPr txBox="1"/>
          <p:nvPr/>
        </p:nvSpPr>
        <p:spPr>
          <a:xfrm>
            <a:off x="1965960" y="3246120"/>
            <a:ext cx="3200400" cy="1051560"/>
          </a:xfrm>
          <a:prstGeom prst="rect">
            <a:avLst/>
          </a:prstGeom>
          <a:noFill/>
          <a:ln/>
        </p:spPr>
        <p:txBody>
          <a:bodyPr wrap="square" lIns="0" tIns="0" rIns="0" bIns="0" rtlCol="0" anchor="ctr"/>
          <a:lstStyle/>
          <a:p>
            <a:pPr marL="0" indent="0" algn="l">
              <a:lnSpc>
                <a:spcPct val="100000"/>
              </a:lnSpc>
              <a:buNone/>
            </a:pPr>
            <a:r>
              <a:rPr lang="en-US" sz="1600" dirty="0">
                <a:solidFill>
                  <a:srgbClr val="FFFFFF"/>
                </a:solidFill>
                <a:latin typeface="Times New Roman" pitchFamily="34" charset="0"/>
                <a:ea typeface="Times New Roman" pitchFamily="34" charset="-122"/>
                <a:cs typeface="Times New Roman" pitchFamily="34" charset="-120"/>
              </a:rPr>
              <a:t>Ikki turli omil; fishingga bardoshli variant taklif qilinishi shart</a:t>
            </a:r>
            <a:endParaRPr lang="en-US" sz="1600" dirty="0"/>
          </a:p>
        </p:txBody>
      </p:sp>
      <p:sp>
        <p:nvSpPr>
          <p:cNvPr id="10" name="Shape 8"/>
          <p:cNvSpPr/>
          <p:nvPr/>
        </p:nvSpPr>
        <p:spPr>
          <a:xfrm>
            <a:off x="548640" y="2057400"/>
            <a:ext cx="5669280" cy="1051560"/>
          </a:xfrm>
          <a:prstGeom prst="roundRect">
            <a:avLst>
              <a:gd name="adj" fmla="val 7826"/>
            </a:avLst>
          </a:prstGeom>
          <a:solidFill>
            <a:srgbClr val="1E2761"/>
          </a:solidFill>
          <a:ln/>
        </p:spPr>
        <p:txBody>
          <a:bodyPr/>
          <a:lstStyle/>
          <a:p>
            <a:endParaRPr lang="ru-RU"/>
          </a:p>
        </p:txBody>
      </p:sp>
      <p:sp>
        <p:nvSpPr>
          <p:cNvPr id="11" name="Text 9"/>
          <p:cNvSpPr txBox="1"/>
          <p:nvPr/>
        </p:nvSpPr>
        <p:spPr>
          <a:xfrm>
            <a:off x="777240" y="2057400"/>
            <a:ext cx="1188720" cy="1051560"/>
          </a:xfrm>
          <a:prstGeom prst="rect">
            <a:avLst/>
          </a:prstGeom>
          <a:noFill/>
          <a:ln/>
        </p:spPr>
        <p:txBody>
          <a:bodyPr wrap="square" lIns="0" tIns="0" rIns="0" bIns="0" rtlCol="0" anchor="ctr"/>
          <a:lstStyle/>
          <a:p>
            <a:pPr marL="0" indent="0" algn="l">
              <a:lnSpc>
                <a:spcPct val="100000"/>
              </a:lnSpc>
              <a:buNone/>
            </a:pPr>
            <a:r>
              <a:rPr lang="en-US" sz="2400" b="1" dirty="0">
                <a:solidFill>
                  <a:srgbClr val="FFFFFF"/>
                </a:solidFill>
                <a:latin typeface="Times New Roman" pitchFamily="34" charset="0"/>
                <a:ea typeface="Times New Roman" pitchFamily="34" charset="-122"/>
                <a:cs typeface="Times New Roman" pitchFamily="34" charset="-120"/>
              </a:rPr>
              <a:t>AAL3</a:t>
            </a:r>
            <a:endParaRPr lang="en-US" sz="2400" dirty="0"/>
          </a:p>
        </p:txBody>
      </p:sp>
      <p:sp>
        <p:nvSpPr>
          <p:cNvPr id="12" name="Text 10"/>
          <p:cNvSpPr txBox="1"/>
          <p:nvPr/>
        </p:nvSpPr>
        <p:spPr>
          <a:xfrm>
            <a:off x="1965960" y="2057400"/>
            <a:ext cx="4114800" cy="1051560"/>
          </a:xfrm>
          <a:prstGeom prst="rect">
            <a:avLst/>
          </a:prstGeom>
          <a:noFill/>
          <a:ln/>
        </p:spPr>
        <p:txBody>
          <a:bodyPr wrap="square" lIns="0" tIns="0" rIns="0" bIns="0" rtlCol="0" anchor="ctr"/>
          <a:lstStyle/>
          <a:p>
            <a:pPr marL="0" indent="0" algn="l">
              <a:lnSpc>
                <a:spcPct val="100000"/>
              </a:lnSpc>
              <a:buNone/>
            </a:pPr>
            <a:r>
              <a:rPr lang="en-US" sz="1600" dirty="0">
                <a:solidFill>
                  <a:srgbClr val="FFFFFF"/>
                </a:solidFill>
                <a:latin typeface="Times New Roman" pitchFamily="34" charset="0"/>
                <a:ea typeface="Times New Roman" pitchFamily="34" charset="-122"/>
                <a:cs typeface="Times New Roman" pitchFamily="34" charset="-120"/>
              </a:rPr>
              <a:t>Apparat kriptografik autentifikator; fishingga bardosh majburiy</a:t>
            </a:r>
            <a:endParaRPr lang="en-US" sz="1600" dirty="0"/>
          </a:p>
        </p:txBody>
      </p:sp>
      <p:sp>
        <p:nvSpPr>
          <p:cNvPr id="13" name="Text 11"/>
          <p:cNvSpPr txBox="1"/>
          <p:nvPr/>
        </p:nvSpPr>
        <p:spPr>
          <a:xfrm>
            <a:off x="548640" y="5577840"/>
            <a:ext cx="5669280" cy="320040"/>
          </a:xfrm>
          <a:prstGeom prst="rect">
            <a:avLst/>
          </a:prstGeom>
          <a:noFill/>
          <a:ln/>
        </p:spPr>
        <p:txBody>
          <a:bodyPr wrap="square" lIns="0" tIns="0" rIns="0" bIns="0" rtlCol="0" anchor="t"/>
          <a:lstStyle/>
          <a:p>
            <a:pPr marL="0" indent="0" algn="l">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NIST SP 800-63B-4 (2025)</a:t>
            </a:r>
            <a:endParaRPr lang="en-US" sz="1400" dirty="0"/>
          </a:p>
        </p:txBody>
      </p:sp>
      <p:sp>
        <p:nvSpPr>
          <p:cNvPr id="14" name="Shape 12"/>
          <p:cNvSpPr/>
          <p:nvPr/>
        </p:nvSpPr>
        <p:spPr>
          <a:xfrm>
            <a:off x="6583680" y="1783080"/>
            <a:ext cx="5029200" cy="4434840"/>
          </a:xfrm>
          <a:prstGeom prst="roundRect">
            <a:avLst>
              <a:gd name="adj" fmla="val 1856"/>
            </a:avLst>
          </a:prstGeom>
          <a:solidFill>
            <a:srgbClr val="EEF2FB"/>
          </a:solidFill>
          <a:ln/>
        </p:spPr>
        <p:txBody>
          <a:bodyPr/>
          <a:lstStyle/>
          <a:p>
            <a:endParaRPr lang="ru-RU"/>
          </a:p>
        </p:txBody>
      </p:sp>
      <p:sp>
        <p:nvSpPr>
          <p:cNvPr id="15" name="Shape 13"/>
          <p:cNvSpPr/>
          <p:nvPr/>
        </p:nvSpPr>
        <p:spPr>
          <a:xfrm>
            <a:off x="6812280" y="1965960"/>
            <a:ext cx="566928" cy="566928"/>
          </a:xfrm>
          <a:prstGeom prst="ellipse">
            <a:avLst/>
          </a:prstGeom>
          <a:solidFill>
            <a:srgbClr val="1F6B4A"/>
          </a:solidFill>
          <a:ln/>
        </p:spPr>
        <p:txBody>
          <a:bodyPr/>
          <a:lstStyle/>
          <a:p>
            <a:endParaRPr lang="ru-RU"/>
          </a:p>
        </p:txBody>
      </p:sp>
      <p:pic>
        <p:nvPicPr>
          <p:cNvPr id="16" name="Image 0" descr="/home/claude/fob-slides/icons_out/shield_white.png"/>
          <p:cNvPicPr>
            <a:picLocks noChangeAspect="1"/>
          </p:cNvPicPr>
          <p:nvPr/>
        </p:nvPicPr>
        <p:blipFill>
          <a:blip r:embed="rId3"/>
          <a:stretch>
            <a:fillRect/>
          </a:stretch>
        </p:blipFill>
        <p:spPr>
          <a:xfrm>
            <a:off x="6939839" y="2093519"/>
            <a:ext cx="311810" cy="311810"/>
          </a:xfrm>
          <a:prstGeom prst="rect">
            <a:avLst/>
          </a:prstGeom>
        </p:spPr>
      </p:pic>
      <p:sp>
        <p:nvSpPr>
          <p:cNvPr id="17" name="Text 14"/>
          <p:cNvSpPr txBox="1"/>
          <p:nvPr/>
        </p:nvSpPr>
        <p:spPr>
          <a:xfrm>
            <a:off x="7543800" y="1965960"/>
            <a:ext cx="3931920" cy="566928"/>
          </a:xfrm>
          <a:prstGeom prst="rect">
            <a:avLst/>
          </a:prstGeom>
          <a:noFill/>
          <a:ln/>
        </p:spPr>
        <p:txBody>
          <a:bodyPr wrap="square" lIns="0" tIns="0" rIns="0" bIns="0" rtlCol="0" anchor="ctr"/>
          <a:lstStyle/>
          <a:p>
            <a:pPr marL="0" indent="0" algn="l">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Amaliy himoya choralari</a:t>
            </a:r>
            <a:endParaRPr lang="en-US" sz="2000" dirty="0"/>
          </a:p>
        </p:txBody>
      </p:sp>
      <p:sp>
        <p:nvSpPr>
          <p:cNvPr id="18" name="Text 15"/>
          <p:cNvSpPr txBox="1"/>
          <p:nvPr/>
        </p:nvSpPr>
        <p:spPr>
          <a:xfrm>
            <a:off x="6858000" y="2743200"/>
            <a:ext cx="4572000" cy="3291840"/>
          </a:xfrm>
          <a:prstGeom prst="rect">
            <a:avLst/>
          </a:prstGeom>
          <a:noFill/>
          <a:ln/>
        </p:spPr>
        <p:txBody>
          <a:bodyPr wrap="square" lIns="0" tIns="0" rIns="0" bIns="0" rtlCol="0" anchor="ctr"/>
          <a:lstStyle/>
          <a:p>
            <a:pPr marL="342900" indent="-342900">
              <a:spcAft>
                <a:spcPts val="800"/>
              </a:spcAft>
              <a:buSzPct val="100000"/>
              <a:buChar char="•"/>
            </a:pPr>
            <a:r>
              <a:rPr lang="en-US" sz="1700" dirty="0">
                <a:solidFill>
                  <a:srgbClr val="1B1B2A"/>
                </a:solidFill>
                <a:latin typeface="Times New Roman" pitchFamily="34" charset="0"/>
                <a:ea typeface="Times New Roman" pitchFamily="34" charset="-122"/>
                <a:cs typeface="Times New Roman" pitchFamily="34" charset="-120"/>
              </a:rPr>
              <a:t>Har bir OTP faqat bir marta qabul qilinadi</a:t>
            </a:r>
            <a:endParaRPr lang="en-US" sz="1700" dirty="0"/>
          </a:p>
          <a:p>
            <a:pPr marL="342900" indent="-342900">
              <a:spcAft>
                <a:spcPts val="800"/>
              </a:spcAft>
              <a:buSzPct val="100000"/>
              <a:buChar char="•"/>
            </a:pPr>
            <a:r>
              <a:rPr lang="en-US" sz="1700" dirty="0">
                <a:solidFill>
                  <a:srgbClr val="1B1B2A"/>
                </a:solidFill>
                <a:latin typeface="Times New Roman" pitchFamily="34" charset="0"/>
                <a:ea typeface="Times New Roman" pitchFamily="34" charset="-122"/>
                <a:cs typeface="Times New Roman" pitchFamily="34" charset="-120"/>
              </a:rPr>
              <a:t>Muvaffaqiyatsiz urinishlar ≤ 100 (NIST)</a:t>
            </a:r>
            <a:endParaRPr lang="en-US" sz="1700" dirty="0"/>
          </a:p>
          <a:p>
            <a:pPr marL="342900" indent="-342900">
              <a:spcAft>
                <a:spcPts val="800"/>
              </a:spcAft>
              <a:buSzPct val="100000"/>
              <a:buChar char="•"/>
            </a:pPr>
            <a:r>
              <a:rPr lang="en-US" sz="1700" dirty="0">
                <a:solidFill>
                  <a:srgbClr val="1B1B2A"/>
                </a:solidFill>
                <a:latin typeface="Times New Roman" pitchFamily="34" charset="0"/>
                <a:ea typeface="Times New Roman" pitchFamily="34" charset="-122"/>
                <a:cs typeface="Times New Roman" pitchFamily="34" charset="-120"/>
              </a:rPr>
              <a:t>Push uchun raqam moslashtirish</a:t>
            </a:r>
            <a:endParaRPr lang="en-US" sz="1700" dirty="0"/>
          </a:p>
          <a:p>
            <a:pPr marL="342900" indent="-342900">
              <a:spcAft>
                <a:spcPts val="800"/>
              </a:spcAft>
              <a:buSzPct val="100000"/>
              <a:buChar char="•"/>
            </a:pPr>
            <a:r>
              <a:rPr lang="en-US" sz="1700" dirty="0">
                <a:solidFill>
                  <a:srgbClr val="1B1B2A"/>
                </a:solidFill>
                <a:latin typeface="Times New Roman" pitchFamily="34" charset="0"/>
                <a:ea typeface="Times New Roman" pitchFamily="34" charset="-122"/>
                <a:cs typeface="Times New Roman" pitchFamily="34" charset="-120"/>
              </a:rPr>
              <a:t>K shifrlangan holda saqlanadi</a:t>
            </a:r>
            <a:endParaRPr lang="en-US" sz="1700" dirty="0"/>
          </a:p>
          <a:p>
            <a:pPr marL="342900" indent="-342900">
              <a:spcAft>
                <a:spcPts val="800"/>
              </a:spcAft>
              <a:buSzPct val="100000"/>
              <a:buChar char="•"/>
            </a:pPr>
            <a:r>
              <a:rPr lang="en-US" sz="1700" dirty="0">
                <a:solidFill>
                  <a:srgbClr val="1B1B2A"/>
                </a:solidFill>
                <a:latin typeface="Times New Roman" pitchFamily="34" charset="0"/>
                <a:ea typeface="Times New Roman" pitchFamily="34" charset="-122"/>
                <a:cs typeface="Times New Roman" pitchFamily="34" charset="-120"/>
              </a:rPr>
              <a:t>Tiklash kanali ham MFA darajasida</a:t>
            </a:r>
            <a:endParaRPr lang="en-US" sz="1700" dirty="0"/>
          </a:p>
          <a:p>
            <a:pPr marL="342900" indent="-342900">
              <a:spcAft>
                <a:spcPts val="800"/>
              </a:spcAft>
              <a:buSzPct val="100000"/>
              <a:buChar char="•"/>
            </a:pPr>
            <a:r>
              <a:rPr lang="en-US" sz="1700" dirty="0">
                <a:solidFill>
                  <a:srgbClr val="1B1B2A"/>
                </a:solidFill>
                <a:latin typeface="Times New Roman" pitchFamily="34" charset="0"/>
                <a:ea typeface="Times New Roman" pitchFamily="34" charset="-122"/>
                <a:cs typeface="Times New Roman" pitchFamily="34" charset="-120"/>
              </a:rPr>
              <a:t>Ma'murlar uchun — FIDO2 (AAL3)</a:t>
            </a:r>
            <a:endParaRPr lang="en-US" sz="1700" dirty="0"/>
          </a:p>
        </p:txBody>
      </p:sp>
      <p:sp>
        <p:nvSpPr>
          <p:cNvPr id="19" name="Text 16"/>
          <p:cNvSpPr txBox="1"/>
          <p:nvPr/>
        </p:nvSpPr>
        <p:spPr>
          <a:xfrm>
            <a:off x="548640" y="6492240"/>
            <a:ext cx="7315200" cy="274320"/>
          </a:xfrm>
          <a:prstGeom prst="rect">
            <a:avLst/>
          </a:prstGeom>
          <a:noFill/>
          <a:ln/>
        </p:spPr>
        <p:txBody>
          <a:bodyPr wrap="square" lIns="0" tIns="0" rIns="0" bIns="0" rtlCol="0" anchor="ctr"/>
          <a:lstStyle/>
          <a:p>
            <a:pPr marL="0" indent="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4-ma'ruza</a:t>
            </a:r>
            <a:endParaRPr lang="en-US" sz="1100" dirty="0"/>
          </a:p>
        </p:txBody>
      </p:sp>
      <p:sp>
        <p:nvSpPr>
          <p:cNvPr id="20" name="Text 17"/>
          <p:cNvSpPr txBox="1"/>
          <p:nvPr/>
        </p:nvSpPr>
        <p:spPr>
          <a:xfrm>
            <a:off x="11155680" y="6492240"/>
            <a:ext cx="457200" cy="274320"/>
          </a:xfrm>
          <a:prstGeom prst="rect">
            <a:avLst/>
          </a:prstGeom>
          <a:noFill/>
          <a:ln/>
        </p:spPr>
        <p:txBody>
          <a:bodyPr wrap="square" lIns="0" tIns="0" rIns="0" bIns="0" rtlCol="0" anchor="ctr"/>
          <a:lstStyle/>
          <a:p>
            <a:pPr marL="0" indent="0" algn="r">
              <a:buNone/>
            </a:pPr>
            <a:r>
              <a:rPr lang="en-US" sz="1100" dirty="0">
                <a:solidFill>
                  <a:srgbClr val="5B6270"/>
                </a:solidFill>
                <a:latin typeface="Times New Roman" pitchFamily="34" charset="0"/>
                <a:ea typeface="Times New Roman" pitchFamily="34" charset="-122"/>
                <a:cs typeface="Times New Roman"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DF3E2"/>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marL="0" indent="0">
              <a:buNone/>
            </a:pPr>
            <a:r>
              <a:rPr lang="en-US" sz="1600" b="1" kern="0" spc="220" dirty="0">
                <a:solidFill>
                  <a:srgbClr val="D9932B"/>
                </a:solidFill>
                <a:latin typeface="Times New Roman" pitchFamily="34" charset="0"/>
                <a:ea typeface="Times New Roman" pitchFamily="34" charset="-122"/>
                <a:cs typeface="Times New Roman" pitchFamily="34" charset="-120"/>
              </a:rPr>
              <a:t>GURUH ISHI · 8 DAQIQA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marL="0" indent="0">
              <a:lnSpc>
                <a:spcPct val="95000"/>
              </a:lnSpc>
              <a:buNone/>
            </a:pPr>
            <a:r>
              <a:rPr lang="en-US" sz="3600" b="1" dirty="0">
                <a:solidFill>
                  <a:srgbClr val="9A5B00"/>
                </a:solidFill>
                <a:latin typeface="Times New Roman" pitchFamily="34" charset="0"/>
                <a:ea typeface="Times New Roman" pitchFamily="34" charset="-122"/>
                <a:cs typeface="Times New Roman" pitchFamily="34" charset="-120"/>
              </a:rPr>
              <a:t>HEMIS uchun MFA loyihalang</a:t>
            </a:r>
            <a:endParaRPr lang="en-US" sz="3600" dirty="0"/>
          </a:p>
        </p:txBody>
      </p:sp>
      <p:sp>
        <p:nvSpPr>
          <p:cNvPr id="4" name="Shape 2"/>
          <p:cNvSpPr/>
          <p:nvPr/>
        </p:nvSpPr>
        <p:spPr>
          <a:xfrm>
            <a:off x="10744200" y="411480"/>
            <a:ext cx="868680" cy="868680"/>
          </a:xfrm>
          <a:prstGeom prst="ellipse">
            <a:avLst/>
          </a:prstGeom>
          <a:solidFill>
            <a:srgbClr val="D9932B"/>
          </a:solidFill>
          <a:ln/>
        </p:spPr>
        <p:txBody>
          <a:bodyPr/>
          <a:lstStyle/>
          <a:p>
            <a:endParaRPr lang="ru-RU"/>
          </a:p>
        </p:txBody>
      </p:sp>
      <p:pic>
        <p:nvPicPr>
          <p:cNvPr id="5" name="Image 0" descr="/home/claude/fob-slides/icons_out/users_white.png"/>
          <p:cNvPicPr>
            <a:picLocks noChangeAspect="1"/>
          </p:cNvPicPr>
          <p:nvPr/>
        </p:nvPicPr>
        <p:blipFill>
          <a:blip r:embed="rId3"/>
          <a:stretch>
            <a:fillRect/>
          </a:stretch>
        </p:blipFill>
        <p:spPr>
          <a:xfrm>
            <a:off x="10978744" y="646024"/>
            <a:ext cx="399593" cy="399593"/>
          </a:xfrm>
          <a:prstGeom prst="rect">
            <a:avLst/>
          </a:prstGeom>
        </p:spPr>
      </p:pic>
      <p:sp>
        <p:nvSpPr>
          <p:cNvPr id="6" name="Shape 3"/>
          <p:cNvSpPr/>
          <p:nvPr/>
        </p:nvSpPr>
        <p:spPr>
          <a:xfrm>
            <a:off x="548640" y="1783080"/>
            <a:ext cx="3566160" cy="2057400"/>
          </a:xfrm>
          <a:prstGeom prst="roundRect">
            <a:avLst>
              <a:gd name="adj" fmla="val 4000"/>
            </a:avLst>
          </a:prstGeom>
          <a:solidFill>
            <a:srgbClr val="FFFFFF"/>
          </a:solidFill>
          <a:ln/>
        </p:spPr>
        <p:txBody>
          <a:bodyPr/>
          <a:lstStyle/>
          <a:p>
            <a:endParaRPr lang="ru-RU"/>
          </a:p>
        </p:txBody>
      </p:sp>
      <p:sp>
        <p:nvSpPr>
          <p:cNvPr id="7" name="Shape 4"/>
          <p:cNvSpPr/>
          <p:nvPr/>
        </p:nvSpPr>
        <p:spPr>
          <a:xfrm>
            <a:off x="822960" y="1965960"/>
            <a:ext cx="621792" cy="621792"/>
          </a:xfrm>
          <a:prstGeom prst="ellipse">
            <a:avLst/>
          </a:prstGeom>
          <a:solidFill>
            <a:srgbClr val="D9932B"/>
          </a:solidFill>
          <a:ln/>
        </p:spPr>
        <p:txBody>
          <a:bodyPr/>
          <a:lstStyle/>
          <a:p>
            <a:endParaRPr lang="ru-RU"/>
          </a:p>
        </p:txBody>
      </p:sp>
      <p:pic>
        <p:nvPicPr>
          <p:cNvPr id="8" name="Image 1" descr="/home/claude/fob-slides/icons_out/users_white.png"/>
          <p:cNvPicPr>
            <a:picLocks noChangeAspect="1"/>
          </p:cNvPicPr>
          <p:nvPr/>
        </p:nvPicPr>
        <p:blipFill>
          <a:blip r:embed="rId3"/>
          <a:stretch>
            <a:fillRect/>
          </a:stretch>
        </p:blipFill>
        <p:spPr>
          <a:xfrm>
            <a:off x="962863" y="2105863"/>
            <a:ext cx="341986" cy="341986"/>
          </a:xfrm>
          <a:prstGeom prst="rect">
            <a:avLst/>
          </a:prstGeom>
        </p:spPr>
      </p:pic>
      <p:sp>
        <p:nvSpPr>
          <p:cNvPr id="9" name="Text 5"/>
          <p:cNvSpPr txBox="1"/>
          <p:nvPr/>
        </p:nvSpPr>
        <p:spPr>
          <a:xfrm>
            <a:off x="1600200" y="1965960"/>
            <a:ext cx="2377440" cy="621792"/>
          </a:xfrm>
          <a:prstGeom prst="rect">
            <a:avLst/>
          </a:prstGeom>
          <a:noFill/>
          <a:ln/>
        </p:spPr>
        <p:txBody>
          <a:bodyPr wrap="square" lIns="0" tIns="0" rIns="0" bIns="0" rtlCol="0" anchor="ctr"/>
          <a:lstStyle/>
          <a:p>
            <a:pPr marL="0" indent="0" algn="l">
              <a:lnSpc>
                <a:spcPct val="100000"/>
              </a:lnSpc>
              <a:buNone/>
            </a:pPr>
            <a:r>
              <a:rPr lang="en-US" sz="2000" b="1" dirty="0">
                <a:solidFill>
                  <a:srgbClr val="9A5B00"/>
                </a:solidFill>
                <a:latin typeface="Times New Roman" pitchFamily="34" charset="0"/>
                <a:ea typeface="Times New Roman" pitchFamily="34" charset="-122"/>
                <a:cs typeface="Times New Roman" pitchFamily="34" charset="-120"/>
              </a:rPr>
              <a:t>Talaba</a:t>
            </a:r>
            <a:endParaRPr lang="en-US" sz="2000" dirty="0"/>
          </a:p>
        </p:txBody>
      </p:sp>
      <p:sp>
        <p:nvSpPr>
          <p:cNvPr id="10" name="Text 6"/>
          <p:cNvSpPr txBox="1"/>
          <p:nvPr/>
        </p:nvSpPr>
        <p:spPr>
          <a:xfrm>
            <a:off x="822960" y="2743200"/>
            <a:ext cx="3017520" cy="1005840"/>
          </a:xfrm>
          <a:prstGeom prst="rect">
            <a:avLst/>
          </a:prstGeom>
          <a:noFill/>
          <a:ln/>
        </p:spPr>
        <p:txBody>
          <a:bodyPr wrap="square" lIns="0" tIns="0" rIns="0" bIns="0" rtlCol="0" anchor="t"/>
          <a:lstStyle/>
          <a:p>
            <a:pPr marL="0" indent="0" algn="l">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Minglab foydalanuvchi, turli telefonlar, baholarni ko'radi</a:t>
            </a:r>
            <a:endParaRPr lang="en-US" sz="1600" dirty="0"/>
          </a:p>
        </p:txBody>
      </p:sp>
      <p:sp>
        <p:nvSpPr>
          <p:cNvPr id="11" name="Shape 7"/>
          <p:cNvSpPr/>
          <p:nvPr/>
        </p:nvSpPr>
        <p:spPr>
          <a:xfrm>
            <a:off x="4297680" y="1783080"/>
            <a:ext cx="3566160" cy="2057400"/>
          </a:xfrm>
          <a:prstGeom prst="roundRect">
            <a:avLst>
              <a:gd name="adj" fmla="val 4000"/>
            </a:avLst>
          </a:prstGeom>
          <a:solidFill>
            <a:srgbClr val="FFFFFF"/>
          </a:solidFill>
          <a:ln/>
        </p:spPr>
        <p:txBody>
          <a:bodyPr/>
          <a:lstStyle/>
          <a:p>
            <a:endParaRPr lang="ru-RU"/>
          </a:p>
        </p:txBody>
      </p:sp>
      <p:sp>
        <p:nvSpPr>
          <p:cNvPr id="12" name="Shape 8"/>
          <p:cNvSpPr/>
          <p:nvPr/>
        </p:nvSpPr>
        <p:spPr>
          <a:xfrm>
            <a:off x="4572000" y="1965960"/>
            <a:ext cx="621792" cy="621792"/>
          </a:xfrm>
          <a:prstGeom prst="ellipse">
            <a:avLst/>
          </a:prstGeom>
          <a:solidFill>
            <a:srgbClr val="D9932B"/>
          </a:solidFill>
          <a:ln/>
        </p:spPr>
        <p:txBody>
          <a:bodyPr/>
          <a:lstStyle/>
          <a:p>
            <a:endParaRPr lang="ru-RU"/>
          </a:p>
        </p:txBody>
      </p:sp>
      <p:pic>
        <p:nvPicPr>
          <p:cNvPr id="13" name="Image 2" descr="/home/claude/fob-slides/icons_out/university_white.png"/>
          <p:cNvPicPr>
            <a:picLocks noChangeAspect="1"/>
          </p:cNvPicPr>
          <p:nvPr/>
        </p:nvPicPr>
        <p:blipFill>
          <a:blip r:embed="rId4"/>
          <a:stretch>
            <a:fillRect/>
          </a:stretch>
        </p:blipFill>
        <p:spPr>
          <a:xfrm>
            <a:off x="4711903" y="2105863"/>
            <a:ext cx="341986" cy="341986"/>
          </a:xfrm>
          <a:prstGeom prst="rect">
            <a:avLst/>
          </a:prstGeom>
        </p:spPr>
      </p:pic>
      <p:sp>
        <p:nvSpPr>
          <p:cNvPr id="14" name="Text 9"/>
          <p:cNvSpPr txBox="1"/>
          <p:nvPr/>
        </p:nvSpPr>
        <p:spPr>
          <a:xfrm>
            <a:off x="5349240" y="1965960"/>
            <a:ext cx="2377440" cy="621792"/>
          </a:xfrm>
          <a:prstGeom prst="rect">
            <a:avLst/>
          </a:prstGeom>
          <a:noFill/>
          <a:ln/>
        </p:spPr>
        <p:txBody>
          <a:bodyPr wrap="square" lIns="0" tIns="0" rIns="0" bIns="0" rtlCol="0" anchor="ctr"/>
          <a:lstStyle/>
          <a:p>
            <a:pPr marL="0" indent="0" algn="l">
              <a:lnSpc>
                <a:spcPct val="100000"/>
              </a:lnSpc>
              <a:buNone/>
            </a:pPr>
            <a:r>
              <a:rPr lang="en-US" sz="2000" b="1" dirty="0">
                <a:solidFill>
                  <a:srgbClr val="9A5B00"/>
                </a:solidFill>
                <a:latin typeface="Times New Roman" pitchFamily="34" charset="0"/>
                <a:ea typeface="Times New Roman" pitchFamily="34" charset="-122"/>
                <a:cs typeface="Times New Roman" pitchFamily="34" charset="-120"/>
              </a:rPr>
              <a:t>O'qituvchi</a:t>
            </a:r>
            <a:endParaRPr lang="en-US" sz="2000" dirty="0"/>
          </a:p>
        </p:txBody>
      </p:sp>
      <p:sp>
        <p:nvSpPr>
          <p:cNvPr id="15" name="Text 10"/>
          <p:cNvSpPr txBox="1"/>
          <p:nvPr/>
        </p:nvSpPr>
        <p:spPr>
          <a:xfrm>
            <a:off x="4572000" y="2743200"/>
            <a:ext cx="3017520" cy="1005840"/>
          </a:xfrm>
          <a:prstGeom prst="rect">
            <a:avLst/>
          </a:prstGeom>
          <a:noFill/>
          <a:ln/>
        </p:spPr>
        <p:txBody>
          <a:bodyPr wrap="square" lIns="0" tIns="0" rIns="0" bIns="0" rtlCol="0" anchor="t"/>
          <a:lstStyle/>
          <a:p>
            <a:pPr marL="0" indent="0" algn="l">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Baho kiritadi va o'zgartiradi, ba'zan kompyuter sinfidan kiradi</a:t>
            </a:r>
            <a:endParaRPr lang="en-US" sz="1600" dirty="0"/>
          </a:p>
        </p:txBody>
      </p:sp>
      <p:sp>
        <p:nvSpPr>
          <p:cNvPr id="16" name="Shape 11"/>
          <p:cNvSpPr/>
          <p:nvPr/>
        </p:nvSpPr>
        <p:spPr>
          <a:xfrm>
            <a:off x="8046720" y="1783080"/>
            <a:ext cx="3566160" cy="2057400"/>
          </a:xfrm>
          <a:prstGeom prst="roundRect">
            <a:avLst>
              <a:gd name="adj" fmla="val 4000"/>
            </a:avLst>
          </a:prstGeom>
          <a:solidFill>
            <a:srgbClr val="FFFFFF"/>
          </a:solidFill>
          <a:ln/>
        </p:spPr>
        <p:txBody>
          <a:bodyPr/>
          <a:lstStyle/>
          <a:p>
            <a:endParaRPr lang="ru-RU"/>
          </a:p>
        </p:txBody>
      </p:sp>
      <p:sp>
        <p:nvSpPr>
          <p:cNvPr id="17" name="Shape 12"/>
          <p:cNvSpPr/>
          <p:nvPr/>
        </p:nvSpPr>
        <p:spPr>
          <a:xfrm>
            <a:off x="8321040" y="1965960"/>
            <a:ext cx="621792" cy="621792"/>
          </a:xfrm>
          <a:prstGeom prst="ellipse">
            <a:avLst/>
          </a:prstGeom>
          <a:solidFill>
            <a:srgbClr val="D9932B"/>
          </a:solidFill>
          <a:ln/>
        </p:spPr>
        <p:txBody>
          <a:bodyPr/>
          <a:lstStyle/>
          <a:p>
            <a:endParaRPr lang="ru-RU"/>
          </a:p>
        </p:txBody>
      </p:sp>
      <p:pic>
        <p:nvPicPr>
          <p:cNvPr id="18" name="Image 3" descr="/home/claude/fob-slides/icons_out/usersecret_white.png"/>
          <p:cNvPicPr>
            <a:picLocks noChangeAspect="1"/>
          </p:cNvPicPr>
          <p:nvPr/>
        </p:nvPicPr>
        <p:blipFill>
          <a:blip r:embed="rId5"/>
          <a:stretch>
            <a:fillRect/>
          </a:stretch>
        </p:blipFill>
        <p:spPr>
          <a:xfrm>
            <a:off x="8460943" y="2105863"/>
            <a:ext cx="341986" cy="341986"/>
          </a:xfrm>
          <a:prstGeom prst="rect">
            <a:avLst/>
          </a:prstGeom>
        </p:spPr>
      </p:pic>
      <p:sp>
        <p:nvSpPr>
          <p:cNvPr id="19" name="Text 13"/>
          <p:cNvSpPr txBox="1"/>
          <p:nvPr/>
        </p:nvSpPr>
        <p:spPr>
          <a:xfrm>
            <a:off x="9098280" y="1965960"/>
            <a:ext cx="2377440" cy="621792"/>
          </a:xfrm>
          <a:prstGeom prst="rect">
            <a:avLst/>
          </a:prstGeom>
          <a:noFill/>
          <a:ln/>
        </p:spPr>
        <p:txBody>
          <a:bodyPr wrap="square" lIns="0" tIns="0" rIns="0" bIns="0" rtlCol="0" anchor="ctr"/>
          <a:lstStyle/>
          <a:p>
            <a:pPr marL="0" indent="0" algn="l">
              <a:lnSpc>
                <a:spcPct val="100000"/>
              </a:lnSpc>
              <a:buNone/>
            </a:pPr>
            <a:r>
              <a:rPr lang="en-US" sz="2000" b="1" dirty="0">
                <a:solidFill>
                  <a:srgbClr val="9A5B00"/>
                </a:solidFill>
                <a:latin typeface="Times New Roman" pitchFamily="34" charset="0"/>
                <a:ea typeface="Times New Roman" pitchFamily="34" charset="-122"/>
                <a:cs typeface="Times New Roman" pitchFamily="34" charset="-120"/>
              </a:rPr>
              <a:t>Tizim ma'muri</a:t>
            </a:r>
            <a:endParaRPr lang="en-US" sz="2000" dirty="0"/>
          </a:p>
        </p:txBody>
      </p:sp>
      <p:sp>
        <p:nvSpPr>
          <p:cNvPr id="20" name="Text 14"/>
          <p:cNvSpPr txBox="1"/>
          <p:nvPr/>
        </p:nvSpPr>
        <p:spPr>
          <a:xfrm>
            <a:off x="8321040" y="2743200"/>
            <a:ext cx="3017520" cy="1005840"/>
          </a:xfrm>
          <a:prstGeom prst="rect">
            <a:avLst/>
          </a:prstGeom>
          <a:noFill/>
          <a:ln/>
        </p:spPr>
        <p:txBody>
          <a:bodyPr wrap="square" lIns="0" tIns="0" rIns="0" bIns="0" rtlCol="0" anchor="t"/>
          <a:lstStyle/>
          <a:p>
            <a:pPr marL="0" indent="0" algn="l">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Barcha qayd yozuvlari ustidan to'liq imtiyoz</a:t>
            </a:r>
            <a:endParaRPr lang="en-US" sz="1600" dirty="0"/>
          </a:p>
        </p:txBody>
      </p:sp>
      <p:sp>
        <p:nvSpPr>
          <p:cNvPr id="21" name="Shape 15"/>
          <p:cNvSpPr/>
          <p:nvPr/>
        </p:nvSpPr>
        <p:spPr>
          <a:xfrm>
            <a:off x="548640" y="4023360"/>
            <a:ext cx="11064240" cy="2103120"/>
          </a:xfrm>
          <a:prstGeom prst="roundRect">
            <a:avLst>
              <a:gd name="adj" fmla="val 3913"/>
            </a:avLst>
          </a:prstGeom>
          <a:solidFill>
            <a:srgbClr val="FFFFFF"/>
          </a:solidFill>
          <a:ln/>
        </p:spPr>
        <p:txBody>
          <a:bodyPr/>
          <a:lstStyle/>
          <a:p>
            <a:endParaRPr lang="ru-RU"/>
          </a:p>
        </p:txBody>
      </p:sp>
      <p:sp>
        <p:nvSpPr>
          <p:cNvPr id="22" name="Text 16"/>
          <p:cNvSpPr txBox="1"/>
          <p:nvPr/>
        </p:nvSpPr>
        <p:spPr>
          <a:xfrm>
            <a:off x="822960" y="4114800"/>
            <a:ext cx="10515600" cy="365760"/>
          </a:xfrm>
          <a:prstGeom prst="rect">
            <a:avLst/>
          </a:prstGeom>
          <a:noFill/>
          <a:ln/>
        </p:spPr>
        <p:txBody>
          <a:bodyPr wrap="square" lIns="0" tIns="0" rIns="0" bIns="0" rtlCol="0" anchor="t"/>
          <a:lstStyle/>
          <a:p>
            <a:pPr marL="0" indent="0" algn="l">
              <a:lnSpc>
                <a:spcPct val="100000"/>
              </a:lnSpc>
              <a:buNone/>
            </a:pPr>
            <a:r>
              <a:rPr lang="en-US" sz="1800" b="1" dirty="0">
                <a:solidFill>
                  <a:srgbClr val="1B1B2A"/>
                </a:solidFill>
                <a:latin typeface="Times New Roman" pitchFamily="34" charset="0"/>
                <a:ea typeface="Times New Roman" pitchFamily="34" charset="-122"/>
                <a:cs typeface="Times New Roman" pitchFamily="34" charset="-120"/>
              </a:rPr>
              <a:t>Har bir rol uchun belgilang:</a:t>
            </a:r>
            <a:endParaRPr lang="en-US" sz="1800" dirty="0"/>
          </a:p>
        </p:txBody>
      </p:sp>
      <p:sp>
        <p:nvSpPr>
          <p:cNvPr id="23" name="Shape 17"/>
          <p:cNvSpPr/>
          <p:nvPr/>
        </p:nvSpPr>
        <p:spPr>
          <a:xfrm>
            <a:off x="868680" y="4599432"/>
            <a:ext cx="329184" cy="329184"/>
          </a:xfrm>
          <a:prstGeom prst="ellipse">
            <a:avLst/>
          </a:prstGeom>
          <a:solidFill>
            <a:srgbClr val="D9932B"/>
          </a:solidFill>
          <a:ln/>
        </p:spPr>
        <p:txBody>
          <a:bodyPr/>
          <a:lstStyle/>
          <a:p>
            <a:endParaRPr lang="ru-RU"/>
          </a:p>
        </p:txBody>
      </p:sp>
      <p:sp>
        <p:nvSpPr>
          <p:cNvPr id="24" name="Text 18"/>
          <p:cNvSpPr txBox="1"/>
          <p:nvPr/>
        </p:nvSpPr>
        <p:spPr>
          <a:xfrm>
            <a:off x="868680" y="4599432"/>
            <a:ext cx="329184" cy="329184"/>
          </a:xfrm>
          <a:prstGeom prst="rect">
            <a:avLst/>
          </a:prstGeom>
          <a:noFill/>
          <a:ln/>
        </p:spPr>
        <p:txBody>
          <a:bodyPr wrap="square" lIns="0" tIns="0" rIns="0" bIns="0" rtlCol="0" anchor="ctr"/>
          <a:lstStyle/>
          <a:p>
            <a:pPr marL="0" indent="0" algn="ctr">
              <a:lnSpc>
                <a:spcPct val="100000"/>
              </a:lnSpc>
              <a:buNone/>
            </a:pPr>
            <a:r>
              <a:rPr lang="en-US" sz="1200" b="1" dirty="0">
                <a:solidFill>
                  <a:srgbClr val="FFFFFF"/>
                </a:solidFill>
                <a:latin typeface="Times New Roman" pitchFamily="34" charset="0"/>
                <a:ea typeface="Times New Roman" pitchFamily="34" charset="-122"/>
                <a:cs typeface="Times New Roman" pitchFamily="34" charset="-120"/>
              </a:rPr>
              <a:t>1</a:t>
            </a:r>
            <a:endParaRPr lang="en-US" sz="1200" dirty="0"/>
          </a:p>
        </p:txBody>
      </p:sp>
      <p:sp>
        <p:nvSpPr>
          <p:cNvPr id="25" name="Text 19"/>
          <p:cNvSpPr txBox="1"/>
          <p:nvPr/>
        </p:nvSpPr>
        <p:spPr>
          <a:xfrm>
            <a:off x="1371600" y="4526280"/>
            <a:ext cx="9966960" cy="475488"/>
          </a:xfrm>
          <a:prstGeom prst="rect">
            <a:avLst/>
          </a:prstGeom>
          <a:noFill/>
          <a:ln/>
        </p:spPr>
        <p:txBody>
          <a:bodyPr wrap="square" lIns="0" tIns="0" rIns="0" bIns="0" rtlCol="0" anchor="ctr"/>
          <a:lstStyle/>
          <a:p>
            <a:pPr marL="0" indent="0" algn="l">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Ikkinchi omil: SMS, TOTP ilova, push + raqam yoki FIDO2 kalit?</a:t>
            </a:r>
            <a:endParaRPr lang="en-US" sz="1700" dirty="0"/>
          </a:p>
        </p:txBody>
      </p:sp>
      <p:sp>
        <p:nvSpPr>
          <p:cNvPr id="26" name="Shape 20"/>
          <p:cNvSpPr/>
          <p:nvPr/>
        </p:nvSpPr>
        <p:spPr>
          <a:xfrm>
            <a:off x="868680" y="5102352"/>
            <a:ext cx="329184" cy="329184"/>
          </a:xfrm>
          <a:prstGeom prst="ellipse">
            <a:avLst/>
          </a:prstGeom>
          <a:solidFill>
            <a:srgbClr val="D9932B"/>
          </a:solidFill>
          <a:ln/>
        </p:spPr>
        <p:txBody>
          <a:bodyPr/>
          <a:lstStyle/>
          <a:p>
            <a:endParaRPr lang="ru-RU"/>
          </a:p>
        </p:txBody>
      </p:sp>
      <p:sp>
        <p:nvSpPr>
          <p:cNvPr id="27" name="Text 21"/>
          <p:cNvSpPr txBox="1"/>
          <p:nvPr/>
        </p:nvSpPr>
        <p:spPr>
          <a:xfrm>
            <a:off x="868680" y="5102352"/>
            <a:ext cx="329184" cy="329184"/>
          </a:xfrm>
          <a:prstGeom prst="rect">
            <a:avLst/>
          </a:prstGeom>
          <a:noFill/>
          <a:ln/>
        </p:spPr>
        <p:txBody>
          <a:bodyPr wrap="square" lIns="0" tIns="0" rIns="0" bIns="0" rtlCol="0" anchor="ctr"/>
          <a:lstStyle/>
          <a:p>
            <a:pPr marL="0" indent="0" algn="ctr">
              <a:lnSpc>
                <a:spcPct val="100000"/>
              </a:lnSpc>
              <a:buNone/>
            </a:pPr>
            <a:r>
              <a:rPr lang="en-US" sz="1200" b="1" dirty="0">
                <a:solidFill>
                  <a:srgbClr val="FFFFFF"/>
                </a:solidFill>
                <a:latin typeface="Times New Roman" pitchFamily="34" charset="0"/>
                <a:ea typeface="Times New Roman" pitchFamily="34" charset="-122"/>
                <a:cs typeface="Times New Roman" pitchFamily="34" charset="-120"/>
              </a:rPr>
              <a:t>2</a:t>
            </a:r>
            <a:endParaRPr lang="en-US" sz="1200" dirty="0"/>
          </a:p>
        </p:txBody>
      </p:sp>
      <p:sp>
        <p:nvSpPr>
          <p:cNvPr id="28" name="Text 22"/>
          <p:cNvSpPr txBox="1"/>
          <p:nvPr/>
        </p:nvSpPr>
        <p:spPr>
          <a:xfrm>
            <a:off x="1371600" y="5029200"/>
            <a:ext cx="9966960" cy="475488"/>
          </a:xfrm>
          <a:prstGeom prst="rect">
            <a:avLst/>
          </a:prstGeom>
          <a:noFill/>
          <a:ln/>
        </p:spPr>
        <p:txBody>
          <a:bodyPr wrap="square" lIns="0" tIns="0" rIns="0" bIns="0" rtlCol="0" anchor="ctr"/>
          <a:lstStyle/>
          <a:p>
            <a:pPr marL="0" indent="0" algn="l">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Telefonini yo'qotsa, qanday tiklanadi?</a:t>
            </a:r>
            <a:endParaRPr lang="en-US" sz="1700" dirty="0"/>
          </a:p>
        </p:txBody>
      </p:sp>
      <p:sp>
        <p:nvSpPr>
          <p:cNvPr id="29" name="Shape 23"/>
          <p:cNvSpPr/>
          <p:nvPr/>
        </p:nvSpPr>
        <p:spPr>
          <a:xfrm>
            <a:off x="868680" y="5605272"/>
            <a:ext cx="329184" cy="329184"/>
          </a:xfrm>
          <a:prstGeom prst="ellipse">
            <a:avLst/>
          </a:prstGeom>
          <a:solidFill>
            <a:srgbClr val="D9932B"/>
          </a:solidFill>
          <a:ln/>
        </p:spPr>
        <p:txBody>
          <a:bodyPr/>
          <a:lstStyle/>
          <a:p>
            <a:endParaRPr lang="ru-RU"/>
          </a:p>
        </p:txBody>
      </p:sp>
      <p:sp>
        <p:nvSpPr>
          <p:cNvPr id="30" name="Text 24"/>
          <p:cNvSpPr txBox="1"/>
          <p:nvPr/>
        </p:nvSpPr>
        <p:spPr>
          <a:xfrm>
            <a:off x="868680" y="5605272"/>
            <a:ext cx="329184" cy="329184"/>
          </a:xfrm>
          <a:prstGeom prst="rect">
            <a:avLst/>
          </a:prstGeom>
          <a:noFill/>
          <a:ln/>
        </p:spPr>
        <p:txBody>
          <a:bodyPr wrap="square" lIns="0" tIns="0" rIns="0" bIns="0" rtlCol="0" anchor="ctr"/>
          <a:lstStyle/>
          <a:p>
            <a:pPr marL="0" indent="0" algn="ctr">
              <a:lnSpc>
                <a:spcPct val="100000"/>
              </a:lnSpc>
              <a:buNone/>
            </a:pPr>
            <a:r>
              <a:rPr lang="en-US" sz="1200" b="1" dirty="0">
                <a:solidFill>
                  <a:srgbClr val="FFFFFF"/>
                </a:solidFill>
                <a:latin typeface="Times New Roman" pitchFamily="34" charset="0"/>
                <a:ea typeface="Times New Roman" pitchFamily="34" charset="-122"/>
                <a:cs typeface="Times New Roman" pitchFamily="34" charset="-120"/>
              </a:rPr>
              <a:t>3</a:t>
            </a:r>
            <a:endParaRPr lang="en-US" sz="1200" dirty="0"/>
          </a:p>
        </p:txBody>
      </p:sp>
      <p:sp>
        <p:nvSpPr>
          <p:cNvPr id="31" name="Text 25"/>
          <p:cNvSpPr txBox="1"/>
          <p:nvPr/>
        </p:nvSpPr>
        <p:spPr>
          <a:xfrm>
            <a:off x="1371600" y="5532120"/>
            <a:ext cx="9966960" cy="475488"/>
          </a:xfrm>
          <a:prstGeom prst="rect">
            <a:avLst/>
          </a:prstGeom>
          <a:noFill/>
          <a:ln/>
        </p:spPr>
        <p:txBody>
          <a:bodyPr wrap="square" lIns="0" tIns="0" rIns="0" bIns="0" rtlCol="0" anchor="ctr"/>
          <a:lstStyle/>
          <a:p>
            <a:pPr marL="0" indent="0" algn="l">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Qaysi AAL darajasi kerak va nega?</a:t>
            </a:r>
            <a:endParaRPr lang="en-US" sz="1700" dirty="0"/>
          </a:p>
        </p:txBody>
      </p:sp>
      <p:sp>
        <p:nvSpPr>
          <p:cNvPr id="32" name="Text 26"/>
          <p:cNvSpPr txBox="1"/>
          <p:nvPr/>
        </p:nvSpPr>
        <p:spPr>
          <a:xfrm>
            <a:off x="548640" y="6492240"/>
            <a:ext cx="7315200" cy="274320"/>
          </a:xfrm>
          <a:prstGeom prst="rect">
            <a:avLst/>
          </a:prstGeom>
          <a:noFill/>
          <a:ln/>
        </p:spPr>
        <p:txBody>
          <a:bodyPr wrap="square" lIns="0" tIns="0" rIns="0" bIns="0" rtlCol="0" anchor="ctr"/>
          <a:lstStyle/>
          <a:p>
            <a:pPr marL="0" indent="0">
              <a:buNone/>
            </a:pPr>
            <a:r>
              <a:rPr lang="en-US" sz="1100" dirty="0">
                <a:solidFill>
                  <a:srgbClr val="9A5B00"/>
                </a:solidFill>
                <a:latin typeface="Times New Roman" pitchFamily="34" charset="0"/>
                <a:ea typeface="Times New Roman" pitchFamily="34" charset="-122"/>
                <a:cs typeface="Times New Roman" pitchFamily="34" charset="-120"/>
              </a:rPr>
              <a:t>Foydalanishlarni boshqarish  ·  4-ma'ruza</a:t>
            </a:r>
            <a:endParaRPr lang="en-US" sz="1100" dirty="0"/>
          </a:p>
        </p:txBody>
      </p:sp>
      <p:sp>
        <p:nvSpPr>
          <p:cNvPr id="33" name="Text 27"/>
          <p:cNvSpPr txBox="1"/>
          <p:nvPr/>
        </p:nvSpPr>
        <p:spPr>
          <a:xfrm>
            <a:off x="11155680" y="6492240"/>
            <a:ext cx="457200" cy="274320"/>
          </a:xfrm>
          <a:prstGeom prst="rect">
            <a:avLst/>
          </a:prstGeom>
          <a:noFill/>
          <a:ln/>
        </p:spPr>
        <p:txBody>
          <a:bodyPr wrap="square" lIns="0" tIns="0" rIns="0" bIns="0" rtlCol="0" anchor="ctr"/>
          <a:lstStyle/>
          <a:p>
            <a:pPr marL="0" indent="0" algn="r">
              <a:buNone/>
            </a:pPr>
            <a:r>
              <a:rPr lang="en-US" sz="1100" dirty="0">
                <a:solidFill>
                  <a:srgbClr val="9A5B00"/>
                </a:solidFill>
                <a:latin typeface="Times New Roman" pitchFamily="34" charset="0"/>
                <a:ea typeface="Times New Roman" pitchFamily="34" charset="-122"/>
                <a:cs typeface="Times New Roman"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371600"/>
            <a:ext cx="4114800" cy="4114800"/>
          </a:xfrm>
          <a:prstGeom prst="ellipse">
            <a:avLst/>
          </a:prstGeom>
          <a:solidFill>
            <a:srgbClr val="2A3778"/>
          </a:solidFill>
          <a:ln/>
        </p:spPr>
        <p:txBody>
          <a:bodyPr/>
          <a:lstStyle/>
          <a:p>
            <a:endParaRPr lang="ru-RU"/>
          </a:p>
        </p:txBody>
      </p:sp>
      <p:sp>
        <p:nvSpPr>
          <p:cNvPr id="3" name="Text 1"/>
          <p:cNvSpPr txBox="1"/>
          <p:nvPr/>
        </p:nvSpPr>
        <p:spPr>
          <a:xfrm>
            <a:off x="548640" y="347472"/>
            <a:ext cx="10058400" cy="365760"/>
          </a:xfrm>
          <a:prstGeom prst="rect">
            <a:avLst/>
          </a:prstGeom>
          <a:noFill/>
          <a:ln/>
        </p:spPr>
        <p:txBody>
          <a:bodyPr wrap="square" lIns="0" tIns="0" rIns="0" bIns="0" rtlCol="0" anchor="ctr"/>
          <a:lstStyle/>
          <a:p>
            <a:pPr marL="0" indent="0">
              <a:buNone/>
            </a:pPr>
            <a:r>
              <a:rPr lang="en-US" sz="1600" b="1" kern="0" spc="220" dirty="0">
                <a:solidFill>
                  <a:srgbClr val="9FB0E0"/>
                </a:solidFill>
                <a:latin typeface="Times New Roman" pitchFamily="34" charset="0"/>
                <a:ea typeface="Times New Roman" pitchFamily="34" charset="-122"/>
                <a:cs typeface="Times New Roman" pitchFamily="34" charset="-120"/>
              </a:rPr>
              <a:t>XULOSA</a:t>
            </a:r>
            <a:endParaRPr lang="en-US" sz="1600" dirty="0"/>
          </a:p>
        </p:txBody>
      </p:sp>
      <p:sp>
        <p:nvSpPr>
          <p:cNvPr id="4" name="Text 2"/>
          <p:cNvSpPr txBox="1"/>
          <p:nvPr/>
        </p:nvSpPr>
        <p:spPr>
          <a:xfrm>
            <a:off x="548640" y="731520"/>
            <a:ext cx="10058400" cy="777240"/>
          </a:xfrm>
          <a:prstGeom prst="rect">
            <a:avLst/>
          </a:prstGeom>
          <a:noFill/>
          <a:ln/>
        </p:spPr>
        <p:txBody>
          <a:bodyPr wrap="square" lIns="0" tIns="0" rIns="0" bIns="0" rtlCol="0" anchor="t"/>
          <a:lstStyle/>
          <a:p>
            <a:pPr marL="0" indent="0">
              <a:lnSpc>
                <a:spcPct val="95000"/>
              </a:lnSpc>
              <a:buNone/>
            </a:pPr>
            <a:r>
              <a:rPr lang="en-US" sz="3600" b="1" dirty="0">
                <a:solidFill>
                  <a:srgbClr val="FFFFFF"/>
                </a:solidFill>
                <a:latin typeface="Times New Roman" pitchFamily="34" charset="0"/>
                <a:ea typeface="Times New Roman" pitchFamily="34" charset="-122"/>
                <a:cs typeface="Times New Roman" pitchFamily="34" charset="-120"/>
              </a:rPr>
              <a:t>Bugungi darsning besh asosiy xulosasi</a:t>
            </a:r>
            <a:endParaRPr lang="en-US" sz="3600" dirty="0"/>
          </a:p>
        </p:txBody>
      </p:sp>
      <p:sp>
        <p:nvSpPr>
          <p:cNvPr id="5" name="Shape 3"/>
          <p:cNvSpPr/>
          <p:nvPr/>
        </p:nvSpPr>
        <p:spPr>
          <a:xfrm>
            <a:off x="548640" y="1856232"/>
            <a:ext cx="548640" cy="548640"/>
          </a:xfrm>
          <a:prstGeom prst="roundRect">
            <a:avLst>
              <a:gd name="adj" fmla="val 13333"/>
            </a:avLst>
          </a:prstGeom>
          <a:solidFill>
            <a:srgbClr val="2A3778"/>
          </a:solidFill>
          <a:ln/>
        </p:spPr>
        <p:txBody>
          <a:bodyPr/>
          <a:lstStyle/>
          <a:p>
            <a:endParaRPr lang="ru-RU"/>
          </a:p>
        </p:txBody>
      </p:sp>
      <p:sp>
        <p:nvSpPr>
          <p:cNvPr id="6" name="Text 4"/>
          <p:cNvSpPr txBox="1"/>
          <p:nvPr/>
        </p:nvSpPr>
        <p:spPr>
          <a:xfrm>
            <a:off x="548640" y="1856232"/>
            <a:ext cx="548640" cy="548640"/>
          </a:xfrm>
          <a:prstGeom prst="rect">
            <a:avLst/>
          </a:prstGeom>
          <a:noFill/>
          <a:ln/>
        </p:spPr>
        <p:txBody>
          <a:bodyPr wrap="square" lIns="0" tIns="0" rIns="0" bIns="0" rtlCol="0" anchor="ctr"/>
          <a:lstStyle/>
          <a:p>
            <a:pPr marL="0" indent="0" algn="ctr">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1</a:t>
            </a:r>
            <a:endParaRPr lang="en-US" sz="2000" dirty="0"/>
          </a:p>
        </p:txBody>
      </p:sp>
      <p:sp>
        <p:nvSpPr>
          <p:cNvPr id="7" name="Text 5"/>
          <p:cNvSpPr txBox="1"/>
          <p:nvPr/>
        </p:nvSpPr>
        <p:spPr>
          <a:xfrm>
            <a:off x="1325880" y="1783080"/>
            <a:ext cx="10287000" cy="694944"/>
          </a:xfrm>
          <a:prstGeom prst="rect">
            <a:avLst/>
          </a:prstGeom>
          <a:noFill/>
          <a:ln/>
        </p:spPr>
        <p:txBody>
          <a:bodyPr wrap="square" lIns="0" tIns="0" rIns="0" bIns="0" rtlCol="0" anchor="ctr"/>
          <a:lstStyle/>
          <a:p>
            <a:pPr marL="0" indent="0" algn="l">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Ikki omil — turli turdagi omillar: parol + maxfiy savol ikki omil emas.</a:t>
            </a:r>
            <a:endParaRPr lang="en-US" sz="1800" dirty="0"/>
          </a:p>
        </p:txBody>
      </p:sp>
      <p:sp>
        <p:nvSpPr>
          <p:cNvPr id="8" name="Shape 6"/>
          <p:cNvSpPr/>
          <p:nvPr/>
        </p:nvSpPr>
        <p:spPr>
          <a:xfrm>
            <a:off x="548640" y="2679192"/>
            <a:ext cx="548640" cy="548640"/>
          </a:xfrm>
          <a:prstGeom prst="roundRect">
            <a:avLst>
              <a:gd name="adj" fmla="val 13333"/>
            </a:avLst>
          </a:prstGeom>
          <a:solidFill>
            <a:srgbClr val="2A3778"/>
          </a:solidFill>
          <a:ln/>
        </p:spPr>
        <p:txBody>
          <a:bodyPr/>
          <a:lstStyle/>
          <a:p>
            <a:endParaRPr lang="ru-RU"/>
          </a:p>
        </p:txBody>
      </p:sp>
      <p:sp>
        <p:nvSpPr>
          <p:cNvPr id="9" name="Text 7"/>
          <p:cNvSpPr txBox="1"/>
          <p:nvPr/>
        </p:nvSpPr>
        <p:spPr>
          <a:xfrm>
            <a:off x="548640" y="2679192"/>
            <a:ext cx="548640" cy="548640"/>
          </a:xfrm>
          <a:prstGeom prst="rect">
            <a:avLst/>
          </a:prstGeom>
          <a:noFill/>
          <a:ln/>
        </p:spPr>
        <p:txBody>
          <a:bodyPr wrap="square" lIns="0" tIns="0" rIns="0" bIns="0" rtlCol="0" anchor="ctr"/>
          <a:lstStyle/>
          <a:p>
            <a:pPr marL="0" indent="0" algn="ctr">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2</a:t>
            </a:r>
            <a:endParaRPr lang="en-US" sz="2000" dirty="0"/>
          </a:p>
        </p:txBody>
      </p:sp>
      <p:sp>
        <p:nvSpPr>
          <p:cNvPr id="10" name="Text 8"/>
          <p:cNvSpPr txBox="1"/>
          <p:nvPr/>
        </p:nvSpPr>
        <p:spPr>
          <a:xfrm>
            <a:off x="1325880" y="2606040"/>
            <a:ext cx="10287000" cy="694944"/>
          </a:xfrm>
          <a:prstGeom prst="rect">
            <a:avLst/>
          </a:prstGeom>
          <a:noFill/>
          <a:ln/>
        </p:spPr>
        <p:txBody>
          <a:bodyPr wrap="square" lIns="0" tIns="0" rIns="0" bIns="0" rtlCol="0" anchor="ctr"/>
          <a:lstStyle/>
          <a:p>
            <a:pPr marL="0" indent="0" algn="l">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HOTP = HMAC-SHA-1(K, C) + dinamik kesish; TOTP — hisoblagich o'rniga vaqt qadami.</a:t>
            </a:r>
            <a:endParaRPr lang="en-US" sz="1800" dirty="0"/>
          </a:p>
        </p:txBody>
      </p:sp>
      <p:sp>
        <p:nvSpPr>
          <p:cNvPr id="11" name="Shape 9"/>
          <p:cNvSpPr/>
          <p:nvPr/>
        </p:nvSpPr>
        <p:spPr>
          <a:xfrm>
            <a:off x="548640" y="3502152"/>
            <a:ext cx="548640" cy="548640"/>
          </a:xfrm>
          <a:prstGeom prst="roundRect">
            <a:avLst>
              <a:gd name="adj" fmla="val 13333"/>
            </a:avLst>
          </a:prstGeom>
          <a:solidFill>
            <a:srgbClr val="2A3778"/>
          </a:solidFill>
          <a:ln/>
        </p:spPr>
        <p:txBody>
          <a:bodyPr/>
          <a:lstStyle/>
          <a:p>
            <a:endParaRPr lang="ru-RU"/>
          </a:p>
        </p:txBody>
      </p:sp>
      <p:sp>
        <p:nvSpPr>
          <p:cNvPr id="12" name="Text 10"/>
          <p:cNvSpPr txBox="1"/>
          <p:nvPr/>
        </p:nvSpPr>
        <p:spPr>
          <a:xfrm>
            <a:off x="548640" y="3502152"/>
            <a:ext cx="548640" cy="548640"/>
          </a:xfrm>
          <a:prstGeom prst="rect">
            <a:avLst/>
          </a:prstGeom>
          <a:noFill/>
          <a:ln/>
        </p:spPr>
        <p:txBody>
          <a:bodyPr wrap="square" lIns="0" tIns="0" rIns="0" bIns="0" rtlCol="0" anchor="ctr"/>
          <a:lstStyle/>
          <a:p>
            <a:pPr marL="0" indent="0" algn="ctr">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3</a:t>
            </a:r>
            <a:endParaRPr lang="en-US" sz="2000" dirty="0"/>
          </a:p>
        </p:txBody>
      </p:sp>
      <p:sp>
        <p:nvSpPr>
          <p:cNvPr id="13" name="Text 11"/>
          <p:cNvSpPr txBox="1"/>
          <p:nvPr/>
        </p:nvSpPr>
        <p:spPr>
          <a:xfrm>
            <a:off x="1325880" y="3429000"/>
            <a:ext cx="10287000" cy="694944"/>
          </a:xfrm>
          <a:prstGeom prst="rect">
            <a:avLst/>
          </a:prstGeom>
          <a:noFill/>
          <a:ln/>
        </p:spPr>
        <p:txBody>
          <a:bodyPr wrap="square" lIns="0" tIns="0" rIns="0" bIns="0" rtlCol="0" anchor="ctr"/>
          <a:lstStyle/>
          <a:p>
            <a:pPr marL="0" indent="0" algn="l">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OTP kaliti K xeshlanmaydi, shifrlab saqlanadi; har bir kod faqat bir marta qabul qilinadi.</a:t>
            </a:r>
            <a:endParaRPr lang="en-US" sz="1800" dirty="0"/>
          </a:p>
        </p:txBody>
      </p:sp>
      <p:sp>
        <p:nvSpPr>
          <p:cNvPr id="14" name="Shape 12"/>
          <p:cNvSpPr/>
          <p:nvPr/>
        </p:nvSpPr>
        <p:spPr>
          <a:xfrm>
            <a:off x="548640" y="4325112"/>
            <a:ext cx="548640" cy="548640"/>
          </a:xfrm>
          <a:prstGeom prst="roundRect">
            <a:avLst>
              <a:gd name="adj" fmla="val 13333"/>
            </a:avLst>
          </a:prstGeom>
          <a:solidFill>
            <a:srgbClr val="2A3778"/>
          </a:solidFill>
          <a:ln/>
        </p:spPr>
        <p:txBody>
          <a:bodyPr/>
          <a:lstStyle/>
          <a:p>
            <a:endParaRPr lang="ru-RU"/>
          </a:p>
        </p:txBody>
      </p:sp>
      <p:sp>
        <p:nvSpPr>
          <p:cNvPr id="15" name="Text 13"/>
          <p:cNvSpPr txBox="1"/>
          <p:nvPr/>
        </p:nvSpPr>
        <p:spPr>
          <a:xfrm>
            <a:off x="548640" y="4325112"/>
            <a:ext cx="548640" cy="548640"/>
          </a:xfrm>
          <a:prstGeom prst="rect">
            <a:avLst/>
          </a:prstGeom>
          <a:noFill/>
          <a:ln/>
        </p:spPr>
        <p:txBody>
          <a:bodyPr wrap="square" lIns="0" tIns="0" rIns="0" bIns="0" rtlCol="0" anchor="ctr"/>
          <a:lstStyle/>
          <a:p>
            <a:pPr marL="0" indent="0" algn="ctr">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4</a:t>
            </a:r>
            <a:endParaRPr lang="en-US" sz="2000" dirty="0"/>
          </a:p>
        </p:txBody>
      </p:sp>
      <p:sp>
        <p:nvSpPr>
          <p:cNvPr id="16" name="Text 14"/>
          <p:cNvSpPr txBox="1"/>
          <p:nvPr/>
        </p:nvSpPr>
        <p:spPr>
          <a:xfrm>
            <a:off x="1325880" y="4251960"/>
            <a:ext cx="10287000" cy="694944"/>
          </a:xfrm>
          <a:prstGeom prst="rect">
            <a:avLst/>
          </a:prstGeom>
          <a:noFill/>
          <a:ln/>
        </p:spPr>
        <p:txBody>
          <a:bodyPr wrap="square" lIns="0" tIns="0" rIns="0" bIns="0" rtlCol="0" anchor="ctr"/>
          <a:lstStyle/>
          <a:p>
            <a:pPr marL="0" indent="0" algn="l">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OTP fishingga bardoshli emas: AitM, MFA charchoqi, SIM almashtirish uni aylanib o'tadi.</a:t>
            </a:r>
            <a:endParaRPr lang="en-US" sz="1800" dirty="0"/>
          </a:p>
        </p:txBody>
      </p:sp>
      <p:sp>
        <p:nvSpPr>
          <p:cNvPr id="17" name="Shape 15"/>
          <p:cNvSpPr/>
          <p:nvPr/>
        </p:nvSpPr>
        <p:spPr>
          <a:xfrm>
            <a:off x="548640" y="5148072"/>
            <a:ext cx="548640" cy="548640"/>
          </a:xfrm>
          <a:prstGeom prst="roundRect">
            <a:avLst>
              <a:gd name="adj" fmla="val 13333"/>
            </a:avLst>
          </a:prstGeom>
          <a:solidFill>
            <a:srgbClr val="2A3778"/>
          </a:solidFill>
          <a:ln/>
        </p:spPr>
        <p:txBody>
          <a:bodyPr/>
          <a:lstStyle/>
          <a:p>
            <a:endParaRPr lang="ru-RU"/>
          </a:p>
        </p:txBody>
      </p:sp>
      <p:sp>
        <p:nvSpPr>
          <p:cNvPr id="18" name="Text 16"/>
          <p:cNvSpPr txBox="1"/>
          <p:nvPr/>
        </p:nvSpPr>
        <p:spPr>
          <a:xfrm>
            <a:off x="548640" y="5148072"/>
            <a:ext cx="548640" cy="548640"/>
          </a:xfrm>
          <a:prstGeom prst="rect">
            <a:avLst/>
          </a:prstGeom>
          <a:noFill/>
          <a:ln/>
        </p:spPr>
        <p:txBody>
          <a:bodyPr wrap="square" lIns="0" tIns="0" rIns="0" bIns="0" rtlCol="0" anchor="ctr"/>
          <a:lstStyle/>
          <a:p>
            <a:pPr marL="0" indent="0" algn="ctr">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5</a:t>
            </a:r>
            <a:endParaRPr lang="en-US" sz="2000" dirty="0"/>
          </a:p>
        </p:txBody>
      </p:sp>
      <p:sp>
        <p:nvSpPr>
          <p:cNvPr id="19" name="Text 17"/>
          <p:cNvSpPr txBox="1"/>
          <p:nvPr/>
        </p:nvSpPr>
        <p:spPr>
          <a:xfrm>
            <a:off x="1325880" y="5074920"/>
            <a:ext cx="10287000" cy="694944"/>
          </a:xfrm>
          <a:prstGeom prst="rect">
            <a:avLst/>
          </a:prstGeom>
          <a:noFill/>
          <a:ln/>
        </p:spPr>
        <p:txBody>
          <a:bodyPr wrap="square" lIns="0" tIns="0" rIns="0" bIns="0" rtlCol="0" anchor="ctr"/>
          <a:lstStyle/>
          <a:p>
            <a:pPr marL="0" indent="0" algn="l">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NIST: AAL2 da fishingga bardoshli variant taklif qilinadi, AAL3 da u majburiy.</a:t>
            </a:r>
            <a:endParaRPr lang="en-US" sz="1800" dirty="0"/>
          </a:p>
        </p:txBody>
      </p:sp>
      <p:sp>
        <p:nvSpPr>
          <p:cNvPr id="20" name="Text 18"/>
          <p:cNvSpPr txBox="1"/>
          <p:nvPr/>
        </p:nvSpPr>
        <p:spPr>
          <a:xfrm>
            <a:off x="548640" y="6492240"/>
            <a:ext cx="7315200" cy="274320"/>
          </a:xfrm>
          <a:prstGeom prst="rect">
            <a:avLst/>
          </a:prstGeom>
          <a:noFill/>
          <a:ln/>
        </p:spPr>
        <p:txBody>
          <a:bodyPr wrap="square" lIns="0" tIns="0" rIns="0" bIns="0" rtlCol="0" anchor="ctr"/>
          <a:lstStyle/>
          <a:p>
            <a:pPr marL="0" indent="0">
              <a:buNone/>
            </a:pPr>
            <a:r>
              <a:rPr lang="en-US" sz="1100" dirty="0">
                <a:solidFill>
                  <a:srgbClr val="9FB0E0"/>
                </a:solidFill>
                <a:latin typeface="Times New Roman" pitchFamily="34" charset="0"/>
                <a:ea typeface="Times New Roman" pitchFamily="34" charset="-122"/>
                <a:cs typeface="Times New Roman" pitchFamily="34" charset="-120"/>
              </a:rPr>
              <a:t>Foydalanishlarni boshqarish  ·  4-ma'ruza</a:t>
            </a:r>
            <a:endParaRPr lang="en-US" sz="1100" dirty="0"/>
          </a:p>
        </p:txBody>
      </p:sp>
      <p:sp>
        <p:nvSpPr>
          <p:cNvPr id="21" name="Text 19"/>
          <p:cNvSpPr txBox="1"/>
          <p:nvPr/>
        </p:nvSpPr>
        <p:spPr>
          <a:xfrm>
            <a:off x="11155680" y="6492240"/>
            <a:ext cx="457200" cy="274320"/>
          </a:xfrm>
          <a:prstGeom prst="rect">
            <a:avLst/>
          </a:prstGeom>
          <a:noFill/>
          <a:ln/>
        </p:spPr>
        <p:txBody>
          <a:bodyPr wrap="square" lIns="0" tIns="0" rIns="0" bIns="0" rtlCol="0" anchor="ctr"/>
          <a:lstStyle/>
          <a:p>
            <a:pPr marL="0" indent="0" algn="r">
              <a:buNone/>
            </a:pPr>
            <a:r>
              <a:rPr lang="en-US" sz="1100" dirty="0">
                <a:solidFill>
                  <a:srgbClr val="9FB0E0"/>
                </a:solidFill>
                <a:latin typeface="Times New Roman" pitchFamily="34" charset="0"/>
                <a:ea typeface="Times New Roman" pitchFamily="34" charset="-122"/>
                <a:cs typeface="Times New Roman"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DF3E2"/>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marL="0" indent="0">
              <a:buNone/>
            </a:pPr>
            <a:r>
              <a:rPr lang="en-US" sz="1600" b="1" kern="0" spc="220" dirty="0">
                <a:solidFill>
                  <a:srgbClr val="D9932B"/>
                </a:solidFill>
                <a:latin typeface="Times New Roman" pitchFamily="34" charset="0"/>
                <a:ea typeface="Times New Roman" pitchFamily="34" charset="-122"/>
                <a:cs typeface="Times New Roman" pitchFamily="34" charset="-120"/>
              </a:rPr>
              <a:t>TEZKOR TEST · 5 DAQIQA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marL="0" indent="0">
              <a:lnSpc>
                <a:spcPct val="95000"/>
              </a:lnSpc>
              <a:buNone/>
            </a:pPr>
            <a:r>
              <a:rPr lang="en-US" sz="3600" b="1" dirty="0">
                <a:solidFill>
                  <a:srgbClr val="9A5B00"/>
                </a:solidFill>
                <a:latin typeface="Times New Roman" pitchFamily="34" charset="0"/>
                <a:ea typeface="Times New Roman" pitchFamily="34" charset="-122"/>
                <a:cs typeface="Times New Roman" pitchFamily="34" charset="-120"/>
              </a:rPr>
              <a:t>To'rt savol</a:t>
            </a:r>
            <a:endParaRPr lang="en-US" sz="3600" dirty="0"/>
          </a:p>
        </p:txBody>
      </p:sp>
      <p:sp>
        <p:nvSpPr>
          <p:cNvPr id="4" name="Shape 2"/>
          <p:cNvSpPr/>
          <p:nvPr/>
        </p:nvSpPr>
        <p:spPr>
          <a:xfrm>
            <a:off x="10744200" y="411480"/>
            <a:ext cx="868680" cy="868680"/>
          </a:xfrm>
          <a:prstGeom prst="ellipse">
            <a:avLst/>
          </a:prstGeom>
          <a:solidFill>
            <a:srgbClr val="D9932B"/>
          </a:solidFill>
          <a:ln/>
        </p:spPr>
        <p:txBody>
          <a:bodyPr/>
          <a:lstStyle/>
          <a:p>
            <a:endParaRPr lang="ru-RU"/>
          </a:p>
        </p:txBody>
      </p:sp>
      <p:pic>
        <p:nvPicPr>
          <p:cNvPr id="5" name="Image 0" descr="/home/claude/fob-slides/icons_out/listol_white.png"/>
          <p:cNvPicPr>
            <a:picLocks noChangeAspect="1"/>
          </p:cNvPicPr>
          <p:nvPr/>
        </p:nvPicPr>
        <p:blipFill>
          <a:blip r:embed="rId3"/>
          <a:stretch>
            <a:fillRect/>
          </a:stretch>
        </p:blipFill>
        <p:spPr>
          <a:xfrm>
            <a:off x="10978744" y="646024"/>
            <a:ext cx="399593" cy="399593"/>
          </a:xfrm>
          <a:prstGeom prst="rect">
            <a:avLst/>
          </a:prstGeom>
        </p:spPr>
      </p:pic>
      <p:sp>
        <p:nvSpPr>
          <p:cNvPr id="6" name="Shape 3"/>
          <p:cNvSpPr/>
          <p:nvPr/>
        </p:nvSpPr>
        <p:spPr>
          <a:xfrm>
            <a:off x="548640" y="1783080"/>
            <a:ext cx="5440680" cy="2103120"/>
          </a:xfrm>
          <a:prstGeom prst="roundRect">
            <a:avLst>
              <a:gd name="adj" fmla="val 3913"/>
            </a:avLst>
          </a:prstGeom>
          <a:solidFill>
            <a:srgbClr val="FFFFFF"/>
          </a:solidFill>
          <a:ln/>
        </p:spPr>
        <p:txBody>
          <a:bodyPr/>
          <a:lstStyle/>
          <a:p>
            <a:endParaRPr lang="ru-RU"/>
          </a:p>
        </p:txBody>
      </p:sp>
      <p:sp>
        <p:nvSpPr>
          <p:cNvPr id="7" name="Shape 4"/>
          <p:cNvSpPr/>
          <p:nvPr/>
        </p:nvSpPr>
        <p:spPr>
          <a:xfrm>
            <a:off x="548640" y="1783080"/>
            <a:ext cx="548640" cy="2103120"/>
          </a:xfrm>
          <a:prstGeom prst="roundRect">
            <a:avLst>
              <a:gd name="adj" fmla="val 15000"/>
            </a:avLst>
          </a:prstGeom>
          <a:solidFill>
            <a:srgbClr val="D9932B"/>
          </a:solidFill>
          <a:ln/>
        </p:spPr>
        <p:txBody>
          <a:bodyPr/>
          <a:lstStyle/>
          <a:p>
            <a:endParaRPr lang="ru-RU"/>
          </a:p>
        </p:txBody>
      </p:sp>
      <p:sp>
        <p:nvSpPr>
          <p:cNvPr id="8" name="Text 5"/>
          <p:cNvSpPr txBox="1"/>
          <p:nvPr/>
        </p:nvSpPr>
        <p:spPr>
          <a:xfrm>
            <a:off x="548640" y="1783080"/>
            <a:ext cx="548640" cy="2103120"/>
          </a:xfrm>
          <a:prstGeom prst="rect">
            <a:avLst/>
          </a:prstGeom>
          <a:noFill/>
          <a:ln/>
        </p:spPr>
        <p:txBody>
          <a:bodyPr wrap="square" lIns="50800" tIns="50800" rIns="50800" bIns="50800" rtlCol="0" anchor="ctr"/>
          <a:lstStyle/>
          <a:p>
            <a:pPr marL="0" indent="0" algn="ctr">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1</a:t>
            </a:r>
            <a:endParaRPr lang="en-US" sz="2200" dirty="0"/>
          </a:p>
        </p:txBody>
      </p:sp>
      <p:sp>
        <p:nvSpPr>
          <p:cNvPr id="9" name="Text 6"/>
          <p:cNvSpPr txBox="1"/>
          <p:nvPr/>
        </p:nvSpPr>
        <p:spPr>
          <a:xfrm>
            <a:off x="1280160" y="1892808"/>
            <a:ext cx="4526280" cy="457200"/>
          </a:xfrm>
          <a:prstGeom prst="rect">
            <a:avLst/>
          </a:prstGeom>
          <a:noFill/>
          <a:ln/>
        </p:spPr>
        <p:txBody>
          <a:bodyPr wrap="square" lIns="0" tIns="0" rIns="0" bIns="0" rtlCol="0" anchor="t"/>
          <a:lstStyle/>
          <a:p>
            <a:pPr marL="0" indent="0" algn="l">
              <a:lnSpc>
                <a:spcPct val="100000"/>
              </a:lnSpc>
              <a:buNone/>
            </a:pPr>
            <a:r>
              <a:rPr lang="en-US" sz="1800" b="1" dirty="0">
                <a:solidFill>
                  <a:srgbClr val="1B1B2A"/>
                </a:solidFill>
                <a:latin typeface="Times New Roman" pitchFamily="34" charset="0"/>
                <a:ea typeface="Times New Roman" pitchFamily="34" charset="-122"/>
                <a:cs typeface="Times New Roman" pitchFamily="34" charset="-120"/>
              </a:rPr>
              <a:t>TOTP da T nimaga teng?</a:t>
            </a:r>
            <a:endParaRPr lang="en-US" sz="1800" dirty="0"/>
          </a:p>
        </p:txBody>
      </p:sp>
      <p:sp>
        <p:nvSpPr>
          <p:cNvPr id="10" name="Text 7"/>
          <p:cNvSpPr txBox="1"/>
          <p:nvPr/>
        </p:nvSpPr>
        <p:spPr>
          <a:xfrm>
            <a:off x="1280160" y="2423160"/>
            <a:ext cx="4526280" cy="329184"/>
          </a:xfrm>
          <a:prstGeom prst="rect">
            <a:avLst/>
          </a:prstGeom>
          <a:noFill/>
          <a:ln/>
        </p:spPr>
        <p:txBody>
          <a:bodyPr wrap="square" lIns="0" tIns="0" rIns="0" bIns="0" rtlCol="0" anchor="t"/>
          <a:lstStyle/>
          <a:p>
            <a:pPr marL="0" indent="0" algn="l">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A) Kirishlar soni</a:t>
            </a:r>
            <a:endParaRPr lang="en-US" sz="1600" dirty="0"/>
          </a:p>
        </p:txBody>
      </p:sp>
      <p:sp>
        <p:nvSpPr>
          <p:cNvPr id="11" name="Text 8"/>
          <p:cNvSpPr txBox="1"/>
          <p:nvPr/>
        </p:nvSpPr>
        <p:spPr>
          <a:xfrm>
            <a:off x="1280160" y="2770632"/>
            <a:ext cx="4526280" cy="329184"/>
          </a:xfrm>
          <a:prstGeom prst="rect">
            <a:avLst/>
          </a:prstGeom>
          <a:noFill/>
          <a:ln/>
        </p:spPr>
        <p:txBody>
          <a:bodyPr wrap="square" lIns="0" tIns="0" rIns="0" bIns="0" rtlCol="0" anchor="t"/>
          <a:lstStyle/>
          <a:p>
            <a:pPr marL="0" indent="0" algn="l">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B) ⌊Unix vaqt / 30⌋</a:t>
            </a:r>
            <a:endParaRPr lang="en-US" sz="1600" dirty="0"/>
          </a:p>
        </p:txBody>
      </p:sp>
      <p:sp>
        <p:nvSpPr>
          <p:cNvPr id="12" name="Text 9"/>
          <p:cNvSpPr txBox="1"/>
          <p:nvPr/>
        </p:nvSpPr>
        <p:spPr>
          <a:xfrm>
            <a:off x="1280160" y="3118104"/>
            <a:ext cx="4526280" cy="329184"/>
          </a:xfrm>
          <a:prstGeom prst="rect">
            <a:avLst/>
          </a:prstGeom>
          <a:noFill/>
          <a:ln/>
        </p:spPr>
        <p:txBody>
          <a:bodyPr wrap="square" lIns="0" tIns="0" rIns="0" bIns="0" rtlCol="0" anchor="t"/>
          <a:lstStyle/>
          <a:p>
            <a:pPr marL="0" indent="0" algn="l">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C) Tasodifiy son</a:t>
            </a:r>
            <a:endParaRPr lang="en-US" sz="1600" dirty="0"/>
          </a:p>
        </p:txBody>
      </p:sp>
      <p:sp>
        <p:nvSpPr>
          <p:cNvPr id="13" name="Text 10"/>
          <p:cNvSpPr txBox="1"/>
          <p:nvPr/>
        </p:nvSpPr>
        <p:spPr>
          <a:xfrm>
            <a:off x="1280160" y="3465576"/>
            <a:ext cx="4526280" cy="329184"/>
          </a:xfrm>
          <a:prstGeom prst="rect">
            <a:avLst/>
          </a:prstGeom>
          <a:noFill/>
          <a:ln/>
        </p:spPr>
        <p:txBody>
          <a:bodyPr wrap="square" lIns="0" tIns="0" rIns="0" bIns="0" rtlCol="0" anchor="t"/>
          <a:lstStyle/>
          <a:p>
            <a:pPr marL="0" indent="0" algn="l">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D) Parol uzunligi</a:t>
            </a:r>
            <a:endParaRPr lang="en-US" sz="1600" dirty="0"/>
          </a:p>
        </p:txBody>
      </p:sp>
      <p:sp>
        <p:nvSpPr>
          <p:cNvPr id="14" name="Shape 11"/>
          <p:cNvSpPr/>
          <p:nvPr/>
        </p:nvSpPr>
        <p:spPr>
          <a:xfrm>
            <a:off x="6172200" y="1783080"/>
            <a:ext cx="5440680" cy="2103120"/>
          </a:xfrm>
          <a:prstGeom prst="roundRect">
            <a:avLst>
              <a:gd name="adj" fmla="val 3913"/>
            </a:avLst>
          </a:prstGeom>
          <a:solidFill>
            <a:srgbClr val="FFFFFF"/>
          </a:solidFill>
          <a:ln/>
        </p:spPr>
        <p:txBody>
          <a:bodyPr/>
          <a:lstStyle/>
          <a:p>
            <a:endParaRPr lang="ru-RU"/>
          </a:p>
        </p:txBody>
      </p:sp>
      <p:sp>
        <p:nvSpPr>
          <p:cNvPr id="15" name="Shape 12"/>
          <p:cNvSpPr/>
          <p:nvPr/>
        </p:nvSpPr>
        <p:spPr>
          <a:xfrm>
            <a:off x="6172200" y="1783080"/>
            <a:ext cx="548640" cy="2103120"/>
          </a:xfrm>
          <a:prstGeom prst="roundRect">
            <a:avLst>
              <a:gd name="adj" fmla="val 15000"/>
            </a:avLst>
          </a:prstGeom>
          <a:solidFill>
            <a:srgbClr val="D9932B"/>
          </a:solidFill>
          <a:ln/>
        </p:spPr>
        <p:txBody>
          <a:bodyPr/>
          <a:lstStyle/>
          <a:p>
            <a:endParaRPr lang="ru-RU"/>
          </a:p>
        </p:txBody>
      </p:sp>
      <p:sp>
        <p:nvSpPr>
          <p:cNvPr id="16" name="Text 13"/>
          <p:cNvSpPr txBox="1"/>
          <p:nvPr/>
        </p:nvSpPr>
        <p:spPr>
          <a:xfrm>
            <a:off x="6172200" y="1783080"/>
            <a:ext cx="548640" cy="2103120"/>
          </a:xfrm>
          <a:prstGeom prst="rect">
            <a:avLst/>
          </a:prstGeom>
          <a:noFill/>
          <a:ln/>
        </p:spPr>
        <p:txBody>
          <a:bodyPr wrap="square" lIns="50800" tIns="50800" rIns="50800" bIns="50800" rtlCol="0" anchor="ctr"/>
          <a:lstStyle/>
          <a:p>
            <a:pPr marL="0" indent="0" algn="ctr">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2</a:t>
            </a:r>
            <a:endParaRPr lang="en-US" sz="2200" dirty="0"/>
          </a:p>
        </p:txBody>
      </p:sp>
      <p:sp>
        <p:nvSpPr>
          <p:cNvPr id="17" name="Text 14"/>
          <p:cNvSpPr txBox="1"/>
          <p:nvPr/>
        </p:nvSpPr>
        <p:spPr>
          <a:xfrm>
            <a:off x="6903720" y="1892808"/>
            <a:ext cx="4526280" cy="457200"/>
          </a:xfrm>
          <a:prstGeom prst="rect">
            <a:avLst/>
          </a:prstGeom>
          <a:noFill/>
          <a:ln/>
        </p:spPr>
        <p:txBody>
          <a:bodyPr wrap="square" lIns="0" tIns="0" rIns="0" bIns="0" rtlCol="0" anchor="t"/>
          <a:lstStyle/>
          <a:p>
            <a:pPr marL="0" indent="0" algn="l">
              <a:lnSpc>
                <a:spcPct val="100000"/>
              </a:lnSpc>
              <a:buNone/>
            </a:pPr>
            <a:r>
              <a:rPr lang="en-US" sz="1800" b="1" dirty="0">
                <a:solidFill>
                  <a:srgbClr val="1B1B2A"/>
                </a:solidFill>
                <a:latin typeface="Times New Roman" pitchFamily="34" charset="0"/>
                <a:ea typeface="Times New Roman" pitchFamily="34" charset="-122"/>
                <a:cs typeface="Times New Roman" pitchFamily="34" charset="-120"/>
              </a:rPr>
              <a:t>Qaysi juftlik ikki omilli emas?</a:t>
            </a:r>
            <a:endParaRPr lang="en-US" sz="1800" dirty="0"/>
          </a:p>
        </p:txBody>
      </p:sp>
      <p:sp>
        <p:nvSpPr>
          <p:cNvPr id="18" name="Text 15"/>
          <p:cNvSpPr txBox="1"/>
          <p:nvPr/>
        </p:nvSpPr>
        <p:spPr>
          <a:xfrm>
            <a:off x="6903720" y="2423160"/>
            <a:ext cx="4526280" cy="329184"/>
          </a:xfrm>
          <a:prstGeom prst="rect">
            <a:avLst/>
          </a:prstGeom>
          <a:noFill/>
          <a:ln/>
        </p:spPr>
        <p:txBody>
          <a:bodyPr wrap="square" lIns="0" tIns="0" rIns="0" bIns="0" rtlCol="0" anchor="t"/>
          <a:lstStyle/>
          <a:p>
            <a:pPr marL="0" indent="0" algn="l">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A) Karta + PIN</a:t>
            </a:r>
            <a:endParaRPr lang="en-US" sz="1600" dirty="0"/>
          </a:p>
        </p:txBody>
      </p:sp>
      <p:sp>
        <p:nvSpPr>
          <p:cNvPr id="19" name="Text 16"/>
          <p:cNvSpPr txBox="1"/>
          <p:nvPr/>
        </p:nvSpPr>
        <p:spPr>
          <a:xfrm>
            <a:off x="6903720" y="2770632"/>
            <a:ext cx="4526280" cy="329184"/>
          </a:xfrm>
          <a:prstGeom prst="rect">
            <a:avLst/>
          </a:prstGeom>
          <a:noFill/>
          <a:ln/>
        </p:spPr>
        <p:txBody>
          <a:bodyPr wrap="square" lIns="0" tIns="0" rIns="0" bIns="0" rtlCol="0" anchor="t"/>
          <a:lstStyle/>
          <a:p>
            <a:pPr marL="0" indent="0" algn="l">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B) Parol + TOTP</a:t>
            </a:r>
            <a:endParaRPr lang="en-US" sz="1600" dirty="0"/>
          </a:p>
        </p:txBody>
      </p:sp>
      <p:sp>
        <p:nvSpPr>
          <p:cNvPr id="20" name="Text 17"/>
          <p:cNvSpPr txBox="1"/>
          <p:nvPr/>
        </p:nvSpPr>
        <p:spPr>
          <a:xfrm>
            <a:off x="6903720" y="3118104"/>
            <a:ext cx="4526280" cy="329184"/>
          </a:xfrm>
          <a:prstGeom prst="rect">
            <a:avLst/>
          </a:prstGeom>
          <a:noFill/>
          <a:ln/>
        </p:spPr>
        <p:txBody>
          <a:bodyPr wrap="square" lIns="0" tIns="0" rIns="0" bIns="0" rtlCol="0" anchor="t"/>
          <a:lstStyle/>
          <a:p>
            <a:pPr marL="0" indent="0" algn="l">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C) Parol + maxfiy savol</a:t>
            </a:r>
            <a:endParaRPr lang="en-US" sz="1600" dirty="0"/>
          </a:p>
        </p:txBody>
      </p:sp>
      <p:sp>
        <p:nvSpPr>
          <p:cNvPr id="21" name="Text 18"/>
          <p:cNvSpPr txBox="1"/>
          <p:nvPr/>
        </p:nvSpPr>
        <p:spPr>
          <a:xfrm>
            <a:off x="6903720" y="3465576"/>
            <a:ext cx="4526280" cy="329184"/>
          </a:xfrm>
          <a:prstGeom prst="rect">
            <a:avLst/>
          </a:prstGeom>
          <a:noFill/>
          <a:ln/>
        </p:spPr>
        <p:txBody>
          <a:bodyPr wrap="square" lIns="0" tIns="0" rIns="0" bIns="0" rtlCol="0" anchor="t"/>
          <a:lstStyle/>
          <a:p>
            <a:pPr marL="0" indent="0" algn="l">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D) Parol + FIDO2 kalit</a:t>
            </a:r>
            <a:endParaRPr lang="en-US" sz="1600" dirty="0"/>
          </a:p>
        </p:txBody>
      </p:sp>
      <p:sp>
        <p:nvSpPr>
          <p:cNvPr id="22" name="Shape 19"/>
          <p:cNvSpPr/>
          <p:nvPr/>
        </p:nvSpPr>
        <p:spPr>
          <a:xfrm>
            <a:off x="548640" y="4069080"/>
            <a:ext cx="5440680" cy="2103120"/>
          </a:xfrm>
          <a:prstGeom prst="roundRect">
            <a:avLst>
              <a:gd name="adj" fmla="val 3913"/>
            </a:avLst>
          </a:prstGeom>
          <a:solidFill>
            <a:srgbClr val="FFFFFF"/>
          </a:solidFill>
          <a:ln/>
        </p:spPr>
        <p:txBody>
          <a:bodyPr/>
          <a:lstStyle/>
          <a:p>
            <a:endParaRPr lang="ru-RU"/>
          </a:p>
        </p:txBody>
      </p:sp>
      <p:sp>
        <p:nvSpPr>
          <p:cNvPr id="23" name="Shape 20"/>
          <p:cNvSpPr/>
          <p:nvPr/>
        </p:nvSpPr>
        <p:spPr>
          <a:xfrm>
            <a:off x="548640" y="4069080"/>
            <a:ext cx="548640" cy="2103120"/>
          </a:xfrm>
          <a:prstGeom prst="roundRect">
            <a:avLst>
              <a:gd name="adj" fmla="val 15000"/>
            </a:avLst>
          </a:prstGeom>
          <a:solidFill>
            <a:srgbClr val="D9932B"/>
          </a:solidFill>
          <a:ln/>
        </p:spPr>
        <p:txBody>
          <a:bodyPr/>
          <a:lstStyle/>
          <a:p>
            <a:endParaRPr lang="ru-RU"/>
          </a:p>
        </p:txBody>
      </p:sp>
      <p:sp>
        <p:nvSpPr>
          <p:cNvPr id="24" name="Text 21"/>
          <p:cNvSpPr txBox="1"/>
          <p:nvPr/>
        </p:nvSpPr>
        <p:spPr>
          <a:xfrm>
            <a:off x="548640" y="4069080"/>
            <a:ext cx="548640" cy="2103120"/>
          </a:xfrm>
          <a:prstGeom prst="rect">
            <a:avLst/>
          </a:prstGeom>
          <a:noFill/>
          <a:ln/>
        </p:spPr>
        <p:txBody>
          <a:bodyPr wrap="square" lIns="50800" tIns="50800" rIns="50800" bIns="50800" rtlCol="0" anchor="ctr"/>
          <a:lstStyle/>
          <a:p>
            <a:pPr marL="0" indent="0" algn="ctr">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3</a:t>
            </a:r>
            <a:endParaRPr lang="en-US" sz="2200" dirty="0"/>
          </a:p>
        </p:txBody>
      </p:sp>
      <p:sp>
        <p:nvSpPr>
          <p:cNvPr id="25" name="Text 22"/>
          <p:cNvSpPr txBox="1"/>
          <p:nvPr/>
        </p:nvSpPr>
        <p:spPr>
          <a:xfrm>
            <a:off x="1280160" y="4178808"/>
            <a:ext cx="4526280" cy="457200"/>
          </a:xfrm>
          <a:prstGeom prst="rect">
            <a:avLst/>
          </a:prstGeom>
          <a:noFill/>
          <a:ln/>
        </p:spPr>
        <p:txBody>
          <a:bodyPr wrap="square" lIns="0" tIns="0" rIns="0" bIns="0" rtlCol="0" anchor="t"/>
          <a:lstStyle/>
          <a:p>
            <a:pPr marL="0" indent="0" algn="l">
              <a:lnSpc>
                <a:spcPct val="100000"/>
              </a:lnSpc>
              <a:buNone/>
            </a:pPr>
            <a:r>
              <a:rPr lang="en-US" sz="1800" b="1" dirty="0">
                <a:solidFill>
                  <a:srgbClr val="1B1B2A"/>
                </a:solidFill>
                <a:latin typeface="Times New Roman" pitchFamily="34" charset="0"/>
                <a:ea typeface="Times New Roman" pitchFamily="34" charset="-122"/>
                <a:cs typeface="Times New Roman" pitchFamily="34" charset="-120"/>
              </a:rPr>
              <a:t>Nega TOTP kaliti xeshlab saqlanmaydi?</a:t>
            </a:r>
            <a:endParaRPr lang="en-US" sz="1800" dirty="0"/>
          </a:p>
        </p:txBody>
      </p:sp>
      <p:sp>
        <p:nvSpPr>
          <p:cNvPr id="26" name="Text 23"/>
          <p:cNvSpPr txBox="1"/>
          <p:nvPr/>
        </p:nvSpPr>
        <p:spPr>
          <a:xfrm>
            <a:off x="1280160" y="4709160"/>
            <a:ext cx="4526280" cy="329184"/>
          </a:xfrm>
          <a:prstGeom prst="rect">
            <a:avLst/>
          </a:prstGeom>
          <a:noFill/>
          <a:ln/>
        </p:spPr>
        <p:txBody>
          <a:bodyPr wrap="square" lIns="0" tIns="0" rIns="0" bIns="0" rtlCol="0" anchor="t"/>
          <a:lstStyle/>
          <a:p>
            <a:pPr marL="0" indent="0" algn="l">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A) Kalit juda uzun</a:t>
            </a:r>
            <a:endParaRPr lang="en-US" sz="1600" dirty="0"/>
          </a:p>
        </p:txBody>
      </p:sp>
      <p:sp>
        <p:nvSpPr>
          <p:cNvPr id="27" name="Text 24"/>
          <p:cNvSpPr txBox="1"/>
          <p:nvPr/>
        </p:nvSpPr>
        <p:spPr>
          <a:xfrm>
            <a:off x="1280160" y="5056632"/>
            <a:ext cx="4526280" cy="329184"/>
          </a:xfrm>
          <a:prstGeom prst="rect">
            <a:avLst/>
          </a:prstGeom>
          <a:noFill/>
          <a:ln/>
        </p:spPr>
        <p:txBody>
          <a:bodyPr wrap="square" lIns="0" tIns="0" rIns="0" bIns="0" rtlCol="0" anchor="t"/>
          <a:lstStyle/>
          <a:p>
            <a:pPr marL="0" indent="0" algn="l">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B) Kod hisoblash uchun K kerak</a:t>
            </a:r>
            <a:endParaRPr lang="en-US" sz="1600" dirty="0"/>
          </a:p>
        </p:txBody>
      </p:sp>
      <p:sp>
        <p:nvSpPr>
          <p:cNvPr id="28" name="Text 25"/>
          <p:cNvSpPr txBox="1"/>
          <p:nvPr/>
        </p:nvSpPr>
        <p:spPr>
          <a:xfrm>
            <a:off x="1280160" y="5404104"/>
            <a:ext cx="4526280" cy="329184"/>
          </a:xfrm>
          <a:prstGeom prst="rect">
            <a:avLst/>
          </a:prstGeom>
          <a:noFill/>
          <a:ln/>
        </p:spPr>
        <p:txBody>
          <a:bodyPr wrap="square" lIns="0" tIns="0" rIns="0" bIns="0" rtlCol="0" anchor="t"/>
          <a:lstStyle/>
          <a:p>
            <a:pPr marL="0" indent="0" algn="l">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C) Xesh juda sekin</a:t>
            </a:r>
            <a:endParaRPr lang="en-US" sz="1600" dirty="0"/>
          </a:p>
        </p:txBody>
      </p:sp>
      <p:sp>
        <p:nvSpPr>
          <p:cNvPr id="29" name="Text 26"/>
          <p:cNvSpPr txBox="1"/>
          <p:nvPr/>
        </p:nvSpPr>
        <p:spPr>
          <a:xfrm>
            <a:off x="1280160" y="5751576"/>
            <a:ext cx="4526280" cy="329184"/>
          </a:xfrm>
          <a:prstGeom prst="rect">
            <a:avLst/>
          </a:prstGeom>
          <a:noFill/>
          <a:ln/>
        </p:spPr>
        <p:txBody>
          <a:bodyPr wrap="square" lIns="0" tIns="0" rIns="0" bIns="0" rtlCol="0" anchor="t"/>
          <a:lstStyle/>
          <a:p>
            <a:pPr marL="0" indent="0" algn="l">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D) RFC taqiqlaydi</a:t>
            </a:r>
            <a:endParaRPr lang="en-US" sz="1600" dirty="0"/>
          </a:p>
        </p:txBody>
      </p:sp>
      <p:sp>
        <p:nvSpPr>
          <p:cNvPr id="30" name="Shape 27"/>
          <p:cNvSpPr/>
          <p:nvPr/>
        </p:nvSpPr>
        <p:spPr>
          <a:xfrm>
            <a:off x="6172200" y="4069080"/>
            <a:ext cx="5440680" cy="2103120"/>
          </a:xfrm>
          <a:prstGeom prst="roundRect">
            <a:avLst>
              <a:gd name="adj" fmla="val 3913"/>
            </a:avLst>
          </a:prstGeom>
          <a:solidFill>
            <a:srgbClr val="FFFFFF"/>
          </a:solidFill>
          <a:ln/>
        </p:spPr>
        <p:txBody>
          <a:bodyPr/>
          <a:lstStyle/>
          <a:p>
            <a:endParaRPr lang="ru-RU"/>
          </a:p>
        </p:txBody>
      </p:sp>
      <p:sp>
        <p:nvSpPr>
          <p:cNvPr id="31" name="Shape 28"/>
          <p:cNvSpPr/>
          <p:nvPr/>
        </p:nvSpPr>
        <p:spPr>
          <a:xfrm>
            <a:off x="6172200" y="4069080"/>
            <a:ext cx="548640" cy="2103120"/>
          </a:xfrm>
          <a:prstGeom prst="roundRect">
            <a:avLst>
              <a:gd name="adj" fmla="val 15000"/>
            </a:avLst>
          </a:prstGeom>
          <a:solidFill>
            <a:srgbClr val="D9932B"/>
          </a:solidFill>
          <a:ln/>
        </p:spPr>
        <p:txBody>
          <a:bodyPr/>
          <a:lstStyle/>
          <a:p>
            <a:endParaRPr lang="ru-RU"/>
          </a:p>
        </p:txBody>
      </p:sp>
      <p:sp>
        <p:nvSpPr>
          <p:cNvPr id="32" name="Text 29"/>
          <p:cNvSpPr txBox="1"/>
          <p:nvPr/>
        </p:nvSpPr>
        <p:spPr>
          <a:xfrm>
            <a:off x="6172200" y="4069080"/>
            <a:ext cx="548640" cy="2103120"/>
          </a:xfrm>
          <a:prstGeom prst="rect">
            <a:avLst/>
          </a:prstGeom>
          <a:noFill/>
          <a:ln/>
        </p:spPr>
        <p:txBody>
          <a:bodyPr wrap="square" lIns="50800" tIns="50800" rIns="50800" bIns="50800" rtlCol="0" anchor="ctr"/>
          <a:lstStyle/>
          <a:p>
            <a:pPr marL="0" indent="0" algn="ctr">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4</a:t>
            </a:r>
            <a:endParaRPr lang="en-US" sz="2200" dirty="0"/>
          </a:p>
        </p:txBody>
      </p:sp>
      <p:sp>
        <p:nvSpPr>
          <p:cNvPr id="33" name="Text 30"/>
          <p:cNvSpPr txBox="1"/>
          <p:nvPr/>
        </p:nvSpPr>
        <p:spPr>
          <a:xfrm>
            <a:off x="6903720" y="4178808"/>
            <a:ext cx="4526280" cy="457200"/>
          </a:xfrm>
          <a:prstGeom prst="rect">
            <a:avLst/>
          </a:prstGeom>
          <a:noFill/>
          <a:ln/>
        </p:spPr>
        <p:txBody>
          <a:bodyPr wrap="square" lIns="0" tIns="0" rIns="0" bIns="0" rtlCol="0" anchor="t"/>
          <a:lstStyle/>
          <a:p>
            <a:pPr marL="0" indent="0" algn="l">
              <a:lnSpc>
                <a:spcPct val="100000"/>
              </a:lnSpc>
              <a:buNone/>
            </a:pPr>
            <a:r>
              <a:rPr lang="en-US" sz="1800" b="1" dirty="0">
                <a:solidFill>
                  <a:srgbClr val="1B1B2A"/>
                </a:solidFill>
                <a:latin typeface="Times New Roman" pitchFamily="34" charset="0"/>
                <a:ea typeface="Times New Roman" pitchFamily="34" charset="-122"/>
                <a:cs typeface="Times New Roman" pitchFamily="34" charset="-120"/>
              </a:rPr>
              <a:t>MFA charchoqiga qarshi eng samarali chora?</a:t>
            </a:r>
            <a:endParaRPr lang="en-US" sz="1800" dirty="0"/>
          </a:p>
        </p:txBody>
      </p:sp>
      <p:sp>
        <p:nvSpPr>
          <p:cNvPr id="34" name="Text 31"/>
          <p:cNvSpPr txBox="1"/>
          <p:nvPr/>
        </p:nvSpPr>
        <p:spPr>
          <a:xfrm>
            <a:off x="6903720" y="4709160"/>
            <a:ext cx="4526280" cy="329184"/>
          </a:xfrm>
          <a:prstGeom prst="rect">
            <a:avLst/>
          </a:prstGeom>
          <a:noFill/>
          <a:ln/>
        </p:spPr>
        <p:txBody>
          <a:bodyPr wrap="square" lIns="0" tIns="0" rIns="0" bIns="0" rtlCol="0" anchor="t"/>
          <a:lstStyle/>
          <a:p>
            <a:pPr marL="0" indent="0" algn="l">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A) 8 xonali kod</a:t>
            </a:r>
            <a:endParaRPr lang="en-US" sz="1600" dirty="0"/>
          </a:p>
        </p:txBody>
      </p:sp>
      <p:sp>
        <p:nvSpPr>
          <p:cNvPr id="35" name="Text 32"/>
          <p:cNvSpPr txBox="1"/>
          <p:nvPr/>
        </p:nvSpPr>
        <p:spPr>
          <a:xfrm>
            <a:off x="6903720" y="5056632"/>
            <a:ext cx="4526280" cy="329184"/>
          </a:xfrm>
          <a:prstGeom prst="rect">
            <a:avLst/>
          </a:prstGeom>
          <a:noFill/>
          <a:ln/>
        </p:spPr>
        <p:txBody>
          <a:bodyPr wrap="square" lIns="0" tIns="0" rIns="0" bIns="0" rtlCol="0" anchor="t"/>
          <a:lstStyle/>
          <a:p>
            <a:pPr marL="0" indent="0" algn="l">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B) Raqam moslashtirish, FIDO2</a:t>
            </a:r>
            <a:endParaRPr lang="en-US" sz="1600" dirty="0"/>
          </a:p>
        </p:txBody>
      </p:sp>
      <p:sp>
        <p:nvSpPr>
          <p:cNvPr id="36" name="Text 33"/>
          <p:cNvSpPr txBox="1"/>
          <p:nvPr/>
        </p:nvSpPr>
        <p:spPr>
          <a:xfrm>
            <a:off x="6903720" y="5404104"/>
            <a:ext cx="4526280" cy="329184"/>
          </a:xfrm>
          <a:prstGeom prst="rect">
            <a:avLst/>
          </a:prstGeom>
          <a:noFill/>
          <a:ln/>
        </p:spPr>
        <p:txBody>
          <a:bodyPr wrap="square" lIns="0" tIns="0" rIns="0" bIns="0" rtlCol="0" anchor="t"/>
          <a:lstStyle/>
          <a:p>
            <a:pPr marL="0" indent="0" algn="l">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C) SMS ga o'tish</a:t>
            </a:r>
            <a:endParaRPr lang="en-US" sz="1600" dirty="0"/>
          </a:p>
        </p:txBody>
      </p:sp>
      <p:sp>
        <p:nvSpPr>
          <p:cNvPr id="37" name="Text 34"/>
          <p:cNvSpPr txBox="1"/>
          <p:nvPr/>
        </p:nvSpPr>
        <p:spPr>
          <a:xfrm>
            <a:off x="6903720" y="5751576"/>
            <a:ext cx="4526280" cy="329184"/>
          </a:xfrm>
          <a:prstGeom prst="rect">
            <a:avLst/>
          </a:prstGeom>
          <a:noFill/>
          <a:ln/>
        </p:spPr>
        <p:txBody>
          <a:bodyPr wrap="square" lIns="0" tIns="0" rIns="0" bIns="0" rtlCol="0" anchor="t"/>
          <a:lstStyle/>
          <a:p>
            <a:pPr marL="0" indent="0" algn="l">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D) Parolni har oy almashtirish</a:t>
            </a:r>
            <a:endParaRPr lang="en-US" sz="1600" dirty="0"/>
          </a:p>
        </p:txBody>
      </p:sp>
      <p:sp>
        <p:nvSpPr>
          <p:cNvPr id="38" name="Text 35"/>
          <p:cNvSpPr txBox="1"/>
          <p:nvPr/>
        </p:nvSpPr>
        <p:spPr>
          <a:xfrm>
            <a:off x="548640" y="6492240"/>
            <a:ext cx="7315200" cy="274320"/>
          </a:xfrm>
          <a:prstGeom prst="rect">
            <a:avLst/>
          </a:prstGeom>
          <a:noFill/>
          <a:ln/>
        </p:spPr>
        <p:txBody>
          <a:bodyPr wrap="square" lIns="0" tIns="0" rIns="0" bIns="0" rtlCol="0" anchor="ctr"/>
          <a:lstStyle/>
          <a:p>
            <a:pPr marL="0" indent="0">
              <a:buNone/>
            </a:pPr>
            <a:r>
              <a:rPr lang="en-US" sz="1100" dirty="0">
                <a:solidFill>
                  <a:srgbClr val="9A5B00"/>
                </a:solidFill>
                <a:latin typeface="Times New Roman" pitchFamily="34" charset="0"/>
                <a:ea typeface="Times New Roman" pitchFamily="34" charset="-122"/>
                <a:cs typeface="Times New Roman" pitchFamily="34" charset="-120"/>
              </a:rPr>
              <a:t>Foydalanishlarni boshqarish  ·  4-ma'ruza</a:t>
            </a:r>
            <a:endParaRPr lang="en-US" sz="1100" dirty="0"/>
          </a:p>
        </p:txBody>
      </p:sp>
      <p:sp>
        <p:nvSpPr>
          <p:cNvPr id="39" name="Text 36"/>
          <p:cNvSpPr txBox="1"/>
          <p:nvPr/>
        </p:nvSpPr>
        <p:spPr>
          <a:xfrm>
            <a:off x="11155680" y="6492240"/>
            <a:ext cx="457200" cy="274320"/>
          </a:xfrm>
          <a:prstGeom prst="rect">
            <a:avLst/>
          </a:prstGeom>
          <a:noFill/>
          <a:ln/>
        </p:spPr>
        <p:txBody>
          <a:bodyPr wrap="square" lIns="0" tIns="0" rIns="0" bIns="0" rtlCol="0" anchor="ctr"/>
          <a:lstStyle/>
          <a:p>
            <a:pPr marL="0" indent="0" algn="r">
              <a:buNone/>
            </a:pPr>
            <a:r>
              <a:rPr lang="en-US" sz="1100" dirty="0">
                <a:solidFill>
                  <a:srgbClr val="9A5B00"/>
                </a:solidFill>
                <a:latin typeface="Times New Roman" pitchFamily="34" charset="0"/>
                <a:ea typeface="Times New Roman" pitchFamily="34" charset="-122"/>
                <a:cs typeface="Times New Roman"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marL="0" indent="0">
              <a:buNone/>
            </a:pPr>
            <a:r>
              <a:rPr lang="en-US" sz="1600" b="1" kern="0" spc="220" dirty="0">
                <a:solidFill>
                  <a:srgbClr val="5B6270"/>
                </a:solidFill>
                <a:latin typeface="Times New Roman" pitchFamily="34" charset="0"/>
                <a:ea typeface="Times New Roman" pitchFamily="34" charset="-122"/>
                <a:cs typeface="Times New Roman" pitchFamily="34" charset="-120"/>
              </a:rPr>
              <a:t>MUSTAQIL ISH</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marL="0" indent="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Uyga vazifa va keyingi mavzu</a:t>
            </a:r>
            <a:endParaRPr lang="en-US" sz="3600" dirty="0"/>
          </a:p>
        </p:txBody>
      </p:sp>
      <p:sp>
        <p:nvSpPr>
          <p:cNvPr id="4" name="Shape 2"/>
          <p:cNvSpPr/>
          <p:nvPr/>
        </p:nvSpPr>
        <p:spPr>
          <a:xfrm>
            <a:off x="548640" y="1783080"/>
            <a:ext cx="7086600" cy="1298448"/>
          </a:xfrm>
          <a:prstGeom prst="roundRect">
            <a:avLst>
              <a:gd name="adj" fmla="val 6338"/>
            </a:avLst>
          </a:prstGeom>
          <a:solidFill>
            <a:srgbClr val="EEF2FB"/>
          </a:solidFill>
          <a:ln/>
        </p:spPr>
        <p:txBody>
          <a:bodyPr/>
          <a:lstStyle/>
          <a:p>
            <a:endParaRPr lang="ru-RU"/>
          </a:p>
        </p:txBody>
      </p:sp>
      <p:sp>
        <p:nvSpPr>
          <p:cNvPr id="5" name="Shape 3"/>
          <p:cNvSpPr/>
          <p:nvPr/>
        </p:nvSpPr>
        <p:spPr>
          <a:xfrm>
            <a:off x="822960" y="2103120"/>
            <a:ext cx="658368" cy="658368"/>
          </a:xfrm>
          <a:prstGeom prst="ellipse">
            <a:avLst/>
          </a:prstGeom>
          <a:solidFill>
            <a:srgbClr val="1E2761"/>
          </a:solidFill>
          <a:ln/>
        </p:spPr>
        <p:txBody>
          <a:bodyPr/>
          <a:lstStyle/>
          <a:p>
            <a:endParaRPr lang="ru-RU"/>
          </a:p>
        </p:txBody>
      </p:sp>
      <p:pic>
        <p:nvPicPr>
          <p:cNvPr id="6" name="Image 0" descr="/home/claude/fob-slides/icons_out/book_white.png"/>
          <p:cNvPicPr>
            <a:picLocks noChangeAspect="1"/>
          </p:cNvPicPr>
          <p:nvPr/>
        </p:nvPicPr>
        <p:blipFill>
          <a:blip r:embed="rId3"/>
          <a:stretch>
            <a:fillRect/>
          </a:stretch>
        </p:blipFill>
        <p:spPr>
          <a:xfrm>
            <a:off x="971093" y="2251253"/>
            <a:ext cx="362102" cy="362102"/>
          </a:xfrm>
          <a:prstGeom prst="rect">
            <a:avLst/>
          </a:prstGeom>
        </p:spPr>
      </p:pic>
      <p:sp>
        <p:nvSpPr>
          <p:cNvPr id="7" name="Text 4"/>
          <p:cNvSpPr txBox="1"/>
          <p:nvPr/>
        </p:nvSpPr>
        <p:spPr>
          <a:xfrm>
            <a:off x="1737360" y="1911096"/>
            <a:ext cx="5715000" cy="411480"/>
          </a:xfrm>
          <a:prstGeom prst="rect">
            <a:avLst/>
          </a:prstGeom>
          <a:noFill/>
          <a:ln/>
        </p:spPr>
        <p:txBody>
          <a:bodyPr wrap="square" lIns="0" tIns="0" rIns="0" bIns="0" rtlCol="0" anchor="t"/>
          <a:lstStyle/>
          <a:p>
            <a:pPr marL="0" indent="0" algn="l">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O'qish</a:t>
            </a:r>
            <a:endParaRPr lang="en-US" sz="2000" dirty="0"/>
          </a:p>
        </p:txBody>
      </p:sp>
      <p:sp>
        <p:nvSpPr>
          <p:cNvPr id="8" name="Text 5"/>
          <p:cNvSpPr txBox="1"/>
          <p:nvPr/>
        </p:nvSpPr>
        <p:spPr>
          <a:xfrm>
            <a:off x="1737360" y="2331720"/>
            <a:ext cx="5715000" cy="685800"/>
          </a:xfrm>
          <a:prstGeom prst="rect">
            <a:avLst/>
          </a:prstGeom>
          <a:noFill/>
          <a:ln/>
        </p:spPr>
        <p:txBody>
          <a:bodyPr wrap="square" lIns="0" tIns="0" rIns="0" bIns="0" rtlCol="0" anchor="t"/>
          <a:lstStyle/>
          <a:p>
            <a:pPr marL="0" indent="0" algn="l">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[1] — elektron qurilmalar va bir martali parollar (91–92-betlar); RFC 6238, 4-bo'lim.</a:t>
            </a:r>
            <a:endParaRPr lang="en-US" sz="1600" dirty="0"/>
          </a:p>
        </p:txBody>
      </p:sp>
      <p:sp>
        <p:nvSpPr>
          <p:cNvPr id="9" name="Shape 6"/>
          <p:cNvSpPr/>
          <p:nvPr/>
        </p:nvSpPr>
        <p:spPr>
          <a:xfrm>
            <a:off x="548640" y="3227832"/>
            <a:ext cx="7086600" cy="1298448"/>
          </a:xfrm>
          <a:prstGeom prst="roundRect">
            <a:avLst>
              <a:gd name="adj" fmla="val 6338"/>
            </a:avLst>
          </a:prstGeom>
          <a:solidFill>
            <a:srgbClr val="EEF2FB"/>
          </a:solidFill>
          <a:ln/>
        </p:spPr>
        <p:txBody>
          <a:bodyPr/>
          <a:lstStyle/>
          <a:p>
            <a:endParaRPr lang="ru-RU"/>
          </a:p>
        </p:txBody>
      </p:sp>
      <p:sp>
        <p:nvSpPr>
          <p:cNvPr id="10" name="Shape 7"/>
          <p:cNvSpPr/>
          <p:nvPr/>
        </p:nvSpPr>
        <p:spPr>
          <a:xfrm>
            <a:off x="822960" y="3547872"/>
            <a:ext cx="658368" cy="658368"/>
          </a:xfrm>
          <a:prstGeom prst="ellipse">
            <a:avLst/>
          </a:prstGeom>
          <a:solidFill>
            <a:srgbClr val="1E2761"/>
          </a:solidFill>
          <a:ln/>
        </p:spPr>
        <p:txBody>
          <a:bodyPr/>
          <a:lstStyle/>
          <a:p>
            <a:endParaRPr lang="ru-RU"/>
          </a:p>
        </p:txBody>
      </p:sp>
      <p:pic>
        <p:nvPicPr>
          <p:cNvPr id="11" name="Image 1" descr="/home/claude/fob-slides/icons_out/code_white.png"/>
          <p:cNvPicPr>
            <a:picLocks noChangeAspect="1"/>
          </p:cNvPicPr>
          <p:nvPr/>
        </p:nvPicPr>
        <p:blipFill>
          <a:blip r:embed="rId4"/>
          <a:stretch>
            <a:fillRect/>
          </a:stretch>
        </p:blipFill>
        <p:spPr>
          <a:xfrm>
            <a:off x="971093" y="3696005"/>
            <a:ext cx="362102" cy="362102"/>
          </a:xfrm>
          <a:prstGeom prst="rect">
            <a:avLst/>
          </a:prstGeom>
        </p:spPr>
      </p:pic>
      <p:sp>
        <p:nvSpPr>
          <p:cNvPr id="12" name="Text 8"/>
          <p:cNvSpPr txBox="1"/>
          <p:nvPr/>
        </p:nvSpPr>
        <p:spPr>
          <a:xfrm>
            <a:off x="1737360" y="3355848"/>
            <a:ext cx="5715000" cy="411480"/>
          </a:xfrm>
          <a:prstGeom prst="rect">
            <a:avLst/>
          </a:prstGeom>
          <a:noFill/>
          <a:ln/>
        </p:spPr>
        <p:txBody>
          <a:bodyPr wrap="square" lIns="0" tIns="0" rIns="0" bIns="0" rtlCol="0" anchor="t"/>
          <a:lstStyle/>
          <a:p>
            <a:pPr marL="0" indent="0" algn="l">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Amaliyotga tayyorgarlik</a:t>
            </a:r>
            <a:endParaRPr lang="en-US" sz="2000" dirty="0"/>
          </a:p>
        </p:txBody>
      </p:sp>
      <p:sp>
        <p:nvSpPr>
          <p:cNvPr id="13" name="Text 9"/>
          <p:cNvSpPr txBox="1"/>
          <p:nvPr/>
        </p:nvSpPr>
        <p:spPr>
          <a:xfrm>
            <a:off x="1737360" y="3776472"/>
            <a:ext cx="5715000" cy="685800"/>
          </a:xfrm>
          <a:prstGeom prst="rect">
            <a:avLst/>
          </a:prstGeom>
          <a:noFill/>
          <a:ln/>
        </p:spPr>
        <p:txBody>
          <a:bodyPr wrap="square" lIns="0" tIns="0" rIns="0" bIns="0" rtlCol="0" anchor="t"/>
          <a:lstStyle/>
          <a:p>
            <a:pPr marL="0" indent="0" algn="l">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A4 uchun: 8-slayddagi kodni ishga tushirib, RFC 4226 test qiymatlari bilan tekshiring.</a:t>
            </a:r>
            <a:endParaRPr lang="en-US" sz="1600" dirty="0"/>
          </a:p>
        </p:txBody>
      </p:sp>
      <p:sp>
        <p:nvSpPr>
          <p:cNvPr id="14" name="Shape 10"/>
          <p:cNvSpPr/>
          <p:nvPr/>
        </p:nvSpPr>
        <p:spPr>
          <a:xfrm>
            <a:off x="548640" y="4672584"/>
            <a:ext cx="7086600" cy="1298448"/>
          </a:xfrm>
          <a:prstGeom prst="roundRect">
            <a:avLst>
              <a:gd name="adj" fmla="val 6338"/>
            </a:avLst>
          </a:prstGeom>
          <a:solidFill>
            <a:srgbClr val="EEF2FB"/>
          </a:solidFill>
          <a:ln/>
        </p:spPr>
        <p:txBody>
          <a:bodyPr/>
          <a:lstStyle/>
          <a:p>
            <a:endParaRPr lang="ru-RU"/>
          </a:p>
        </p:txBody>
      </p:sp>
      <p:sp>
        <p:nvSpPr>
          <p:cNvPr id="15" name="Shape 11"/>
          <p:cNvSpPr/>
          <p:nvPr/>
        </p:nvSpPr>
        <p:spPr>
          <a:xfrm>
            <a:off x="822960" y="4992624"/>
            <a:ext cx="658368" cy="658368"/>
          </a:xfrm>
          <a:prstGeom prst="ellipse">
            <a:avLst/>
          </a:prstGeom>
          <a:solidFill>
            <a:srgbClr val="1E2761"/>
          </a:solidFill>
          <a:ln/>
        </p:spPr>
        <p:txBody>
          <a:bodyPr/>
          <a:lstStyle/>
          <a:p>
            <a:endParaRPr lang="ru-RU"/>
          </a:p>
        </p:txBody>
      </p:sp>
      <p:pic>
        <p:nvPicPr>
          <p:cNvPr id="16" name="Image 2" descr="/home/claude/fob-slides/icons_out/mobile_white.png"/>
          <p:cNvPicPr>
            <a:picLocks noChangeAspect="1"/>
          </p:cNvPicPr>
          <p:nvPr/>
        </p:nvPicPr>
        <p:blipFill>
          <a:blip r:embed="rId5"/>
          <a:stretch>
            <a:fillRect/>
          </a:stretch>
        </p:blipFill>
        <p:spPr>
          <a:xfrm>
            <a:off x="971093" y="5140757"/>
            <a:ext cx="362102" cy="362102"/>
          </a:xfrm>
          <a:prstGeom prst="rect">
            <a:avLst/>
          </a:prstGeom>
        </p:spPr>
      </p:pic>
      <p:sp>
        <p:nvSpPr>
          <p:cNvPr id="17" name="Text 12"/>
          <p:cNvSpPr txBox="1"/>
          <p:nvPr/>
        </p:nvSpPr>
        <p:spPr>
          <a:xfrm>
            <a:off x="1737360" y="4800600"/>
            <a:ext cx="5715000" cy="411480"/>
          </a:xfrm>
          <a:prstGeom prst="rect">
            <a:avLst/>
          </a:prstGeom>
          <a:noFill/>
          <a:ln/>
        </p:spPr>
        <p:txBody>
          <a:bodyPr wrap="square" lIns="0" tIns="0" rIns="0" bIns="0" rtlCol="0" anchor="t"/>
          <a:lstStyle/>
          <a:p>
            <a:pPr marL="0" indent="0" algn="l">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Kuzatish topshirig'i</a:t>
            </a:r>
            <a:endParaRPr lang="en-US" sz="2000" dirty="0"/>
          </a:p>
        </p:txBody>
      </p:sp>
      <p:sp>
        <p:nvSpPr>
          <p:cNvPr id="18" name="Text 13"/>
          <p:cNvSpPr txBox="1"/>
          <p:nvPr/>
        </p:nvSpPr>
        <p:spPr>
          <a:xfrm>
            <a:off x="1737360" y="5221224"/>
            <a:ext cx="5715000" cy="685800"/>
          </a:xfrm>
          <a:prstGeom prst="rect">
            <a:avLst/>
          </a:prstGeom>
          <a:noFill/>
          <a:ln/>
        </p:spPr>
        <p:txBody>
          <a:bodyPr wrap="square" lIns="0" tIns="0" rIns="0" bIns="0" rtlCol="0" anchor="t"/>
          <a:lstStyle/>
          <a:p>
            <a:pPr marL="0" indent="0" algn="l">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O'zingiz foydalanadigan 3 ta xizmatda qaysi ikkinchi omil borligini va tiklash usulini yozing.</a:t>
            </a:r>
            <a:endParaRPr lang="en-US" sz="1600" dirty="0"/>
          </a:p>
        </p:txBody>
      </p:sp>
      <p:sp>
        <p:nvSpPr>
          <p:cNvPr id="19" name="Shape 14"/>
          <p:cNvSpPr/>
          <p:nvPr/>
        </p:nvSpPr>
        <p:spPr>
          <a:xfrm>
            <a:off x="7863840" y="1783080"/>
            <a:ext cx="3749040" cy="4187952"/>
          </a:xfrm>
          <a:prstGeom prst="roundRect">
            <a:avLst>
              <a:gd name="adj" fmla="val 2195"/>
            </a:avLst>
          </a:prstGeom>
          <a:solidFill>
            <a:srgbClr val="1E2761"/>
          </a:solidFill>
          <a:ln/>
        </p:spPr>
        <p:txBody>
          <a:bodyPr/>
          <a:lstStyle/>
          <a:p>
            <a:endParaRPr lang="ru-RU"/>
          </a:p>
        </p:txBody>
      </p:sp>
      <p:sp>
        <p:nvSpPr>
          <p:cNvPr id="20" name="Text 15"/>
          <p:cNvSpPr txBox="1"/>
          <p:nvPr/>
        </p:nvSpPr>
        <p:spPr>
          <a:xfrm>
            <a:off x="7863840" y="2011680"/>
            <a:ext cx="3749040" cy="365760"/>
          </a:xfrm>
          <a:prstGeom prst="rect">
            <a:avLst/>
          </a:prstGeom>
          <a:noFill/>
          <a:ln/>
        </p:spPr>
        <p:txBody>
          <a:bodyPr wrap="square" lIns="0" tIns="0" rIns="0" bIns="0" rtlCol="0" anchor="t"/>
          <a:lstStyle/>
          <a:p>
            <a:pPr marL="0" indent="0" algn="ctr">
              <a:lnSpc>
                <a:spcPct val="100000"/>
              </a:lnSpc>
              <a:buNone/>
            </a:pPr>
            <a:r>
              <a:rPr lang="en-US" sz="1600" b="1" dirty="0">
                <a:solidFill>
                  <a:srgbClr val="CADCFC"/>
                </a:solidFill>
                <a:latin typeface="Times New Roman" pitchFamily="34" charset="0"/>
                <a:ea typeface="Times New Roman" pitchFamily="34" charset="-122"/>
                <a:cs typeface="Times New Roman" pitchFamily="34" charset="-120"/>
              </a:rPr>
              <a:t>KEYINGI MA'RUZA</a:t>
            </a:r>
            <a:endParaRPr lang="en-US" sz="1600" dirty="0"/>
          </a:p>
        </p:txBody>
      </p:sp>
      <p:sp>
        <p:nvSpPr>
          <p:cNvPr id="21" name="Text 16"/>
          <p:cNvSpPr txBox="1"/>
          <p:nvPr/>
        </p:nvSpPr>
        <p:spPr>
          <a:xfrm>
            <a:off x="7863840" y="2468880"/>
            <a:ext cx="3749040" cy="868680"/>
          </a:xfrm>
          <a:prstGeom prst="rect">
            <a:avLst/>
          </a:prstGeom>
          <a:noFill/>
          <a:ln/>
        </p:spPr>
        <p:txBody>
          <a:bodyPr wrap="square" lIns="50800" tIns="50800" rIns="50800" bIns="50800" rtlCol="0" anchor="ctr"/>
          <a:lstStyle/>
          <a:p>
            <a:pPr marL="0" indent="0" algn="ctr">
              <a:lnSpc>
                <a:spcPct val="100000"/>
              </a:lnSpc>
              <a:buNone/>
            </a:pPr>
            <a:r>
              <a:rPr lang="en-US" sz="5400" b="1" dirty="0">
                <a:solidFill>
                  <a:srgbClr val="FFFFFF"/>
                </a:solidFill>
                <a:latin typeface="Times New Roman" pitchFamily="34" charset="0"/>
                <a:ea typeface="Times New Roman" pitchFamily="34" charset="-122"/>
                <a:cs typeface="Times New Roman" pitchFamily="34" charset="-120"/>
              </a:rPr>
              <a:t>M5</a:t>
            </a:r>
            <a:endParaRPr lang="en-US" sz="5400" dirty="0"/>
          </a:p>
        </p:txBody>
      </p:sp>
      <p:sp>
        <p:nvSpPr>
          <p:cNvPr id="22" name="Text 17"/>
          <p:cNvSpPr txBox="1"/>
          <p:nvPr/>
        </p:nvSpPr>
        <p:spPr>
          <a:xfrm>
            <a:off x="8092440" y="3474720"/>
            <a:ext cx="3291840" cy="1325880"/>
          </a:xfrm>
          <a:prstGeom prst="rect">
            <a:avLst/>
          </a:prstGeom>
          <a:noFill/>
          <a:ln/>
        </p:spPr>
        <p:txBody>
          <a:bodyPr wrap="square" lIns="50800" tIns="50800" rIns="50800" bIns="50800" rtlCol="0" anchor="ctr"/>
          <a:lstStyle/>
          <a:p>
            <a:pPr marL="0" indent="0" algn="ctr">
              <a:lnSpc>
                <a:spcPct val="100000"/>
              </a:lnSpc>
              <a:buNone/>
            </a:pPr>
            <a:r>
              <a:rPr lang="en-US" sz="1600" dirty="0">
                <a:solidFill>
                  <a:srgbClr val="CADCFC"/>
                </a:solidFill>
                <a:latin typeface="Times New Roman" pitchFamily="34" charset="0"/>
                <a:ea typeface="Times New Roman" pitchFamily="34" charset="-122"/>
                <a:cs typeface="Times New Roman" pitchFamily="34" charset="-120"/>
              </a:rPr>
              <a:t>FIDO2 va WebAuthn: parolsiz va fishingga bardoshli autentifikatsiya</a:t>
            </a:r>
            <a:endParaRPr lang="en-US" sz="1600" dirty="0"/>
          </a:p>
        </p:txBody>
      </p:sp>
      <p:sp>
        <p:nvSpPr>
          <p:cNvPr id="23" name="Text 18"/>
          <p:cNvSpPr txBox="1"/>
          <p:nvPr/>
        </p:nvSpPr>
        <p:spPr>
          <a:xfrm>
            <a:off x="8092440" y="4892040"/>
            <a:ext cx="3291840" cy="868680"/>
          </a:xfrm>
          <a:prstGeom prst="rect">
            <a:avLst/>
          </a:prstGeom>
          <a:noFill/>
          <a:ln/>
        </p:spPr>
        <p:txBody>
          <a:bodyPr wrap="square" lIns="50800" tIns="50800" rIns="50800" bIns="50800" rtlCol="0" anchor="ctr"/>
          <a:lstStyle/>
          <a:p>
            <a:pPr marL="0" indent="0" algn="ctr">
              <a:lnSpc>
                <a:spcPct val="100000"/>
              </a:lnSpc>
              <a:buNone/>
            </a:pPr>
            <a:r>
              <a:rPr lang="en-US" sz="1400" dirty="0">
                <a:solidFill>
                  <a:srgbClr val="9FB0E0"/>
                </a:solidFill>
                <a:latin typeface="Times New Roman" pitchFamily="34" charset="0"/>
                <a:ea typeface="Times New Roman" pitchFamily="34" charset="-122"/>
                <a:cs typeface="Times New Roman" pitchFamily="34" charset="-120"/>
              </a:rPr>
              <a:t>Foydalanuvchi soxta saytga kirsa ham, kalit ishlamasa-chi?</a:t>
            </a:r>
            <a:endParaRPr lang="en-US" sz="1400" dirty="0"/>
          </a:p>
        </p:txBody>
      </p:sp>
      <p:sp>
        <p:nvSpPr>
          <p:cNvPr id="24" name="Text 19"/>
          <p:cNvSpPr txBox="1"/>
          <p:nvPr/>
        </p:nvSpPr>
        <p:spPr>
          <a:xfrm>
            <a:off x="548640" y="6492240"/>
            <a:ext cx="7315200" cy="274320"/>
          </a:xfrm>
          <a:prstGeom prst="rect">
            <a:avLst/>
          </a:prstGeom>
          <a:noFill/>
          <a:ln/>
        </p:spPr>
        <p:txBody>
          <a:bodyPr wrap="square" lIns="0" tIns="0" rIns="0" bIns="0" rtlCol="0" anchor="ctr"/>
          <a:lstStyle/>
          <a:p>
            <a:pPr marL="0" indent="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4-ma'ruza</a:t>
            </a:r>
            <a:endParaRPr lang="en-US" sz="1100" dirty="0"/>
          </a:p>
        </p:txBody>
      </p:sp>
      <p:sp>
        <p:nvSpPr>
          <p:cNvPr id="25" name="Text 20"/>
          <p:cNvSpPr txBox="1"/>
          <p:nvPr/>
        </p:nvSpPr>
        <p:spPr>
          <a:xfrm>
            <a:off x="11155680" y="6492240"/>
            <a:ext cx="457200" cy="274320"/>
          </a:xfrm>
          <a:prstGeom prst="rect">
            <a:avLst/>
          </a:prstGeom>
          <a:noFill/>
          <a:ln/>
        </p:spPr>
        <p:txBody>
          <a:bodyPr wrap="square" lIns="0" tIns="0" rIns="0" bIns="0" rtlCol="0" anchor="ctr"/>
          <a:lstStyle/>
          <a:p>
            <a:pPr marL="0" indent="0" algn="r">
              <a:buNone/>
            </a:pPr>
            <a:r>
              <a:rPr lang="en-US" sz="1100" dirty="0">
                <a:solidFill>
                  <a:srgbClr val="5B6270"/>
                </a:solidFill>
                <a:latin typeface="Times New Roman" pitchFamily="34" charset="0"/>
                <a:ea typeface="Times New Roman" pitchFamily="34" charset="-122"/>
                <a:cs typeface="Times New Roman"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marL="0" indent="0">
              <a:buNone/>
            </a:pPr>
            <a:r>
              <a:rPr lang="en-US" sz="1600" b="1" kern="0" spc="220" dirty="0">
                <a:solidFill>
                  <a:srgbClr val="5B6270"/>
                </a:solidFill>
                <a:latin typeface="Times New Roman" pitchFamily="34" charset="0"/>
                <a:ea typeface="Times New Roman" pitchFamily="34" charset="-122"/>
                <a:cs typeface="Times New Roman" pitchFamily="34" charset="-120"/>
              </a:rPr>
              <a:t>ATAMALAR VA MANBALAR</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marL="0" indent="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Ma'ruzadagi atamalar va adabiyotlar</a:t>
            </a:r>
            <a:endParaRPr lang="en-US" sz="3600" dirty="0"/>
          </a:p>
        </p:txBody>
      </p:sp>
      <p:sp>
        <p:nvSpPr>
          <p:cNvPr id="4" name="Shape 2"/>
          <p:cNvSpPr/>
          <p:nvPr/>
        </p:nvSpPr>
        <p:spPr>
          <a:xfrm>
            <a:off x="548640" y="1737360"/>
            <a:ext cx="5760720" cy="457200"/>
          </a:xfrm>
          <a:prstGeom prst="roundRect">
            <a:avLst>
              <a:gd name="adj" fmla="val 10000"/>
            </a:avLst>
          </a:prstGeom>
          <a:solidFill>
            <a:srgbClr val="EEF2FB"/>
          </a:solidFill>
          <a:ln/>
        </p:spPr>
        <p:txBody>
          <a:bodyPr/>
          <a:lstStyle/>
          <a:p>
            <a:endParaRPr lang="ru-RU"/>
          </a:p>
        </p:txBody>
      </p:sp>
      <p:sp>
        <p:nvSpPr>
          <p:cNvPr id="5" name="Text 3"/>
          <p:cNvSpPr txBox="1"/>
          <p:nvPr/>
        </p:nvSpPr>
        <p:spPr>
          <a:xfrm>
            <a:off x="685800" y="1737360"/>
            <a:ext cx="3063240" cy="457200"/>
          </a:xfrm>
          <a:prstGeom prst="rect">
            <a:avLst/>
          </a:prstGeom>
          <a:noFill/>
          <a:ln/>
        </p:spPr>
        <p:txBody>
          <a:bodyPr wrap="square" lIns="0" tIns="0" rIns="0" bIns="0" rtlCol="0" anchor="ctr"/>
          <a:lstStyle/>
          <a:p>
            <a:pPr marL="0" indent="0" algn="l">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Bir martali parol</a:t>
            </a:r>
            <a:endParaRPr lang="en-US" sz="1500" dirty="0"/>
          </a:p>
        </p:txBody>
      </p:sp>
      <p:sp>
        <p:nvSpPr>
          <p:cNvPr id="6" name="Text 4"/>
          <p:cNvSpPr txBox="1"/>
          <p:nvPr/>
        </p:nvSpPr>
        <p:spPr>
          <a:xfrm>
            <a:off x="3749040" y="1737360"/>
            <a:ext cx="2011680" cy="457200"/>
          </a:xfrm>
          <a:prstGeom prst="rect">
            <a:avLst/>
          </a:prstGeom>
          <a:noFill/>
          <a:ln/>
        </p:spPr>
        <p:txBody>
          <a:bodyPr wrap="square" lIns="0" tIns="0" rIns="0" bIns="0" rtlCol="0" anchor="ctr"/>
          <a:lstStyle/>
          <a:p>
            <a:pPr marL="0" indent="0" algn="l">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one-time password</a:t>
            </a:r>
            <a:endParaRPr lang="en-US" sz="1400" dirty="0"/>
          </a:p>
        </p:txBody>
      </p:sp>
      <p:sp>
        <p:nvSpPr>
          <p:cNvPr id="7" name="Text 5"/>
          <p:cNvSpPr txBox="1"/>
          <p:nvPr/>
        </p:nvSpPr>
        <p:spPr>
          <a:xfrm>
            <a:off x="5760720" y="1737360"/>
            <a:ext cx="457200" cy="457200"/>
          </a:xfrm>
          <a:prstGeom prst="rect">
            <a:avLst/>
          </a:prstGeom>
          <a:noFill/>
          <a:ln/>
        </p:spPr>
        <p:txBody>
          <a:bodyPr wrap="square" lIns="0" tIns="0" rIns="0" bIns="0" rtlCol="0" anchor="ctr"/>
          <a:lstStyle/>
          <a:p>
            <a:pPr marL="0" indent="0" algn="r">
              <a:lnSpc>
                <a:spcPct val="100000"/>
              </a:lnSpc>
              <a:buNone/>
            </a:pPr>
            <a:r>
              <a:rPr lang="en-US" sz="1400" dirty="0">
                <a:solidFill>
                  <a:srgbClr val="1E2761"/>
                </a:solidFill>
                <a:latin typeface="Times New Roman" pitchFamily="34" charset="0"/>
                <a:ea typeface="Times New Roman" pitchFamily="34" charset="-122"/>
                <a:cs typeface="Times New Roman" pitchFamily="34" charset="-120"/>
              </a:rPr>
              <a:t>[1]</a:t>
            </a:r>
            <a:endParaRPr lang="en-US" sz="1400" dirty="0"/>
          </a:p>
        </p:txBody>
      </p:sp>
      <p:sp>
        <p:nvSpPr>
          <p:cNvPr id="8" name="Shape 6"/>
          <p:cNvSpPr/>
          <p:nvPr/>
        </p:nvSpPr>
        <p:spPr>
          <a:xfrm>
            <a:off x="548640" y="2249424"/>
            <a:ext cx="5760720" cy="457200"/>
          </a:xfrm>
          <a:prstGeom prst="roundRect">
            <a:avLst>
              <a:gd name="adj" fmla="val 10000"/>
            </a:avLst>
          </a:prstGeom>
          <a:solidFill>
            <a:srgbClr val="FFFFFF"/>
          </a:solidFill>
          <a:ln/>
        </p:spPr>
        <p:txBody>
          <a:bodyPr/>
          <a:lstStyle/>
          <a:p>
            <a:endParaRPr lang="ru-RU"/>
          </a:p>
        </p:txBody>
      </p:sp>
      <p:sp>
        <p:nvSpPr>
          <p:cNvPr id="9" name="Text 7"/>
          <p:cNvSpPr txBox="1"/>
          <p:nvPr/>
        </p:nvSpPr>
        <p:spPr>
          <a:xfrm>
            <a:off x="685800" y="2249424"/>
            <a:ext cx="3063240" cy="457200"/>
          </a:xfrm>
          <a:prstGeom prst="rect">
            <a:avLst/>
          </a:prstGeom>
          <a:noFill/>
          <a:ln/>
        </p:spPr>
        <p:txBody>
          <a:bodyPr wrap="square" lIns="0" tIns="0" rIns="0" bIns="0" rtlCol="0" anchor="ctr"/>
          <a:lstStyle/>
          <a:p>
            <a:pPr marL="0" indent="0" algn="l">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Dinamik parol</a:t>
            </a:r>
            <a:endParaRPr lang="en-US" sz="1500" dirty="0"/>
          </a:p>
        </p:txBody>
      </p:sp>
      <p:sp>
        <p:nvSpPr>
          <p:cNvPr id="10" name="Text 8"/>
          <p:cNvSpPr txBox="1"/>
          <p:nvPr/>
        </p:nvSpPr>
        <p:spPr>
          <a:xfrm>
            <a:off x="3749040" y="2249424"/>
            <a:ext cx="2011680" cy="457200"/>
          </a:xfrm>
          <a:prstGeom prst="rect">
            <a:avLst/>
          </a:prstGeom>
          <a:noFill/>
          <a:ln/>
        </p:spPr>
        <p:txBody>
          <a:bodyPr wrap="square" lIns="0" tIns="0" rIns="0" bIns="0" rtlCol="0" anchor="ctr"/>
          <a:lstStyle/>
          <a:p>
            <a:pPr marL="0" indent="0" algn="l">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dynamic password</a:t>
            </a:r>
            <a:endParaRPr lang="en-US" sz="1400" dirty="0"/>
          </a:p>
        </p:txBody>
      </p:sp>
      <p:sp>
        <p:nvSpPr>
          <p:cNvPr id="11" name="Text 9"/>
          <p:cNvSpPr txBox="1"/>
          <p:nvPr/>
        </p:nvSpPr>
        <p:spPr>
          <a:xfrm>
            <a:off x="5760720" y="2249424"/>
            <a:ext cx="457200" cy="457200"/>
          </a:xfrm>
          <a:prstGeom prst="rect">
            <a:avLst/>
          </a:prstGeom>
          <a:noFill/>
          <a:ln/>
        </p:spPr>
        <p:txBody>
          <a:bodyPr wrap="square" lIns="0" tIns="0" rIns="0" bIns="0" rtlCol="0" anchor="ctr"/>
          <a:lstStyle/>
          <a:p>
            <a:pPr marL="0" indent="0" algn="r">
              <a:lnSpc>
                <a:spcPct val="100000"/>
              </a:lnSpc>
              <a:buNone/>
            </a:pPr>
            <a:r>
              <a:rPr lang="en-US" sz="1400" dirty="0">
                <a:solidFill>
                  <a:srgbClr val="1E2761"/>
                </a:solidFill>
                <a:latin typeface="Times New Roman" pitchFamily="34" charset="0"/>
                <a:ea typeface="Times New Roman" pitchFamily="34" charset="-122"/>
                <a:cs typeface="Times New Roman" pitchFamily="34" charset="-120"/>
              </a:rPr>
              <a:t>[1]</a:t>
            </a:r>
            <a:endParaRPr lang="en-US" sz="1400" dirty="0"/>
          </a:p>
        </p:txBody>
      </p:sp>
      <p:sp>
        <p:nvSpPr>
          <p:cNvPr id="12" name="Shape 10"/>
          <p:cNvSpPr/>
          <p:nvPr/>
        </p:nvSpPr>
        <p:spPr>
          <a:xfrm>
            <a:off x="548640" y="2761488"/>
            <a:ext cx="5760720" cy="457200"/>
          </a:xfrm>
          <a:prstGeom prst="roundRect">
            <a:avLst>
              <a:gd name="adj" fmla="val 10000"/>
            </a:avLst>
          </a:prstGeom>
          <a:solidFill>
            <a:srgbClr val="EEF2FB"/>
          </a:solidFill>
          <a:ln/>
        </p:spPr>
        <p:txBody>
          <a:bodyPr/>
          <a:lstStyle/>
          <a:p>
            <a:endParaRPr lang="ru-RU"/>
          </a:p>
        </p:txBody>
      </p:sp>
      <p:sp>
        <p:nvSpPr>
          <p:cNvPr id="13" name="Text 11"/>
          <p:cNvSpPr txBox="1"/>
          <p:nvPr/>
        </p:nvSpPr>
        <p:spPr>
          <a:xfrm>
            <a:off x="685800" y="2761488"/>
            <a:ext cx="3063240" cy="457200"/>
          </a:xfrm>
          <a:prstGeom prst="rect">
            <a:avLst/>
          </a:prstGeom>
          <a:noFill/>
          <a:ln/>
        </p:spPr>
        <p:txBody>
          <a:bodyPr wrap="square" lIns="0" tIns="0" rIns="0" bIns="0" rtlCol="0" anchor="ctr"/>
          <a:lstStyle/>
          <a:p>
            <a:pPr marL="0" indent="0" algn="l">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Ikki / ko'p omilli autentifikatsiya</a:t>
            </a:r>
            <a:endParaRPr lang="en-US" sz="1500" dirty="0"/>
          </a:p>
        </p:txBody>
      </p:sp>
      <p:sp>
        <p:nvSpPr>
          <p:cNvPr id="14" name="Text 12"/>
          <p:cNvSpPr txBox="1"/>
          <p:nvPr/>
        </p:nvSpPr>
        <p:spPr>
          <a:xfrm>
            <a:off x="3749040" y="2761488"/>
            <a:ext cx="2011680" cy="457200"/>
          </a:xfrm>
          <a:prstGeom prst="rect">
            <a:avLst/>
          </a:prstGeom>
          <a:noFill/>
          <a:ln/>
        </p:spPr>
        <p:txBody>
          <a:bodyPr wrap="square" lIns="0" tIns="0" rIns="0" bIns="0" rtlCol="0" anchor="ctr"/>
          <a:lstStyle/>
          <a:p>
            <a:pPr marL="0" indent="0" algn="l">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2FA / MFA</a:t>
            </a:r>
            <a:endParaRPr lang="en-US" sz="1400" dirty="0"/>
          </a:p>
        </p:txBody>
      </p:sp>
      <p:sp>
        <p:nvSpPr>
          <p:cNvPr id="15" name="Text 13"/>
          <p:cNvSpPr txBox="1"/>
          <p:nvPr/>
        </p:nvSpPr>
        <p:spPr>
          <a:xfrm>
            <a:off x="5760720" y="2761488"/>
            <a:ext cx="457200" cy="457200"/>
          </a:xfrm>
          <a:prstGeom prst="rect">
            <a:avLst/>
          </a:prstGeom>
          <a:noFill/>
          <a:ln/>
        </p:spPr>
        <p:txBody>
          <a:bodyPr wrap="square" lIns="0" tIns="0" rIns="0" bIns="0" rtlCol="0" anchor="ctr"/>
          <a:lstStyle/>
          <a:p>
            <a:pPr marL="0" indent="0" algn="r">
              <a:lnSpc>
                <a:spcPct val="100000"/>
              </a:lnSpc>
              <a:buNone/>
            </a:pPr>
            <a:r>
              <a:rPr lang="en-US" sz="1400" dirty="0">
                <a:solidFill>
                  <a:srgbClr val="1E2761"/>
                </a:solidFill>
                <a:latin typeface="Times New Roman" pitchFamily="34" charset="0"/>
                <a:ea typeface="Times New Roman" pitchFamily="34" charset="-122"/>
                <a:cs typeface="Times New Roman" pitchFamily="34" charset="-120"/>
              </a:rPr>
              <a:t>[1]</a:t>
            </a:r>
            <a:endParaRPr lang="en-US" sz="1400" dirty="0"/>
          </a:p>
        </p:txBody>
      </p:sp>
      <p:sp>
        <p:nvSpPr>
          <p:cNvPr id="16" name="Shape 14"/>
          <p:cNvSpPr/>
          <p:nvPr/>
        </p:nvSpPr>
        <p:spPr>
          <a:xfrm>
            <a:off x="548640" y="3273552"/>
            <a:ext cx="5760720" cy="457200"/>
          </a:xfrm>
          <a:prstGeom prst="roundRect">
            <a:avLst>
              <a:gd name="adj" fmla="val 10000"/>
            </a:avLst>
          </a:prstGeom>
          <a:solidFill>
            <a:srgbClr val="FFFFFF"/>
          </a:solidFill>
          <a:ln/>
        </p:spPr>
        <p:txBody>
          <a:bodyPr/>
          <a:lstStyle/>
          <a:p>
            <a:endParaRPr lang="ru-RU"/>
          </a:p>
        </p:txBody>
      </p:sp>
      <p:sp>
        <p:nvSpPr>
          <p:cNvPr id="17" name="Text 15"/>
          <p:cNvSpPr txBox="1"/>
          <p:nvPr/>
        </p:nvSpPr>
        <p:spPr>
          <a:xfrm>
            <a:off x="685800" y="3273552"/>
            <a:ext cx="3063240" cy="457200"/>
          </a:xfrm>
          <a:prstGeom prst="rect">
            <a:avLst/>
          </a:prstGeom>
          <a:noFill/>
          <a:ln/>
        </p:spPr>
        <p:txBody>
          <a:bodyPr wrap="square" lIns="0" tIns="0" rIns="0" bIns="0" rtlCol="0" anchor="ctr"/>
          <a:lstStyle/>
          <a:p>
            <a:pPr marL="0" indent="0" algn="l">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Sinxron / asinxron qurilma</a:t>
            </a:r>
            <a:endParaRPr lang="en-US" sz="1500" dirty="0"/>
          </a:p>
        </p:txBody>
      </p:sp>
      <p:sp>
        <p:nvSpPr>
          <p:cNvPr id="18" name="Text 16"/>
          <p:cNvSpPr txBox="1"/>
          <p:nvPr/>
        </p:nvSpPr>
        <p:spPr>
          <a:xfrm>
            <a:off x="3749040" y="3273552"/>
            <a:ext cx="2011680" cy="457200"/>
          </a:xfrm>
          <a:prstGeom prst="rect">
            <a:avLst/>
          </a:prstGeom>
          <a:noFill/>
          <a:ln/>
        </p:spPr>
        <p:txBody>
          <a:bodyPr wrap="square" lIns="0" tIns="0" rIns="0" bIns="0" rtlCol="0" anchor="ctr"/>
          <a:lstStyle/>
          <a:p>
            <a:pPr marL="0" indent="0" algn="l">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synchronous / asynchronous</a:t>
            </a:r>
            <a:endParaRPr lang="en-US" sz="1400" dirty="0"/>
          </a:p>
        </p:txBody>
      </p:sp>
      <p:sp>
        <p:nvSpPr>
          <p:cNvPr id="19" name="Text 17"/>
          <p:cNvSpPr txBox="1"/>
          <p:nvPr/>
        </p:nvSpPr>
        <p:spPr>
          <a:xfrm>
            <a:off x="5760720" y="3273552"/>
            <a:ext cx="457200" cy="457200"/>
          </a:xfrm>
          <a:prstGeom prst="rect">
            <a:avLst/>
          </a:prstGeom>
          <a:noFill/>
          <a:ln/>
        </p:spPr>
        <p:txBody>
          <a:bodyPr wrap="square" lIns="0" tIns="0" rIns="0" bIns="0" rtlCol="0" anchor="ctr"/>
          <a:lstStyle/>
          <a:p>
            <a:pPr marL="0" indent="0" algn="r">
              <a:lnSpc>
                <a:spcPct val="100000"/>
              </a:lnSpc>
              <a:buNone/>
            </a:pPr>
            <a:r>
              <a:rPr lang="en-US" sz="1400" dirty="0">
                <a:solidFill>
                  <a:srgbClr val="1E2761"/>
                </a:solidFill>
                <a:latin typeface="Times New Roman" pitchFamily="34" charset="0"/>
                <a:ea typeface="Times New Roman" pitchFamily="34" charset="-122"/>
                <a:cs typeface="Times New Roman" pitchFamily="34" charset="-120"/>
              </a:rPr>
              <a:t>[1]</a:t>
            </a:r>
            <a:endParaRPr lang="en-US" sz="1400" dirty="0"/>
          </a:p>
        </p:txBody>
      </p:sp>
      <p:sp>
        <p:nvSpPr>
          <p:cNvPr id="20" name="Shape 18"/>
          <p:cNvSpPr/>
          <p:nvPr/>
        </p:nvSpPr>
        <p:spPr>
          <a:xfrm>
            <a:off x="548640" y="3785616"/>
            <a:ext cx="5760720" cy="457200"/>
          </a:xfrm>
          <a:prstGeom prst="roundRect">
            <a:avLst>
              <a:gd name="adj" fmla="val 10000"/>
            </a:avLst>
          </a:prstGeom>
          <a:solidFill>
            <a:srgbClr val="EEF2FB"/>
          </a:solidFill>
          <a:ln/>
        </p:spPr>
        <p:txBody>
          <a:bodyPr/>
          <a:lstStyle/>
          <a:p>
            <a:endParaRPr lang="ru-RU"/>
          </a:p>
        </p:txBody>
      </p:sp>
      <p:sp>
        <p:nvSpPr>
          <p:cNvPr id="21" name="Text 19"/>
          <p:cNvSpPr txBox="1"/>
          <p:nvPr/>
        </p:nvSpPr>
        <p:spPr>
          <a:xfrm>
            <a:off x="685800" y="3785616"/>
            <a:ext cx="3063240" cy="457200"/>
          </a:xfrm>
          <a:prstGeom prst="rect">
            <a:avLst/>
          </a:prstGeom>
          <a:noFill/>
          <a:ln/>
        </p:spPr>
        <p:txBody>
          <a:bodyPr wrap="square" lIns="0" tIns="0" rIns="0" bIns="0" rtlCol="0" anchor="ctr"/>
          <a:lstStyle/>
          <a:p>
            <a:pPr marL="0" indent="0" algn="l">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Hisoblagich</a:t>
            </a:r>
            <a:endParaRPr lang="en-US" sz="1500" dirty="0"/>
          </a:p>
        </p:txBody>
      </p:sp>
      <p:sp>
        <p:nvSpPr>
          <p:cNvPr id="22" name="Text 20"/>
          <p:cNvSpPr txBox="1"/>
          <p:nvPr/>
        </p:nvSpPr>
        <p:spPr>
          <a:xfrm>
            <a:off x="3749040" y="3785616"/>
            <a:ext cx="2011680" cy="457200"/>
          </a:xfrm>
          <a:prstGeom prst="rect">
            <a:avLst/>
          </a:prstGeom>
          <a:noFill/>
          <a:ln/>
        </p:spPr>
        <p:txBody>
          <a:bodyPr wrap="square" lIns="0" tIns="0" rIns="0" bIns="0" rtlCol="0" anchor="ctr"/>
          <a:lstStyle/>
          <a:p>
            <a:pPr marL="0" indent="0" algn="l">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counter</a:t>
            </a:r>
            <a:endParaRPr lang="en-US" sz="1400" dirty="0"/>
          </a:p>
        </p:txBody>
      </p:sp>
      <p:sp>
        <p:nvSpPr>
          <p:cNvPr id="23" name="Text 21"/>
          <p:cNvSpPr txBox="1"/>
          <p:nvPr/>
        </p:nvSpPr>
        <p:spPr>
          <a:xfrm>
            <a:off x="5760720" y="3785616"/>
            <a:ext cx="457200" cy="457200"/>
          </a:xfrm>
          <a:prstGeom prst="rect">
            <a:avLst/>
          </a:prstGeom>
          <a:noFill/>
          <a:ln/>
        </p:spPr>
        <p:txBody>
          <a:bodyPr wrap="square" lIns="0" tIns="0" rIns="0" bIns="0" rtlCol="0" anchor="ctr"/>
          <a:lstStyle/>
          <a:p>
            <a:pPr marL="0" indent="0" algn="r">
              <a:lnSpc>
                <a:spcPct val="100000"/>
              </a:lnSpc>
              <a:buNone/>
            </a:pPr>
            <a:r>
              <a:rPr lang="en-US" sz="1400" dirty="0">
                <a:solidFill>
                  <a:srgbClr val="1E2761"/>
                </a:solidFill>
                <a:latin typeface="Times New Roman" pitchFamily="34" charset="0"/>
                <a:ea typeface="Times New Roman" pitchFamily="34" charset="-122"/>
                <a:cs typeface="Times New Roman" pitchFamily="34" charset="-120"/>
              </a:rPr>
              <a:t>*</a:t>
            </a:r>
            <a:endParaRPr lang="en-US" sz="1400" dirty="0"/>
          </a:p>
        </p:txBody>
      </p:sp>
      <p:sp>
        <p:nvSpPr>
          <p:cNvPr id="24" name="Shape 22"/>
          <p:cNvSpPr/>
          <p:nvPr/>
        </p:nvSpPr>
        <p:spPr>
          <a:xfrm>
            <a:off x="548640" y="4297680"/>
            <a:ext cx="5760720" cy="457200"/>
          </a:xfrm>
          <a:prstGeom prst="roundRect">
            <a:avLst>
              <a:gd name="adj" fmla="val 10000"/>
            </a:avLst>
          </a:prstGeom>
          <a:solidFill>
            <a:srgbClr val="FFFFFF"/>
          </a:solidFill>
          <a:ln/>
        </p:spPr>
        <p:txBody>
          <a:bodyPr/>
          <a:lstStyle/>
          <a:p>
            <a:endParaRPr lang="ru-RU"/>
          </a:p>
        </p:txBody>
      </p:sp>
      <p:sp>
        <p:nvSpPr>
          <p:cNvPr id="25" name="Text 23"/>
          <p:cNvSpPr txBox="1"/>
          <p:nvPr/>
        </p:nvSpPr>
        <p:spPr>
          <a:xfrm>
            <a:off x="685800" y="4297680"/>
            <a:ext cx="3063240" cy="457200"/>
          </a:xfrm>
          <a:prstGeom prst="rect">
            <a:avLst/>
          </a:prstGeom>
          <a:noFill/>
          <a:ln/>
        </p:spPr>
        <p:txBody>
          <a:bodyPr wrap="square" lIns="0" tIns="0" rIns="0" bIns="0" rtlCol="0" anchor="ctr"/>
          <a:lstStyle/>
          <a:p>
            <a:pPr marL="0" indent="0" algn="l">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Vaqt qadami</a:t>
            </a:r>
            <a:endParaRPr lang="en-US" sz="1500" dirty="0"/>
          </a:p>
        </p:txBody>
      </p:sp>
      <p:sp>
        <p:nvSpPr>
          <p:cNvPr id="26" name="Text 24"/>
          <p:cNvSpPr txBox="1"/>
          <p:nvPr/>
        </p:nvSpPr>
        <p:spPr>
          <a:xfrm>
            <a:off x="3749040" y="4297680"/>
            <a:ext cx="2011680" cy="457200"/>
          </a:xfrm>
          <a:prstGeom prst="rect">
            <a:avLst/>
          </a:prstGeom>
          <a:noFill/>
          <a:ln/>
        </p:spPr>
        <p:txBody>
          <a:bodyPr wrap="square" lIns="0" tIns="0" rIns="0" bIns="0" rtlCol="0" anchor="ctr"/>
          <a:lstStyle/>
          <a:p>
            <a:pPr marL="0" indent="0" algn="l">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time step</a:t>
            </a:r>
            <a:endParaRPr lang="en-US" sz="1400" dirty="0"/>
          </a:p>
        </p:txBody>
      </p:sp>
      <p:sp>
        <p:nvSpPr>
          <p:cNvPr id="27" name="Text 25"/>
          <p:cNvSpPr txBox="1"/>
          <p:nvPr/>
        </p:nvSpPr>
        <p:spPr>
          <a:xfrm>
            <a:off x="5760720" y="4297680"/>
            <a:ext cx="457200" cy="457200"/>
          </a:xfrm>
          <a:prstGeom prst="rect">
            <a:avLst/>
          </a:prstGeom>
          <a:noFill/>
          <a:ln/>
        </p:spPr>
        <p:txBody>
          <a:bodyPr wrap="square" lIns="0" tIns="0" rIns="0" bIns="0" rtlCol="0" anchor="ctr"/>
          <a:lstStyle/>
          <a:p>
            <a:pPr marL="0" indent="0" algn="r">
              <a:lnSpc>
                <a:spcPct val="100000"/>
              </a:lnSpc>
              <a:buNone/>
            </a:pPr>
            <a:r>
              <a:rPr lang="en-US" sz="1400" dirty="0">
                <a:solidFill>
                  <a:srgbClr val="1E2761"/>
                </a:solidFill>
                <a:latin typeface="Times New Roman" pitchFamily="34" charset="0"/>
                <a:ea typeface="Times New Roman" pitchFamily="34" charset="-122"/>
                <a:cs typeface="Times New Roman" pitchFamily="34" charset="-120"/>
              </a:rPr>
              <a:t>*</a:t>
            </a:r>
            <a:endParaRPr lang="en-US" sz="1400" dirty="0"/>
          </a:p>
        </p:txBody>
      </p:sp>
      <p:sp>
        <p:nvSpPr>
          <p:cNvPr id="28" name="Shape 26"/>
          <p:cNvSpPr/>
          <p:nvPr/>
        </p:nvSpPr>
        <p:spPr>
          <a:xfrm>
            <a:off x="548640" y="4809744"/>
            <a:ext cx="5760720" cy="457200"/>
          </a:xfrm>
          <a:prstGeom prst="roundRect">
            <a:avLst>
              <a:gd name="adj" fmla="val 10000"/>
            </a:avLst>
          </a:prstGeom>
          <a:solidFill>
            <a:srgbClr val="EEF2FB"/>
          </a:solidFill>
          <a:ln/>
        </p:spPr>
        <p:txBody>
          <a:bodyPr/>
          <a:lstStyle/>
          <a:p>
            <a:endParaRPr lang="ru-RU"/>
          </a:p>
        </p:txBody>
      </p:sp>
      <p:sp>
        <p:nvSpPr>
          <p:cNvPr id="29" name="Text 27"/>
          <p:cNvSpPr txBox="1"/>
          <p:nvPr/>
        </p:nvSpPr>
        <p:spPr>
          <a:xfrm>
            <a:off x="685800" y="4809744"/>
            <a:ext cx="3063240" cy="457200"/>
          </a:xfrm>
          <a:prstGeom prst="rect">
            <a:avLst/>
          </a:prstGeom>
          <a:noFill/>
          <a:ln/>
        </p:spPr>
        <p:txBody>
          <a:bodyPr wrap="square" lIns="0" tIns="0" rIns="0" bIns="0" rtlCol="0" anchor="ctr"/>
          <a:lstStyle/>
          <a:p>
            <a:pPr marL="0" indent="0" algn="l">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So'rov-javob</a:t>
            </a:r>
            <a:endParaRPr lang="en-US" sz="1500" dirty="0"/>
          </a:p>
        </p:txBody>
      </p:sp>
      <p:sp>
        <p:nvSpPr>
          <p:cNvPr id="30" name="Text 28"/>
          <p:cNvSpPr txBox="1"/>
          <p:nvPr/>
        </p:nvSpPr>
        <p:spPr>
          <a:xfrm>
            <a:off x="3749040" y="4809744"/>
            <a:ext cx="2011680" cy="457200"/>
          </a:xfrm>
          <a:prstGeom prst="rect">
            <a:avLst/>
          </a:prstGeom>
          <a:noFill/>
          <a:ln/>
        </p:spPr>
        <p:txBody>
          <a:bodyPr wrap="square" lIns="0" tIns="0" rIns="0" bIns="0" rtlCol="0" anchor="ctr"/>
          <a:lstStyle/>
          <a:p>
            <a:pPr marL="0" indent="0" algn="l">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challenge-response</a:t>
            </a:r>
            <a:endParaRPr lang="en-US" sz="1400" dirty="0"/>
          </a:p>
        </p:txBody>
      </p:sp>
      <p:sp>
        <p:nvSpPr>
          <p:cNvPr id="31" name="Text 29"/>
          <p:cNvSpPr txBox="1"/>
          <p:nvPr/>
        </p:nvSpPr>
        <p:spPr>
          <a:xfrm>
            <a:off x="5760720" y="4809744"/>
            <a:ext cx="457200" cy="457200"/>
          </a:xfrm>
          <a:prstGeom prst="rect">
            <a:avLst/>
          </a:prstGeom>
          <a:noFill/>
          <a:ln/>
        </p:spPr>
        <p:txBody>
          <a:bodyPr wrap="square" lIns="0" tIns="0" rIns="0" bIns="0" rtlCol="0" anchor="ctr"/>
          <a:lstStyle/>
          <a:p>
            <a:pPr marL="0" indent="0" algn="r">
              <a:lnSpc>
                <a:spcPct val="100000"/>
              </a:lnSpc>
              <a:buNone/>
            </a:pPr>
            <a:r>
              <a:rPr lang="en-US" sz="1400" dirty="0">
                <a:solidFill>
                  <a:srgbClr val="1E2761"/>
                </a:solidFill>
                <a:latin typeface="Times New Roman" pitchFamily="34" charset="0"/>
                <a:ea typeface="Times New Roman" pitchFamily="34" charset="-122"/>
                <a:cs typeface="Times New Roman" pitchFamily="34" charset="-120"/>
              </a:rPr>
              <a:t>*</a:t>
            </a:r>
            <a:endParaRPr lang="en-US" sz="1400" dirty="0"/>
          </a:p>
        </p:txBody>
      </p:sp>
      <p:sp>
        <p:nvSpPr>
          <p:cNvPr id="32" name="Shape 30"/>
          <p:cNvSpPr/>
          <p:nvPr/>
        </p:nvSpPr>
        <p:spPr>
          <a:xfrm>
            <a:off x="548640" y="5321808"/>
            <a:ext cx="5760720" cy="457200"/>
          </a:xfrm>
          <a:prstGeom prst="roundRect">
            <a:avLst>
              <a:gd name="adj" fmla="val 10000"/>
            </a:avLst>
          </a:prstGeom>
          <a:solidFill>
            <a:srgbClr val="FFFFFF"/>
          </a:solidFill>
          <a:ln/>
        </p:spPr>
        <p:txBody>
          <a:bodyPr/>
          <a:lstStyle/>
          <a:p>
            <a:endParaRPr lang="ru-RU"/>
          </a:p>
        </p:txBody>
      </p:sp>
      <p:sp>
        <p:nvSpPr>
          <p:cNvPr id="33" name="Text 31"/>
          <p:cNvSpPr txBox="1"/>
          <p:nvPr/>
        </p:nvSpPr>
        <p:spPr>
          <a:xfrm>
            <a:off x="685800" y="5321808"/>
            <a:ext cx="3063240" cy="457200"/>
          </a:xfrm>
          <a:prstGeom prst="rect">
            <a:avLst/>
          </a:prstGeom>
          <a:noFill/>
          <a:ln/>
        </p:spPr>
        <p:txBody>
          <a:bodyPr wrap="square" lIns="0" tIns="0" rIns="0" bIns="0" rtlCol="0" anchor="ctr"/>
          <a:lstStyle/>
          <a:p>
            <a:pPr marL="0" indent="0" algn="l">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Fishingga bardoshli</a:t>
            </a:r>
            <a:endParaRPr lang="en-US" sz="1500" dirty="0"/>
          </a:p>
        </p:txBody>
      </p:sp>
      <p:sp>
        <p:nvSpPr>
          <p:cNvPr id="34" name="Text 32"/>
          <p:cNvSpPr txBox="1"/>
          <p:nvPr/>
        </p:nvSpPr>
        <p:spPr>
          <a:xfrm>
            <a:off x="3749040" y="5321808"/>
            <a:ext cx="2011680" cy="457200"/>
          </a:xfrm>
          <a:prstGeom prst="rect">
            <a:avLst/>
          </a:prstGeom>
          <a:noFill/>
          <a:ln/>
        </p:spPr>
        <p:txBody>
          <a:bodyPr wrap="square" lIns="0" tIns="0" rIns="0" bIns="0" rtlCol="0" anchor="ctr"/>
          <a:lstStyle/>
          <a:p>
            <a:pPr marL="0" indent="0" algn="l">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phishing-resistant</a:t>
            </a:r>
            <a:endParaRPr lang="en-US" sz="1400" dirty="0"/>
          </a:p>
        </p:txBody>
      </p:sp>
      <p:sp>
        <p:nvSpPr>
          <p:cNvPr id="35" name="Text 33"/>
          <p:cNvSpPr txBox="1"/>
          <p:nvPr/>
        </p:nvSpPr>
        <p:spPr>
          <a:xfrm>
            <a:off x="5760720" y="5321808"/>
            <a:ext cx="457200" cy="457200"/>
          </a:xfrm>
          <a:prstGeom prst="rect">
            <a:avLst/>
          </a:prstGeom>
          <a:noFill/>
          <a:ln/>
        </p:spPr>
        <p:txBody>
          <a:bodyPr wrap="square" lIns="0" tIns="0" rIns="0" bIns="0" rtlCol="0" anchor="ctr"/>
          <a:lstStyle/>
          <a:p>
            <a:pPr marL="0" indent="0" algn="r">
              <a:lnSpc>
                <a:spcPct val="100000"/>
              </a:lnSpc>
              <a:buNone/>
            </a:pPr>
            <a:r>
              <a:rPr lang="en-US" sz="1400" dirty="0">
                <a:solidFill>
                  <a:srgbClr val="1E2761"/>
                </a:solidFill>
                <a:latin typeface="Times New Roman" pitchFamily="34" charset="0"/>
                <a:ea typeface="Times New Roman" pitchFamily="34" charset="-122"/>
                <a:cs typeface="Times New Roman" pitchFamily="34" charset="-120"/>
              </a:rPr>
              <a:t>*</a:t>
            </a:r>
            <a:endParaRPr lang="en-US" sz="1400" dirty="0"/>
          </a:p>
        </p:txBody>
      </p:sp>
      <p:sp>
        <p:nvSpPr>
          <p:cNvPr id="36" name="Text 34"/>
          <p:cNvSpPr txBox="1"/>
          <p:nvPr/>
        </p:nvSpPr>
        <p:spPr>
          <a:xfrm>
            <a:off x="548640" y="5897880"/>
            <a:ext cx="5760720" cy="320040"/>
          </a:xfrm>
          <a:prstGeom prst="rect">
            <a:avLst/>
          </a:prstGeom>
          <a:noFill/>
          <a:ln/>
        </p:spPr>
        <p:txBody>
          <a:bodyPr wrap="square" lIns="0" tIns="0" rIns="0" bIns="0" rtlCol="0" anchor="t"/>
          <a:lstStyle/>
          <a:p>
            <a:pPr marL="0" indent="0" algn="l">
              <a:lnSpc>
                <a:spcPct val="100000"/>
              </a:lnSpc>
              <a:buNone/>
            </a:pPr>
            <a:r>
              <a:rPr lang="en-US" sz="1200" dirty="0">
                <a:solidFill>
                  <a:srgbClr val="5B6270"/>
                </a:solidFill>
                <a:latin typeface="Times New Roman" pitchFamily="34" charset="0"/>
                <a:ea typeface="Times New Roman" pitchFamily="34" charset="-122"/>
                <a:cs typeface="Times New Roman" pitchFamily="34" charset="-120"/>
              </a:rPr>
              <a:t>* o'zbek tilidagi darsliklarda uchramadi — tarjima</a:t>
            </a:r>
            <a:endParaRPr lang="en-US" sz="1200" dirty="0"/>
          </a:p>
        </p:txBody>
      </p:sp>
      <p:sp>
        <p:nvSpPr>
          <p:cNvPr id="37" name="Shape 35"/>
          <p:cNvSpPr/>
          <p:nvPr/>
        </p:nvSpPr>
        <p:spPr>
          <a:xfrm>
            <a:off x="6583680" y="1783080"/>
            <a:ext cx="548640" cy="548640"/>
          </a:xfrm>
          <a:prstGeom prst="roundRect">
            <a:avLst>
              <a:gd name="adj" fmla="val 13333"/>
            </a:avLst>
          </a:prstGeom>
          <a:solidFill>
            <a:srgbClr val="1E2761"/>
          </a:solidFill>
          <a:ln/>
        </p:spPr>
        <p:txBody>
          <a:bodyPr/>
          <a:lstStyle/>
          <a:p>
            <a:endParaRPr lang="ru-RU"/>
          </a:p>
        </p:txBody>
      </p:sp>
      <p:sp>
        <p:nvSpPr>
          <p:cNvPr id="38" name="Text 36"/>
          <p:cNvSpPr txBox="1"/>
          <p:nvPr/>
        </p:nvSpPr>
        <p:spPr>
          <a:xfrm>
            <a:off x="6583680" y="1783080"/>
            <a:ext cx="548640" cy="548640"/>
          </a:xfrm>
          <a:prstGeom prst="rect">
            <a:avLst/>
          </a:prstGeom>
          <a:noFill/>
          <a:ln/>
        </p:spPr>
        <p:txBody>
          <a:bodyPr wrap="square" lIns="0" tIns="0" rIns="0" bIns="0" rtlCol="0" anchor="ctr"/>
          <a:lstStyle/>
          <a:p>
            <a:pPr marL="0" indent="0" algn="ctr">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[1]</a:t>
            </a:r>
            <a:endParaRPr lang="en-US" sz="1400" dirty="0"/>
          </a:p>
        </p:txBody>
      </p:sp>
      <p:sp>
        <p:nvSpPr>
          <p:cNvPr id="39" name="Text 37"/>
          <p:cNvSpPr txBox="1"/>
          <p:nvPr/>
        </p:nvSpPr>
        <p:spPr>
          <a:xfrm>
            <a:off x="7269480" y="1737360"/>
            <a:ext cx="4343400" cy="685800"/>
          </a:xfrm>
          <a:prstGeom prst="rect">
            <a:avLst/>
          </a:prstGeom>
          <a:noFill/>
          <a:ln/>
        </p:spPr>
        <p:txBody>
          <a:bodyPr wrap="square" lIns="0" tIns="0" rIns="0" bIns="0" rtlCol="0" anchor="ctr"/>
          <a:lstStyle/>
          <a:p>
            <a:pPr marL="0" indent="0" algn="l">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S.K. Ganiev va boshq. Kiberxavfsizlik asoslari. — T.: «Iqtisod-moliya», 2021.</a:t>
            </a:r>
            <a:endParaRPr lang="en-US" sz="1500" dirty="0"/>
          </a:p>
        </p:txBody>
      </p:sp>
      <p:sp>
        <p:nvSpPr>
          <p:cNvPr id="40" name="Shape 38"/>
          <p:cNvSpPr/>
          <p:nvPr/>
        </p:nvSpPr>
        <p:spPr>
          <a:xfrm>
            <a:off x="6583680" y="2606040"/>
            <a:ext cx="548640" cy="548640"/>
          </a:xfrm>
          <a:prstGeom prst="roundRect">
            <a:avLst>
              <a:gd name="adj" fmla="val 13333"/>
            </a:avLst>
          </a:prstGeom>
          <a:solidFill>
            <a:srgbClr val="2A3778"/>
          </a:solidFill>
          <a:ln/>
        </p:spPr>
        <p:txBody>
          <a:bodyPr/>
          <a:lstStyle/>
          <a:p>
            <a:endParaRPr lang="ru-RU"/>
          </a:p>
        </p:txBody>
      </p:sp>
      <p:sp>
        <p:nvSpPr>
          <p:cNvPr id="41" name="Text 39"/>
          <p:cNvSpPr txBox="1"/>
          <p:nvPr/>
        </p:nvSpPr>
        <p:spPr>
          <a:xfrm>
            <a:off x="6583680" y="2606040"/>
            <a:ext cx="548640" cy="548640"/>
          </a:xfrm>
          <a:prstGeom prst="rect">
            <a:avLst/>
          </a:prstGeom>
          <a:noFill/>
          <a:ln/>
        </p:spPr>
        <p:txBody>
          <a:bodyPr wrap="square" lIns="0" tIns="0" rIns="0" bIns="0" rtlCol="0" anchor="ctr"/>
          <a:lstStyle/>
          <a:p>
            <a:pPr marL="0" indent="0" algn="ctr">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[2]</a:t>
            </a:r>
            <a:endParaRPr lang="en-US" sz="1400" dirty="0"/>
          </a:p>
        </p:txBody>
      </p:sp>
      <p:sp>
        <p:nvSpPr>
          <p:cNvPr id="42" name="Text 40"/>
          <p:cNvSpPr txBox="1"/>
          <p:nvPr/>
        </p:nvSpPr>
        <p:spPr>
          <a:xfrm>
            <a:off x="7269480" y="2560320"/>
            <a:ext cx="4343400" cy="685800"/>
          </a:xfrm>
          <a:prstGeom prst="rect">
            <a:avLst/>
          </a:prstGeom>
          <a:noFill/>
          <a:ln/>
        </p:spPr>
        <p:txBody>
          <a:bodyPr wrap="square" lIns="0" tIns="0" rIns="0" bIns="0" rtlCol="0" anchor="ctr"/>
          <a:lstStyle/>
          <a:p>
            <a:pPr marL="0" indent="0" algn="l">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RFC 4226. HOTP: An HMAC-Based One-Time Password Algorithm. IETF, 2005.</a:t>
            </a:r>
            <a:endParaRPr lang="en-US" sz="1500" dirty="0"/>
          </a:p>
        </p:txBody>
      </p:sp>
      <p:sp>
        <p:nvSpPr>
          <p:cNvPr id="43" name="Shape 41"/>
          <p:cNvSpPr/>
          <p:nvPr/>
        </p:nvSpPr>
        <p:spPr>
          <a:xfrm>
            <a:off x="6583680" y="3429000"/>
            <a:ext cx="548640" cy="548640"/>
          </a:xfrm>
          <a:prstGeom prst="roundRect">
            <a:avLst>
              <a:gd name="adj" fmla="val 13333"/>
            </a:avLst>
          </a:prstGeom>
          <a:solidFill>
            <a:srgbClr val="2A3778"/>
          </a:solidFill>
          <a:ln/>
        </p:spPr>
        <p:txBody>
          <a:bodyPr/>
          <a:lstStyle/>
          <a:p>
            <a:endParaRPr lang="ru-RU"/>
          </a:p>
        </p:txBody>
      </p:sp>
      <p:sp>
        <p:nvSpPr>
          <p:cNvPr id="44" name="Text 42"/>
          <p:cNvSpPr txBox="1"/>
          <p:nvPr/>
        </p:nvSpPr>
        <p:spPr>
          <a:xfrm>
            <a:off x="6583680" y="3429000"/>
            <a:ext cx="548640" cy="548640"/>
          </a:xfrm>
          <a:prstGeom prst="rect">
            <a:avLst/>
          </a:prstGeom>
          <a:noFill/>
          <a:ln/>
        </p:spPr>
        <p:txBody>
          <a:bodyPr wrap="square" lIns="0" tIns="0" rIns="0" bIns="0" rtlCol="0" anchor="ctr"/>
          <a:lstStyle/>
          <a:p>
            <a:pPr marL="0" indent="0" algn="ctr">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[3]</a:t>
            </a:r>
            <a:endParaRPr lang="en-US" sz="1400" dirty="0"/>
          </a:p>
        </p:txBody>
      </p:sp>
      <p:sp>
        <p:nvSpPr>
          <p:cNvPr id="45" name="Text 43"/>
          <p:cNvSpPr txBox="1"/>
          <p:nvPr/>
        </p:nvSpPr>
        <p:spPr>
          <a:xfrm>
            <a:off x="7269480" y="3383280"/>
            <a:ext cx="4343400" cy="685800"/>
          </a:xfrm>
          <a:prstGeom prst="rect">
            <a:avLst/>
          </a:prstGeom>
          <a:noFill/>
          <a:ln/>
        </p:spPr>
        <p:txBody>
          <a:bodyPr wrap="square" lIns="0" tIns="0" rIns="0" bIns="0" rtlCol="0" anchor="ctr"/>
          <a:lstStyle/>
          <a:p>
            <a:pPr marL="0" indent="0" algn="l">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RFC 6238. TOTP: Time-Based One-Time Password Algorithm. IETF, 2011.</a:t>
            </a:r>
            <a:endParaRPr lang="en-US" sz="1500" dirty="0"/>
          </a:p>
        </p:txBody>
      </p:sp>
      <p:sp>
        <p:nvSpPr>
          <p:cNvPr id="46" name="Shape 44"/>
          <p:cNvSpPr/>
          <p:nvPr/>
        </p:nvSpPr>
        <p:spPr>
          <a:xfrm>
            <a:off x="6583680" y="4251960"/>
            <a:ext cx="548640" cy="548640"/>
          </a:xfrm>
          <a:prstGeom prst="roundRect">
            <a:avLst>
              <a:gd name="adj" fmla="val 13333"/>
            </a:avLst>
          </a:prstGeom>
          <a:solidFill>
            <a:srgbClr val="2A3778"/>
          </a:solidFill>
          <a:ln/>
        </p:spPr>
        <p:txBody>
          <a:bodyPr/>
          <a:lstStyle/>
          <a:p>
            <a:endParaRPr lang="ru-RU"/>
          </a:p>
        </p:txBody>
      </p:sp>
      <p:sp>
        <p:nvSpPr>
          <p:cNvPr id="47" name="Text 45"/>
          <p:cNvSpPr txBox="1"/>
          <p:nvPr/>
        </p:nvSpPr>
        <p:spPr>
          <a:xfrm>
            <a:off x="6583680" y="4251960"/>
            <a:ext cx="548640" cy="548640"/>
          </a:xfrm>
          <a:prstGeom prst="rect">
            <a:avLst/>
          </a:prstGeom>
          <a:noFill/>
          <a:ln/>
        </p:spPr>
        <p:txBody>
          <a:bodyPr wrap="square" lIns="0" tIns="0" rIns="0" bIns="0" rtlCol="0" anchor="ctr"/>
          <a:lstStyle/>
          <a:p>
            <a:pPr marL="0" indent="0" algn="ctr">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[4]</a:t>
            </a:r>
            <a:endParaRPr lang="en-US" sz="1400" dirty="0"/>
          </a:p>
        </p:txBody>
      </p:sp>
      <p:sp>
        <p:nvSpPr>
          <p:cNvPr id="48" name="Text 46"/>
          <p:cNvSpPr txBox="1"/>
          <p:nvPr/>
        </p:nvSpPr>
        <p:spPr>
          <a:xfrm>
            <a:off x="7269480" y="4206240"/>
            <a:ext cx="4343400" cy="685800"/>
          </a:xfrm>
          <a:prstGeom prst="rect">
            <a:avLst/>
          </a:prstGeom>
          <a:noFill/>
          <a:ln/>
        </p:spPr>
        <p:txBody>
          <a:bodyPr wrap="square" lIns="0" tIns="0" rIns="0" bIns="0" rtlCol="0" anchor="ctr"/>
          <a:lstStyle/>
          <a:p>
            <a:pPr marL="0" indent="0" algn="l">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NIST SP 800-63B-4. Digital Identity Guidelines: Authentication. 2025.</a:t>
            </a:r>
            <a:endParaRPr lang="en-US" sz="1500" dirty="0"/>
          </a:p>
        </p:txBody>
      </p:sp>
      <p:sp>
        <p:nvSpPr>
          <p:cNvPr id="49" name="Shape 47"/>
          <p:cNvSpPr/>
          <p:nvPr/>
        </p:nvSpPr>
        <p:spPr>
          <a:xfrm>
            <a:off x="6583680" y="5074920"/>
            <a:ext cx="548640" cy="548640"/>
          </a:xfrm>
          <a:prstGeom prst="roundRect">
            <a:avLst>
              <a:gd name="adj" fmla="val 13333"/>
            </a:avLst>
          </a:prstGeom>
          <a:solidFill>
            <a:srgbClr val="2A3778"/>
          </a:solidFill>
          <a:ln/>
        </p:spPr>
        <p:txBody>
          <a:bodyPr/>
          <a:lstStyle/>
          <a:p>
            <a:endParaRPr lang="ru-RU"/>
          </a:p>
        </p:txBody>
      </p:sp>
      <p:sp>
        <p:nvSpPr>
          <p:cNvPr id="50" name="Text 48"/>
          <p:cNvSpPr txBox="1"/>
          <p:nvPr/>
        </p:nvSpPr>
        <p:spPr>
          <a:xfrm>
            <a:off x="6583680" y="5074920"/>
            <a:ext cx="548640" cy="548640"/>
          </a:xfrm>
          <a:prstGeom prst="rect">
            <a:avLst/>
          </a:prstGeom>
          <a:noFill/>
          <a:ln/>
        </p:spPr>
        <p:txBody>
          <a:bodyPr wrap="square" lIns="0" tIns="0" rIns="0" bIns="0" rtlCol="0" anchor="ctr"/>
          <a:lstStyle/>
          <a:p>
            <a:pPr marL="0" indent="0" algn="ctr">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[5]</a:t>
            </a:r>
            <a:endParaRPr lang="en-US" sz="1400" dirty="0"/>
          </a:p>
        </p:txBody>
      </p:sp>
      <p:sp>
        <p:nvSpPr>
          <p:cNvPr id="51" name="Text 49"/>
          <p:cNvSpPr txBox="1"/>
          <p:nvPr/>
        </p:nvSpPr>
        <p:spPr>
          <a:xfrm>
            <a:off x="7269480" y="5029200"/>
            <a:ext cx="4343400" cy="685800"/>
          </a:xfrm>
          <a:prstGeom prst="rect">
            <a:avLst/>
          </a:prstGeom>
          <a:noFill/>
          <a:ln/>
        </p:spPr>
        <p:txBody>
          <a:bodyPr wrap="square" lIns="0" tIns="0" rIns="0" bIns="0" rtlCol="0" anchor="ctr"/>
          <a:lstStyle/>
          <a:p>
            <a:pPr marL="0" indent="0" algn="l">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M. Stamp. Information Security: Principles and Practice. — Wiley, 2011. 7-bob.</a:t>
            </a:r>
            <a:endParaRPr lang="en-US" sz="1500" dirty="0"/>
          </a:p>
        </p:txBody>
      </p:sp>
      <p:sp>
        <p:nvSpPr>
          <p:cNvPr id="52" name="Text 50"/>
          <p:cNvSpPr txBox="1"/>
          <p:nvPr/>
        </p:nvSpPr>
        <p:spPr>
          <a:xfrm>
            <a:off x="548640" y="6492240"/>
            <a:ext cx="7315200" cy="274320"/>
          </a:xfrm>
          <a:prstGeom prst="rect">
            <a:avLst/>
          </a:prstGeom>
          <a:noFill/>
          <a:ln/>
        </p:spPr>
        <p:txBody>
          <a:bodyPr wrap="square" lIns="0" tIns="0" rIns="0" bIns="0" rtlCol="0" anchor="ctr"/>
          <a:lstStyle/>
          <a:p>
            <a:pPr marL="0" indent="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4-ma'ruza</a:t>
            </a:r>
            <a:endParaRPr lang="en-US" sz="1100" dirty="0"/>
          </a:p>
        </p:txBody>
      </p:sp>
      <p:sp>
        <p:nvSpPr>
          <p:cNvPr id="53" name="Text 51"/>
          <p:cNvSpPr txBox="1"/>
          <p:nvPr/>
        </p:nvSpPr>
        <p:spPr>
          <a:xfrm>
            <a:off x="11155680" y="6492240"/>
            <a:ext cx="457200" cy="274320"/>
          </a:xfrm>
          <a:prstGeom prst="rect">
            <a:avLst/>
          </a:prstGeom>
          <a:noFill/>
          <a:ln/>
        </p:spPr>
        <p:txBody>
          <a:bodyPr wrap="square" lIns="0" tIns="0" rIns="0" bIns="0" rtlCol="0" anchor="ctr"/>
          <a:lstStyle/>
          <a:p>
            <a:pPr marL="0" indent="0" algn="r">
              <a:buNone/>
            </a:pPr>
            <a:r>
              <a:rPr lang="en-US" sz="1100" dirty="0">
                <a:solidFill>
                  <a:srgbClr val="5B6270"/>
                </a:solidFill>
                <a:latin typeface="Times New Roman" pitchFamily="34" charset="0"/>
                <a:ea typeface="Times New Roman" pitchFamily="34" charset="-122"/>
                <a:cs typeface="Times New Roman" pitchFamily="34" charset="-120"/>
              </a:rPr>
              <a:t>20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3005</Words>
  <Application>Microsoft Office PowerPoint</Application>
  <PresentationFormat>Произвольный</PresentationFormat>
  <Paragraphs>462</Paragraphs>
  <Slides>20</Slides>
  <Notes>20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20</vt:i4>
      </vt:variant>
    </vt:vector>
  </HeadingPairs>
  <TitlesOfParts>
    <vt:vector size="24" baseType="lpstr">
      <vt:lpstr>Arial</vt:lpstr>
      <vt:lpstr>Courier New</vt:lpstr>
      <vt:lpstr>Times New Roman</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4-ma'ruza. Bir martali parollar va ko'p omilli autentifikatsiya</dc:title>
  <dc:subject>PptxGenJS Presentation</dc:subject>
  <dc:creator>PptxGenJS</dc:creator>
  <cp:lastModifiedBy>Obidjon Bozorov</cp:lastModifiedBy>
  <cp:revision>1</cp:revision>
  <dcterms:created xsi:type="dcterms:W3CDTF">2026-09-26T12:39:14Z</dcterms:created>
  <dcterms:modified xsi:type="dcterms:W3CDTF">2026-10-07T05:07:02Z</dcterms:modified>
</cp:coreProperties>
</file>