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10-ma'ruza troyan oti muammosi bilan tugagan edi: DAC da dastur foydalanuvchi huquqlari bilan maxfiy faylni ochiq joyga ko'chira oladi. Bugun bunga javob — mandatli foydalanish nazorati (MAC): qarorni egasi emas, tizim siyosati qabul qiladi. Uchta klassik model va ularning Windows'dagi izi — yaxlitlik darajalari (MIC).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Tizimda — egasi ham, uning dasturi ham qoidani o'zgartira olmasligi kerak. 2) Ma'lumotning maxfiylik darajasiga (yorlig'iga) — va sub'ektning ruxsatnoma darajasiga. 3) Faqat vakolatli organ yoki maxsus tartib (maxfiylikdan chiqarish) — oddiy foydalanuvchi emas. Bu MAC ning mohiyati.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Ruxsatnoma (clearance) — sub'ektga berilgan daraja; maxfiylik darajasi (classification) — obyektga berilgan daraja. Qonun 2025-yil 29-martdan kuchga kirgan; vakolatli organ — Davlat xavfsizlik xizmati. Kiberxavfsizlik asoslari [1] darsligida mandatli foydalanishni boshqarish usuli bilan solishtiring. MAC odatda DAC bilan birga ishlaydi: avval MAC tekshiriladi, keyin DAC (BLP dagi ds-xossa).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Panjara (lattice) — har qanday ikki element uchun eng kichik yuqori chegara va eng katta quyi chegara mavjud bo'lgan qisman tartiblangan to'plam. Diagramma to'liq panjara emas, uning bir qismi. Daraja nomlari o'quv maqsadida shartli olingan; amaldagi davlat tizimlarida maxfiylik darajalari qonun va vakolatli organ hujjatlari bilan belgilanadi. Toifalar (kompartmentlar) — 'bilish zarurati': Maxfiy darajadagi xodim ham faqat o'z toifasidagi hujjatlarni ko'radi.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Bell, L.J. LaPadula — MITRE, 1973 (asosiy model), 1976 (Multics talqini). AQSh harbiy tizimlari uchun yaratilgan, TCSEC ning B sinflari asosi. Chapdagi diagrammada sub'ekt 'Maxfiy' darajasida: pastdagilarni o'qiy oladi, lekin ularga yoza olmaydi; yuqoridagilarga yoza oladi ('ko'r' yozish), lekin o'qiy olmaydi. 'Ko'r' yuqoriga yozish maxfiylikni buzmaydi, lekin yaxlitlikni buzishi mumkin — Biba ga ko'prik.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10-ma'ruzadagi 11-slayd bilan to'g'ridan-to'g'ri solishtiring: xuddi shu to'rtta qadam, faqat oxirgisi endi rad etiladi. Muhim: BLP da jarayon foydalanuvchining joriy darajasini oladi; foydalanuvchi 'Ichki' darajada ishlashni tanlasa, maxfiy fayllarni o'qiy olmaydi, lekin ichki fayllarga yoza oladi. Bu 'tizimga kirishda darajani tanlash' — ko'p darajali xavfsiz (MLS) tizimlarda odatiy.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 — Maxfiy{Moliya} ≥ Ichki{Moliya} (oddiy xavfsizlik xossasi). b) Yo'q — pastga yozish (*-xossa). c) Yo'q — {Moliya} ⊉ {Kadrlar}, darajalar taqqoslanmaydi; toifa bo'yicha 'bilish zarurati' yo'q. d) Ha — yuqoriga ko'r yozish ruxsat etilgan (O'ta maxfiy{Moliya} ≥ Maxfiy{Moliya}). Lekin Aziz arxivni o'qiy olmaydi va u yerdagi ma'lumotni buzishi mumkin — yaxlitlik buziladi. BLP yaxlitlikni himoyalamaydi → Biba.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 McLean ning 'System Z' tanqidi: agar tizim istalgan paytda yorliqlarni o'zgartira olsa (masalan, har bir so'rovdan oldin hamma narsani eng past darajaga tushirsa), BLP ning 'xavfsiz holat' ta'rifi formal bajariladi, lekin tizim amalda xavfsiz emas. Xulosa: holatlar emas, o'tishlar (yorliqlarni o'zgartirish qoidalari) ham nazorat qilinishi kerak. Bu 12-ma'ruzadagi axborot oqimi va aralashmaslik (non-interference) modellariga olib keladi.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K.J. Biba, 'Integrity Considerations for Secure Computer Systems', MITRE, 1977. Biba — BLP ning 'ko'zgudagi aksi': maxfiylik uchun ma'lumot pastga oqmasligi kerak; yaxlitlik uchun — ifloslik yuqoriga ko'tarilmasligi kerak. Chapdagi diagrammada sub'ekt 'O'rta' darajada: yuqoridagilarni o'qiy oladi (ishonchli manba), pastdagilarni o'qiy olmaydi; pastga yoza oladi, yuqoriga yoza olmaydi. Maxfiylik va yaxlitlik ko'pincha qarama-qarshi talab qo'yadi — bitta tizimda ikkalasini birga qo'llash qiyin.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Clark, D. Wilson, 'A Comparison of Commercial and Military Computer Security Policies', IEEE S&amp;P, 1987. Bank va buxgalteriya amaliyotiga asoslangan: ikki yozuvli buxgalteriya (IVP), tasdiqlash, vazifalarni ajratish. Model 9 ta qoidadan iborat: sertifikatlash qoidalari (C1–C5) — ma'mur tekshiradigan; majburlash qoidalari (E1–E4) — tizim bajaradigan. HEMIS misolida: o'qituvchi baholar jadvalini SQL orqali to'g'ridan-to'g'ri o'zgartira olmaydi, faqat 'baho kiritish' funksiyasi orqali — u baho oralig'ini, muddatni tekshiradi va jurnalga yozadi. Bu RBAC (M13) ga ham yaqin: TP — ruxsat, uchlik — rol tayinlash.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Talabalar bilan jadvalni ikki qatorga qisqartiring: BLP — 'no read up, no write down'; Biba — 'no read down, no write up'. Clark-Wilson esa darajalar bilan emas, dasturlar bilan ishlaydi — shu sababli tijorat tizimlarida eng ko'p qo'llanadi.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Learn, 'Mandatory Integrity Control'. MIC Windows Vista dan beri mavjud. Yaxlitlik darajasi yorlig'i bo'lmagan obyektlar O'rta (Medium) deb hisoblanadi. Medium Plus (S-1-16-8448) va Protected Process (S-1-16-20480) darajalari ham bor. UAC aynan shu mexanizmga tayanadi: ma'mur ham odatda O'rta darajadagi token bilan ishlaydi, 'Run as administrator' esa Yuqori darajali token beradi. Bu to'liq MAC emas — faqat yaxlitlik qismi va faqat bitta qoida — lekin u troyanning tizimni buzishiga qarshi muhim to'siq.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Barcha buyruqlar Windows 10/11 ning standart vositalari. LocalLow — past yaxlitlikdagi ilovalar (masalan, brauzer plaginlari) yoza oladigan yagona profil papkasi; unga 'Low Mandatory Level' yorlig'i qo'yilgan. 4-buyruq: C:\Lab\yuklamalar papkasini oldindan yarating; 'icacls C:\Lab\yuklamalar' bilan yorliq qo'yilganini tekshiring. Savolga javob: UAC — eng kam imtiyoz; troyan O'rta darajada ishga tushsa, tizim fayllariga (Yuqori/Tizim) yoza olmaydi. Process Explorer: learn.microsoft.com/sysinternals.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PPL — Protected Process Light; LSA himoyasi (RunAsPPL) LSASS ni himoyalangan jarayon sifatida ishga tushiradi va Mimikatz kabi vositalarning xotirani o'qishiga to'sqinlik qiladi. Sezgirlik yorliqlari: Microsoft Purview Information Protection — Word, Excel, Outlook va Windows File Explorer da ishlaydi; yorliq shifrlash va foydalanish huquqlarini hujjat bilan birga olib yuradi. Lekin foydalanuvchi odatda yorliqni o'zgartira oladi (tashkilot siyosati asoslash talab qilishi mumkin) — shuning uchun bu to'liq MAC emas, 'yo'naltirilgan DAC'. Ma'lumotlar sizishining oldini olish (DLP) — 12-ma'ruzada.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Yo'q — NO_WRITE_UP; Biba ga mos. b) Ha — standart holda o'qish taqiqlanmaydi; Biba bo'yicha 'pastdan o'qima' qoidasi sub'ektga tegishli (Low jarayon Medium ni o'qish — yuqoriga o'qish, Biba ruxsat beradi). Diqqat: bu maxfiylik uchun xavf — Low jarayon foydalanuvchi hujjatlarini o'qiy oladi; shuning uchun zamonaviy brauzerlar AppContainer dan ham foydalanadi. c) Ha — pastga yozish Biba da ruxsat etilgan. d) Yo'q — troyan va fayl bir xil darajada; MIC tizimni past ishonchli koddan himoyalaydi, foydalanuvchi ma'lumotlarini bir darajadagi troyandan emas. Bunga qarshi — AppLocker/WDAC, sezgirlik yorliqlari va DLP.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Javoblar: 1-B, 2-C, 3-B, 4-B.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2.png"/><Relationship Id="rId4" Type="http://schemas.openxmlformats.org/officeDocument/2006/relationships/image" Target="../media/image-3-2.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326880" y="-1828800"/>
            <a:ext cx="5120640" cy="5120640"/>
          </a:xfrm>
          <a:prstGeom prst="ellipse">
            <a:avLst/>
          </a:prstGeom>
          <a:solidFill>
            <a:srgbClr val="2A3778"/>
          </a:solidFill>
          <a:ln/>
        </p:spPr>
      </p:sp>
      <p:sp>
        <p:nvSpPr>
          <p:cNvPr id="3" name="Shape 1"/>
          <p:cNvSpPr/>
          <p:nvPr/>
        </p:nvSpPr>
        <p:spPr>
          <a:xfrm>
            <a:off x="10515600" y="4023360"/>
            <a:ext cx="3291840" cy="3291840"/>
          </a:xfrm>
          <a:prstGeom prst="ellipse">
            <a:avLst/>
          </a:prstGeom>
          <a:solidFill>
            <a:srgbClr val="2A3778"/>
          </a:solidFill>
          <a:ln/>
        </p:spPr>
      </p:sp>
      <p:sp>
        <p:nvSpPr>
          <p:cNvPr id="4" name="Shape 2"/>
          <p:cNvSpPr/>
          <p:nvPr/>
        </p:nvSpPr>
        <p:spPr>
          <a:xfrm>
            <a:off x="822960" y="685800"/>
            <a:ext cx="868680" cy="868680"/>
          </a:xfrm>
          <a:prstGeom prst="ellipse">
            <a:avLst/>
          </a:prstGeom>
          <a:solidFill>
            <a:srgbClr val="2A3778"/>
          </a:solidFill>
          <a:ln/>
        </p:spPr>
      </p:sp>
      <p:pic>
        <p:nvPicPr>
          <p:cNvPr id="5" name="Image 0" descr="/home/claude/fob-slides/icons_out/lock_white.png"/>
          <p:cNvPicPr>
            <a:picLocks noChangeAspect="1"/>
          </p:cNvPicPr>
          <p:nvPr/>
        </p:nvPicPr>
        <p:blipFill>
          <a:blip r:embed="rId1"/>
          <a:stretch>
            <a:fillRect/>
          </a:stretch>
        </p:blipFill>
        <p:spPr>
          <a:xfrm>
            <a:off x="1040130" y="902970"/>
            <a:ext cx="434340" cy="434340"/>
          </a:xfrm>
          <a:prstGeom prst="rect">
            <a:avLst/>
          </a:prstGeom>
        </p:spPr>
      </p:pic>
      <p:sp>
        <p:nvSpPr>
          <p:cNvPr id="6" name="Text 3"/>
          <p:cNvSpPr txBox="1"/>
          <p:nvPr/>
        </p:nvSpPr>
        <p:spPr>
          <a:xfrm>
            <a:off x="822960" y="1783080"/>
            <a:ext cx="10241280" cy="411480"/>
          </a:xfrm>
          <a:prstGeom prst="rect">
            <a:avLst/>
          </a:prstGeom>
          <a:noFill/>
          <a:ln/>
        </p:spPr>
        <p:txBody>
          <a:bodyPr wrap="square" lIns="0" tIns="0" rIns="0" bIns="0" rtlCol="0" anchor="t"/>
          <a:lstStyle/>
          <a:p>
            <a:pPr algn="l" indent="0" marL="0">
              <a:lnSpc>
                <a:spcPct val="100000"/>
              </a:lnSpc>
              <a:buNone/>
            </a:pPr>
            <a:r>
              <a:rPr lang="en-US" sz="1700" b="1" dirty="0">
                <a:solidFill>
                  <a:srgbClr val="CADCFC"/>
                </a:solidFill>
                <a:latin typeface="Times New Roman" pitchFamily="34" charset="0"/>
                <a:ea typeface="Times New Roman" pitchFamily="34" charset="-122"/>
                <a:cs typeface="Times New Roman" pitchFamily="34" charset="-120"/>
              </a:rPr>
              <a:t>FOYDALANISHLARNI BOSHQARISH  ·  FOB1506  ·  11-MA'RUZA</a:t>
            </a:r>
            <a:endParaRPr lang="en-US" sz="1700" dirty="0"/>
          </a:p>
        </p:txBody>
      </p:sp>
      <p:sp>
        <p:nvSpPr>
          <p:cNvPr id="7" name="Text 4"/>
          <p:cNvSpPr txBox="1"/>
          <p:nvPr/>
        </p:nvSpPr>
        <p:spPr>
          <a:xfrm>
            <a:off x="822960" y="2240280"/>
            <a:ext cx="9875520" cy="1371600"/>
          </a:xfrm>
          <a:prstGeom prst="rect">
            <a:avLst/>
          </a:prstGeom>
          <a:noFill/>
          <a:ln/>
        </p:spPr>
        <p:txBody>
          <a:bodyPr wrap="square" lIns="0" tIns="0" rIns="0" bIns="0" rtlCol="0" anchor="t"/>
          <a:lstStyle/>
          <a:p>
            <a:pPr algn="l" indent="0" marL="0">
              <a:lnSpc>
                <a:spcPct val="100000"/>
              </a:lnSpc>
              <a:buNone/>
            </a:pPr>
            <a:r>
              <a:rPr lang="en-US" sz="4400" b="1" dirty="0">
                <a:solidFill>
                  <a:srgbClr val="FFFFFF"/>
                </a:solidFill>
                <a:latin typeface="Times New Roman" pitchFamily="34" charset="0"/>
                <a:ea typeface="Times New Roman" pitchFamily="34" charset="-122"/>
                <a:cs typeface="Times New Roman" pitchFamily="34" charset="-120"/>
              </a:rPr>
              <a:t>Mandatli foydalanishni boshqarish: MAC, Bell–LaPadula, Biba va Clark–Wilson modellari</a:t>
            </a:r>
            <a:endParaRPr lang="en-US" sz="4400" dirty="0"/>
          </a:p>
        </p:txBody>
      </p:sp>
      <p:sp>
        <p:nvSpPr>
          <p:cNvPr id="8" name="Text 5"/>
          <p:cNvSpPr txBox="1"/>
          <p:nvPr/>
        </p:nvSpPr>
        <p:spPr>
          <a:xfrm>
            <a:off x="822960" y="3657600"/>
            <a:ext cx="10058400" cy="457200"/>
          </a:xfrm>
          <a:prstGeom prst="rect">
            <a:avLst/>
          </a:prstGeom>
          <a:noFill/>
          <a:ln/>
        </p:spPr>
        <p:txBody>
          <a:bodyPr wrap="square" lIns="0" tIns="0" rIns="0" bIns="0" rtlCol="0" anchor="t"/>
          <a:lstStyle/>
          <a:p>
            <a:pPr algn="l" indent="0" marL="0">
              <a:lnSpc>
                <a:spcPct val="100000"/>
              </a:lnSpc>
              <a:buNone/>
            </a:pPr>
            <a:r>
              <a:rPr lang="en-US" sz="2000" dirty="0">
                <a:solidFill>
                  <a:srgbClr val="CADCFC"/>
                </a:solidFill>
                <a:latin typeface="Times New Roman" pitchFamily="34" charset="0"/>
                <a:ea typeface="Times New Roman" pitchFamily="34" charset="-122"/>
                <a:cs typeface="Times New Roman" pitchFamily="34" charset="-120"/>
              </a:rPr>
              <a:t>Yorliqlarni tizim belgilaydi — Windows yaxlitlik darajalari misolida</a:t>
            </a:r>
            <a:endParaRPr lang="en-US" sz="2000" dirty="0"/>
          </a:p>
        </p:txBody>
      </p:sp>
      <p:sp>
        <p:nvSpPr>
          <p:cNvPr id="9" name="Shape 6"/>
          <p:cNvSpPr/>
          <p:nvPr/>
        </p:nvSpPr>
        <p:spPr>
          <a:xfrm>
            <a:off x="822960" y="4434840"/>
            <a:ext cx="1143000" cy="438912"/>
          </a:xfrm>
          <a:prstGeom prst="roundRect">
            <a:avLst>
              <a:gd name="adj" fmla="val 50000"/>
            </a:avLst>
          </a:prstGeom>
          <a:solidFill>
            <a:srgbClr val="2A3778"/>
          </a:solidFill>
          <a:ln/>
        </p:spPr>
      </p:sp>
      <p:sp>
        <p:nvSpPr>
          <p:cNvPr id="10" name="Text 7"/>
          <p:cNvSpPr txBox="1"/>
          <p:nvPr/>
        </p:nvSpPr>
        <p:spPr>
          <a:xfrm>
            <a:off x="822960" y="4434840"/>
            <a:ext cx="11430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2 soat</a:t>
            </a:r>
            <a:endParaRPr lang="en-US" sz="1400" dirty="0"/>
          </a:p>
        </p:txBody>
      </p:sp>
      <p:sp>
        <p:nvSpPr>
          <p:cNvPr id="11" name="Shape 8"/>
          <p:cNvSpPr/>
          <p:nvPr/>
        </p:nvSpPr>
        <p:spPr>
          <a:xfrm>
            <a:off x="2148840" y="4434840"/>
            <a:ext cx="2628900" cy="438912"/>
          </a:xfrm>
          <a:prstGeom prst="roundRect">
            <a:avLst>
              <a:gd name="adj" fmla="val 50000"/>
            </a:avLst>
          </a:prstGeom>
          <a:solidFill>
            <a:srgbClr val="2A3778"/>
          </a:solidFill>
          <a:ln/>
        </p:spPr>
      </p:sp>
      <p:sp>
        <p:nvSpPr>
          <p:cNvPr id="12" name="Text 9"/>
          <p:cNvSpPr txBox="1"/>
          <p:nvPr/>
        </p:nvSpPr>
        <p:spPr>
          <a:xfrm>
            <a:off x="2148840" y="4434840"/>
            <a:ext cx="26289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18 ma'ruzadan 11-si</a:t>
            </a:r>
            <a:endParaRPr lang="en-US" sz="1400" dirty="0"/>
          </a:p>
        </p:txBody>
      </p:sp>
      <p:sp>
        <p:nvSpPr>
          <p:cNvPr id="13" name="Shape 10"/>
          <p:cNvSpPr/>
          <p:nvPr/>
        </p:nvSpPr>
        <p:spPr>
          <a:xfrm>
            <a:off x="4960620" y="4434840"/>
            <a:ext cx="1714500" cy="438912"/>
          </a:xfrm>
          <a:prstGeom prst="roundRect">
            <a:avLst>
              <a:gd name="adj" fmla="val 50000"/>
            </a:avLst>
          </a:prstGeom>
          <a:solidFill>
            <a:srgbClr val="2A3778"/>
          </a:solidFill>
          <a:ln/>
        </p:spPr>
      </p:sp>
      <p:sp>
        <p:nvSpPr>
          <p:cNvPr id="14" name="Text 11"/>
          <p:cNvSpPr txBox="1"/>
          <p:nvPr/>
        </p:nvSpPr>
        <p:spPr>
          <a:xfrm>
            <a:off x="4960620" y="4434840"/>
            <a:ext cx="17145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Amaliy: A11</a:t>
            </a:r>
            <a:endParaRPr lang="en-US" sz="1400" dirty="0"/>
          </a:p>
        </p:txBody>
      </p:sp>
      <p:sp>
        <p:nvSpPr>
          <p:cNvPr id="15" name="Shape 12"/>
          <p:cNvSpPr/>
          <p:nvPr/>
        </p:nvSpPr>
        <p:spPr>
          <a:xfrm>
            <a:off x="6858000" y="4434840"/>
            <a:ext cx="2400300" cy="438912"/>
          </a:xfrm>
          <a:prstGeom prst="roundRect">
            <a:avLst>
              <a:gd name="adj" fmla="val 50000"/>
            </a:avLst>
          </a:prstGeom>
          <a:solidFill>
            <a:srgbClr val="2A3778"/>
          </a:solidFill>
          <a:ln/>
        </p:spPr>
      </p:sp>
      <p:sp>
        <p:nvSpPr>
          <p:cNvPr id="16" name="Text 13"/>
          <p:cNvSpPr txBox="1"/>
          <p:nvPr/>
        </p:nvSpPr>
        <p:spPr>
          <a:xfrm>
            <a:off x="6858000" y="4434840"/>
            <a:ext cx="24003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Windows namoyishi</a:t>
            </a:r>
            <a:endParaRPr lang="en-US" sz="1400" dirty="0"/>
          </a:p>
        </p:txBody>
      </p:sp>
      <p:sp>
        <p:nvSpPr>
          <p:cNvPr id="17" name="Text 14"/>
          <p:cNvSpPr txBox="1"/>
          <p:nvPr/>
        </p:nvSpPr>
        <p:spPr>
          <a:xfrm>
            <a:off x="822960" y="5897880"/>
            <a:ext cx="9144000" cy="365760"/>
          </a:xfrm>
          <a:prstGeom prst="rect">
            <a:avLst/>
          </a:prstGeom>
          <a:noFill/>
          <a:ln/>
        </p:spPr>
        <p:txBody>
          <a:bodyPr wrap="square" lIns="0" tIns="0" rIns="0" bIns="0" rtlCol="0" anchor="t"/>
          <a:lstStyle/>
          <a:p>
            <a:pPr algn="l" indent="0" marL="0">
              <a:lnSpc>
                <a:spcPct val="100000"/>
              </a:lnSpc>
              <a:buNone/>
            </a:pPr>
            <a:r>
              <a:rPr lang="en-US" sz="1400" dirty="0">
                <a:solidFill>
                  <a:srgbClr val="9FB0E0"/>
                </a:solidFill>
                <a:latin typeface="Times New Roman" pitchFamily="34" charset="0"/>
                <a:ea typeface="Times New Roman" pitchFamily="34" charset="-122"/>
                <a:cs typeface="Times New Roman" pitchFamily="34" charset="-120"/>
              </a:rPr>
              <a:t>Mirzo Ulug'bek nomidagi O'zbekiston Milliy universiteti  ·  Axborot xavfsizligi kafedrasi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DARS XARITASI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Bugungi ma'ruza qanday quriladi</a:t>
            </a:r>
            <a:endParaRPr lang="en-US" sz="3600" dirty="0"/>
          </a:p>
        </p:txBody>
      </p:sp>
      <p:sp>
        <p:nvSpPr>
          <p:cNvPr id="4" name="Shape 2"/>
          <p:cNvSpPr/>
          <p:nvPr/>
        </p:nvSpPr>
        <p:spPr>
          <a:xfrm>
            <a:off x="548640" y="1783080"/>
            <a:ext cx="7863840" cy="914400"/>
          </a:xfrm>
          <a:prstGeom prst="roundRect">
            <a:avLst>
              <a:gd name="adj" fmla="val 9000"/>
            </a:avLst>
          </a:prstGeom>
          <a:solidFill>
            <a:srgbClr val="EEF2FB"/>
          </a:solidFill>
          <a:ln/>
        </p:spPr>
      </p:sp>
      <p:sp>
        <p:nvSpPr>
          <p:cNvPr id="5" name="Shape 3"/>
          <p:cNvSpPr/>
          <p:nvPr/>
        </p:nvSpPr>
        <p:spPr>
          <a:xfrm>
            <a:off x="548640" y="1783080"/>
            <a:ext cx="914400" cy="914400"/>
          </a:xfrm>
          <a:prstGeom prst="roundRect">
            <a:avLst>
              <a:gd name="adj" fmla="val 9000"/>
            </a:avLst>
          </a:prstGeom>
          <a:solidFill>
            <a:srgbClr val="1E2761"/>
          </a:solidFill>
          <a:ln/>
        </p:spPr>
      </p:sp>
      <p:sp>
        <p:nvSpPr>
          <p:cNvPr id="6" name="Text 4"/>
          <p:cNvSpPr txBox="1"/>
          <p:nvPr/>
        </p:nvSpPr>
        <p:spPr>
          <a:xfrm>
            <a:off x="548640" y="1783080"/>
            <a:ext cx="914400" cy="914400"/>
          </a:xfrm>
          <a:prstGeom prst="rect">
            <a:avLst/>
          </a:prstGeom>
          <a:noFill/>
          <a:ln/>
        </p:spPr>
        <p:txBody>
          <a:bodyPr wrap="square" lIns="50800" tIns="50800" rIns="50800" bIns="50800" rtlCol="0" anchor="ctr"/>
          <a:lstStyle/>
          <a:p>
            <a:pPr algn="ctr" indent="0" marL="0">
              <a:lnSpc>
                <a:spcPct val="100000"/>
              </a:lnSpc>
              <a:buNone/>
            </a:pPr>
            <a:r>
              <a:rPr lang="en-US" sz="2600" b="1" dirty="0">
                <a:solidFill>
                  <a:srgbClr val="FFFFFF"/>
                </a:solidFill>
                <a:latin typeface="Times New Roman" pitchFamily="34" charset="0"/>
                <a:ea typeface="Times New Roman" pitchFamily="34" charset="-122"/>
                <a:cs typeface="Times New Roman" pitchFamily="34" charset="-120"/>
              </a:rPr>
              <a:t>I</a:t>
            </a:r>
            <a:endParaRPr lang="en-US" sz="2600" dirty="0"/>
          </a:p>
        </p:txBody>
      </p:sp>
      <p:sp>
        <p:nvSpPr>
          <p:cNvPr id="7" name="Text 5"/>
          <p:cNvSpPr txBox="1"/>
          <p:nvPr/>
        </p:nvSpPr>
        <p:spPr>
          <a:xfrm>
            <a:off x="1691640" y="1856232"/>
            <a:ext cx="5394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MAC tushunchasi</a:t>
            </a:r>
            <a:endParaRPr lang="en-US" sz="2000" dirty="0"/>
          </a:p>
        </p:txBody>
      </p:sp>
      <p:sp>
        <p:nvSpPr>
          <p:cNvPr id="8" name="Text 6"/>
          <p:cNvSpPr txBox="1"/>
          <p:nvPr/>
        </p:nvSpPr>
        <p:spPr>
          <a:xfrm>
            <a:off x="1691640" y="2258568"/>
            <a:ext cx="5669280" cy="384048"/>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Yorliqlar, darajalar, panjara</a:t>
            </a:r>
            <a:endParaRPr lang="en-US" sz="1600" dirty="0"/>
          </a:p>
        </p:txBody>
      </p:sp>
      <p:sp>
        <p:nvSpPr>
          <p:cNvPr id="9" name="Text 7"/>
          <p:cNvSpPr txBox="1"/>
          <p:nvPr/>
        </p:nvSpPr>
        <p:spPr>
          <a:xfrm>
            <a:off x="7223760" y="1874520"/>
            <a:ext cx="1051560" cy="365760"/>
          </a:xfrm>
          <a:prstGeom prst="rect">
            <a:avLst/>
          </a:prstGeom>
          <a:noFill/>
          <a:ln/>
        </p:spPr>
        <p:txBody>
          <a:bodyPr wrap="square" lIns="0" tIns="0" rIns="0" bIns="0" rtlCol="0" anchor="t"/>
          <a:lstStyle/>
          <a:p>
            <a:pPr algn="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~15 daq.</a:t>
            </a:r>
            <a:endParaRPr lang="en-US" sz="1600" dirty="0"/>
          </a:p>
        </p:txBody>
      </p:sp>
      <p:sp>
        <p:nvSpPr>
          <p:cNvPr id="10" name="Shape 8"/>
          <p:cNvSpPr/>
          <p:nvPr/>
        </p:nvSpPr>
        <p:spPr>
          <a:xfrm>
            <a:off x="548640" y="2816352"/>
            <a:ext cx="7863840" cy="914400"/>
          </a:xfrm>
          <a:prstGeom prst="roundRect">
            <a:avLst>
              <a:gd name="adj" fmla="val 9000"/>
            </a:avLst>
          </a:prstGeom>
          <a:solidFill>
            <a:srgbClr val="EEF2FB"/>
          </a:solidFill>
          <a:ln/>
        </p:spPr>
      </p:sp>
      <p:sp>
        <p:nvSpPr>
          <p:cNvPr id="11" name="Shape 9"/>
          <p:cNvSpPr/>
          <p:nvPr/>
        </p:nvSpPr>
        <p:spPr>
          <a:xfrm>
            <a:off x="548640" y="2816352"/>
            <a:ext cx="914400" cy="914400"/>
          </a:xfrm>
          <a:prstGeom prst="roundRect">
            <a:avLst>
              <a:gd name="adj" fmla="val 9000"/>
            </a:avLst>
          </a:prstGeom>
          <a:solidFill>
            <a:srgbClr val="1E2761"/>
          </a:solidFill>
          <a:ln/>
        </p:spPr>
      </p:sp>
      <p:sp>
        <p:nvSpPr>
          <p:cNvPr id="12" name="Text 10"/>
          <p:cNvSpPr txBox="1"/>
          <p:nvPr/>
        </p:nvSpPr>
        <p:spPr>
          <a:xfrm>
            <a:off x="548640" y="2816352"/>
            <a:ext cx="914400" cy="914400"/>
          </a:xfrm>
          <a:prstGeom prst="rect">
            <a:avLst/>
          </a:prstGeom>
          <a:noFill/>
          <a:ln/>
        </p:spPr>
        <p:txBody>
          <a:bodyPr wrap="square" lIns="50800" tIns="50800" rIns="50800" bIns="50800" rtlCol="0" anchor="ctr"/>
          <a:lstStyle/>
          <a:p>
            <a:pPr algn="ctr" indent="0" marL="0">
              <a:lnSpc>
                <a:spcPct val="100000"/>
              </a:lnSpc>
              <a:buNone/>
            </a:pPr>
            <a:r>
              <a:rPr lang="en-US" sz="2600" b="1" dirty="0">
                <a:solidFill>
                  <a:srgbClr val="FFFFFF"/>
                </a:solidFill>
                <a:latin typeface="Times New Roman" pitchFamily="34" charset="0"/>
                <a:ea typeface="Times New Roman" pitchFamily="34" charset="-122"/>
                <a:cs typeface="Times New Roman" pitchFamily="34" charset="-120"/>
              </a:rPr>
              <a:t>II</a:t>
            </a:r>
            <a:endParaRPr lang="en-US" sz="2600" dirty="0"/>
          </a:p>
        </p:txBody>
      </p:sp>
      <p:sp>
        <p:nvSpPr>
          <p:cNvPr id="13" name="Text 11"/>
          <p:cNvSpPr txBox="1"/>
          <p:nvPr/>
        </p:nvSpPr>
        <p:spPr>
          <a:xfrm>
            <a:off x="1691640" y="2889504"/>
            <a:ext cx="5394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Bell-LaPadula: maxfiylik</a:t>
            </a:r>
            <a:endParaRPr lang="en-US" sz="2000" dirty="0"/>
          </a:p>
        </p:txBody>
      </p:sp>
      <p:sp>
        <p:nvSpPr>
          <p:cNvPr id="14" name="Text 12"/>
          <p:cNvSpPr txBox="1"/>
          <p:nvPr/>
        </p:nvSpPr>
        <p:spPr>
          <a:xfrm>
            <a:off x="1691640" y="3291840"/>
            <a:ext cx="5669280" cy="384048"/>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Yuqoriga o'qimaslik, pastga yozmaslik</a:t>
            </a:r>
            <a:endParaRPr lang="en-US" sz="1600" dirty="0"/>
          </a:p>
        </p:txBody>
      </p:sp>
      <p:sp>
        <p:nvSpPr>
          <p:cNvPr id="15" name="Text 13"/>
          <p:cNvSpPr txBox="1"/>
          <p:nvPr/>
        </p:nvSpPr>
        <p:spPr>
          <a:xfrm>
            <a:off x="7223760" y="2907792"/>
            <a:ext cx="1051560" cy="365760"/>
          </a:xfrm>
          <a:prstGeom prst="rect">
            <a:avLst/>
          </a:prstGeom>
          <a:noFill/>
          <a:ln/>
        </p:spPr>
        <p:txBody>
          <a:bodyPr wrap="square" lIns="0" tIns="0" rIns="0" bIns="0" rtlCol="0" anchor="t"/>
          <a:lstStyle/>
          <a:p>
            <a:pPr algn="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~25 daq.</a:t>
            </a:r>
            <a:endParaRPr lang="en-US" sz="1600" dirty="0"/>
          </a:p>
        </p:txBody>
      </p:sp>
      <p:sp>
        <p:nvSpPr>
          <p:cNvPr id="16" name="Shape 14"/>
          <p:cNvSpPr/>
          <p:nvPr/>
        </p:nvSpPr>
        <p:spPr>
          <a:xfrm>
            <a:off x="548640" y="3849624"/>
            <a:ext cx="7863840" cy="914400"/>
          </a:xfrm>
          <a:prstGeom prst="roundRect">
            <a:avLst>
              <a:gd name="adj" fmla="val 9000"/>
            </a:avLst>
          </a:prstGeom>
          <a:solidFill>
            <a:srgbClr val="EEF2FB"/>
          </a:solidFill>
          <a:ln/>
        </p:spPr>
      </p:sp>
      <p:sp>
        <p:nvSpPr>
          <p:cNvPr id="17" name="Shape 15"/>
          <p:cNvSpPr/>
          <p:nvPr/>
        </p:nvSpPr>
        <p:spPr>
          <a:xfrm>
            <a:off x="548640" y="3849624"/>
            <a:ext cx="914400" cy="914400"/>
          </a:xfrm>
          <a:prstGeom prst="roundRect">
            <a:avLst>
              <a:gd name="adj" fmla="val 9000"/>
            </a:avLst>
          </a:prstGeom>
          <a:solidFill>
            <a:srgbClr val="1E2761"/>
          </a:solidFill>
          <a:ln/>
        </p:spPr>
      </p:sp>
      <p:sp>
        <p:nvSpPr>
          <p:cNvPr id="18" name="Text 16"/>
          <p:cNvSpPr txBox="1"/>
          <p:nvPr/>
        </p:nvSpPr>
        <p:spPr>
          <a:xfrm>
            <a:off x="548640" y="3849624"/>
            <a:ext cx="914400" cy="914400"/>
          </a:xfrm>
          <a:prstGeom prst="rect">
            <a:avLst/>
          </a:prstGeom>
          <a:noFill/>
          <a:ln/>
        </p:spPr>
        <p:txBody>
          <a:bodyPr wrap="square" lIns="50800" tIns="50800" rIns="50800" bIns="50800" rtlCol="0" anchor="ctr"/>
          <a:lstStyle/>
          <a:p>
            <a:pPr algn="ctr" indent="0" marL="0">
              <a:lnSpc>
                <a:spcPct val="100000"/>
              </a:lnSpc>
              <a:buNone/>
            </a:pPr>
            <a:r>
              <a:rPr lang="en-US" sz="2600" b="1" dirty="0">
                <a:solidFill>
                  <a:srgbClr val="FFFFFF"/>
                </a:solidFill>
                <a:latin typeface="Times New Roman" pitchFamily="34" charset="0"/>
                <a:ea typeface="Times New Roman" pitchFamily="34" charset="-122"/>
                <a:cs typeface="Times New Roman" pitchFamily="34" charset="-120"/>
              </a:rPr>
              <a:t>III</a:t>
            </a:r>
            <a:endParaRPr lang="en-US" sz="2600" dirty="0"/>
          </a:p>
        </p:txBody>
      </p:sp>
      <p:sp>
        <p:nvSpPr>
          <p:cNvPr id="19" name="Text 17"/>
          <p:cNvSpPr txBox="1"/>
          <p:nvPr/>
        </p:nvSpPr>
        <p:spPr>
          <a:xfrm>
            <a:off x="1691640" y="3922776"/>
            <a:ext cx="5394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Biba va Clark-Wilson: yaxlitlik</a:t>
            </a:r>
            <a:endParaRPr lang="en-US" sz="2000" dirty="0"/>
          </a:p>
        </p:txBody>
      </p:sp>
      <p:sp>
        <p:nvSpPr>
          <p:cNvPr id="20" name="Text 18"/>
          <p:cNvSpPr txBox="1"/>
          <p:nvPr/>
        </p:nvSpPr>
        <p:spPr>
          <a:xfrm>
            <a:off x="1691640" y="4325112"/>
            <a:ext cx="5669280" cy="384048"/>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Teskari qoidalar, to'g'ri tuzilgan tranzaksiyalar</a:t>
            </a:r>
            <a:endParaRPr lang="en-US" sz="1600" dirty="0"/>
          </a:p>
        </p:txBody>
      </p:sp>
      <p:sp>
        <p:nvSpPr>
          <p:cNvPr id="21" name="Text 19"/>
          <p:cNvSpPr txBox="1"/>
          <p:nvPr/>
        </p:nvSpPr>
        <p:spPr>
          <a:xfrm>
            <a:off x="7223760" y="3941064"/>
            <a:ext cx="1051560" cy="365760"/>
          </a:xfrm>
          <a:prstGeom prst="rect">
            <a:avLst/>
          </a:prstGeom>
          <a:noFill/>
          <a:ln/>
        </p:spPr>
        <p:txBody>
          <a:bodyPr wrap="square" lIns="0" tIns="0" rIns="0" bIns="0" rtlCol="0" anchor="t"/>
          <a:lstStyle/>
          <a:p>
            <a:pPr algn="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~20 daq.</a:t>
            </a:r>
            <a:endParaRPr lang="en-US" sz="1600" dirty="0"/>
          </a:p>
        </p:txBody>
      </p:sp>
      <p:sp>
        <p:nvSpPr>
          <p:cNvPr id="22" name="Shape 20"/>
          <p:cNvSpPr/>
          <p:nvPr/>
        </p:nvSpPr>
        <p:spPr>
          <a:xfrm>
            <a:off x="548640" y="4882896"/>
            <a:ext cx="7863840" cy="914400"/>
          </a:xfrm>
          <a:prstGeom prst="roundRect">
            <a:avLst>
              <a:gd name="adj" fmla="val 9000"/>
            </a:avLst>
          </a:prstGeom>
          <a:solidFill>
            <a:srgbClr val="EEF2FB"/>
          </a:solidFill>
          <a:ln/>
        </p:spPr>
      </p:sp>
      <p:sp>
        <p:nvSpPr>
          <p:cNvPr id="23" name="Shape 21"/>
          <p:cNvSpPr/>
          <p:nvPr/>
        </p:nvSpPr>
        <p:spPr>
          <a:xfrm>
            <a:off x="548640" y="4882896"/>
            <a:ext cx="914400" cy="914400"/>
          </a:xfrm>
          <a:prstGeom prst="roundRect">
            <a:avLst>
              <a:gd name="adj" fmla="val 9000"/>
            </a:avLst>
          </a:prstGeom>
          <a:solidFill>
            <a:srgbClr val="1E2761"/>
          </a:solidFill>
          <a:ln/>
        </p:spPr>
      </p:sp>
      <p:sp>
        <p:nvSpPr>
          <p:cNvPr id="24" name="Text 22"/>
          <p:cNvSpPr txBox="1"/>
          <p:nvPr/>
        </p:nvSpPr>
        <p:spPr>
          <a:xfrm>
            <a:off x="548640" y="4882896"/>
            <a:ext cx="914400" cy="914400"/>
          </a:xfrm>
          <a:prstGeom prst="rect">
            <a:avLst/>
          </a:prstGeom>
          <a:noFill/>
          <a:ln/>
        </p:spPr>
        <p:txBody>
          <a:bodyPr wrap="square" lIns="50800" tIns="50800" rIns="50800" bIns="50800" rtlCol="0" anchor="ctr"/>
          <a:lstStyle/>
          <a:p>
            <a:pPr algn="ctr" indent="0" marL="0">
              <a:lnSpc>
                <a:spcPct val="100000"/>
              </a:lnSpc>
              <a:buNone/>
            </a:pPr>
            <a:r>
              <a:rPr lang="en-US" sz="2600" b="1" dirty="0">
                <a:solidFill>
                  <a:srgbClr val="FFFFFF"/>
                </a:solidFill>
                <a:latin typeface="Times New Roman" pitchFamily="34" charset="0"/>
                <a:ea typeface="Times New Roman" pitchFamily="34" charset="-122"/>
                <a:cs typeface="Times New Roman" pitchFamily="34" charset="-120"/>
              </a:rPr>
              <a:t>IV</a:t>
            </a:r>
            <a:endParaRPr lang="en-US" sz="2600" dirty="0"/>
          </a:p>
        </p:txBody>
      </p:sp>
      <p:sp>
        <p:nvSpPr>
          <p:cNvPr id="25" name="Text 23"/>
          <p:cNvSpPr txBox="1"/>
          <p:nvPr/>
        </p:nvSpPr>
        <p:spPr>
          <a:xfrm>
            <a:off x="1691640" y="4956048"/>
            <a:ext cx="5394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Windows'da MAC</a:t>
            </a:r>
            <a:endParaRPr lang="en-US" sz="2000" dirty="0"/>
          </a:p>
        </p:txBody>
      </p:sp>
      <p:sp>
        <p:nvSpPr>
          <p:cNvPr id="26" name="Text 24"/>
          <p:cNvSpPr txBox="1"/>
          <p:nvPr/>
        </p:nvSpPr>
        <p:spPr>
          <a:xfrm>
            <a:off x="1691640" y="5358384"/>
            <a:ext cx="5669280" cy="384048"/>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MIC, UAC, AppContainer, PPL, sezgirlik yorliqlari</a:t>
            </a:r>
            <a:endParaRPr lang="en-US" sz="1600" dirty="0"/>
          </a:p>
        </p:txBody>
      </p:sp>
      <p:sp>
        <p:nvSpPr>
          <p:cNvPr id="27" name="Text 25"/>
          <p:cNvSpPr txBox="1"/>
          <p:nvPr/>
        </p:nvSpPr>
        <p:spPr>
          <a:xfrm>
            <a:off x="7223760" y="4974336"/>
            <a:ext cx="1051560" cy="365760"/>
          </a:xfrm>
          <a:prstGeom prst="rect">
            <a:avLst/>
          </a:prstGeom>
          <a:noFill/>
          <a:ln/>
        </p:spPr>
        <p:txBody>
          <a:bodyPr wrap="square" lIns="0" tIns="0" rIns="0" bIns="0" rtlCol="0" anchor="t"/>
          <a:lstStyle/>
          <a:p>
            <a:pPr algn="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~20 daq.</a:t>
            </a:r>
            <a:endParaRPr lang="en-US" sz="1600" dirty="0"/>
          </a:p>
        </p:txBody>
      </p:sp>
      <p:sp>
        <p:nvSpPr>
          <p:cNvPr id="28" name="Shape 26"/>
          <p:cNvSpPr/>
          <p:nvPr/>
        </p:nvSpPr>
        <p:spPr>
          <a:xfrm>
            <a:off x="8686800" y="1783080"/>
            <a:ext cx="2926080" cy="4032504"/>
          </a:xfrm>
          <a:prstGeom prst="roundRect">
            <a:avLst>
              <a:gd name="adj" fmla="val 2813"/>
            </a:avLst>
          </a:prstGeom>
          <a:solidFill>
            <a:srgbClr val="FDF3E2"/>
          </a:solidFill>
          <a:ln/>
        </p:spPr>
      </p:sp>
      <p:sp>
        <p:nvSpPr>
          <p:cNvPr id="29" name="Shape 27"/>
          <p:cNvSpPr/>
          <p:nvPr/>
        </p:nvSpPr>
        <p:spPr>
          <a:xfrm>
            <a:off x="8961120" y="2011680"/>
            <a:ext cx="566928" cy="566928"/>
          </a:xfrm>
          <a:prstGeom prst="ellipse">
            <a:avLst/>
          </a:prstGeom>
          <a:solidFill>
            <a:srgbClr val="D9932B"/>
          </a:solidFill>
          <a:ln/>
        </p:spPr>
      </p:sp>
      <p:pic>
        <p:nvPicPr>
          <p:cNvPr id="30" name="Image 0" descr="/home/claude/fob-slides/icons_out/bulb_white.png"/>
          <p:cNvPicPr>
            <a:picLocks noChangeAspect="1"/>
          </p:cNvPicPr>
          <p:nvPr/>
        </p:nvPicPr>
        <p:blipFill>
          <a:blip r:embed="rId1"/>
          <a:stretch>
            <a:fillRect/>
          </a:stretch>
        </p:blipFill>
        <p:spPr>
          <a:xfrm>
            <a:off x="9088679" y="2139239"/>
            <a:ext cx="311810" cy="311810"/>
          </a:xfrm>
          <a:prstGeom prst="rect">
            <a:avLst/>
          </a:prstGeom>
        </p:spPr>
      </p:pic>
      <p:sp>
        <p:nvSpPr>
          <p:cNvPr id="31" name="Text 28"/>
          <p:cNvSpPr txBox="1"/>
          <p:nvPr/>
        </p:nvSpPr>
        <p:spPr>
          <a:xfrm>
            <a:off x="8961120" y="2697480"/>
            <a:ext cx="2468880" cy="411480"/>
          </a:xfrm>
          <a:prstGeom prst="rect">
            <a:avLst/>
          </a:prstGeom>
          <a:noFill/>
          <a:ln/>
        </p:spPr>
        <p:txBody>
          <a:bodyPr wrap="square" lIns="0" tIns="0" rIns="0" bIns="0" rtlCol="0" anchor="t"/>
          <a:lstStyle/>
          <a:p>
            <a:pPr algn="l" indent="0" marL="0">
              <a:lnSpc>
                <a:spcPct val="100000"/>
              </a:lnSpc>
              <a:buNone/>
            </a:pPr>
            <a:r>
              <a:rPr lang="en-US" sz="1800" b="1" dirty="0">
                <a:solidFill>
                  <a:srgbClr val="9A5B00"/>
                </a:solidFill>
                <a:latin typeface="Times New Roman" pitchFamily="34" charset="0"/>
                <a:ea typeface="Times New Roman" pitchFamily="34" charset="-122"/>
                <a:cs typeface="Times New Roman" pitchFamily="34" charset="-120"/>
              </a:rPr>
              <a:t>Interaktiv nuqtalar</a:t>
            </a:r>
            <a:endParaRPr lang="en-US" sz="1800" dirty="0"/>
          </a:p>
        </p:txBody>
      </p:sp>
      <p:sp>
        <p:nvSpPr>
          <p:cNvPr id="32" name="Text 29"/>
          <p:cNvSpPr txBox="1"/>
          <p:nvPr/>
        </p:nvSpPr>
        <p:spPr>
          <a:xfrm>
            <a:off x="9006840" y="3154680"/>
            <a:ext cx="2514600" cy="256032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Muhokama: troyanni to'xtatish</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Mini-vazifa: BLP qoidalari</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Jonli namoyish: whoami, icacls</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Mini-vazifa: Windows MIC</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Tezkor test</a:t>
            </a:r>
            <a:endParaRPr lang="en-US" sz="1600" dirty="0"/>
          </a:p>
        </p:txBody>
      </p:sp>
      <p:sp>
        <p:nvSpPr>
          <p:cNvPr id="33" name="Text 30"/>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11-ma'ruza</a:t>
            </a:r>
            <a:endParaRPr lang="en-US" sz="1100" dirty="0"/>
          </a:p>
        </p:txBody>
      </p:sp>
      <p:sp>
        <p:nvSpPr>
          <p:cNvPr id="34" name="Text 31"/>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MUHOKAMA · 5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Troyan otini qanday qoida to'xtatadi?</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users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11064240" cy="1051560"/>
          </a:xfrm>
          <a:prstGeom prst="roundRect">
            <a:avLst>
              <a:gd name="adj" fmla="val 7826"/>
            </a:avLst>
          </a:prstGeom>
          <a:solidFill>
            <a:srgbClr val="FFFFFF"/>
          </a:solidFill>
          <a:ln/>
        </p:spPr>
      </p:sp>
      <p:sp>
        <p:nvSpPr>
          <p:cNvPr id="7" name="Text 4"/>
          <p:cNvSpPr txBox="1"/>
          <p:nvPr/>
        </p:nvSpPr>
        <p:spPr>
          <a:xfrm>
            <a:off x="868680" y="1783080"/>
            <a:ext cx="10424160" cy="1051560"/>
          </a:xfrm>
          <a:prstGeom prst="rect">
            <a:avLst/>
          </a:prstGeom>
          <a:noFill/>
          <a:ln/>
        </p:spPr>
        <p:txBody>
          <a:bodyPr wrap="square" lIns="0" tIns="0" rIns="0" bIns="0" rtlCol="0" anchor="ctr"/>
          <a:lstStyle/>
          <a:p>
            <a:pPr algn="l" indent="0" marL="0">
              <a:lnSpc>
                <a:spcPct val="105000"/>
              </a:lnSpc>
              <a:buNone/>
            </a:pPr>
            <a:r>
              <a:rPr lang="en-US" sz="1800" dirty="0">
                <a:solidFill>
                  <a:srgbClr val="1B1B2A"/>
                </a:solidFill>
                <a:latin typeface="Times New Roman" pitchFamily="34" charset="0"/>
                <a:ea typeface="Times New Roman" pitchFamily="34" charset="-122"/>
                <a:cs typeface="Times New Roman" pitchFamily="34" charset="-120"/>
              </a:rPr>
              <a:t>10-ma'ruzada «jadval.exe» Karimovning huquqlari bilan maxfiy baholarni ochiq papkaga ko'chirgan edi. Har bir amal DACL bo'yicha to'g'ri edi.</a:t>
            </a:r>
            <a:endParaRPr lang="en-US" sz="1800" dirty="0"/>
          </a:p>
        </p:txBody>
      </p:sp>
      <p:sp>
        <p:nvSpPr>
          <p:cNvPr id="8" name="Shape 5"/>
          <p:cNvSpPr/>
          <p:nvPr/>
        </p:nvSpPr>
        <p:spPr>
          <a:xfrm>
            <a:off x="548640" y="3063240"/>
            <a:ext cx="11064240" cy="868680"/>
          </a:xfrm>
          <a:prstGeom prst="roundRect">
            <a:avLst>
              <a:gd name="adj" fmla="val 9474"/>
            </a:avLst>
          </a:prstGeom>
          <a:solidFill>
            <a:srgbClr val="FFFFFF"/>
          </a:solidFill>
          <a:ln/>
        </p:spPr>
      </p:sp>
      <p:sp>
        <p:nvSpPr>
          <p:cNvPr id="9" name="Shape 6"/>
          <p:cNvSpPr/>
          <p:nvPr/>
        </p:nvSpPr>
        <p:spPr>
          <a:xfrm>
            <a:off x="822960" y="3209544"/>
            <a:ext cx="576072" cy="576072"/>
          </a:xfrm>
          <a:prstGeom prst="ellipse">
            <a:avLst/>
          </a:prstGeom>
          <a:solidFill>
            <a:srgbClr val="D9932B"/>
          </a:solidFill>
          <a:ln/>
        </p:spPr>
      </p:sp>
      <p:pic>
        <p:nvPicPr>
          <p:cNvPr id="10" name="Image 1" descr="/home/claude/fob-slides/icons_out/question_white.png"/>
          <p:cNvPicPr>
            <a:picLocks noChangeAspect="1"/>
          </p:cNvPicPr>
          <p:nvPr/>
        </p:nvPicPr>
        <p:blipFill>
          <a:blip r:embed="rId2"/>
          <a:stretch>
            <a:fillRect/>
          </a:stretch>
        </p:blipFill>
        <p:spPr>
          <a:xfrm>
            <a:off x="981380" y="3367964"/>
            <a:ext cx="259232" cy="259232"/>
          </a:xfrm>
          <a:prstGeom prst="rect">
            <a:avLst/>
          </a:prstGeom>
        </p:spPr>
      </p:pic>
      <p:sp>
        <p:nvSpPr>
          <p:cNvPr id="11" name="Text 7"/>
          <p:cNvSpPr txBox="1"/>
          <p:nvPr/>
        </p:nvSpPr>
        <p:spPr>
          <a:xfrm>
            <a:off x="1600200" y="3063240"/>
            <a:ext cx="9418320" cy="86868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Qaror kimda bo'lsa, bu imkonsiz bo'ladi: fayl egasidami yoki tizimdami?</a:t>
            </a:r>
            <a:endParaRPr lang="en-US" sz="1700" dirty="0"/>
          </a:p>
        </p:txBody>
      </p:sp>
      <p:sp>
        <p:nvSpPr>
          <p:cNvPr id="12" name="Text 8"/>
          <p:cNvSpPr txBox="1"/>
          <p:nvPr/>
        </p:nvSpPr>
        <p:spPr>
          <a:xfrm>
            <a:off x="11018520" y="3063240"/>
            <a:ext cx="411480" cy="868680"/>
          </a:xfrm>
          <a:prstGeom prst="rect">
            <a:avLst/>
          </a:prstGeom>
          <a:noFill/>
          <a:ln/>
        </p:spPr>
        <p:txBody>
          <a:bodyPr wrap="square" lIns="0" tIns="0" rIns="0" bIns="0" rtlCol="0" anchor="ctr"/>
          <a:lstStyle/>
          <a:p>
            <a:pPr algn="r" indent="0" marL="0">
              <a:lnSpc>
                <a:spcPct val="100000"/>
              </a:lnSpc>
              <a:buNone/>
            </a:pPr>
            <a:r>
              <a:rPr lang="en-US" sz="1800" b="1" dirty="0">
                <a:solidFill>
                  <a:srgbClr val="D9932B"/>
                </a:solidFill>
                <a:latin typeface="Times New Roman" pitchFamily="34" charset="0"/>
                <a:ea typeface="Times New Roman" pitchFamily="34" charset="-122"/>
                <a:cs typeface="Times New Roman" pitchFamily="34" charset="-120"/>
              </a:rPr>
              <a:t>1</a:t>
            </a:r>
            <a:endParaRPr lang="en-US" sz="1800" dirty="0"/>
          </a:p>
        </p:txBody>
      </p:sp>
      <p:sp>
        <p:nvSpPr>
          <p:cNvPr id="13" name="Shape 9"/>
          <p:cNvSpPr/>
          <p:nvPr/>
        </p:nvSpPr>
        <p:spPr>
          <a:xfrm>
            <a:off x="548640" y="4069080"/>
            <a:ext cx="11064240" cy="868680"/>
          </a:xfrm>
          <a:prstGeom prst="roundRect">
            <a:avLst>
              <a:gd name="adj" fmla="val 9474"/>
            </a:avLst>
          </a:prstGeom>
          <a:solidFill>
            <a:srgbClr val="FFFFFF"/>
          </a:solidFill>
          <a:ln/>
        </p:spPr>
      </p:sp>
      <p:sp>
        <p:nvSpPr>
          <p:cNvPr id="14" name="Shape 10"/>
          <p:cNvSpPr/>
          <p:nvPr/>
        </p:nvSpPr>
        <p:spPr>
          <a:xfrm>
            <a:off x="822960" y="4215384"/>
            <a:ext cx="576072" cy="576072"/>
          </a:xfrm>
          <a:prstGeom prst="ellipse">
            <a:avLst/>
          </a:prstGeom>
          <a:solidFill>
            <a:srgbClr val="D9932B"/>
          </a:solidFill>
          <a:ln/>
        </p:spPr>
      </p:sp>
      <p:pic>
        <p:nvPicPr>
          <p:cNvPr id="15" name="Image 2" descr="/home/claude/fob-slides/icons_out/question_white.png"/>
          <p:cNvPicPr>
            <a:picLocks noChangeAspect="1"/>
          </p:cNvPicPr>
          <p:nvPr/>
        </p:nvPicPr>
        <p:blipFill>
          <a:blip r:embed="rId3"/>
          <a:stretch>
            <a:fillRect/>
          </a:stretch>
        </p:blipFill>
        <p:spPr>
          <a:xfrm>
            <a:off x="981380" y="4373804"/>
            <a:ext cx="259232" cy="259232"/>
          </a:xfrm>
          <a:prstGeom prst="rect">
            <a:avLst/>
          </a:prstGeom>
        </p:spPr>
      </p:pic>
      <p:sp>
        <p:nvSpPr>
          <p:cNvPr id="16" name="Text 11"/>
          <p:cNvSpPr txBox="1"/>
          <p:nvPr/>
        </p:nvSpPr>
        <p:spPr>
          <a:xfrm>
            <a:off x="1600200" y="4069080"/>
            <a:ext cx="9418320" cy="86868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Qoida fayl nomi va egasiga emas, nimaga bog'liq bo'lishi kerak?</a:t>
            </a:r>
            <a:endParaRPr lang="en-US" sz="1700" dirty="0"/>
          </a:p>
        </p:txBody>
      </p:sp>
      <p:sp>
        <p:nvSpPr>
          <p:cNvPr id="17" name="Text 12"/>
          <p:cNvSpPr txBox="1"/>
          <p:nvPr/>
        </p:nvSpPr>
        <p:spPr>
          <a:xfrm>
            <a:off x="11018520" y="4069080"/>
            <a:ext cx="411480" cy="868680"/>
          </a:xfrm>
          <a:prstGeom prst="rect">
            <a:avLst/>
          </a:prstGeom>
          <a:noFill/>
          <a:ln/>
        </p:spPr>
        <p:txBody>
          <a:bodyPr wrap="square" lIns="0" tIns="0" rIns="0" bIns="0" rtlCol="0" anchor="ctr"/>
          <a:lstStyle/>
          <a:p>
            <a:pPr algn="r" indent="0" marL="0">
              <a:lnSpc>
                <a:spcPct val="100000"/>
              </a:lnSpc>
              <a:buNone/>
            </a:pPr>
            <a:r>
              <a:rPr lang="en-US" sz="1800" b="1" dirty="0">
                <a:solidFill>
                  <a:srgbClr val="D9932B"/>
                </a:solidFill>
                <a:latin typeface="Times New Roman" pitchFamily="34" charset="0"/>
                <a:ea typeface="Times New Roman" pitchFamily="34" charset="-122"/>
                <a:cs typeface="Times New Roman" pitchFamily="34" charset="-120"/>
              </a:rPr>
              <a:t>2</a:t>
            </a:r>
            <a:endParaRPr lang="en-US" sz="1800" dirty="0"/>
          </a:p>
        </p:txBody>
      </p:sp>
      <p:sp>
        <p:nvSpPr>
          <p:cNvPr id="18" name="Shape 13"/>
          <p:cNvSpPr/>
          <p:nvPr/>
        </p:nvSpPr>
        <p:spPr>
          <a:xfrm>
            <a:off x="548640" y="5074920"/>
            <a:ext cx="11064240" cy="868680"/>
          </a:xfrm>
          <a:prstGeom prst="roundRect">
            <a:avLst>
              <a:gd name="adj" fmla="val 9474"/>
            </a:avLst>
          </a:prstGeom>
          <a:solidFill>
            <a:srgbClr val="FFFFFF"/>
          </a:solidFill>
          <a:ln/>
        </p:spPr>
      </p:sp>
      <p:sp>
        <p:nvSpPr>
          <p:cNvPr id="19" name="Shape 14"/>
          <p:cNvSpPr/>
          <p:nvPr/>
        </p:nvSpPr>
        <p:spPr>
          <a:xfrm>
            <a:off x="822960" y="5221224"/>
            <a:ext cx="576072" cy="576072"/>
          </a:xfrm>
          <a:prstGeom prst="ellipse">
            <a:avLst/>
          </a:prstGeom>
          <a:solidFill>
            <a:srgbClr val="D9932B"/>
          </a:solidFill>
          <a:ln/>
        </p:spPr>
      </p:sp>
      <p:pic>
        <p:nvPicPr>
          <p:cNvPr id="20" name="Image 3" descr="/home/claude/fob-slides/icons_out/question_white.png"/>
          <p:cNvPicPr>
            <a:picLocks noChangeAspect="1"/>
          </p:cNvPicPr>
          <p:nvPr/>
        </p:nvPicPr>
        <p:blipFill>
          <a:blip r:embed="rId4"/>
          <a:stretch>
            <a:fillRect/>
          </a:stretch>
        </p:blipFill>
        <p:spPr>
          <a:xfrm>
            <a:off x="981380" y="5379644"/>
            <a:ext cx="259232" cy="259232"/>
          </a:xfrm>
          <a:prstGeom prst="rect">
            <a:avLst/>
          </a:prstGeom>
        </p:spPr>
      </p:pic>
      <p:sp>
        <p:nvSpPr>
          <p:cNvPr id="21" name="Text 15"/>
          <p:cNvSpPr txBox="1"/>
          <p:nvPr/>
        </p:nvSpPr>
        <p:spPr>
          <a:xfrm>
            <a:off x="1600200" y="5074920"/>
            <a:ext cx="9418320" cy="86868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Harbiy hujjat «maxfiy» deb belgilansa, uni kim ochiq qila oladi?</a:t>
            </a:r>
            <a:endParaRPr lang="en-US" sz="1700" dirty="0"/>
          </a:p>
        </p:txBody>
      </p:sp>
      <p:sp>
        <p:nvSpPr>
          <p:cNvPr id="22" name="Text 16"/>
          <p:cNvSpPr txBox="1"/>
          <p:nvPr/>
        </p:nvSpPr>
        <p:spPr>
          <a:xfrm>
            <a:off x="11018520" y="5074920"/>
            <a:ext cx="411480" cy="868680"/>
          </a:xfrm>
          <a:prstGeom prst="rect">
            <a:avLst/>
          </a:prstGeom>
          <a:noFill/>
          <a:ln/>
        </p:spPr>
        <p:txBody>
          <a:bodyPr wrap="square" lIns="0" tIns="0" rIns="0" bIns="0" rtlCol="0" anchor="ctr"/>
          <a:lstStyle/>
          <a:p>
            <a:pPr algn="r" indent="0" marL="0">
              <a:lnSpc>
                <a:spcPct val="100000"/>
              </a:lnSpc>
              <a:buNone/>
            </a:pPr>
            <a:r>
              <a:rPr lang="en-US" sz="1800" b="1" dirty="0">
                <a:solidFill>
                  <a:srgbClr val="D9932B"/>
                </a:solidFill>
                <a:latin typeface="Times New Roman" pitchFamily="34" charset="0"/>
                <a:ea typeface="Times New Roman" pitchFamily="34" charset="-122"/>
                <a:cs typeface="Times New Roman" pitchFamily="34" charset="-120"/>
              </a:rPr>
              <a:t>3</a:t>
            </a:r>
            <a:endParaRPr lang="en-US" sz="1800" dirty="0"/>
          </a:p>
        </p:txBody>
      </p:sp>
      <p:sp>
        <p:nvSpPr>
          <p:cNvPr id="23" name="Text 17"/>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11-ma'ruza</a:t>
            </a:r>
            <a:endParaRPr lang="en-US" sz="1100" dirty="0"/>
          </a:p>
        </p:txBody>
      </p:sp>
      <p:sp>
        <p:nvSpPr>
          <p:cNvPr id="24" name="Text 18"/>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 · TA'RIF</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Mandatli foydalanish nazorati (MAC)</a:t>
            </a:r>
            <a:endParaRPr lang="en-US" sz="3600" dirty="0"/>
          </a:p>
        </p:txBody>
      </p:sp>
      <p:sp>
        <p:nvSpPr>
          <p:cNvPr id="4" name="Text 2"/>
          <p:cNvSpPr txBox="1"/>
          <p:nvPr/>
        </p:nvSpPr>
        <p:spPr>
          <a:xfrm>
            <a:off x="548640" y="1737360"/>
            <a:ext cx="11064240" cy="914400"/>
          </a:xfrm>
          <a:prstGeom prst="rect">
            <a:avLst/>
          </a:prstGeom>
          <a:noFill/>
          <a:ln/>
        </p:spPr>
        <p:txBody>
          <a:bodyPr wrap="square" lIns="0" tIns="0" rIns="0" bIns="0" rtlCol="0" anchor="t"/>
          <a:lstStyle/>
          <a:p>
            <a:pPr algn="l" indent="0" marL="0">
              <a:lnSpc>
                <a:spcPct val="105000"/>
              </a:lnSpc>
              <a:buNone/>
            </a:pPr>
            <a:r>
              <a:rPr lang="en-US" sz="1700" dirty="0">
                <a:solidFill>
                  <a:srgbClr val="1B1B2A"/>
                </a:solidFill>
                <a:latin typeface="Times New Roman" pitchFamily="34" charset="0"/>
                <a:ea typeface="Times New Roman" pitchFamily="34" charset="-122"/>
                <a:cs typeface="Times New Roman" pitchFamily="34" charset="-120"/>
              </a:rPr>
              <a:t>MAC — foydalanish to'g'risidagi qaror sub'ekt va obyektga tizim tomonidan berilgan xavfsizlik yorliqlarini taqqoslash asosida qabul qilinadigan model. Foydalanuvchi, hatto obyekt egasi ham, siyosatni o'zgartira olmaydi.</a:t>
            </a:r>
            <a:endParaRPr lang="en-US" sz="1700" dirty="0"/>
          </a:p>
        </p:txBody>
      </p:sp>
      <p:sp>
        <p:nvSpPr>
          <p:cNvPr id="5" name="Shape 3"/>
          <p:cNvSpPr/>
          <p:nvPr/>
        </p:nvSpPr>
        <p:spPr>
          <a:xfrm>
            <a:off x="2834640" y="2697480"/>
            <a:ext cx="4343400" cy="502920"/>
          </a:xfrm>
          <a:prstGeom prst="roundRect">
            <a:avLst>
              <a:gd name="adj" fmla="val 7273"/>
            </a:avLst>
          </a:prstGeom>
          <a:solidFill>
            <a:srgbClr val="1E2761"/>
          </a:solidFill>
          <a:ln/>
        </p:spPr>
      </p:sp>
      <p:sp>
        <p:nvSpPr>
          <p:cNvPr id="6" name="Text 4"/>
          <p:cNvSpPr txBox="1"/>
          <p:nvPr/>
        </p:nvSpPr>
        <p:spPr>
          <a:xfrm>
            <a:off x="2834640" y="2697480"/>
            <a:ext cx="4343400" cy="502920"/>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DAC (M10)</a:t>
            </a:r>
            <a:endParaRPr lang="en-US" sz="1600" dirty="0"/>
          </a:p>
        </p:txBody>
      </p:sp>
      <p:sp>
        <p:nvSpPr>
          <p:cNvPr id="7" name="Shape 5"/>
          <p:cNvSpPr/>
          <p:nvPr/>
        </p:nvSpPr>
        <p:spPr>
          <a:xfrm>
            <a:off x="7223760" y="2697480"/>
            <a:ext cx="4343400" cy="502920"/>
          </a:xfrm>
          <a:prstGeom prst="roundRect">
            <a:avLst>
              <a:gd name="adj" fmla="val 7273"/>
            </a:avLst>
          </a:prstGeom>
          <a:solidFill>
            <a:srgbClr val="1F6B4A"/>
          </a:solidFill>
          <a:ln/>
        </p:spPr>
      </p:sp>
      <p:sp>
        <p:nvSpPr>
          <p:cNvPr id="8" name="Text 6"/>
          <p:cNvSpPr txBox="1"/>
          <p:nvPr/>
        </p:nvSpPr>
        <p:spPr>
          <a:xfrm>
            <a:off x="7223760" y="2697480"/>
            <a:ext cx="4343400" cy="502920"/>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MAC</a:t>
            </a:r>
            <a:endParaRPr lang="en-US" sz="1600" dirty="0"/>
          </a:p>
        </p:txBody>
      </p:sp>
      <p:sp>
        <p:nvSpPr>
          <p:cNvPr id="9" name="Shape 7"/>
          <p:cNvSpPr/>
          <p:nvPr/>
        </p:nvSpPr>
        <p:spPr>
          <a:xfrm>
            <a:off x="548640" y="3273552"/>
            <a:ext cx="2240280" cy="475488"/>
          </a:xfrm>
          <a:prstGeom prst="roundRect">
            <a:avLst>
              <a:gd name="adj" fmla="val 7692"/>
            </a:avLst>
          </a:prstGeom>
          <a:solidFill>
            <a:srgbClr val="2A3778"/>
          </a:solidFill>
          <a:ln/>
        </p:spPr>
      </p:sp>
      <p:sp>
        <p:nvSpPr>
          <p:cNvPr id="10" name="Text 8"/>
          <p:cNvSpPr txBox="1"/>
          <p:nvPr/>
        </p:nvSpPr>
        <p:spPr>
          <a:xfrm>
            <a:off x="658368" y="3273552"/>
            <a:ext cx="2057400" cy="475488"/>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Times New Roman" pitchFamily="34" charset="0"/>
                <a:ea typeface="Times New Roman" pitchFamily="34" charset="-122"/>
                <a:cs typeface="Times New Roman" pitchFamily="34" charset="-120"/>
              </a:rPr>
              <a:t>Kim hal qiladi</a:t>
            </a:r>
            <a:endParaRPr lang="en-US" sz="1500" dirty="0"/>
          </a:p>
        </p:txBody>
      </p:sp>
      <p:sp>
        <p:nvSpPr>
          <p:cNvPr id="11" name="Shape 9"/>
          <p:cNvSpPr/>
          <p:nvPr/>
        </p:nvSpPr>
        <p:spPr>
          <a:xfrm>
            <a:off x="2834640" y="3273552"/>
            <a:ext cx="4343400" cy="475488"/>
          </a:xfrm>
          <a:prstGeom prst="roundRect">
            <a:avLst>
              <a:gd name="adj" fmla="val 7692"/>
            </a:avLst>
          </a:prstGeom>
          <a:solidFill>
            <a:srgbClr val="EEF2FB"/>
          </a:solidFill>
          <a:ln/>
        </p:spPr>
      </p:sp>
      <p:sp>
        <p:nvSpPr>
          <p:cNvPr id="12" name="Text 10"/>
          <p:cNvSpPr txBox="1"/>
          <p:nvPr/>
        </p:nvSpPr>
        <p:spPr>
          <a:xfrm>
            <a:off x="2944368" y="3273552"/>
            <a:ext cx="4160520" cy="47548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Obyekt egasi</a:t>
            </a:r>
            <a:endParaRPr lang="en-US" sz="1500" dirty="0"/>
          </a:p>
        </p:txBody>
      </p:sp>
      <p:sp>
        <p:nvSpPr>
          <p:cNvPr id="13" name="Shape 11"/>
          <p:cNvSpPr/>
          <p:nvPr/>
        </p:nvSpPr>
        <p:spPr>
          <a:xfrm>
            <a:off x="7223760" y="3273552"/>
            <a:ext cx="4343400" cy="475488"/>
          </a:xfrm>
          <a:prstGeom prst="roundRect">
            <a:avLst>
              <a:gd name="adj" fmla="val 7692"/>
            </a:avLst>
          </a:prstGeom>
          <a:solidFill>
            <a:srgbClr val="E8F3EC"/>
          </a:solidFill>
          <a:ln/>
        </p:spPr>
      </p:sp>
      <p:sp>
        <p:nvSpPr>
          <p:cNvPr id="14" name="Text 12"/>
          <p:cNvSpPr txBox="1"/>
          <p:nvPr/>
        </p:nvSpPr>
        <p:spPr>
          <a:xfrm>
            <a:off x="7333488" y="3273552"/>
            <a:ext cx="4160520" cy="47548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Tizim siyosati (xavfsizlik ma'muri)</a:t>
            </a:r>
            <a:endParaRPr lang="en-US" sz="1500" dirty="0"/>
          </a:p>
        </p:txBody>
      </p:sp>
      <p:sp>
        <p:nvSpPr>
          <p:cNvPr id="15" name="Shape 13"/>
          <p:cNvSpPr/>
          <p:nvPr/>
        </p:nvSpPr>
        <p:spPr>
          <a:xfrm>
            <a:off x="548640" y="3822192"/>
            <a:ext cx="2240280" cy="475488"/>
          </a:xfrm>
          <a:prstGeom prst="roundRect">
            <a:avLst>
              <a:gd name="adj" fmla="val 7692"/>
            </a:avLst>
          </a:prstGeom>
          <a:solidFill>
            <a:srgbClr val="2A3778"/>
          </a:solidFill>
          <a:ln/>
        </p:spPr>
      </p:sp>
      <p:sp>
        <p:nvSpPr>
          <p:cNvPr id="16" name="Text 14"/>
          <p:cNvSpPr txBox="1"/>
          <p:nvPr/>
        </p:nvSpPr>
        <p:spPr>
          <a:xfrm>
            <a:off x="658368" y="3822192"/>
            <a:ext cx="2057400" cy="475488"/>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Times New Roman" pitchFamily="34" charset="0"/>
                <a:ea typeface="Times New Roman" pitchFamily="34" charset="-122"/>
                <a:cs typeface="Times New Roman" pitchFamily="34" charset="-120"/>
              </a:rPr>
              <a:t>Asos</a:t>
            </a:r>
            <a:endParaRPr lang="en-US" sz="1500" dirty="0"/>
          </a:p>
        </p:txBody>
      </p:sp>
      <p:sp>
        <p:nvSpPr>
          <p:cNvPr id="17" name="Shape 15"/>
          <p:cNvSpPr/>
          <p:nvPr/>
        </p:nvSpPr>
        <p:spPr>
          <a:xfrm>
            <a:off x="2834640" y="3822192"/>
            <a:ext cx="4343400" cy="475488"/>
          </a:xfrm>
          <a:prstGeom prst="roundRect">
            <a:avLst>
              <a:gd name="adj" fmla="val 7692"/>
            </a:avLst>
          </a:prstGeom>
          <a:solidFill>
            <a:srgbClr val="FFFFFF"/>
          </a:solidFill>
          <a:ln w="12700">
            <a:solidFill>
              <a:srgbClr val="CADCFC"/>
            </a:solidFill>
            <a:prstDash val="solid"/>
          </a:ln>
        </p:spPr>
      </p:sp>
      <p:sp>
        <p:nvSpPr>
          <p:cNvPr id="18" name="Text 16"/>
          <p:cNvSpPr txBox="1"/>
          <p:nvPr/>
        </p:nvSpPr>
        <p:spPr>
          <a:xfrm>
            <a:off x="2944368" y="3822192"/>
            <a:ext cx="4160520" cy="47548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Sub'ekt identifikatori</a:t>
            </a:r>
            <a:endParaRPr lang="en-US" sz="1500" dirty="0"/>
          </a:p>
        </p:txBody>
      </p:sp>
      <p:sp>
        <p:nvSpPr>
          <p:cNvPr id="19" name="Shape 17"/>
          <p:cNvSpPr/>
          <p:nvPr/>
        </p:nvSpPr>
        <p:spPr>
          <a:xfrm>
            <a:off x="7223760" y="3822192"/>
            <a:ext cx="4343400" cy="475488"/>
          </a:xfrm>
          <a:prstGeom prst="roundRect">
            <a:avLst>
              <a:gd name="adj" fmla="val 7692"/>
            </a:avLst>
          </a:prstGeom>
          <a:solidFill>
            <a:srgbClr val="FFFFFF"/>
          </a:solidFill>
          <a:ln w="12700">
            <a:solidFill>
              <a:srgbClr val="CADCFC"/>
            </a:solidFill>
            <a:prstDash val="solid"/>
          </a:ln>
        </p:spPr>
      </p:sp>
      <p:sp>
        <p:nvSpPr>
          <p:cNvPr id="20" name="Text 18"/>
          <p:cNvSpPr txBox="1"/>
          <p:nvPr/>
        </p:nvSpPr>
        <p:spPr>
          <a:xfrm>
            <a:off x="7333488" y="3822192"/>
            <a:ext cx="4160520" cy="47548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Ruxsatnoma va maxfiylik darajasi</a:t>
            </a:r>
            <a:endParaRPr lang="en-US" sz="1500" dirty="0"/>
          </a:p>
        </p:txBody>
      </p:sp>
      <p:sp>
        <p:nvSpPr>
          <p:cNvPr id="21" name="Shape 19"/>
          <p:cNvSpPr/>
          <p:nvPr/>
        </p:nvSpPr>
        <p:spPr>
          <a:xfrm>
            <a:off x="548640" y="4370832"/>
            <a:ext cx="2240280" cy="475488"/>
          </a:xfrm>
          <a:prstGeom prst="roundRect">
            <a:avLst>
              <a:gd name="adj" fmla="val 7692"/>
            </a:avLst>
          </a:prstGeom>
          <a:solidFill>
            <a:srgbClr val="2A3778"/>
          </a:solidFill>
          <a:ln/>
        </p:spPr>
      </p:sp>
      <p:sp>
        <p:nvSpPr>
          <p:cNvPr id="22" name="Text 20"/>
          <p:cNvSpPr txBox="1"/>
          <p:nvPr/>
        </p:nvSpPr>
        <p:spPr>
          <a:xfrm>
            <a:off x="658368" y="4370832"/>
            <a:ext cx="2057400" cy="475488"/>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Times New Roman" pitchFamily="34" charset="0"/>
                <a:ea typeface="Times New Roman" pitchFamily="34" charset="-122"/>
                <a:cs typeface="Times New Roman" pitchFamily="34" charset="-120"/>
              </a:rPr>
              <a:t>Huquq berish</a:t>
            </a:r>
            <a:endParaRPr lang="en-US" sz="1500" dirty="0"/>
          </a:p>
        </p:txBody>
      </p:sp>
      <p:sp>
        <p:nvSpPr>
          <p:cNvPr id="23" name="Shape 21"/>
          <p:cNvSpPr/>
          <p:nvPr/>
        </p:nvSpPr>
        <p:spPr>
          <a:xfrm>
            <a:off x="2834640" y="4370832"/>
            <a:ext cx="4343400" cy="475488"/>
          </a:xfrm>
          <a:prstGeom prst="roundRect">
            <a:avLst>
              <a:gd name="adj" fmla="val 7692"/>
            </a:avLst>
          </a:prstGeom>
          <a:solidFill>
            <a:srgbClr val="EEF2FB"/>
          </a:solidFill>
          <a:ln/>
        </p:spPr>
      </p:sp>
      <p:sp>
        <p:nvSpPr>
          <p:cNvPr id="24" name="Text 22"/>
          <p:cNvSpPr txBox="1"/>
          <p:nvPr/>
        </p:nvSpPr>
        <p:spPr>
          <a:xfrm>
            <a:off x="2944368" y="4370832"/>
            <a:ext cx="4160520" cy="47548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Egasi ixtiyoriy beradi</a:t>
            </a:r>
            <a:endParaRPr lang="en-US" sz="1500" dirty="0"/>
          </a:p>
        </p:txBody>
      </p:sp>
      <p:sp>
        <p:nvSpPr>
          <p:cNvPr id="25" name="Shape 23"/>
          <p:cNvSpPr/>
          <p:nvPr/>
        </p:nvSpPr>
        <p:spPr>
          <a:xfrm>
            <a:off x="7223760" y="4370832"/>
            <a:ext cx="4343400" cy="475488"/>
          </a:xfrm>
          <a:prstGeom prst="roundRect">
            <a:avLst>
              <a:gd name="adj" fmla="val 7692"/>
            </a:avLst>
          </a:prstGeom>
          <a:solidFill>
            <a:srgbClr val="E8F3EC"/>
          </a:solidFill>
          <a:ln/>
        </p:spPr>
      </p:sp>
      <p:sp>
        <p:nvSpPr>
          <p:cNvPr id="26" name="Text 24"/>
          <p:cNvSpPr txBox="1"/>
          <p:nvPr/>
        </p:nvSpPr>
        <p:spPr>
          <a:xfrm>
            <a:off x="7333488" y="4370832"/>
            <a:ext cx="4160520" cy="47548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Egasi bera olmaydi</a:t>
            </a:r>
            <a:endParaRPr lang="en-US" sz="1500" dirty="0"/>
          </a:p>
        </p:txBody>
      </p:sp>
      <p:sp>
        <p:nvSpPr>
          <p:cNvPr id="27" name="Shape 25"/>
          <p:cNvSpPr/>
          <p:nvPr/>
        </p:nvSpPr>
        <p:spPr>
          <a:xfrm>
            <a:off x="548640" y="4919472"/>
            <a:ext cx="2240280" cy="475488"/>
          </a:xfrm>
          <a:prstGeom prst="roundRect">
            <a:avLst>
              <a:gd name="adj" fmla="val 7692"/>
            </a:avLst>
          </a:prstGeom>
          <a:solidFill>
            <a:srgbClr val="2A3778"/>
          </a:solidFill>
          <a:ln/>
        </p:spPr>
      </p:sp>
      <p:sp>
        <p:nvSpPr>
          <p:cNvPr id="28" name="Text 26"/>
          <p:cNvSpPr txBox="1"/>
          <p:nvPr/>
        </p:nvSpPr>
        <p:spPr>
          <a:xfrm>
            <a:off x="658368" y="4919472"/>
            <a:ext cx="2057400" cy="475488"/>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Times New Roman" pitchFamily="34" charset="0"/>
                <a:ea typeface="Times New Roman" pitchFamily="34" charset="-122"/>
                <a:cs typeface="Times New Roman" pitchFamily="34" charset="-120"/>
              </a:rPr>
              <a:t>Troyan oti</a:t>
            </a:r>
            <a:endParaRPr lang="en-US" sz="1500" dirty="0"/>
          </a:p>
        </p:txBody>
      </p:sp>
      <p:sp>
        <p:nvSpPr>
          <p:cNvPr id="29" name="Shape 27"/>
          <p:cNvSpPr/>
          <p:nvPr/>
        </p:nvSpPr>
        <p:spPr>
          <a:xfrm>
            <a:off x="2834640" y="4919472"/>
            <a:ext cx="4343400" cy="475488"/>
          </a:xfrm>
          <a:prstGeom prst="roundRect">
            <a:avLst>
              <a:gd name="adj" fmla="val 7692"/>
            </a:avLst>
          </a:prstGeom>
          <a:solidFill>
            <a:srgbClr val="FFFFFF"/>
          </a:solidFill>
          <a:ln w="12700">
            <a:solidFill>
              <a:srgbClr val="CADCFC"/>
            </a:solidFill>
            <a:prstDash val="solid"/>
          </a:ln>
        </p:spPr>
      </p:sp>
      <p:sp>
        <p:nvSpPr>
          <p:cNvPr id="30" name="Text 28"/>
          <p:cNvSpPr txBox="1"/>
          <p:nvPr/>
        </p:nvSpPr>
        <p:spPr>
          <a:xfrm>
            <a:off x="2944368" y="4919472"/>
            <a:ext cx="4160520" cy="47548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To'xtatmaydi</a:t>
            </a:r>
            <a:endParaRPr lang="en-US" sz="1500" dirty="0"/>
          </a:p>
        </p:txBody>
      </p:sp>
      <p:sp>
        <p:nvSpPr>
          <p:cNvPr id="31" name="Shape 29"/>
          <p:cNvSpPr/>
          <p:nvPr/>
        </p:nvSpPr>
        <p:spPr>
          <a:xfrm>
            <a:off x="7223760" y="4919472"/>
            <a:ext cx="4343400" cy="475488"/>
          </a:xfrm>
          <a:prstGeom prst="roundRect">
            <a:avLst>
              <a:gd name="adj" fmla="val 7692"/>
            </a:avLst>
          </a:prstGeom>
          <a:solidFill>
            <a:srgbClr val="FFFFFF"/>
          </a:solidFill>
          <a:ln w="12700">
            <a:solidFill>
              <a:srgbClr val="CADCFC"/>
            </a:solidFill>
            <a:prstDash val="solid"/>
          </a:ln>
        </p:spPr>
      </p:sp>
      <p:sp>
        <p:nvSpPr>
          <p:cNvPr id="32" name="Text 30"/>
          <p:cNvSpPr txBox="1"/>
          <p:nvPr/>
        </p:nvSpPr>
        <p:spPr>
          <a:xfrm>
            <a:off x="7333488" y="4919472"/>
            <a:ext cx="4160520" cy="47548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To'xtatadi (oqim qoidalari)</a:t>
            </a:r>
            <a:endParaRPr lang="en-US" sz="1500" dirty="0"/>
          </a:p>
        </p:txBody>
      </p:sp>
      <p:sp>
        <p:nvSpPr>
          <p:cNvPr id="33" name="Shape 31"/>
          <p:cNvSpPr/>
          <p:nvPr/>
        </p:nvSpPr>
        <p:spPr>
          <a:xfrm>
            <a:off x="548640" y="5577840"/>
            <a:ext cx="11064240" cy="713232"/>
          </a:xfrm>
          <a:prstGeom prst="roundRect">
            <a:avLst>
              <a:gd name="adj" fmla="val 11538"/>
            </a:avLst>
          </a:prstGeom>
          <a:solidFill>
            <a:srgbClr val="CADCFC"/>
          </a:solidFill>
          <a:ln/>
        </p:spPr>
      </p:sp>
      <p:sp>
        <p:nvSpPr>
          <p:cNvPr id="34" name="Text 32"/>
          <p:cNvSpPr txBox="1"/>
          <p:nvPr/>
        </p:nvSpPr>
        <p:spPr>
          <a:xfrm>
            <a:off x="777240" y="5577840"/>
            <a:ext cx="10607040" cy="713232"/>
          </a:xfrm>
          <a:prstGeom prst="rect">
            <a:avLst/>
          </a:prstGeom>
          <a:noFill/>
          <a:ln/>
        </p:spPr>
        <p:txBody>
          <a:bodyPr wrap="square" lIns="0" tIns="0" rIns="0" bIns="0" rtlCol="0" anchor="ctr"/>
          <a:lstStyle/>
          <a:p>
            <a:pPr algn="l" indent="0" marL="0">
              <a:lnSpc>
                <a:spcPct val="100000"/>
              </a:lnSpc>
              <a:buNone/>
            </a:pPr>
            <a:r>
              <a:rPr lang="en-US" sz="1500" dirty="0">
                <a:solidFill>
                  <a:srgbClr val="1E2761"/>
                </a:solidFill>
                <a:latin typeface="Times New Roman" pitchFamily="34" charset="0"/>
                <a:ea typeface="Times New Roman" pitchFamily="34" charset="-122"/>
                <a:cs typeface="Times New Roman" pitchFamily="34" charset="-120"/>
              </a:rPr>
              <a:t>O'zbekistonda: «Davlat sirlari to'g'risida»gi Qonun (O'RQ-1016, 27.12.2024) davlat ahamiyatiga ega bo'lgan sirlar va xizmat sirlarini hamda maxfiylik darajasini belgilaydi — MAC ning huquqiy asosi.</a:t>
            </a:r>
            <a:endParaRPr lang="en-US" sz="1500" dirty="0"/>
          </a:p>
        </p:txBody>
      </p:sp>
      <p:sp>
        <p:nvSpPr>
          <p:cNvPr id="35" name="Text 33"/>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11-ma'ruza</a:t>
            </a:r>
            <a:endParaRPr lang="en-US" sz="1100" dirty="0"/>
          </a:p>
        </p:txBody>
      </p:sp>
      <p:sp>
        <p:nvSpPr>
          <p:cNvPr id="36" name="Text 34"/>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 · XAVFSIZLIK DARAJALARI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Yorliq = daraja + toifalar; ular panjara hosil qiladi</a:t>
            </a:r>
            <a:endParaRPr lang="en-US" sz="3600" dirty="0"/>
          </a:p>
        </p:txBody>
      </p:sp>
      <p:sp>
        <p:nvSpPr>
          <p:cNvPr id="4" name="Text 2"/>
          <p:cNvSpPr txBox="1"/>
          <p:nvPr/>
        </p:nvSpPr>
        <p:spPr>
          <a:xfrm>
            <a:off x="548640" y="1737360"/>
            <a:ext cx="11064240" cy="68580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Yorliq (L, C): L — ierarxik daraja, C — toifalar to'plami. (L₁, C₁) ≥ (L₂, C₂) ⇔ L₁ ≥ L₂ va C₁ ⊇ C₂ — «ustunlik qiladi» (dominates).</a:t>
            </a:r>
            <a:endParaRPr lang="en-US" sz="1600" dirty="0"/>
          </a:p>
        </p:txBody>
      </p:sp>
      <p:sp>
        <p:nvSpPr>
          <p:cNvPr id="5" name="Shape 3"/>
          <p:cNvSpPr/>
          <p:nvPr/>
        </p:nvSpPr>
        <p:spPr>
          <a:xfrm flipH="1">
            <a:off x="1737360" y="2971800"/>
            <a:ext cx="2103120" cy="1005840"/>
          </a:xfrm>
          <a:prstGeom prst="line">
            <a:avLst/>
          </a:prstGeom>
          <a:noFill/>
          <a:ln w="19050">
            <a:solidFill>
              <a:srgbClr val="5B6270"/>
            </a:solidFill>
            <a:prstDash val="solid"/>
          </a:ln>
        </p:spPr>
      </p:sp>
      <p:sp>
        <p:nvSpPr>
          <p:cNvPr id="6" name="Shape 4"/>
          <p:cNvSpPr/>
          <p:nvPr/>
        </p:nvSpPr>
        <p:spPr>
          <a:xfrm>
            <a:off x="3840480" y="2971800"/>
            <a:ext cx="2103120" cy="1005840"/>
          </a:xfrm>
          <a:prstGeom prst="line">
            <a:avLst/>
          </a:prstGeom>
          <a:noFill/>
          <a:ln w="19050">
            <a:solidFill>
              <a:srgbClr val="5B6270"/>
            </a:solidFill>
            <a:prstDash val="solid"/>
          </a:ln>
        </p:spPr>
      </p:sp>
      <p:sp>
        <p:nvSpPr>
          <p:cNvPr id="7" name="Shape 5"/>
          <p:cNvSpPr/>
          <p:nvPr/>
        </p:nvSpPr>
        <p:spPr>
          <a:xfrm>
            <a:off x="1737360" y="4206240"/>
            <a:ext cx="914" cy="1005840"/>
          </a:xfrm>
          <a:prstGeom prst="line">
            <a:avLst/>
          </a:prstGeom>
          <a:noFill/>
          <a:ln w="19050">
            <a:solidFill>
              <a:srgbClr val="5B6270"/>
            </a:solidFill>
            <a:prstDash val="solid"/>
          </a:ln>
        </p:spPr>
      </p:sp>
      <p:sp>
        <p:nvSpPr>
          <p:cNvPr id="8" name="Shape 6"/>
          <p:cNvSpPr/>
          <p:nvPr/>
        </p:nvSpPr>
        <p:spPr>
          <a:xfrm>
            <a:off x="1737360" y="5440680"/>
            <a:ext cx="2103120" cy="320040"/>
          </a:xfrm>
          <a:prstGeom prst="line">
            <a:avLst/>
          </a:prstGeom>
          <a:noFill/>
          <a:ln w="19050">
            <a:solidFill>
              <a:srgbClr val="5B6270"/>
            </a:solidFill>
            <a:prstDash val="solid"/>
          </a:ln>
        </p:spPr>
      </p:sp>
      <p:sp>
        <p:nvSpPr>
          <p:cNvPr id="9" name="Shape 7"/>
          <p:cNvSpPr/>
          <p:nvPr/>
        </p:nvSpPr>
        <p:spPr>
          <a:xfrm flipH="1">
            <a:off x="3840480" y="4206240"/>
            <a:ext cx="2103120" cy="1554480"/>
          </a:xfrm>
          <a:prstGeom prst="line">
            <a:avLst/>
          </a:prstGeom>
          <a:noFill/>
          <a:ln w="19050">
            <a:solidFill>
              <a:srgbClr val="5B6270"/>
            </a:solidFill>
            <a:prstDash val="solid"/>
          </a:ln>
        </p:spPr>
      </p:sp>
      <p:sp>
        <p:nvSpPr>
          <p:cNvPr id="10" name="Shape 8"/>
          <p:cNvSpPr/>
          <p:nvPr/>
        </p:nvSpPr>
        <p:spPr>
          <a:xfrm>
            <a:off x="2606040" y="2487168"/>
            <a:ext cx="2468880" cy="512064"/>
          </a:xfrm>
          <a:prstGeom prst="roundRect">
            <a:avLst>
              <a:gd name="adj" fmla="val 14286"/>
            </a:avLst>
          </a:prstGeom>
          <a:solidFill>
            <a:srgbClr val="1E2761"/>
          </a:solidFill>
          <a:ln/>
        </p:spPr>
      </p:sp>
      <p:sp>
        <p:nvSpPr>
          <p:cNvPr id="11" name="Text 9"/>
          <p:cNvSpPr txBox="1"/>
          <p:nvPr/>
        </p:nvSpPr>
        <p:spPr>
          <a:xfrm>
            <a:off x="2606040" y="2487168"/>
            <a:ext cx="2468880" cy="512064"/>
          </a:xfrm>
          <a:prstGeom prst="rect">
            <a:avLst/>
          </a:prstGeom>
          <a:noFill/>
          <a:ln/>
        </p:spPr>
        <p:txBody>
          <a:bodyPr wrap="square" lIns="25400" tIns="25400" rIns="25400" bIns="2540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Maxfiy {Moliya, Kadrlar}</a:t>
            </a:r>
            <a:endParaRPr lang="en-US" sz="1400" dirty="0"/>
          </a:p>
        </p:txBody>
      </p:sp>
      <p:sp>
        <p:nvSpPr>
          <p:cNvPr id="12" name="Shape 10"/>
          <p:cNvSpPr/>
          <p:nvPr/>
        </p:nvSpPr>
        <p:spPr>
          <a:xfrm>
            <a:off x="502920" y="3721608"/>
            <a:ext cx="2468880" cy="512064"/>
          </a:xfrm>
          <a:prstGeom prst="roundRect">
            <a:avLst>
              <a:gd name="adj" fmla="val 14286"/>
            </a:avLst>
          </a:prstGeom>
          <a:solidFill>
            <a:srgbClr val="2A3778"/>
          </a:solidFill>
          <a:ln/>
        </p:spPr>
      </p:sp>
      <p:sp>
        <p:nvSpPr>
          <p:cNvPr id="13" name="Text 11"/>
          <p:cNvSpPr txBox="1"/>
          <p:nvPr/>
        </p:nvSpPr>
        <p:spPr>
          <a:xfrm>
            <a:off x="502920" y="3721608"/>
            <a:ext cx="2468880" cy="512064"/>
          </a:xfrm>
          <a:prstGeom prst="rect">
            <a:avLst/>
          </a:prstGeom>
          <a:noFill/>
          <a:ln/>
        </p:spPr>
        <p:txBody>
          <a:bodyPr wrap="square" lIns="25400" tIns="25400" rIns="25400" bIns="2540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Maxfiy {Moliya}</a:t>
            </a:r>
            <a:endParaRPr lang="en-US" sz="1400" dirty="0"/>
          </a:p>
        </p:txBody>
      </p:sp>
      <p:sp>
        <p:nvSpPr>
          <p:cNvPr id="14" name="Shape 12"/>
          <p:cNvSpPr/>
          <p:nvPr/>
        </p:nvSpPr>
        <p:spPr>
          <a:xfrm>
            <a:off x="4709160" y="3721608"/>
            <a:ext cx="2468880" cy="512064"/>
          </a:xfrm>
          <a:prstGeom prst="roundRect">
            <a:avLst>
              <a:gd name="adj" fmla="val 14286"/>
            </a:avLst>
          </a:prstGeom>
          <a:solidFill>
            <a:srgbClr val="2A3778"/>
          </a:solidFill>
          <a:ln/>
        </p:spPr>
      </p:sp>
      <p:sp>
        <p:nvSpPr>
          <p:cNvPr id="15" name="Text 13"/>
          <p:cNvSpPr txBox="1"/>
          <p:nvPr/>
        </p:nvSpPr>
        <p:spPr>
          <a:xfrm>
            <a:off x="4709160" y="3721608"/>
            <a:ext cx="2468880" cy="512064"/>
          </a:xfrm>
          <a:prstGeom prst="rect">
            <a:avLst/>
          </a:prstGeom>
          <a:noFill/>
          <a:ln/>
        </p:spPr>
        <p:txBody>
          <a:bodyPr wrap="square" lIns="25400" tIns="25400" rIns="25400" bIns="2540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Maxfiy {Kadrlar}</a:t>
            </a:r>
            <a:endParaRPr lang="en-US" sz="1400" dirty="0"/>
          </a:p>
        </p:txBody>
      </p:sp>
      <p:sp>
        <p:nvSpPr>
          <p:cNvPr id="16" name="Shape 14"/>
          <p:cNvSpPr/>
          <p:nvPr/>
        </p:nvSpPr>
        <p:spPr>
          <a:xfrm>
            <a:off x="502920" y="4956048"/>
            <a:ext cx="2468880" cy="512064"/>
          </a:xfrm>
          <a:prstGeom prst="roundRect">
            <a:avLst>
              <a:gd name="adj" fmla="val 14286"/>
            </a:avLst>
          </a:prstGeom>
          <a:solidFill>
            <a:srgbClr val="CADCFC"/>
          </a:solidFill>
          <a:ln/>
        </p:spPr>
      </p:sp>
      <p:sp>
        <p:nvSpPr>
          <p:cNvPr id="17" name="Text 15"/>
          <p:cNvSpPr txBox="1"/>
          <p:nvPr/>
        </p:nvSpPr>
        <p:spPr>
          <a:xfrm>
            <a:off x="502920" y="4956048"/>
            <a:ext cx="2468880" cy="512064"/>
          </a:xfrm>
          <a:prstGeom prst="rect">
            <a:avLst/>
          </a:prstGeom>
          <a:noFill/>
          <a:ln/>
        </p:spPr>
        <p:txBody>
          <a:bodyPr wrap="square" lIns="25400" tIns="25400" rIns="25400" bIns="25400" rtlCol="0" anchor="ctr"/>
          <a:lstStyle/>
          <a:p>
            <a:pPr algn="ctr" indent="0" marL="0">
              <a:lnSpc>
                <a:spcPct val="100000"/>
              </a:lnSpc>
              <a:buNone/>
            </a:pPr>
            <a:r>
              <a:rPr lang="en-US" sz="1400" b="1" dirty="0">
                <a:solidFill>
                  <a:srgbClr val="1E2761"/>
                </a:solidFill>
                <a:latin typeface="Times New Roman" pitchFamily="34" charset="0"/>
                <a:ea typeface="Times New Roman" pitchFamily="34" charset="-122"/>
                <a:cs typeface="Times New Roman" pitchFamily="34" charset="-120"/>
              </a:rPr>
              <a:t>Ichki {Moliya}</a:t>
            </a:r>
            <a:endParaRPr lang="en-US" sz="1400" dirty="0"/>
          </a:p>
        </p:txBody>
      </p:sp>
      <p:sp>
        <p:nvSpPr>
          <p:cNvPr id="18" name="Shape 16"/>
          <p:cNvSpPr/>
          <p:nvPr/>
        </p:nvSpPr>
        <p:spPr>
          <a:xfrm>
            <a:off x="2606040" y="5504688"/>
            <a:ext cx="2468880" cy="512064"/>
          </a:xfrm>
          <a:prstGeom prst="roundRect">
            <a:avLst>
              <a:gd name="adj" fmla="val 14286"/>
            </a:avLst>
          </a:prstGeom>
          <a:solidFill>
            <a:srgbClr val="EEF2FB"/>
          </a:solidFill>
          <a:ln/>
        </p:spPr>
      </p:sp>
      <p:sp>
        <p:nvSpPr>
          <p:cNvPr id="19" name="Text 17"/>
          <p:cNvSpPr txBox="1"/>
          <p:nvPr/>
        </p:nvSpPr>
        <p:spPr>
          <a:xfrm>
            <a:off x="2606040" y="5504688"/>
            <a:ext cx="2468880" cy="512064"/>
          </a:xfrm>
          <a:prstGeom prst="rect">
            <a:avLst/>
          </a:prstGeom>
          <a:noFill/>
          <a:ln/>
        </p:spPr>
        <p:txBody>
          <a:bodyPr wrap="square" lIns="25400" tIns="25400" rIns="25400" bIns="25400" rtlCol="0" anchor="ctr"/>
          <a:lstStyle/>
          <a:p>
            <a:pPr algn="ctr" indent="0" marL="0">
              <a:lnSpc>
                <a:spcPct val="100000"/>
              </a:lnSpc>
              <a:buNone/>
            </a:pPr>
            <a:r>
              <a:rPr lang="en-US" sz="1400" b="1" dirty="0">
                <a:solidFill>
                  <a:srgbClr val="1E2761"/>
                </a:solidFill>
                <a:latin typeface="Times New Roman" pitchFamily="34" charset="0"/>
                <a:ea typeface="Times New Roman" pitchFamily="34" charset="-122"/>
                <a:cs typeface="Times New Roman" pitchFamily="34" charset="-120"/>
              </a:rPr>
              <a:t>Ochiq { }</a:t>
            </a:r>
            <a:endParaRPr lang="en-US" sz="1400" dirty="0"/>
          </a:p>
        </p:txBody>
      </p:sp>
      <p:sp>
        <p:nvSpPr>
          <p:cNvPr id="20" name="Shape 18"/>
          <p:cNvSpPr/>
          <p:nvPr/>
        </p:nvSpPr>
        <p:spPr>
          <a:xfrm>
            <a:off x="7863840" y="2606040"/>
            <a:ext cx="3749040" cy="3611880"/>
          </a:xfrm>
          <a:prstGeom prst="roundRect">
            <a:avLst>
              <a:gd name="adj" fmla="val 2278"/>
            </a:avLst>
          </a:prstGeom>
          <a:solidFill>
            <a:srgbClr val="EEF2FB"/>
          </a:solidFill>
          <a:ln/>
        </p:spPr>
      </p:sp>
      <p:sp>
        <p:nvSpPr>
          <p:cNvPr id="21" name="Text 19"/>
          <p:cNvSpPr txBox="1"/>
          <p:nvPr/>
        </p:nvSpPr>
        <p:spPr>
          <a:xfrm>
            <a:off x="8092440" y="2697480"/>
            <a:ext cx="3291840" cy="365760"/>
          </a:xfrm>
          <a:prstGeom prst="rect">
            <a:avLst/>
          </a:prstGeom>
          <a:noFill/>
          <a:ln/>
        </p:spPr>
        <p:txBody>
          <a:bodyPr wrap="square" lIns="0" tIns="0" rIns="0" bIns="0" rtlCol="0" anchor="t"/>
          <a:lstStyle/>
          <a:p>
            <a:pPr algn="l" indent="0" marL="0">
              <a:lnSpc>
                <a:spcPct val="100000"/>
              </a:lnSpc>
              <a:buNone/>
            </a:pPr>
            <a:r>
              <a:rPr lang="en-US" sz="1800" b="1" dirty="0">
                <a:solidFill>
                  <a:srgbClr val="1E2761"/>
                </a:solidFill>
                <a:latin typeface="Times New Roman" pitchFamily="34" charset="0"/>
                <a:ea typeface="Times New Roman" pitchFamily="34" charset="-122"/>
                <a:cs typeface="Times New Roman" pitchFamily="34" charset="-120"/>
              </a:rPr>
              <a:t>O'qing</a:t>
            </a:r>
            <a:endParaRPr lang="en-US" sz="1800" dirty="0"/>
          </a:p>
        </p:txBody>
      </p:sp>
      <p:sp>
        <p:nvSpPr>
          <p:cNvPr id="22" name="Text 20"/>
          <p:cNvSpPr txBox="1"/>
          <p:nvPr/>
        </p:nvSpPr>
        <p:spPr>
          <a:xfrm>
            <a:off x="8092440" y="3154680"/>
            <a:ext cx="3383280" cy="292608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Maxfiy{Moliya} ≥ Ichki{Moliya} — ha</a:t>
            </a:r>
            <a:endParaRPr lang="en-US" sz="1600" dirty="0"/>
          </a:p>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Maxfiy{Moliya} va Maxfiy{Kadrlar} — taqqoslab bo'lmaydi</a:t>
            </a:r>
            <a:endParaRPr lang="en-US" sz="1600" dirty="0"/>
          </a:p>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Eng yuqori — barcha toifalarni o'z ichiga oladi</a:t>
            </a:r>
            <a:endParaRPr lang="en-US" sz="1600" dirty="0"/>
          </a:p>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Toifalar «bilish zarurati» tamoyilini ifodalaydi (M2)</a:t>
            </a:r>
            <a:endParaRPr lang="en-US" sz="1600" dirty="0"/>
          </a:p>
        </p:txBody>
      </p:sp>
      <p:sp>
        <p:nvSpPr>
          <p:cNvPr id="23" name="Text 21"/>
          <p:cNvSpPr txBox="1"/>
          <p:nvPr/>
        </p:nvSpPr>
        <p:spPr>
          <a:xfrm>
            <a:off x="548640" y="6126480"/>
            <a:ext cx="6858000" cy="274320"/>
          </a:xfrm>
          <a:prstGeom prst="rect">
            <a:avLst/>
          </a:prstGeom>
          <a:noFill/>
          <a:ln/>
        </p:spPr>
        <p:txBody>
          <a:bodyPr wrap="square" lIns="0" tIns="0" rIns="0" bIns="0" rtlCol="0" anchor="t"/>
          <a:lstStyle/>
          <a:p>
            <a:pPr algn="l" indent="0" marL="0">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O'quv misoli: daraja nomlari shartli</a:t>
            </a:r>
            <a:endParaRPr lang="en-US" sz="1100" dirty="0"/>
          </a:p>
        </p:txBody>
      </p:sp>
      <p:sp>
        <p:nvSpPr>
          <p:cNvPr id="24" name="Text 22"/>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11-ma'ruza</a:t>
            </a:r>
            <a:endParaRPr lang="en-US" sz="1100" dirty="0"/>
          </a:p>
        </p:txBody>
      </p:sp>
      <p:sp>
        <p:nvSpPr>
          <p:cNvPr id="25" name="Text 23"/>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 · BELL-LAPADULA (1973–1976)</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Maxfiylik modeli: yuqoriga o'qima, pastga yozma</a:t>
            </a:r>
            <a:endParaRPr lang="en-US" sz="3600" dirty="0"/>
          </a:p>
        </p:txBody>
      </p:sp>
      <p:sp>
        <p:nvSpPr>
          <p:cNvPr id="4" name="Shape 2"/>
          <p:cNvSpPr/>
          <p:nvPr/>
        </p:nvSpPr>
        <p:spPr>
          <a:xfrm>
            <a:off x="548640" y="1783080"/>
            <a:ext cx="5486400" cy="658368"/>
          </a:xfrm>
          <a:prstGeom prst="roundRect">
            <a:avLst>
              <a:gd name="adj" fmla="val 12500"/>
            </a:avLst>
          </a:prstGeom>
          <a:solidFill>
            <a:srgbClr val="EEF2FB"/>
          </a:solidFill>
          <a:ln/>
        </p:spPr>
      </p:sp>
      <p:sp>
        <p:nvSpPr>
          <p:cNvPr id="5" name="Text 3"/>
          <p:cNvSpPr txBox="1"/>
          <p:nvPr/>
        </p:nvSpPr>
        <p:spPr>
          <a:xfrm>
            <a:off x="731520" y="1783080"/>
            <a:ext cx="2011680" cy="658368"/>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O'ta maxfiy</a:t>
            </a:r>
            <a:endParaRPr lang="en-US" sz="1600" dirty="0"/>
          </a:p>
        </p:txBody>
      </p:sp>
      <p:sp>
        <p:nvSpPr>
          <p:cNvPr id="6" name="Text 4"/>
          <p:cNvSpPr txBox="1"/>
          <p:nvPr/>
        </p:nvSpPr>
        <p:spPr>
          <a:xfrm>
            <a:off x="2834640" y="1783080"/>
            <a:ext cx="1371600" cy="658368"/>
          </a:xfrm>
          <a:prstGeom prst="rect">
            <a:avLst/>
          </a:prstGeom>
          <a:noFill/>
          <a:ln/>
        </p:spPr>
        <p:txBody>
          <a:bodyPr wrap="square" lIns="0" tIns="0" rIns="0" bIns="0" rtlCol="0" anchor="ctr"/>
          <a:lstStyle/>
          <a:p>
            <a:pPr algn="l" indent="0" marL="0">
              <a:lnSpc>
                <a:spcPct val="100000"/>
              </a:lnSpc>
              <a:buNone/>
            </a:pPr>
            <a:r>
              <a:rPr lang="en-US" sz="1600" b="1" dirty="0">
                <a:solidFill>
                  <a:srgbClr val="9E3B2E"/>
                </a:solidFill>
                <a:latin typeface="Times New Roman" pitchFamily="34" charset="0"/>
                <a:ea typeface="Times New Roman" pitchFamily="34" charset="-122"/>
                <a:cs typeface="Times New Roman" pitchFamily="34" charset="-120"/>
              </a:rPr>
              <a:t>✗ o'qish</a:t>
            </a:r>
            <a:endParaRPr lang="en-US" sz="1600" dirty="0"/>
          </a:p>
        </p:txBody>
      </p:sp>
      <p:sp>
        <p:nvSpPr>
          <p:cNvPr id="7" name="Text 5"/>
          <p:cNvSpPr txBox="1"/>
          <p:nvPr/>
        </p:nvSpPr>
        <p:spPr>
          <a:xfrm>
            <a:off x="4206240" y="1783080"/>
            <a:ext cx="1371600" cy="658368"/>
          </a:xfrm>
          <a:prstGeom prst="rect">
            <a:avLst/>
          </a:prstGeom>
          <a:noFill/>
          <a:ln/>
        </p:spPr>
        <p:txBody>
          <a:bodyPr wrap="square" lIns="0" tIns="0" rIns="0" bIns="0" rtlCol="0" anchor="ctr"/>
          <a:lstStyle/>
          <a:p>
            <a:pPr algn="l" indent="0" marL="0">
              <a:lnSpc>
                <a:spcPct val="100000"/>
              </a:lnSpc>
              <a:buNone/>
            </a:pPr>
            <a:r>
              <a:rPr lang="en-US" sz="1600" b="1" dirty="0">
                <a:solidFill>
                  <a:srgbClr val="1F6B4A"/>
                </a:solidFill>
                <a:latin typeface="Times New Roman" pitchFamily="34" charset="0"/>
                <a:ea typeface="Times New Roman" pitchFamily="34" charset="-122"/>
                <a:cs typeface="Times New Roman" pitchFamily="34" charset="-120"/>
              </a:rPr>
              <a:t>✓ yozish</a:t>
            </a:r>
            <a:endParaRPr lang="en-US" sz="1600" dirty="0"/>
          </a:p>
        </p:txBody>
      </p:sp>
      <p:sp>
        <p:nvSpPr>
          <p:cNvPr id="8" name="Shape 6"/>
          <p:cNvSpPr/>
          <p:nvPr/>
        </p:nvSpPr>
        <p:spPr>
          <a:xfrm>
            <a:off x="548640" y="2514600"/>
            <a:ext cx="5486400" cy="658368"/>
          </a:xfrm>
          <a:prstGeom prst="roundRect">
            <a:avLst>
              <a:gd name="adj" fmla="val 12500"/>
            </a:avLst>
          </a:prstGeom>
          <a:solidFill>
            <a:srgbClr val="1E2761"/>
          </a:solidFill>
          <a:ln/>
        </p:spPr>
      </p:sp>
      <p:sp>
        <p:nvSpPr>
          <p:cNvPr id="9" name="Text 7"/>
          <p:cNvSpPr txBox="1"/>
          <p:nvPr/>
        </p:nvSpPr>
        <p:spPr>
          <a:xfrm>
            <a:off x="731520" y="2514600"/>
            <a:ext cx="2011680" cy="658368"/>
          </a:xfrm>
          <a:prstGeom prst="rect">
            <a:avLst/>
          </a:prstGeom>
          <a:noFill/>
          <a:ln/>
        </p:spPr>
        <p:txBody>
          <a:bodyPr wrap="square" lIns="0" tIns="0" rIns="0" bIns="0" rtlCol="0" anchor="ctr"/>
          <a:lstStyle/>
          <a:p>
            <a:pPr algn="l"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Maxfiy</a:t>
            </a:r>
            <a:endParaRPr lang="en-US" sz="1600" dirty="0"/>
          </a:p>
        </p:txBody>
      </p:sp>
      <p:sp>
        <p:nvSpPr>
          <p:cNvPr id="10" name="Text 8"/>
          <p:cNvSpPr txBox="1"/>
          <p:nvPr/>
        </p:nvSpPr>
        <p:spPr>
          <a:xfrm>
            <a:off x="4754880" y="2514600"/>
            <a:ext cx="1097280" cy="658368"/>
          </a:xfrm>
          <a:prstGeom prst="rect">
            <a:avLst/>
          </a:prstGeom>
          <a:noFill/>
          <a:ln/>
        </p:spPr>
        <p:txBody>
          <a:bodyPr wrap="square" lIns="0" tIns="0" rIns="0" bIns="0" rtlCol="0" anchor="ctr"/>
          <a:lstStyle/>
          <a:p>
            <a:pPr algn="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sub'ekt</a:t>
            </a:r>
            <a:endParaRPr lang="en-US" sz="1400" dirty="0"/>
          </a:p>
        </p:txBody>
      </p:sp>
      <p:sp>
        <p:nvSpPr>
          <p:cNvPr id="11" name="Shape 9"/>
          <p:cNvSpPr/>
          <p:nvPr/>
        </p:nvSpPr>
        <p:spPr>
          <a:xfrm>
            <a:off x="548640" y="3246120"/>
            <a:ext cx="5486400" cy="658368"/>
          </a:xfrm>
          <a:prstGeom prst="roundRect">
            <a:avLst>
              <a:gd name="adj" fmla="val 12500"/>
            </a:avLst>
          </a:prstGeom>
          <a:solidFill>
            <a:srgbClr val="EEF2FB"/>
          </a:solidFill>
          <a:ln/>
        </p:spPr>
      </p:sp>
      <p:sp>
        <p:nvSpPr>
          <p:cNvPr id="12" name="Text 10"/>
          <p:cNvSpPr txBox="1"/>
          <p:nvPr/>
        </p:nvSpPr>
        <p:spPr>
          <a:xfrm>
            <a:off x="731520" y="3246120"/>
            <a:ext cx="2011680" cy="658368"/>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Ichki</a:t>
            </a:r>
            <a:endParaRPr lang="en-US" sz="1600" dirty="0"/>
          </a:p>
        </p:txBody>
      </p:sp>
      <p:sp>
        <p:nvSpPr>
          <p:cNvPr id="13" name="Text 11"/>
          <p:cNvSpPr txBox="1"/>
          <p:nvPr/>
        </p:nvSpPr>
        <p:spPr>
          <a:xfrm>
            <a:off x="2834640" y="3246120"/>
            <a:ext cx="1371600" cy="658368"/>
          </a:xfrm>
          <a:prstGeom prst="rect">
            <a:avLst/>
          </a:prstGeom>
          <a:noFill/>
          <a:ln/>
        </p:spPr>
        <p:txBody>
          <a:bodyPr wrap="square" lIns="0" tIns="0" rIns="0" bIns="0" rtlCol="0" anchor="ctr"/>
          <a:lstStyle/>
          <a:p>
            <a:pPr algn="l" indent="0" marL="0">
              <a:lnSpc>
                <a:spcPct val="100000"/>
              </a:lnSpc>
              <a:buNone/>
            </a:pPr>
            <a:r>
              <a:rPr lang="en-US" sz="1600" b="1" dirty="0">
                <a:solidFill>
                  <a:srgbClr val="1F6B4A"/>
                </a:solidFill>
                <a:latin typeface="Times New Roman" pitchFamily="34" charset="0"/>
                <a:ea typeface="Times New Roman" pitchFamily="34" charset="-122"/>
                <a:cs typeface="Times New Roman" pitchFamily="34" charset="-120"/>
              </a:rPr>
              <a:t>✓ o'qish</a:t>
            </a:r>
            <a:endParaRPr lang="en-US" sz="1600" dirty="0"/>
          </a:p>
        </p:txBody>
      </p:sp>
      <p:sp>
        <p:nvSpPr>
          <p:cNvPr id="14" name="Text 12"/>
          <p:cNvSpPr txBox="1"/>
          <p:nvPr/>
        </p:nvSpPr>
        <p:spPr>
          <a:xfrm>
            <a:off x="4206240" y="3246120"/>
            <a:ext cx="1371600" cy="658368"/>
          </a:xfrm>
          <a:prstGeom prst="rect">
            <a:avLst/>
          </a:prstGeom>
          <a:noFill/>
          <a:ln/>
        </p:spPr>
        <p:txBody>
          <a:bodyPr wrap="square" lIns="0" tIns="0" rIns="0" bIns="0" rtlCol="0" anchor="ctr"/>
          <a:lstStyle/>
          <a:p>
            <a:pPr algn="l" indent="0" marL="0">
              <a:lnSpc>
                <a:spcPct val="100000"/>
              </a:lnSpc>
              <a:buNone/>
            </a:pPr>
            <a:r>
              <a:rPr lang="en-US" sz="1600" b="1" dirty="0">
                <a:solidFill>
                  <a:srgbClr val="9E3B2E"/>
                </a:solidFill>
                <a:latin typeface="Times New Roman" pitchFamily="34" charset="0"/>
                <a:ea typeface="Times New Roman" pitchFamily="34" charset="-122"/>
                <a:cs typeface="Times New Roman" pitchFamily="34" charset="-120"/>
              </a:rPr>
              <a:t>✗ yozish</a:t>
            </a:r>
            <a:endParaRPr lang="en-US" sz="1600" dirty="0"/>
          </a:p>
        </p:txBody>
      </p:sp>
      <p:sp>
        <p:nvSpPr>
          <p:cNvPr id="15" name="Shape 13"/>
          <p:cNvSpPr/>
          <p:nvPr/>
        </p:nvSpPr>
        <p:spPr>
          <a:xfrm>
            <a:off x="548640" y="3977640"/>
            <a:ext cx="5486400" cy="658368"/>
          </a:xfrm>
          <a:prstGeom prst="roundRect">
            <a:avLst>
              <a:gd name="adj" fmla="val 12500"/>
            </a:avLst>
          </a:prstGeom>
          <a:solidFill>
            <a:srgbClr val="EEF2FB"/>
          </a:solidFill>
          <a:ln/>
        </p:spPr>
      </p:sp>
      <p:sp>
        <p:nvSpPr>
          <p:cNvPr id="16" name="Text 14"/>
          <p:cNvSpPr txBox="1"/>
          <p:nvPr/>
        </p:nvSpPr>
        <p:spPr>
          <a:xfrm>
            <a:off x="731520" y="3977640"/>
            <a:ext cx="2011680" cy="658368"/>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Ochiq</a:t>
            </a:r>
            <a:endParaRPr lang="en-US" sz="1600" dirty="0"/>
          </a:p>
        </p:txBody>
      </p:sp>
      <p:sp>
        <p:nvSpPr>
          <p:cNvPr id="17" name="Text 15"/>
          <p:cNvSpPr txBox="1"/>
          <p:nvPr/>
        </p:nvSpPr>
        <p:spPr>
          <a:xfrm>
            <a:off x="2834640" y="3977640"/>
            <a:ext cx="1371600" cy="658368"/>
          </a:xfrm>
          <a:prstGeom prst="rect">
            <a:avLst/>
          </a:prstGeom>
          <a:noFill/>
          <a:ln/>
        </p:spPr>
        <p:txBody>
          <a:bodyPr wrap="square" lIns="0" tIns="0" rIns="0" bIns="0" rtlCol="0" anchor="ctr"/>
          <a:lstStyle/>
          <a:p>
            <a:pPr algn="l" indent="0" marL="0">
              <a:lnSpc>
                <a:spcPct val="100000"/>
              </a:lnSpc>
              <a:buNone/>
            </a:pPr>
            <a:r>
              <a:rPr lang="en-US" sz="1600" b="1" dirty="0">
                <a:solidFill>
                  <a:srgbClr val="1F6B4A"/>
                </a:solidFill>
                <a:latin typeface="Times New Roman" pitchFamily="34" charset="0"/>
                <a:ea typeface="Times New Roman" pitchFamily="34" charset="-122"/>
                <a:cs typeface="Times New Roman" pitchFamily="34" charset="-120"/>
              </a:rPr>
              <a:t>✓ o'qish</a:t>
            </a:r>
            <a:endParaRPr lang="en-US" sz="1600" dirty="0"/>
          </a:p>
        </p:txBody>
      </p:sp>
      <p:sp>
        <p:nvSpPr>
          <p:cNvPr id="18" name="Text 16"/>
          <p:cNvSpPr txBox="1"/>
          <p:nvPr/>
        </p:nvSpPr>
        <p:spPr>
          <a:xfrm>
            <a:off x="4206240" y="3977640"/>
            <a:ext cx="1371600" cy="658368"/>
          </a:xfrm>
          <a:prstGeom prst="rect">
            <a:avLst/>
          </a:prstGeom>
          <a:noFill/>
          <a:ln/>
        </p:spPr>
        <p:txBody>
          <a:bodyPr wrap="square" lIns="0" tIns="0" rIns="0" bIns="0" rtlCol="0" anchor="ctr"/>
          <a:lstStyle/>
          <a:p>
            <a:pPr algn="l" indent="0" marL="0">
              <a:lnSpc>
                <a:spcPct val="100000"/>
              </a:lnSpc>
              <a:buNone/>
            </a:pPr>
            <a:r>
              <a:rPr lang="en-US" sz="1600" b="1" dirty="0">
                <a:solidFill>
                  <a:srgbClr val="9E3B2E"/>
                </a:solidFill>
                <a:latin typeface="Times New Roman" pitchFamily="34" charset="0"/>
                <a:ea typeface="Times New Roman" pitchFamily="34" charset="-122"/>
                <a:cs typeface="Times New Roman" pitchFamily="34" charset="-120"/>
              </a:rPr>
              <a:t>✗ yozish</a:t>
            </a:r>
            <a:endParaRPr lang="en-US" sz="1600" dirty="0"/>
          </a:p>
        </p:txBody>
      </p:sp>
      <p:sp>
        <p:nvSpPr>
          <p:cNvPr id="19" name="Shape 17"/>
          <p:cNvSpPr/>
          <p:nvPr/>
        </p:nvSpPr>
        <p:spPr>
          <a:xfrm>
            <a:off x="6309360" y="1783080"/>
            <a:ext cx="5303520" cy="896112"/>
          </a:xfrm>
          <a:prstGeom prst="roundRect">
            <a:avLst>
              <a:gd name="adj" fmla="val 9184"/>
            </a:avLst>
          </a:prstGeom>
          <a:solidFill>
            <a:srgbClr val="EEF2FB"/>
          </a:solidFill>
          <a:ln/>
        </p:spPr>
      </p:sp>
      <p:sp>
        <p:nvSpPr>
          <p:cNvPr id="20" name="Shape 18"/>
          <p:cNvSpPr/>
          <p:nvPr/>
        </p:nvSpPr>
        <p:spPr>
          <a:xfrm>
            <a:off x="6309360" y="1783080"/>
            <a:ext cx="109728" cy="896112"/>
          </a:xfrm>
          <a:prstGeom prst="roundRect">
            <a:avLst>
              <a:gd name="adj" fmla="val 16667"/>
            </a:avLst>
          </a:prstGeom>
          <a:solidFill>
            <a:srgbClr val="1E2761"/>
          </a:solidFill>
          <a:ln/>
        </p:spPr>
      </p:sp>
      <p:sp>
        <p:nvSpPr>
          <p:cNvPr id="21" name="Text 19"/>
          <p:cNvSpPr txBox="1"/>
          <p:nvPr/>
        </p:nvSpPr>
        <p:spPr>
          <a:xfrm>
            <a:off x="6537960" y="1819656"/>
            <a:ext cx="3108960" cy="365760"/>
          </a:xfrm>
          <a:prstGeom prst="rect">
            <a:avLst/>
          </a:prstGeom>
          <a:noFill/>
          <a:ln/>
        </p:spPr>
        <p:txBody>
          <a:bodyPr wrap="square" lIns="0" tIns="0" rIns="0" bIns="0" rtlCol="0" anchor="t"/>
          <a:lstStyle/>
          <a:p>
            <a:pPr algn="l"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Oddiy xavfsizlik xossasi</a:t>
            </a:r>
            <a:endParaRPr lang="en-US" sz="1700" dirty="0"/>
          </a:p>
        </p:txBody>
      </p:sp>
      <p:sp>
        <p:nvSpPr>
          <p:cNvPr id="22" name="Text 20"/>
          <p:cNvSpPr txBox="1"/>
          <p:nvPr/>
        </p:nvSpPr>
        <p:spPr>
          <a:xfrm>
            <a:off x="9601200" y="1819656"/>
            <a:ext cx="1920240" cy="365760"/>
          </a:xfrm>
          <a:prstGeom prst="rect">
            <a:avLst/>
          </a:prstGeom>
          <a:noFill/>
          <a:ln/>
        </p:spPr>
        <p:txBody>
          <a:bodyPr wrap="square" lIns="0" tIns="0" rIns="0" bIns="0" rtlCol="0" anchor="t"/>
          <a:lstStyle/>
          <a:p>
            <a:pPr algn="r"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no read up</a:t>
            </a:r>
            <a:endParaRPr lang="en-US" sz="1400" dirty="0"/>
          </a:p>
        </p:txBody>
      </p:sp>
      <p:sp>
        <p:nvSpPr>
          <p:cNvPr id="23" name="Text 21"/>
          <p:cNvSpPr txBox="1"/>
          <p:nvPr/>
        </p:nvSpPr>
        <p:spPr>
          <a:xfrm>
            <a:off x="6537960" y="2203704"/>
            <a:ext cx="4937760" cy="438912"/>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Courier New" pitchFamily="34" charset="0"/>
                <a:ea typeface="Courier New" pitchFamily="34" charset="-122"/>
                <a:cs typeface="Courier New" pitchFamily="34" charset="-120"/>
              </a:rPr>
              <a:t>s o ni o'qiy oladi ⇔ yorliq(s) ≥ yorliq(o)</a:t>
            </a:r>
            <a:endParaRPr lang="en-US" sz="1500" dirty="0"/>
          </a:p>
        </p:txBody>
      </p:sp>
      <p:sp>
        <p:nvSpPr>
          <p:cNvPr id="24" name="Shape 22"/>
          <p:cNvSpPr/>
          <p:nvPr/>
        </p:nvSpPr>
        <p:spPr>
          <a:xfrm>
            <a:off x="6309360" y="2788920"/>
            <a:ext cx="5303520" cy="896112"/>
          </a:xfrm>
          <a:prstGeom prst="roundRect">
            <a:avLst>
              <a:gd name="adj" fmla="val 9184"/>
            </a:avLst>
          </a:prstGeom>
          <a:solidFill>
            <a:srgbClr val="EEF2FB"/>
          </a:solidFill>
          <a:ln/>
        </p:spPr>
      </p:sp>
      <p:sp>
        <p:nvSpPr>
          <p:cNvPr id="25" name="Shape 23"/>
          <p:cNvSpPr/>
          <p:nvPr/>
        </p:nvSpPr>
        <p:spPr>
          <a:xfrm>
            <a:off x="6309360" y="2788920"/>
            <a:ext cx="109728" cy="896112"/>
          </a:xfrm>
          <a:prstGeom prst="roundRect">
            <a:avLst>
              <a:gd name="adj" fmla="val 16667"/>
            </a:avLst>
          </a:prstGeom>
          <a:solidFill>
            <a:srgbClr val="9E3B2E"/>
          </a:solidFill>
          <a:ln/>
        </p:spPr>
      </p:sp>
      <p:sp>
        <p:nvSpPr>
          <p:cNvPr id="26" name="Text 24"/>
          <p:cNvSpPr txBox="1"/>
          <p:nvPr/>
        </p:nvSpPr>
        <p:spPr>
          <a:xfrm>
            <a:off x="6537960" y="2825496"/>
            <a:ext cx="3108960" cy="365760"/>
          </a:xfrm>
          <a:prstGeom prst="rect">
            <a:avLst/>
          </a:prstGeom>
          <a:noFill/>
          <a:ln/>
        </p:spPr>
        <p:txBody>
          <a:bodyPr wrap="square" lIns="0" tIns="0" rIns="0" bIns="0" rtlCol="0" anchor="t"/>
          <a:lstStyle/>
          <a:p>
            <a:pPr algn="l" indent="0" marL="0">
              <a:lnSpc>
                <a:spcPct val="100000"/>
              </a:lnSpc>
              <a:buNone/>
            </a:pPr>
            <a:r>
              <a:rPr lang="en-US" sz="1700" b="1" dirty="0">
                <a:solidFill>
                  <a:srgbClr val="9E3B2E"/>
                </a:solidFill>
                <a:latin typeface="Times New Roman" pitchFamily="34" charset="0"/>
                <a:ea typeface="Times New Roman" pitchFamily="34" charset="-122"/>
                <a:cs typeface="Times New Roman" pitchFamily="34" charset="-120"/>
              </a:rPr>
              <a:t>*-xossa (yulduzcha)</a:t>
            </a:r>
            <a:endParaRPr lang="en-US" sz="1700" dirty="0"/>
          </a:p>
        </p:txBody>
      </p:sp>
      <p:sp>
        <p:nvSpPr>
          <p:cNvPr id="27" name="Text 25"/>
          <p:cNvSpPr txBox="1"/>
          <p:nvPr/>
        </p:nvSpPr>
        <p:spPr>
          <a:xfrm>
            <a:off x="9601200" y="2825496"/>
            <a:ext cx="1920240" cy="365760"/>
          </a:xfrm>
          <a:prstGeom prst="rect">
            <a:avLst/>
          </a:prstGeom>
          <a:noFill/>
          <a:ln/>
        </p:spPr>
        <p:txBody>
          <a:bodyPr wrap="square" lIns="0" tIns="0" rIns="0" bIns="0" rtlCol="0" anchor="t"/>
          <a:lstStyle/>
          <a:p>
            <a:pPr algn="r"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no write down</a:t>
            </a:r>
            <a:endParaRPr lang="en-US" sz="1400" dirty="0"/>
          </a:p>
        </p:txBody>
      </p:sp>
      <p:sp>
        <p:nvSpPr>
          <p:cNvPr id="28" name="Text 26"/>
          <p:cNvSpPr txBox="1"/>
          <p:nvPr/>
        </p:nvSpPr>
        <p:spPr>
          <a:xfrm>
            <a:off x="6537960" y="3209544"/>
            <a:ext cx="4937760" cy="438912"/>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Courier New" pitchFamily="34" charset="0"/>
                <a:ea typeface="Courier New" pitchFamily="34" charset="-122"/>
                <a:cs typeface="Courier New" pitchFamily="34" charset="-120"/>
              </a:rPr>
              <a:t>s o ga yoza oladi ⇔ yorliq(o) ≥ yorliq(s)</a:t>
            </a:r>
            <a:endParaRPr lang="en-US" sz="1500" dirty="0"/>
          </a:p>
        </p:txBody>
      </p:sp>
      <p:sp>
        <p:nvSpPr>
          <p:cNvPr id="29" name="Shape 27"/>
          <p:cNvSpPr/>
          <p:nvPr/>
        </p:nvSpPr>
        <p:spPr>
          <a:xfrm>
            <a:off x="6309360" y="3794760"/>
            <a:ext cx="5303520" cy="896112"/>
          </a:xfrm>
          <a:prstGeom prst="roundRect">
            <a:avLst>
              <a:gd name="adj" fmla="val 9184"/>
            </a:avLst>
          </a:prstGeom>
          <a:solidFill>
            <a:srgbClr val="EEF2FB"/>
          </a:solidFill>
          <a:ln/>
        </p:spPr>
      </p:sp>
      <p:sp>
        <p:nvSpPr>
          <p:cNvPr id="30" name="Shape 28"/>
          <p:cNvSpPr/>
          <p:nvPr/>
        </p:nvSpPr>
        <p:spPr>
          <a:xfrm>
            <a:off x="6309360" y="3794760"/>
            <a:ext cx="109728" cy="896112"/>
          </a:xfrm>
          <a:prstGeom prst="roundRect">
            <a:avLst>
              <a:gd name="adj" fmla="val 16667"/>
            </a:avLst>
          </a:prstGeom>
          <a:solidFill>
            <a:srgbClr val="2A3778"/>
          </a:solidFill>
          <a:ln/>
        </p:spPr>
      </p:sp>
      <p:sp>
        <p:nvSpPr>
          <p:cNvPr id="31" name="Text 29"/>
          <p:cNvSpPr txBox="1"/>
          <p:nvPr/>
        </p:nvSpPr>
        <p:spPr>
          <a:xfrm>
            <a:off x="6537960" y="3831336"/>
            <a:ext cx="3108960" cy="365760"/>
          </a:xfrm>
          <a:prstGeom prst="rect">
            <a:avLst/>
          </a:prstGeom>
          <a:noFill/>
          <a:ln/>
        </p:spPr>
        <p:txBody>
          <a:bodyPr wrap="square" lIns="0" tIns="0" rIns="0" bIns="0" rtlCol="0" anchor="t"/>
          <a:lstStyle/>
          <a:p>
            <a:pPr algn="l" indent="0" marL="0">
              <a:lnSpc>
                <a:spcPct val="100000"/>
              </a:lnSpc>
              <a:buNone/>
            </a:pPr>
            <a:r>
              <a:rPr lang="en-US" sz="1700" b="1" dirty="0">
                <a:solidFill>
                  <a:srgbClr val="2A3778"/>
                </a:solidFill>
                <a:latin typeface="Times New Roman" pitchFamily="34" charset="0"/>
                <a:ea typeface="Times New Roman" pitchFamily="34" charset="-122"/>
                <a:cs typeface="Times New Roman" pitchFamily="34" charset="-120"/>
              </a:rPr>
              <a:t>Diskretsion xossa</a:t>
            </a:r>
            <a:endParaRPr lang="en-US" sz="1700" dirty="0"/>
          </a:p>
        </p:txBody>
      </p:sp>
      <p:sp>
        <p:nvSpPr>
          <p:cNvPr id="32" name="Text 30"/>
          <p:cNvSpPr txBox="1"/>
          <p:nvPr/>
        </p:nvSpPr>
        <p:spPr>
          <a:xfrm>
            <a:off x="9601200" y="3831336"/>
            <a:ext cx="1920240" cy="365760"/>
          </a:xfrm>
          <a:prstGeom prst="rect">
            <a:avLst/>
          </a:prstGeom>
          <a:noFill/>
          <a:ln/>
        </p:spPr>
        <p:txBody>
          <a:bodyPr wrap="square" lIns="0" tIns="0" rIns="0" bIns="0" rtlCol="0" anchor="t"/>
          <a:lstStyle/>
          <a:p>
            <a:pPr algn="r"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ds-property</a:t>
            </a:r>
            <a:endParaRPr lang="en-US" sz="1400" dirty="0"/>
          </a:p>
        </p:txBody>
      </p:sp>
      <p:sp>
        <p:nvSpPr>
          <p:cNvPr id="33" name="Text 31"/>
          <p:cNvSpPr txBox="1"/>
          <p:nvPr/>
        </p:nvSpPr>
        <p:spPr>
          <a:xfrm>
            <a:off x="6537960" y="4215384"/>
            <a:ext cx="4937760" cy="438912"/>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Qo'shimcha ravishda foydalanish matritsasi ham ruxsat berishi kerak</a:t>
            </a:r>
            <a:endParaRPr lang="en-US" sz="1500" dirty="0"/>
          </a:p>
        </p:txBody>
      </p:sp>
      <p:sp>
        <p:nvSpPr>
          <p:cNvPr id="34" name="Shape 32"/>
          <p:cNvSpPr/>
          <p:nvPr/>
        </p:nvSpPr>
        <p:spPr>
          <a:xfrm>
            <a:off x="548640" y="4846320"/>
            <a:ext cx="11064240" cy="1371600"/>
          </a:xfrm>
          <a:prstGeom prst="roundRect">
            <a:avLst>
              <a:gd name="adj" fmla="val 6000"/>
            </a:avLst>
          </a:prstGeom>
          <a:solidFill>
            <a:srgbClr val="CADCFC"/>
          </a:solidFill>
          <a:ln/>
        </p:spPr>
      </p:sp>
      <p:sp>
        <p:nvSpPr>
          <p:cNvPr id="35" name="Text 33"/>
          <p:cNvSpPr txBox="1"/>
          <p:nvPr/>
        </p:nvSpPr>
        <p:spPr>
          <a:xfrm>
            <a:off x="777240" y="4919472"/>
            <a:ext cx="5486400" cy="384048"/>
          </a:xfrm>
          <a:prstGeom prst="rect">
            <a:avLst/>
          </a:prstGeom>
          <a:noFill/>
          <a:ln/>
        </p:spPr>
        <p:txBody>
          <a:bodyPr wrap="square" lIns="0" tIns="0" rIns="0" bIns="0" rtlCol="0" anchor="t"/>
          <a:lstStyle/>
          <a:p>
            <a:pPr algn="l" indent="0" marL="0">
              <a:lnSpc>
                <a:spcPct val="100000"/>
              </a:lnSpc>
              <a:buNone/>
            </a:pPr>
            <a:r>
              <a:rPr lang="en-US" sz="1800" b="1" dirty="0">
                <a:solidFill>
                  <a:srgbClr val="1E2761"/>
                </a:solidFill>
                <a:latin typeface="Times New Roman" pitchFamily="34" charset="0"/>
                <a:ea typeface="Times New Roman" pitchFamily="34" charset="-122"/>
                <a:cs typeface="Times New Roman" pitchFamily="34" charset="-120"/>
              </a:rPr>
              <a:t>Nega pastga yozish taqiqlanadi?</a:t>
            </a:r>
            <a:endParaRPr lang="en-US" sz="1800" dirty="0"/>
          </a:p>
        </p:txBody>
      </p:sp>
      <p:sp>
        <p:nvSpPr>
          <p:cNvPr id="36" name="Text 34"/>
          <p:cNvSpPr txBox="1"/>
          <p:nvPr/>
        </p:nvSpPr>
        <p:spPr>
          <a:xfrm>
            <a:off x="777240" y="5303520"/>
            <a:ext cx="10607040" cy="86868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Maxfiy darajadagi jarayon pastga yoza olsa, u o'qigan maxfiy ma'lumotni ochiq faylga ko'chira oladi. *-xossa aynan troyan oti kanalini yopadi: ma'lumot faqat yuqoriga yoki bir darajada oqadi.</a:t>
            </a:r>
            <a:endParaRPr lang="en-US" sz="1600" dirty="0"/>
          </a:p>
        </p:txBody>
      </p:sp>
      <p:sp>
        <p:nvSpPr>
          <p:cNvPr id="37" name="Text 35"/>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11-ma'ruza</a:t>
            </a:r>
            <a:endParaRPr lang="en-US" sz="1100" dirty="0"/>
          </a:p>
        </p:txBody>
      </p:sp>
      <p:sp>
        <p:nvSpPr>
          <p:cNvPr id="38" name="Text 36"/>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 · BLP AMALDA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Troyan oti BLP tizimida</a:t>
            </a:r>
            <a:endParaRPr lang="en-US" sz="3600" dirty="0"/>
          </a:p>
        </p:txBody>
      </p:sp>
      <p:sp>
        <p:nvSpPr>
          <p:cNvPr id="4" name="Shape 2"/>
          <p:cNvSpPr/>
          <p:nvPr/>
        </p:nvSpPr>
        <p:spPr>
          <a:xfrm>
            <a:off x="548640" y="1783080"/>
            <a:ext cx="2514600" cy="1920240"/>
          </a:xfrm>
          <a:prstGeom prst="roundRect">
            <a:avLst>
              <a:gd name="adj" fmla="val 4286"/>
            </a:avLst>
          </a:prstGeom>
          <a:solidFill>
            <a:srgbClr val="1E2761"/>
          </a:solidFill>
          <a:ln/>
        </p:spPr>
      </p:sp>
      <p:sp>
        <p:nvSpPr>
          <p:cNvPr id="5" name="Shape 3"/>
          <p:cNvSpPr/>
          <p:nvPr/>
        </p:nvSpPr>
        <p:spPr>
          <a:xfrm>
            <a:off x="1463040" y="1920240"/>
            <a:ext cx="685800" cy="685800"/>
          </a:xfrm>
          <a:prstGeom prst="ellipse">
            <a:avLst/>
          </a:prstGeom>
          <a:solidFill>
            <a:srgbClr val="162048"/>
          </a:solidFill>
          <a:ln/>
        </p:spPr>
      </p:sp>
      <p:pic>
        <p:nvPicPr>
          <p:cNvPr id="6" name="Image 0" descr="/home/claude/fob-slides/icons_out/users_white.png"/>
          <p:cNvPicPr>
            <a:picLocks noChangeAspect="1"/>
          </p:cNvPicPr>
          <p:nvPr/>
        </p:nvPicPr>
        <p:blipFill>
          <a:blip r:embed="rId1"/>
          <a:stretch>
            <a:fillRect/>
          </a:stretch>
        </p:blipFill>
        <p:spPr>
          <a:xfrm>
            <a:off x="1617345" y="2074545"/>
            <a:ext cx="377190" cy="377190"/>
          </a:xfrm>
          <a:prstGeom prst="rect">
            <a:avLst/>
          </a:prstGeom>
        </p:spPr>
      </p:pic>
      <p:sp>
        <p:nvSpPr>
          <p:cNvPr id="7" name="Text 4"/>
          <p:cNvSpPr txBox="1"/>
          <p:nvPr/>
        </p:nvSpPr>
        <p:spPr>
          <a:xfrm>
            <a:off x="548640" y="2651760"/>
            <a:ext cx="2514600" cy="4572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Karimov</a:t>
            </a:r>
            <a:endParaRPr lang="en-US" sz="1800" dirty="0"/>
          </a:p>
        </p:txBody>
      </p:sp>
      <p:sp>
        <p:nvSpPr>
          <p:cNvPr id="8" name="Text 5"/>
          <p:cNvSpPr txBox="1"/>
          <p:nvPr/>
        </p:nvSpPr>
        <p:spPr>
          <a:xfrm>
            <a:off x="640080" y="3108960"/>
            <a:ext cx="2331720" cy="50292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ruxsatnoma: Maxfiy</a:t>
            </a:r>
            <a:endParaRPr lang="en-US" sz="1400" dirty="0"/>
          </a:p>
        </p:txBody>
      </p:sp>
      <p:sp>
        <p:nvSpPr>
          <p:cNvPr id="9" name="Shape 6"/>
          <p:cNvSpPr/>
          <p:nvPr/>
        </p:nvSpPr>
        <p:spPr>
          <a:xfrm>
            <a:off x="3090672" y="2743200"/>
            <a:ext cx="265176" cy="0"/>
          </a:xfrm>
          <a:prstGeom prst="line">
            <a:avLst/>
          </a:prstGeom>
          <a:noFill/>
          <a:ln w="31750">
            <a:solidFill>
              <a:srgbClr val="1E2761"/>
            </a:solidFill>
            <a:prstDash val="solid"/>
            <a:tailEnd type="triangle"/>
          </a:ln>
        </p:spPr>
      </p:sp>
      <p:sp>
        <p:nvSpPr>
          <p:cNvPr id="10" name="Shape 7"/>
          <p:cNvSpPr/>
          <p:nvPr/>
        </p:nvSpPr>
        <p:spPr>
          <a:xfrm>
            <a:off x="3383280" y="1783080"/>
            <a:ext cx="2514600" cy="1920240"/>
          </a:xfrm>
          <a:prstGeom prst="roundRect">
            <a:avLst>
              <a:gd name="adj" fmla="val 4286"/>
            </a:avLst>
          </a:prstGeom>
          <a:solidFill>
            <a:srgbClr val="9E3B2E"/>
          </a:solidFill>
          <a:ln/>
        </p:spPr>
      </p:sp>
      <p:sp>
        <p:nvSpPr>
          <p:cNvPr id="11" name="Shape 8"/>
          <p:cNvSpPr/>
          <p:nvPr/>
        </p:nvSpPr>
        <p:spPr>
          <a:xfrm>
            <a:off x="4297680" y="1920240"/>
            <a:ext cx="685800" cy="685800"/>
          </a:xfrm>
          <a:prstGeom prst="ellipse">
            <a:avLst/>
          </a:prstGeom>
          <a:solidFill>
            <a:srgbClr val="162048"/>
          </a:solidFill>
          <a:ln/>
        </p:spPr>
      </p:sp>
      <p:pic>
        <p:nvPicPr>
          <p:cNvPr id="12" name="Image 1" descr="/home/claude/fob-slides/icons_out/code_white.png"/>
          <p:cNvPicPr>
            <a:picLocks noChangeAspect="1"/>
          </p:cNvPicPr>
          <p:nvPr/>
        </p:nvPicPr>
        <p:blipFill>
          <a:blip r:embed="rId2"/>
          <a:stretch>
            <a:fillRect/>
          </a:stretch>
        </p:blipFill>
        <p:spPr>
          <a:xfrm>
            <a:off x="4451985" y="2074545"/>
            <a:ext cx="377190" cy="377190"/>
          </a:xfrm>
          <a:prstGeom prst="rect">
            <a:avLst/>
          </a:prstGeom>
        </p:spPr>
      </p:pic>
      <p:sp>
        <p:nvSpPr>
          <p:cNvPr id="13" name="Text 9"/>
          <p:cNvSpPr txBox="1"/>
          <p:nvPr/>
        </p:nvSpPr>
        <p:spPr>
          <a:xfrm>
            <a:off x="3383280" y="2651760"/>
            <a:ext cx="2514600" cy="4572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jadval.exe</a:t>
            </a:r>
            <a:endParaRPr lang="en-US" sz="1800" dirty="0"/>
          </a:p>
        </p:txBody>
      </p:sp>
      <p:sp>
        <p:nvSpPr>
          <p:cNvPr id="14" name="Text 10"/>
          <p:cNvSpPr txBox="1"/>
          <p:nvPr/>
        </p:nvSpPr>
        <p:spPr>
          <a:xfrm>
            <a:off x="3474720" y="3108960"/>
            <a:ext cx="2331720" cy="50292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jarayon ham Maxfiy darajada</a:t>
            </a:r>
            <a:endParaRPr lang="en-US" sz="1400" dirty="0"/>
          </a:p>
        </p:txBody>
      </p:sp>
      <p:sp>
        <p:nvSpPr>
          <p:cNvPr id="15" name="Shape 11"/>
          <p:cNvSpPr/>
          <p:nvPr/>
        </p:nvSpPr>
        <p:spPr>
          <a:xfrm>
            <a:off x="5925312" y="2743200"/>
            <a:ext cx="265176" cy="0"/>
          </a:xfrm>
          <a:prstGeom prst="line">
            <a:avLst/>
          </a:prstGeom>
          <a:noFill/>
          <a:ln w="31750">
            <a:solidFill>
              <a:srgbClr val="1E2761"/>
            </a:solidFill>
            <a:prstDash val="solid"/>
            <a:tailEnd type="triangle"/>
          </a:ln>
        </p:spPr>
      </p:sp>
      <p:sp>
        <p:nvSpPr>
          <p:cNvPr id="16" name="Shape 12"/>
          <p:cNvSpPr/>
          <p:nvPr/>
        </p:nvSpPr>
        <p:spPr>
          <a:xfrm>
            <a:off x="6217920" y="1783080"/>
            <a:ext cx="2514600" cy="1920240"/>
          </a:xfrm>
          <a:prstGeom prst="roundRect">
            <a:avLst>
              <a:gd name="adj" fmla="val 4286"/>
            </a:avLst>
          </a:prstGeom>
          <a:solidFill>
            <a:srgbClr val="2A3778"/>
          </a:solidFill>
          <a:ln/>
        </p:spPr>
      </p:sp>
      <p:sp>
        <p:nvSpPr>
          <p:cNvPr id="17" name="Shape 13"/>
          <p:cNvSpPr/>
          <p:nvPr/>
        </p:nvSpPr>
        <p:spPr>
          <a:xfrm>
            <a:off x="7132320" y="1920240"/>
            <a:ext cx="685800" cy="685800"/>
          </a:xfrm>
          <a:prstGeom prst="ellipse">
            <a:avLst/>
          </a:prstGeom>
          <a:solidFill>
            <a:srgbClr val="162048"/>
          </a:solidFill>
          <a:ln/>
        </p:spPr>
      </p:sp>
      <p:pic>
        <p:nvPicPr>
          <p:cNvPr id="18" name="Image 2" descr="/home/claude/fob-slides/icons_out/file_white.png"/>
          <p:cNvPicPr>
            <a:picLocks noChangeAspect="1"/>
          </p:cNvPicPr>
          <p:nvPr/>
        </p:nvPicPr>
        <p:blipFill>
          <a:blip r:embed="rId3"/>
          <a:stretch>
            <a:fillRect/>
          </a:stretch>
        </p:blipFill>
        <p:spPr>
          <a:xfrm>
            <a:off x="7286625" y="2074545"/>
            <a:ext cx="377190" cy="377190"/>
          </a:xfrm>
          <a:prstGeom prst="rect">
            <a:avLst/>
          </a:prstGeom>
        </p:spPr>
      </p:pic>
      <p:sp>
        <p:nvSpPr>
          <p:cNvPr id="19" name="Text 14"/>
          <p:cNvSpPr txBox="1"/>
          <p:nvPr/>
        </p:nvSpPr>
        <p:spPr>
          <a:xfrm>
            <a:off x="6217920" y="2651760"/>
            <a:ext cx="2514600" cy="4572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Courier New" pitchFamily="34" charset="0"/>
                <a:ea typeface="Courier New" pitchFamily="34" charset="-122"/>
                <a:cs typeface="Courier New" pitchFamily="34" charset="-120"/>
              </a:rPr>
              <a:t>baholar.xlsx</a:t>
            </a:r>
            <a:endParaRPr lang="en-US" sz="1800" dirty="0"/>
          </a:p>
        </p:txBody>
      </p:sp>
      <p:sp>
        <p:nvSpPr>
          <p:cNvPr id="20" name="Text 15"/>
          <p:cNvSpPr txBox="1"/>
          <p:nvPr/>
        </p:nvSpPr>
        <p:spPr>
          <a:xfrm>
            <a:off x="6309360" y="3108960"/>
            <a:ext cx="2331720" cy="50292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Maxfiy — o'qish ✓</a:t>
            </a:r>
            <a:endParaRPr lang="en-US" sz="1400" dirty="0"/>
          </a:p>
        </p:txBody>
      </p:sp>
      <p:sp>
        <p:nvSpPr>
          <p:cNvPr id="21" name="Shape 16"/>
          <p:cNvSpPr/>
          <p:nvPr/>
        </p:nvSpPr>
        <p:spPr>
          <a:xfrm>
            <a:off x="8759952" y="2743200"/>
            <a:ext cx="265176" cy="0"/>
          </a:xfrm>
          <a:prstGeom prst="line">
            <a:avLst/>
          </a:prstGeom>
          <a:noFill/>
          <a:ln w="31750">
            <a:solidFill>
              <a:srgbClr val="9E3B2E"/>
            </a:solidFill>
            <a:prstDash val="solid"/>
            <a:tailEnd type="triangle"/>
          </a:ln>
        </p:spPr>
      </p:sp>
      <p:sp>
        <p:nvSpPr>
          <p:cNvPr id="22" name="Shape 17"/>
          <p:cNvSpPr/>
          <p:nvPr/>
        </p:nvSpPr>
        <p:spPr>
          <a:xfrm>
            <a:off x="9052560" y="1783080"/>
            <a:ext cx="2514600" cy="1920240"/>
          </a:xfrm>
          <a:prstGeom prst="roundRect">
            <a:avLst>
              <a:gd name="adj" fmla="val 4286"/>
            </a:avLst>
          </a:prstGeom>
          <a:solidFill>
            <a:srgbClr val="1F6B4A"/>
          </a:solidFill>
          <a:ln/>
        </p:spPr>
      </p:sp>
      <p:sp>
        <p:nvSpPr>
          <p:cNvPr id="23" name="Shape 18"/>
          <p:cNvSpPr/>
          <p:nvPr/>
        </p:nvSpPr>
        <p:spPr>
          <a:xfrm>
            <a:off x="9966960" y="1920240"/>
            <a:ext cx="685800" cy="685800"/>
          </a:xfrm>
          <a:prstGeom prst="ellipse">
            <a:avLst/>
          </a:prstGeom>
          <a:solidFill>
            <a:srgbClr val="162048"/>
          </a:solidFill>
          <a:ln/>
        </p:spPr>
      </p:sp>
      <p:pic>
        <p:nvPicPr>
          <p:cNvPr id="24" name="Image 3" descr="/home/claude/fob-slides/icons_out/ban_white.png"/>
          <p:cNvPicPr>
            <a:picLocks noChangeAspect="1"/>
          </p:cNvPicPr>
          <p:nvPr/>
        </p:nvPicPr>
        <p:blipFill>
          <a:blip r:embed="rId4"/>
          <a:stretch>
            <a:fillRect/>
          </a:stretch>
        </p:blipFill>
        <p:spPr>
          <a:xfrm>
            <a:off x="10121265" y="2074545"/>
            <a:ext cx="377190" cy="377190"/>
          </a:xfrm>
          <a:prstGeom prst="rect">
            <a:avLst/>
          </a:prstGeom>
        </p:spPr>
      </p:pic>
      <p:sp>
        <p:nvSpPr>
          <p:cNvPr id="25" name="Text 19"/>
          <p:cNvSpPr txBox="1"/>
          <p:nvPr/>
        </p:nvSpPr>
        <p:spPr>
          <a:xfrm>
            <a:off x="9052560" y="2651760"/>
            <a:ext cx="2514600" cy="4572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Courier New" pitchFamily="34" charset="0"/>
                <a:ea typeface="Courier New" pitchFamily="34" charset="-122"/>
                <a:cs typeface="Courier New" pitchFamily="34" charset="-120"/>
              </a:rPr>
              <a:t>\\fs\ochiq</a:t>
            </a:r>
            <a:endParaRPr lang="en-US" sz="1800" dirty="0"/>
          </a:p>
        </p:txBody>
      </p:sp>
      <p:sp>
        <p:nvSpPr>
          <p:cNvPr id="26" name="Text 20"/>
          <p:cNvSpPr txBox="1"/>
          <p:nvPr/>
        </p:nvSpPr>
        <p:spPr>
          <a:xfrm>
            <a:off x="9144000" y="3108960"/>
            <a:ext cx="2331720" cy="50292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Ochiq — yozish ✗ (*-xossa)</a:t>
            </a:r>
            <a:endParaRPr lang="en-US" sz="1400" dirty="0"/>
          </a:p>
        </p:txBody>
      </p:sp>
      <p:sp>
        <p:nvSpPr>
          <p:cNvPr id="27" name="Text 21"/>
          <p:cNvSpPr txBox="1"/>
          <p:nvPr/>
        </p:nvSpPr>
        <p:spPr>
          <a:xfrm>
            <a:off x="548640" y="3931920"/>
            <a:ext cx="11064240" cy="457200"/>
          </a:xfrm>
          <a:prstGeom prst="rect">
            <a:avLst/>
          </a:prstGeom>
          <a:noFill/>
          <a:ln/>
        </p:spPr>
        <p:txBody>
          <a:bodyPr wrap="square" lIns="0" tIns="0" rIns="0" bIns="0" rtlCol="0" anchor="t"/>
          <a:lstStyle/>
          <a:p>
            <a:pPr algn="ctr" indent="0" marL="0">
              <a:lnSpc>
                <a:spcPct val="100000"/>
              </a:lnSpc>
              <a:buNone/>
            </a:pPr>
            <a:r>
              <a:rPr lang="en-US" sz="1700" b="1" dirty="0">
                <a:solidFill>
                  <a:srgbClr val="1F6B4A"/>
                </a:solidFill>
                <a:latin typeface="Times New Roman" pitchFamily="34" charset="0"/>
                <a:ea typeface="Times New Roman" pitchFamily="34" charset="-122"/>
                <a:cs typeface="Times New Roman" pitchFamily="34" charset="-120"/>
              </a:rPr>
              <a:t>Troyan maxfiy faylni o'qiydi, lekin uni pastroq darajaga yoza olmaydi — oqish kanali yopiq.</a:t>
            </a:r>
            <a:endParaRPr lang="en-US" sz="1700" dirty="0"/>
          </a:p>
        </p:txBody>
      </p:sp>
      <p:sp>
        <p:nvSpPr>
          <p:cNvPr id="28" name="Shape 22"/>
          <p:cNvSpPr/>
          <p:nvPr/>
        </p:nvSpPr>
        <p:spPr>
          <a:xfrm>
            <a:off x="548640" y="4572000"/>
            <a:ext cx="11064240" cy="502920"/>
          </a:xfrm>
          <a:prstGeom prst="roundRect">
            <a:avLst>
              <a:gd name="adj" fmla="val 16364"/>
            </a:avLst>
          </a:prstGeom>
          <a:solidFill>
            <a:srgbClr val="EEF2FB"/>
          </a:solidFill>
          <a:ln/>
        </p:spPr>
      </p:sp>
      <p:sp>
        <p:nvSpPr>
          <p:cNvPr id="29" name="Text 23"/>
          <p:cNvSpPr txBox="1"/>
          <p:nvPr/>
        </p:nvSpPr>
        <p:spPr>
          <a:xfrm>
            <a:off x="777240" y="4572000"/>
            <a:ext cx="1645920" cy="502920"/>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Narxi</a:t>
            </a:r>
            <a:endParaRPr lang="en-US" sz="1600" dirty="0"/>
          </a:p>
        </p:txBody>
      </p:sp>
      <p:sp>
        <p:nvSpPr>
          <p:cNvPr id="30" name="Text 24"/>
          <p:cNvSpPr txBox="1"/>
          <p:nvPr/>
        </p:nvSpPr>
        <p:spPr>
          <a:xfrm>
            <a:off x="2423160" y="4572000"/>
            <a:ext cx="9052560" cy="502920"/>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Karimov o'zi ham ochiq papkaga yoza olmaydi — ish jarayoni murakkablashadi</a:t>
            </a:r>
            <a:endParaRPr lang="en-US" sz="1500" dirty="0"/>
          </a:p>
        </p:txBody>
      </p:sp>
      <p:sp>
        <p:nvSpPr>
          <p:cNvPr id="31" name="Shape 25"/>
          <p:cNvSpPr/>
          <p:nvPr/>
        </p:nvSpPr>
        <p:spPr>
          <a:xfrm>
            <a:off x="548640" y="5148072"/>
            <a:ext cx="11064240" cy="502920"/>
          </a:xfrm>
          <a:prstGeom prst="roundRect">
            <a:avLst>
              <a:gd name="adj" fmla="val 16364"/>
            </a:avLst>
          </a:prstGeom>
          <a:solidFill>
            <a:srgbClr val="EEF2FB"/>
          </a:solidFill>
          <a:ln/>
        </p:spPr>
      </p:sp>
      <p:sp>
        <p:nvSpPr>
          <p:cNvPr id="32" name="Text 26"/>
          <p:cNvSpPr txBox="1"/>
          <p:nvPr/>
        </p:nvSpPr>
        <p:spPr>
          <a:xfrm>
            <a:off x="777240" y="5148072"/>
            <a:ext cx="1645920" cy="502920"/>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Yechim</a:t>
            </a:r>
            <a:endParaRPr lang="en-US" sz="1600" dirty="0"/>
          </a:p>
        </p:txBody>
      </p:sp>
      <p:sp>
        <p:nvSpPr>
          <p:cNvPr id="33" name="Text 27"/>
          <p:cNvSpPr txBox="1"/>
          <p:nvPr/>
        </p:nvSpPr>
        <p:spPr>
          <a:xfrm>
            <a:off x="2423160" y="5148072"/>
            <a:ext cx="9052560" cy="502920"/>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Ishonchli sub'ektlar (trusted subjects) — maxfiylikdan chiqarish vakolati; tizimga kirishda daraja tanlash</a:t>
            </a:r>
            <a:endParaRPr lang="en-US" sz="1500" dirty="0"/>
          </a:p>
        </p:txBody>
      </p:sp>
      <p:sp>
        <p:nvSpPr>
          <p:cNvPr id="34" name="Shape 28"/>
          <p:cNvSpPr/>
          <p:nvPr/>
        </p:nvSpPr>
        <p:spPr>
          <a:xfrm>
            <a:off x="548640" y="5724144"/>
            <a:ext cx="11064240" cy="502920"/>
          </a:xfrm>
          <a:prstGeom prst="roundRect">
            <a:avLst>
              <a:gd name="adj" fmla="val 16364"/>
            </a:avLst>
          </a:prstGeom>
          <a:solidFill>
            <a:srgbClr val="F7ECEA"/>
          </a:solidFill>
          <a:ln/>
        </p:spPr>
      </p:sp>
      <p:sp>
        <p:nvSpPr>
          <p:cNvPr id="35" name="Text 29"/>
          <p:cNvSpPr txBox="1"/>
          <p:nvPr/>
        </p:nvSpPr>
        <p:spPr>
          <a:xfrm>
            <a:off x="777240" y="5724144"/>
            <a:ext cx="1645920" cy="502920"/>
          </a:xfrm>
          <a:prstGeom prst="rect">
            <a:avLst/>
          </a:prstGeom>
          <a:noFill/>
          <a:ln/>
        </p:spPr>
        <p:txBody>
          <a:bodyPr wrap="square" lIns="0" tIns="0" rIns="0" bIns="0" rtlCol="0" anchor="ctr"/>
          <a:lstStyle/>
          <a:p>
            <a:pPr algn="l" indent="0" marL="0">
              <a:lnSpc>
                <a:spcPct val="100000"/>
              </a:lnSpc>
              <a:buNone/>
            </a:pPr>
            <a:r>
              <a:rPr lang="en-US" sz="1600" b="1" dirty="0">
                <a:solidFill>
                  <a:srgbClr val="9E3B2E"/>
                </a:solidFill>
                <a:latin typeface="Times New Roman" pitchFamily="34" charset="0"/>
                <a:ea typeface="Times New Roman" pitchFamily="34" charset="-122"/>
                <a:cs typeface="Times New Roman" pitchFamily="34" charset="-120"/>
              </a:rPr>
              <a:t>Qolgan xavf</a:t>
            </a:r>
            <a:endParaRPr lang="en-US" sz="1600" dirty="0"/>
          </a:p>
        </p:txBody>
      </p:sp>
      <p:sp>
        <p:nvSpPr>
          <p:cNvPr id="36" name="Text 30"/>
          <p:cNvSpPr txBox="1"/>
          <p:nvPr/>
        </p:nvSpPr>
        <p:spPr>
          <a:xfrm>
            <a:off x="2423160" y="5724144"/>
            <a:ext cx="9052560" cy="502920"/>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Yashirin kanallar: fayl nomi, disk hajmi, vaqt orqali ma'lumot sizishi — 12-ma'ruza</a:t>
            </a:r>
            <a:endParaRPr lang="en-US" sz="1500" dirty="0"/>
          </a:p>
        </p:txBody>
      </p:sp>
      <p:sp>
        <p:nvSpPr>
          <p:cNvPr id="37" name="Text 31"/>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11-ma'ruza</a:t>
            </a:r>
            <a:endParaRPr lang="en-US" sz="1100" dirty="0"/>
          </a:p>
        </p:txBody>
      </p:sp>
      <p:sp>
        <p:nvSpPr>
          <p:cNvPr id="38" name="Text 32"/>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MINI-VAZIFA · 6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BLP bo'yicha ruxsat bormi?</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pencil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11064240" cy="685800"/>
          </a:xfrm>
          <a:prstGeom prst="roundRect">
            <a:avLst>
              <a:gd name="adj" fmla="val 12000"/>
            </a:avLst>
          </a:prstGeom>
          <a:solidFill>
            <a:srgbClr val="FFFFFF"/>
          </a:solidFill>
          <a:ln/>
        </p:spPr>
      </p:sp>
      <p:sp>
        <p:nvSpPr>
          <p:cNvPr id="7" name="Text 4"/>
          <p:cNvSpPr txBox="1"/>
          <p:nvPr/>
        </p:nvSpPr>
        <p:spPr>
          <a:xfrm>
            <a:off x="868680" y="1783080"/>
            <a:ext cx="10424160" cy="685800"/>
          </a:xfrm>
          <a:prstGeom prst="rect">
            <a:avLst/>
          </a:prstGeom>
          <a:noFill/>
          <a:ln/>
        </p:spPr>
        <p:txBody>
          <a:bodyPr wrap="square" lIns="0" tIns="0" rIns="0" bIns="0" rtlCol="0" anchor="ctr"/>
          <a:lstStyle/>
          <a:p>
            <a:pPr algn="l" indent="0" marL="0">
              <a:lnSpc>
                <a:spcPct val="100000"/>
              </a:lnSpc>
              <a:buNone/>
            </a:pPr>
            <a:r>
              <a:rPr lang="en-US" sz="1800" dirty="0">
                <a:solidFill>
                  <a:srgbClr val="1B1B2A"/>
                </a:solidFill>
                <a:latin typeface="Times New Roman" pitchFamily="34" charset="0"/>
                <a:ea typeface="Times New Roman" pitchFamily="34" charset="-122"/>
                <a:cs typeface="Times New Roman" pitchFamily="34" charset="-120"/>
              </a:rPr>
              <a:t>Aziz ruxsatnomasi: Maxfiy {Moliya}. 5-slayddagi panjaradan foydalaning.</a:t>
            </a:r>
            <a:endParaRPr lang="en-US" sz="1800" dirty="0"/>
          </a:p>
        </p:txBody>
      </p:sp>
      <p:sp>
        <p:nvSpPr>
          <p:cNvPr id="8" name="Shape 5"/>
          <p:cNvSpPr/>
          <p:nvPr/>
        </p:nvSpPr>
        <p:spPr>
          <a:xfrm>
            <a:off x="548640" y="2651760"/>
            <a:ext cx="11064240" cy="731520"/>
          </a:xfrm>
          <a:prstGeom prst="roundRect">
            <a:avLst>
              <a:gd name="adj" fmla="val 11250"/>
            </a:avLst>
          </a:prstGeom>
          <a:solidFill>
            <a:srgbClr val="FFFFFF"/>
          </a:solidFill>
          <a:ln/>
        </p:spPr>
      </p:sp>
      <p:sp>
        <p:nvSpPr>
          <p:cNvPr id="9" name="Shape 6"/>
          <p:cNvSpPr/>
          <p:nvPr/>
        </p:nvSpPr>
        <p:spPr>
          <a:xfrm>
            <a:off x="548640" y="2651760"/>
            <a:ext cx="685800" cy="731520"/>
          </a:xfrm>
          <a:prstGeom prst="roundRect">
            <a:avLst>
              <a:gd name="adj" fmla="val 12000"/>
            </a:avLst>
          </a:prstGeom>
          <a:solidFill>
            <a:srgbClr val="D9932B"/>
          </a:solidFill>
          <a:ln/>
        </p:spPr>
      </p:sp>
      <p:sp>
        <p:nvSpPr>
          <p:cNvPr id="10" name="Text 7"/>
          <p:cNvSpPr txBox="1"/>
          <p:nvPr/>
        </p:nvSpPr>
        <p:spPr>
          <a:xfrm>
            <a:off x="548640" y="2651760"/>
            <a:ext cx="685800" cy="7315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a</a:t>
            </a:r>
            <a:endParaRPr lang="en-US" sz="1800" dirty="0"/>
          </a:p>
        </p:txBody>
      </p:sp>
      <p:sp>
        <p:nvSpPr>
          <p:cNvPr id="11" name="Text 8"/>
          <p:cNvSpPr txBox="1"/>
          <p:nvPr/>
        </p:nvSpPr>
        <p:spPr>
          <a:xfrm>
            <a:off x="1417320" y="2651760"/>
            <a:ext cx="8412480" cy="73152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Aziz «hisobot» (Ichki {Moliya}) ni o'qiydi</a:t>
            </a:r>
            <a:endParaRPr lang="en-US" sz="1700" dirty="0"/>
          </a:p>
        </p:txBody>
      </p:sp>
      <p:sp>
        <p:nvSpPr>
          <p:cNvPr id="12" name="Shape 9"/>
          <p:cNvSpPr/>
          <p:nvPr/>
        </p:nvSpPr>
        <p:spPr>
          <a:xfrm>
            <a:off x="10012680" y="2770632"/>
            <a:ext cx="1417320" cy="493776"/>
          </a:xfrm>
          <a:prstGeom prst="roundRect">
            <a:avLst>
              <a:gd name="adj" fmla="val 16667"/>
            </a:avLst>
          </a:prstGeom>
          <a:solidFill>
            <a:srgbClr val="FDF3E2"/>
          </a:solidFill>
          <a:ln w="12700">
            <a:solidFill>
              <a:srgbClr val="D9932B"/>
            </a:solidFill>
            <a:prstDash val="solid"/>
          </a:ln>
        </p:spPr>
      </p:sp>
      <p:sp>
        <p:nvSpPr>
          <p:cNvPr id="13" name="Text 10"/>
          <p:cNvSpPr txBox="1"/>
          <p:nvPr/>
        </p:nvSpPr>
        <p:spPr>
          <a:xfrm>
            <a:off x="10012680" y="2770632"/>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Ha / Yo'q</a:t>
            </a:r>
            <a:endParaRPr lang="en-US" sz="1600" dirty="0"/>
          </a:p>
        </p:txBody>
      </p:sp>
      <p:sp>
        <p:nvSpPr>
          <p:cNvPr id="14" name="Shape 11"/>
          <p:cNvSpPr/>
          <p:nvPr/>
        </p:nvSpPr>
        <p:spPr>
          <a:xfrm>
            <a:off x="548640" y="3502152"/>
            <a:ext cx="11064240" cy="731520"/>
          </a:xfrm>
          <a:prstGeom prst="roundRect">
            <a:avLst>
              <a:gd name="adj" fmla="val 11250"/>
            </a:avLst>
          </a:prstGeom>
          <a:solidFill>
            <a:srgbClr val="FFFFFF"/>
          </a:solidFill>
          <a:ln/>
        </p:spPr>
      </p:sp>
      <p:sp>
        <p:nvSpPr>
          <p:cNvPr id="15" name="Shape 12"/>
          <p:cNvSpPr/>
          <p:nvPr/>
        </p:nvSpPr>
        <p:spPr>
          <a:xfrm>
            <a:off x="548640" y="3502152"/>
            <a:ext cx="685800" cy="731520"/>
          </a:xfrm>
          <a:prstGeom prst="roundRect">
            <a:avLst>
              <a:gd name="adj" fmla="val 12000"/>
            </a:avLst>
          </a:prstGeom>
          <a:solidFill>
            <a:srgbClr val="D9932B"/>
          </a:solidFill>
          <a:ln/>
        </p:spPr>
      </p:sp>
      <p:sp>
        <p:nvSpPr>
          <p:cNvPr id="16" name="Text 13"/>
          <p:cNvSpPr txBox="1"/>
          <p:nvPr/>
        </p:nvSpPr>
        <p:spPr>
          <a:xfrm>
            <a:off x="548640" y="3502152"/>
            <a:ext cx="685800" cy="7315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b</a:t>
            </a:r>
            <a:endParaRPr lang="en-US" sz="1800" dirty="0"/>
          </a:p>
        </p:txBody>
      </p:sp>
      <p:sp>
        <p:nvSpPr>
          <p:cNvPr id="17" name="Text 14"/>
          <p:cNvSpPr txBox="1"/>
          <p:nvPr/>
        </p:nvSpPr>
        <p:spPr>
          <a:xfrm>
            <a:off x="1417320" y="3502152"/>
            <a:ext cx="8412480" cy="73152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Aziz «eslatma» (Ochiq { }) ga yozadi</a:t>
            </a:r>
            <a:endParaRPr lang="en-US" sz="1700" dirty="0"/>
          </a:p>
        </p:txBody>
      </p:sp>
      <p:sp>
        <p:nvSpPr>
          <p:cNvPr id="18" name="Shape 15"/>
          <p:cNvSpPr/>
          <p:nvPr/>
        </p:nvSpPr>
        <p:spPr>
          <a:xfrm>
            <a:off x="10012680" y="3621024"/>
            <a:ext cx="1417320" cy="493776"/>
          </a:xfrm>
          <a:prstGeom prst="roundRect">
            <a:avLst>
              <a:gd name="adj" fmla="val 16667"/>
            </a:avLst>
          </a:prstGeom>
          <a:solidFill>
            <a:srgbClr val="FDF3E2"/>
          </a:solidFill>
          <a:ln w="12700">
            <a:solidFill>
              <a:srgbClr val="D9932B"/>
            </a:solidFill>
            <a:prstDash val="solid"/>
          </a:ln>
        </p:spPr>
      </p:sp>
      <p:sp>
        <p:nvSpPr>
          <p:cNvPr id="19" name="Text 16"/>
          <p:cNvSpPr txBox="1"/>
          <p:nvPr/>
        </p:nvSpPr>
        <p:spPr>
          <a:xfrm>
            <a:off x="10012680" y="3621024"/>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Ha / Yo'q</a:t>
            </a:r>
            <a:endParaRPr lang="en-US" sz="1600" dirty="0"/>
          </a:p>
        </p:txBody>
      </p:sp>
      <p:sp>
        <p:nvSpPr>
          <p:cNvPr id="20" name="Shape 17"/>
          <p:cNvSpPr/>
          <p:nvPr/>
        </p:nvSpPr>
        <p:spPr>
          <a:xfrm>
            <a:off x="548640" y="4352544"/>
            <a:ext cx="11064240" cy="731520"/>
          </a:xfrm>
          <a:prstGeom prst="roundRect">
            <a:avLst>
              <a:gd name="adj" fmla="val 11250"/>
            </a:avLst>
          </a:prstGeom>
          <a:solidFill>
            <a:srgbClr val="FFFFFF"/>
          </a:solidFill>
          <a:ln/>
        </p:spPr>
      </p:sp>
      <p:sp>
        <p:nvSpPr>
          <p:cNvPr id="21" name="Shape 18"/>
          <p:cNvSpPr/>
          <p:nvPr/>
        </p:nvSpPr>
        <p:spPr>
          <a:xfrm>
            <a:off x="548640" y="4352544"/>
            <a:ext cx="685800" cy="731520"/>
          </a:xfrm>
          <a:prstGeom prst="roundRect">
            <a:avLst>
              <a:gd name="adj" fmla="val 12000"/>
            </a:avLst>
          </a:prstGeom>
          <a:solidFill>
            <a:srgbClr val="D9932B"/>
          </a:solidFill>
          <a:ln/>
        </p:spPr>
      </p:sp>
      <p:sp>
        <p:nvSpPr>
          <p:cNvPr id="22" name="Text 19"/>
          <p:cNvSpPr txBox="1"/>
          <p:nvPr/>
        </p:nvSpPr>
        <p:spPr>
          <a:xfrm>
            <a:off x="548640" y="4352544"/>
            <a:ext cx="685800" cy="7315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c</a:t>
            </a:r>
            <a:endParaRPr lang="en-US" sz="1800" dirty="0"/>
          </a:p>
        </p:txBody>
      </p:sp>
      <p:sp>
        <p:nvSpPr>
          <p:cNvPr id="23" name="Text 20"/>
          <p:cNvSpPr txBox="1"/>
          <p:nvPr/>
        </p:nvSpPr>
        <p:spPr>
          <a:xfrm>
            <a:off x="1417320" y="4352544"/>
            <a:ext cx="8412480" cy="73152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Aziz «kadrlar_royxati» (Maxfiy {Kadrlar}) ni o'qiydi</a:t>
            </a:r>
            <a:endParaRPr lang="en-US" sz="1700" dirty="0"/>
          </a:p>
        </p:txBody>
      </p:sp>
      <p:sp>
        <p:nvSpPr>
          <p:cNvPr id="24" name="Shape 21"/>
          <p:cNvSpPr/>
          <p:nvPr/>
        </p:nvSpPr>
        <p:spPr>
          <a:xfrm>
            <a:off x="10012680" y="4471416"/>
            <a:ext cx="1417320" cy="493776"/>
          </a:xfrm>
          <a:prstGeom prst="roundRect">
            <a:avLst>
              <a:gd name="adj" fmla="val 16667"/>
            </a:avLst>
          </a:prstGeom>
          <a:solidFill>
            <a:srgbClr val="FDF3E2"/>
          </a:solidFill>
          <a:ln w="12700">
            <a:solidFill>
              <a:srgbClr val="D9932B"/>
            </a:solidFill>
            <a:prstDash val="solid"/>
          </a:ln>
        </p:spPr>
      </p:sp>
      <p:sp>
        <p:nvSpPr>
          <p:cNvPr id="25" name="Text 22"/>
          <p:cNvSpPr txBox="1"/>
          <p:nvPr/>
        </p:nvSpPr>
        <p:spPr>
          <a:xfrm>
            <a:off x="10012680" y="4471416"/>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Ha / Yo'q</a:t>
            </a:r>
            <a:endParaRPr lang="en-US" sz="1600" dirty="0"/>
          </a:p>
        </p:txBody>
      </p:sp>
      <p:sp>
        <p:nvSpPr>
          <p:cNvPr id="26" name="Shape 23"/>
          <p:cNvSpPr/>
          <p:nvPr/>
        </p:nvSpPr>
        <p:spPr>
          <a:xfrm>
            <a:off x="548640" y="5202936"/>
            <a:ext cx="11064240" cy="731520"/>
          </a:xfrm>
          <a:prstGeom prst="roundRect">
            <a:avLst>
              <a:gd name="adj" fmla="val 11250"/>
            </a:avLst>
          </a:prstGeom>
          <a:solidFill>
            <a:srgbClr val="FFFFFF"/>
          </a:solidFill>
          <a:ln/>
        </p:spPr>
      </p:sp>
      <p:sp>
        <p:nvSpPr>
          <p:cNvPr id="27" name="Shape 24"/>
          <p:cNvSpPr/>
          <p:nvPr/>
        </p:nvSpPr>
        <p:spPr>
          <a:xfrm>
            <a:off x="548640" y="5202936"/>
            <a:ext cx="685800" cy="731520"/>
          </a:xfrm>
          <a:prstGeom prst="roundRect">
            <a:avLst>
              <a:gd name="adj" fmla="val 12000"/>
            </a:avLst>
          </a:prstGeom>
          <a:solidFill>
            <a:srgbClr val="D9932B"/>
          </a:solidFill>
          <a:ln/>
        </p:spPr>
      </p:sp>
      <p:sp>
        <p:nvSpPr>
          <p:cNvPr id="28" name="Text 25"/>
          <p:cNvSpPr txBox="1"/>
          <p:nvPr/>
        </p:nvSpPr>
        <p:spPr>
          <a:xfrm>
            <a:off x="548640" y="5202936"/>
            <a:ext cx="685800" cy="7315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d</a:t>
            </a:r>
            <a:endParaRPr lang="en-US" sz="1800" dirty="0"/>
          </a:p>
        </p:txBody>
      </p:sp>
      <p:sp>
        <p:nvSpPr>
          <p:cNvPr id="29" name="Text 26"/>
          <p:cNvSpPr txBox="1"/>
          <p:nvPr/>
        </p:nvSpPr>
        <p:spPr>
          <a:xfrm>
            <a:off x="1417320" y="5202936"/>
            <a:ext cx="8412480" cy="73152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Aziz «arxiv» (O'ta maxfiy {Moliya}) ga yozadi</a:t>
            </a:r>
            <a:endParaRPr lang="en-US" sz="1700" dirty="0"/>
          </a:p>
        </p:txBody>
      </p:sp>
      <p:sp>
        <p:nvSpPr>
          <p:cNvPr id="30" name="Shape 27"/>
          <p:cNvSpPr/>
          <p:nvPr/>
        </p:nvSpPr>
        <p:spPr>
          <a:xfrm>
            <a:off x="10012680" y="5321808"/>
            <a:ext cx="1417320" cy="493776"/>
          </a:xfrm>
          <a:prstGeom prst="roundRect">
            <a:avLst>
              <a:gd name="adj" fmla="val 16667"/>
            </a:avLst>
          </a:prstGeom>
          <a:solidFill>
            <a:srgbClr val="FDF3E2"/>
          </a:solidFill>
          <a:ln w="12700">
            <a:solidFill>
              <a:srgbClr val="D9932B"/>
            </a:solidFill>
            <a:prstDash val="solid"/>
          </a:ln>
        </p:spPr>
      </p:sp>
      <p:sp>
        <p:nvSpPr>
          <p:cNvPr id="31" name="Text 28"/>
          <p:cNvSpPr txBox="1"/>
          <p:nvPr/>
        </p:nvSpPr>
        <p:spPr>
          <a:xfrm>
            <a:off x="10012680" y="5321808"/>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Ha / Yo'q</a:t>
            </a:r>
            <a:endParaRPr lang="en-US" sz="1600" dirty="0"/>
          </a:p>
        </p:txBody>
      </p:sp>
      <p:sp>
        <p:nvSpPr>
          <p:cNvPr id="32" name="Text 29"/>
          <p:cNvSpPr txBox="1"/>
          <p:nvPr/>
        </p:nvSpPr>
        <p:spPr>
          <a:xfrm>
            <a:off x="548640" y="6126480"/>
            <a:ext cx="11064240" cy="320040"/>
          </a:xfrm>
          <a:prstGeom prst="rect">
            <a:avLst/>
          </a:prstGeom>
          <a:noFill/>
          <a:ln/>
        </p:spPr>
        <p:txBody>
          <a:bodyPr wrap="square" lIns="0" tIns="0" rIns="0" bIns="0" rtlCol="0" anchor="t"/>
          <a:lstStyle/>
          <a:p>
            <a:pPr algn="l" indent="0" marL="0">
              <a:lnSpc>
                <a:spcPct val="100000"/>
              </a:lnSpc>
              <a:buNone/>
            </a:pPr>
            <a:r>
              <a:rPr lang="en-US" sz="1400" dirty="0">
                <a:solidFill>
                  <a:srgbClr val="9A5B00"/>
                </a:solidFill>
                <a:latin typeface="Times New Roman" pitchFamily="34" charset="0"/>
                <a:ea typeface="Times New Roman" pitchFamily="34" charset="-122"/>
                <a:cs typeface="Times New Roman" pitchFamily="34" charset="-120"/>
              </a:rPr>
              <a:t>Qiyin savol: d) holatida qaysi xavfsizlik xususiyati buzilishi mumkin?</a:t>
            </a:r>
            <a:endParaRPr lang="en-US" sz="1400" dirty="0"/>
          </a:p>
        </p:txBody>
      </p:sp>
      <p:sp>
        <p:nvSpPr>
          <p:cNvPr id="33" name="Text 30"/>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11-ma'ruza</a:t>
            </a:r>
            <a:endParaRPr lang="en-US" sz="1100" dirty="0"/>
          </a:p>
        </p:txBody>
      </p:sp>
      <p:sp>
        <p:nvSpPr>
          <p:cNvPr id="34" name="Text 31"/>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 · CHEKLOVLAR</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Bell-LaPadula nimani hal qilmaydi</a:t>
            </a:r>
            <a:endParaRPr lang="en-US" sz="3600" dirty="0"/>
          </a:p>
        </p:txBody>
      </p:sp>
      <p:sp>
        <p:nvSpPr>
          <p:cNvPr id="4" name="Shape 2"/>
          <p:cNvSpPr/>
          <p:nvPr/>
        </p:nvSpPr>
        <p:spPr>
          <a:xfrm>
            <a:off x="548640" y="1783080"/>
            <a:ext cx="5440680" cy="1783080"/>
          </a:xfrm>
          <a:prstGeom prst="roundRect">
            <a:avLst>
              <a:gd name="adj" fmla="val 4615"/>
            </a:avLst>
          </a:prstGeom>
          <a:solidFill>
            <a:srgbClr val="EEF2FB"/>
          </a:solidFill>
          <a:ln/>
        </p:spPr>
      </p:sp>
      <p:sp>
        <p:nvSpPr>
          <p:cNvPr id="5" name="Shape 3"/>
          <p:cNvSpPr/>
          <p:nvPr/>
        </p:nvSpPr>
        <p:spPr>
          <a:xfrm>
            <a:off x="777240" y="2011680"/>
            <a:ext cx="594360" cy="594360"/>
          </a:xfrm>
          <a:prstGeom prst="ellipse">
            <a:avLst/>
          </a:prstGeom>
          <a:solidFill>
            <a:srgbClr val="9E3B2E"/>
          </a:solidFill>
          <a:ln/>
        </p:spPr>
      </p:sp>
      <p:pic>
        <p:nvPicPr>
          <p:cNvPr id="6" name="Image 0" descr="/home/claude/fob-slides/icons_out/warn_white.png"/>
          <p:cNvPicPr>
            <a:picLocks noChangeAspect="1"/>
          </p:cNvPicPr>
          <p:nvPr/>
        </p:nvPicPr>
        <p:blipFill>
          <a:blip r:embed="rId1"/>
          <a:stretch>
            <a:fillRect/>
          </a:stretch>
        </p:blipFill>
        <p:spPr>
          <a:xfrm>
            <a:off x="910971" y="2145411"/>
            <a:ext cx="326898" cy="326898"/>
          </a:xfrm>
          <a:prstGeom prst="rect">
            <a:avLst/>
          </a:prstGeom>
        </p:spPr>
      </p:pic>
      <p:sp>
        <p:nvSpPr>
          <p:cNvPr id="7" name="Text 4"/>
          <p:cNvSpPr txBox="1"/>
          <p:nvPr/>
        </p:nvSpPr>
        <p:spPr>
          <a:xfrm>
            <a:off x="1554480" y="2011680"/>
            <a:ext cx="4251960" cy="594360"/>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Yaxlitlik</a:t>
            </a:r>
            <a:endParaRPr lang="en-US" sz="2000" dirty="0"/>
          </a:p>
        </p:txBody>
      </p:sp>
      <p:sp>
        <p:nvSpPr>
          <p:cNvPr id="8" name="Text 5"/>
          <p:cNvSpPr txBox="1"/>
          <p:nvPr/>
        </p:nvSpPr>
        <p:spPr>
          <a:xfrm>
            <a:off x="777240" y="2697480"/>
            <a:ext cx="4983480" cy="77724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Past darajali sub'ekt yuqori darajali faylni «ko'r» yozish orqali buzishi mumkin</a:t>
            </a:r>
            <a:endParaRPr lang="en-US" sz="1600" dirty="0"/>
          </a:p>
        </p:txBody>
      </p:sp>
      <p:sp>
        <p:nvSpPr>
          <p:cNvPr id="9" name="Shape 6"/>
          <p:cNvSpPr/>
          <p:nvPr/>
        </p:nvSpPr>
        <p:spPr>
          <a:xfrm>
            <a:off x="6172200" y="1783080"/>
            <a:ext cx="5440680" cy="1783080"/>
          </a:xfrm>
          <a:prstGeom prst="roundRect">
            <a:avLst>
              <a:gd name="adj" fmla="val 4615"/>
            </a:avLst>
          </a:prstGeom>
          <a:solidFill>
            <a:srgbClr val="EEF2FB"/>
          </a:solidFill>
          <a:ln/>
        </p:spPr>
      </p:sp>
      <p:sp>
        <p:nvSpPr>
          <p:cNvPr id="10" name="Shape 7"/>
          <p:cNvSpPr/>
          <p:nvPr/>
        </p:nvSpPr>
        <p:spPr>
          <a:xfrm>
            <a:off x="6400800" y="2011680"/>
            <a:ext cx="594360" cy="594360"/>
          </a:xfrm>
          <a:prstGeom prst="ellipse">
            <a:avLst/>
          </a:prstGeom>
          <a:solidFill>
            <a:srgbClr val="9E3B2E"/>
          </a:solidFill>
          <a:ln/>
        </p:spPr>
      </p:sp>
      <p:pic>
        <p:nvPicPr>
          <p:cNvPr id="11" name="Image 1" descr="/home/claude/fob-slides/icons_out/sync_white.png"/>
          <p:cNvPicPr>
            <a:picLocks noChangeAspect="1"/>
          </p:cNvPicPr>
          <p:nvPr/>
        </p:nvPicPr>
        <p:blipFill>
          <a:blip r:embed="rId2"/>
          <a:stretch>
            <a:fillRect/>
          </a:stretch>
        </p:blipFill>
        <p:spPr>
          <a:xfrm>
            <a:off x="6534531" y="2145411"/>
            <a:ext cx="326898" cy="326898"/>
          </a:xfrm>
          <a:prstGeom prst="rect">
            <a:avLst/>
          </a:prstGeom>
        </p:spPr>
      </p:pic>
      <p:sp>
        <p:nvSpPr>
          <p:cNvPr id="12" name="Text 8"/>
          <p:cNvSpPr txBox="1"/>
          <p:nvPr/>
        </p:nvSpPr>
        <p:spPr>
          <a:xfrm>
            <a:off x="7178040" y="2011680"/>
            <a:ext cx="4251960" cy="594360"/>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Maxfiylikdan chiqarish</a:t>
            </a:r>
            <a:endParaRPr lang="en-US" sz="2000" dirty="0"/>
          </a:p>
        </p:txBody>
      </p:sp>
      <p:sp>
        <p:nvSpPr>
          <p:cNvPr id="13" name="Text 9"/>
          <p:cNvSpPr txBox="1"/>
          <p:nvPr/>
        </p:nvSpPr>
        <p:spPr>
          <a:xfrm>
            <a:off x="6400800" y="2697480"/>
            <a:ext cx="4983480" cy="77724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Hujjatni pastroq darajaga o'tkazish — model tashqarisidagi «ishonchli sub'ekt»</a:t>
            </a:r>
            <a:endParaRPr lang="en-US" sz="1600" dirty="0"/>
          </a:p>
        </p:txBody>
      </p:sp>
      <p:sp>
        <p:nvSpPr>
          <p:cNvPr id="14" name="Shape 10"/>
          <p:cNvSpPr/>
          <p:nvPr/>
        </p:nvSpPr>
        <p:spPr>
          <a:xfrm>
            <a:off x="548640" y="3749040"/>
            <a:ext cx="5440680" cy="1783080"/>
          </a:xfrm>
          <a:prstGeom prst="roundRect">
            <a:avLst>
              <a:gd name="adj" fmla="val 4615"/>
            </a:avLst>
          </a:prstGeom>
          <a:solidFill>
            <a:srgbClr val="EEF2FB"/>
          </a:solidFill>
          <a:ln/>
        </p:spPr>
      </p:sp>
      <p:sp>
        <p:nvSpPr>
          <p:cNvPr id="15" name="Shape 11"/>
          <p:cNvSpPr/>
          <p:nvPr/>
        </p:nvSpPr>
        <p:spPr>
          <a:xfrm>
            <a:off x="777240" y="3977640"/>
            <a:ext cx="594360" cy="594360"/>
          </a:xfrm>
          <a:prstGeom prst="ellipse">
            <a:avLst/>
          </a:prstGeom>
          <a:solidFill>
            <a:srgbClr val="9E3B2E"/>
          </a:solidFill>
          <a:ln/>
        </p:spPr>
      </p:sp>
      <p:pic>
        <p:nvPicPr>
          <p:cNvPr id="16" name="Image 2" descr="/home/claude/fob-slides/icons_out/clock_white.png"/>
          <p:cNvPicPr>
            <a:picLocks noChangeAspect="1"/>
          </p:cNvPicPr>
          <p:nvPr/>
        </p:nvPicPr>
        <p:blipFill>
          <a:blip r:embed="rId3"/>
          <a:stretch>
            <a:fillRect/>
          </a:stretch>
        </p:blipFill>
        <p:spPr>
          <a:xfrm>
            <a:off x="910971" y="4111371"/>
            <a:ext cx="326898" cy="326898"/>
          </a:xfrm>
          <a:prstGeom prst="rect">
            <a:avLst/>
          </a:prstGeom>
        </p:spPr>
      </p:pic>
      <p:sp>
        <p:nvSpPr>
          <p:cNvPr id="17" name="Text 12"/>
          <p:cNvSpPr txBox="1"/>
          <p:nvPr/>
        </p:nvSpPr>
        <p:spPr>
          <a:xfrm>
            <a:off x="1554480" y="3977640"/>
            <a:ext cx="4251960" cy="594360"/>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Tinchlik tamoyili</a:t>
            </a:r>
            <a:endParaRPr lang="en-US" sz="2000" dirty="0"/>
          </a:p>
        </p:txBody>
      </p:sp>
      <p:sp>
        <p:nvSpPr>
          <p:cNvPr id="18" name="Text 13"/>
          <p:cNvSpPr txBox="1"/>
          <p:nvPr/>
        </p:nvSpPr>
        <p:spPr>
          <a:xfrm>
            <a:off x="777240" y="4663440"/>
            <a:ext cx="4983480" cy="77724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Yorliqlar ishlash davomida o'zgarmaydi deb faraz qilinadi; o'zgarsa — isbot buziladi</a:t>
            </a:r>
            <a:endParaRPr lang="en-US" sz="1600" dirty="0"/>
          </a:p>
        </p:txBody>
      </p:sp>
      <p:sp>
        <p:nvSpPr>
          <p:cNvPr id="19" name="Shape 14"/>
          <p:cNvSpPr/>
          <p:nvPr/>
        </p:nvSpPr>
        <p:spPr>
          <a:xfrm>
            <a:off x="6172200" y="3749040"/>
            <a:ext cx="5440680" cy="1783080"/>
          </a:xfrm>
          <a:prstGeom prst="roundRect">
            <a:avLst>
              <a:gd name="adj" fmla="val 4615"/>
            </a:avLst>
          </a:prstGeom>
          <a:solidFill>
            <a:srgbClr val="EEF2FB"/>
          </a:solidFill>
          <a:ln/>
        </p:spPr>
      </p:sp>
      <p:sp>
        <p:nvSpPr>
          <p:cNvPr id="20" name="Shape 15"/>
          <p:cNvSpPr/>
          <p:nvPr/>
        </p:nvSpPr>
        <p:spPr>
          <a:xfrm>
            <a:off x="6400800" y="3977640"/>
            <a:ext cx="594360" cy="594360"/>
          </a:xfrm>
          <a:prstGeom prst="ellipse">
            <a:avLst/>
          </a:prstGeom>
          <a:solidFill>
            <a:srgbClr val="9E3B2E"/>
          </a:solidFill>
          <a:ln/>
        </p:spPr>
      </p:sp>
      <p:pic>
        <p:nvPicPr>
          <p:cNvPr id="21" name="Image 3" descr="/home/claude/fob-slides/icons_out/stopwatch_white.png"/>
          <p:cNvPicPr>
            <a:picLocks noChangeAspect="1"/>
          </p:cNvPicPr>
          <p:nvPr/>
        </p:nvPicPr>
        <p:blipFill>
          <a:blip r:embed="rId4"/>
          <a:stretch>
            <a:fillRect/>
          </a:stretch>
        </p:blipFill>
        <p:spPr>
          <a:xfrm>
            <a:off x="6534531" y="4111371"/>
            <a:ext cx="326898" cy="326898"/>
          </a:xfrm>
          <a:prstGeom prst="rect">
            <a:avLst/>
          </a:prstGeom>
        </p:spPr>
      </p:pic>
      <p:sp>
        <p:nvSpPr>
          <p:cNvPr id="22" name="Text 16"/>
          <p:cNvSpPr txBox="1"/>
          <p:nvPr/>
        </p:nvSpPr>
        <p:spPr>
          <a:xfrm>
            <a:off x="7178040" y="3977640"/>
            <a:ext cx="4251960" cy="594360"/>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Yashirin kanallar</a:t>
            </a:r>
            <a:endParaRPr lang="en-US" sz="2000" dirty="0"/>
          </a:p>
        </p:txBody>
      </p:sp>
      <p:sp>
        <p:nvSpPr>
          <p:cNvPr id="23" name="Text 17"/>
          <p:cNvSpPr txBox="1"/>
          <p:nvPr/>
        </p:nvSpPr>
        <p:spPr>
          <a:xfrm>
            <a:off x="6400800" y="4663440"/>
            <a:ext cx="4983480" cy="77724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Ruxsat etilgan amallar orqali ham ma'lumot sizishi mumkin (M12)</a:t>
            </a:r>
            <a:endParaRPr lang="en-US" sz="1600" dirty="0"/>
          </a:p>
        </p:txBody>
      </p:sp>
      <p:sp>
        <p:nvSpPr>
          <p:cNvPr id="24" name="Shape 18"/>
          <p:cNvSpPr/>
          <p:nvPr/>
        </p:nvSpPr>
        <p:spPr>
          <a:xfrm>
            <a:off x="548640" y="5715000"/>
            <a:ext cx="11064240" cy="548640"/>
          </a:xfrm>
          <a:prstGeom prst="roundRect">
            <a:avLst>
              <a:gd name="adj" fmla="val 15000"/>
            </a:avLst>
          </a:prstGeom>
          <a:solidFill>
            <a:srgbClr val="CADCFC"/>
          </a:solidFill>
          <a:ln/>
        </p:spPr>
      </p:sp>
      <p:sp>
        <p:nvSpPr>
          <p:cNvPr id="25" name="Text 19"/>
          <p:cNvSpPr txBox="1"/>
          <p:nvPr/>
        </p:nvSpPr>
        <p:spPr>
          <a:xfrm>
            <a:off x="777240" y="5715000"/>
            <a:ext cx="10607040" cy="548640"/>
          </a:xfrm>
          <a:prstGeom prst="rect">
            <a:avLst/>
          </a:prstGeom>
          <a:noFill/>
          <a:ln/>
        </p:spPr>
        <p:txBody>
          <a:bodyPr wrap="square" lIns="0" tIns="0" rIns="0" bIns="0" rtlCol="0" anchor="ctr"/>
          <a:lstStyle/>
          <a:p>
            <a:pPr algn="l" indent="0" marL="0">
              <a:lnSpc>
                <a:spcPct val="100000"/>
              </a:lnSpc>
              <a:buNone/>
            </a:pPr>
            <a:r>
              <a:rPr lang="en-US" sz="1500" dirty="0">
                <a:solidFill>
                  <a:srgbClr val="1E2761"/>
                </a:solidFill>
                <a:latin typeface="Times New Roman" pitchFamily="34" charset="0"/>
                <a:ea typeface="Times New Roman" pitchFamily="34" charset="-122"/>
                <a:cs typeface="Times New Roman" pitchFamily="34" charset="-120"/>
              </a:rPr>
              <a:t>McLean «Z tizimi» (1987): BLP qoidalariga to'liq mos, lekin barcha yorliqlarni pastga tushirib, hamma narsani ochib beradigan tizim.</a:t>
            </a:r>
            <a:endParaRPr lang="en-US" sz="1500" dirty="0"/>
          </a:p>
        </p:txBody>
      </p:sp>
      <p:sp>
        <p:nvSpPr>
          <p:cNvPr id="26" name="Text 20"/>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11-ma'ruza</a:t>
            </a:r>
            <a:endParaRPr lang="en-US" sz="1100" dirty="0"/>
          </a:p>
        </p:txBody>
      </p:sp>
      <p:sp>
        <p:nvSpPr>
          <p:cNvPr id="27" name="Text 21"/>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III · BIBA (1977)</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Yaxlitlik modeli: pastdan o'qima, yuqoriga yozma</a:t>
            </a:r>
            <a:endParaRPr lang="en-US" sz="3600" dirty="0"/>
          </a:p>
        </p:txBody>
      </p:sp>
      <p:sp>
        <p:nvSpPr>
          <p:cNvPr id="4" name="Shape 2"/>
          <p:cNvSpPr/>
          <p:nvPr/>
        </p:nvSpPr>
        <p:spPr>
          <a:xfrm>
            <a:off x="548640" y="1783080"/>
            <a:ext cx="5486400" cy="658368"/>
          </a:xfrm>
          <a:prstGeom prst="roundRect">
            <a:avLst>
              <a:gd name="adj" fmla="val 12500"/>
            </a:avLst>
          </a:prstGeom>
          <a:solidFill>
            <a:srgbClr val="EEF2FB"/>
          </a:solidFill>
          <a:ln/>
        </p:spPr>
      </p:sp>
      <p:sp>
        <p:nvSpPr>
          <p:cNvPr id="5" name="Text 3"/>
          <p:cNvSpPr txBox="1"/>
          <p:nvPr/>
        </p:nvSpPr>
        <p:spPr>
          <a:xfrm>
            <a:off x="731520" y="1783080"/>
            <a:ext cx="2011680" cy="658368"/>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Tizim</a:t>
            </a:r>
            <a:endParaRPr lang="en-US" sz="1600" dirty="0"/>
          </a:p>
        </p:txBody>
      </p:sp>
      <p:sp>
        <p:nvSpPr>
          <p:cNvPr id="6" name="Text 4"/>
          <p:cNvSpPr txBox="1"/>
          <p:nvPr/>
        </p:nvSpPr>
        <p:spPr>
          <a:xfrm>
            <a:off x="2834640" y="1783080"/>
            <a:ext cx="1371600" cy="658368"/>
          </a:xfrm>
          <a:prstGeom prst="rect">
            <a:avLst/>
          </a:prstGeom>
          <a:noFill/>
          <a:ln/>
        </p:spPr>
        <p:txBody>
          <a:bodyPr wrap="square" lIns="0" tIns="0" rIns="0" bIns="0" rtlCol="0" anchor="ctr"/>
          <a:lstStyle/>
          <a:p>
            <a:pPr algn="l" indent="0" marL="0">
              <a:lnSpc>
                <a:spcPct val="100000"/>
              </a:lnSpc>
              <a:buNone/>
            </a:pPr>
            <a:r>
              <a:rPr lang="en-US" sz="1600" b="1" dirty="0">
                <a:solidFill>
                  <a:srgbClr val="1F6B4A"/>
                </a:solidFill>
                <a:latin typeface="Times New Roman" pitchFamily="34" charset="0"/>
                <a:ea typeface="Times New Roman" pitchFamily="34" charset="-122"/>
                <a:cs typeface="Times New Roman" pitchFamily="34" charset="-120"/>
              </a:rPr>
              <a:t>✓ o'qish</a:t>
            </a:r>
            <a:endParaRPr lang="en-US" sz="1600" dirty="0"/>
          </a:p>
        </p:txBody>
      </p:sp>
      <p:sp>
        <p:nvSpPr>
          <p:cNvPr id="7" name="Text 5"/>
          <p:cNvSpPr txBox="1"/>
          <p:nvPr/>
        </p:nvSpPr>
        <p:spPr>
          <a:xfrm>
            <a:off x="4206240" y="1783080"/>
            <a:ext cx="1371600" cy="658368"/>
          </a:xfrm>
          <a:prstGeom prst="rect">
            <a:avLst/>
          </a:prstGeom>
          <a:noFill/>
          <a:ln/>
        </p:spPr>
        <p:txBody>
          <a:bodyPr wrap="square" lIns="0" tIns="0" rIns="0" bIns="0" rtlCol="0" anchor="ctr"/>
          <a:lstStyle/>
          <a:p>
            <a:pPr algn="l" indent="0" marL="0">
              <a:lnSpc>
                <a:spcPct val="100000"/>
              </a:lnSpc>
              <a:buNone/>
            </a:pPr>
            <a:r>
              <a:rPr lang="en-US" sz="1600" b="1" dirty="0">
                <a:solidFill>
                  <a:srgbClr val="9E3B2E"/>
                </a:solidFill>
                <a:latin typeface="Times New Roman" pitchFamily="34" charset="0"/>
                <a:ea typeface="Times New Roman" pitchFamily="34" charset="-122"/>
                <a:cs typeface="Times New Roman" pitchFamily="34" charset="-120"/>
              </a:rPr>
              <a:t>✗ yozish</a:t>
            </a:r>
            <a:endParaRPr lang="en-US" sz="1600" dirty="0"/>
          </a:p>
        </p:txBody>
      </p:sp>
      <p:sp>
        <p:nvSpPr>
          <p:cNvPr id="8" name="Shape 6"/>
          <p:cNvSpPr/>
          <p:nvPr/>
        </p:nvSpPr>
        <p:spPr>
          <a:xfrm>
            <a:off x="548640" y="2514600"/>
            <a:ext cx="5486400" cy="658368"/>
          </a:xfrm>
          <a:prstGeom prst="roundRect">
            <a:avLst>
              <a:gd name="adj" fmla="val 12500"/>
            </a:avLst>
          </a:prstGeom>
          <a:solidFill>
            <a:srgbClr val="EEF2FB"/>
          </a:solidFill>
          <a:ln/>
        </p:spPr>
      </p:sp>
      <p:sp>
        <p:nvSpPr>
          <p:cNvPr id="9" name="Text 7"/>
          <p:cNvSpPr txBox="1"/>
          <p:nvPr/>
        </p:nvSpPr>
        <p:spPr>
          <a:xfrm>
            <a:off x="731520" y="2514600"/>
            <a:ext cx="2011680" cy="658368"/>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Yuqori</a:t>
            </a:r>
            <a:endParaRPr lang="en-US" sz="1600" dirty="0"/>
          </a:p>
        </p:txBody>
      </p:sp>
      <p:sp>
        <p:nvSpPr>
          <p:cNvPr id="10" name="Text 8"/>
          <p:cNvSpPr txBox="1"/>
          <p:nvPr/>
        </p:nvSpPr>
        <p:spPr>
          <a:xfrm>
            <a:off x="2834640" y="2514600"/>
            <a:ext cx="1371600" cy="658368"/>
          </a:xfrm>
          <a:prstGeom prst="rect">
            <a:avLst/>
          </a:prstGeom>
          <a:noFill/>
          <a:ln/>
        </p:spPr>
        <p:txBody>
          <a:bodyPr wrap="square" lIns="0" tIns="0" rIns="0" bIns="0" rtlCol="0" anchor="ctr"/>
          <a:lstStyle/>
          <a:p>
            <a:pPr algn="l" indent="0" marL="0">
              <a:lnSpc>
                <a:spcPct val="100000"/>
              </a:lnSpc>
              <a:buNone/>
            </a:pPr>
            <a:r>
              <a:rPr lang="en-US" sz="1600" b="1" dirty="0">
                <a:solidFill>
                  <a:srgbClr val="1F6B4A"/>
                </a:solidFill>
                <a:latin typeface="Times New Roman" pitchFamily="34" charset="0"/>
                <a:ea typeface="Times New Roman" pitchFamily="34" charset="-122"/>
                <a:cs typeface="Times New Roman" pitchFamily="34" charset="-120"/>
              </a:rPr>
              <a:t>✓ o'qish</a:t>
            </a:r>
            <a:endParaRPr lang="en-US" sz="1600" dirty="0"/>
          </a:p>
        </p:txBody>
      </p:sp>
      <p:sp>
        <p:nvSpPr>
          <p:cNvPr id="11" name="Text 9"/>
          <p:cNvSpPr txBox="1"/>
          <p:nvPr/>
        </p:nvSpPr>
        <p:spPr>
          <a:xfrm>
            <a:off x="4206240" y="2514600"/>
            <a:ext cx="1371600" cy="658368"/>
          </a:xfrm>
          <a:prstGeom prst="rect">
            <a:avLst/>
          </a:prstGeom>
          <a:noFill/>
          <a:ln/>
        </p:spPr>
        <p:txBody>
          <a:bodyPr wrap="square" lIns="0" tIns="0" rIns="0" bIns="0" rtlCol="0" anchor="ctr"/>
          <a:lstStyle/>
          <a:p>
            <a:pPr algn="l" indent="0" marL="0">
              <a:lnSpc>
                <a:spcPct val="100000"/>
              </a:lnSpc>
              <a:buNone/>
            </a:pPr>
            <a:r>
              <a:rPr lang="en-US" sz="1600" b="1" dirty="0">
                <a:solidFill>
                  <a:srgbClr val="9E3B2E"/>
                </a:solidFill>
                <a:latin typeface="Times New Roman" pitchFamily="34" charset="0"/>
                <a:ea typeface="Times New Roman" pitchFamily="34" charset="-122"/>
                <a:cs typeface="Times New Roman" pitchFamily="34" charset="-120"/>
              </a:rPr>
              <a:t>✗ yozish</a:t>
            </a:r>
            <a:endParaRPr lang="en-US" sz="1600" dirty="0"/>
          </a:p>
        </p:txBody>
      </p:sp>
      <p:sp>
        <p:nvSpPr>
          <p:cNvPr id="12" name="Shape 10"/>
          <p:cNvSpPr/>
          <p:nvPr/>
        </p:nvSpPr>
        <p:spPr>
          <a:xfrm>
            <a:off x="548640" y="3246120"/>
            <a:ext cx="5486400" cy="658368"/>
          </a:xfrm>
          <a:prstGeom prst="roundRect">
            <a:avLst>
              <a:gd name="adj" fmla="val 12500"/>
            </a:avLst>
          </a:prstGeom>
          <a:solidFill>
            <a:srgbClr val="1E2761"/>
          </a:solidFill>
          <a:ln/>
        </p:spPr>
      </p:sp>
      <p:sp>
        <p:nvSpPr>
          <p:cNvPr id="13" name="Text 11"/>
          <p:cNvSpPr txBox="1"/>
          <p:nvPr/>
        </p:nvSpPr>
        <p:spPr>
          <a:xfrm>
            <a:off x="731520" y="3246120"/>
            <a:ext cx="2011680" cy="658368"/>
          </a:xfrm>
          <a:prstGeom prst="rect">
            <a:avLst/>
          </a:prstGeom>
          <a:noFill/>
          <a:ln/>
        </p:spPr>
        <p:txBody>
          <a:bodyPr wrap="square" lIns="0" tIns="0" rIns="0" bIns="0" rtlCol="0" anchor="ctr"/>
          <a:lstStyle/>
          <a:p>
            <a:pPr algn="l"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O'rta</a:t>
            </a:r>
            <a:endParaRPr lang="en-US" sz="1600" dirty="0"/>
          </a:p>
        </p:txBody>
      </p:sp>
      <p:sp>
        <p:nvSpPr>
          <p:cNvPr id="14" name="Text 12"/>
          <p:cNvSpPr txBox="1"/>
          <p:nvPr/>
        </p:nvSpPr>
        <p:spPr>
          <a:xfrm>
            <a:off x="4754880" y="3246120"/>
            <a:ext cx="1097280" cy="658368"/>
          </a:xfrm>
          <a:prstGeom prst="rect">
            <a:avLst/>
          </a:prstGeom>
          <a:noFill/>
          <a:ln/>
        </p:spPr>
        <p:txBody>
          <a:bodyPr wrap="square" lIns="0" tIns="0" rIns="0" bIns="0" rtlCol="0" anchor="ctr"/>
          <a:lstStyle/>
          <a:p>
            <a:pPr algn="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sub'ekt</a:t>
            </a:r>
            <a:endParaRPr lang="en-US" sz="1400" dirty="0"/>
          </a:p>
        </p:txBody>
      </p:sp>
      <p:sp>
        <p:nvSpPr>
          <p:cNvPr id="15" name="Shape 13"/>
          <p:cNvSpPr/>
          <p:nvPr/>
        </p:nvSpPr>
        <p:spPr>
          <a:xfrm>
            <a:off x="548640" y="3977640"/>
            <a:ext cx="5486400" cy="658368"/>
          </a:xfrm>
          <a:prstGeom prst="roundRect">
            <a:avLst>
              <a:gd name="adj" fmla="val 12500"/>
            </a:avLst>
          </a:prstGeom>
          <a:solidFill>
            <a:srgbClr val="EEF2FB"/>
          </a:solidFill>
          <a:ln/>
        </p:spPr>
      </p:sp>
      <p:sp>
        <p:nvSpPr>
          <p:cNvPr id="16" name="Text 14"/>
          <p:cNvSpPr txBox="1"/>
          <p:nvPr/>
        </p:nvSpPr>
        <p:spPr>
          <a:xfrm>
            <a:off x="731520" y="3977640"/>
            <a:ext cx="2011680" cy="658368"/>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Past</a:t>
            </a:r>
            <a:endParaRPr lang="en-US" sz="1600" dirty="0"/>
          </a:p>
        </p:txBody>
      </p:sp>
      <p:sp>
        <p:nvSpPr>
          <p:cNvPr id="17" name="Text 15"/>
          <p:cNvSpPr txBox="1"/>
          <p:nvPr/>
        </p:nvSpPr>
        <p:spPr>
          <a:xfrm>
            <a:off x="2834640" y="3977640"/>
            <a:ext cx="1371600" cy="658368"/>
          </a:xfrm>
          <a:prstGeom prst="rect">
            <a:avLst/>
          </a:prstGeom>
          <a:noFill/>
          <a:ln/>
        </p:spPr>
        <p:txBody>
          <a:bodyPr wrap="square" lIns="0" tIns="0" rIns="0" bIns="0" rtlCol="0" anchor="ctr"/>
          <a:lstStyle/>
          <a:p>
            <a:pPr algn="l" indent="0" marL="0">
              <a:lnSpc>
                <a:spcPct val="100000"/>
              </a:lnSpc>
              <a:buNone/>
            </a:pPr>
            <a:r>
              <a:rPr lang="en-US" sz="1600" b="1" dirty="0">
                <a:solidFill>
                  <a:srgbClr val="9E3B2E"/>
                </a:solidFill>
                <a:latin typeface="Times New Roman" pitchFamily="34" charset="0"/>
                <a:ea typeface="Times New Roman" pitchFamily="34" charset="-122"/>
                <a:cs typeface="Times New Roman" pitchFamily="34" charset="-120"/>
              </a:rPr>
              <a:t>✗ o'qish</a:t>
            </a:r>
            <a:endParaRPr lang="en-US" sz="1600" dirty="0"/>
          </a:p>
        </p:txBody>
      </p:sp>
      <p:sp>
        <p:nvSpPr>
          <p:cNvPr id="18" name="Text 16"/>
          <p:cNvSpPr txBox="1"/>
          <p:nvPr/>
        </p:nvSpPr>
        <p:spPr>
          <a:xfrm>
            <a:off x="4206240" y="3977640"/>
            <a:ext cx="1371600" cy="658368"/>
          </a:xfrm>
          <a:prstGeom prst="rect">
            <a:avLst/>
          </a:prstGeom>
          <a:noFill/>
          <a:ln/>
        </p:spPr>
        <p:txBody>
          <a:bodyPr wrap="square" lIns="0" tIns="0" rIns="0" bIns="0" rtlCol="0" anchor="ctr"/>
          <a:lstStyle/>
          <a:p>
            <a:pPr algn="l" indent="0" marL="0">
              <a:lnSpc>
                <a:spcPct val="100000"/>
              </a:lnSpc>
              <a:buNone/>
            </a:pPr>
            <a:r>
              <a:rPr lang="en-US" sz="1600" b="1" dirty="0">
                <a:solidFill>
                  <a:srgbClr val="1F6B4A"/>
                </a:solidFill>
                <a:latin typeface="Times New Roman" pitchFamily="34" charset="0"/>
                <a:ea typeface="Times New Roman" pitchFamily="34" charset="-122"/>
                <a:cs typeface="Times New Roman" pitchFamily="34" charset="-120"/>
              </a:rPr>
              <a:t>✓ yozish</a:t>
            </a:r>
            <a:endParaRPr lang="en-US" sz="1600" dirty="0"/>
          </a:p>
        </p:txBody>
      </p:sp>
      <p:sp>
        <p:nvSpPr>
          <p:cNvPr id="19" name="Shape 17"/>
          <p:cNvSpPr/>
          <p:nvPr/>
        </p:nvSpPr>
        <p:spPr>
          <a:xfrm>
            <a:off x="6309360" y="1783080"/>
            <a:ext cx="5303520" cy="896112"/>
          </a:xfrm>
          <a:prstGeom prst="roundRect">
            <a:avLst>
              <a:gd name="adj" fmla="val 9184"/>
            </a:avLst>
          </a:prstGeom>
          <a:solidFill>
            <a:srgbClr val="EEF2FB"/>
          </a:solidFill>
          <a:ln/>
        </p:spPr>
      </p:sp>
      <p:sp>
        <p:nvSpPr>
          <p:cNvPr id="20" name="Shape 18"/>
          <p:cNvSpPr/>
          <p:nvPr/>
        </p:nvSpPr>
        <p:spPr>
          <a:xfrm>
            <a:off x="6309360" y="1783080"/>
            <a:ext cx="109728" cy="896112"/>
          </a:xfrm>
          <a:prstGeom prst="roundRect">
            <a:avLst>
              <a:gd name="adj" fmla="val 16667"/>
            </a:avLst>
          </a:prstGeom>
          <a:solidFill>
            <a:srgbClr val="1E2761"/>
          </a:solidFill>
          <a:ln/>
        </p:spPr>
      </p:sp>
      <p:sp>
        <p:nvSpPr>
          <p:cNvPr id="21" name="Text 19"/>
          <p:cNvSpPr txBox="1"/>
          <p:nvPr/>
        </p:nvSpPr>
        <p:spPr>
          <a:xfrm>
            <a:off x="6537960" y="1819656"/>
            <a:ext cx="3108960" cy="365760"/>
          </a:xfrm>
          <a:prstGeom prst="rect">
            <a:avLst/>
          </a:prstGeom>
          <a:noFill/>
          <a:ln/>
        </p:spPr>
        <p:txBody>
          <a:bodyPr wrap="square" lIns="0" tIns="0" rIns="0" bIns="0" rtlCol="0" anchor="t"/>
          <a:lstStyle/>
          <a:p>
            <a:pPr algn="l"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Oddiy yaxlitlik xossasi</a:t>
            </a:r>
            <a:endParaRPr lang="en-US" sz="1700" dirty="0"/>
          </a:p>
        </p:txBody>
      </p:sp>
      <p:sp>
        <p:nvSpPr>
          <p:cNvPr id="22" name="Text 20"/>
          <p:cNvSpPr txBox="1"/>
          <p:nvPr/>
        </p:nvSpPr>
        <p:spPr>
          <a:xfrm>
            <a:off x="9601200" y="1819656"/>
            <a:ext cx="1920240" cy="365760"/>
          </a:xfrm>
          <a:prstGeom prst="rect">
            <a:avLst/>
          </a:prstGeom>
          <a:noFill/>
          <a:ln/>
        </p:spPr>
        <p:txBody>
          <a:bodyPr wrap="square" lIns="0" tIns="0" rIns="0" bIns="0" rtlCol="0" anchor="t"/>
          <a:lstStyle/>
          <a:p>
            <a:pPr algn="r"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no read down</a:t>
            </a:r>
            <a:endParaRPr lang="en-US" sz="1400" dirty="0"/>
          </a:p>
        </p:txBody>
      </p:sp>
      <p:sp>
        <p:nvSpPr>
          <p:cNvPr id="23" name="Text 21"/>
          <p:cNvSpPr txBox="1"/>
          <p:nvPr/>
        </p:nvSpPr>
        <p:spPr>
          <a:xfrm>
            <a:off x="6537960" y="2203704"/>
            <a:ext cx="4937760" cy="438912"/>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Ishonchsiz manbadan o'qib, o'zini «ifloslantirmaslik»</a:t>
            </a:r>
            <a:endParaRPr lang="en-US" sz="1500" dirty="0"/>
          </a:p>
        </p:txBody>
      </p:sp>
      <p:sp>
        <p:nvSpPr>
          <p:cNvPr id="24" name="Shape 22"/>
          <p:cNvSpPr/>
          <p:nvPr/>
        </p:nvSpPr>
        <p:spPr>
          <a:xfrm>
            <a:off x="6309360" y="2788920"/>
            <a:ext cx="5303520" cy="896112"/>
          </a:xfrm>
          <a:prstGeom prst="roundRect">
            <a:avLst>
              <a:gd name="adj" fmla="val 9184"/>
            </a:avLst>
          </a:prstGeom>
          <a:solidFill>
            <a:srgbClr val="EEF2FB"/>
          </a:solidFill>
          <a:ln/>
        </p:spPr>
      </p:sp>
      <p:sp>
        <p:nvSpPr>
          <p:cNvPr id="25" name="Shape 23"/>
          <p:cNvSpPr/>
          <p:nvPr/>
        </p:nvSpPr>
        <p:spPr>
          <a:xfrm>
            <a:off x="6309360" y="2788920"/>
            <a:ext cx="109728" cy="896112"/>
          </a:xfrm>
          <a:prstGeom prst="roundRect">
            <a:avLst>
              <a:gd name="adj" fmla="val 16667"/>
            </a:avLst>
          </a:prstGeom>
          <a:solidFill>
            <a:srgbClr val="9E3B2E"/>
          </a:solidFill>
          <a:ln/>
        </p:spPr>
      </p:sp>
      <p:sp>
        <p:nvSpPr>
          <p:cNvPr id="26" name="Text 24"/>
          <p:cNvSpPr txBox="1"/>
          <p:nvPr/>
        </p:nvSpPr>
        <p:spPr>
          <a:xfrm>
            <a:off x="6537960" y="2825496"/>
            <a:ext cx="3108960" cy="365760"/>
          </a:xfrm>
          <a:prstGeom prst="rect">
            <a:avLst/>
          </a:prstGeom>
          <a:noFill/>
          <a:ln/>
        </p:spPr>
        <p:txBody>
          <a:bodyPr wrap="square" lIns="0" tIns="0" rIns="0" bIns="0" rtlCol="0" anchor="t"/>
          <a:lstStyle/>
          <a:p>
            <a:pPr algn="l" indent="0" marL="0">
              <a:lnSpc>
                <a:spcPct val="100000"/>
              </a:lnSpc>
              <a:buNone/>
            </a:pPr>
            <a:r>
              <a:rPr lang="en-US" sz="1700" b="1" dirty="0">
                <a:solidFill>
                  <a:srgbClr val="9E3B2E"/>
                </a:solidFill>
                <a:latin typeface="Times New Roman" pitchFamily="34" charset="0"/>
                <a:ea typeface="Times New Roman" pitchFamily="34" charset="-122"/>
                <a:cs typeface="Times New Roman" pitchFamily="34" charset="-120"/>
              </a:rPr>
              <a:t>*-yaxlitlik xossasi</a:t>
            </a:r>
            <a:endParaRPr lang="en-US" sz="1700" dirty="0"/>
          </a:p>
        </p:txBody>
      </p:sp>
      <p:sp>
        <p:nvSpPr>
          <p:cNvPr id="27" name="Text 25"/>
          <p:cNvSpPr txBox="1"/>
          <p:nvPr/>
        </p:nvSpPr>
        <p:spPr>
          <a:xfrm>
            <a:off x="9601200" y="2825496"/>
            <a:ext cx="1920240" cy="365760"/>
          </a:xfrm>
          <a:prstGeom prst="rect">
            <a:avLst/>
          </a:prstGeom>
          <a:noFill/>
          <a:ln/>
        </p:spPr>
        <p:txBody>
          <a:bodyPr wrap="square" lIns="0" tIns="0" rIns="0" bIns="0" rtlCol="0" anchor="t"/>
          <a:lstStyle/>
          <a:p>
            <a:pPr algn="r"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no write up</a:t>
            </a:r>
            <a:endParaRPr lang="en-US" sz="1400" dirty="0"/>
          </a:p>
        </p:txBody>
      </p:sp>
      <p:sp>
        <p:nvSpPr>
          <p:cNvPr id="28" name="Text 26"/>
          <p:cNvSpPr txBox="1"/>
          <p:nvPr/>
        </p:nvSpPr>
        <p:spPr>
          <a:xfrm>
            <a:off x="6537960" y="3209544"/>
            <a:ext cx="4937760" cy="438912"/>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Past ishonchli sub'ekt yuqori ishonchli obyektni buzmasligi</a:t>
            </a:r>
            <a:endParaRPr lang="en-US" sz="1500" dirty="0"/>
          </a:p>
        </p:txBody>
      </p:sp>
      <p:sp>
        <p:nvSpPr>
          <p:cNvPr id="29" name="Shape 27"/>
          <p:cNvSpPr/>
          <p:nvPr/>
        </p:nvSpPr>
        <p:spPr>
          <a:xfrm>
            <a:off x="6309360" y="3794760"/>
            <a:ext cx="5303520" cy="896112"/>
          </a:xfrm>
          <a:prstGeom prst="roundRect">
            <a:avLst>
              <a:gd name="adj" fmla="val 9184"/>
            </a:avLst>
          </a:prstGeom>
          <a:solidFill>
            <a:srgbClr val="EEF2FB"/>
          </a:solidFill>
          <a:ln/>
        </p:spPr>
      </p:sp>
      <p:sp>
        <p:nvSpPr>
          <p:cNvPr id="30" name="Shape 28"/>
          <p:cNvSpPr/>
          <p:nvPr/>
        </p:nvSpPr>
        <p:spPr>
          <a:xfrm>
            <a:off x="6309360" y="3794760"/>
            <a:ext cx="109728" cy="896112"/>
          </a:xfrm>
          <a:prstGeom prst="roundRect">
            <a:avLst>
              <a:gd name="adj" fmla="val 16667"/>
            </a:avLst>
          </a:prstGeom>
          <a:solidFill>
            <a:srgbClr val="2A3778"/>
          </a:solidFill>
          <a:ln/>
        </p:spPr>
      </p:sp>
      <p:sp>
        <p:nvSpPr>
          <p:cNvPr id="31" name="Text 29"/>
          <p:cNvSpPr txBox="1"/>
          <p:nvPr/>
        </p:nvSpPr>
        <p:spPr>
          <a:xfrm>
            <a:off x="6537960" y="3831336"/>
            <a:ext cx="3108960" cy="365760"/>
          </a:xfrm>
          <a:prstGeom prst="rect">
            <a:avLst/>
          </a:prstGeom>
          <a:noFill/>
          <a:ln/>
        </p:spPr>
        <p:txBody>
          <a:bodyPr wrap="square" lIns="0" tIns="0" rIns="0" bIns="0" rtlCol="0" anchor="t"/>
          <a:lstStyle/>
          <a:p>
            <a:pPr algn="l" indent="0" marL="0">
              <a:lnSpc>
                <a:spcPct val="100000"/>
              </a:lnSpc>
              <a:buNone/>
            </a:pPr>
            <a:r>
              <a:rPr lang="en-US" sz="1700" b="1" dirty="0">
                <a:solidFill>
                  <a:srgbClr val="2A3778"/>
                </a:solidFill>
                <a:latin typeface="Times New Roman" pitchFamily="34" charset="0"/>
                <a:ea typeface="Times New Roman" pitchFamily="34" charset="-122"/>
                <a:cs typeface="Times New Roman" pitchFamily="34" charset="-120"/>
              </a:rPr>
              <a:t>Past suv belgisi</a:t>
            </a:r>
            <a:endParaRPr lang="en-US" sz="1700" dirty="0"/>
          </a:p>
        </p:txBody>
      </p:sp>
      <p:sp>
        <p:nvSpPr>
          <p:cNvPr id="32" name="Text 30"/>
          <p:cNvSpPr txBox="1"/>
          <p:nvPr/>
        </p:nvSpPr>
        <p:spPr>
          <a:xfrm>
            <a:off x="9601200" y="3831336"/>
            <a:ext cx="1920240" cy="365760"/>
          </a:xfrm>
          <a:prstGeom prst="rect">
            <a:avLst/>
          </a:prstGeom>
          <a:noFill/>
          <a:ln/>
        </p:spPr>
        <p:txBody>
          <a:bodyPr wrap="square" lIns="0" tIns="0" rIns="0" bIns="0" rtlCol="0" anchor="t"/>
          <a:lstStyle/>
          <a:p>
            <a:pPr algn="r"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low-water-mark</a:t>
            </a:r>
            <a:endParaRPr lang="en-US" sz="1400" dirty="0"/>
          </a:p>
        </p:txBody>
      </p:sp>
      <p:sp>
        <p:nvSpPr>
          <p:cNvPr id="33" name="Text 31"/>
          <p:cNvSpPr txBox="1"/>
          <p:nvPr/>
        </p:nvSpPr>
        <p:spPr>
          <a:xfrm>
            <a:off x="6537960" y="4215384"/>
            <a:ext cx="4937760" cy="438912"/>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Variant: pastdan o'qigan sub'ektning darajasi pasayadi</a:t>
            </a:r>
            <a:endParaRPr lang="en-US" sz="1500" dirty="0"/>
          </a:p>
        </p:txBody>
      </p:sp>
      <p:sp>
        <p:nvSpPr>
          <p:cNvPr id="34" name="Shape 32"/>
          <p:cNvSpPr/>
          <p:nvPr/>
        </p:nvSpPr>
        <p:spPr>
          <a:xfrm>
            <a:off x="548640" y="4846320"/>
            <a:ext cx="11064240" cy="1371600"/>
          </a:xfrm>
          <a:prstGeom prst="roundRect">
            <a:avLst>
              <a:gd name="adj" fmla="val 6000"/>
            </a:avLst>
          </a:prstGeom>
          <a:solidFill>
            <a:srgbClr val="E8F3EC"/>
          </a:solidFill>
          <a:ln/>
        </p:spPr>
      </p:sp>
      <p:sp>
        <p:nvSpPr>
          <p:cNvPr id="35" name="Text 33"/>
          <p:cNvSpPr txBox="1"/>
          <p:nvPr/>
        </p:nvSpPr>
        <p:spPr>
          <a:xfrm>
            <a:off x="777240" y="4919472"/>
            <a:ext cx="5486400" cy="384048"/>
          </a:xfrm>
          <a:prstGeom prst="rect">
            <a:avLst/>
          </a:prstGeom>
          <a:noFill/>
          <a:ln/>
        </p:spPr>
        <p:txBody>
          <a:bodyPr wrap="square" lIns="0" tIns="0" rIns="0" bIns="0" rtlCol="0" anchor="t"/>
          <a:lstStyle/>
          <a:p>
            <a:pPr algn="l" indent="0" marL="0">
              <a:lnSpc>
                <a:spcPct val="100000"/>
              </a:lnSpc>
              <a:buNone/>
            </a:pPr>
            <a:r>
              <a:rPr lang="en-US" sz="1800" b="1" dirty="0">
                <a:solidFill>
                  <a:srgbClr val="1F6B4A"/>
                </a:solidFill>
                <a:latin typeface="Times New Roman" pitchFamily="34" charset="0"/>
                <a:ea typeface="Times New Roman" pitchFamily="34" charset="-122"/>
                <a:cs typeface="Times New Roman" pitchFamily="34" charset="-120"/>
              </a:rPr>
              <a:t>Misol</a:t>
            </a:r>
            <a:endParaRPr lang="en-US" sz="1800" dirty="0"/>
          </a:p>
        </p:txBody>
      </p:sp>
      <p:sp>
        <p:nvSpPr>
          <p:cNvPr id="36" name="Text 34"/>
          <p:cNvSpPr txBox="1"/>
          <p:nvPr/>
        </p:nvSpPr>
        <p:spPr>
          <a:xfrm>
            <a:off x="777240" y="5303520"/>
            <a:ext cx="10607040" cy="86868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Internetdan yuklangan fayl — past ishonch. Uni ochgan dastur Windows tizim fayllariga (yuqori ishonch) yoza olmasligi kerak. Aynan shu qoida Windows'da standart holda ishlaydi — IV bo'lim.</a:t>
            </a:r>
            <a:endParaRPr lang="en-US" sz="1600" dirty="0"/>
          </a:p>
        </p:txBody>
      </p:sp>
      <p:sp>
        <p:nvSpPr>
          <p:cNvPr id="37" name="Text 35"/>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11-ma'ruza</a:t>
            </a:r>
            <a:endParaRPr lang="en-US" sz="1100" dirty="0"/>
          </a:p>
        </p:txBody>
      </p:sp>
      <p:sp>
        <p:nvSpPr>
          <p:cNvPr id="38" name="Text 36"/>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III · CLARK-WILSON (1987)</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Tijorat yaxlitligi: to'g'ri tuzilgan tranzaksiyalar</a:t>
            </a:r>
            <a:endParaRPr lang="en-US" sz="3600" dirty="0"/>
          </a:p>
        </p:txBody>
      </p:sp>
      <p:sp>
        <p:nvSpPr>
          <p:cNvPr id="4" name="Shape 2"/>
          <p:cNvSpPr/>
          <p:nvPr/>
        </p:nvSpPr>
        <p:spPr>
          <a:xfrm>
            <a:off x="548640" y="1783080"/>
            <a:ext cx="2697480" cy="1691640"/>
          </a:xfrm>
          <a:prstGeom prst="roundRect">
            <a:avLst>
              <a:gd name="adj" fmla="val 4865"/>
            </a:avLst>
          </a:prstGeom>
          <a:solidFill>
            <a:srgbClr val="1E2761"/>
          </a:solidFill>
          <a:ln/>
        </p:spPr>
      </p:sp>
      <p:sp>
        <p:nvSpPr>
          <p:cNvPr id="5" name="Text 3"/>
          <p:cNvSpPr txBox="1"/>
          <p:nvPr/>
        </p:nvSpPr>
        <p:spPr>
          <a:xfrm>
            <a:off x="548640" y="1828800"/>
            <a:ext cx="2697480" cy="640080"/>
          </a:xfrm>
          <a:prstGeom prst="rect">
            <a:avLst/>
          </a:prstGeom>
          <a:noFill/>
          <a:ln/>
        </p:spPr>
        <p:txBody>
          <a:bodyPr wrap="square" lIns="50800" tIns="50800" rIns="50800" bIns="50800" rtlCol="0" anchor="ctr"/>
          <a:lstStyle/>
          <a:p>
            <a:pPr algn="ctr" indent="0" marL="0">
              <a:lnSpc>
                <a:spcPct val="100000"/>
              </a:lnSpc>
              <a:buNone/>
            </a:pPr>
            <a:r>
              <a:rPr lang="en-US" sz="2800" b="1" dirty="0">
                <a:solidFill>
                  <a:srgbClr val="FFFFFF"/>
                </a:solidFill>
                <a:latin typeface="Courier New" pitchFamily="34" charset="0"/>
                <a:ea typeface="Courier New" pitchFamily="34" charset="-122"/>
                <a:cs typeface="Courier New" pitchFamily="34" charset="-120"/>
              </a:rPr>
              <a:t>CDI</a:t>
            </a:r>
            <a:endParaRPr lang="en-US" sz="2800" dirty="0"/>
          </a:p>
        </p:txBody>
      </p:sp>
      <p:sp>
        <p:nvSpPr>
          <p:cNvPr id="6" name="Text 4"/>
          <p:cNvSpPr txBox="1"/>
          <p:nvPr/>
        </p:nvSpPr>
        <p:spPr>
          <a:xfrm>
            <a:off x="658368" y="2468880"/>
            <a:ext cx="2478024" cy="91440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Cheklangan ma'lumot: HEMIS dagi baholar bazasi</a:t>
            </a:r>
            <a:endParaRPr lang="en-US" sz="1400" dirty="0"/>
          </a:p>
        </p:txBody>
      </p:sp>
      <p:sp>
        <p:nvSpPr>
          <p:cNvPr id="7" name="Shape 5"/>
          <p:cNvSpPr/>
          <p:nvPr/>
        </p:nvSpPr>
        <p:spPr>
          <a:xfrm>
            <a:off x="3383280" y="1783080"/>
            <a:ext cx="2697480" cy="1691640"/>
          </a:xfrm>
          <a:prstGeom prst="roundRect">
            <a:avLst>
              <a:gd name="adj" fmla="val 4865"/>
            </a:avLst>
          </a:prstGeom>
          <a:solidFill>
            <a:srgbClr val="9E3B2E"/>
          </a:solidFill>
          <a:ln/>
        </p:spPr>
      </p:sp>
      <p:sp>
        <p:nvSpPr>
          <p:cNvPr id="8" name="Text 6"/>
          <p:cNvSpPr txBox="1"/>
          <p:nvPr/>
        </p:nvSpPr>
        <p:spPr>
          <a:xfrm>
            <a:off x="3383280" y="1828800"/>
            <a:ext cx="2697480" cy="640080"/>
          </a:xfrm>
          <a:prstGeom prst="rect">
            <a:avLst/>
          </a:prstGeom>
          <a:noFill/>
          <a:ln/>
        </p:spPr>
        <p:txBody>
          <a:bodyPr wrap="square" lIns="50800" tIns="50800" rIns="50800" bIns="50800" rtlCol="0" anchor="ctr"/>
          <a:lstStyle/>
          <a:p>
            <a:pPr algn="ctr" indent="0" marL="0">
              <a:lnSpc>
                <a:spcPct val="100000"/>
              </a:lnSpc>
              <a:buNone/>
            </a:pPr>
            <a:r>
              <a:rPr lang="en-US" sz="2800" b="1" dirty="0">
                <a:solidFill>
                  <a:srgbClr val="FFFFFF"/>
                </a:solidFill>
                <a:latin typeface="Courier New" pitchFamily="34" charset="0"/>
                <a:ea typeface="Courier New" pitchFamily="34" charset="-122"/>
                <a:cs typeface="Courier New" pitchFamily="34" charset="-120"/>
              </a:rPr>
              <a:t>UDI</a:t>
            </a:r>
            <a:endParaRPr lang="en-US" sz="2800" dirty="0"/>
          </a:p>
        </p:txBody>
      </p:sp>
      <p:sp>
        <p:nvSpPr>
          <p:cNvPr id="9" name="Text 7"/>
          <p:cNvSpPr txBox="1"/>
          <p:nvPr/>
        </p:nvSpPr>
        <p:spPr>
          <a:xfrm>
            <a:off x="3493008" y="2468880"/>
            <a:ext cx="2478024" cy="91440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Cheklanmagan ma'lumot: o'qituvchi yuklagan Excel fayl</a:t>
            </a:r>
            <a:endParaRPr lang="en-US" sz="1400" dirty="0"/>
          </a:p>
        </p:txBody>
      </p:sp>
      <p:sp>
        <p:nvSpPr>
          <p:cNvPr id="10" name="Shape 8"/>
          <p:cNvSpPr/>
          <p:nvPr/>
        </p:nvSpPr>
        <p:spPr>
          <a:xfrm>
            <a:off x="6217920" y="1783080"/>
            <a:ext cx="2697480" cy="1691640"/>
          </a:xfrm>
          <a:prstGeom prst="roundRect">
            <a:avLst>
              <a:gd name="adj" fmla="val 4865"/>
            </a:avLst>
          </a:prstGeom>
          <a:solidFill>
            <a:srgbClr val="1F6B4A"/>
          </a:solidFill>
          <a:ln/>
        </p:spPr>
      </p:sp>
      <p:sp>
        <p:nvSpPr>
          <p:cNvPr id="11" name="Text 9"/>
          <p:cNvSpPr txBox="1"/>
          <p:nvPr/>
        </p:nvSpPr>
        <p:spPr>
          <a:xfrm>
            <a:off x="6217920" y="1828800"/>
            <a:ext cx="2697480" cy="640080"/>
          </a:xfrm>
          <a:prstGeom prst="rect">
            <a:avLst/>
          </a:prstGeom>
          <a:noFill/>
          <a:ln/>
        </p:spPr>
        <p:txBody>
          <a:bodyPr wrap="square" lIns="50800" tIns="50800" rIns="50800" bIns="50800" rtlCol="0" anchor="ctr"/>
          <a:lstStyle/>
          <a:p>
            <a:pPr algn="ctr" indent="0" marL="0">
              <a:lnSpc>
                <a:spcPct val="100000"/>
              </a:lnSpc>
              <a:buNone/>
            </a:pPr>
            <a:r>
              <a:rPr lang="en-US" sz="2800" b="1" dirty="0">
                <a:solidFill>
                  <a:srgbClr val="FFFFFF"/>
                </a:solidFill>
                <a:latin typeface="Courier New" pitchFamily="34" charset="0"/>
                <a:ea typeface="Courier New" pitchFamily="34" charset="-122"/>
                <a:cs typeface="Courier New" pitchFamily="34" charset="-120"/>
              </a:rPr>
              <a:t>TP</a:t>
            </a:r>
            <a:endParaRPr lang="en-US" sz="2800" dirty="0"/>
          </a:p>
        </p:txBody>
      </p:sp>
      <p:sp>
        <p:nvSpPr>
          <p:cNvPr id="12" name="Text 10"/>
          <p:cNvSpPr txBox="1"/>
          <p:nvPr/>
        </p:nvSpPr>
        <p:spPr>
          <a:xfrm>
            <a:off x="6327648" y="2468880"/>
            <a:ext cx="2478024" cy="91440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Tranzaksiya: «Baho kiritish» — tekshiradi, jurnalga yozadi</a:t>
            </a:r>
            <a:endParaRPr lang="en-US" sz="1400" dirty="0"/>
          </a:p>
        </p:txBody>
      </p:sp>
      <p:sp>
        <p:nvSpPr>
          <p:cNvPr id="13" name="Shape 11"/>
          <p:cNvSpPr/>
          <p:nvPr/>
        </p:nvSpPr>
        <p:spPr>
          <a:xfrm>
            <a:off x="9052560" y="1783080"/>
            <a:ext cx="2697480" cy="1691640"/>
          </a:xfrm>
          <a:prstGeom prst="roundRect">
            <a:avLst>
              <a:gd name="adj" fmla="val 4865"/>
            </a:avLst>
          </a:prstGeom>
          <a:solidFill>
            <a:srgbClr val="2A3778"/>
          </a:solidFill>
          <a:ln/>
        </p:spPr>
      </p:sp>
      <p:sp>
        <p:nvSpPr>
          <p:cNvPr id="14" name="Text 12"/>
          <p:cNvSpPr txBox="1"/>
          <p:nvPr/>
        </p:nvSpPr>
        <p:spPr>
          <a:xfrm>
            <a:off x="9052560" y="1828800"/>
            <a:ext cx="2697480" cy="640080"/>
          </a:xfrm>
          <a:prstGeom prst="rect">
            <a:avLst/>
          </a:prstGeom>
          <a:noFill/>
          <a:ln/>
        </p:spPr>
        <p:txBody>
          <a:bodyPr wrap="square" lIns="50800" tIns="50800" rIns="50800" bIns="50800" rtlCol="0" anchor="ctr"/>
          <a:lstStyle/>
          <a:p>
            <a:pPr algn="ctr" indent="0" marL="0">
              <a:lnSpc>
                <a:spcPct val="100000"/>
              </a:lnSpc>
              <a:buNone/>
            </a:pPr>
            <a:r>
              <a:rPr lang="en-US" sz="2800" b="1" dirty="0">
                <a:solidFill>
                  <a:srgbClr val="FFFFFF"/>
                </a:solidFill>
                <a:latin typeface="Courier New" pitchFamily="34" charset="0"/>
                <a:ea typeface="Courier New" pitchFamily="34" charset="-122"/>
                <a:cs typeface="Courier New" pitchFamily="34" charset="-120"/>
              </a:rPr>
              <a:t>IVP</a:t>
            </a:r>
            <a:endParaRPr lang="en-US" sz="2800" dirty="0"/>
          </a:p>
        </p:txBody>
      </p:sp>
      <p:sp>
        <p:nvSpPr>
          <p:cNvPr id="15" name="Text 13"/>
          <p:cNvSpPr txBox="1"/>
          <p:nvPr/>
        </p:nvSpPr>
        <p:spPr>
          <a:xfrm>
            <a:off x="9162288" y="2468880"/>
            <a:ext cx="2478024" cy="91440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Tekshiruv: har oy baholar va imtihon qaydnomalarini solishtirish</a:t>
            </a:r>
            <a:endParaRPr lang="en-US" sz="1400" dirty="0"/>
          </a:p>
        </p:txBody>
      </p:sp>
      <p:sp>
        <p:nvSpPr>
          <p:cNvPr id="16" name="Shape 14"/>
          <p:cNvSpPr/>
          <p:nvPr/>
        </p:nvSpPr>
        <p:spPr>
          <a:xfrm>
            <a:off x="548640" y="3703320"/>
            <a:ext cx="11064240" cy="566928"/>
          </a:xfrm>
          <a:prstGeom prst="roundRect">
            <a:avLst>
              <a:gd name="adj" fmla="val 14516"/>
            </a:avLst>
          </a:prstGeom>
          <a:solidFill>
            <a:srgbClr val="EEF2FB"/>
          </a:solidFill>
          <a:ln/>
        </p:spPr>
      </p:sp>
      <p:sp>
        <p:nvSpPr>
          <p:cNvPr id="17" name="Text 15"/>
          <p:cNvSpPr txBox="1"/>
          <p:nvPr/>
        </p:nvSpPr>
        <p:spPr>
          <a:xfrm>
            <a:off x="777240" y="3703320"/>
            <a:ext cx="2377440" cy="566928"/>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Asosiy g'oya</a:t>
            </a:r>
            <a:endParaRPr lang="en-US" sz="1600" dirty="0"/>
          </a:p>
        </p:txBody>
      </p:sp>
      <p:sp>
        <p:nvSpPr>
          <p:cNvPr id="18" name="Text 16"/>
          <p:cNvSpPr txBox="1"/>
          <p:nvPr/>
        </p:nvSpPr>
        <p:spPr>
          <a:xfrm>
            <a:off x="3154680" y="3703320"/>
            <a:ext cx="8321040" cy="566928"/>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Foydalanuvchi CDI ga to'g'ridan-to'g'ri emas, faqat sertifikatlangan TP orqali kiradi</a:t>
            </a:r>
            <a:endParaRPr lang="en-US" sz="1500" dirty="0"/>
          </a:p>
        </p:txBody>
      </p:sp>
      <p:sp>
        <p:nvSpPr>
          <p:cNvPr id="19" name="Shape 17"/>
          <p:cNvSpPr/>
          <p:nvPr/>
        </p:nvSpPr>
        <p:spPr>
          <a:xfrm>
            <a:off x="548640" y="4343400"/>
            <a:ext cx="11064240" cy="566928"/>
          </a:xfrm>
          <a:prstGeom prst="roundRect">
            <a:avLst>
              <a:gd name="adj" fmla="val 14516"/>
            </a:avLst>
          </a:prstGeom>
          <a:solidFill>
            <a:srgbClr val="FFFFFF"/>
          </a:solidFill>
          <a:ln w="12700">
            <a:solidFill>
              <a:srgbClr val="CADCFC"/>
            </a:solidFill>
            <a:prstDash val="solid"/>
          </a:ln>
        </p:spPr>
      </p:sp>
      <p:sp>
        <p:nvSpPr>
          <p:cNvPr id="20" name="Text 18"/>
          <p:cNvSpPr txBox="1"/>
          <p:nvPr/>
        </p:nvSpPr>
        <p:spPr>
          <a:xfrm>
            <a:off x="777240" y="4343400"/>
            <a:ext cx="2377440" cy="566928"/>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Uchlik</a:t>
            </a:r>
            <a:endParaRPr lang="en-US" sz="1600" dirty="0"/>
          </a:p>
        </p:txBody>
      </p:sp>
      <p:sp>
        <p:nvSpPr>
          <p:cNvPr id="21" name="Text 19"/>
          <p:cNvSpPr txBox="1"/>
          <p:nvPr/>
        </p:nvSpPr>
        <p:spPr>
          <a:xfrm>
            <a:off x="3154680" y="4343400"/>
            <a:ext cx="8321040" cy="566928"/>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(foydalanuvchi, TP, CDI) — kim qaysi tranzaksiya bilan qaysi ma'lumotni o'zgartiradi</a:t>
            </a:r>
            <a:endParaRPr lang="en-US" sz="1500" dirty="0"/>
          </a:p>
        </p:txBody>
      </p:sp>
      <p:sp>
        <p:nvSpPr>
          <p:cNvPr id="22" name="Shape 20"/>
          <p:cNvSpPr/>
          <p:nvPr/>
        </p:nvSpPr>
        <p:spPr>
          <a:xfrm>
            <a:off x="548640" y="4983480"/>
            <a:ext cx="11064240" cy="566928"/>
          </a:xfrm>
          <a:prstGeom prst="roundRect">
            <a:avLst>
              <a:gd name="adj" fmla="val 14516"/>
            </a:avLst>
          </a:prstGeom>
          <a:solidFill>
            <a:srgbClr val="EEF2FB"/>
          </a:solidFill>
          <a:ln/>
        </p:spPr>
      </p:sp>
      <p:sp>
        <p:nvSpPr>
          <p:cNvPr id="23" name="Text 21"/>
          <p:cNvSpPr txBox="1"/>
          <p:nvPr/>
        </p:nvSpPr>
        <p:spPr>
          <a:xfrm>
            <a:off x="777240" y="4983480"/>
            <a:ext cx="2377440" cy="566928"/>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Vazifalarni ajratish</a:t>
            </a:r>
            <a:endParaRPr lang="en-US" sz="1600" dirty="0"/>
          </a:p>
        </p:txBody>
      </p:sp>
      <p:sp>
        <p:nvSpPr>
          <p:cNvPr id="24" name="Text 22"/>
          <p:cNvSpPr txBox="1"/>
          <p:nvPr/>
        </p:nvSpPr>
        <p:spPr>
          <a:xfrm>
            <a:off x="3154680" y="4983480"/>
            <a:ext cx="8321040" cy="566928"/>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TP ni sertifikatlagan va uni bajaradigan shaxs bir kishi bo'lmasligi kerak (M2)</a:t>
            </a:r>
            <a:endParaRPr lang="en-US" sz="1500" dirty="0"/>
          </a:p>
        </p:txBody>
      </p:sp>
      <p:sp>
        <p:nvSpPr>
          <p:cNvPr id="25" name="Shape 23"/>
          <p:cNvSpPr/>
          <p:nvPr/>
        </p:nvSpPr>
        <p:spPr>
          <a:xfrm>
            <a:off x="548640" y="5623560"/>
            <a:ext cx="11064240" cy="566928"/>
          </a:xfrm>
          <a:prstGeom prst="roundRect">
            <a:avLst>
              <a:gd name="adj" fmla="val 14516"/>
            </a:avLst>
          </a:prstGeom>
          <a:solidFill>
            <a:srgbClr val="FFFFFF"/>
          </a:solidFill>
          <a:ln w="12700">
            <a:solidFill>
              <a:srgbClr val="CADCFC"/>
            </a:solidFill>
            <a:prstDash val="solid"/>
          </a:ln>
        </p:spPr>
      </p:sp>
      <p:sp>
        <p:nvSpPr>
          <p:cNvPr id="26" name="Text 24"/>
          <p:cNvSpPr txBox="1"/>
          <p:nvPr/>
        </p:nvSpPr>
        <p:spPr>
          <a:xfrm>
            <a:off x="777240" y="5623560"/>
            <a:ext cx="2377440" cy="566928"/>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Jurnal</a:t>
            </a:r>
            <a:endParaRPr lang="en-US" sz="1600" dirty="0"/>
          </a:p>
        </p:txBody>
      </p:sp>
      <p:sp>
        <p:nvSpPr>
          <p:cNvPr id="27" name="Text 25"/>
          <p:cNvSpPr txBox="1"/>
          <p:nvPr/>
        </p:nvSpPr>
        <p:spPr>
          <a:xfrm>
            <a:off x="3154680" y="5623560"/>
            <a:ext cx="8321040" cy="566928"/>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Har bir TP qayta tiklab bo'lmaydigan jurnalga yoziladi</a:t>
            </a:r>
            <a:endParaRPr lang="en-US" sz="1500" dirty="0"/>
          </a:p>
        </p:txBody>
      </p:sp>
      <p:sp>
        <p:nvSpPr>
          <p:cNvPr id="28" name="Text 26"/>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11-ma'ruza</a:t>
            </a:r>
            <a:endParaRPr lang="en-US" sz="1100" dirty="0"/>
          </a:p>
        </p:txBody>
      </p:sp>
      <p:sp>
        <p:nvSpPr>
          <p:cNvPr id="29" name="Text 27"/>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III · SOLISHTIRISH</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Uchta mandatli model</a:t>
            </a:r>
            <a:endParaRPr lang="en-US" sz="3600" dirty="0"/>
          </a:p>
        </p:txBody>
      </p:sp>
      <p:sp>
        <p:nvSpPr>
          <p:cNvPr id="4" name="Shape 2"/>
          <p:cNvSpPr/>
          <p:nvPr/>
        </p:nvSpPr>
        <p:spPr>
          <a:xfrm>
            <a:off x="2834640" y="1783080"/>
            <a:ext cx="2926080" cy="548640"/>
          </a:xfrm>
          <a:prstGeom prst="roundRect">
            <a:avLst>
              <a:gd name="adj" fmla="val 6667"/>
            </a:avLst>
          </a:prstGeom>
          <a:solidFill>
            <a:srgbClr val="1E2761"/>
          </a:solidFill>
          <a:ln/>
        </p:spPr>
      </p:sp>
      <p:sp>
        <p:nvSpPr>
          <p:cNvPr id="5" name="Text 3"/>
          <p:cNvSpPr txBox="1"/>
          <p:nvPr/>
        </p:nvSpPr>
        <p:spPr>
          <a:xfrm>
            <a:off x="2834640" y="1783080"/>
            <a:ext cx="2926080" cy="548640"/>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Bell-LaPadula</a:t>
            </a:r>
            <a:endParaRPr lang="en-US" sz="1600" dirty="0"/>
          </a:p>
        </p:txBody>
      </p:sp>
      <p:sp>
        <p:nvSpPr>
          <p:cNvPr id="6" name="Shape 4"/>
          <p:cNvSpPr/>
          <p:nvPr/>
        </p:nvSpPr>
        <p:spPr>
          <a:xfrm>
            <a:off x="5806440" y="1783080"/>
            <a:ext cx="2926080" cy="548640"/>
          </a:xfrm>
          <a:prstGeom prst="roundRect">
            <a:avLst>
              <a:gd name="adj" fmla="val 6667"/>
            </a:avLst>
          </a:prstGeom>
          <a:solidFill>
            <a:srgbClr val="1E2761"/>
          </a:solidFill>
          <a:ln/>
        </p:spPr>
      </p:sp>
      <p:sp>
        <p:nvSpPr>
          <p:cNvPr id="7" name="Text 5"/>
          <p:cNvSpPr txBox="1"/>
          <p:nvPr/>
        </p:nvSpPr>
        <p:spPr>
          <a:xfrm>
            <a:off x="5806440" y="1783080"/>
            <a:ext cx="2926080" cy="548640"/>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Biba</a:t>
            </a:r>
            <a:endParaRPr lang="en-US" sz="1600" dirty="0"/>
          </a:p>
        </p:txBody>
      </p:sp>
      <p:sp>
        <p:nvSpPr>
          <p:cNvPr id="8" name="Shape 6"/>
          <p:cNvSpPr/>
          <p:nvPr/>
        </p:nvSpPr>
        <p:spPr>
          <a:xfrm>
            <a:off x="8778240" y="1783080"/>
            <a:ext cx="2788920" cy="548640"/>
          </a:xfrm>
          <a:prstGeom prst="roundRect">
            <a:avLst>
              <a:gd name="adj" fmla="val 6667"/>
            </a:avLst>
          </a:prstGeom>
          <a:solidFill>
            <a:srgbClr val="1E2761"/>
          </a:solidFill>
          <a:ln/>
        </p:spPr>
      </p:sp>
      <p:sp>
        <p:nvSpPr>
          <p:cNvPr id="9" name="Text 7"/>
          <p:cNvSpPr txBox="1"/>
          <p:nvPr/>
        </p:nvSpPr>
        <p:spPr>
          <a:xfrm>
            <a:off x="8778240" y="1783080"/>
            <a:ext cx="2788920" cy="548640"/>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Clark-Wilson</a:t>
            </a:r>
            <a:endParaRPr lang="en-US" sz="1600" dirty="0"/>
          </a:p>
        </p:txBody>
      </p:sp>
      <p:sp>
        <p:nvSpPr>
          <p:cNvPr id="10" name="Shape 8"/>
          <p:cNvSpPr/>
          <p:nvPr/>
        </p:nvSpPr>
        <p:spPr>
          <a:xfrm>
            <a:off x="548640" y="2404872"/>
            <a:ext cx="2240280" cy="749808"/>
          </a:xfrm>
          <a:prstGeom prst="roundRect">
            <a:avLst>
              <a:gd name="adj" fmla="val 4878"/>
            </a:avLst>
          </a:prstGeom>
          <a:solidFill>
            <a:srgbClr val="2A3778"/>
          </a:solidFill>
          <a:ln/>
        </p:spPr>
      </p:sp>
      <p:sp>
        <p:nvSpPr>
          <p:cNvPr id="11" name="Text 9"/>
          <p:cNvSpPr txBox="1"/>
          <p:nvPr/>
        </p:nvSpPr>
        <p:spPr>
          <a:xfrm>
            <a:off x="658368" y="2404872"/>
            <a:ext cx="2057400" cy="749808"/>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Times New Roman" pitchFamily="34" charset="0"/>
                <a:ea typeface="Times New Roman" pitchFamily="34" charset="-122"/>
                <a:cs typeface="Times New Roman" pitchFamily="34" charset="-120"/>
              </a:rPr>
              <a:t>Himoyalaydi</a:t>
            </a:r>
            <a:endParaRPr lang="en-US" sz="1500" dirty="0"/>
          </a:p>
        </p:txBody>
      </p:sp>
      <p:sp>
        <p:nvSpPr>
          <p:cNvPr id="12" name="Shape 10"/>
          <p:cNvSpPr/>
          <p:nvPr/>
        </p:nvSpPr>
        <p:spPr>
          <a:xfrm>
            <a:off x="2834640" y="2404872"/>
            <a:ext cx="2926080" cy="749808"/>
          </a:xfrm>
          <a:prstGeom prst="roundRect">
            <a:avLst>
              <a:gd name="adj" fmla="val 4878"/>
            </a:avLst>
          </a:prstGeom>
          <a:solidFill>
            <a:srgbClr val="EEF2FB"/>
          </a:solidFill>
          <a:ln/>
        </p:spPr>
      </p:sp>
      <p:sp>
        <p:nvSpPr>
          <p:cNvPr id="13" name="Text 11"/>
          <p:cNvSpPr txBox="1"/>
          <p:nvPr/>
        </p:nvSpPr>
        <p:spPr>
          <a:xfrm>
            <a:off x="2944368" y="2404872"/>
            <a:ext cx="2743200" cy="74980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Maxfiylik</a:t>
            </a:r>
            <a:endParaRPr lang="en-US" sz="1500" dirty="0"/>
          </a:p>
        </p:txBody>
      </p:sp>
      <p:sp>
        <p:nvSpPr>
          <p:cNvPr id="14" name="Shape 12"/>
          <p:cNvSpPr/>
          <p:nvPr/>
        </p:nvSpPr>
        <p:spPr>
          <a:xfrm>
            <a:off x="5806440" y="2404872"/>
            <a:ext cx="2926080" cy="749808"/>
          </a:xfrm>
          <a:prstGeom prst="roundRect">
            <a:avLst>
              <a:gd name="adj" fmla="val 4878"/>
            </a:avLst>
          </a:prstGeom>
          <a:solidFill>
            <a:srgbClr val="EEF2FB"/>
          </a:solidFill>
          <a:ln/>
        </p:spPr>
      </p:sp>
      <p:sp>
        <p:nvSpPr>
          <p:cNvPr id="15" name="Text 13"/>
          <p:cNvSpPr txBox="1"/>
          <p:nvPr/>
        </p:nvSpPr>
        <p:spPr>
          <a:xfrm>
            <a:off x="5916168" y="2404872"/>
            <a:ext cx="2743200" cy="74980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Yaxlitlik</a:t>
            </a:r>
            <a:endParaRPr lang="en-US" sz="1500" dirty="0"/>
          </a:p>
        </p:txBody>
      </p:sp>
      <p:sp>
        <p:nvSpPr>
          <p:cNvPr id="16" name="Shape 14"/>
          <p:cNvSpPr/>
          <p:nvPr/>
        </p:nvSpPr>
        <p:spPr>
          <a:xfrm>
            <a:off x="8778240" y="2404872"/>
            <a:ext cx="2788920" cy="749808"/>
          </a:xfrm>
          <a:prstGeom prst="roundRect">
            <a:avLst>
              <a:gd name="adj" fmla="val 4878"/>
            </a:avLst>
          </a:prstGeom>
          <a:solidFill>
            <a:srgbClr val="EEF2FB"/>
          </a:solidFill>
          <a:ln/>
        </p:spPr>
      </p:sp>
      <p:sp>
        <p:nvSpPr>
          <p:cNvPr id="17" name="Text 15"/>
          <p:cNvSpPr txBox="1"/>
          <p:nvPr/>
        </p:nvSpPr>
        <p:spPr>
          <a:xfrm>
            <a:off x="8887968" y="2404872"/>
            <a:ext cx="2606040" cy="74980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Yaxlitlik (tijorat)</a:t>
            </a:r>
            <a:endParaRPr lang="en-US" sz="1500" dirty="0"/>
          </a:p>
        </p:txBody>
      </p:sp>
      <p:sp>
        <p:nvSpPr>
          <p:cNvPr id="18" name="Shape 16"/>
          <p:cNvSpPr/>
          <p:nvPr/>
        </p:nvSpPr>
        <p:spPr>
          <a:xfrm>
            <a:off x="548640" y="3227832"/>
            <a:ext cx="2240280" cy="749808"/>
          </a:xfrm>
          <a:prstGeom prst="roundRect">
            <a:avLst>
              <a:gd name="adj" fmla="val 4878"/>
            </a:avLst>
          </a:prstGeom>
          <a:solidFill>
            <a:srgbClr val="2A3778"/>
          </a:solidFill>
          <a:ln/>
        </p:spPr>
      </p:sp>
      <p:sp>
        <p:nvSpPr>
          <p:cNvPr id="19" name="Text 17"/>
          <p:cNvSpPr txBox="1"/>
          <p:nvPr/>
        </p:nvSpPr>
        <p:spPr>
          <a:xfrm>
            <a:off x="658368" y="3227832"/>
            <a:ext cx="2057400" cy="749808"/>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Times New Roman" pitchFamily="34" charset="0"/>
                <a:ea typeface="Times New Roman" pitchFamily="34" charset="-122"/>
                <a:cs typeface="Times New Roman" pitchFamily="34" charset="-120"/>
              </a:rPr>
              <a:t>O'qish</a:t>
            </a:r>
            <a:endParaRPr lang="en-US" sz="1500" dirty="0"/>
          </a:p>
        </p:txBody>
      </p:sp>
      <p:sp>
        <p:nvSpPr>
          <p:cNvPr id="20" name="Shape 18"/>
          <p:cNvSpPr/>
          <p:nvPr/>
        </p:nvSpPr>
        <p:spPr>
          <a:xfrm>
            <a:off x="2834640" y="3227832"/>
            <a:ext cx="2926080" cy="749808"/>
          </a:xfrm>
          <a:prstGeom prst="roundRect">
            <a:avLst>
              <a:gd name="adj" fmla="val 4878"/>
            </a:avLst>
          </a:prstGeom>
          <a:solidFill>
            <a:srgbClr val="FFFFFF"/>
          </a:solidFill>
          <a:ln w="12700">
            <a:solidFill>
              <a:srgbClr val="CADCFC"/>
            </a:solidFill>
            <a:prstDash val="solid"/>
          </a:ln>
        </p:spPr>
      </p:sp>
      <p:sp>
        <p:nvSpPr>
          <p:cNvPr id="21" name="Text 19"/>
          <p:cNvSpPr txBox="1"/>
          <p:nvPr/>
        </p:nvSpPr>
        <p:spPr>
          <a:xfrm>
            <a:off x="2944368" y="3227832"/>
            <a:ext cx="2743200" cy="74980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Pastga va teng</a:t>
            </a:r>
            <a:endParaRPr lang="en-US" sz="1500" dirty="0"/>
          </a:p>
        </p:txBody>
      </p:sp>
      <p:sp>
        <p:nvSpPr>
          <p:cNvPr id="22" name="Shape 20"/>
          <p:cNvSpPr/>
          <p:nvPr/>
        </p:nvSpPr>
        <p:spPr>
          <a:xfrm>
            <a:off x="5806440" y="3227832"/>
            <a:ext cx="2926080" cy="749808"/>
          </a:xfrm>
          <a:prstGeom prst="roundRect">
            <a:avLst>
              <a:gd name="adj" fmla="val 4878"/>
            </a:avLst>
          </a:prstGeom>
          <a:solidFill>
            <a:srgbClr val="FFFFFF"/>
          </a:solidFill>
          <a:ln w="12700">
            <a:solidFill>
              <a:srgbClr val="CADCFC"/>
            </a:solidFill>
            <a:prstDash val="solid"/>
          </a:ln>
        </p:spPr>
      </p:sp>
      <p:sp>
        <p:nvSpPr>
          <p:cNvPr id="23" name="Text 21"/>
          <p:cNvSpPr txBox="1"/>
          <p:nvPr/>
        </p:nvSpPr>
        <p:spPr>
          <a:xfrm>
            <a:off x="5916168" y="3227832"/>
            <a:ext cx="2743200" cy="74980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Yuqoriga va teng</a:t>
            </a:r>
            <a:endParaRPr lang="en-US" sz="1500" dirty="0"/>
          </a:p>
        </p:txBody>
      </p:sp>
      <p:sp>
        <p:nvSpPr>
          <p:cNvPr id="24" name="Shape 22"/>
          <p:cNvSpPr/>
          <p:nvPr/>
        </p:nvSpPr>
        <p:spPr>
          <a:xfrm>
            <a:off x="8778240" y="3227832"/>
            <a:ext cx="2788920" cy="749808"/>
          </a:xfrm>
          <a:prstGeom prst="roundRect">
            <a:avLst>
              <a:gd name="adj" fmla="val 4878"/>
            </a:avLst>
          </a:prstGeom>
          <a:solidFill>
            <a:srgbClr val="FFFFFF"/>
          </a:solidFill>
          <a:ln w="12700">
            <a:solidFill>
              <a:srgbClr val="CADCFC"/>
            </a:solidFill>
            <a:prstDash val="solid"/>
          </a:ln>
        </p:spPr>
      </p:sp>
      <p:sp>
        <p:nvSpPr>
          <p:cNvPr id="25" name="Text 23"/>
          <p:cNvSpPr txBox="1"/>
          <p:nvPr/>
        </p:nvSpPr>
        <p:spPr>
          <a:xfrm>
            <a:off x="8887968" y="3227832"/>
            <a:ext cx="2606040" cy="74980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Faqat TP orqali</a:t>
            </a:r>
            <a:endParaRPr lang="en-US" sz="1500" dirty="0"/>
          </a:p>
        </p:txBody>
      </p:sp>
      <p:sp>
        <p:nvSpPr>
          <p:cNvPr id="26" name="Shape 24"/>
          <p:cNvSpPr/>
          <p:nvPr/>
        </p:nvSpPr>
        <p:spPr>
          <a:xfrm>
            <a:off x="548640" y="4050792"/>
            <a:ext cx="2240280" cy="749808"/>
          </a:xfrm>
          <a:prstGeom prst="roundRect">
            <a:avLst>
              <a:gd name="adj" fmla="val 4878"/>
            </a:avLst>
          </a:prstGeom>
          <a:solidFill>
            <a:srgbClr val="2A3778"/>
          </a:solidFill>
          <a:ln/>
        </p:spPr>
      </p:sp>
      <p:sp>
        <p:nvSpPr>
          <p:cNvPr id="27" name="Text 25"/>
          <p:cNvSpPr txBox="1"/>
          <p:nvPr/>
        </p:nvSpPr>
        <p:spPr>
          <a:xfrm>
            <a:off x="658368" y="4050792"/>
            <a:ext cx="2057400" cy="749808"/>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Times New Roman" pitchFamily="34" charset="0"/>
                <a:ea typeface="Times New Roman" pitchFamily="34" charset="-122"/>
                <a:cs typeface="Times New Roman" pitchFamily="34" charset="-120"/>
              </a:rPr>
              <a:t>Yozish</a:t>
            </a:r>
            <a:endParaRPr lang="en-US" sz="1500" dirty="0"/>
          </a:p>
        </p:txBody>
      </p:sp>
      <p:sp>
        <p:nvSpPr>
          <p:cNvPr id="28" name="Shape 26"/>
          <p:cNvSpPr/>
          <p:nvPr/>
        </p:nvSpPr>
        <p:spPr>
          <a:xfrm>
            <a:off x="2834640" y="4050792"/>
            <a:ext cx="2926080" cy="749808"/>
          </a:xfrm>
          <a:prstGeom prst="roundRect">
            <a:avLst>
              <a:gd name="adj" fmla="val 4878"/>
            </a:avLst>
          </a:prstGeom>
          <a:solidFill>
            <a:srgbClr val="EEF2FB"/>
          </a:solidFill>
          <a:ln/>
        </p:spPr>
      </p:sp>
      <p:sp>
        <p:nvSpPr>
          <p:cNvPr id="29" name="Text 27"/>
          <p:cNvSpPr txBox="1"/>
          <p:nvPr/>
        </p:nvSpPr>
        <p:spPr>
          <a:xfrm>
            <a:off x="2944368" y="4050792"/>
            <a:ext cx="2743200" cy="74980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Yuqoriga va teng</a:t>
            </a:r>
            <a:endParaRPr lang="en-US" sz="1500" dirty="0"/>
          </a:p>
        </p:txBody>
      </p:sp>
      <p:sp>
        <p:nvSpPr>
          <p:cNvPr id="30" name="Shape 28"/>
          <p:cNvSpPr/>
          <p:nvPr/>
        </p:nvSpPr>
        <p:spPr>
          <a:xfrm>
            <a:off x="5806440" y="4050792"/>
            <a:ext cx="2926080" cy="749808"/>
          </a:xfrm>
          <a:prstGeom prst="roundRect">
            <a:avLst>
              <a:gd name="adj" fmla="val 4878"/>
            </a:avLst>
          </a:prstGeom>
          <a:solidFill>
            <a:srgbClr val="EEF2FB"/>
          </a:solidFill>
          <a:ln/>
        </p:spPr>
      </p:sp>
      <p:sp>
        <p:nvSpPr>
          <p:cNvPr id="31" name="Text 29"/>
          <p:cNvSpPr txBox="1"/>
          <p:nvPr/>
        </p:nvSpPr>
        <p:spPr>
          <a:xfrm>
            <a:off x="5916168" y="4050792"/>
            <a:ext cx="2743200" cy="74980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Pastga va teng</a:t>
            </a:r>
            <a:endParaRPr lang="en-US" sz="1500" dirty="0"/>
          </a:p>
        </p:txBody>
      </p:sp>
      <p:sp>
        <p:nvSpPr>
          <p:cNvPr id="32" name="Shape 30"/>
          <p:cNvSpPr/>
          <p:nvPr/>
        </p:nvSpPr>
        <p:spPr>
          <a:xfrm>
            <a:off x="8778240" y="4050792"/>
            <a:ext cx="2788920" cy="749808"/>
          </a:xfrm>
          <a:prstGeom prst="roundRect">
            <a:avLst>
              <a:gd name="adj" fmla="val 4878"/>
            </a:avLst>
          </a:prstGeom>
          <a:solidFill>
            <a:srgbClr val="EEF2FB"/>
          </a:solidFill>
          <a:ln/>
        </p:spPr>
      </p:sp>
      <p:sp>
        <p:nvSpPr>
          <p:cNvPr id="33" name="Text 31"/>
          <p:cNvSpPr txBox="1"/>
          <p:nvPr/>
        </p:nvSpPr>
        <p:spPr>
          <a:xfrm>
            <a:off x="8887968" y="4050792"/>
            <a:ext cx="2606040" cy="74980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Faqat TP orqali</a:t>
            </a:r>
            <a:endParaRPr lang="en-US" sz="1500" dirty="0"/>
          </a:p>
        </p:txBody>
      </p:sp>
      <p:sp>
        <p:nvSpPr>
          <p:cNvPr id="34" name="Shape 32"/>
          <p:cNvSpPr/>
          <p:nvPr/>
        </p:nvSpPr>
        <p:spPr>
          <a:xfrm>
            <a:off x="548640" y="4873752"/>
            <a:ext cx="2240280" cy="749808"/>
          </a:xfrm>
          <a:prstGeom prst="roundRect">
            <a:avLst>
              <a:gd name="adj" fmla="val 4878"/>
            </a:avLst>
          </a:prstGeom>
          <a:solidFill>
            <a:srgbClr val="2A3778"/>
          </a:solidFill>
          <a:ln/>
        </p:spPr>
      </p:sp>
      <p:sp>
        <p:nvSpPr>
          <p:cNvPr id="35" name="Text 33"/>
          <p:cNvSpPr txBox="1"/>
          <p:nvPr/>
        </p:nvSpPr>
        <p:spPr>
          <a:xfrm>
            <a:off x="658368" y="4873752"/>
            <a:ext cx="2057400" cy="749808"/>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Times New Roman" pitchFamily="34" charset="0"/>
                <a:ea typeface="Times New Roman" pitchFamily="34" charset="-122"/>
                <a:cs typeface="Times New Roman" pitchFamily="34" charset="-120"/>
              </a:rPr>
              <a:t>Qo'llanish</a:t>
            </a:r>
            <a:endParaRPr lang="en-US" sz="1500" dirty="0"/>
          </a:p>
        </p:txBody>
      </p:sp>
      <p:sp>
        <p:nvSpPr>
          <p:cNvPr id="36" name="Shape 34"/>
          <p:cNvSpPr/>
          <p:nvPr/>
        </p:nvSpPr>
        <p:spPr>
          <a:xfrm>
            <a:off x="2834640" y="4873752"/>
            <a:ext cx="2926080" cy="749808"/>
          </a:xfrm>
          <a:prstGeom prst="roundRect">
            <a:avLst>
              <a:gd name="adj" fmla="val 4878"/>
            </a:avLst>
          </a:prstGeom>
          <a:solidFill>
            <a:srgbClr val="FFFFFF"/>
          </a:solidFill>
          <a:ln w="12700">
            <a:solidFill>
              <a:srgbClr val="CADCFC"/>
            </a:solidFill>
            <a:prstDash val="solid"/>
          </a:ln>
        </p:spPr>
      </p:sp>
      <p:sp>
        <p:nvSpPr>
          <p:cNvPr id="37" name="Text 35"/>
          <p:cNvSpPr txBox="1"/>
          <p:nvPr/>
        </p:nvSpPr>
        <p:spPr>
          <a:xfrm>
            <a:off x="2944368" y="4873752"/>
            <a:ext cx="2743200" cy="74980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Davlat va harbiy tizimlar</a:t>
            </a:r>
            <a:endParaRPr lang="en-US" sz="1500" dirty="0"/>
          </a:p>
        </p:txBody>
      </p:sp>
      <p:sp>
        <p:nvSpPr>
          <p:cNvPr id="38" name="Shape 36"/>
          <p:cNvSpPr/>
          <p:nvPr/>
        </p:nvSpPr>
        <p:spPr>
          <a:xfrm>
            <a:off x="5806440" y="4873752"/>
            <a:ext cx="2926080" cy="749808"/>
          </a:xfrm>
          <a:prstGeom prst="roundRect">
            <a:avLst>
              <a:gd name="adj" fmla="val 4878"/>
            </a:avLst>
          </a:prstGeom>
          <a:solidFill>
            <a:srgbClr val="FFFFFF"/>
          </a:solidFill>
          <a:ln w="12700">
            <a:solidFill>
              <a:srgbClr val="CADCFC"/>
            </a:solidFill>
            <a:prstDash val="solid"/>
          </a:ln>
        </p:spPr>
      </p:sp>
      <p:sp>
        <p:nvSpPr>
          <p:cNvPr id="39" name="Text 37"/>
          <p:cNvSpPr txBox="1"/>
          <p:nvPr/>
        </p:nvSpPr>
        <p:spPr>
          <a:xfrm>
            <a:off x="5916168" y="4873752"/>
            <a:ext cx="2743200" cy="74980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OT ichida: Windows MIC</a:t>
            </a:r>
            <a:endParaRPr lang="en-US" sz="1500" dirty="0"/>
          </a:p>
        </p:txBody>
      </p:sp>
      <p:sp>
        <p:nvSpPr>
          <p:cNvPr id="40" name="Shape 38"/>
          <p:cNvSpPr/>
          <p:nvPr/>
        </p:nvSpPr>
        <p:spPr>
          <a:xfrm>
            <a:off x="8778240" y="4873752"/>
            <a:ext cx="2788920" cy="749808"/>
          </a:xfrm>
          <a:prstGeom prst="roundRect">
            <a:avLst>
              <a:gd name="adj" fmla="val 4878"/>
            </a:avLst>
          </a:prstGeom>
          <a:solidFill>
            <a:srgbClr val="FFFFFF"/>
          </a:solidFill>
          <a:ln w="12700">
            <a:solidFill>
              <a:srgbClr val="CADCFC"/>
            </a:solidFill>
            <a:prstDash val="solid"/>
          </a:ln>
        </p:spPr>
      </p:sp>
      <p:sp>
        <p:nvSpPr>
          <p:cNvPr id="41" name="Text 39"/>
          <p:cNvSpPr txBox="1"/>
          <p:nvPr/>
        </p:nvSpPr>
        <p:spPr>
          <a:xfrm>
            <a:off x="8887968" y="4873752"/>
            <a:ext cx="2606040" cy="74980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Bank, ERP, HEMIS</a:t>
            </a:r>
            <a:endParaRPr lang="en-US" sz="1500" dirty="0"/>
          </a:p>
        </p:txBody>
      </p:sp>
      <p:sp>
        <p:nvSpPr>
          <p:cNvPr id="42" name="Shape 40"/>
          <p:cNvSpPr/>
          <p:nvPr/>
        </p:nvSpPr>
        <p:spPr>
          <a:xfrm>
            <a:off x="548640" y="5696712"/>
            <a:ext cx="2240280" cy="749808"/>
          </a:xfrm>
          <a:prstGeom prst="roundRect">
            <a:avLst>
              <a:gd name="adj" fmla="val 4878"/>
            </a:avLst>
          </a:prstGeom>
          <a:solidFill>
            <a:srgbClr val="2A3778"/>
          </a:solidFill>
          <a:ln/>
        </p:spPr>
      </p:sp>
      <p:sp>
        <p:nvSpPr>
          <p:cNvPr id="43" name="Text 41"/>
          <p:cNvSpPr txBox="1"/>
          <p:nvPr/>
        </p:nvSpPr>
        <p:spPr>
          <a:xfrm>
            <a:off x="658368" y="5696712"/>
            <a:ext cx="2057400" cy="749808"/>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Times New Roman" pitchFamily="34" charset="0"/>
                <a:ea typeface="Times New Roman" pitchFamily="34" charset="-122"/>
                <a:cs typeface="Times New Roman" pitchFamily="34" charset="-120"/>
              </a:rPr>
              <a:t>Asosiy g'oya</a:t>
            </a:r>
            <a:endParaRPr lang="en-US" sz="1500" dirty="0"/>
          </a:p>
        </p:txBody>
      </p:sp>
      <p:sp>
        <p:nvSpPr>
          <p:cNvPr id="44" name="Shape 42"/>
          <p:cNvSpPr/>
          <p:nvPr/>
        </p:nvSpPr>
        <p:spPr>
          <a:xfrm>
            <a:off x="2834640" y="5696712"/>
            <a:ext cx="2926080" cy="749808"/>
          </a:xfrm>
          <a:prstGeom prst="roundRect">
            <a:avLst>
              <a:gd name="adj" fmla="val 4878"/>
            </a:avLst>
          </a:prstGeom>
          <a:solidFill>
            <a:srgbClr val="EEF2FB"/>
          </a:solidFill>
          <a:ln/>
        </p:spPr>
      </p:sp>
      <p:sp>
        <p:nvSpPr>
          <p:cNvPr id="45" name="Text 43"/>
          <p:cNvSpPr txBox="1"/>
          <p:nvPr/>
        </p:nvSpPr>
        <p:spPr>
          <a:xfrm>
            <a:off x="2944368" y="5696712"/>
            <a:ext cx="2743200" cy="74980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Ma'lumot pastga oqmaydi</a:t>
            </a:r>
            <a:endParaRPr lang="en-US" sz="1500" dirty="0"/>
          </a:p>
        </p:txBody>
      </p:sp>
      <p:sp>
        <p:nvSpPr>
          <p:cNvPr id="46" name="Shape 44"/>
          <p:cNvSpPr/>
          <p:nvPr/>
        </p:nvSpPr>
        <p:spPr>
          <a:xfrm>
            <a:off x="5806440" y="5696712"/>
            <a:ext cx="2926080" cy="749808"/>
          </a:xfrm>
          <a:prstGeom prst="roundRect">
            <a:avLst>
              <a:gd name="adj" fmla="val 4878"/>
            </a:avLst>
          </a:prstGeom>
          <a:solidFill>
            <a:srgbClr val="EEF2FB"/>
          </a:solidFill>
          <a:ln/>
        </p:spPr>
      </p:sp>
      <p:sp>
        <p:nvSpPr>
          <p:cNvPr id="47" name="Text 45"/>
          <p:cNvSpPr txBox="1"/>
          <p:nvPr/>
        </p:nvSpPr>
        <p:spPr>
          <a:xfrm>
            <a:off x="5916168" y="5696712"/>
            <a:ext cx="2743200" cy="74980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Ifloslik yuqoriga chiqmaydi</a:t>
            </a:r>
            <a:endParaRPr lang="en-US" sz="1500" dirty="0"/>
          </a:p>
        </p:txBody>
      </p:sp>
      <p:sp>
        <p:nvSpPr>
          <p:cNvPr id="48" name="Shape 46"/>
          <p:cNvSpPr/>
          <p:nvPr/>
        </p:nvSpPr>
        <p:spPr>
          <a:xfrm>
            <a:off x="8778240" y="5696712"/>
            <a:ext cx="2788920" cy="749808"/>
          </a:xfrm>
          <a:prstGeom prst="roundRect">
            <a:avLst>
              <a:gd name="adj" fmla="val 4878"/>
            </a:avLst>
          </a:prstGeom>
          <a:solidFill>
            <a:srgbClr val="EEF2FB"/>
          </a:solidFill>
          <a:ln/>
        </p:spPr>
      </p:sp>
      <p:sp>
        <p:nvSpPr>
          <p:cNvPr id="49" name="Text 47"/>
          <p:cNvSpPr txBox="1"/>
          <p:nvPr/>
        </p:nvSpPr>
        <p:spPr>
          <a:xfrm>
            <a:off x="8887968" y="5696712"/>
            <a:ext cx="2606040" cy="749808"/>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Tranzaksiya + vazifalarni ajratish</a:t>
            </a:r>
            <a:endParaRPr lang="en-US" sz="1500" dirty="0"/>
          </a:p>
        </p:txBody>
      </p:sp>
      <p:sp>
        <p:nvSpPr>
          <p:cNvPr id="50" name="Text 48"/>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11-ma'ruza</a:t>
            </a:r>
            <a:endParaRPr lang="en-US" sz="1100" dirty="0"/>
          </a:p>
        </p:txBody>
      </p:sp>
      <p:sp>
        <p:nvSpPr>
          <p:cNvPr id="51" name="Text 49"/>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463040" y="4206240"/>
            <a:ext cx="4572000" cy="4572000"/>
          </a:xfrm>
          <a:prstGeom prst="ellipse">
            <a:avLst/>
          </a:prstGeom>
          <a:solidFill>
            <a:srgbClr val="2A3778"/>
          </a:solidFill>
          <a:ln/>
        </p:spPr>
      </p:sp>
      <p:sp>
        <p:nvSpPr>
          <p:cNvPr id="3" name="Text 1"/>
          <p:cNvSpPr txBox="1"/>
          <p:nvPr/>
        </p:nvSpPr>
        <p:spPr>
          <a:xfrm>
            <a:off x="1005840" y="2286000"/>
            <a:ext cx="5486400" cy="411480"/>
          </a:xfrm>
          <a:prstGeom prst="rect">
            <a:avLst/>
          </a:prstGeom>
          <a:noFill/>
          <a:ln/>
        </p:spPr>
        <p:txBody>
          <a:bodyPr wrap="square" lIns="0" tIns="0" rIns="0" bIns="0" rtlCol="0" anchor="ctr"/>
          <a:lstStyle/>
          <a:p>
            <a:pPr indent="0" marL="0">
              <a:buNone/>
            </a:pPr>
            <a:r>
              <a:rPr lang="en-US" sz="1600" b="1" spc="300" kern="0" dirty="0">
                <a:solidFill>
                  <a:srgbClr val="9FB0E0"/>
                </a:solidFill>
                <a:latin typeface="Times New Roman" pitchFamily="34" charset="0"/>
                <a:ea typeface="Times New Roman" pitchFamily="34" charset="-122"/>
                <a:cs typeface="Times New Roman" pitchFamily="34" charset="-120"/>
              </a:rPr>
              <a:t>IV BO'LIM</a:t>
            </a:r>
            <a:endParaRPr lang="en-US" sz="1600" dirty="0"/>
          </a:p>
        </p:txBody>
      </p:sp>
      <p:sp>
        <p:nvSpPr>
          <p:cNvPr id="4" name="Text 2"/>
          <p:cNvSpPr txBox="1"/>
          <p:nvPr/>
        </p:nvSpPr>
        <p:spPr>
          <a:xfrm>
            <a:off x="1005840" y="2724912"/>
            <a:ext cx="8229600" cy="914400"/>
          </a:xfrm>
          <a:prstGeom prst="rect">
            <a:avLst/>
          </a:prstGeom>
          <a:noFill/>
          <a:ln/>
        </p:spPr>
        <p:txBody>
          <a:bodyPr wrap="square" lIns="0" tIns="0" rIns="0" bIns="0" rtlCol="0" anchor="ctr"/>
          <a:lstStyle/>
          <a:p>
            <a:pPr indent="0" marL="0">
              <a:buNone/>
            </a:pPr>
            <a:r>
              <a:rPr lang="en-US" sz="4400" b="1" dirty="0">
                <a:solidFill>
                  <a:srgbClr val="FFFFFF"/>
                </a:solidFill>
                <a:latin typeface="Times New Roman" pitchFamily="34" charset="0"/>
                <a:ea typeface="Times New Roman" pitchFamily="34" charset="-122"/>
                <a:cs typeface="Times New Roman" pitchFamily="34" charset="-120"/>
              </a:rPr>
              <a:t>Windows'da MAC elementlari</a:t>
            </a:r>
            <a:endParaRPr lang="en-US" sz="4400" dirty="0"/>
          </a:p>
        </p:txBody>
      </p:sp>
      <p:sp>
        <p:nvSpPr>
          <p:cNvPr id="5" name="Text 3"/>
          <p:cNvSpPr txBox="1"/>
          <p:nvPr/>
        </p:nvSpPr>
        <p:spPr>
          <a:xfrm>
            <a:off x="1005840" y="3703320"/>
            <a:ext cx="8229600" cy="502920"/>
          </a:xfrm>
          <a:prstGeom prst="rect">
            <a:avLst/>
          </a:prstGeom>
          <a:noFill/>
          <a:ln/>
        </p:spPr>
        <p:txBody>
          <a:bodyPr wrap="square" lIns="0" tIns="0" rIns="0" bIns="0" rtlCol="0" anchor="ctr"/>
          <a:lstStyle/>
          <a:p>
            <a:pPr indent="0" marL="0">
              <a:buNone/>
            </a:pPr>
            <a:r>
              <a:rPr lang="en-US" sz="2000" dirty="0">
                <a:solidFill>
                  <a:srgbClr val="CADCFC"/>
                </a:solidFill>
                <a:latin typeface="Times New Roman" pitchFamily="34" charset="0"/>
                <a:ea typeface="Times New Roman" pitchFamily="34" charset="-122"/>
                <a:cs typeface="Times New Roman" pitchFamily="34" charset="-120"/>
              </a:rPr>
              <a:t>MIC · UAC · AppContainer · PPL · Sezgirlik yorliqlari</a:t>
            </a:r>
            <a:endParaRPr lang="en-US" sz="2000" dirty="0"/>
          </a:p>
        </p:txBody>
      </p:sp>
      <p:sp>
        <p:nvSpPr>
          <p:cNvPr id="6" name="Text 4"/>
          <p:cNvSpPr txBox="1"/>
          <p:nvPr/>
        </p:nvSpPr>
        <p:spPr>
          <a:xfrm>
            <a:off x="9052560" y="1920240"/>
            <a:ext cx="2560320" cy="2743200"/>
          </a:xfrm>
          <a:prstGeom prst="rect">
            <a:avLst/>
          </a:prstGeom>
          <a:noFill/>
          <a:ln/>
        </p:spPr>
        <p:txBody>
          <a:bodyPr wrap="square" rtlCol="0" anchor="ctr"/>
          <a:lstStyle/>
          <a:p>
            <a:pPr algn="ctr" indent="0" marL="0">
              <a:buNone/>
            </a:pPr>
            <a:r>
              <a:rPr lang="en-US" sz="13000" b="1" dirty="0">
                <a:solidFill>
                  <a:srgbClr val="2A3778"/>
                </a:solidFill>
                <a:latin typeface="Times New Roman" pitchFamily="34" charset="0"/>
                <a:ea typeface="Times New Roman" pitchFamily="34" charset="-122"/>
                <a:cs typeface="Times New Roman" pitchFamily="34" charset="-120"/>
              </a:rPr>
              <a:t>IV</a:t>
            </a:r>
            <a:endParaRPr lang="en-US" sz="13000" dirty="0"/>
          </a:p>
        </p:txBody>
      </p:sp>
      <p:sp>
        <p:nvSpPr>
          <p:cNvPr id="7" name="Text 5"/>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FB0E0"/>
                </a:solidFill>
                <a:latin typeface="Times New Roman" pitchFamily="34" charset="0"/>
                <a:ea typeface="Times New Roman" pitchFamily="34" charset="-122"/>
                <a:cs typeface="Times New Roman" pitchFamily="34" charset="-120"/>
              </a:rPr>
              <a:t>Foydalanishlarni boshqarish  ·  11-ma'ruza</a:t>
            </a:r>
            <a:endParaRPr lang="en-US" sz="1100" dirty="0"/>
          </a:p>
        </p:txBody>
      </p:sp>
      <p:sp>
        <p:nvSpPr>
          <p:cNvPr id="8" name="Text 6"/>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FB0E0"/>
                </a:solidFill>
                <a:latin typeface="Times New Roman" pitchFamily="34" charset="0"/>
                <a:ea typeface="Times New Roman" pitchFamily="34" charset="-122"/>
                <a:cs typeface="Times New Roman"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IV · MANDATORY INTEGRITY CONTROL</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Windows yaxlitlik darajalari — Biba g'oyasi</a:t>
            </a:r>
            <a:endParaRPr lang="en-US" sz="3600" dirty="0"/>
          </a:p>
        </p:txBody>
      </p:sp>
      <p:sp>
        <p:nvSpPr>
          <p:cNvPr id="4" name="Shape 2"/>
          <p:cNvSpPr/>
          <p:nvPr/>
        </p:nvSpPr>
        <p:spPr>
          <a:xfrm>
            <a:off x="548640" y="1783080"/>
            <a:ext cx="5760720" cy="585216"/>
          </a:xfrm>
          <a:prstGeom prst="roundRect">
            <a:avLst>
              <a:gd name="adj" fmla="val 14063"/>
            </a:avLst>
          </a:prstGeom>
          <a:solidFill>
            <a:srgbClr val="1E2761"/>
          </a:solidFill>
          <a:ln/>
        </p:spPr>
      </p:sp>
      <p:sp>
        <p:nvSpPr>
          <p:cNvPr id="5" name="Text 3"/>
          <p:cNvSpPr txBox="1"/>
          <p:nvPr/>
        </p:nvSpPr>
        <p:spPr>
          <a:xfrm>
            <a:off x="731520" y="1783080"/>
            <a:ext cx="1371600" cy="585216"/>
          </a:xfrm>
          <a:prstGeom prst="rect">
            <a:avLst/>
          </a:prstGeom>
          <a:noFill/>
          <a:ln/>
        </p:spPr>
        <p:txBody>
          <a:bodyPr wrap="square" lIns="0" tIns="0" rIns="0" bIns="0" rtlCol="0" anchor="ctr"/>
          <a:lstStyle/>
          <a:p>
            <a:pPr algn="l" indent="0" marL="0">
              <a:lnSpc>
                <a:spcPct val="100000"/>
              </a:lnSpc>
              <a:buNone/>
            </a:pPr>
            <a:r>
              <a:rPr lang="en-US" sz="1700" b="1" dirty="0">
                <a:solidFill>
                  <a:srgbClr val="FFFFFF"/>
                </a:solidFill>
                <a:latin typeface="Times New Roman" pitchFamily="34" charset="0"/>
                <a:ea typeface="Times New Roman" pitchFamily="34" charset="-122"/>
                <a:cs typeface="Times New Roman" pitchFamily="34" charset="-120"/>
              </a:rPr>
              <a:t>System</a:t>
            </a:r>
            <a:endParaRPr lang="en-US" sz="1700" dirty="0"/>
          </a:p>
        </p:txBody>
      </p:sp>
      <p:sp>
        <p:nvSpPr>
          <p:cNvPr id="6" name="Text 4"/>
          <p:cNvSpPr txBox="1"/>
          <p:nvPr/>
        </p:nvSpPr>
        <p:spPr>
          <a:xfrm>
            <a:off x="2103120" y="1783080"/>
            <a:ext cx="1600200" cy="585216"/>
          </a:xfrm>
          <a:prstGeom prst="rect">
            <a:avLst/>
          </a:prstGeom>
          <a:noFill/>
          <a:ln/>
        </p:spPr>
        <p:txBody>
          <a:bodyPr wrap="square" lIns="0" tIns="0" rIns="0" bIns="0" rtlCol="0" anchor="ctr"/>
          <a:lstStyle/>
          <a:p>
            <a:pPr algn="l" indent="0" marL="0">
              <a:lnSpc>
                <a:spcPct val="100000"/>
              </a:lnSpc>
              <a:buNone/>
            </a:pPr>
            <a:r>
              <a:rPr lang="en-US" sz="1400" dirty="0">
                <a:solidFill>
                  <a:srgbClr val="CADCFC"/>
                </a:solidFill>
                <a:latin typeface="Courier New" pitchFamily="34" charset="0"/>
                <a:ea typeface="Courier New" pitchFamily="34" charset="-122"/>
                <a:cs typeface="Courier New" pitchFamily="34" charset="-120"/>
              </a:rPr>
              <a:t>S-1-16-16384</a:t>
            </a:r>
            <a:endParaRPr lang="en-US" sz="1400" dirty="0"/>
          </a:p>
        </p:txBody>
      </p:sp>
      <p:sp>
        <p:nvSpPr>
          <p:cNvPr id="7" name="Text 5"/>
          <p:cNvSpPr txBox="1"/>
          <p:nvPr/>
        </p:nvSpPr>
        <p:spPr>
          <a:xfrm>
            <a:off x="3703320" y="1783080"/>
            <a:ext cx="2560320" cy="585216"/>
          </a:xfrm>
          <a:prstGeom prst="rect">
            <a:avLst/>
          </a:prstGeom>
          <a:noFill/>
          <a:ln/>
        </p:spPr>
        <p:txBody>
          <a:bodyPr wrap="square" lIns="0" tIns="0" rIns="0" bIns="0" rtlCol="0" anchor="ctr"/>
          <a:lstStyle/>
          <a:p>
            <a:pPr algn="l" indent="0" marL="0">
              <a:lnSpc>
                <a:spcPct val="100000"/>
              </a:lnSpc>
              <a:buNone/>
            </a:pPr>
            <a:r>
              <a:rPr lang="en-US" sz="1400" dirty="0">
                <a:solidFill>
                  <a:srgbClr val="FFFFFF"/>
                </a:solidFill>
                <a:latin typeface="Times New Roman" pitchFamily="34" charset="0"/>
                <a:ea typeface="Times New Roman" pitchFamily="34" charset="-122"/>
                <a:cs typeface="Times New Roman" pitchFamily="34" charset="-120"/>
              </a:rPr>
              <a:t>Tizim xizmatlari</a:t>
            </a:r>
            <a:endParaRPr lang="en-US" sz="1400" dirty="0"/>
          </a:p>
        </p:txBody>
      </p:sp>
      <p:sp>
        <p:nvSpPr>
          <p:cNvPr id="8" name="Shape 6"/>
          <p:cNvSpPr/>
          <p:nvPr/>
        </p:nvSpPr>
        <p:spPr>
          <a:xfrm>
            <a:off x="548640" y="2441448"/>
            <a:ext cx="5760720" cy="585216"/>
          </a:xfrm>
          <a:prstGeom prst="roundRect">
            <a:avLst>
              <a:gd name="adj" fmla="val 14063"/>
            </a:avLst>
          </a:prstGeom>
          <a:solidFill>
            <a:srgbClr val="2A3778"/>
          </a:solidFill>
          <a:ln/>
        </p:spPr>
      </p:sp>
      <p:sp>
        <p:nvSpPr>
          <p:cNvPr id="9" name="Text 7"/>
          <p:cNvSpPr txBox="1"/>
          <p:nvPr/>
        </p:nvSpPr>
        <p:spPr>
          <a:xfrm>
            <a:off x="731520" y="2441448"/>
            <a:ext cx="1371600" cy="585216"/>
          </a:xfrm>
          <a:prstGeom prst="rect">
            <a:avLst/>
          </a:prstGeom>
          <a:noFill/>
          <a:ln/>
        </p:spPr>
        <p:txBody>
          <a:bodyPr wrap="square" lIns="0" tIns="0" rIns="0" bIns="0" rtlCol="0" anchor="ctr"/>
          <a:lstStyle/>
          <a:p>
            <a:pPr algn="l" indent="0" marL="0">
              <a:lnSpc>
                <a:spcPct val="100000"/>
              </a:lnSpc>
              <a:buNone/>
            </a:pPr>
            <a:r>
              <a:rPr lang="en-US" sz="1700" b="1" dirty="0">
                <a:solidFill>
                  <a:srgbClr val="FFFFFF"/>
                </a:solidFill>
                <a:latin typeface="Times New Roman" pitchFamily="34" charset="0"/>
                <a:ea typeface="Times New Roman" pitchFamily="34" charset="-122"/>
                <a:cs typeface="Times New Roman" pitchFamily="34" charset="-120"/>
              </a:rPr>
              <a:t>High</a:t>
            </a:r>
            <a:endParaRPr lang="en-US" sz="1700" dirty="0"/>
          </a:p>
        </p:txBody>
      </p:sp>
      <p:sp>
        <p:nvSpPr>
          <p:cNvPr id="10" name="Text 8"/>
          <p:cNvSpPr txBox="1"/>
          <p:nvPr/>
        </p:nvSpPr>
        <p:spPr>
          <a:xfrm>
            <a:off x="2103120" y="2441448"/>
            <a:ext cx="1600200" cy="585216"/>
          </a:xfrm>
          <a:prstGeom prst="rect">
            <a:avLst/>
          </a:prstGeom>
          <a:noFill/>
          <a:ln/>
        </p:spPr>
        <p:txBody>
          <a:bodyPr wrap="square" lIns="0" tIns="0" rIns="0" bIns="0" rtlCol="0" anchor="ctr"/>
          <a:lstStyle/>
          <a:p>
            <a:pPr algn="l" indent="0" marL="0">
              <a:lnSpc>
                <a:spcPct val="100000"/>
              </a:lnSpc>
              <a:buNone/>
            </a:pPr>
            <a:r>
              <a:rPr lang="en-US" sz="1400" dirty="0">
                <a:solidFill>
                  <a:srgbClr val="CADCFC"/>
                </a:solidFill>
                <a:latin typeface="Courier New" pitchFamily="34" charset="0"/>
                <a:ea typeface="Courier New" pitchFamily="34" charset="-122"/>
                <a:cs typeface="Courier New" pitchFamily="34" charset="-120"/>
              </a:rPr>
              <a:t>S-1-16-12288</a:t>
            </a:r>
            <a:endParaRPr lang="en-US" sz="1400" dirty="0"/>
          </a:p>
        </p:txBody>
      </p:sp>
      <p:sp>
        <p:nvSpPr>
          <p:cNvPr id="11" name="Text 9"/>
          <p:cNvSpPr txBox="1"/>
          <p:nvPr/>
        </p:nvSpPr>
        <p:spPr>
          <a:xfrm>
            <a:off x="3703320" y="2441448"/>
            <a:ext cx="2560320" cy="585216"/>
          </a:xfrm>
          <a:prstGeom prst="rect">
            <a:avLst/>
          </a:prstGeom>
          <a:noFill/>
          <a:ln/>
        </p:spPr>
        <p:txBody>
          <a:bodyPr wrap="square" lIns="0" tIns="0" rIns="0" bIns="0" rtlCol="0" anchor="ctr"/>
          <a:lstStyle/>
          <a:p>
            <a:pPr algn="l" indent="0" marL="0">
              <a:lnSpc>
                <a:spcPct val="100000"/>
              </a:lnSpc>
              <a:buNone/>
            </a:pPr>
            <a:r>
              <a:rPr lang="en-US" sz="1400" dirty="0">
                <a:solidFill>
                  <a:srgbClr val="FFFFFF"/>
                </a:solidFill>
                <a:latin typeface="Times New Roman" pitchFamily="34" charset="0"/>
                <a:ea typeface="Times New Roman" pitchFamily="34" charset="-122"/>
                <a:cs typeface="Times New Roman" pitchFamily="34" charset="-120"/>
              </a:rPr>
              <a:t>Ma'mur (UAC bilan ko'tarilgan)</a:t>
            </a:r>
            <a:endParaRPr lang="en-US" sz="1400" dirty="0"/>
          </a:p>
        </p:txBody>
      </p:sp>
      <p:sp>
        <p:nvSpPr>
          <p:cNvPr id="12" name="Shape 10"/>
          <p:cNvSpPr/>
          <p:nvPr/>
        </p:nvSpPr>
        <p:spPr>
          <a:xfrm>
            <a:off x="548640" y="3099816"/>
            <a:ext cx="5760720" cy="585216"/>
          </a:xfrm>
          <a:prstGeom prst="roundRect">
            <a:avLst>
              <a:gd name="adj" fmla="val 14063"/>
            </a:avLst>
          </a:prstGeom>
          <a:solidFill>
            <a:srgbClr val="3D4A8C"/>
          </a:solidFill>
          <a:ln/>
        </p:spPr>
      </p:sp>
      <p:sp>
        <p:nvSpPr>
          <p:cNvPr id="13" name="Text 11"/>
          <p:cNvSpPr txBox="1"/>
          <p:nvPr/>
        </p:nvSpPr>
        <p:spPr>
          <a:xfrm>
            <a:off x="731520" y="3099816"/>
            <a:ext cx="1371600" cy="585216"/>
          </a:xfrm>
          <a:prstGeom prst="rect">
            <a:avLst/>
          </a:prstGeom>
          <a:noFill/>
          <a:ln/>
        </p:spPr>
        <p:txBody>
          <a:bodyPr wrap="square" lIns="0" tIns="0" rIns="0" bIns="0" rtlCol="0" anchor="ctr"/>
          <a:lstStyle/>
          <a:p>
            <a:pPr algn="l" indent="0" marL="0">
              <a:lnSpc>
                <a:spcPct val="100000"/>
              </a:lnSpc>
              <a:buNone/>
            </a:pPr>
            <a:r>
              <a:rPr lang="en-US" sz="1700" b="1" dirty="0">
                <a:solidFill>
                  <a:srgbClr val="FFFFFF"/>
                </a:solidFill>
                <a:latin typeface="Times New Roman" pitchFamily="34" charset="0"/>
                <a:ea typeface="Times New Roman" pitchFamily="34" charset="-122"/>
                <a:cs typeface="Times New Roman" pitchFamily="34" charset="-120"/>
              </a:rPr>
              <a:t>Medium</a:t>
            </a:r>
            <a:endParaRPr lang="en-US" sz="1700" dirty="0"/>
          </a:p>
        </p:txBody>
      </p:sp>
      <p:sp>
        <p:nvSpPr>
          <p:cNvPr id="14" name="Text 12"/>
          <p:cNvSpPr txBox="1"/>
          <p:nvPr/>
        </p:nvSpPr>
        <p:spPr>
          <a:xfrm>
            <a:off x="2103120" y="3099816"/>
            <a:ext cx="1600200" cy="585216"/>
          </a:xfrm>
          <a:prstGeom prst="rect">
            <a:avLst/>
          </a:prstGeom>
          <a:noFill/>
          <a:ln/>
        </p:spPr>
        <p:txBody>
          <a:bodyPr wrap="square" lIns="0" tIns="0" rIns="0" bIns="0" rtlCol="0" anchor="ctr"/>
          <a:lstStyle/>
          <a:p>
            <a:pPr algn="l" indent="0" marL="0">
              <a:lnSpc>
                <a:spcPct val="100000"/>
              </a:lnSpc>
              <a:buNone/>
            </a:pPr>
            <a:r>
              <a:rPr lang="en-US" sz="1400" dirty="0">
                <a:solidFill>
                  <a:srgbClr val="CADCFC"/>
                </a:solidFill>
                <a:latin typeface="Courier New" pitchFamily="34" charset="0"/>
                <a:ea typeface="Courier New" pitchFamily="34" charset="-122"/>
                <a:cs typeface="Courier New" pitchFamily="34" charset="-120"/>
              </a:rPr>
              <a:t>S-1-16-8192</a:t>
            </a:r>
            <a:endParaRPr lang="en-US" sz="1400" dirty="0"/>
          </a:p>
        </p:txBody>
      </p:sp>
      <p:sp>
        <p:nvSpPr>
          <p:cNvPr id="15" name="Text 13"/>
          <p:cNvSpPr txBox="1"/>
          <p:nvPr/>
        </p:nvSpPr>
        <p:spPr>
          <a:xfrm>
            <a:off x="3703320" y="3099816"/>
            <a:ext cx="2560320" cy="585216"/>
          </a:xfrm>
          <a:prstGeom prst="rect">
            <a:avLst/>
          </a:prstGeom>
          <a:noFill/>
          <a:ln/>
        </p:spPr>
        <p:txBody>
          <a:bodyPr wrap="square" lIns="0" tIns="0" rIns="0" bIns="0" rtlCol="0" anchor="ctr"/>
          <a:lstStyle/>
          <a:p>
            <a:pPr algn="l" indent="0" marL="0">
              <a:lnSpc>
                <a:spcPct val="100000"/>
              </a:lnSpc>
              <a:buNone/>
            </a:pPr>
            <a:r>
              <a:rPr lang="en-US" sz="1400" dirty="0">
                <a:solidFill>
                  <a:srgbClr val="FFFFFF"/>
                </a:solidFill>
                <a:latin typeface="Times New Roman" pitchFamily="34" charset="0"/>
                <a:ea typeface="Times New Roman" pitchFamily="34" charset="-122"/>
                <a:cs typeface="Times New Roman" pitchFamily="34" charset="-120"/>
              </a:rPr>
              <a:t>Oddiy foydalanuvchi; belgisiz obyektlar</a:t>
            </a:r>
            <a:endParaRPr lang="en-US" sz="1400" dirty="0"/>
          </a:p>
        </p:txBody>
      </p:sp>
      <p:sp>
        <p:nvSpPr>
          <p:cNvPr id="16" name="Shape 14"/>
          <p:cNvSpPr/>
          <p:nvPr/>
        </p:nvSpPr>
        <p:spPr>
          <a:xfrm>
            <a:off x="548640" y="3758184"/>
            <a:ext cx="5760720" cy="585216"/>
          </a:xfrm>
          <a:prstGeom prst="roundRect">
            <a:avLst>
              <a:gd name="adj" fmla="val 14063"/>
            </a:avLst>
          </a:prstGeom>
          <a:solidFill>
            <a:srgbClr val="D9932B"/>
          </a:solidFill>
          <a:ln/>
        </p:spPr>
      </p:sp>
      <p:sp>
        <p:nvSpPr>
          <p:cNvPr id="17" name="Text 15"/>
          <p:cNvSpPr txBox="1"/>
          <p:nvPr/>
        </p:nvSpPr>
        <p:spPr>
          <a:xfrm>
            <a:off x="731520" y="3758184"/>
            <a:ext cx="1371600" cy="585216"/>
          </a:xfrm>
          <a:prstGeom prst="rect">
            <a:avLst/>
          </a:prstGeom>
          <a:noFill/>
          <a:ln/>
        </p:spPr>
        <p:txBody>
          <a:bodyPr wrap="square" lIns="0" tIns="0" rIns="0" bIns="0" rtlCol="0" anchor="ctr"/>
          <a:lstStyle/>
          <a:p>
            <a:pPr algn="l" indent="0" marL="0">
              <a:lnSpc>
                <a:spcPct val="100000"/>
              </a:lnSpc>
              <a:buNone/>
            </a:pPr>
            <a:r>
              <a:rPr lang="en-US" sz="1700" b="1" dirty="0">
                <a:solidFill>
                  <a:srgbClr val="FFFFFF"/>
                </a:solidFill>
                <a:latin typeface="Times New Roman" pitchFamily="34" charset="0"/>
                <a:ea typeface="Times New Roman" pitchFamily="34" charset="-122"/>
                <a:cs typeface="Times New Roman" pitchFamily="34" charset="-120"/>
              </a:rPr>
              <a:t>Low</a:t>
            </a:r>
            <a:endParaRPr lang="en-US" sz="1700" dirty="0"/>
          </a:p>
        </p:txBody>
      </p:sp>
      <p:sp>
        <p:nvSpPr>
          <p:cNvPr id="18" name="Text 16"/>
          <p:cNvSpPr txBox="1"/>
          <p:nvPr/>
        </p:nvSpPr>
        <p:spPr>
          <a:xfrm>
            <a:off x="2103120" y="3758184"/>
            <a:ext cx="1600200" cy="585216"/>
          </a:xfrm>
          <a:prstGeom prst="rect">
            <a:avLst/>
          </a:prstGeom>
          <a:noFill/>
          <a:ln/>
        </p:spPr>
        <p:txBody>
          <a:bodyPr wrap="square" lIns="0" tIns="0" rIns="0" bIns="0" rtlCol="0" anchor="ctr"/>
          <a:lstStyle/>
          <a:p>
            <a:pPr algn="l" indent="0" marL="0">
              <a:lnSpc>
                <a:spcPct val="100000"/>
              </a:lnSpc>
              <a:buNone/>
            </a:pPr>
            <a:r>
              <a:rPr lang="en-US" sz="1400" dirty="0">
                <a:solidFill>
                  <a:srgbClr val="CADCFC"/>
                </a:solidFill>
                <a:latin typeface="Courier New" pitchFamily="34" charset="0"/>
                <a:ea typeface="Courier New" pitchFamily="34" charset="-122"/>
                <a:cs typeface="Courier New" pitchFamily="34" charset="-120"/>
              </a:rPr>
              <a:t>S-1-16-4096</a:t>
            </a:r>
            <a:endParaRPr lang="en-US" sz="1400" dirty="0"/>
          </a:p>
        </p:txBody>
      </p:sp>
      <p:sp>
        <p:nvSpPr>
          <p:cNvPr id="19" name="Text 17"/>
          <p:cNvSpPr txBox="1"/>
          <p:nvPr/>
        </p:nvSpPr>
        <p:spPr>
          <a:xfrm>
            <a:off x="3703320" y="3758184"/>
            <a:ext cx="2560320" cy="585216"/>
          </a:xfrm>
          <a:prstGeom prst="rect">
            <a:avLst/>
          </a:prstGeom>
          <a:noFill/>
          <a:ln/>
        </p:spPr>
        <p:txBody>
          <a:bodyPr wrap="square" lIns="0" tIns="0" rIns="0" bIns="0" rtlCol="0" anchor="ctr"/>
          <a:lstStyle/>
          <a:p>
            <a:pPr algn="l" indent="0" marL="0">
              <a:lnSpc>
                <a:spcPct val="100000"/>
              </a:lnSpc>
              <a:buNone/>
            </a:pPr>
            <a:r>
              <a:rPr lang="en-US" sz="1400" dirty="0">
                <a:solidFill>
                  <a:srgbClr val="FFFFFF"/>
                </a:solidFill>
                <a:latin typeface="Times New Roman" pitchFamily="34" charset="0"/>
                <a:ea typeface="Times New Roman" pitchFamily="34" charset="-122"/>
                <a:cs typeface="Times New Roman" pitchFamily="34" charset="-120"/>
              </a:rPr>
              <a:t>Brauzerning himoyalangan jarayonlari</a:t>
            </a:r>
            <a:endParaRPr lang="en-US" sz="1400" dirty="0"/>
          </a:p>
        </p:txBody>
      </p:sp>
      <p:sp>
        <p:nvSpPr>
          <p:cNvPr id="20" name="Shape 18"/>
          <p:cNvSpPr/>
          <p:nvPr/>
        </p:nvSpPr>
        <p:spPr>
          <a:xfrm>
            <a:off x="548640" y="4416552"/>
            <a:ext cx="5760720" cy="585216"/>
          </a:xfrm>
          <a:prstGeom prst="roundRect">
            <a:avLst>
              <a:gd name="adj" fmla="val 14063"/>
            </a:avLst>
          </a:prstGeom>
          <a:solidFill>
            <a:srgbClr val="9E3B2E"/>
          </a:solidFill>
          <a:ln/>
        </p:spPr>
      </p:sp>
      <p:sp>
        <p:nvSpPr>
          <p:cNvPr id="21" name="Text 19"/>
          <p:cNvSpPr txBox="1"/>
          <p:nvPr/>
        </p:nvSpPr>
        <p:spPr>
          <a:xfrm>
            <a:off x="731520" y="4416552"/>
            <a:ext cx="1371600" cy="585216"/>
          </a:xfrm>
          <a:prstGeom prst="rect">
            <a:avLst/>
          </a:prstGeom>
          <a:noFill/>
          <a:ln/>
        </p:spPr>
        <p:txBody>
          <a:bodyPr wrap="square" lIns="0" tIns="0" rIns="0" bIns="0" rtlCol="0" anchor="ctr"/>
          <a:lstStyle/>
          <a:p>
            <a:pPr algn="l" indent="0" marL="0">
              <a:lnSpc>
                <a:spcPct val="100000"/>
              </a:lnSpc>
              <a:buNone/>
            </a:pPr>
            <a:r>
              <a:rPr lang="en-US" sz="1700" b="1" dirty="0">
                <a:solidFill>
                  <a:srgbClr val="FFFFFF"/>
                </a:solidFill>
                <a:latin typeface="Times New Roman" pitchFamily="34" charset="0"/>
                <a:ea typeface="Times New Roman" pitchFamily="34" charset="-122"/>
                <a:cs typeface="Times New Roman" pitchFamily="34" charset="-120"/>
              </a:rPr>
              <a:t>Untrusted</a:t>
            </a:r>
            <a:endParaRPr lang="en-US" sz="1700" dirty="0"/>
          </a:p>
        </p:txBody>
      </p:sp>
      <p:sp>
        <p:nvSpPr>
          <p:cNvPr id="22" name="Text 20"/>
          <p:cNvSpPr txBox="1"/>
          <p:nvPr/>
        </p:nvSpPr>
        <p:spPr>
          <a:xfrm>
            <a:off x="2103120" y="4416552"/>
            <a:ext cx="1600200" cy="585216"/>
          </a:xfrm>
          <a:prstGeom prst="rect">
            <a:avLst/>
          </a:prstGeom>
          <a:noFill/>
          <a:ln/>
        </p:spPr>
        <p:txBody>
          <a:bodyPr wrap="square" lIns="0" tIns="0" rIns="0" bIns="0" rtlCol="0" anchor="ctr"/>
          <a:lstStyle/>
          <a:p>
            <a:pPr algn="l" indent="0" marL="0">
              <a:lnSpc>
                <a:spcPct val="100000"/>
              </a:lnSpc>
              <a:buNone/>
            </a:pPr>
            <a:r>
              <a:rPr lang="en-US" sz="1400" dirty="0">
                <a:solidFill>
                  <a:srgbClr val="CADCFC"/>
                </a:solidFill>
                <a:latin typeface="Courier New" pitchFamily="34" charset="0"/>
                <a:ea typeface="Courier New" pitchFamily="34" charset="-122"/>
                <a:cs typeface="Courier New" pitchFamily="34" charset="-120"/>
              </a:rPr>
              <a:t>S-1-16-0</a:t>
            </a:r>
            <a:endParaRPr lang="en-US" sz="1400" dirty="0"/>
          </a:p>
        </p:txBody>
      </p:sp>
      <p:sp>
        <p:nvSpPr>
          <p:cNvPr id="23" name="Text 21"/>
          <p:cNvSpPr txBox="1"/>
          <p:nvPr/>
        </p:nvSpPr>
        <p:spPr>
          <a:xfrm>
            <a:off x="3703320" y="4416552"/>
            <a:ext cx="2560320" cy="585216"/>
          </a:xfrm>
          <a:prstGeom prst="rect">
            <a:avLst/>
          </a:prstGeom>
          <a:noFill/>
          <a:ln/>
        </p:spPr>
        <p:txBody>
          <a:bodyPr wrap="square" lIns="0" tIns="0" rIns="0" bIns="0" rtlCol="0" anchor="ctr"/>
          <a:lstStyle/>
          <a:p>
            <a:pPr algn="l" indent="0" marL="0">
              <a:lnSpc>
                <a:spcPct val="100000"/>
              </a:lnSpc>
              <a:buNone/>
            </a:pPr>
            <a:r>
              <a:rPr lang="en-US" sz="1400" dirty="0">
                <a:solidFill>
                  <a:srgbClr val="FFFFFF"/>
                </a:solidFill>
                <a:latin typeface="Times New Roman" pitchFamily="34" charset="0"/>
                <a:ea typeface="Times New Roman" pitchFamily="34" charset="-122"/>
                <a:cs typeface="Times New Roman" pitchFamily="34" charset="-120"/>
              </a:rPr>
              <a:t>Anonim jarayonlar</a:t>
            </a:r>
            <a:endParaRPr lang="en-US" sz="1400" dirty="0"/>
          </a:p>
        </p:txBody>
      </p:sp>
      <p:sp>
        <p:nvSpPr>
          <p:cNvPr id="24" name="Shape 22"/>
          <p:cNvSpPr/>
          <p:nvPr/>
        </p:nvSpPr>
        <p:spPr>
          <a:xfrm>
            <a:off x="6492240" y="1783080"/>
            <a:ext cx="5120640" cy="731520"/>
          </a:xfrm>
          <a:prstGeom prst="roundRect">
            <a:avLst>
              <a:gd name="adj" fmla="val 11250"/>
            </a:avLst>
          </a:prstGeom>
          <a:solidFill>
            <a:srgbClr val="CADCFC"/>
          </a:solidFill>
          <a:ln/>
        </p:spPr>
      </p:sp>
      <p:sp>
        <p:nvSpPr>
          <p:cNvPr id="25" name="Text 23"/>
          <p:cNvSpPr txBox="1"/>
          <p:nvPr/>
        </p:nvSpPr>
        <p:spPr>
          <a:xfrm>
            <a:off x="6675120" y="1819656"/>
            <a:ext cx="4754880" cy="320040"/>
          </a:xfrm>
          <a:prstGeom prst="rect">
            <a:avLst/>
          </a:prstGeom>
          <a:noFill/>
          <a:ln/>
        </p:spPr>
        <p:txBody>
          <a:bodyPr wrap="square" lIns="0" tIns="0" rIns="0" bIns="0" rtlCol="0" anchor="t"/>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Standart qoida</a:t>
            </a:r>
            <a:endParaRPr lang="en-US" sz="1500" dirty="0"/>
          </a:p>
        </p:txBody>
      </p:sp>
      <p:sp>
        <p:nvSpPr>
          <p:cNvPr id="26" name="Text 24"/>
          <p:cNvSpPr txBox="1"/>
          <p:nvPr/>
        </p:nvSpPr>
        <p:spPr>
          <a:xfrm>
            <a:off x="6675120" y="2130552"/>
            <a:ext cx="4846320" cy="365760"/>
          </a:xfrm>
          <a:prstGeom prst="rect">
            <a:avLst/>
          </a:prstGeom>
          <a:noFill/>
          <a:ln/>
        </p:spPr>
        <p:txBody>
          <a:bodyPr wrap="square" lIns="0" tIns="0" rIns="0" bIns="0" rtlCol="0" anchor="t"/>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NO_WRITE_UP: past jarayon yuqori obyektga yoza olmaydi</a:t>
            </a:r>
            <a:endParaRPr lang="en-US" sz="1400" dirty="0"/>
          </a:p>
        </p:txBody>
      </p:sp>
      <p:sp>
        <p:nvSpPr>
          <p:cNvPr id="27" name="Shape 25"/>
          <p:cNvSpPr/>
          <p:nvPr/>
        </p:nvSpPr>
        <p:spPr>
          <a:xfrm>
            <a:off x="6492240" y="2606040"/>
            <a:ext cx="5120640" cy="731520"/>
          </a:xfrm>
          <a:prstGeom prst="roundRect">
            <a:avLst>
              <a:gd name="adj" fmla="val 11250"/>
            </a:avLst>
          </a:prstGeom>
          <a:solidFill>
            <a:srgbClr val="EEF2FB"/>
          </a:solidFill>
          <a:ln/>
        </p:spPr>
      </p:sp>
      <p:sp>
        <p:nvSpPr>
          <p:cNvPr id="28" name="Text 26"/>
          <p:cNvSpPr txBox="1"/>
          <p:nvPr/>
        </p:nvSpPr>
        <p:spPr>
          <a:xfrm>
            <a:off x="6675120" y="2642616"/>
            <a:ext cx="4754880" cy="320040"/>
          </a:xfrm>
          <a:prstGeom prst="rect">
            <a:avLst/>
          </a:prstGeom>
          <a:noFill/>
          <a:ln/>
        </p:spPr>
        <p:txBody>
          <a:bodyPr wrap="square" lIns="0" tIns="0" rIns="0" bIns="0" rtlCol="0" anchor="t"/>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Yangi jarayon</a:t>
            </a:r>
            <a:endParaRPr lang="en-US" sz="1500" dirty="0"/>
          </a:p>
        </p:txBody>
      </p:sp>
      <p:sp>
        <p:nvSpPr>
          <p:cNvPr id="29" name="Text 27"/>
          <p:cNvSpPr txBox="1"/>
          <p:nvPr/>
        </p:nvSpPr>
        <p:spPr>
          <a:xfrm>
            <a:off x="6675120" y="2953512"/>
            <a:ext cx="4846320" cy="365760"/>
          </a:xfrm>
          <a:prstGeom prst="rect">
            <a:avLst/>
          </a:prstGeom>
          <a:noFill/>
          <a:ln/>
        </p:spPr>
        <p:txBody>
          <a:bodyPr wrap="square" lIns="0" tIns="0" rIns="0" bIns="0" rtlCol="0" anchor="t"/>
          <a:lstStyle/>
          <a:p>
            <a:pPr algn="l" indent="0" marL="0">
              <a:lnSpc>
                <a:spcPct val="100000"/>
              </a:lnSpc>
              <a:buNone/>
            </a:pPr>
            <a:r>
              <a:rPr lang="en-US" sz="1400" dirty="0">
                <a:solidFill>
                  <a:srgbClr val="1B1B2A"/>
                </a:solidFill>
                <a:latin typeface="Courier New" pitchFamily="34" charset="0"/>
                <a:ea typeface="Courier New" pitchFamily="34" charset="-122"/>
                <a:cs typeface="Courier New" pitchFamily="34" charset="-120"/>
              </a:rPr>
              <a:t>daraja = min(foydalanuvchi, fayl)</a:t>
            </a:r>
            <a:endParaRPr lang="en-US" sz="1400" dirty="0"/>
          </a:p>
        </p:txBody>
      </p:sp>
      <p:sp>
        <p:nvSpPr>
          <p:cNvPr id="30" name="Shape 28"/>
          <p:cNvSpPr/>
          <p:nvPr/>
        </p:nvSpPr>
        <p:spPr>
          <a:xfrm>
            <a:off x="6492240" y="3429000"/>
            <a:ext cx="5120640" cy="731520"/>
          </a:xfrm>
          <a:prstGeom prst="roundRect">
            <a:avLst>
              <a:gd name="adj" fmla="val 11250"/>
            </a:avLst>
          </a:prstGeom>
          <a:solidFill>
            <a:srgbClr val="EEF2FB"/>
          </a:solidFill>
          <a:ln/>
        </p:spPr>
      </p:sp>
      <p:sp>
        <p:nvSpPr>
          <p:cNvPr id="31" name="Text 29"/>
          <p:cNvSpPr txBox="1"/>
          <p:nvPr/>
        </p:nvSpPr>
        <p:spPr>
          <a:xfrm>
            <a:off x="6675120" y="3465576"/>
            <a:ext cx="4754880" cy="320040"/>
          </a:xfrm>
          <a:prstGeom prst="rect">
            <a:avLst/>
          </a:prstGeom>
          <a:noFill/>
          <a:ln/>
        </p:spPr>
        <p:txBody>
          <a:bodyPr wrap="square" lIns="0" tIns="0" rIns="0" bIns="0" rtlCol="0" anchor="t"/>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Qayerda saqlanadi</a:t>
            </a:r>
            <a:endParaRPr lang="en-US" sz="1500" dirty="0"/>
          </a:p>
        </p:txBody>
      </p:sp>
      <p:sp>
        <p:nvSpPr>
          <p:cNvPr id="32" name="Text 30"/>
          <p:cNvSpPr txBox="1"/>
          <p:nvPr/>
        </p:nvSpPr>
        <p:spPr>
          <a:xfrm>
            <a:off x="6675120" y="3776472"/>
            <a:ext cx="4846320" cy="365760"/>
          </a:xfrm>
          <a:prstGeom prst="rect">
            <a:avLst/>
          </a:prstGeom>
          <a:noFill/>
          <a:ln/>
        </p:spPr>
        <p:txBody>
          <a:bodyPr wrap="square" lIns="0" tIns="0" rIns="0" bIns="0" rtlCol="0" anchor="t"/>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Obyekt — SACL dagi yorliq; jarayon — tokendagi SID</a:t>
            </a:r>
            <a:endParaRPr lang="en-US" sz="1400" dirty="0"/>
          </a:p>
        </p:txBody>
      </p:sp>
      <p:sp>
        <p:nvSpPr>
          <p:cNvPr id="33" name="Shape 31"/>
          <p:cNvSpPr/>
          <p:nvPr/>
        </p:nvSpPr>
        <p:spPr>
          <a:xfrm>
            <a:off x="6492240" y="4251960"/>
            <a:ext cx="5120640" cy="731520"/>
          </a:xfrm>
          <a:prstGeom prst="roundRect">
            <a:avLst>
              <a:gd name="adj" fmla="val 11250"/>
            </a:avLst>
          </a:prstGeom>
          <a:solidFill>
            <a:srgbClr val="EEF2FB"/>
          </a:solidFill>
          <a:ln/>
        </p:spPr>
      </p:sp>
      <p:sp>
        <p:nvSpPr>
          <p:cNvPr id="34" name="Text 32"/>
          <p:cNvSpPr txBox="1"/>
          <p:nvPr/>
        </p:nvSpPr>
        <p:spPr>
          <a:xfrm>
            <a:off x="6675120" y="4288536"/>
            <a:ext cx="4754880" cy="320040"/>
          </a:xfrm>
          <a:prstGeom prst="rect">
            <a:avLst/>
          </a:prstGeom>
          <a:noFill/>
          <a:ln/>
        </p:spPr>
        <p:txBody>
          <a:bodyPr wrap="square" lIns="0" tIns="0" rIns="0" bIns="0" rtlCol="0" anchor="t"/>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Tekshirish tartibi</a:t>
            </a:r>
            <a:endParaRPr lang="en-US" sz="1500" dirty="0"/>
          </a:p>
        </p:txBody>
      </p:sp>
      <p:sp>
        <p:nvSpPr>
          <p:cNvPr id="35" name="Text 33"/>
          <p:cNvSpPr txBox="1"/>
          <p:nvPr/>
        </p:nvSpPr>
        <p:spPr>
          <a:xfrm>
            <a:off x="6675120" y="4599432"/>
            <a:ext cx="4846320" cy="365760"/>
          </a:xfrm>
          <a:prstGeom prst="rect">
            <a:avLst/>
          </a:prstGeom>
          <a:noFill/>
          <a:ln/>
        </p:spPr>
        <p:txBody>
          <a:bodyPr wrap="square" lIns="0" tIns="0" rIns="0" bIns="0" rtlCol="0" anchor="t"/>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Avval MIC, keyin DACL — mandatli qism birinchi</a:t>
            </a:r>
            <a:endParaRPr lang="en-US" sz="1400" dirty="0"/>
          </a:p>
        </p:txBody>
      </p:sp>
      <p:sp>
        <p:nvSpPr>
          <p:cNvPr id="36" name="Shape 34"/>
          <p:cNvSpPr/>
          <p:nvPr/>
        </p:nvSpPr>
        <p:spPr>
          <a:xfrm>
            <a:off x="548640" y="5166360"/>
            <a:ext cx="11064240" cy="1051560"/>
          </a:xfrm>
          <a:prstGeom prst="roundRect">
            <a:avLst>
              <a:gd name="adj" fmla="val 7826"/>
            </a:avLst>
          </a:prstGeom>
          <a:solidFill>
            <a:srgbClr val="FDF3E2"/>
          </a:solidFill>
          <a:ln/>
        </p:spPr>
      </p:sp>
      <p:sp>
        <p:nvSpPr>
          <p:cNvPr id="37" name="Text 35"/>
          <p:cNvSpPr txBox="1"/>
          <p:nvPr/>
        </p:nvSpPr>
        <p:spPr>
          <a:xfrm>
            <a:off x="777240" y="5166360"/>
            <a:ext cx="10607040" cy="1051560"/>
          </a:xfrm>
          <a:prstGeom prst="rect">
            <a:avLst/>
          </a:prstGeom>
          <a:noFill/>
          <a:ln/>
        </p:spPr>
        <p:txBody>
          <a:bodyPr wrap="square" lIns="0" tIns="0" rIns="0" bIns="0" rtlCol="0" anchor="ctr"/>
          <a:lstStyle/>
          <a:p>
            <a:pPr algn="l" indent="0" marL="0">
              <a:lnSpc>
                <a:spcPct val="105000"/>
              </a:lnSpc>
              <a:buNone/>
            </a:pPr>
            <a:r>
              <a:rPr lang="en-US" sz="1600" dirty="0">
                <a:solidFill>
                  <a:srgbClr val="9A5B00"/>
                </a:solidFill>
                <a:latin typeface="Times New Roman" pitchFamily="34" charset="0"/>
                <a:ea typeface="Times New Roman" pitchFamily="34" charset="-122"/>
                <a:cs typeface="Times New Roman" pitchFamily="34" charset="-120"/>
              </a:rPr>
              <a:t>Biba bilan farqi: Windows standart holda faqat «yuqoriga yozish»ni taqiqlaydi. «Pastdan o'qish» taqiqlanmaydi — NO_READ_UP va NO_EXECUTE_UP ixtiyoriy siyosatlar sifatida mavjud.</a:t>
            </a:r>
            <a:endParaRPr lang="en-US" sz="1600" dirty="0"/>
          </a:p>
        </p:txBody>
      </p:sp>
      <p:sp>
        <p:nvSpPr>
          <p:cNvPr id="38" name="Text 36"/>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11-ma'ruza</a:t>
            </a:r>
            <a:endParaRPr lang="en-US" sz="1100" dirty="0"/>
          </a:p>
        </p:txBody>
      </p:sp>
      <p:sp>
        <p:nvSpPr>
          <p:cNvPr id="39" name="Text 37"/>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JONLI NAMOYISH · 10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Yaxlitlik darajalarini ko'ramiz</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terminal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7498080" cy="4434840"/>
          </a:xfrm>
          <a:prstGeom prst="roundRect">
            <a:avLst>
              <a:gd name="adj" fmla="val 1856"/>
            </a:avLst>
          </a:prstGeom>
          <a:solidFill>
            <a:srgbClr val="162048"/>
          </a:solidFill>
          <a:ln/>
        </p:spPr>
      </p:sp>
      <p:sp>
        <p:nvSpPr>
          <p:cNvPr id="7" name="Text 4"/>
          <p:cNvSpPr txBox="1"/>
          <p:nvPr/>
        </p:nvSpPr>
        <p:spPr>
          <a:xfrm>
            <a:off x="777240" y="1965960"/>
            <a:ext cx="7040880" cy="4069080"/>
          </a:xfrm>
          <a:prstGeom prst="rect">
            <a:avLst/>
          </a:prstGeom>
          <a:noFill/>
          <a:ln/>
        </p:spPr>
        <p:txBody>
          <a:bodyPr wrap="square" lIns="0" tIns="0" rIns="0" bIns="0" rtlCol="0" anchor="t"/>
          <a:lstStyle/>
          <a:p>
            <a:pPr indent="0" marL="0">
              <a:lnSpc>
                <a:spcPct val="105000"/>
              </a:lnSpc>
              <a:buNone/>
            </a:pPr>
            <a:r>
              <a:rPr lang="en-US" sz="1200" dirty="0">
                <a:solidFill>
                  <a:srgbClr val="9FB0E0"/>
                </a:solidFill>
                <a:latin typeface="Courier New" pitchFamily="34" charset="0"/>
                <a:ea typeface="Courier New" pitchFamily="34" charset="-122"/>
                <a:cs typeface="Courier New" pitchFamily="34" charset="-120"/>
              </a:rPr>
              <a:t># 1. Mening jarayonim qaysi darajada?</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C:\&gt; whoami /groups | findstr Mandatory</a:t>
            </a:r>
            <a:endParaRPr lang="en-US" sz="1200" dirty="0"/>
          </a:p>
          <a:p>
            <a:pPr indent="0" marL="0">
              <a:lnSpc>
                <a:spcPct val="105000"/>
              </a:lnSpc>
              <a:buNone/>
            </a:pPr>
            <a:r>
              <a:rPr lang="en-US" sz="1200" dirty="0">
                <a:solidFill>
                  <a:srgbClr val="8FD3A8"/>
                </a:solidFill>
                <a:latin typeface="Courier New" pitchFamily="34" charset="0"/>
                <a:ea typeface="Courier New" pitchFamily="34" charset="-122"/>
                <a:cs typeface="Courier New" pitchFamily="34" charset="-120"/>
              </a:rPr>
              <a:t>  Mandatory Label\Medium Mandatory Level  S-1-16-8192</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9FB0E0"/>
                </a:solidFill>
                <a:latin typeface="Courier New" pitchFamily="34" charset="0"/>
                <a:ea typeface="Courier New" pitchFamily="34" charset="-122"/>
                <a:cs typeface="Courier New" pitchFamily="34" charset="-120"/>
              </a:rPr>
              <a:t># 2. Xuddi shu, «Administrator sifatida» ochilgan oynada</a:t>
            </a:r>
            <a:endParaRPr lang="en-US" sz="1200" dirty="0"/>
          </a:p>
          <a:p>
            <a:pPr indent="0" marL="0">
              <a:lnSpc>
                <a:spcPct val="105000"/>
              </a:lnSpc>
              <a:buNone/>
            </a:pPr>
            <a:r>
              <a:rPr lang="en-US" sz="1200" dirty="0">
                <a:solidFill>
                  <a:srgbClr val="8FD3A8"/>
                </a:solidFill>
                <a:latin typeface="Courier New" pitchFamily="34" charset="0"/>
                <a:ea typeface="Courier New" pitchFamily="34" charset="-122"/>
                <a:cs typeface="Courier New" pitchFamily="34" charset="-120"/>
              </a:rPr>
              <a:t>  Mandatory Label\High Mandatory Level    S-1-16-12288</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9FB0E0"/>
                </a:solidFill>
                <a:latin typeface="Courier New" pitchFamily="34" charset="0"/>
                <a:ea typeface="Courier New" pitchFamily="34" charset="-122"/>
                <a:cs typeface="Courier New" pitchFamily="34" charset="-120"/>
              </a:rPr>
              <a:t># 3. Past darajali papka — brauzerlar uchun</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C:\&gt; icacls %USERPROFILE%\AppData\LocalLow</a:t>
            </a:r>
            <a:endParaRPr lang="en-US" sz="1200" dirty="0"/>
          </a:p>
          <a:p>
            <a:pPr indent="0" marL="0">
              <a:lnSpc>
                <a:spcPct val="105000"/>
              </a:lnSpc>
              <a:buNone/>
            </a:pPr>
            <a:r>
              <a:rPr lang="en-US" sz="1200" dirty="0">
                <a:solidFill>
                  <a:srgbClr val="8FD3A8"/>
                </a:solidFill>
                <a:latin typeface="Courier New" pitchFamily="34" charset="0"/>
                <a:ea typeface="Courier New" pitchFamily="34" charset="-122"/>
                <a:cs typeface="Courier New" pitchFamily="34" charset="-120"/>
              </a:rPr>
              <a:t>  Mandatory Label\Low Mandatory Level:(OI)(CI)(NW)</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9FB0E0"/>
                </a:solidFill>
                <a:latin typeface="Courier New" pitchFamily="34" charset="0"/>
                <a:ea typeface="Courier New" pitchFamily="34" charset="-122"/>
                <a:cs typeface="Courier New" pitchFamily="34" charset="-120"/>
              </a:rPr>
              <a:t># 4. O'z papkamizga past yorliq qo'yish</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C:\&gt; icacls C:\Lab\yuklamalar /setintegritylevel (OI)(CI)low</a:t>
            </a:r>
            <a:endParaRPr lang="en-US" sz="1200" dirty="0"/>
          </a:p>
        </p:txBody>
      </p:sp>
      <p:sp>
        <p:nvSpPr>
          <p:cNvPr id="8" name="Shape 5"/>
          <p:cNvSpPr/>
          <p:nvPr/>
        </p:nvSpPr>
        <p:spPr>
          <a:xfrm>
            <a:off x="8229600" y="1783080"/>
            <a:ext cx="3383280" cy="1371600"/>
          </a:xfrm>
          <a:prstGeom prst="roundRect">
            <a:avLst>
              <a:gd name="adj" fmla="val 6000"/>
            </a:avLst>
          </a:prstGeom>
          <a:solidFill>
            <a:srgbClr val="FFFFFF"/>
          </a:solidFill>
          <a:ln/>
        </p:spPr>
      </p:sp>
      <p:sp>
        <p:nvSpPr>
          <p:cNvPr id="9" name="Text 6"/>
          <p:cNvSpPr txBox="1"/>
          <p:nvPr/>
        </p:nvSpPr>
        <p:spPr>
          <a:xfrm>
            <a:off x="8412480" y="1874520"/>
            <a:ext cx="3017520" cy="365760"/>
          </a:xfrm>
          <a:prstGeom prst="rect">
            <a:avLst/>
          </a:prstGeom>
          <a:noFill/>
          <a:ln/>
        </p:spPr>
        <p:txBody>
          <a:bodyPr wrap="square" lIns="0" tIns="0" rIns="0" bIns="0" rtlCol="0" anchor="t"/>
          <a:lstStyle/>
          <a:p>
            <a:pPr algn="l"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Kuzating</a:t>
            </a:r>
            <a:endParaRPr lang="en-US" sz="1600" dirty="0"/>
          </a:p>
        </p:txBody>
      </p:sp>
      <p:sp>
        <p:nvSpPr>
          <p:cNvPr id="10" name="Text 7"/>
          <p:cNvSpPr txBox="1"/>
          <p:nvPr/>
        </p:nvSpPr>
        <p:spPr>
          <a:xfrm>
            <a:off x="8412480" y="2240280"/>
            <a:ext cx="3063240" cy="86868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(NW) — No Write Up; (OI)(CI) — ichidagi fayllarga meros</a:t>
            </a:r>
            <a:endParaRPr lang="en-US" sz="1500" dirty="0"/>
          </a:p>
        </p:txBody>
      </p:sp>
      <p:sp>
        <p:nvSpPr>
          <p:cNvPr id="11" name="Shape 8"/>
          <p:cNvSpPr/>
          <p:nvPr/>
        </p:nvSpPr>
        <p:spPr>
          <a:xfrm>
            <a:off x="8229600" y="3273552"/>
            <a:ext cx="3383280" cy="1371600"/>
          </a:xfrm>
          <a:prstGeom prst="roundRect">
            <a:avLst>
              <a:gd name="adj" fmla="val 6000"/>
            </a:avLst>
          </a:prstGeom>
          <a:solidFill>
            <a:srgbClr val="FFFFFF"/>
          </a:solidFill>
          <a:ln/>
        </p:spPr>
      </p:sp>
      <p:sp>
        <p:nvSpPr>
          <p:cNvPr id="12" name="Text 9"/>
          <p:cNvSpPr txBox="1"/>
          <p:nvPr/>
        </p:nvSpPr>
        <p:spPr>
          <a:xfrm>
            <a:off x="8412480" y="3364992"/>
            <a:ext cx="3017520" cy="365760"/>
          </a:xfrm>
          <a:prstGeom prst="rect">
            <a:avLst/>
          </a:prstGeom>
          <a:noFill/>
          <a:ln/>
        </p:spPr>
        <p:txBody>
          <a:bodyPr wrap="square" lIns="0" tIns="0" rIns="0" bIns="0" rtlCol="0" anchor="t"/>
          <a:lstStyle/>
          <a:p>
            <a:pPr algn="l"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Process Explorer</a:t>
            </a:r>
            <a:endParaRPr lang="en-US" sz="1600" dirty="0"/>
          </a:p>
        </p:txBody>
      </p:sp>
      <p:sp>
        <p:nvSpPr>
          <p:cNvPr id="13" name="Text 10"/>
          <p:cNvSpPr txBox="1"/>
          <p:nvPr/>
        </p:nvSpPr>
        <p:spPr>
          <a:xfrm>
            <a:off x="8412480" y="3730752"/>
            <a:ext cx="3063240" cy="86868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Sysinternals vositasida «Integrity» ustunini yoqing: brauzer jarayonlari qaysi darajada?</a:t>
            </a:r>
            <a:endParaRPr lang="en-US" sz="1500" dirty="0"/>
          </a:p>
        </p:txBody>
      </p:sp>
      <p:sp>
        <p:nvSpPr>
          <p:cNvPr id="14" name="Shape 11"/>
          <p:cNvSpPr/>
          <p:nvPr/>
        </p:nvSpPr>
        <p:spPr>
          <a:xfrm>
            <a:off x="8229600" y="4764024"/>
            <a:ext cx="3383280" cy="1371600"/>
          </a:xfrm>
          <a:prstGeom prst="roundRect">
            <a:avLst>
              <a:gd name="adj" fmla="val 6000"/>
            </a:avLst>
          </a:prstGeom>
          <a:solidFill>
            <a:srgbClr val="FFFFFF"/>
          </a:solidFill>
          <a:ln/>
        </p:spPr>
      </p:sp>
      <p:sp>
        <p:nvSpPr>
          <p:cNvPr id="15" name="Text 12"/>
          <p:cNvSpPr txBox="1"/>
          <p:nvPr/>
        </p:nvSpPr>
        <p:spPr>
          <a:xfrm>
            <a:off x="8412480" y="4855464"/>
            <a:ext cx="3017520" cy="365760"/>
          </a:xfrm>
          <a:prstGeom prst="rect">
            <a:avLst/>
          </a:prstGeom>
          <a:noFill/>
          <a:ln/>
        </p:spPr>
        <p:txBody>
          <a:bodyPr wrap="square" lIns="0" tIns="0" rIns="0" bIns="0" rtlCol="0" anchor="t"/>
          <a:lstStyle/>
          <a:p>
            <a:pPr algn="l"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Savol</a:t>
            </a:r>
            <a:endParaRPr lang="en-US" sz="1600" dirty="0"/>
          </a:p>
        </p:txBody>
      </p:sp>
      <p:sp>
        <p:nvSpPr>
          <p:cNvPr id="16" name="Text 13"/>
          <p:cNvSpPr txBox="1"/>
          <p:nvPr/>
        </p:nvSpPr>
        <p:spPr>
          <a:xfrm>
            <a:off x="8412480" y="5221224"/>
            <a:ext cx="3063240" cy="86868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Nega ma'mur ham kundalik ishni O'rta darajada qiladi?</a:t>
            </a:r>
            <a:endParaRPr lang="en-US" sz="1500" dirty="0"/>
          </a:p>
        </p:txBody>
      </p:sp>
      <p:sp>
        <p:nvSpPr>
          <p:cNvPr id="17" name="Text 14"/>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11-ma'ruza</a:t>
            </a:r>
            <a:endParaRPr lang="en-US" sz="1100" dirty="0"/>
          </a:p>
        </p:txBody>
      </p:sp>
      <p:sp>
        <p:nvSpPr>
          <p:cNvPr id="18" name="Text 15"/>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IV · BOSHQA MEXANIZMLAR</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Windows'dagi boshqa mandatli mexanizmlar</a:t>
            </a:r>
            <a:endParaRPr lang="en-US" sz="3600" dirty="0"/>
          </a:p>
        </p:txBody>
      </p:sp>
      <p:sp>
        <p:nvSpPr>
          <p:cNvPr id="4" name="Shape 2"/>
          <p:cNvSpPr/>
          <p:nvPr/>
        </p:nvSpPr>
        <p:spPr>
          <a:xfrm>
            <a:off x="548640" y="1783080"/>
            <a:ext cx="5440680" cy="1874520"/>
          </a:xfrm>
          <a:prstGeom prst="roundRect">
            <a:avLst>
              <a:gd name="adj" fmla="val 4390"/>
            </a:avLst>
          </a:prstGeom>
          <a:solidFill>
            <a:srgbClr val="EEF2FB"/>
          </a:solidFill>
          <a:ln/>
        </p:spPr>
      </p:sp>
      <p:sp>
        <p:nvSpPr>
          <p:cNvPr id="5" name="Shape 3"/>
          <p:cNvSpPr/>
          <p:nvPr/>
        </p:nvSpPr>
        <p:spPr>
          <a:xfrm>
            <a:off x="777240" y="2011680"/>
            <a:ext cx="594360" cy="594360"/>
          </a:xfrm>
          <a:prstGeom prst="ellipse">
            <a:avLst/>
          </a:prstGeom>
          <a:solidFill>
            <a:srgbClr val="1E2761"/>
          </a:solidFill>
          <a:ln/>
        </p:spPr>
      </p:sp>
      <p:pic>
        <p:nvPicPr>
          <p:cNvPr id="6" name="Image 0" descr="/home/claude/fob-slides/icons_out/userlock_white.png"/>
          <p:cNvPicPr>
            <a:picLocks noChangeAspect="1"/>
          </p:cNvPicPr>
          <p:nvPr/>
        </p:nvPicPr>
        <p:blipFill>
          <a:blip r:embed="rId1"/>
          <a:stretch>
            <a:fillRect/>
          </a:stretch>
        </p:blipFill>
        <p:spPr>
          <a:xfrm>
            <a:off x="910971" y="2145411"/>
            <a:ext cx="326898" cy="326898"/>
          </a:xfrm>
          <a:prstGeom prst="rect">
            <a:avLst/>
          </a:prstGeom>
        </p:spPr>
      </p:pic>
      <p:sp>
        <p:nvSpPr>
          <p:cNvPr id="7" name="Text 4"/>
          <p:cNvSpPr txBox="1"/>
          <p:nvPr/>
        </p:nvSpPr>
        <p:spPr>
          <a:xfrm>
            <a:off x="1554480" y="2011680"/>
            <a:ext cx="4251960" cy="594360"/>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UAC</a:t>
            </a:r>
            <a:endParaRPr lang="en-US" sz="2000" dirty="0"/>
          </a:p>
        </p:txBody>
      </p:sp>
      <p:sp>
        <p:nvSpPr>
          <p:cNvPr id="8" name="Text 5"/>
          <p:cNvSpPr txBox="1"/>
          <p:nvPr/>
        </p:nvSpPr>
        <p:spPr>
          <a:xfrm>
            <a:off x="777240" y="2679192"/>
            <a:ext cx="4983480" cy="59436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Ma'mur ikki tokenga ega: O'rta — kundalik, Yuqori — faqat tasdiq bilan</a:t>
            </a:r>
            <a:endParaRPr lang="en-US" sz="1600" dirty="0"/>
          </a:p>
        </p:txBody>
      </p:sp>
      <p:sp>
        <p:nvSpPr>
          <p:cNvPr id="9" name="Text 6"/>
          <p:cNvSpPr txBox="1"/>
          <p:nvPr/>
        </p:nvSpPr>
        <p:spPr>
          <a:xfrm>
            <a:off x="777240" y="3264408"/>
            <a:ext cx="4983480" cy="320040"/>
          </a:xfrm>
          <a:prstGeom prst="rect">
            <a:avLst/>
          </a:prstGeom>
          <a:noFill/>
          <a:ln/>
        </p:spPr>
        <p:txBody>
          <a:bodyPr wrap="square" lIns="0" tIns="0" rIns="0" bIns="0" rtlCol="0" anchor="t"/>
          <a:lstStyle/>
          <a:p>
            <a:pPr algn="l" indent="0" marL="0">
              <a:lnSpc>
                <a:spcPct val="100000"/>
              </a:lnSpc>
              <a:buNone/>
            </a:pPr>
            <a:r>
              <a:rPr lang="en-US" sz="1400" b="1" dirty="0">
                <a:solidFill>
                  <a:srgbClr val="9A5B00"/>
                </a:solidFill>
                <a:latin typeface="Times New Roman" pitchFamily="34" charset="0"/>
                <a:ea typeface="Times New Roman" pitchFamily="34" charset="-122"/>
                <a:cs typeface="Times New Roman" pitchFamily="34" charset="-120"/>
              </a:rPr>
              <a:t>Biba · eng kam imtiyoz</a:t>
            </a:r>
            <a:endParaRPr lang="en-US" sz="1400" dirty="0"/>
          </a:p>
        </p:txBody>
      </p:sp>
      <p:sp>
        <p:nvSpPr>
          <p:cNvPr id="10" name="Shape 7"/>
          <p:cNvSpPr/>
          <p:nvPr/>
        </p:nvSpPr>
        <p:spPr>
          <a:xfrm>
            <a:off x="6172200" y="1783080"/>
            <a:ext cx="5440680" cy="1874520"/>
          </a:xfrm>
          <a:prstGeom prst="roundRect">
            <a:avLst>
              <a:gd name="adj" fmla="val 4390"/>
            </a:avLst>
          </a:prstGeom>
          <a:solidFill>
            <a:srgbClr val="EEF2FB"/>
          </a:solidFill>
          <a:ln/>
        </p:spPr>
      </p:sp>
      <p:sp>
        <p:nvSpPr>
          <p:cNvPr id="11" name="Shape 8"/>
          <p:cNvSpPr/>
          <p:nvPr/>
        </p:nvSpPr>
        <p:spPr>
          <a:xfrm>
            <a:off x="6400800" y="2011680"/>
            <a:ext cx="594360" cy="594360"/>
          </a:xfrm>
          <a:prstGeom prst="ellipse">
            <a:avLst/>
          </a:prstGeom>
          <a:solidFill>
            <a:srgbClr val="1E2761"/>
          </a:solidFill>
          <a:ln/>
        </p:spPr>
      </p:sp>
      <p:pic>
        <p:nvPicPr>
          <p:cNvPr id="12" name="Image 1" descr="/home/claude/fob-slides/icons_out/layers_white.png"/>
          <p:cNvPicPr>
            <a:picLocks noChangeAspect="1"/>
          </p:cNvPicPr>
          <p:nvPr/>
        </p:nvPicPr>
        <p:blipFill>
          <a:blip r:embed="rId2"/>
          <a:stretch>
            <a:fillRect/>
          </a:stretch>
        </p:blipFill>
        <p:spPr>
          <a:xfrm>
            <a:off x="6534531" y="2145411"/>
            <a:ext cx="326898" cy="326898"/>
          </a:xfrm>
          <a:prstGeom prst="rect">
            <a:avLst/>
          </a:prstGeom>
        </p:spPr>
      </p:pic>
      <p:sp>
        <p:nvSpPr>
          <p:cNvPr id="13" name="Text 9"/>
          <p:cNvSpPr txBox="1"/>
          <p:nvPr/>
        </p:nvSpPr>
        <p:spPr>
          <a:xfrm>
            <a:off x="7178040" y="2011680"/>
            <a:ext cx="4251960" cy="594360"/>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AppContainer</a:t>
            </a:r>
            <a:endParaRPr lang="en-US" sz="2000" dirty="0"/>
          </a:p>
        </p:txBody>
      </p:sp>
      <p:sp>
        <p:nvSpPr>
          <p:cNvPr id="14" name="Text 10"/>
          <p:cNvSpPr txBox="1"/>
          <p:nvPr/>
        </p:nvSpPr>
        <p:spPr>
          <a:xfrm>
            <a:off x="6400800" y="2679192"/>
            <a:ext cx="4983480" cy="59436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Ilova faqat e'lon qilingan imkoniyatlarga (internet, kamera, hujjatlar) kira oladi</a:t>
            </a:r>
            <a:endParaRPr lang="en-US" sz="1600" dirty="0"/>
          </a:p>
        </p:txBody>
      </p:sp>
      <p:sp>
        <p:nvSpPr>
          <p:cNvPr id="15" name="Text 11"/>
          <p:cNvSpPr txBox="1"/>
          <p:nvPr/>
        </p:nvSpPr>
        <p:spPr>
          <a:xfrm>
            <a:off x="6400800" y="3264408"/>
            <a:ext cx="4983480" cy="320040"/>
          </a:xfrm>
          <a:prstGeom prst="rect">
            <a:avLst/>
          </a:prstGeom>
          <a:noFill/>
          <a:ln/>
        </p:spPr>
        <p:txBody>
          <a:bodyPr wrap="square" lIns="0" tIns="0" rIns="0" bIns="0" rtlCol="0" anchor="t"/>
          <a:lstStyle/>
          <a:p>
            <a:pPr algn="l" indent="0" marL="0">
              <a:lnSpc>
                <a:spcPct val="100000"/>
              </a:lnSpc>
              <a:buNone/>
            </a:pPr>
            <a:r>
              <a:rPr lang="en-US" sz="1400" b="1" dirty="0">
                <a:solidFill>
                  <a:srgbClr val="9A5B00"/>
                </a:solidFill>
                <a:latin typeface="Times New Roman" pitchFamily="34" charset="0"/>
                <a:ea typeface="Times New Roman" pitchFamily="34" charset="-122"/>
                <a:cs typeface="Times New Roman" pitchFamily="34" charset="-120"/>
              </a:rPr>
              <a:t>imkoniyatlar ro'yxati (M10)</a:t>
            </a:r>
            <a:endParaRPr lang="en-US" sz="1400" dirty="0"/>
          </a:p>
        </p:txBody>
      </p:sp>
      <p:sp>
        <p:nvSpPr>
          <p:cNvPr id="16" name="Shape 12"/>
          <p:cNvSpPr/>
          <p:nvPr/>
        </p:nvSpPr>
        <p:spPr>
          <a:xfrm>
            <a:off x="548640" y="3840480"/>
            <a:ext cx="5440680" cy="1874520"/>
          </a:xfrm>
          <a:prstGeom prst="roundRect">
            <a:avLst>
              <a:gd name="adj" fmla="val 4390"/>
            </a:avLst>
          </a:prstGeom>
          <a:solidFill>
            <a:srgbClr val="EEF2FB"/>
          </a:solidFill>
          <a:ln/>
        </p:spPr>
      </p:sp>
      <p:sp>
        <p:nvSpPr>
          <p:cNvPr id="17" name="Shape 13"/>
          <p:cNvSpPr/>
          <p:nvPr/>
        </p:nvSpPr>
        <p:spPr>
          <a:xfrm>
            <a:off x="777240" y="4069080"/>
            <a:ext cx="594360" cy="594360"/>
          </a:xfrm>
          <a:prstGeom prst="ellipse">
            <a:avLst/>
          </a:prstGeom>
          <a:solidFill>
            <a:srgbClr val="1E2761"/>
          </a:solidFill>
          <a:ln/>
        </p:spPr>
      </p:sp>
      <p:pic>
        <p:nvPicPr>
          <p:cNvPr id="18" name="Image 2" descr="/home/claude/fob-slides/icons_out/shield_white.png"/>
          <p:cNvPicPr>
            <a:picLocks noChangeAspect="1"/>
          </p:cNvPicPr>
          <p:nvPr/>
        </p:nvPicPr>
        <p:blipFill>
          <a:blip r:embed="rId3"/>
          <a:stretch>
            <a:fillRect/>
          </a:stretch>
        </p:blipFill>
        <p:spPr>
          <a:xfrm>
            <a:off x="910971" y="4202811"/>
            <a:ext cx="326898" cy="326898"/>
          </a:xfrm>
          <a:prstGeom prst="rect">
            <a:avLst/>
          </a:prstGeom>
        </p:spPr>
      </p:pic>
      <p:sp>
        <p:nvSpPr>
          <p:cNvPr id="19" name="Text 14"/>
          <p:cNvSpPr txBox="1"/>
          <p:nvPr/>
        </p:nvSpPr>
        <p:spPr>
          <a:xfrm>
            <a:off x="1554480" y="4069080"/>
            <a:ext cx="4251960" cy="594360"/>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Himoyalangan jarayon (PPL)</a:t>
            </a:r>
            <a:endParaRPr lang="en-US" sz="2000" dirty="0"/>
          </a:p>
        </p:txBody>
      </p:sp>
      <p:sp>
        <p:nvSpPr>
          <p:cNvPr id="20" name="Text 15"/>
          <p:cNvSpPr txBox="1"/>
          <p:nvPr/>
        </p:nvSpPr>
        <p:spPr>
          <a:xfrm>
            <a:off x="777240" y="4736592"/>
            <a:ext cx="4983480" cy="59436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LSA himoyasi yoqilsa, hatto ma'mur ham LSASS xotirasini o'qiy olmaydi</a:t>
            </a:r>
            <a:endParaRPr lang="en-US" sz="1600" dirty="0"/>
          </a:p>
        </p:txBody>
      </p:sp>
      <p:sp>
        <p:nvSpPr>
          <p:cNvPr id="21" name="Text 16"/>
          <p:cNvSpPr txBox="1"/>
          <p:nvPr/>
        </p:nvSpPr>
        <p:spPr>
          <a:xfrm>
            <a:off x="777240" y="5321808"/>
            <a:ext cx="4983480" cy="320040"/>
          </a:xfrm>
          <a:prstGeom prst="rect">
            <a:avLst/>
          </a:prstGeom>
          <a:noFill/>
          <a:ln/>
        </p:spPr>
        <p:txBody>
          <a:bodyPr wrap="square" lIns="0" tIns="0" rIns="0" bIns="0" rtlCol="0" anchor="t"/>
          <a:lstStyle/>
          <a:p>
            <a:pPr algn="l" indent="0" marL="0">
              <a:lnSpc>
                <a:spcPct val="100000"/>
              </a:lnSpc>
              <a:buNone/>
            </a:pPr>
            <a:r>
              <a:rPr lang="en-US" sz="1400" b="1" dirty="0">
                <a:solidFill>
                  <a:srgbClr val="9A5B00"/>
                </a:solidFill>
                <a:latin typeface="Times New Roman" pitchFamily="34" charset="0"/>
                <a:ea typeface="Times New Roman" pitchFamily="34" charset="-122"/>
                <a:cs typeface="Times New Roman" pitchFamily="34" charset="-120"/>
              </a:rPr>
              <a:t>M6: parol xeshlari himoyasi</a:t>
            </a:r>
            <a:endParaRPr lang="en-US" sz="1400" dirty="0"/>
          </a:p>
        </p:txBody>
      </p:sp>
      <p:sp>
        <p:nvSpPr>
          <p:cNvPr id="22" name="Shape 17"/>
          <p:cNvSpPr/>
          <p:nvPr/>
        </p:nvSpPr>
        <p:spPr>
          <a:xfrm>
            <a:off x="6172200" y="3840480"/>
            <a:ext cx="5440680" cy="1874520"/>
          </a:xfrm>
          <a:prstGeom prst="roundRect">
            <a:avLst>
              <a:gd name="adj" fmla="val 4390"/>
            </a:avLst>
          </a:prstGeom>
          <a:solidFill>
            <a:srgbClr val="EEF2FB"/>
          </a:solidFill>
          <a:ln/>
        </p:spPr>
      </p:sp>
      <p:sp>
        <p:nvSpPr>
          <p:cNvPr id="23" name="Shape 18"/>
          <p:cNvSpPr/>
          <p:nvPr/>
        </p:nvSpPr>
        <p:spPr>
          <a:xfrm>
            <a:off x="6400800" y="4069080"/>
            <a:ext cx="594360" cy="594360"/>
          </a:xfrm>
          <a:prstGeom prst="ellipse">
            <a:avLst/>
          </a:prstGeom>
          <a:solidFill>
            <a:srgbClr val="1E2761"/>
          </a:solidFill>
          <a:ln/>
        </p:spPr>
      </p:sp>
      <p:pic>
        <p:nvPicPr>
          <p:cNvPr id="24" name="Image 3" descr="/home/claude/fob-slides/icons_out/file_white.png"/>
          <p:cNvPicPr>
            <a:picLocks noChangeAspect="1"/>
          </p:cNvPicPr>
          <p:nvPr/>
        </p:nvPicPr>
        <p:blipFill>
          <a:blip r:embed="rId4"/>
          <a:stretch>
            <a:fillRect/>
          </a:stretch>
        </p:blipFill>
        <p:spPr>
          <a:xfrm>
            <a:off x="6534531" y="4202811"/>
            <a:ext cx="326898" cy="326898"/>
          </a:xfrm>
          <a:prstGeom prst="rect">
            <a:avLst/>
          </a:prstGeom>
        </p:spPr>
      </p:pic>
      <p:sp>
        <p:nvSpPr>
          <p:cNvPr id="25" name="Text 19"/>
          <p:cNvSpPr txBox="1"/>
          <p:nvPr/>
        </p:nvSpPr>
        <p:spPr>
          <a:xfrm>
            <a:off x="7178040" y="4069080"/>
            <a:ext cx="4251960" cy="594360"/>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Sezgirlik yorliqlari</a:t>
            </a:r>
            <a:endParaRPr lang="en-US" sz="2000" dirty="0"/>
          </a:p>
        </p:txBody>
      </p:sp>
      <p:sp>
        <p:nvSpPr>
          <p:cNvPr id="26" name="Text 20"/>
          <p:cNvSpPr txBox="1"/>
          <p:nvPr/>
        </p:nvSpPr>
        <p:spPr>
          <a:xfrm>
            <a:off x="6400800" y="4736592"/>
            <a:ext cx="4983480" cy="59436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Microsoft Purview: «Maxfiy» yorlig'i hujjatni shifrlaydi va kimga ochilishini belgilaydi</a:t>
            </a:r>
            <a:endParaRPr lang="en-US" sz="1600" dirty="0"/>
          </a:p>
        </p:txBody>
      </p:sp>
      <p:sp>
        <p:nvSpPr>
          <p:cNvPr id="27" name="Text 21"/>
          <p:cNvSpPr txBox="1"/>
          <p:nvPr/>
        </p:nvSpPr>
        <p:spPr>
          <a:xfrm>
            <a:off x="6400800" y="5321808"/>
            <a:ext cx="4983480" cy="320040"/>
          </a:xfrm>
          <a:prstGeom prst="rect">
            <a:avLst/>
          </a:prstGeom>
          <a:noFill/>
          <a:ln/>
        </p:spPr>
        <p:txBody>
          <a:bodyPr wrap="square" lIns="0" tIns="0" rIns="0" bIns="0" rtlCol="0" anchor="t"/>
          <a:lstStyle/>
          <a:p>
            <a:pPr algn="l" indent="0" marL="0">
              <a:lnSpc>
                <a:spcPct val="100000"/>
              </a:lnSpc>
              <a:buNone/>
            </a:pPr>
            <a:r>
              <a:rPr lang="en-US" sz="1400" b="1" dirty="0">
                <a:solidFill>
                  <a:srgbClr val="9A5B00"/>
                </a:solidFill>
                <a:latin typeface="Times New Roman" pitchFamily="34" charset="0"/>
                <a:ea typeface="Times New Roman" pitchFamily="34" charset="-122"/>
                <a:cs typeface="Times New Roman" pitchFamily="34" charset="-120"/>
              </a:rPr>
              <a:t>BLP ga yaqin yorliqlar</a:t>
            </a:r>
            <a:endParaRPr lang="en-US" sz="1400" dirty="0"/>
          </a:p>
        </p:txBody>
      </p:sp>
      <p:sp>
        <p:nvSpPr>
          <p:cNvPr id="28" name="Shape 22"/>
          <p:cNvSpPr/>
          <p:nvPr/>
        </p:nvSpPr>
        <p:spPr>
          <a:xfrm>
            <a:off x="548640" y="5943600"/>
            <a:ext cx="11064240" cy="365760"/>
          </a:xfrm>
          <a:prstGeom prst="roundRect">
            <a:avLst>
              <a:gd name="adj" fmla="val 22500"/>
            </a:avLst>
          </a:prstGeom>
          <a:solidFill>
            <a:srgbClr val="FFFFFF"/>
          </a:solidFill>
          <a:ln/>
        </p:spPr>
      </p:sp>
      <p:sp>
        <p:nvSpPr>
          <p:cNvPr id="29" name="Text 23"/>
          <p:cNvSpPr txBox="1"/>
          <p:nvPr/>
        </p:nvSpPr>
        <p:spPr>
          <a:xfrm>
            <a:off x="548640" y="5943600"/>
            <a:ext cx="11064240" cy="365760"/>
          </a:xfrm>
          <a:prstGeom prst="rect">
            <a:avLst/>
          </a:prstGeom>
          <a:noFill/>
          <a:ln/>
        </p:spPr>
        <p:txBody>
          <a:bodyPr wrap="square" lIns="0" tIns="0" rIns="0" bIns="0" rtlCol="0" anchor="t"/>
          <a:lstStyle/>
          <a:p>
            <a:pPr algn="ctr" indent="0" marL="0">
              <a:lnSpc>
                <a:spcPct val="100000"/>
              </a:lnSpc>
              <a:buNone/>
            </a:pPr>
            <a:r>
              <a:rPr lang="en-US" sz="1500" dirty="0">
                <a:solidFill>
                  <a:srgbClr val="1E2761"/>
                </a:solidFill>
                <a:latin typeface="Times New Roman" pitchFamily="34" charset="0"/>
                <a:ea typeface="Times New Roman" pitchFamily="34" charset="-122"/>
                <a:cs typeface="Times New Roman" pitchFamily="34" charset="-120"/>
              </a:rPr>
              <a:t>Ularning hech biri to'liq BLP emas — Windows asosan DAC tizimi bo'lib qoladi; MAC elementlari aniq tahdidlarga qarshi qo'shilgan.</a:t>
            </a:r>
            <a:endParaRPr lang="en-US" sz="1500" dirty="0"/>
          </a:p>
        </p:txBody>
      </p:sp>
      <p:sp>
        <p:nvSpPr>
          <p:cNvPr id="30" name="Text 24"/>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11-ma'ruza</a:t>
            </a:r>
            <a:endParaRPr lang="en-US" sz="1100" dirty="0"/>
          </a:p>
        </p:txBody>
      </p:sp>
      <p:sp>
        <p:nvSpPr>
          <p:cNvPr id="31" name="Text 25"/>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MINI-VAZIFA · 5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Windows MIC: ruxsat bormi?</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pencil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11064240" cy="841248"/>
          </a:xfrm>
          <a:prstGeom prst="roundRect">
            <a:avLst>
              <a:gd name="adj" fmla="val 9783"/>
            </a:avLst>
          </a:prstGeom>
          <a:solidFill>
            <a:srgbClr val="FFFFFF"/>
          </a:solidFill>
          <a:ln/>
        </p:spPr>
      </p:sp>
      <p:sp>
        <p:nvSpPr>
          <p:cNvPr id="7" name="Shape 4"/>
          <p:cNvSpPr/>
          <p:nvPr/>
        </p:nvSpPr>
        <p:spPr>
          <a:xfrm>
            <a:off x="548640" y="1783080"/>
            <a:ext cx="685800" cy="841248"/>
          </a:xfrm>
          <a:prstGeom prst="roundRect">
            <a:avLst>
              <a:gd name="adj" fmla="val 12000"/>
            </a:avLst>
          </a:prstGeom>
          <a:solidFill>
            <a:srgbClr val="D9932B"/>
          </a:solidFill>
          <a:ln/>
        </p:spPr>
      </p:sp>
      <p:sp>
        <p:nvSpPr>
          <p:cNvPr id="8" name="Text 5"/>
          <p:cNvSpPr txBox="1"/>
          <p:nvPr/>
        </p:nvSpPr>
        <p:spPr>
          <a:xfrm>
            <a:off x="548640" y="1783080"/>
            <a:ext cx="685800" cy="841248"/>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a</a:t>
            </a:r>
            <a:endParaRPr lang="en-US" sz="1800" dirty="0"/>
          </a:p>
        </p:txBody>
      </p:sp>
      <p:sp>
        <p:nvSpPr>
          <p:cNvPr id="9" name="Text 6"/>
          <p:cNvSpPr txBox="1"/>
          <p:nvPr/>
        </p:nvSpPr>
        <p:spPr>
          <a:xfrm>
            <a:off x="1417320" y="1783080"/>
            <a:ext cx="8412480" cy="841248"/>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Brauzer jarayoni (Low) Hujjatlar papkasiga (Medium) fayl yozmoqchi</a:t>
            </a:r>
            <a:endParaRPr lang="en-US" sz="1700" dirty="0"/>
          </a:p>
        </p:txBody>
      </p:sp>
      <p:sp>
        <p:nvSpPr>
          <p:cNvPr id="10" name="Shape 7"/>
          <p:cNvSpPr/>
          <p:nvPr/>
        </p:nvSpPr>
        <p:spPr>
          <a:xfrm>
            <a:off x="10012680" y="1956816"/>
            <a:ext cx="1417320" cy="493776"/>
          </a:xfrm>
          <a:prstGeom prst="roundRect">
            <a:avLst>
              <a:gd name="adj" fmla="val 16667"/>
            </a:avLst>
          </a:prstGeom>
          <a:solidFill>
            <a:srgbClr val="FDF3E2"/>
          </a:solidFill>
          <a:ln w="12700">
            <a:solidFill>
              <a:srgbClr val="D9932B"/>
            </a:solidFill>
            <a:prstDash val="solid"/>
          </a:ln>
        </p:spPr>
      </p:sp>
      <p:sp>
        <p:nvSpPr>
          <p:cNvPr id="11" name="Text 8"/>
          <p:cNvSpPr txBox="1"/>
          <p:nvPr/>
        </p:nvSpPr>
        <p:spPr>
          <a:xfrm>
            <a:off x="10012680" y="1956816"/>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Ha / Yo'q</a:t>
            </a:r>
            <a:endParaRPr lang="en-US" sz="1600" dirty="0"/>
          </a:p>
        </p:txBody>
      </p:sp>
      <p:sp>
        <p:nvSpPr>
          <p:cNvPr id="12" name="Shape 9"/>
          <p:cNvSpPr/>
          <p:nvPr/>
        </p:nvSpPr>
        <p:spPr>
          <a:xfrm>
            <a:off x="548640" y="2743200"/>
            <a:ext cx="11064240" cy="841248"/>
          </a:xfrm>
          <a:prstGeom prst="roundRect">
            <a:avLst>
              <a:gd name="adj" fmla="val 9783"/>
            </a:avLst>
          </a:prstGeom>
          <a:solidFill>
            <a:srgbClr val="FFFFFF"/>
          </a:solidFill>
          <a:ln/>
        </p:spPr>
      </p:sp>
      <p:sp>
        <p:nvSpPr>
          <p:cNvPr id="13" name="Shape 10"/>
          <p:cNvSpPr/>
          <p:nvPr/>
        </p:nvSpPr>
        <p:spPr>
          <a:xfrm>
            <a:off x="548640" y="2743200"/>
            <a:ext cx="685800" cy="841248"/>
          </a:xfrm>
          <a:prstGeom prst="roundRect">
            <a:avLst>
              <a:gd name="adj" fmla="val 12000"/>
            </a:avLst>
          </a:prstGeom>
          <a:solidFill>
            <a:srgbClr val="D9932B"/>
          </a:solidFill>
          <a:ln/>
        </p:spPr>
      </p:sp>
      <p:sp>
        <p:nvSpPr>
          <p:cNvPr id="14" name="Text 11"/>
          <p:cNvSpPr txBox="1"/>
          <p:nvPr/>
        </p:nvSpPr>
        <p:spPr>
          <a:xfrm>
            <a:off x="548640" y="2743200"/>
            <a:ext cx="685800" cy="841248"/>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b</a:t>
            </a:r>
            <a:endParaRPr lang="en-US" sz="1800" dirty="0"/>
          </a:p>
        </p:txBody>
      </p:sp>
      <p:sp>
        <p:nvSpPr>
          <p:cNvPr id="15" name="Text 12"/>
          <p:cNvSpPr txBox="1"/>
          <p:nvPr/>
        </p:nvSpPr>
        <p:spPr>
          <a:xfrm>
            <a:off x="1417320" y="2743200"/>
            <a:ext cx="8412480" cy="841248"/>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Brauzer jarayoni (Low) Hujjatlar papkasidagi faylni o'qimoqchi</a:t>
            </a:r>
            <a:endParaRPr lang="en-US" sz="1700" dirty="0"/>
          </a:p>
        </p:txBody>
      </p:sp>
      <p:sp>
        <p:nvSpPr>
          <p:cNvPr id="16" name="Shape 13"/>
          <p:cNvSpPr/>
          <p:nvPr/>
        </p:nvSpPr>
        <p:spPr>
          <a:xfrm>
            <a:off x="10012680" y="2916936"/>
            <a:ext cx="1417320" cy="493776"/>
          </a:xfrm>
          <a:prstGeom prst="roundRect">
            <a:avLst>
              <a:gd name="adj" fmla="val 16667"/>
            </a:avLst>
          </a:prstGeom>
          <a:solidFill>
            <a:srgbClr val="FDF3E2"/>
          </a:solidFill>
          <a:ln w="12700">
            <a:solidFill>
              <a:srgbClr val="D9932B"/>
            </a:solidFill>
            <a:prstDash val="solid"/>
          </a:ln>
        </p:spPr>
      </p:sp>
      <p:sp>
        <p:nvSpPr>
          <p:cNvPr id="17" name="Text 14"/>
          <p:cNvSpPr txBox="1"/>
          <p:nvPr/>
        </p:nvSpPr>
        <p:spPr>
          <a:xfrm>
            <a:off x="10012680" y="2916936"/>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Ha / Yo'q</a:t>
            </a:r>
            <a:endParaRPr lang="en-US" sz="1600" dirty="0"/>
          </a:p>
        </p:txBody>
      </p:sp>
      <p:sp>
        <p:nvSpPr>
          <p:cNvPr id="18" name="Shape 15"/>
          <p:cNvSpPr/>
          <p:nvPr/>
        </p:nvSpPr>
        <p:spPr>
          <a:xfrm>
            <a:off x="548640" y="3703320"/>
            <a:ext cx="11064240" cy="841248"/>
          </a:xfrm>
          <a:prstGeom prst="roundRect">
            <a:avLst>
              <a:gd name="adj" fmla="val 9783"/>
            </a:avLst>
          </a:prstGeom>
          <a:solidFill>
            <a:srgbClr val="FFFFFF"/>
          </a:solidFill>
          <a:ln/>
        </p:spPr>
      </p:sp>
      <p:sp>
        <p:nvSpPr>
          <p:cNvPr id="19" name="Shape 16"/>
          <p:cNvSpPr/>
          <p:nvPr/>
        </p:nvSpPr>
        <p:spPr>
          <a:xfrm>
            <a:off x="548640" y="3703320"/>
            <a:ext cx="685800" cy="841248"/>
          </a:xfrm>
          <a:prstGeom prst="roundRect">
            <a:avLst>
              <a:gd name="adj" fmla="val 12000"/>
            </a:avLst>
          </a:prstGeom>
          <a:solidFill>
            <a:srgbClr val="D9932B"/>
          </a:solidFill>
          <a:ln/>
        </p:spPr>
      </p:sp>
      <p:sp>
        <p:nvSpPr>
          <p:cNvPr id="20" name="Text 17"/>
          <p:cNvSpPr txBox="1"/>
          <p:nvPr/>
        </p:nvSpPr>
        <p:spPr>
          <a:xfrm>
            <a:off x="548640" y="3703320"/>
            <a:ext cx="685800" cy="841248"/>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c</a:t>
            </a:r>
            <a:endParaRPr lang="en-US" sz="1800" dirty="0"/>
          </a:p>
        </p:txBody>
      </p:sp>
      <p:sp>
        <p:nvSpPr>
          <p:cNvPr id="21" name="Text 18"/>
          <p:cNvSpPr txBox="1"/>
          <p:nvPr/>
        </p:nvSpPr>
        <p:spPr>
          <a:xfrm>
            <a:off x="1417320" y="3703320"/>
            <a:ext cx="8412480" cy="841248"/>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«Administrator sifatida» ochilgan PowerShell (High) oddiy faylga (Medium) yozadi</a:t>
            </a:r>
            <a:endParaRPr lang="en-US" sz="1700" dirty="0"/>
          </a:p>
        </p:txBody>
      </p:sp>
      <p:sp>
        <p:nvSpPr>
          <p:cNvPr id="22" name="Shape 19"/>
          <p:cNvSpPr/>
          <p:nvPr/>
        </p:nvSpPr>
        <p:spPr>
          <a:xfrm>
            <a:off x="10012680" y="3877056"/>
            <a:ext cx="1417320" cy="493776"/>
          </a:xfrm>
          <a:prstGeom prst="roundRect">
            <a:avLst>
              <a:gd name="adj" fmla="val 16667"/>
            </a:avLst>
          </a:prstGeom>
          <a:solidFill>
            <a:srgbClr val="FDF3E2"/>
          </a:solidFill>
          <a:ln w="12700">
            <a:solidFill>
              <a:srgbClr val="D9932B"/>
            </a:solidFill>
            <a:prstDash val="solid"/>
          </a:ln>
        </p:spPr>
      </p:sp>
      <p:sp>
        <p:nvSpPr>
          <p:cNvPr id="23" name="Text 20"/>
          <p:cNvSpPr txBox="1"/>
          <p:nvPr/>
        </p:nvSpPr>
        <p:spPr>
          <a:xfrm>
            <a:off x="10012680" y="3877056"/>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Ha / Yo'q</a:t>
            </a:r>
            <a:endParaRPr lang="en-US" sz="1600" dirty="0"/>
          </a:p>
        </p:txBody>
      </p:sp>
      <p:sp>
        <p:nvSpPr>
          <p:cNvPr id="24" name="Shape 21"/>
          <p:cNvSpPr/>
          <p:nvPr/>
        </p:nvSpPr>
        <p:spPr>
          <a:xfrm>
            <a:off x="548640" y="4663440"/>
            <a:ext cx="11064240" cy="841248"/>
          </a:xfrm>
          <a:prstGeom prst="roundRect">
            <a:avLst>
              <a:gd name="adj" fmla="val 9783"/>
            </a:avLst>
          </a:prstGeom>
          <a:solidFill>
            <a:srgbClr val="FFFFFF"/>
          </a:solidFill>
          <a:ln/>
        </p:spPr>
      </p:sp>
      <p:sp>
        <p:nvSpPr>
          <p:cNvPr id="25" name="Shape 22"/>
          <p:cNvSpPr/>
          <p:nvPr/>
        </p:nvSpPr>
        <p:spPr>
          <a:xfrm>
            <a:off x="548640" y="4663440"/>
            <a:ext cx="685800" cy="841248"/>
          </a:xfrm>
          <a:prstGeom prst="roundRect">
            <a:avLst>
              <a:gd name="adj" fmla="val 12000"/>
            </a:avLst>
          </a:prstGeom>
          <a:solidFill>
            <a:srgbClr val="D9932B"/>
          </a:solidFill>
          <a:ln/>
        </p:spPr>
      </p:sp>
      <p:sp>
        <p:nvSpPr>
          <p:cNvPr id="26" name="Text 23"/>
          <p:cNvSpPr txBox="1"/>
          <p:nvPr/>
        </p:nvSpPr>
        <p:spPr>
          <a:xfrm>
            <a:off x="548640" y="4663440"/>
            <a:ext cx="685800" cy="841248"/>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d</a:t>
            </a:r>
            <a:endParaRPr lang="en-US" sz="1800" dirty="0"/>
          </a:p>
        </p:txBody>
      </p:sp>
      <p:sp>
        <p:nvSpPr>
          <p:cNvPr id="27" name="Text 24"/>
          <p:cNvSpPr txBox="1"/>
          <p:nvPr/>
        </p:nvSpPr>
        <p:spPr>
          <a:xfrm>
            <a:off x="1417320" y="4663440"/>
            <a:ext cx="8412480" cy="841248"/>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Troyan O'rta darajada ishga tushdi. MIC foydalanuvchining baholar.xlsx faylini himoyalaydimi?</a:t>
            </a:r>
            <a:endParaRPr lang="en-US" sz="1700" dirty="0"/>
          </a:p>
        </p:txBody>
      </p:sp>
      <p:sp>
        <p:nvSpPr>
          <p:cNvPr id="28" name="Shape 25"/>
          <p:cNvSpPr/>
          <p:nvPr/>
        </p:nvSpPr>
        <p:spPr>
          <a:xfrm>
            <a:off x="10012680" y="4837176"/>
            <a:ext cx="1417320" cy="493776"/>
          </a:xfrm>
          <a:prstGeom prst="roundRect">
            <a:avLst>
              <a:gd name="adj" fmla="val 16667"/>
            </a:avLst>
          </a:prstGeom>
          <a:solidFill>
            <a:srgbClr val="FDF3E2"/>
          </a:solidFill>
          <a:ln w="12700">
            <a:solidFill>
              <a:srgbClr val="D9932B"/>
            </a:solidFill>
            <a:prstDash val="solid"/>
          </a:ln>
        </p:spPr>
      </p:sp>
      <p:sp>
        <p:nvSpPr>
          <p:cNvPr id="29" name="Text 26"/>
          <p:cNvSpPr txBox="1"/>
          <p:nvPr/>
        </p:nvSpPr>
        <p:spPr>
          <a:xfrm>
            <a:off x="10012680" y="4837176"/>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Ha / Yo'q</a:t>
            </a:r>
            <a:endParaRPr lang="en-US" sz="1600" dirty="0"/>
          </a:p>
        </p:txBody>
      </p:sp>
      <p:sp>
        <p:nvSpPr>
          <p:cNvPr id="30" name="Text 27"/>
          <p:cNvSpPr txBox="1"/>
          <p:nvPr/>
        </p:nvSpPr>
        <p:spPr>
          <a:xfrm>
            <a:off x="548640" y="5760720"/>
            <a:ext cx="11064240" cy="365760"/>
          </a:xfrm>
          <a:prstGeom prst="rect">
            <a:avLst/>
          </a:prstGeom>
          <a:noFill/>
          <a:ln/>
        </p:spPr>
        <p:txBody>
          <a:bodyPr wrap="square" lIns="0" tIns="0" rIns="0" bIns="0" rtlCol="0" anchor="t"/>
          <a:lstStyle/>
          <a:p>
            <a:pPr algn="l" indent="0" marL="0">
              <a:lnSpc>
                <a:spcPct val="100000"/>
              </a:lnSpc>
              <a:buNone/>
            </a:pPr>
            <a:r>
              <a:rPr lang="en-US" sz="1500" dirty="0">
                <a:solidFill>
                  <a:srgbClr val="9A5B00"/>
                </a:solidFill>
                <a:latin typeface="Times New Roman" pitchFamily="34" charset="0"/>
                <a:ea typeface="Times New Roman" pitchFamily="34" charset="-122"/>
                <a:cs typeface="Times New Roman" pitchFamily="34" charset="-120"/>
              </a:rPr>
              <a:t>Har bir javobni Biba qoidasi bilan solishtiring: mos keladimi?</a:t>
            </a:r>
            <a:endParaRPr lang="en-US" sz="1500" dirty="0"/>
          </a:p>
        </p:txBody>
      </p:sp>
      <p:sp>
        <p:nvSpPr>
          <p:cNvPr id="31" name="Text 28"/>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11-ma'ruza</a:t>
            </a:r>
            <a:endParaRPr lang="en-US" sz="1100" dirty="0"/>
          </a:p>
        </p:txBody>
      </p:sp>
      <p:sp>
        <p:nvSpPr>
          <p:cNvPr id="32" name="Text 29"/>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371600"/>
            <a:ext cx="4114800" cy="4114800"/>
          </a:xfrm>
          <a:prstGeom prst="ellipse">
            <a:avLst/>
          </a:prstGeom>
          <a:solidFill>
            <a:srgbClr val="2A3778"/>
          </a:solidFill>
          <a:ln/>
        </p:spPr>
      </p:sp>
      <p:sp>
        <p:nvSpPr>
          <p:cNvPr id="3" name="Text 1"/>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9FB0E0"/>
                </a:solidFill>
                <a:latin typeface="Times New Roman" pitchFamily="34" charset="0"/>
                <a:ea typeface="Times New Roman" pitchFamily="34" charset="-122"/>
                <a:cs typeface="Times New Roman" pitchFamily="34" charset="-120"/>
              </a:rPr>
              <a:t>XULOSA</a:t>
            </a:r>
            <a:endParaRPr lang="en-US" sz="1600" dirty="0"/>
          </a:p>
        </p:txBody>
      </p:sp>
      <p:sp>
        <p:nvSpPr>
          <p:cNvPr id="4" name="Text 2"/>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FFFFFF"/>
                </a:solidFill>
                <a:latin typeface="Times New Roman" pitchFamily="34" charset="0"/>
                <a:ea typeface="Times New Roman" pitchFamily="34" charset="-122"/>
                <a:cs typeface="Times New Roman" pitchFamily="34" charset="-120"/>
              </a:rPr>
              <a:t>Bugungi darsning besh asosiy xulosasi</a:t>
            </a:r>
            <a:endParaRPr lang="en-US" sz="3600" dirty="0"/>
          </a:p>
        </p:txBody>
      </p:sp>
      <p:sp>
        <p:nvSpPr>
          <p:cNvPr id="5" name="Shape 3"/>
          <p:cNvSpPr/>
          <p:nvPr/>
        </p:nvSpPr>
        <p:spPr>
          <a:xfrm>
            <a:off x="548640" y="1856232"/>
            <a:ext cx="548640" cy="548640"/>
          </a:xfrm>
          <a:prstGeom prst="roundRect">
            <a:avLst>
              <a:gd name="adj" fmla="val 13333"/>
            </a:avLst>
          </a:prstGeom>
          <a:solidFill>
            <a:srgbClr val="2A3778"/>
          </a:solidFill>
          <a:ln/>
        </p:spPr>
      </p:sp>
      <p:sp>
        <p:nvSpPr>
          <p:cNvPr id="6" name="Text 4"/>
          <p:cNvSpPr txBox="1"/>
          <p:nvPr/>
        </p:nvSpPr>
        <p:spPr>
          <a:xfrm>
            <a:off x="548640" y="185623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1</a:t>
            </a:r>
            <a:endParaRPr lang="en-US" sz="2000" dirty="0"/>
          </a:p>
        </p:txBody>
      </p:sp>
      <p:sp>
        <p:nvSpPr>
          <p:cNvPr id="7" name="Text 5"/>
          <p:cNvSpPr txBox="1"/>
          <p:nvPr/>
        </p:nvSpPr>
        <p:spPr>
          <a:xfrm>
            <a:off x="1325880" y="178308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MAC da qarorni egasi emas, tizim yorliqlari va siyosati qabul qiladi — troyan oti to'xtaydi.</a:t>
            </a:r>
            <a:endParaRPr lang="en-US" sz="1800" dirty="0"/>
          </a:p>
        </p:txBody>
      </p:sp>
      <p:sp>
        <p:nvSpPr>
          <p:cNvPr id="8" name="Shape 6"/>
          <p:cNvSpPr/>
          <p:nvPr/>
        </p:nvSpPr>
        <p:spPr>
          <a:xfrm>
            <a:off x="548640" y="2679192"/>
            <a:ext cx="548640" cy="548640"/>
          </a:xfrm>
          <a:prstGeom prst="roundRect">
            <a:avLst>
              <a:gd name="adj" fmla="val 13333"/>
            </a:avLst>
          </a:prstGeom>
          <a:solidFill>
            <a:srgbClr val="2A3778"/>
          </a:solidFill>
          <a:ln/>
        </p:spPr>
      </p:sp>
      <p:sp>
        <p:nvSpPr>
          <p:cNvPr id="9" name="Text 7"/>
          <p:cNvSpPr txBox="1"/>
          <p:nvPr/>
        </p:nvSpPr>
        <p:spPr>
          <a:xfrm>
            <a:off x="548640" y="267919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2</a:t>
            </a:r>
            <a:endParaRPr lang="en-US" sz="2000" dirty="0"/>
          </a:p>
        </p:txBody>
      </p:sp>
      <p:sp>
        <p:nvSpPr>
          <p:cNvPr id="10" name="Text 8"/>
          <p:cNvSpPr txBox="1"/>
          <p:nvPr/>
        </p:nvSpPr>
        <p:spPr>
          <a:xfrm>
            <a:off x="1325880" y="260604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Bell-LaPadula: yuqoriga o'qima, pastga yozma — maxfiylik uchun.</a:t>
            </a:r>
            <a:endParaRPr lang="en-US" sz="1800" dirty="0"/>
          </a:p>
        </p:txBody>
      </p:sp>
      <p:sp>
        <p:nvSpPr>
          <p:cNvPr id="11" name="Shape 9"/>
          <p:cNvSpPr/>
          <p:nvPr/>
        </p:nvSpPr>
        <p:spPr>
          <a:xfrm>
            <a:off x="548640" y="3502152"/>
            <a:ext cx="548640" cy="548640"/>
          </a:xfrm>
          <a:prstGeom prst="roundRect">
            <a:avLst>
              <a:gd name="adj" fmla="val 13333"/>
            </a:avLst>
          </a:prstGeom>
          <a:solidFill>
            <a:srgbClr val="2A3778"/>
          </a:solidFill>
          <a:ln/>
        </p:spPr>
      </p:sp>
      <p:sp>
        <p:nvSpPr>
          <p:cNvPr id="12" name="Text 10"/>
          <p:cNvSpPr txBox="1"/>
          <p:nvPr/>
        </p:nvSpPr>
        <p:spPr>
          <a:xfrm>
            <a:off x="548640" y="350215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3</a:t>
            </a:r>
            <a:endParaRPr lang="en-US" sz="2000" dirty="0"/>
          </a:p>
        </p:txBody>
      </p:sp>
      <p:sp>
        <p:nvSpPr>
          <p:cNvPr id="13" name="Text 11"/>
          <p:cNvSpPr txBox="1"/>
          <p:nvPr/>
        </p:nvSpPr>
        <p:spPr>
          <a:xfrm>
            <a:off x="1325880" y="342900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Biba: pastdan o'qima, yuqoriga yozma — yaxlitlik uchun; maxfiylik bilan qarama-qarshi.</a:t>
            </a:r>
            <a:endParaRPr lang="en-US" sz="1800" dirty="0"/>
          </a:p>
        </p:txBody>
      </p:sp>
      <p:sp>
        <p:nvSpPr>
          <p:cNvPr id="14" name="Shape 12"/>
          <p:cNvSpPr/>
          <p:nvPr/>
        </p:nvSpPr>
        <p:spPr>
          <a:xfrm>
            <a:off x="548640" y="4325112"/>
            <a:ext cx="548640" cy="548640"/>
          </a:xfrm>
          <a:prstGeom prst="roundRect">
            <a:avLst>
              <a:gd name="adj" fmla="val 13333"/>
            </a:avLst>
          </a:prstGeom>
          <a:solidFill>
            <a:srgbClr val="2A3778"/>
          </a:solidFill>
          <a:ln/>
        </p:spPr>
      </p:sp>
      <p:sp>
        <p:nvSpPr>
          <p:cNvPr id="15" name="Text 13"/>
          <p:cNvSpPr txBox="1"/>
          <p:nvPr/>
        </p:nvSpPr>
        <p:spPr>
          <a:xfrm>
            <a:off x="548640" y="432511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4</a:t>
            </a:r>
            <a:endParaRPr lang="en-US" sz="2000" dirty="0"/>
          </a:p>
        </p:txBody>
      </p:sp>
      <p:sp>
        <p:nvSpPr>
          <p:cNvPr id="16" name="Text 14"/>
          <p:cNvSpPr txBox="1"/>
          <p:nvPr/>
        </p:nvSpPr>
        <p:spPr>
          <a:xfrm>
            <a:off x="1325880" y="425196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Clark-Wilson: ma'lumot faqat sertifikatlangan tranzaksiyalar orqali, vazifalarni ajratish bilan o'zgaradi.</a:t>
            </a:r>
            <a:endParaRPr lang="en-US" sz="1800" dirty="0"/>
          </a:p>
        </p:txBody>
      </p:sp>
      <p:sp>
        <p:nvSpPr>
          <p:cNvPr id="17" name="Shape 15"/>
          <p:cNvSpPr/>
          <p:nvPr/>
        </p:nvSpPr>
        <p:spPr>
          <a:xfrm>
            <a:off x="548640" y="5148072"/>
            <a:ext cx="548640" cy="548640"/>
          </a:xfrm>
          <a:prstGeom prst="roundRect">
            <a:avLst>
              <a:gd name="adj" fmla="val 13333"/>
            </a:avLst>
          </a:prstGeom>
          <a:solidFill>
            <a:srgbClr val="2A3778"/>
          </a:solidFill>
          <a:ln/>
        </p:spPr>
      </p:sp>
      <p:sp>
        <p:nvSpPr>
          <p:cNvPr id="18" name="Text 16"/>
          <p:cNvSpPr txBox="1"/>
          <p:nvPr/>
        </p:nvSpPr>
        <p:spPr>
          <a:xfrm>
            <a:off x="548640" y="514807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5</a:t>
            </a:r>
            <a:endParaRPr lang="en-US" sz="2000" dirty="0"/>
          </a:p>
        </p:txBody>
      </p:sp>
      <p:sp>
        <p:nvSpPr>
          <p:cNvPr id="19" name="Text 17"/>
          <p:cNvSpPr txBox="1"/>
          <p:nvPr/>
        </p:nvSpPr>
        <p:spPr>
          <a:xfrm>
            <a:off x="1325880" y="507492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Windows MIC — Biba ning bitta qoidasi (NO_WRITE_UP); UAC, AppContainer, PPL uni to'ldiradi.</a:t>
            </a:r>
            <a:endParaRPr lang="en-US" sz="1800" dirty="0"/>
          </a:p>
        </p:txBody>
      </p:sp>
      <p:sp>
        <p:nvSpPr>
          <p:cNvPr id="20" name="Text 18"/>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FB0E0"/>
                </a:solidFill>
                <a:latin typeface="Times New Roman" pitchFamily="34" charset="0"/>
                <a:ea typeface="Times New Roman" pitchFamily="34" charset="-122"/>
                <a:cs typeface="Times New Roman" pitchFamily="34" charset="-120"/>
              </a:rPr>
              <a:t>Foydalanishlarni boshqarish  ·  11-ma'ruza</a:t>
            </a:r>
            <a:endParaRPr lang="en-US" sz="1100" dirty="0"/>
          </a:p>
        </p:txBody>
      </p:sp>
      <p:sp>
        <p:nvSpPr>
          <p:cNvPr id="21" name="Text 19"/>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FB0E0"/>
                </a:solidFill>
                <a:latin typeface="Times New Roman" pitchFamily="34" charset="0"/>
                <a:ea typeface="Times New Roman" pitchFamily="34" charset="-122"/>
                <a:cs typeface="Times New Roman"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TEZKOR TEST · 5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To'rt savol</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listol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5440680" cy="2103120"/>
          </a:xfrm>
          <a:prstGeom prst="roundRect">
            <a:avLst>
              <a:gd name="adj" fmla="val 3913"/>
            </a:avLst>
          </a:prstGeom>
          <a:solidFill>
            <a:srgbClr val="FFFFFF"/>
          </a:solidFill>
          <a:ln/>
        </p:spPr>
      </p:sp>
      <p:sp>
        <p:nvSpPr>
          <p:cNvPr id="7" name="Shape 4"/>
          <p:cNvSpPr/>
          <p:nvPr/>
        </p:nvSpPr>
        <p:spPr>
          <a:xfrm>
            <a:off x="548640" y="1783080"/>
            <a:ext cx="548640" cy="2103120"/>
          </a:xfrm>
          <a:prstGeom prst="roundRect">
            <a:avLst>
              <a:gd name="adj" fmla="val 15000"/>
            </a:avLst>
          </a:prstGeom>
          <a:solidFill>
            <a:srgbClr val="D9932B"/>
          </a:solidFill>
          <a:ln/>
        </p:spPr>
      </p:sp>
      <p:sp>
        <p:nvSpPr>
          <p:cNvPr id="8" name="Text 5"/>
          <p:cNvSpPr txBox="1"/>
          <p:nvPr/>
        </p:nvSpPr>
        <p:spPr>
          <a:xfrm>
            <a:off x="548640" y="1783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1</a:t>
            </a:r>
            <a:endParaRPr lang="en-US" sz="2200" dirty="0"/>
          </a:p>
        </p:txBody>
      </p:sp>
      <p:sp>
        <p:nvSpPr>
          <p:cNvPr id="9" name="Text 6"/>
          <p:cNvSpPr txBox="1"/>
          <p:nvPr/>
        </p:nvSpPr>
        <p:spPr>
          <a:xfrm>
            <a:off x="1280160" y="1892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BLP da *-xossa nimani taqiqlaydi?</a:t>
            </a:r>
            <a:endParaRPr lang="en-US" sz="1800" dirty="0"/>
          </a:p>
        </p:txBody>
      </p:sp>
      <p:sp>
        <p:nvSpPr>
          <p:cNvPr id="10" name="Text 7"/>
          <p:cNvSpPr txBox="1"/>
          <p:nvPr/>
        </p:nvSpPr>
        <p:spPr>
          <a:xfrm>
            <a:off x="1280160" y="2423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Yuqoriga o'qishni</a:t>
            </a:r>
            <a:endParaRPr lang="en-US" sz="1600" dirty="0"/>
          </a:p>
        </p:txBody>
      </p:sp>
      <p:sp>
        <p:nvSpPr>
          <p:cNvPr id="11" name="Text 8"/>
          <p:cNvSpPr txBox="1"/>
          <p:nvPr/>
        </p:nvSpPr>
        <p:spPr>
          <a:xfrm>
            <a:off x="1280160" y="2770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Pastga yozishni</a:t>
            </a:r>
            <a:endParaRPr lang="en-US" sz="1600" dirty="0"/>
          </a:p>
        </p:txBody>
      </p:sp>
      <p:sp>
        <p:nvSpPr>
          <p:cNvPr id="12" name="Text 9"/>
          <p:cNvSpPr txBox="1"/>
          <p:nvPr/>
        </p:nvSpPr>
        <p:spPr>
          <a:xfrm>
            <a:off x="1280160" y="3118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Pastga o'qishni</a:t>
            </a:r>
            <a:endParaRPr lang="en-US" sz="1600" dirty="0"/>
          </a:p>
        </p:txBody>
      </p:sp>
      <p:sp>
        <p:nvSpPr>
          <p:cNvPr id="13" name="Text 10"/>
          <p:cNvSpPr txBox="1"/>
          <p:nvPr/>
        </p:nvSpPr>
        <p:spPr>
          <a:xfrm>
            <a:off x="1280160" y="3465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Yuqoriga yozishni</a:t>
            </a:r>
            <a:endParaRPr lang="en-US" sz="1600" dirty="0"/>
          </a:p>
        </p:txBody>
      </p:sp>
      <p:sp>
        <p:nvSpPr>
          <p:cNvPr id="14" name="Shape 11"/>
          <p:cNvSpPr/>
          <p:nvPr/>
        </p:nvSpPr>
        <p:spPr>
          <a:xfrm>
            <a:off x="6172200" y="1783080"/>
            <a:ext cx="5440680" cy="2103120"/>
          </a:xfrm>
          <a:prstGeom prst="roundRect">
            <a:avLst>
              <a:gd name="adj" fmla="val 3913"/>
            </a:avLst>
          </a:prstGeom>
          <a:solidFill>
            <a:srgbClr val="FFFFFF"/>
          </a:solidFill>
          <a:ln/>
        </p:spPr>
      </p:sp>
      <p:sp>
        <p:nvSpPr>
          <p:cNvPr id="15" name="Shape 12"/>
          <p:cNvSpPr/>
          <p:nvPr/>
        </p:nvSpPr>
        <p:spPr>
          <a:xfrm>
            <a:off x="6172200" y="1783080"/>
            <a:ext cx="548640" cy="2103120"/>
          </a:xfrm>
          <a:prstGeom prst="roundRect">
            <a:avLst>
              <a:gd name="adj" fmla="val 15000"/>
            </a:avLst>
          </a:prstGeom>
          <a:solidFill>
            <a:srgbClr val="D9932B"/>
          </a:solidFill>
          <a:ln/>
        </p:spPr>
      </p:sp>
      <p:sp>
        <p:nvSpPr>
          <p:cNvPr id="16" name="Text 13"/>
          <p:cNvSpPr txBox="1"/>
          <p:nvPr/>
        </p:nvSpPr>
        <p:spPr>
          <a:xfrm>
            <a:off x="6172200" y="1783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2</a:t>
            </a:r>
            <a:endParaRPr lang="en-US" sz="2200" dirty="0"/>
          </a:p>
        </p:txBody>
      </p:sp>
      <p:sp>
        <p:nvSpPr>
          <p:cNvPr id="17" name="Text 14"/>
          <p:cNvSpPr txBox="1"/>
          <p:nvPr/>
        </p:nvSpPr>
        <p:spPr>
          <a:xfrm>
            <a:off x="6903720" y="1892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Biba qaysi xususiyatni himoyalaydi?</a:t>
            </a:r>
            <a:endParaRPr lang="en-US" sz="1800" dirty="0"/>
          </a:p>
        </p:txBody>
      </p:sp>
      <p:sp>
        <p:nvSpPr>
          <p:cNvPr id="18" name="Text 15"/>
          <p:cNvSpPr txBox="1"/>
          <p:nvPr/>
        </p:nvSpPr>
        <p:spPr>
          <a:xfrm>
            <a:off x="6903720" y="2423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Maxfiylikni</a:t>
            </a:r>
            <a:endParaRPr lang="en-US" sz="1600" dirty="0"/>
          </a:p>
        </p:txBody>
      </p:sp>
      <p:sp>
        <p:nvSpPr>
          <p:cNvPr id="19" name="Text 16"/>
          <p:cNvSpPr txBox="1"/>
          <p:nvPr/>
        </p:nvSpPr>
        <p:spPr>
          <a:xfrm>
            <a:off x="6903720" y="2770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Mavjudlikni</a:t>
            </a:r>
            <a:endParaRPr lang="en-US" sz="1600" dirty="0"/>
          </a:p>
        </p:txBody>
      </p:sp>
      <p:sp>
        <p:nvSpPr>
          <p:cNvPr id="20" name="Text 17"/>
          <p:cNvSpPr txBox="1"/>
          <p:nvPr/>
        </p:nvSpPr>
        <p:spPr>
          <a:xfrm>
            <a:off x="6903720" y="3118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Yaxlitlikni</a:t>
            </a:r>
            <a:endParaRPr lang="en-US" sz="1600" dirty="0"/>
          </a:p>
        </p:txBody>
      </p:sp>
      <p:sp>
        <p:nvSpPr>
          <p:cNvPr id="21" name="Text 18"/>
          <p:cNvSpPr txBox="1"/>
          <p:nvPr/>
        </p:nvSpPr>
        <p:spPr>
          <a:xfrm>
            <a:off x="6903720" y="3465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Hisobdorlikni</a:t>
            </a:r>
            <a:endParaRPr lang="en-US" sz="1600" dirty="0"/>
          </a:p>
        </p:txBody>
      </p:sp>
      <p:sp>
        <p:nvSpPr>
          <p:cNvPr id="22" name="Shape 19"/>
          <p:cNvSpPr/>
          <p:nvPr/>
        </p:nvSpPr>
        <p:spPr>
          <a:xfrm>
            <a:off x="548640" y="4069080"/>
            <a:ext cx="5440680" cy="2103120"/>
          </a:xfrm>
          <a:prstGeom prst="roundRect">
            <a:avLst>
              <a:gd name="adj" fmla="val 3913"/>
            </a:avLst>
          </a:prstGeom>
          <a:solidFill>
            <a:srgbClr val="FFFFFF"/>
          </a:solidFill>
          <a:ln/>
        </p:spPr>
      </p:sp>
      <p:sp>
        <p:nvSpPr>
          <p:cNvPr id="23" name="Shape 20"/>
          <p:cNvSpPr/>
          <p:nvPr/>
        </p:nvSpPr>
        <p:spPr>
          <a:xfrm>
            <a:off x="548640" y="4069080"/>
            <a:ext cx="548640" cy="2103120"/>
          </a:xfrm>
          <a:prstGeom prst="roundRect">
            <a:avLst>
              <a:gd name="adj" fmla="val 15000"/>
            </a:avLst>
          </a:prstGeom>
          <a:solidFill>
            <a:srgbClr val="D9932B"/>
          </a:solidFill>
          <a:ln/>
        </p:spPr>
      </p:sp>
      <p:sp>
        <p:nvSpPr>
          <p:cNvPr id="24" name="Text 21"/>
          <p:cNvSpPr txBox="1"/>
          <p:nvPr/>
        </p:nvSpPr>
        <p:spPr>
          <a:xfrm>
            <a:off x="548640" y="4069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3</a:t>
            </a:r>
            <a:endParaRPr lang="en-US" sz="2200" dirty="0"/>
          </a:p>
        </p:txBody>
      </p:sp>
      <p:sp>
        <p:nvSpPr>
          <p:cNvPr id="25" name="Text 22"/>
          <p:cNvSpPr txBox="1"/>
          <p:nvPr/>
        </p:nvSpPr>
        <p:spPr>
          <a:xfrm>
            <a:off x="1280160" y="4178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Clark-Wilson da CDI ga qanday kiriladi?</a:t>
            </a:r>
            <a:endParaRPr lang="en-US" sz="1800" dirty="0"/>
          </a:p>
        </p:txBody>
      </p:sp>
      <p:sp>
        <p:nvSpPr>
          <p:cNvPr id="26" name="Text 23"/>
          <p:cNvSpPr txBox="1"/>
          <p:nvPr/>
        </p:nvSpPr>
        <p:spPr>
          <a:xfrm>
            <a:off x="1280160" y="4709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To'g'ridan-to'g'ri</a:t>
            </a:r>
            <a:endParaRPr lang="en-US" sz="1600" dirty="0"/>
          </a:p>
        </p:txBody>
      </p:sp>
      <p:sp>
        <p:nvSpPr>
          <p:cNvPr id="27" name="Text 24"/>
          <p:cNvSpPr txBox="1"/>
          <p:nvPr/>
        </p:nvSpPr>
        <p:spPr>
          <a:xfrm>
            <a:off x="1280160" y="5056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Faqat TP orqali</a:t>
            </a:r>
            <a:endParaRPr lang="en-US" sz="1600" dirty="0"/>
          </a:p>
        </p:txBody>
      </p:sp>
      <p:sp>
        <p:nvSpPr>
          <p:cNvPr id="28" name="Text 25"/>
          <p:cNvSpPr txBox="1"/>
          <p:nvPr/>
        </p:nvSpPr>
        <p:spPr>
          <a:xfrm>
            <a:off x="1280160" y="5404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Faqat ma'mur</a:t>
            </a:r>
            <a:endParaRPr lang="en-US" sz="1600" dirty="0"/>
          </a:p>
        </p:txBody>
      </p:sp>
      <p:sp>
        <p:nvSpPr>
          <p:cNvPr id="29" name="Text 26"/>
          <p:cNvSpPr txBox="1"/>
          <p:nvPr/>
        </p:nvSpPr>
        <p:spPr>
          <a:xfrm>
            <a:off x="1280160" y="5751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IVP orqali</a:t>
            </a:r>
            <a:endParaRPr lang="en-US" sz="1600" dirty="0"/>
          </a:p>
        </p:txBody>
      </p:sp>
      <p:sp>
        <p:nvSpPr>
          <p:cNvPr id="30" name="Shape 27"/>
          <p:cNvSpPr/>
          <p:nvPr/>
        </p:nvSpPr>
        <p:spPr>
          <a:xfrm>
            <a:off x="6172200" y="4069080"/>
            <a:ext cx="5440680" cy="2103120"/>
          </a:xfrm>
          <a:prstGeom prst="roundRect">
            <a:avLst>
              <a:gd name="adj" fmla="val 3913"/>
            </a:avLst>
          </a:prstGeom>
          <a:solidFill>
            <a:srgbClr val="FFFFFF"/>
          </a:solidFill>
          <a:ln/>
        </p:spPr>
      </p:sp>
      <p:sp>
        <p:nvSpPr>
          <p:cNvPr id="31" name="Shape 28"/>
          <p:cNvSpPr/>
          <p:nvPr/>
        </p:nvSpPr>
        <p:spPr>
          <a:xfrm>
            <a:off x="6172200" y="4069080"/>
            <a:ext cx="548640" cy="2103120"/>
          </a:xfrm>
          <a:prstGeom prst="roundRect">
            <a:avLst>
              <a:gd name="adj" fmla="val 15000"/>
            </a:avLst>
          </a:prstGeom>
          <a:solidFill>
            <a:srgbClr val="D9932B"/>
          </a:solidFill>
          <a:ln/>
        </p:spPr>
      </p:sp>
      <p:sp>
        <p:nvSpPr>
          <p:cNvPr id="32" name="Text 29"/>
          <p:cNvSpPr txBox="1"/>
          <p:nvPr/>
        </p:nvSpPr>
        <p:spPr>
          <a:xfrm>
            <a:off x="6172200" y="4069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4</a:t>
            </a:r>
            <a:endParaRPr lang="en-US" sz="2200" dirty="0"/>
          </a:p>
        </p:txBody>
      </p:sp>
      <p:sp>
        <p:nvSpPr>
          <p:cNvPr id="33" name="Text 30"/>
          <p:cNvSpPr txBox="1"/>
          <p:nvPr/>
        </p:nvSpPr>
        <p:spPr>
          <a:xfrm>
            <a:off x="6903720" y="4178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Windows MIC ning standart qoidasi?</a:t>
            </a:r>
            <a:endParaRPr lang="en-US" sz="1800" dirty="0"/>
          </a:p>
        </p:txBody>
      </p:sp>
      <p:sp>
        <p:nvSpPr>
          <p:cNvPr id="34" name="Text 31"/>
          <p:cNvSpPr txBox="1"/>
          <p:nvPr/>
        </p:nvSpPr>
        <p:spPr>
          <a:xfrm>
            <a:off x="6903720" y="4709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NO_READ_UP</a:t>
            </a:r>
            <a:endParaRPr lang="en-US" sz="1600" dirty="0"/>
          </a:p>
        </p:txBody>
      </p:sp>
      <p:sp>
        <p:nvSpPr>
          <p:cNvPr id="35" name="Text 32"/>
          <p:cNvSpPr txBox="1"/>
          <p:nvPr/>
        </p:nvSpPr>
        <p:spPr>
          <a:xfrm>
            <a:off x="6903720" y="5056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NO_WRITE_UP</a:t>
            </a:r>
            <a:endParaRPr lang="en-US" sz="1600" dirty="0"/>
          </a:p>
        </p:txBody>
      </p:sp>
      <p:sp>
        <p:nvSpPr>
          <p:cNvPr id="36" name="Text 33"/>
          <p:cNvSpPr txBox="1"/>
          <p:nvPr/>
        </p:nvSpPr>
        <p:spPr>
          <a:xfrm>
            <a:off x="6903720" y="5404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NO_EXECUTE_UP</a:t>
            </a:r>
            <a:endParaRPr lang="en-US" sz="1600" dirty="0"/>
          </a:p>
        </p:txBody>
      </p:sp>
      <p:sp>
        <p:nvSpPr>
          <p:cNvPr id="37" name="Text 34"/>
          <p:cNvSpPr txBox="1"/>
          <p:nvPr/>
        </p:nvSpPr>
        <p:spPr>
          <a:xfrm>
            <a:off x="6903720" y="5751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NO_READ_DOWN</a:t>
            </a:r>
            <a:endParaRPr lang="en-US" sz="1600" dirty="0"/>
          </a:p>
        </p:txBody>
      </p:sp>
      <p:sp>
        <p:nvSpPr>
          <p:cNvPr id="38" name="Text 35"/>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11-ma'ruza</a:t>
            </a:r>
            <a:endParaRPr lang="en-US" sz="1100" dirty="0"/>
          </a:p>
        </p:txBody>
      </p:sp>
      <p:sp>
        <p:nvSpPr>
          <p:cNvPr id="39" name="Text 36"/>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MUSTAQIL ISH</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Uyga vazifa, keyingi mavzu va manbalar</a:t>
            </a:r>
            <a:endParaRPr lang="en-US" sz="3600" dirty="0"/>
          </a:p>
        </p:txBody>
      </p:sp>
      <p:sp>
        <p:nvSpPr>
          <p:cNvPr id="4" name="Shape 2"/>
          <p:cNvSpPr/>
          <p:nvPr/>
        </p:nvSpPr>
        <p:spPr>
          <a:xfrm>
            <a:off x="548640" y="1783080"/>
            <a:ext cx="6309360" cy="877824"/>
          </a:xfrm>
          <a:prstGeom prst="roundRect">
            <a:avLst>
              <a:gd name="adj" fmla="val 9375"/>
            </a:avLst>
          </a:prstGeom>
          <a:solidFill>
            <a:srgbClr val="EEF2FB"/>
          </a:solidFill>
          <a:ln/>
        </p:spPr>
      </p:sp>
      <p:sp>
        <p:nvSpPr>
          <p:cNvPr id="5" name="Shape 3"/>
          <p:cNvSpPr/>
          <p:nvPr/>
        </p:nvSpPr>
        <p:spPr>
          <a:xfrm>
            <a:off x="731520" y="1938528"/>
            <a:ext cx="566928" cy="566928"/>
          </a:xfrm>
          <a:prstGeom prst="ellipse">
            <a:avLst/>
          </a:prstGeom>
          <a:solidFill>
            <a:srgbClr val="1E2761"/>
          </a:solidFill>
          <a:ln/>
        </p:spPr>
      </p:sp>
      <p:pic>
        <p:nvPicPr>
          <p:cNvPr id="6" name="Image 0" descr="/home/claude/fob-slides/icons_out/terminal_white.png"/>
          <p:cNvPicPr>
            <a:picLocks noChangeAspect="1"/>
          </p:cNvPicPr>
          <p:nvPr/>
        </p:nvPicPr>
        <p:blipFill>
          <a:blip r:embed="rId1"/>
          <a:stretch>
            <a:fillRect/>
          </a:stretch>
        </p:blipFill>
        <p:spPr>
          <a:xfrm>
            <a:off x="859079" y="2066087"/>
            <a:ext cx="311810" cy="311810"/>
          </a:xfrm>
          <a:prstGeom prst="rect">
            <a:avLst/>
          </a:prstGeom>
        </p:spPr>
      </p:pic>
      <p:sp>
        <p:nvSpPr>
          <p:cNvPr id="7" name="Text 4"/>
          <p:cNvSpPr txBox="1"/>
          <p:nvPr/>
        </p:nvSpPr>
        <p:spPr>
          <a:xfrm>
            <a:off x="1463040" y="1819656"/>
            <a:ext cx="5303520" cy="365760"/>
          </a:xfrm>
          <a:prstGeom prst="rect">
            <a:avLst/>
          </a:prstGeom>
          <a:noFill/>
          <a:ln/>
        </p:spPr>
        <p:txBody>
          <a:bodyPr wrap="square" lIns="0" tIns="0" rIns="0" bIns="0" rtlCol="0" anchor="t"/>
          <a:lstStyle/>
          <a:p>
            <a:pPr algn="l"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Windows'da</a:t>
            </a:r>
            <a:endParaRPr lang="en-US" sz="1700" dirty="0"/>
          </a:p>
        </p:txBody>
      </p:sp>
      <p:sp>
        <p:nvSpPr>
          <p:cNvPr id="8" name="Text 5"/>
          <p:cNvSpPr txBox="1"/>
          <p:nvPr/>
        </p:nvSpPr>
        <p:spPr>
          <a:xfrm>
            <a:off x="1463040" y="2167128"/>
            <a:ext cx="5303520" cy="475488"/>
          </a:xfrm>
          <a:prstGeom prst="rect">
            <a:avLst/>
          </a:prstGeom>
          <a:noFill/>
          <a:ln/>
        </p:spPr>
        <p:txBody>
          <a:bodyPr wrap="square" lIns="0" tIns="0" rIns="0" bIns="0" rtlCol="0" anchor="t"/>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whoami /groups ni oddiy va ma'mur oynasida ishga tushiring; farqni izohlang. LocalLow va Temp papkalarini icacls bilan solishtiring.</a:t>
            </a:r>
            <a:endParaRPr lang="en-US" sz="1400" dirty="0"/>
          </a:p>
        </p:txBody>
      </p:sp>
      <p:sp>
        <p:nvSpPr>
          <p:cNvPr id="9" name="Shape 6"/>
          <p:cNvSpPr/>
          <p:nvPr/>
        </p:nvSpPr>
        <p:spPr>
          <a:xfrm>
            <a:off x="548640" y="2770632"/>
            <a:ext cx="6309360" cy="877824"/>
          </a:xfrm>
          <a:prstGeom prst="roundRect">
            <a:avLst>
              <a:gd name="adj" fmla="val 9375"/>
            </a:avLst>
          </a:prstGeom>
          <a:solidFill>
            <a:srgbClr val="EEF2FB"/>
          </a:solidFill>
          <a:ln/>
        </p:spPr>
      </p:sp>
      <p:sp>
        <p:nvSpPr>
          <p:cNvPr id="10" name="Shape 7"/>
          <p:cNvSpPr/>
          <p:nvPr/>
        </p:nvSpPr>
        <p:spPr>
          <a:xfrm>
            <a:off x="731520" y="2926080"/>
            <a:ext cx="566928" cy="566928"/>
          </a:xfrm>
          <a:prstGeom prst="ellipse">
            <a:avLst/>
          </a:prstGeom>
          <a:solidFill>
            <a:srgbClr val="1E2761"/>
          </a:solidFill>
          <a:ln/>
        </p:spPr>
      </p:sp>
      <p:pic>
        <p:nvPicPr>
          <p:cNvPr id="11" name="Image 1" descr="/home/claude/fob-slides/icons_out/table_white.png"/>
          <p:cNvPicPr>
            <a:picLocks noChangeAspect="1"/>
          </p:cNvPicPr>
          <p:nvPr/>
        </p:nvPicPr>
        <p:blipFill>
          <a:blip r:embed="rId2"/>
          <a:stretch>
            <a:fillRect/>
          </a:stretch>
        </p:blipFill>
        <p:spPr>
          <a:xfrm>
            <a:off x="859079" y="3053639"/>
            <a:ext cx="311810" cy="311810"/>
          </a:xfrm>
          <a:prstGeom prst="rect">
            <a:avLst/>
          </a:prstGeom>
        </p:spPr>
      </p:pic>
      <p:sp>
        <p:nvSpPr>
          <p:cNvPr id="12" name="Text 8"/>
          <p:cNvSpPr txBox="1"/>
          <p:nvPr/>
        </p:nvSpPr>
        <p:spPr>
          <a:xfrm>
            <a:off x="1463040" y="2807208"/>
            <a:ext cx="5303520" cy="365760"/>
          </a:xfrm>
          <a:prstGeom prst="rect">
            <a:avLst/>
          </a:prstGeom>
          <a:noFill/>
          <a:ln/>
        </p:spPr>
        <p:txBody>
          <a:bodyPr wrap="square" lIns="0" tIns="0" rIns="0" bIns="0" rtlCol="0" anchor="t"/>
          <a:lstStyle/>
          <a:p>
            <a:pPr algn="l"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Model</a:t>
            </a:r>
            <a:endParaRPr lang="en-US" sz="1700" dirty="0"/>
          </a:p>
        </p:txBody>
      </p:sp>
      <p:sp>
        <p:nvSpPr>
          <p:cNvPr id="13" name="Text 9"/>
          <p:cNvSpPr txBox="1"/>
          <p:nvPr/>
        </p:nvSpPr>
        <p:spPr>
          <a:xfrm>
            <a:off x="1463040" y="3154680"/>
            <a:ext cx="5303520" cy="475488"/>
          </a:xfrm>
          <a:prstGeom prst="rect">
            <a:avLst/>
          </a:prstGeom>
          <a:noFill/>
          <a:ln/>
        </p:spPr>
        <p:txBody>
          <a:bodyPr wrap="square" lIns="0" tIns="0" rIns="0" bIns="0" rtlCol="0" anchor="t"/>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Kafedra hujjatlari uchun 3 daraja va 2 toifali panjara tuzing; 4 xodimga ruxsatnoma bering.</a:t>
            </a:r>
            <a:endParaRPr lang="en-US" sz="1400" dirty="0"/>
          </a:p>
        </p:txBody>
      </p:sp>
      <p:sp>
        <p:nvSpPr>
          <p:cNvPr id="14" name="Shape 10"/>
          <p:cNvSpPr/>
          <p:nvPr/>
        </p:nvSpPr>
        <p:spPr>
          <a:xfrm>
            <a:off x="548640" y="3758184"/>
            <a:ext cx="6309360" cy="877824"/>
          </a:xfrm>
          <a:prstGeom prst="roundRect">
            <a:avLst>
              <a:gd name="adj" fmla="val 9375"/>
            </a:avLst>
          </a:prstGeom>
          <a:solidFill>
            <a:srgbClr val="EEF2FB"/>
          </a:solidFill>
          <a:ln/>
        </p:spPr>
      </p:sp>
      <p:sp>
        <p:nvSpPr>
          <p:cNvPr id="15" name="Shape 11"/>
          <p:cNvSpPr/>
          <p:nvPr/>
        </p:nvSpPr>
        <p:spPr>
          <a:xfrm>
            <a:off x="731520" y="3913632"/>
            <a:ext cx="566928" cy="566928"/>
          </a:xfrm>
          <a:prstGeom prst="ellipse">
            <a:avLst/>
          </a:prstGeom>
          <a:solidFill>
            <a:srgbClr val="1E2761"/>
          </a:solidFill>
          <a:ln/>
        </p:spPr>
      </p:sp>
      <p:pic>
        <p:nvPicPr>
          <p:cNvPr id="16" name="Image 2" descr="/home/claude/fob-slides/icons_out/file_white.png"/>
          <p:cNvPicPr>
            <a:picLocks noChangeAspect="1"/>
          </p:cNvPicPr>
          <p:nvPr/>
        </p:nvPicPr>
        <p:blipFill>
          <a:blip r:embed="rId3"/>
          <a:stretch>
            <a:fillRect/>
          </a:stretch>
        </p:blipFill>
        <p:spPr>
          <a:xfrm>
            <a:off x="859079" y="4041191"/>
            <a:ext cx="311810" cy="311810"/>
          </a:xfrm>
          <a:prstGeom prst="rect">
            <a:avLst/>
          </a:prstGeom>
        </p:spPr>
      </p:pic>
      <p:sp>
        <p:nvSpPr>
          <p:cNvPr id="17" name="Text 12"/>
          <p:cNvSpPr txBox="1"/>
          <p:nvPr/>
        </p:nvSpPr>
        <p:spPr>
          <a:xfrm>
            <a:off x="1463040" y="3794760"/>
            <a:ext cx="5303520" cy="365760"/>
          </a:xfrm>
          <a:prstGeom prst="rect">
            <a:avLst/>
          </a:prstGeom>
          <a:noFill/>
          <a:ln/>
        </p:spPr>
        <p:txBody>
          <a:bodyPr wrap="square" lIns="0" tIns="0" rIns="0" bIns="0" rtlCol="0" anchor="t"/>
          <a:lstStyle/>
          <a:p>
            <a:pPr algn="l"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Clark-Wilson</a:t>
            </a:r>
            <a:endParaRPr lang="en-US" sz="1700" dirty="0"/>
          </a:p>
        </p:txBody>
      </p:sp>
      <p:sp>
        <p:nvSpPr>
          <p:cNvPr id="18" name="Text 13"/>
          <p:cNvSpPr txBox="1"/>
          <p:nvPr/>
        </p:nvSpPr>
        <p:spPr>
          <a:xfrm>
            <a:off x="1463040" y="4142232"/>
            <a:ext cx="5303520" cy="475488"/>
          </a:xfrm>
          <a:prstGeom prst="rect">
            <a:avLst/>
          </a:prstGeom>
          <a:noFill/>
          <a:ln/>
        </p:spPr>
        <p:txBody>
          <a:bodyPr wrap="square" lIns="0" tIns="0" rIns="0" bIns="0" rtlCol="0" anchor="t"/>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HEMIS dagi «imtihon natijasini o'zgartirish» jarayoni uchun CDI, TP, IVP va vazifalarni ajratishni yozing.</a:t>
            </a:r>
            <a:endParaRPr lang="en-US" sz="1400" dirty="0"/>
          </a:p>
        </p:txBody>
      </p:sp>
      <p:sp>
        <p:nvSpPr>
          <p:cNvPr id="19" name="Shape 14"/>
          <p:cNvSpPr/>
          <p:nvPr/>
        </p:nvSpPr>
        <p:spPr>
          <a:xfrm>
            <a:off x="7086600" y="1783080"/>
            <a:ext cx="4526280" cy="2816352"/>
          </a:xfrm>
          <a:prstGeom prst="roundRect">
            <a:avLst>
              <a:gd name="adj" fmla="val 2922"/>
            </a:avLst>
          </a:prstGeom>
          <a:solidFill>
            <a:srgbClr val="1E2761"/>
          </a:solidFill>
          <a:ln/>
        </p:spPr>
      </p:sp>
      <p:sp>
        <p:nvSpPr>
          <p:cNvPr id="20" name="Text 15"/>
          <p:cNvSpPr txBox="1"/>
          <p:nvPr/>
        </p:nvSpPr>
        <p:spPr>
          <a:xfrm>
            <a:off x="7086600" y="1920240"/>
            <a:ext cx="4526280" cy="365760"/>
          </a:xfrm>
          <a:prstGeom prst="rect">
            <a:avLst/>
          </a:prstGeom>
          <a:noFill/>
          <a:ln/>
        </p:spPr>
        <p:txBody>
          <a:bodyPr wrap="square" lIns="0" tIns="0" rIns="0" bIns="0" rtlCol="0" anchor="t"/>
          <a:lstStyle/>
          <a:p>
            <a:pPr algn="ctr" indent="0" marL="0">
              <a:lnSpc>
                <a:spcPct val="100000"/>
              </a:lnSpc>
              <a:buNone/>
            </a:pPr>
            <a:r>
              <a:rPr lang="en-US" sz="1600" b="1" dirty="0">
                <a:solidFill>
                  <a:srgbClr val="CADCFC"/>
                </a:solidFill>
                <a:latin typeface="Times New Roman" pitchFamily="34" charset="0"/>
                <a:ea typeface="Times New Roman" pitchFamily="34" charset="-122"/>
                <a:cs typeface="Times New Roman" pitchFamily="34" charset="-120"/>
              </a:rPr>
              <a:t>KEYINGI MA'RUZA · M12</a:t>
            </a:r>
            <a:endParaRPr lang="en-US" sz="1600" dirty="0"/>
          </a:p>
        </p:txBody>
      </p:sp>
      <p:sp>
        <p:nvSpPr>
          <p:cNvPr id="21" name="Text 16"/>
          <p:cNvSpPr txBox="1"/>
          <p:nvPr/>
        </p:nvSpPr>
        <p:spPr>
          <a:xfrm>
            <a:off x="7315200" y="2377440"/>
            <a:ext cx="4069080" cy="11887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Axborot oqimi va yashirin kanallar</a:t>
            </a:r>
            <a:endParaRPr lang="en-US" sz="1800" dirty="0"/>
          </a:p>
        </p:txBody>
      </p:sp>
      <p:sp>
        <p:nvSpPr>
          <p:cNvPr id="22" name="Text 17"/>
          <p:cNvSpPr txBox="1"/>
          <p:nvPr/>
        </p:nvSpPr>
        <p:spPr>
          <a:xfrm>
            <a:off x="7315200" y="3657600"/>
            <a:ext cx="4069080" cy="731520"/>
          </a:xfrm>
          <a:prstGeom prst="rect">
            <a:avLst/>
          </a:prstGeom>
          <a:noFill/>
          <a:ln/>
        </p:spPr>
        <p:txBody>
          <a:bodyPr wrap="square" lIns="50800" tIns="50800" rIns="50800" bIns="50800" rtlCol="0" anchor="ctr"/>
          <a:lstStyle/>
          <a:p>
            <a:pPr algn="ctr" indent="0" marL="0">
              <a:lnSpc>
                <a:spcPct val="100000"/>
              </a:lnSpc>
              <a:buNone/>
            </a:pPr>
            <a:r>
              <a:rPr lang="en-US" sz="1500" dirty="0">
                <a:solidFill>
                  <a:srgbClr val="9FB0E0"/>
                </a:solidFill>
                <a:latin typeface="Times New Roman" pitchFamily="34" charset="0"/>
                <a:ea typeface="Times New Roman" pitchFamily="34" charset="-122"/>
                <a:cs typeface="Times New Roman" pitchFamily="34" charset="-120"/>
              </a:rPr>
              <a:t>Qoidalar to'g'ri bo'lsa ham ma'lumot qanday sizadi?</a:t>
            </a:r>
            <a:endParaRPr lang="en-US" sz="1500" dirty="0"/>
          </a:p>
        </p:txBody>
      </p:sp>
      <p:sp>
        <p:nvSpPr>
          <p:cNvPr id="23" name="Shape 18"/>
          <p:cNvSpPr/>
          <p:nvPr/>
        </p:nvSpPr>
        <p:spPr>
          <a:xfrm>
            <a:off x="548640" y="4846320"/>
            <a:ext cx="11064240" cy="1417320"/>
          </a:xfrm>
          <a:prstGeom prst="roundRect">
            <a:avLst>
              <a:gd name="adj" fmla="val 5806"/>
            </a:avLst>
          </a:prstGeom>
          <a:solidFill>
            <a:srgbClr val="FFFFFF"/>
          </a:solidFill>
          <a:ln w="12700">
            <a:solidFill>
              <a:srgbClr val="CADCFC"/>
            </a:solidFill>
            <a:prstDash val="solid"/>
          </a:ln>
        </p:spPr>
      </p:sp>
      <p:sp>
        <p:nvSpPr>
          <p:cNvPr id="24" name="Text 19"/>
          <p:cNvSpPr txBox="1"/>
          <p:nvPr/>
        </p:nvSpPr>
        <p:spPr>
          <a:xfrm>
            <a:off x="731520" y="4892040"/>
            <a:ext cx="10698480" cy="1325880"/>
          </a:xfrm>
          <a:prstGeom prst="rect">
            <a:avLst/>
          </a:prstGeom>
          <a:noFill/>
          <a:ln/>
        </p:spPr>
        <p:txBody>
          <a:bodyPr wrap="square" lIns="0" tIns="0" rIns="0" bIns="0" rtlCol="0" anchor="ctr"/>
          <a:lstStyle/>
          <a:p>
            <a:pPr indent="0" marL="0">
              <a:spcAft>
                <a:spcPts val="100"/>
              </a:spcAft>
              <a:buNone/>
            </a:pPr>
            <a:r>
              <a:rPr lang="en-US" sz="1200" dirty="0">
                <a:solidFill>
                  <a:srgbClr val="1E2761"/>
                </a:solidFill>
                <a:latin typeface="Times New Roman" pitchFamily="34" charset="0"/>
                <a:ea typeface="Times New Roman" pitchFamily="34" charset="-122"/>
                <a:cs typeface="Times New Roman" pitchFamily="34" charset="-120"/>
              </a:rPr>
              <a:t>[1] S.K. Ganiev va boshq. Kiberxavfsizlik asoslari. — T., 2021 (mandatli foydalanishni boshqarish).</a:t>
            </a:r>
            <a:endParaRPr lang="en-US" sz="1200" dirty="0"/>
          </a:p>
          <a:p>
            <a:pPr indent="0" marL="0">
              <a:spcAft>
                <a:spcPts val="100"/>
              </a:spcAft>
              <a:buNone/>
            </a:pPr>
            <a:r>
              <a:rPr lang="en-US" sz="1200" dirty="0">
                <a:solidFill>
                  <a:srgbClr val="1E2761"/>
                </a:solidFill>
                <a:latin typeface="Times New Roman" pitchFamily="34" charset="0"/>
                <a:ea typeface="Times New Roman" pitchFamily="34" charset="-122"/>
                <a:cs typeface="Times New Roman" pitchFamily="34" charset="-120"/>
              </a:rPr>
              <a:t>[2] D.E. Bell, L.J. LaPadula. Secure Computer Systems: Unified Exposition and Multics Interpretation. MITRE, 1976.</a:t>
            </a:r>
            <a:endParaRPr lang="en-US" sz="1200" dirty="0"/>
          </a:p>
          <a:p>
            <a:pPr indent="0" marL="0">
              <a:spcAft>
                <a:spcPts val="100"/>
              </a:spcAft>
              <a:buNone/>
            </a:pPr>
            <a:r>
              <a:rPr lang="en-US" sz="1200" dirty="0">
                <a:solidFill>
                  <a:srgbClr val="1E2761"/>
                </a:solidFill>
                <a:latin typeface="Times New Roman" pitchFamily="34" charset="0"/>
                <a:ea typeface="Times New Roman" pitchFamily="34" charset="-122"/>
                <a:cs typeface="Times New Roman" pitchFamily="34" charset="-120"/>
              </a:rPr>
              <a:t>[3] K.J. Biba. Integrity Considerations for Secure Computer Systems. MITRE, 1977.</a:t>
            </a:r>
            <a:endParaRPr lang="en-US" sz="1200" dirty="0"/>
          </a:p>
          <a:p>
            <a:pPr indent="0" marL="0">
              <a:spcAft>
                <a:spcPts val="100"/>
              </a:spcAft>
              <a:buNone/>
            </a:pPr>
            <a:r>
              <a:rPr lang="en-US" sz="1200" dirty="0">
                <a:solidFill>
                  <a:srgbClr val="1E2761"/>
                </a:solidFill>
                <a:latin typeface="Times New Roman" pitchFamily="34" charset="0"/>
                <a:ea typeface="Times New Roman" pitchFamily="34" charset="-122"/>
                <a:cs typeface="Times New Roman" pitchFamily="34" charset="-120"/>
              </a:rPr>
              <a:t>[4] D. Clark, D. Wilson. A Comparison of Commercial and Military Computer Security Policies. IEEE S&amp;P, 1987.</a:t>
            </a:r>
            <a:endParaRPr lang="en-US" sz="1200" dirty="0"/>
          </a:p>
          <a:p>
            <a:pPr indent="0" marL="0">
              <a:spcAft>
                <a:spcPts val="100"/>
              </a:spcAft>
              <a:buNone/>
            </a:pPr>
            <a:r>
              <a:rPr lang="en-US" sz="1200" dirty="0">
                <a:solidFill>
                  <a:srgbClr val="1E2761"/>
                </a:solidFill>
                <a:latin typeface="Times New Roman" pitchFamily="34" charset="0"/>
                <a:ea typeface="Times New Roman" pitchFamily="34" charset="-122"/>
                <a:cs typeface="Times New Roman" pitchFamily="34" charset="-120"/>
              </a:rPr>
              <a:t>[5] O'zbekiston Respublikasining «Davlat sirlari to'g'risida»gi Qonuni, O'RQ-1016, 27.12.2024 · Microsoft Learn: Mandatory Integrity Control.</a:t>
            </a:r>
            <a:endParaRPr lang="en-US" sz="1200" dirty="0"/>
          </a:p>
        </p:txBody>
      </p:sp>
      <p:sp>
        <p:nvSpPr>
          <p:cNvPr id="25" name="Text 20"/>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11-ma'ruza</a:t>
            </a:r>
            <a:endParaRPr lang="en-US" sz="1100" dirty="0"/>
          </a:p>
        </p:txBody>
      </p:sp>
      <p:sp>
        <p:nvSpPr>
          <p:cNvPr id="26" name="Text 21"/>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20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11-ma'ruza. Mandatli foydalanish nazorati: Bell-LaPadula, Biba va Clark-Wilson</dc:title>
  <dc:subject>PptxGenJS Presentation</dc:subject>
  <dc:creator>PptxGenJS</dc:creator>
  <cp:lastModifiedBy>PptxGenJS</cp:lastModifiedBy>
  <cp:revision>1</cp:revision>
  <dcterms:created xsi:type="dcterms:W3CDTF">2026-09-26T16:37:16Z</dcterms:created>
  <dcterms:modified xsi:type="dcterms:W3CDTF">2026-09-26T16:37:16Z</dcterms:modified>
</cp:coreProperties>
</file>