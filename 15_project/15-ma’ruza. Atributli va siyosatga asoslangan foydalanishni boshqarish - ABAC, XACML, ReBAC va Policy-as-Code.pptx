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13-14-ma'ruzalarda RBAC ni ko'rdik va uning chegarasini — rollar portlashini — aniqladik. Rol faqat 'kim' ni biladi, lekin 'qayerdan, qachon, qaysi qurilmadan' degan kontekstni ifodalay olmaydi. Bugun eng moslashuvchan model: atributlarga asoslangan nazorat (ABAC). Uning standarti XACML, zamonaviy vositasi OPA, va Windows'dagi ifodasi — Entra ID Conditional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shartlarni RBAC bilan ifodalash uchun har bir kombinatsiya (semestr × guruh × tarmoq × vaqt) uchun alohida rol kerak — rollar portlashi (M13). ABAC yechimi: rol asosiy huquqni beradi, qolgan shartlar atributlar va qoidalar orqali tekshiriladi. Qaror kontekstga qarab dinamik qabul qilinadi.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ABAC — NIST SP 800-162 (2014) da rasmiylashtirilgan. To'rt atribut kategoriyasi: subject, object/resource, action, environment. RBAC dan farqi: RBAC — statik (rol oldindan tayinlangan), ABAC — dinamik (qaror har murojaatda kontekstdan hisoblanadi). ABAC RBAC ni o'z ichiga oladi: rol shunchaki sub'ektning bir atributi. Kuchi — bitta qoida minglab holatni ifodalaydi, rollar portlashini oldini oladi (M13).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SP 800-162 ABAC ni RBAC ga qo'shimcha, uni almashtirmaydigan model sifatida tavsiflaydi. Gibrid yondashuv eng keng tarqalgan: rol — asosiy 'kim', ABAC qoidalari — 'qaysi sharoitda'. Masalan, Entra ID: rol (guruh) asosiy kirishni beradi, Conditional Access (ABAC) qurilma va joylashuvga qarab MFA yoki bloklash qo'shadi.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Namunaviy javoblar (soddalashtirilgan): a) rol=o'qituvchi AND amal=yozish AND obyekt.turi=baho AND obyekt.guruh IN subyekt.guruhlar → RUXSAT. b) obyekt.turi=baho AND amal=yozish AND (muhit.vaqt IN ish_vaqti) AND (muhit.tarmoq=ichki) → RUXSAT, aks holda RAD. c) rol=dekanat AND obyekt.turi=baho AND amal=o'qish → RUXSAT; amal=yozish → RAD. d) rol=kafedra_mudiri AND obyekt.turi=hisobot AND obyekt.kafedra=subyekt.kafedra → RUXSAT. A15 da talabalar bu qoidalarni OPA/Rego da yozadi.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XACML — eXtensible Access Control Markup Language, OASIS standarti (v3.0, 2013), XML asosida. Asosiy hissa — me'moriy: siyosatni majburlash (PEP, ilova ichida) va qaror qabul qilish (PDP, markaziy) ni ajratadi. Bu 7-ma'ruzadagi SAML kabi OASIS standarti; XML murakkabligi tufayli amalda kamroq qo'llanadi. PDP to'rt xil qaror qaytaradi: Permit, Deny, NotApplicable (mos qoida yo'q), Indeterminate (xato). Zamonaviy muqobil — OPA (keyingi slayd).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OPA — Open Policy Agent, CNCF (Cloud Native Computing Foundation) loyihasi; Rego — uning deklarativ so'rov tili. 'Policy-as-code' — siyosatni dasturiy kod kabi boshqarish: Git da saqlash, kod-review, avtomatik sinov, CI/CD. Bu XACML ning XML murakkabligiga zamonaviy javob. OPA Kubernetes (M18), mikroservislar, API gateway va CI/CD da keng qo'llanadi. Rego da 'default allow = false' — standart rad etish (M1 tamoyili). input — PEP yuboradigan atributlar (sub'ekt, amal, obyekt, muhit).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ReBAC — munosabatlarga asoslangan; Google Zanzibar (2019 maqola) — Google'ning global avtorizatsiya tizimi (Drive, YouTube, Calendar uchun). Ochiq amalga oshirishlar: OpenFGA (CNCF), SpiceDB, Ory Keto. Ijtimoiy tarmoqlar va hujjat almashish tizimlari uchun tabiiy: 'do'stimning do'sti', 'papka egasining jamoasi'. M10 dagi Take-Grant grafi bilan bog'lang: u ham munosabatlar orqali huquq tarqalishini modellashtirgan edi. ABAC ning munosabatlarga ixtisoslashgan turi deb qarash mumkin.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Entra Conditional Access — bulutdagi ABAC ning eng keng tarqalgan amaliy shakli. Signallar = atributlar, qarorlar = grant/block controls. Real vaqt xavf darajasi Entra ID Protection dan keladi (masalan, g'ayrioddiy joylashuv). Bu M4-M9 ning barchasini birlashtiradi: MFA, qurilma holati, token himoyasi shartli kirish qoidalari orqali qo'llanadi. 'Boshqariladigan qurilma' — Intune bilan ro'yxatdan o'tgan.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Server 2012 dan Dynamic Access Control (DAC — bu yerda 'Dynamic', M10 dagi 'Discretionary' emas!). Claims — foydalanuvchi/qurilma atributlari Kerberos tokeniga joylashtiriladi (M6 dagi PAC kengaytmasi). Resource properties — fayllarga metama'lumot. Central Access Policy — GPO orqali tarqatiladigan atributli qoidalar. Amalda kam qo'llanadi (murakkab sozlash), lekin ABAC ning fayl tizimidagi ifodasi sifatida muhim. Bulutda uning o'rnini sezgirlik yorliqlari (M11) va Purview egallagan.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OPA'ni o'rnatish: opa binary (openpolicyagent.org) yoki Docker. Rego sintaksisi OPA v0.60+ (import future.keywords yoki yangi 'if' sintaksisi). Windows'da 'opa.exe' bilan ishlaydi. Savolga javob: siyosatni ilovadan ajratish (PEP/PDP) — siyosat o'zgarganda ilovani qayta yozish shart emas; bitta siyosat ko'p ilova uchun; siyosatni alohida sinovdan o'tkazish mumkin (policy-as-code). A15 da talabalar 6-slaydagi to'rt qoidani Rego da yozib, turli input bilan sinaydi.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a) Ruxsat (boshqariladigan qurilma + MFA shartlari bajarilgan). b) Bloklash (ma'mur + boshqarilmaydigan qurilma). c) Qoida faqat ma'murga tegishli — o'qituvchi uchun bu qoida qo'llanmaydi (NotApplicable); boshqa qoidalar hal qiladi. d) Yuqori xavf qo'shimcha qoida ishga tushiradi: bloklash yoki kuchaytirilgan MFA — real vaqt xavf ABAC ning kuchli tomoni. Bu XACML dagi Permit/Deny/NotApplicable qarorlariga mos keladi.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1-B, 2-B, 3-A, 4-C.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ABAC, policy-as-code, ReBAC — tarjima/xalqaro atamalar. Uyga vazifa modellarni birlashtiruvchi tahlilga qaratilgan; A15 ning tayyorgarligi. Keyingi blok (M16-M18) — nazariyani Windows, Linux va zamonaviy muhitlarda amalda ko'rish.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120640" cy="512064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023360"/>
            <a:ext cx="3291840" cy="329184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5" name="Image 0" descr="/home/claude/fob-slides/icons_out/cog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9029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FOB1506  ·  15-MA'RUZA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Atributli va siyosatga asoslangan foydalanishni boshqarish: ABAC, XACML, ReBAC va Policy-as-Code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Kontekst bo'yicha qaror · XACML, OPA va policy-as-code · Windows shartli kirish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434840"/>
            <a:ext cx="1143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soat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48840" y="4434840"/>
            <a:ext cx="26289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148840" y="4434840"/>
            <a:ext cx="26289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ma'ruzadan 15-si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60620" y="4434840"/>
            <a:ext cx="17145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60620" y="4434840"/>
            <a:ext cx="17145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Amaliy: A15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0" y="4434840"/>
            <a:ext cx="24003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0" y="4434840"/>
            <a:ext cx="24003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namoyishi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Mirzo Ulug'bek nomidagi O'zbekiston Milliy universiteti  ·  Axborot xavfsizligi kafedrasi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DARS XARITASI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ma'ruza qanday quriladi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476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ABAC g'oyasi va atributlar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231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Sub'ekt, obyekt, amal, muhit atributlari; qoidalar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~25 daq.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182112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82112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34670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Standartlar va vositalar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8221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XACML arxitekturasi (PEP/PDP), OPA, policy-as-code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2735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~30 daq.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581144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81144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457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 ABAC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2122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Shartli kirish, DAC (claims), Windows namoyishi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6725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~25 daq.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0" y="1783080"/>
            <a:ext cx="2926080" cy="4032504"/>
          </a:xfrm>
          <a:prstGeom prst="roundRect">
            <a:avLst>
              <a:gd name="adj" fmla="val 2813"/>
            </a:avLst>
          </a:prstGeom>
          <a:solidFill>
            <a:srgbClr val="FDF3E2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0" y="2011680"/>
            <a:ext cx="566928" cy="566928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24" name="Image 0" descr="/home/claude/fob-slides/icons_out/bulb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8679" y="2139239"/>
            <a:ext cx="311810" cy="31181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96112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Interaktiv nuqtalar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006840" y="315468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Muhokama: rol yetadimi?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qoida yozing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Jonli namoyish: OPA/Rego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shartli kirish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yetadimi?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us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HEMIS da «O'qituvchi» roli baho kiritishga ruxsat beradi. Lekin quyidagi shartlar ham kerak bo'lsa-chi?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320954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10" name="Image 1" descr="/home/claude/fob-slides/icons_out/quest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80" y="3367964"/>
            <a:ext cx="259232" cy="2592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06324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Baho faqat semestr davomida va faqat o'z guruhlariga kiritilsin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1018520" y="306324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21538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15" name="Image 2" descr="/home/claude/fob-slides/icons_out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80" y="4373804"/>
            <a:ext cx="259232" cy="2592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06908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Faqat universitet tarmog'idan yoki boshqariladigan qurilmadan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1018520" y="40690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522122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20" name="Image 3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5379644"/>
            <a:ext cx="259232" cy="2592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507492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 vaqtida va MFA bilan tasdiqlangan sessiyada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11018520" y="50749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ABAC G'OYASI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Qaror to'rt turdagi atributdan hisoblanadi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fob-slides/icons_out/us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" y="21202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Sub'ekt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27248"/>
            <a:ext cx="26517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20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rol: o'qituvchi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kafedra: AX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ruxsatnoma darajasi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MFA holati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55848" y="178308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EEF2FB"/>
          </a:solidFill>
          <a:ln/>
        </p:spPr>
      </p:sp>
      <p:sp>
        <p:nvSpPr>
          <p:cNvPr id="11" name="Shape 8"/>
          <p:cNvSpPr/>
          <p:nvPr/>
        </p:nvSpPr>
        <p:spPr>
          <a:xfrm>
            <a:off x="4338828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fob-slides/icons_out/fi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133" y="212026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55848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Obyekt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3355848" y="3127248"/>
            <a:ext cx="26517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nima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30168" y="3520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turi: baho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guruh: 301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maxfiylik: ichki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egasi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163056" y="178308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EEF2FB"/>
          </a:solidFill>
          <a:ln/>
        </p:spPr>
      </p:sp>
      <p:sp>
        <p:nvSpPr>
          <p:cNvPr id="17" name="Shape 13"/>
          <p:cNvSpPr/>
          <p:nvPr/>
        </p:nvSpPr>
        <p:spPr>
          <a:xfrm>
            <a:off x="7146036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fob-slides/icons_out/penci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341" y="2120265"/>
            <a:ext cx="377190" cy="3771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63056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6163056" y="3127248"/>
            <a:ext cx="26517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qanday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437376" y="3520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o'qish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yozish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o'chirish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eksport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8970264" y="178308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1E2761"/>
          </a:solidFill>
          <a:ln/>
        </p:spPr>
      </p:sp>
      <p:sp>
        <p:nvSpPr>
          <p:cNvPr id="23" name="Shape 18"/>
          <p:cNvSpPr/>
          <p:nvPr/>
        </p:nvSpPr>
        <p:spPr>
          <a:xfrm>
            <a:off x="9953244" y="1965960"/>
            <a:ext cx="685800" cy="68580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24" name="Image 3" descr="/home/claude/fob-slides/icons_out/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7549" y="2120265"/>
            <a:ext cx="377190" cy="37719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970264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Muhit</a:t>
            </a:r>
            <a:endParaRPr lang="en-US" sz="2100" dirty="0"/>
          </a:p>
        </p:txBody>
      </p:sp>
      <p:sp>
        <p:nvSpPr>
          <p:cNvPr id="26" name="Text 20"/>
          <p:cNvSpPr txBox="1"/>
          <p:nvPr/>
        </p:nvSpPr>
        <p:spPr>
          <a:xfrm>
            <a:off x="8970264" y="3127248"/>
            <a:ext cx="26517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kontekst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9244584" y="3520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vaqt: ish soati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tarmoq: ichki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qurilma holati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joylashuv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CADCFC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77240" y="52303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Qoida = atributlar ustidagi mantiqiy ifoda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777240" y="55961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«Agar sub'ekt.rol = o'qituvchi VA obyekt.guruh ∈ sub'ekt.guruhlari VA muhit.tarmoq = ichki VA muhit.vaqt = semestr → RUXSAT». Bir qoida minglab holatni qamraydi.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RBAC VA ABAC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Statik roldan dinamik qarorga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834640" y="1783080"/>
            <a:ext cx="434340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34640" y="1783080"/>
            <a:ext cx="43434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 (M13)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783080"/>
            <a:ext cx="4343400" cy="457200"/>
          </a:xfrm>
          <a:prstGeom prst="roundRect">
            <a:avLst>
              <a:gd name="adj" fmla="val 8000"/>
            </a:avLst>
          </a:prstGeom>
          <a:solidFill>
            <a:srgbClr val="1F6B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0" y="1783080"/>
            <a:ext cx="43434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ABAC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2240280" cy="530352"/>
          </a:xfrm>
          <a:prstGeom prst="roundRect">
            <a:avLst>
              <a:gd name="adj" fmla="val 6897"/>
            </a:avLst>
          </a:prstGeom>
          <a:solidFill>
            <a:srgbClr val="2A37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31343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Qaror asosi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34640" y="2313432"/>
            <a:ext cx="4343400" cy="530352"/>
          </a:xfrm>
          <a:prstGeom prst="roundRect">
            <a:avLst>
              <a:gd name="adj" fmla="val 6897"/>
            </a:avLst>
          </a:prstGeom>
          <a:solidFill>
            <a:srgbClr val="EEF2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44368" y="231343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(oldindan tayinlangan)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23760" y="2313432"/>
            <a:ext cx="4343400" cy="530352"/>
          </a:xfrm>
          <a:prstGeom prst="roundRect">
            <a:avLst>
              <a:gd name="adj" fmla="val 6897"/>
            </a:avLst>
          </a:prstGeom>
          <a:solidFill>
            <a:srgbClr val="E8F3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33488" y="231343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Atributlar (murojaat vaqtida hisoblanadi)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916936"/>
            <a:ext cx="2240280" cy="530352"/>
          </a:xfrm>
          <a:prstGeom prst="roundRect">
            <a:avLst>
              <a:gd name="adj" fmla="val 6897"/>
            </a:avLst>
          </a:prstGeom>
          <a:solidFill>
            <a:srgbClr val="2A37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2916936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Kontekst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834640" y="2916936"/>
            <a:ext cx="43434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4368" y="2916936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Yo'q (statik)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23760" y="2916936"/>
            <a:ext cx="43434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33488" y="2916936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Vaqt, joy, qurilma, xavf darajasi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2240280" cy="530352"/>
          </a:xfrm>
          <a:prstGeom prst="roundRect">
            <a:avLst>
              <a:gd name="adj" fmla="val 6897"/>
            </a:avLst>
          </a:prstGeom>
          <a:solidFill>
            <a:srgbClr val="2A377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352044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Moslashuvchanlik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834640" y="3520440"/>
            <a:ext cx="4343400" cy="530352"/>
          </a:xfrm>
          <a:prstGeom prst="roundRect">
            <a:avLst>
              <a:gd name="adj" fmla="val 6897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944368" y="352044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Cheklangan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223760" y="3520440"/>
            <a:ext cx="4343400" cy="530352"/>
          </a:xfrm>
          <a:prstGeom prst="roundRect">
            <a:avLst>
              <a:gd name="adj" fmla="val 6897"/>
            </a:avLst>
          </a:prstGeom>
          <a:solidFill>
            <a:srgbClr val="E8F3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33488" y="352044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Juda yuqori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123944"/>
            <a:ext cx="2240280" cy="530352"/>
          </a:xfrm>
          <a:prstGeom prst="roundRect">
            <a:avLst>
              <a:gd name="adj" fmla="val 6897"/>
            </a:avLst>
          </a:prstGeom>
          <a:solidFill>
            <a:srgbClr val="2A377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412394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Kamchilik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834640" y="4123944"/>
            <a:ext cx="43434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44368" y="4123944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 portlashi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223760" y="4123944"/>
            <a:ext cx="43434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33488" y="4123944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Murakkab, tahlil qilish qiyin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48640" y="4727448"/>
            <a:ext cx="2240280" cy="530352"/>
          </a:xfrm>
          <a:prstGeom prst="roundRect">
            <a:avLst>
              <a:gd name="adj" fmla="val 6897"/>
            </a:avLst>
          </a:prstGeom>
          <a:solidFill>
            <a:srgbClr val="2A377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8368" y="472744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 tushunadi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834640" y="4727448"/>
            <a:ext cx="4343400" cy="530352"/>
          </a:xfrm>
          <a:prstGeom prst="roundRect">
            <a:avLst>
              <a:gd name="adj" fmla="val 6897"/>
            </a:avLst>
          </a:prstGeom>
          <a:solidFill>
            <a:srgbClr val="EEF2F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944368" y="472744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Biznes (rol = lavozim)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223760" y="4727448"/>
            <a:ext cx="4343400" cy="530352"/>
          </a:xfrm>
          <a:prstGeom prst="roundRect">
            <a:avLst>
              <a:gd name="adj" fmla="val 6897"/>
            </a:avLst>
          </a:prstGeom>
          <a:solidFill>
            <a:srgbClr val="E8F3E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33488" y="472744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Muhandislar (qoidalar)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DF3E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Amalda: RBAC + ABAC gibrid. Rol asosiy huquqni beradi (biznes tushunadi), ABAC qoidalari kontekst bo'yicha qo'shimcha shart qo'yadi.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ABAC qoidasini yozing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penci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Atributlar: sub'ekt.{rol, kafedra, guruhlar}, obyekt.{turi, guruh}, amal, muhit.{vaqt, tarmoq}. Har bir talab uchun qoida yozing.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06040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06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606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O'qituvchi faqat o'z guruhlariga baho kiritadi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012680" y="2724912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12680" y="2724912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Qoida?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45643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3456432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456432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5643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Baho faqat ish vaqtida va ichki tarmoqdan o'zgartiriladi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012680" y="3575304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12680" y="3575304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Qoida?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30682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306824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4306824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306824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Dekanat istalgan bahoni o'qiy oladi, lekin o'zgartira olmaydi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0012680" y="442569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12680" y="442569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Qoida?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51572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157216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157216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15721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Kafedra mudiri faqat o'z kafedrasi hisobotlarini ko'radi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10012680" y="5276088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012680" y="5276088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Qoida?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Standartlar va vositalar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XACML · OPA/Rego · Policy-as-code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XACML ARXITEKTURASI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Siyosatni tekshiruvdan ajratish: PEP va PDP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PEP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Enforcement Point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ichida: so'rovni ushlaydi, qarorni majburlaydi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3D4A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PDP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Decision Point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Qoidalarni baholaydi, qaror qaytaradi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2A37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3816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 / PIP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 / Info Point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Qoidalarni saqlaydi; atributlarni yetkazadi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9080" y="2377440"/>
            <a:ext cx="246888" cy="0"/>
          </a:xfrm>
          <a:prstGeom prst="line">
            <a:avLst/>
          </a:prstGeom>
          <a:noFill/>
          <a:ln w="31750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63840" y="2377440"/>
            <a:ext cx="246888" cy="0"/>
          </a:xfrm>
          <a:prstGeom prst="line">
            <a:avLst/>
          </a:prstGeom>
          <a:noFill/>
          <a:ln w="31750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3794760"/>
            <a:ext cx="11064240" cy="512064"/>
          </a:xfrm>
          <a:prstGeom prst="roundRect">
            <a:avLst>
              <a:gd name="adj" fmla="val 16071"/>
            </a:avLst>
          </a:prstGeom>
          <a:solidFill>
            <a:srgbClr val="EEF2FB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389534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794760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ilovada amal so'raydi; PEP uni ushlaydi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10642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48970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4489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4389120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PEP so'rovni atributlar bilan PDP ga yuboradi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64240" cy="512064"/>
          </a:xfrm>
          <a:prstGeom prst="roundRect">
            <a:avLst>
              <a:gd name="adj" fmla="val 16071"/>
            </a:avLst>
          </a:prstGeom>
          <a:solidFill>
            <a:srgbClr val="EEF2FB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" y="508406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5084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4983480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PDP qoidalarni baholaydi: Permit / Deny / NotApplicable / Indeterminate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5577840"/>
            <a:ext cx="110642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56784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3232" y="5678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5577840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PEP qarorni majburlaydi: ruxsat beradi yoki rad etadi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OPA VA POLICY-AS-CODE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Zamonaviy yondashuv: siyosat = kod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0" cy="4206240"/>
          </a:xfrm>
          <a:prstGeom prst="roundRect">
            <a:avLst>
              <a:gd name="adj" fmla="val 1957"/>
            </a:avLst>
          </a:prstGeom>
          <a:solidFill>
            <a:srgbClr val="16204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5943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Policy Agent — Rego tili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hemis.baho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allow = false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if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input.subject.rol == "oqituvchi"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input.action == "yozish"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input.object.turi == "baho"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input.object.guruh in input.subject.guruhlar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input.env.tarmoq == "ichki"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0" y="1783080"/>
            <a:ext cx="4480560" cy="96012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Policy-as-code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2219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Siyosat oddiy matn kod: versiya nazorati (Git), sinov, ko'rib chiqish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2862072"/>
            <a:ext cx="4480560" cy="96012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0" y="2935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Markazlashtirilgan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330098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Bitta OPA turli xizmatlar (API, Kubernetes, CI/CD) uchun qaror beradi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0" y="3941064"/>
            <a:ext cx="4480560" cy="96012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0" y="40142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437997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Qaror millisekundlarda; ilovadan ajratilgan (PDP)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0" y="5020056"/>
            <a:ext cx="4480560" cy="96012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0" y="5093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Sinovdan o'tadi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545896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Qoidalar uchun unit-testlar yoziladi — xato oldindan topiladi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MUNOSABATGA ASOSLANGAN MODEL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ReBAC: «kim bilan bog'liq» orqali qaror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ReBAC (Relationship-Based Access Control): ruxsat sub'ekt va obyekt orasidagi munosabatlar grafi orqali aniqlanadi. Google Zanzibar va uning ochiq varianti (OpenFGA, SpiceDB) buni ommalashtirdi.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468880" y="3840480"/>
            <a:ext cx="2103120" cy="914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00984" y="3639312"/>
            <a:ext cx="43891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00984" y="3639312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kurator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V="1">
            <a:off x="5473530" y="3216676"/>
            <a:ext cx="2128860" cy="516087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18504" y="3273552"/>
            <a:ext cx="43891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18504" y="3273552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baho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73530" y="3948196"/>
            <a:ext cx="2128860" cy="516087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18504" y="4005072"/>
            <a:ext cx="43891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18504" y="4005072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hujjat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00200" y="3429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279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Aziz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3429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14800" y="4279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301-guruh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35240" y="2697480"/>
            <a:ext cx="822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0" y="3547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baho.301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35240" y="4160520"/>
            <a:ext cx="822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0" y="5010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kurs ishi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CADC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2120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Qoida: «Aziz 301-guruhning kuratori bo'lsa va baho 301-guruhga tegishli bo'lsa → Aziz uni o'qiy oladi». Ruxsat munosabatlar zanjiridan kelib chiqadi — bu M10 dagi Take-Grant grafiga o'xshaydi.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 ABAC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Shartli kirish · Claims · Namoyish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ENTRA ID CONDITIONAL ACCESS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Windows'dagi ABAC: shartli kirish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Conditional Access — «agar-unda» qoidalari: kirish paytida sub'ekt, qurilma, joylashuv va xavf atributlariga qarab qaror qabul qilinadi.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303520" cy="2194560"/>
          </a:xfrm>
          <a:prstGeom prst="roundRect">
            <a:avLst>
              <a:gd name="adj" fmla="val 3750"/>
            </a:avLst>
          </a:prstGeom>
          <a:solidFill>
            <a:srgbClr val="EEF2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51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Signallar (atributlar)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va guruh (rol)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Qurilma holati (boshqariladigan?)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Joylashuv va IP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va real vaqt xavf darajasi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2560320"/>
            <a:ext cx="5303520" cy="219456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2651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B5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Qarorlar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1089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Ruxsat berish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Bloklash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MFA talab qilish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Boshqariladigan qurilma talab qilish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Sessiyani cheklash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E8F3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0109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Misol qoida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«Agar foydalanuvchi HEMIS ma'muri guruhida VA qurilma boshqarilmaydigan bo'lsa → MFA talab qil». Bu M4 (MFA), M5 (qurilma), M9 (token himoyasi) va ABAC ni birlashtiradi.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WINDOWS FAYL TIZIMIDA ABAC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Access Control: NTFS da atributli qoidalar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Server DAC (Dynamic Access Control) NTFS ruxsatlariga atribut shartlarini qo'shadi — fayl tizimidagi ABAC.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6766560" cy="2468880"/>
          </a:xfrm>
          <a:prstGeom prst="roundRect">
            <a:avLst>
              <a:gd name="adj" fmla="val 3333"/>
            </a:avLst>
          </a:prstGeom>
          <a:solidFill>
            <a:srgbClr val="16204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060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An'anaviy DACL (M10): faqat kim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 LAB_Oqituvchilar   Read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Dynamic Access Control: kim + shart (atribut)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 Authenticated Users   Modify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User.Department == Resource.Department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User.ClearanceLevel &gt;= Resource.Sensitivity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0" y="2423160"/>
            <a:ext cx="4114800" cy="777240"/>
          </a:xfrm>
          <a:prstGeom prst="roundRect">
            <a:avLst>
              <a:gd name="adj" fmla="val 10588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0" y="24780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Claims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7889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va qurilma atributlari AD dan kirish tokeniga qo'shiladi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3291840"/>
            <a:ext cx="4114800" cy="777240"/>
          </a:xfrm>
          <a:prstGeom prst="roundRect">
            <a:avLst>
              <a:gd name="adj" fmla="val 10588"/>
            </a:avLst>
          </a:prstGeom>
          <a:solidFill>
            <a:srgbClr val="EEF2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0" y="33467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 properties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36576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Fayllarga «Bo'lim», «Maxfiylik» kabi atributlar biriktiriladi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0" y="4160520"/>
            <a:ext cx="4114800" cy="777240"/>
          </a:xfrm>
          <a:prstGeom prst="roundRect">
            <a:avLst>
              <a:gd name="adj" fmla="val 10588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42153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 Access Policy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45262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Atributli qoidalar domen bo'ylab GPO orqali tarqatiladi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1206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 M6 dagi AD claims va M10 dagi DACL ni birlashtiradi: endi ruxsat nafaqat guruhga (rol), balki foydalanuvchi va fayl atributlariga (bo'lim, maxfiylik) ham bog'liq. Rollar portlashisiz kontekstli nazorat.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JONLI NAMOYISH · 10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OPA/Rego bilan qoidani sinaymiz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termina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7498080" cy="4434840"/>
          </a:xfrm>
          <a:prstGeom prst="roundRect">
            <a:avLst>
              <a:gd name="adj" fmla="val 1856"/>
            </a:avLst>
          </a:prstGeom>
          <a:solidFill>
            <a:srgbClr val="16204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965960"/>
            <a:ext cx="70408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baho.rego — 6-slaydagi qoida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hemis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allow := false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if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input.rol == "oqituvchi"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input.guruh in input.oz_guruhlari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Sinov kiritishi (input.json)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"rol": "oqituvchi", "guruh": "301",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"oz_guruhlari": ["301","302"]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Ishga tushirish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opa eval -d baho.rego -i input.json 'data.hemis.allow'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"result": true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0" y="178308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1248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Sinab ko'ring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240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 ni «303» ga o'zgartiring — natija false bo'ladi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0" y="3273552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0" y="3364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Bog'lang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730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M1: standart rad etish (default false) — eng kam imtiyoz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0" y="4764024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412480" y="4855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5221224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 siyosatni ilovadan ajratish (OPA) yaxshi?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Shartli kirish qoidasi: qaror qanday?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penci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Qoida: «HEMIS ma'muri + boshqarilmaydigan qurilma → bloklash; + boshqariladigan qurilma → MFA». Har bir holatda qaror?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06040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06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606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Ma'mur, ish kompyuteri (boshqariladigan), MFA o'tgan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012680" y="2724912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12680" y="2724912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Qaror?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45643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3456432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456432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5643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Ma'mur, shaxsiy telefon (boshqarilmaydigan)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012680" y="3575304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12680" y="3575304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Qaror?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30682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306824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4306824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306824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Oddiy o'qituvchi, shaxsiy noutbuk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0012680" y="442569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12680" y="442569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Qaror?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51572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157216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157216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15721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Ma'mur, ish kompyuteri, lekin g'ayrioddiy joylashuvdan (yuqori xavf)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10012680" y="5276088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012680" y="5276088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Qaror?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XULOSA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darsning besh asosiy xulosasi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ABAC: qaror sub'ekt, obyekt, amal va muhit atributlaridan qoida orqali hisoblanadi.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0604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Bitta qoida minglab holatni qamraydi — rollar portlashini (M13) hal qiladi.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2900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XACML PEP (majburlash) va PDP (qaror) ni ajratadi; OPA/Rego — zamonaviy policy-as-code.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32511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5196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ReBAC munosabatlar grafi orqali qaror qiladi (Zanzibar, OpenFGA).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7492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 ABAC: Entra Conditional Access va Dynamic Access Control.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To'rt savol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listo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ABAC da qaror nimadan hisoblanadi?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Faqat roldan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Atributlar va qoidalardan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Fayl egasidan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Yorliqdan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220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17220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7220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XACML da PDP nima qiladi?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Qarorni majburlaydi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Qoidalarni baholab qaror beradi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Atributlarni saqlaydi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Loglaydi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54864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OPA/Rego qaysi yondashuv?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Policy-as-code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MAC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Rol mining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SAML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7220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617220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17220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690372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 bulut ABAC nima?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90372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NTFS DACL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90372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Kerberos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90372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Conditional Access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90372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LDAP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MUSTAQIL ISH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Uyga vazifa, keyingi mavzu va manbalar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385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fob-slides/icons_out/cod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079" y="2066087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196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Rego yozish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6712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6-slaydagi to'rt talab uchun OPA/Rego qoidalarini yozing va turli input bilan sinang.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770632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926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fob-slides/icons_out/cog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79" y="305363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8072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Loyihalash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15468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HEMIS uchun 5 ta shartli kirish qoidasini atributlar tilida yozing (agar-unda).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758184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9136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fob-slides/icons_out/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9" y="4041191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794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Tahlil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14223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M10-M15 modellarini bitta jadvalda solishtiring: DAC, MAC, RBAC, ABAC, ReBAC — qachon qaysi biri.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086600" y="1783080"/>
            <a:ext cx="4526280" cy="2816352"/>
          </a:xfrm>
          <a:prstGeom prst="roundRect">
            <a:avLst>
              <a:gd name="adj" fmla="val 2922"/>
            </a:avLst>
          </a:prstGeom>
          <a:solidFill>
            <a:srgbClr val="1E276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08660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KEYINGI MA'RUZA · M16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0" y="2377440"/>
            <a:ext cx="40690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va Active Directory'da foydalanishni boshqarish (NTFS, SID, DACL)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0" y="3657600"/>
            <a:ext cx="4069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Nazariyani ko'rdik — endi Windows ichida qanday ishlaydi?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89204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S.K. Ganiev va boshq. Kiberxavfsizlik asoslari. — T., 2021 (atributlarga asoslangan model).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NIST SP 800-162. Guide to Attribute Based Access Control (ABAC). 2014.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OASIS. eXtensible Access Control Markup Language (XACML) v3.0, 2013.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Open Policy Agent (OPA) va Rego · Google Zanzibar (2019).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Microsoft Learn. Conditional Access; Dynamic Access Control.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15-ma'ruza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15-ma'ruza. ABAC: XACML, OPA va policy-as-code</dc:title>
  <dc:subject>PptxGenJS Presentation</dc:subject>
  <dc:creator>PptxGenJS</dc:creator>
  <cp:lastModifiedBy>PptxGenJS</cp:lastModifiedBy>
  <cp:revision>1</cp:revision>
  <dcterms:created xsi:type="dcterms:W3CDTF">2026-09-26T17:01:26Z</dcterms:created>
  <dcterms:modified xsi:type="dcterms:W3CDTF">2026-09-26T17:01:26Z</dcterms:modified>
</cp:coreProperties>
</file>