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6-ma'ruzada Kerberos domen ichida yagona kirishni ta'minlashini ko'rdik. Lekin Moodle bulutda, pochta Microsoft 365 da, kutubxona tizimi boshqa tashkilotda bo'lsa-chi? Bugun: domen chegarasidan tashqaridagi yagona kirish — SAML 2.0 va uning Windows'dagi amalga oshirilishi: AD FS va Microsoft Entra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Takroriy parollar (credential stuffing), yozib qo'yilgan parollar, har bir tizimda turlicha saqlash sifati — eng zaif tizim hammasini fosh qiladi. 2) Olti va undan ko'p joyda — egasiz qayd yozuvlari xavfi. 3) Yagona nuqta: identifikatsiya provayderi buzilsa yoki ishlamay qolsa, hamma tizim ta'sirlanadi — III bo'limdagi Golden SAML ga olib boradi. Xulosa: SSO xavfni yo'qotmaydi, uni bitta, yaxshi himoyalangan joyga jamlaydi.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SSO — Single Sign-On, yagona kirish. Federatsiya — turli tashkilotlar o'rtasidagi SSO: masalan, universitet IdP si orqali boshqa tashkilot kutubxonasiga kirish. Ishonch texnik jihatdan IdP ning ochiq kaliti (sertifikati) SP da saqlanishi orqali o'rnatiladi — M5 dagi imzo g'oyasining yana bir qo'llanishi. O'zbekistondagi yaqin misol: davlat xizmatlari uchun OneID yagona identifikatsiya tizimi.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OAuth 2.0 — RFC 6749 (2012), OpenID Connect Core 1.0 — 2014. Kerberos domen chegarasidan (tarmoq ichidan) tashqarida yaxshi ishlamaydi: KDC ga to'g'ridan-to'g'ri ulanish kerak. SAML brauzer orqali ishlaydi — shu sababli internetdagi veb-ilovalar uchun mos. WS-Federation — Microsoft'ning SAML ga o'xshash protokoli, AD FS uni ham qo'llab-quvvatlaydi.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SAML — Security Assertion Markup Language, 2.0 versiyasi OASIS tomonidan 2005-yil martda standart sifatida qabul qilingan. Metama'lumot almashinuvi — A7 da Keycloak va sinov ilovasi o'rtasida bajariladigan birinchi qadam. SP va IdP bir-birining sertifikatini oldindan biladi; tasdiqnomadagi imzo shu sertifikat bilan tekshiriladi.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ACS — Assertion Consumer Service, SP dagi javob qabul qilinadigan manzil. 4-qadamda IdP qanday autentifikatsiya qilishini SP bilmaydi va nazorat qilmaydi — shu sababli M3–M5 dagi barcha himoya IdP da jamlanadi. Agar foydalanuvchi IdP da allaqachon seansga ega bo'lsa, 4-qadam o'tkazib yuboriladi — SSO aynan shu. IdP tomonidan boshlangan (IdP-initiated) oqimda 1–3 qadamlar yo'q: foydalanuvchi IdP portalidan ilovani tanlaydi; bunda InResponseTo tekshiruvi bo'lmagani uchun u kamroq xavfsiz.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Tasdiqnoma soddalashtirilgan: nomlar maydoni prefikslari va AuthnContextClassRef ning to'liq URI si qisqartirilgan. Amaldagi tasdiqnoma bir necha kilobayt bo'ladi va Base64 bilan kodlanib, HTTP-POST formada yuboriladi. Tasdiqnoma umri odatda bir necha daqiqa (bu yerda 5 daqiqa). AttributeStatement dagi rol — avtorizatsiya uchun: SP foydalanuvchiga qaysi huquqlarni berishni shu atributdan biladi (M1: siyosat IdP da, mexanizm SP 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Javoblar: a) Rad — Audience boshqa SP uchun; aks holda boshqa universitet uchun berilgan tasdiqnoma bu yerda ishlatilishi mumkin edi. b) Rad — muddati o'tgan (soat og'ishi uchun 1–3 daqiqa ruxsat odatiy). c) Rad — imzosiz tasdiqnomani istalgan kishi yasay oladi. Ko'p real zaifliklar aynan shu tekshiruvning yo'qligidan kelib chiqqan. d) Rad — takroriy yuborish (replay); SP ishlatilgan tasdiqnoma ID larini amal qilish muddatigacha saqlashi kerak. e) Rad yoki qo'shimcha autentifikatsiya so'rash (step-up) — SP siyosatiga ko'ra; AuthnRequest da RequestedAuthnContext bilan MFA talab qilinadi.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XSW: J. Somorovsky va boshq., 'On Breaking SAML: Be Whoever You Want to Be', USENIX Security 2012 — 14 ta ommabop SAML freymvorkidan 11 tasida imzoni o'rash hujumi ishlagan. Izoh kiritish: Duo Security, 2018 — bir nechta ochiq kutubxonalarda (python-saml, ruby-saml va boshqalar) XML kanonizatsiyasi va matnni o'qish o'rtasidagi nomuvofiqlik. Saboq: SAML xavfsizligi protokolning o'zidan ko'ra uning amalga oshirilishiga bog'liq. XML — murakkab format, M8 da ko'riladigan JWT ham o'z muammolariga 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IWA — ichki saytlar (masalan, intranet portal) uchun: brauzer saytni 'Local intranet' zonasida deb bilsa, Kerberos xizmat chiptasini (HTTP/portal.nuu.uz SPN) avtomatik yuboradi. AD FS — Active Directory Federation Services, Windows Server 2003 R2 dan beri mavjud. Entra ID (sobiq Azure AD) — bulutdagi IdP; gibrid muhitda domen qurilmasi ham Entra ga ro'yxatdan o'tadi va PRT oladi. Seamless SSO — Entra ID uchun Kerberos asosidagi yagona kirish (AZUREADSSOACC kompyuter qayd yozuvi).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Da'vo (claim) — foydalanuvchi haqidagi bir bayonot: email, rol, guruh. AD FS da da'vo qoidalari tili (Claim Rule Language) AD atributlarini SAML atributlariga aylantiradi; ko'rsatilgan qoida 'Send LDAP Attributes as Claims' shablonining soddalashtirilgan ko'rinishi (tokenGroups — foydalanuvchi guruhlari). Relying party trust — har bir ilova uchun ishonch yozuvi: uning entityID si, ACS manzili, sertifikati. Token-signing sertifikati bilan AD FS barcha tasdiqnomalarni imzolaydi — keyingi slayd.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Golden SAML atamasi CyberArk tadqiqotchilari tomonidan 2017-yilda kiritilgan — M6 dagi Golden Ticket ning SAML dagi o'xshashi (krbtgt kaliti o'rniga token-signing kaliti). SolarWinds (SUNBURST, 2020-yil dekabrda aniqlangan) kampaniyasida qo'llangan; CISA AR21-134A va boshqa hujjatlarida tavsiflangan. Aniqlash g'oyasi: SP da kirish bor, lekin IdP (AD FS) jurnallarida mos autentifikatsiya hodisasi yo'q — demak tasdiqnoma IdP dan tashqarida yasalgan. Bu SSO ning 'yagona nuqta' narxining eng aniq namunasi (4-slayd).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Learn: 'Recommendation to migrate applications away from AD FS' — Entra ID da har ilova uchun batafsil kirish nazorati, avtomatik provisioning (M2: SCIM) va B2B hamkorlik. Rasmiy hujjatlarda AD FS eskirgan (deprecated) deb e'lon qilinmagan, lekin yangi loyihalar uchun Entra ID tavsiya etiladi. Shartli kirish (Conditional Access) — ABAC ning (M15) amaliy ko'rinishi: 'agar foydalanuvchi talabalar guruhida bo'lsa va qurilma boshqarilmasa — MFA talab qil'. Muhim: bulutga ko'chish xavfni yo'qotmaydi — Entra ID ma'murlarining qayd yozuvlari endi Tier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SAML-tracer — Firefox va Chrome uchun ochiq kengaytma, brauzer orqali o'tadigan SAML xabarlarini ko'rsatadi. Get-Clipboard PowerShell 5.1 da mavjud. Savolga javob: imzo yaxlitlik va haqiqiylikni ta'minlaydi, lekin maxfiylikni emas — tasdiqnomadagi atributlar (email, rol) ochiq ko'rinadi; TLS bo'lmasa, tasdiqnomani tutib olib, uning amal qilish muddati ichida qayta ishlatish mumkin. Kerak bo'lsa, SAML tasdiqnomani SP ochiq kaliti bilan shifrlash (EncryptedAssertion) ham mumkin. PRT tekshiruvi faqat Entra ID ga ulangan yoki gibrid qurilmada YES ko'rsatadi.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Javoblar: 1-C, 2-A, 3-B, 4-C.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2.png"/><Relationship Id="rId4" Type="http://schemas.openxmlformats.org/officeDocument/2006/relationships/image" Target="../media/image-3-2.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326880" y="-1828800"/>
            <a:ext cx="5120640" cy="5120640"/>
          </a:xfrm>
          <a:prstGeom prst="ellipse">
            <a:avLst/>
          </a:prstGeom>
          <a:solidFill>
            <a:srgbClr val="2A3778"/>
          </a:solidFill>
          <a:ln/>
        </p:spPr>
      </p:sp>
      <p:sp>
        <p:nvSpPr>
          <p:cNvPr id="3" name="Shape 1"/>
          <p:cNvSpPr/>
          <p:nvPr/>
        </p:nvSpPr>
        <p:spPr>
          <a:xfrm>
            <a:off x="10515600" y="4023360"/>
            <a:ext cx="3291840" cy="3291840"/>
          </a:xfrm>
          <a:prstGeom prst="ellipse">
            <a:avLst/>
          </a:prstGeom>
          <a:solidFill>
            <a:srgbClr val="2A3778"/>
          </a:solidFill>
          <a:ln/>
        </p:spPr>
      </p:sp>
      <p:sp>
        <p:nvSpPr>
          <p:cNvPr id="4" name="Shape 2"/>
          <p:cNvSpPr/>
          <p:nvPr/>
        </p:nvSpPr>
        <p:spPr>
          <a:xfrm>
            <a:off x="822960" y="685800"/>
            <a:ext cx="868680" cy="868680"/>
          </a:xfrm>
          <a:prstGeom prst="ellipse">
            <a:avLst/>
          </a:prstGeom>
          <a:solidFill>
            <a:srgbClr val="2A3778"/>
          </a:solidFill>
          <a:ln/>
        </p:spPr>
      </p:sp>
      <p:pic>
        <p:nvPicPr>
          <p:cNvPr id="5" name="Image 0" descr="/home/claude/fob-slides/icons_out/key_white.png"/>
          <p:cNvPicPr>
            <a:picLocks noChangeAspect="1"/>
          </p:cNvPicPr>
          <p:nvPr/>
        </p:nvPicPr>
        <p:blipFill>
          <a:blip r:embed="rId1"/>
          <a:stretch>
            <a:fillRect/>
          </a:stretch>
        </p:blipFill>
        <p:spPr>
          <a:xfrm>
            <a:off x="1040130" y="902970"/>
            <a:ext cx="434340" cy="434340"/>
          </a:xfrm>
          <a:prstGeom prst="rect">
            <a:avLst/>
          </a:prstGeom>
        </p:spPr>
      </p:pic>
      <p:sp>
        <p:nvSpPr>
          <p:cNvPr id="6" name="Text 3"/>
          <p:cNvSpPr txBox="1"/>
          <p:nvPr/>
        </p:nvSpPr>
        <p:spPr>
          <a:xfrm>
            <a:off x="822960" y="1783080"/>
            <a:ext cx="10241280" cy="411480"/>
          </a:xfrm>
          <a:prstGeom prst="rect">
            <a:avLst/>
          </a:prstGeom>
          <a:noFill/>
          <a:ln/>
        </p:spPr>
        <p:txBody>
          <a:bodyPr wrap="square" lIns="0" tIns="0" rIns="0" bIns="0" rtlCol="0" anchor="t"/>
          <a:lstStyle/>
          <a:p>
            <a:pPr algn="l" indent="0" marL="0">
              <a:lnSpc>
                <a:spcPct val="100000"/>
              </a:lnSpc>
              <a:buNone/>
            </a:pPr>
            <a:r>
              <a:rPr lang="en-US" sz="1700" b="1" dirty="0">
                <a:solidFill>
                  <a:srgbClr val="CADCFC"/>
                </a:solidFill>
                <a:latin typeface="Times New Roman" pitchFamily="34" charset="0"/>
                <a:ea typeface="Times New Roman" pitchFamily="34" charset="-122"/>
                <a:cs typeface="Times New Roman" pitchFamily="34" charset="-120"/>
              </a:rPr>
              <a:t>FOYDALANISHLARNI BOSHQARISH  ·  FOB1506  ·  7-MA'RUZA</a:t>
            </a:r>
            <a:endParaRPr lang="en-US" sz="1700" dirty="0"/>
          </a:p>
        </p:txBody>
      </p:sp>
      <p:sp>
        <p:nvSpPr>
          <p:cNvPr id="7" name="Text 4"/>
          <p:cNvSpPr txBox="1"/>
          <p:nvPr/>
        </p:nvSpPr>
        <p:spPr>
          <a:xfrm>
            <a:off x="822960" y="2240280"/>
            <a:ext cx="9692640" cy="914400"/>
          </a:xfrm>
          <a:prstGeom prst="rect">
            <a:avLst/>
          </a:prstGeom>
          <a:noFill/>
          <a:ln/>
        </p:spPr>
        <p:txBody>
          <a:bodyPr wrap="square" lIns="0" tIns="0" rIns="0" bIns="0" rtlCol="0" anchor="t"/>
          <a:lstStyle/>
          <a:p>
            <a:pPr algn="l" indent="0" marL="0">
              <a:lnSpc>
                <a:spcPct val="100000"/>
              </a:lnSpc>
              <a:buNone/>
            </a:pPr>
            <a:r>
              <a:rPr lang="en-US" sz="4400" b="1" dirty="0">
                <a:solidFill>
                  <a:srgbClr val="FFFFFF"/>
                </a:solidFill>
                <a:latin typeface="Times New Roman" pitchFamily="34" charset="0"/>
                <a:ea typeface="Times New Roman" pitchFamily="34" charset="-122"/>
                <a:cs typeface="Times New Roman" pitchFamily="34" charset="-120"/>
              </a:rPr>
              <a:t>Yagona tizimga kirish va federatsiyalashgan identifikatsiya: SSO va SAML 2.0</a:t>
            </a:r>
            <a:endParaRPr lang="en-US" sz="4400" dirty="0"/>
          </a:p>
        </p:txBody>
      </p:sp>
      <p:sp>
        <p:nvSpPr>
          <p:cNvPr id="8" name="Text 5"/>
          <p:cNvSpPr txBox="1"/>
          <p:nvPr/>
        </p:nvSpPr>
        <p:spPr>
          <a:xfrm>
            <a:off x="822960" y="3154680"/>
            <a:ext cx="10058400" cy="457200"/>
          </a:xfrm>
          <a:prstGeom prst="rect">
            <a:avLst/>
          </a:prstGeom>
          <a:noFill/>
          <a:ln/>
        </p:spPr>
        <p:txBody>
          <a:bodyPr wrap="square" lIns="0" tIns="0" rIns="0" bIns="0" rtlCol="0" anchor="t"/>
          <a:lstStyle/>
          <a:p>
            <a:pPr algn="l" indent="0" marL="0">
              <a:lnSpc>
                <a:spcPct val="100000"/>
              </a:lnSpc>
              <a:buNone/>
            </a:pPr>
            <a:r>
              <a:rPr lang="en-US" sz="2000" dirty="0">
                <a:solidFill>
                  <a:srgbClr val="CADCFC"/>
                </a:solidFill>
                <a:latin typeface="Times New Roman" pitchFamily="34" charset="0"/>
                <a:ea typeface="Times New Roman" pitchFamily="34" charset="-122"/>
                <a:cs typeface="Times New Roman" pitchFamily="34" charset="-120"/>
              </a:rPr>
              <a:t>Kerberos SSO  ·  AD FS  ·  Microsoft Entra ID</a:t>
            </a:r>
            <a:endParaRPr lang="en-US" sz="2000" dirty="0"/>
          </a:p>
        </p:txBody>
      </p:sp>
      <p:sp>
        <p:nvSpPr>
          <p:cNvPr id="9" name="Shape 6"/>
          <p:cNvSpPr/>
          <p:nvPr/>
        </p:nvSpPr>
        <p:spPr>
          <a:xfrm>
            <a:off x="822960" y="3931920"/>
            <a:ext cx="1143000" cy="438912"/>
          </a:xfrm>
          <a:prstGeom prst="roundRect">
            <a:avLst>
              <a:gd name="adj" fmla="val 50000"/>
            </a:avLst>
          </a:prstGeom>
          <a:solidFill>
            <a:srgbClr val="2A3778"/>
          </a:solidFill>
          <a:ln/>
        </p:spPr>
      </p:sp>
      <p:sp>
        <p:nvSpPr>
          <p:cNvPr id="10" name="Text 7"/>
          <p:cNvSpPr txBox="1"/>
          <p:nvPr/>
        </p:nvSpPr>
        <p:spPr>
          <a:xfrm>
            <a:off x="822960" y="3931920"/>
            <a:ext cx="1143000" cy="438912"/>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2 soat</a:t>
            </a:r>
            <a:endParaRPr lang="en-US" sz="1400" dirty="0"/>
          </a:p>
        </p:txBody>
      </p:sp>
      <p:sp>
        <p:nvSpPr>
          <p:cNvPr id="11" name="Shape 8"/>
          <p:cNvSpPr/>
          <p:nvPr/>
        </p:nvSpPr>
        <p:spPr>
          <a:xfrm>
            <a:off x="2148840" y="3931920"/>
            <a:ext cx="2514600" cy="438912"/>
          </a:xfrm>
          <a:prstGeom prst="roundRect">
            <a:avLst>
              <a:gd name="adj" fmla="val 50000"/>
            </a:avLst>
          </a:prstGeom>
          <a:solidFill>
            <a:srgbClr val="2A3778"/>
          </a:solidFill>
          <a:ln/>
        </p:spPr>
      </p:sp>
      <p:sp>
        <p:nvSpPr>
          <p:cNvPr id="12" name="Text 9"/>
          <p:cNvSpPr txBox="1"/>
          <p:nvPr/>
        </p:nvSpPr>
        <p:spPr>
          <a:xfrm>
            <a:off x="2148840" y="3931920"/>
            <a:ext cx="2514600" cy="438912"/>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18 ma'ruzadan 7-si</a:t>
            </a:r>
            <a:endParaRPr lang="en-US" sz="1400" dirty="0"/>
          </a:p>
        </p:txBody>
      </p:sp>
      <p:sp>
        <p:nvSpPr>
          <p:cNvPr id="13" name="Shape 10"/>
          <p:cNvSpPr/>
          <p:nvPr/>
        </p:nvSpPr>
        <p:spPr>
          <a:xfrm>
            <a:off x="4846320" y="3931920"/>
            <a:ext cx="1600200" cy="438912"/>
          </a:xfrm>
          <a:prstGeom prst="roundRect">
            <a:avLst>
              <a:gd name="adj" fmla="val 50000"/>
            </a:avLst>
          </a:prstGeom>
          <a:solidFill>
            <a:srgbClr val="2A3778"/>
          </a:solidFill>
          <a:ln/>
        </p:spPr>
      </p:sp>
      <p:sp>
        <p:nvSpPr>
          <p:cNvPr id="14" name="Text 11"/>
          <p:cNvSpPr txBox="1"/>
          <p:nvPr/>
        </p:nvSpPr>
        <p:spPr>
          <a:xfrm>
            <a:off x="4846320" y="3931920"/>
            <a:ext cx="1600200" cy="438912"/>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Amaliy: A7</a:t>
            </a:r>
            <a:endParaRPr lang="en-US" sz="1400" dirty="0"/>
          </a:p>
        </p:txBody>
      </p:sp>
      <p:sp>
        <p:nvSpPr>
          <p:cNvPr id="15" name="Shape 12"/>
          <p:cNvSpPr/>
          <p:nvPr/>
        </p:nvSpPr>
        <p:spPr>
          <a:xfrm>
            <a:off x="6629400" y="3931920"/>
            <a:ext cx="2400300" cy="438912"/>
          </a:xfrm>
          <a:prstGeom prst="roundRect">
            <a:avLst>
              <a:gd name="adj" fmla="val 50000"/>
            </a:avLst>
          </a:prstGeom>
          <a:solidFill>
            <a:srgbClr val="2A3778"/>
          </a:solidFill>
          <a:ln/>
        </p:spPr>
      </p:sp>
      <p:sp>
        <p:nvSpPr>
          <p:cNvPr id="16" name="Text 13"/>
          <p:cNvSpPr txBox="1"/>
          <p:nvPr/>
        </p:nvSpPr>
        <p:spPr>
          <a:xfrm>
            <a:off x="6629400" y="3931920"/>
            <a:ext cx="2400300" cy="438912"/>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Windows namoyishi</a:t>
            </a:r>
            <a:endParaRPr lang="en-US" sz="1400" dirty="0"/>
          </a:p>
        </p:txBody>
      </p:sp>
      <p:sp>
        <p:nvSpPr>
          <p:cNvPr id="17" name="Text 14"/>
          <p:cNvSpPr txBox="1"/>
          <p:nvPr/>
        </p:nvSpPr>
        <p:spPr>
          <a:xfrm>
            <a:off x="822960" y="5897880"/>
            <a:ext cx="9144000" cy="365760"/>
          </a:xfrm>
          <a:prstGeom prst="rect">
            <a:avLst/>
          </a:prstGeom>
          <a:noFill/>
          <a:ln/>
        </p:spPr>
        <p:txBody>
          <a:bodyPr wrap="square" lIns="0" tIns="0" rIns="0" bIns="0" rtlCol="0" anchor="t"/>
          <a:lstStyle/>
          <a:p>
            <a:pPr algn="l" indent="0" marL="0">
              <a:lnSpc>
                <a:spcPct val="100000"/>
              </a:lnSpc>
              <a:buNone/>
            </a:pPr>
            <a:r>
              <a:rPr lang="en-US" sz="1400" dirty="0">
                <a:solidFill>
                  <a:srgbClr val="9FB0E0"/>
                </a:solidFill>
                <a:latin typeface="Times New Roman" pitchFamily="34" charset="0"/>
                <a:ea typeface="Times New Roman" pitchFamily="34" charset="-122"/>
                <a:cs typeface="Times New Roman" pitchFamily="34" charset="-120"/>
              </a:rPr>
              <a:t>Mirzo Ulug'bek nomidagi O'zbekiston Milliy universiteti  ·  Axborot xavfsizligi kafedrasi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DARS XARITASI</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Bugungi ma'ruza qanday quriladi</a:t>
            </a:r>
            <a:endParaRPr lang="en-US" sz="3600" dirty="0"/>
          </a:p>
        </p:txBody>
      </p:sp>
      <p:sp>
        <p:nvSpPr>
          <p:cNvPr id="4" name="Shape 2"/>
          <p:cNvSpPr/>
          <p:nvPr/>
        </p:nvSpPr>
        <p:spPr>
          <a:xfrm>
            <a:off x="548640" y="1783080"/>
            <a:ext cx="7863840" cy="1234440"/>
          </a:xfrm>
          <a:prstGeom prst="roundRect">
            <a:avLst>
              <a:gd name="adj" fmla="val 6667"/>
            </a:avLst>
          </a:prstGeom>
          <a:solidFill>
            <a:srgbClr val="EEF2FB"/>
          </a:solidFill>
          <a:ln/>
        </p:spPr>
      </p:sp>
      <p:sp>
        <p:nvSpPr>
          <p:cNvPr id="5" name="Shape 3"/>
          <p:cNvSpPr/>
          <p:nvPr/>
        </p:nvSpPr>
        <p:spPr>
          <a:xfrm>
            <a:off x="548640" y="1783080"/>
            <a:ext cx="914400" cy="1234440"/>
          </a:xfrm>
          <a:prstGeom prst="roundRect">
            <a:avLst>
              <a:gd name="adj" fmla="val 9000"/>
            </a:avLst>
          </a:prstGeom>
          <a:solidFill>
            <a:srgbClr val="1E2761"/>
          </a:solidFill>
          <a:ln/>
        </p:spPr>
      </p:sp>
      <p:sp>
        <p:nvSpPr>
          <p:cNvPr id="6" name="Text 4"/>
          <p:cNvSpPr txBox="1"/>
          <p:nvPr/>
        </p:nvSpPr>
        <p:spPr>
          <a:xfrm>
            <a:off x="548640" y="1783080"/>
            <a:ext cx="914400" cy="1234440"/>
          </a:xfrm>
          <a:prstGeom prst="rect">
            <a:avLst/>
          </a:prstGeom>
          <a:noFill/>
          <a:ln/>
        </p:spPr>
        <p:txBody>
          <a:bodyPr wrap="square" lIns="50800" tIns="50800" rIns="50800" bIns="50800" rtlCol="0" anchor="ctr"/>
          <a:lstStyle/>
          <a:p>
            <a:pPr algn="ctr" indent="0" marL="0">
              <a:lnSpc>
                <a:spcPct val="100000"/>
              </a:lnSpc>
              <a:buNone/>
            </a:pPr>
            <a:r>
              <a:rPr lang="en-US" sz="3200" b="1" dirty="0">
                <a:solidFill>
                  <a:srgbClr val="FFFFFF"/>
                </a:solidFill>
                <a:latin typeface="Times New Roman" pitchFamily="34" charset="0"/>
                <a:ea typeface="Times New Roman" pitchFamily="34" charset="-122"/>
                <a:cs typeface="Times New Roman" pitchFamily="34" charset="-120"/>
              </a:rPr>
              <a:t>I</a:t>
            </a:r>
            <a:endParaRPr lang="en-US" sz="3200" dirty="0"/>
          </a:p>
        </p:txBody>
      </p:sp>
      <p:sp>
        <p:nvSpPr>
          <p:cNvPr id="7" name="Text 5"/>
          <p:cNvSpPr txBox="1"/>
          <p:nvPr/>
        </p:nvSpPr>
        <p:spPr>
          <a:xfrm>
            <a:off x="1691640" y="1947672"/>
            <a:ext cx="539496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Yagona kirish tushunchasi</a:t>
            </a:r>
            <a:endParaRPr lang="en-US" sz="2000" dirty="0"/>
          </a:p>
        </p:txBody>
      </p:sp>
      <p:sp>
        <p:nvSpPr>
          <p:cNvPr id="8" name="Text 6"/>
          <p:cNvSpPr txBox="1"/>
          <p:nvPr/>
        </p:nvSpPr>
        <p:spPr>
          <a:xfrm>
            <a:off x="1691640" y="2423160"/>
            <a:ext cx="5669280" cy="41148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IdP va SP, ishonch, protokollar</a:t>
            </a:r>
            <a:endParaRPr lang="en-US" sz="1600" dirty="0"/>
          </a:p>
        </p:txBody>
      </p:sp>
      <p:sp>
        <p:nvSpPr>
          <p:cNvPr id="9" name="Text 7"/>
          <p:cNvSpPr txBox="1"/>
          <p:nvPr/>
        </p:nvSpPr>
        <p:spPr>
          <a:xfrm>
            <a:off x="7223760" y="1965960"/>
            <a:ext cx="1051560" cy="365760"/>
          </a:xfrm>
          <a:prstGeom prst="rect">
            <a:avLst/>
          </a:prstGeom>
          <a:noFill/>
          <a:ln/>
        </p:spPr>
        <p:txBody>
          <a:bodyPr wrap="square" lIns="0" tIns="0" rIns="0" bIns="0" rtlCol="0" anchor="t"/>
          <a:lstStyle/>
          <a:p>
            <a:pPr algn="r"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~15 daq.</a:t>
            </a:r>
            <a:endParaRPr lang="en-US" sz="1600" dirty="0"/>
          </a:p>
        </p:txBody>
      </p:sp>
      <p:sp>
        <p:nvSpPr>
          <p:cNvPr id="10" name="Shape 8"/>
          <p:cNvSpPr/>
          <p:nvPr/>
        </p:nvSpPr>
        <p:spPr>
          <a:xfrm>
            <a:off x="548640" y="3182112"/>
            <a:ext cx="7863840" cy="1234440"/>
          </a:xfrm>
          <a:prstGeom prst="roundRect">
            <a:avLst>
              <a:gd name="adj" fmla="val 6667"/>
            </a:avLst>
          </a:prstGeom>
          <a:solidFill>
            <a:srgbClr val="EEF2FB"/>
          </a:solidFill>
          <a:ln/>
        </p:spPr>
      </p:sp>
      <p:sp>
        <p:nvSpPr>
          <p:cNvPr id="11" name="Shape 9"/>
          <p:cNvSpPr/>
          <p:nvPr/>
        </p:nvSpPr>
        <p:spPr>
          <a:xfrm>
            <a:off x="548640" y="3182112"/>
            <a:ext cx="914400" cy="1234440"/>
          </a:xfrm>
          <a:prstGeom prst="roundRect">
            <a:avLst>
              <a:gd name="adj" fmla="val 9000"/>
            </a:avLst>
          </a:prstGeom>
          <a:solidFill>
            <a:srgbClr val="1E2761"/>
          </a:solidFill>
          <a:ln/>
        </p:spPr>
      </p:sp>
      <p:sp>
        <p:nvSpPr>
          <p:cNvPr id="12" name="Text 10"/>
          <p:cNvSpPr txBox="1"/>
          <p:nvPr/>
        </p:nvSpPr>
        <p:spPr>
          <a:xfrm>
            <a:off x="548640" y="3182112"/>
            <a:ext cx="914400" cy="1234440"/>
          </a:xfrm>
          <a:prstGeom prst="rect">
            <a:avLst/>
          </a:prstGeom>
          <a:noFill/>
          <a:ln/>
        </p:spPr>
        <p:txBody>
          <a:bodyPr wrap="square" lIns="50800" tIns="50800" rIns="50800" bIns="50800" rtlCol="0" anchor="ctr"/>
          <a:lstStyle/>
          <a:p>
            <a:pPr algn="ctr" indent="0" marL="0">
              <a:lnSpc>
                <a:spcPct val="100000"/>
              </a:lnSpc>
              <a:buNone/>
            </a:pPr>
            <a:r>
              <a:rPr lang="en-US" sz="3200" b="1" dirty="0">
                <a:solidFill>
                  <a:srgbClr val="FFFFFF"/>
                </a:solidFill>
                <a:latin typeface="Times New Roman" pitchFamily="34" charset="0"/>
                <a:ea typeface="Times New Roman" pitchFamily="34" charset="-122"/>
                <a:cs typeface="Times New Roman" pitchFamily="34" charset="-120"/>
              </a:rPr>
              <a:t>II</a:t>
            </a:r>
            <a:endParaRPr lang="en-US" sz="3200" dirty="0"/>
          </a:p>
        </p:txBody>
      </p:sp>
      <p:sp>
        <p:nvSpPr>
          <p:cNvPr id="13" name="Text 11"/>
          <p:cNvSpPr txBox="1"/>
          <p:nvPr/>
        </p:nvSpPr>
        <p:spPr>
          <a:xfrm>
            <a:off x="1691640" y="3346704"/>
            <a:ext cx="539496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SAML 2.0</a:t>
            </a:r>
            <a:endParaRPr lang="en-US" sz="2000" dirty="0"/>
          </a:p>
        </p:txBody>
      </p:sp>
      <p:sp>
        <p:nvSpPr>
          <p:cNvPr id="14" name="Text 12"/>
          <p:cNvSpPr txBox="1"/>
          <p:nvPr/>
        </p:nvSpPr>
        <p:spPr>
          <a:xfrm>
            <a:off x="1691640" y="3822192"/>
            <a:ext cx="5669280" cy="41148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Rollar, oqim, tasdiqnoma, hujumlar</a:t>
            </a:r>
            <a:endParaRPr lang="en-US" sz="1600" dirty="0"/>
          </a:p>
        </p:txBody>
      </p:sp>
      <p:sp>
        <p:nvSpPr>
          <p:cNvPr id="15" name="Text 13"/>
          <p:cNvSpPr txBox="1"/>
          <p:nvPr/>
        </p:nvSpPr>
        <p:spPr>
          <a:xfrm>
            <a:off x="7223760" y="3364992"/>
            <a:ext cx="1051560" cy="365760"/>
          </a:xfrm>
          <a:prstGeom prst="rect">
            <a:avLst/>
          </a:prstGeom>
          <a:noFill/>
          <a:ln/>
        </p:spPr>
        <p:txBody>
          <a:bodyPr wrap="square" lIns="0" tIns="0" rIns="0" bIns="0" rtlCol="0" anchor="t"/>
          <a:lstStyle/>
          <a:p>
            <a:pPr algn="r"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~35 daq.</a:t>
            </a:r>
            <a:endParaRPr lang="en-US" sz="1600" dirty="0"/>
          </a:p>
        </p:txBody>
      </p:sp>
      <p:sp>
        <p:nvSpPr>
          <p:cNvPr id="16" name="Shape 14"/>
          <p:cNvSpPr/>
          <p:nvPr/>
        </p:nvSpPr>
        <p:spPr>
          <a:xfrm>
            <a:off x="548640" y="4581144"/>
            <a:ext cx="7863840" cy="1234440"/>
          </a:xfrm>
          <a:prstGeom prst="roundRect">
            <a:avLst>
              <a:gd name="adj" fmla="val 6667"/>
            </a:avLst>
          </a:prstGeom>
          <a:solidFill>
            <a:srgbClr val="EEF2FB"/>
          </a:solidFill>
          <a:ln/>
        </p:spPr>
      </p:sp>
      <p:sp>
        <p:nvSpPr>
          <p:cNvPr id="17" name="Shape 15"/>
          <p:cNvSpPr/>
          <p:nvPr/>
        </p:nvSpPr>
        <p:spPr>
          <a:xfrm>
            <a:off x="548640" y="4581144"/>
            <a:ext cx="914400" cy="1234440"/>
          </a:xfrm>
          <a:prstGeom prst="roundRect">
            <a:avLst>
              <a:gd name="adj" fmla="val 9000"/>
            </a:avLst>
          </a:prstGeom>
          <a:solidFill>
            <a:srgbClr val="1E2761"/>
          </a:solidFill>
          <a:ln/>
        </p:spPr>
      </p:sp>
      <p:sp>
        <p:nvSpPr>
          <p:cNvPr id="18" name="Text 16"/>
          <p:cNvSpPr txBox="1"/>
          <p:nvPr/>
        </p:nvSpPr>
        <p:spPr>
          <a:xfrm>
            <a:off x="548640" y="4581144"/>
            <a:ext cx="914400" cy="1234440"/>
          </a:xfrm>
          <a:prstGeom prst="rect">
            <a:avLst/>
          </a:prstGeom>
          <a:noFill/>
          <a:ln/>
        </p:spPr>
        <p:txBody>
          <a:bodyPr wrap="square" lIns="50800" tIns="50800" rIns="50800" bIns="50800" rtlCol="0" anchor="ctr"/>
          <a:lstStyle/>
          <a:p>
            <a:pPr algn="ctr" indent="0" marL="0">
              <a:lnSpc>
                <a:spcPct val="100000"/>
              </a:lnSpc>
              <a:buNone/>
            </a:pPr>
            <a:r>
              <a:rPr lang="en-US" sz="3200" b="1" dirty="0">
                <a:solidFill>
                  <a:srgbClr val="FFFFFF"/>
                </a:solidFill>
                <a:latin typeface="Times New Roman" pitchFamily="34" charset="0"/>
                <a:ea typeface="Times New Roman" pitchFamily="34" charset="-122"/>
                <a:cs typeface="Times New Roman" pitchFamily="34" charset="-120"/>
              </a:rPr>
              <a:t>III</a:t>
            </a:r>
            <a:endParaRPr lang="en-US" sz="3200" dirty="0"/>
          </a:p>
        </p:txBody>
      </p:sp>
      <p:sp>
        <p:nvSpPr>
          <p:cNvPr id="19" name="Text 17"/>
          <p:cNvSpPr txBox="1"/>
          <p:nvPr/>
        </p:nvSpPr>
        <p:spPr>
          <a:xfrm>
            <a:off x="1691640" y="4745736"/>
            <a:ext cx="539496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Windows'da SSO</a:t>
            </a:r>
            <a:endParaRPr lang="en-US" sz="2000" dirty="0"/>
          </a:p>
        </p:txBody>
      </p:sp>
      <p:sp>
        <p:nvSpPr>
          <p:cNvPr id="20" name="Text 18"/>
          <p:cNvSpPr txBox="1"/>
          <p:nvPr/>
        </p:nvSpPr>
        <p:spPr>
          <a:xfrm>
            <a:off x="1691640" y="5221224"/>
            <a:ext cx="5669280" cy="41148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IWA, AD FS, Golden SAML, Entra ID</a:t>
            </a:r>
            <a:endParaRPr lang="en-US" sz="1600" dirty="0"/>
          </a:p>
        </p:txBody>
      </p:sp>
      <p:sp>
        <p:nvSpPr>
          <p:cNvPr id="21" name="Text 19"/>
          <p:cNvSpPr txBox="1"/>
          <p:nvPr/>
        </p:nvSpPr>
        <p:spPr>
          <a:xfrm>
            <a:off x="7223760" y="4764024"/>
            <a:ext cx="1051560" cy="365760"/>
          </a:xfrm>
          <a:prstGeom prst="rect">
            <a:avLst/>
          </a:prstGeom>
          <a:noFill/>
          <a:ln/>
        </p:spPr>
        <p:txBody>
          <a:bodyPr wrap="square" lIns="0" tIns="0" rIns="0" bIns="0" rtlCol="0" anchor="t"/>
          <a:lstStyle/>
          <a:p>
            <a:pPr algn="r"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~30 daq.</a:t>
            </a:r>
            <a:endParaRPr lang="en-US" sz="1600" dirty="0"/>
          </a:p>
        </p:txBody>
      </p:sp>
      <p:sp>
        <p:nvSpPr>
          <p:cNvPr id="22" name="Shape 20"/>
          <p:cNvSpPr/>
          <p:nvPr/>
        </p:nvSpPr>
        <p:spPr>
          <a:xfrm>
            <a:off x="8686800" y="1783080"/>
            <a:ext cx="2926080" cy="4032504"/>
          </a:xfrm>
          <a:prstGeom prst="roundRect">
            <a:avLst>
              <a:gd name="adj" fmla="val 2813"/>
            </a:avLst>
          </a:prstGeom>
          <a:solidFill>
            <a:srgbClr val="FDF3E2"/>
          </a:solidFill>
          <a:ln/>
        </p:spPr>
      </p:sp>
      <p:sp>
        <p:nvSpPr>
          <p:cNvPr id="23" name="Shape 21"/>
          <p:cNvSpPr/>
          <p:nvPr/>
        </p:nvSpPr>
        <p:spPr>
          <a:xfrm>
            <a:off x="8961120" y="2011680"/>
            <a:ext cx="566928" cy="566928"/>
          </a:xfrm>
          <a:prstGeom prst="ellipse">
            <a:avLst/>
          </a:prstGeom>
          <a:solidFill>
            <a:srgbClr val="D9932B"/>
          </a:solidFill>
          <a:ln/>
        </p:spPr>
      </p:sp>
      <p:pic>
        <p:nvPicPr>
          <p:cNvPr id="24" name="Image 0" descr="/home/claude/fob-slides/icons_out/bulb_white.png"/>
          <p:cNvPicPr>
            <a:picLocks noChangeAspect="1"/>
          </p:cNvPicPr>
          <p:nvPr/>
        </p:nvPicPr>
        <p:blipFill>
          <a:blip r:embed="rId1"/>
          <a:stretch>
            <a:fillRect/>
          </a:stretch>
        </p:blipFill>
        <p:spPr>
          <a:xfrm>
            <a:off x="9088679" y="2139239"/>
            <a:ext cx="311810" cy="311810"/>
          </a:xfrm>
          <a:prstGeom prst="rect">
            <a:avLst/>
          </a:prstGeom>
        </p:spPr>
      </p:pic>
      <p:sp>
        <p:nvSpPr>
          <p:cNvPr id="25" name="Text 22"/>
          <p:cNvSpPr txBox="1"/>
          <p:nvPr/>
        </p:nvSpPr>
        <p:spPr>
          <a:xfrm>
            <a:off x="8961120" y="2697480"/>
            <a:ext cx="2468880" cy="411480"/>
          </a:xfrm>
          <a:prstGeom prst="rect">
            <a:avLst/>
          </a:prstGeom>
          <a:noFill/>
          <a:ln/>
        </p:spPr>
        <p:txBody>
          <a:bodyPr wrap="square" lIns="0" tIns="0" rIns="0" bIns="0" rtlCol="0" anchor="t"/>
          <a:lstStyle/>
          <a:p>
            <a:pPr algn="l" indent="0" marL="0">
              <a:lnSpc>
                <a:spcPct val="100000"/>
              </a:lnSpc>
              <a:buNone/>
            </a:pPr>
            <a:r>
              <a:rPr lang="en-US" sz="1800" b="1" dirty="0">
                <a:solidFill>
                  <a:srgbClr val="9A5B00"/>
                </a:solidFill>
                <a:latin typeface="Times New Roman" pitchFamily="34" charset="0"/>
                <a:ea typeface="Times New Roman" pitchFamily="34" charset="-122"/>
                <a:cs typeface="Times New Roman" pitchFamily="34" charset="-120"/>
              </a:rPr>
              <a:t>Interaktiv nuqtalar</a:t>
            </a:r>
            <a:endParaRPr lang="en-US" sz="1800" dirty="0"/>
          </a:p>
        </p:txBody>
      </p:sp>
      <p:sp>
        <p:nvSpPr>
          <p:cNvPr id="26" name="Text 23"/>
          <p:cNvSpPr txBox="1"/>
          <p:nvPr/>
        </p:nvSpPr>
        <p:spPr>
          <a:xfrm>
            <a:off x="9006840" y="3154680"/>
            <a:ext cx="2514600" cy="256032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Muhokama: bitta talaba — nechta parol?</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Mini-vazifa: tasdiqnomani tekshiring</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Jonli namoyish: SAML javobini ochish</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Tezkor test (4 savol)</a:t>
            </a:r>
            <a:endParaRPr lang="en-US" sz="1600" dirty="0"/>
          </a:p>
        </p:txBody>
      </p:sp>
      <p:sp>
        <p:nvSpPr>
          <p:cNvPr id="27" name="Text 24"/>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7-ma'ruza</a:t>
            </a:r>
            <a:endParaRPr lang="en-US" sz="1100" dirty="0"/>
          </a:p>
        </p:txBody>
      </p:sp>
      <p:sp>
        <p:nvSpPr>
          <p:cNvPr id="28" name="Text 25"/>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MUHOKAMA · 5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Bitta talaba — nechta parol?</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users_white.png"/>
          <p:cNvPicPr>
            <a:picLocks noChangeAspect="1"/>
          </p:cNvPicPr>
          <p:nvPr/>
        </p:nvPicPr>
        <p:blipFill>
          <a:blip r:embed="rId1"/>
          <a:stretch>
            <a:fillRect/>
          </a:stretch>
        </p:blipFill>
        <p:spPr>
          <a:xfrm>
            <a:off x="10978744" y="646024"/>
            <a:ext cx="399593" cy="399593"/>
          </a:xfrm>
          <a:prstGeom prst="rect">
            <a:avLst/>
          </a:prstGeom>
        </p:spPr>
      </p:pic>
      <p:sp>
        <p:nvSpPr>
          <p:cNvPr id="6" name="Shape 3"/>
          <p:cNvSpPr/>
          <p:nvPr/>
        </p:nvSpPr>
        <p:spPr>
          <a:xfrm>
            <a:off x="548640" y="1783080"/>
            <a:ext cx="1719072" cy="914400"/>
          </a:xfrm>
          <a:prstGeom prst="roundRect">
            <a:avLst>
              <a:gd name="adj" fmla="val 9000"/>
            </a:avLst>
          </a:prstGeom>
          <a:solidFill>
            <a:srgbClr val="FFFFFF"/>
          </a:solidFill>
          <a:ln/>
        </p:spPr>
      </p:sp>
      <p:sp>
        <p:nvSpPr>
          <p:cNvPr id="7" name="Text 4"/>
          <p:cNvSpPr txBox="1"/>
          <p:nvPr/>
        </p:nvSpPr>
        <p:spPr>
          <a:xfrm>
            <a:off x="548640" y="1783080"/>
            <a:ext cx="1719072" cy="914400"/>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HEMIS</a:t>
            </a:r>
            <a:endParaRPr lang="en-US" sz="1600" dirty="0"/>
          </a:p>
        </p:txBody>
      </p:sp>
      <p:sp>
        <p:nvSpPr>
          <p:cNvPr id="8" name="Shape 5"/>
          <p:cNvSpPr/>
          <p:nvPr/>
        </p:nvSpPr>
        <p:spPr>
          <a:xfrm>
            <a:off x="2404872" y="1783080"/>
            <a:ext cx="1719072" cy="914400"/>
          </a:xfrm>
          <a:prstGeom prst="roundRect">
            <a:avLst>
              <a:gd name="adj" fmla="val 9000"/>
            </a:avLst>
          </a:prstGeom>
          <a:solidFill>
            <a:srgbClr val="FFFFFF"/>
          </a:solidFill>
          <a:ln/>
        </p:spPr>
      </p:sp>
      <p:sp>
        <p:nvSpPr>
          <p:cNvPr id="9" name="Text 6"/>
          <p:cNvSpPr txBox="1"/>
          <p:nvPr/>
        </p:nvSpPr>
        <p:spPr>
          <a:xfrm>
            <a:off x="2404872" y="1783080"/>
            <a:ext cx="1719072" cy="914400"/>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Moodle (LMS)</a:t>
            </a:r>
            <a:endParaRPr lang="en-US" sz="1600" dirty="0"/>
          </a:p>
        </p:txBody>
      </p:sp>
      <p:sp>
        <p:nvSpPr>
          <p:cNvPr id="10" name="Shape 7"/>
          <p:cNvSpPr/>
          <p:nvPr/>
        </p:nvSpPr>
        <p:spPr>
          <a:xfrm>
            <a:off x="4261104" y="1783080"/>
            <a:ext cx="1719072" cy="914400"/>
          </a:xfrm>
          <a:prstGeom prst="roundRect">
            <a:avLst>
              <a:gd name="adj" fmla="val 9000"/>
            </a:avLst>
          </a:prstGeom>
          <a:solidFill>
            <a:srgbClr val="FFFFFF"/>
          </a:solidFill>
          <a:ln/>
        </p:spPr>
      </p:sp>
      <p:sp>
        <p:nvSpPr>
          <p:cNvPr id="11" name="Text 8"/>
          <p:cNvSpPr txBox="1"/>
          <p:nvPr/>
        </p:nvSpPr>
        <p:spPr>
          <a:xfrm>
            <a:off x="4261104" y="1783080"/>
            <a:ext cx="1719072" cy="914400"/>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Universitet pochtasi</a:t>
            </a:r>
            <a:endParaRPr lang="en-US" sz="1600" dirty="0"/>
          </a:p>
        </p:txBody>
      </p:sp>
      <p:sp>
        <p:nvSpPr>
          <p:cNvPr id="12" name="Shape 9"/>
          <p:cNvSpPr/>
          <p:nvPr/>
        </p:nvSpPr>
        <p:spPr>
          <a:xfrm>
            <a:off x="6117336" y="1783080"/>
            <a:ext cx="1719072" cy="914400"/>
          </a:xfrm>
          <a:prstGeom prst="roundRect">
            <a:avLst>
              <a:gd name="adj" fmla="val 9000"/>
            </a:avLst>
          </a:prstGeom>
          <a:solidFill>
            <a:srgbClr val="FFFFFF"/>
          </a:solidFill>
          <a:ln/>
        </p:spPr>
      </p:sp>
      <p:sp>
        <p:nvSpPr>
          <p:cNvPr id="13" name="Text 10"/>
          <p:cNvSpPr txBox="1"/>
          <p:nvPr/>
        </p:nvSpPr>
        <p:spPr>
          <a:xfrm>
            <a:off x="6117336" y="1783080"/>
            <a:ext cx="1719072" cy="914400"/>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Wi-Fi</a:t>
            </a:r>
            <a:endParaRPr lang="en-US" sz="1600" dirty="0"/>
          </a:p>
        </p:txBody>
      </p:sp>
      <p:sp>
        <p:nvSpPr>
          <p:cNvPr id="14" name="Shape 11"/>
          <p:cNvSpPr/>
          <p:nvPr/>
        </p:nvSpPr>
        <p:spPr>
          <a:xfrm>
            <a:off x="7973568" y="1783080"/>
            <a:ext cx="1719072" cy="914400"/>
          </a:xfrm>
          <a:prstGeom prst="roundRect">
            <a:avLst>
              <a:gd name="adj" fmla="val 9000"/>
            </a:avLst>
          </a:prstGeom>
          <a:solidFill>
            <a:srgbClr val="FFFFFF"/>
          </a:solidFill>
          <a:ln/>
        </p:spPr>
      </p:sp>
      <p:sp>
        <p:nvSpPr>
          <p:cNvPr id="15" name="Text 12"/>
          <p:cNvSpPr txBox="1"/>
          <p:nvPr/>
        </p:nvSpPr>
        <p:spPr>
          <a:xfrm>
            <a:off x="7973568" y="1783080"/>
            <a:ext cx="1719072" cy="914400"/>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Kutubxona</a:t>
            </a:r>
            <a:endParaRPr lang="en-US" sz="1600" dirty="0"/>
          </a:p>
        </p:txBody>
      </p:sp>
      <p:sp>
        <p:nvSpPr>
          <p:cNvPr id="16" name="Shape 13"/>
          <p:cNvSpPr/>
          <p:nvPr/>
        </p:nvSpPr>
        <p:spPr>
          <a:xfrm>
            <a:off x="9829800" y="1783080"/>
            <a:ext cx="1719072" cy="914400"/>
          </a:xfrm>
          <a:prstGeom prst="roundRect">
            <a:avLst>
              <a:gd name="adj" fmla="val 9000"/>
            </a:avLst>
          </a:prstGeom>
          <a:solidFill>
            <a:srgbClr val="FFFFFF"/>
          </a:solidFill>
          <a:ln/>
        </p:spPr>
      </p:sp>
      <p:sp>
        <p:nvSpPr>
          <p:cNvPr id="17" name="Text 14"/>
          <p:cNvSpPr txBox="1"/>
          <p:nvPr/>
        </p:nvSpPr>
        <p:spPr>
          <a:xfrm>
            <a:off x="9829800" y="1783080"/>
            <a:ext cx="1719072" cy="914400"/>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Kompyuter sinfi</a:t>
            </a:r>
            <a:endParaRPr lang="en-US" sz="1600" dirty="0"/>
          </a:p>
        </p:txBody>
      </p:sp>
      <p:sp>
        <p:nvSpPr>
          <p:cNvPr id="18" name="Shape 15"/>
          <p:cNvSpPr/>
          <p:nvPr/>
        </p:nvSpPr>
        <p:spPr>
          <a:xfrm>
            <a:off x="548640" y="3017520"/>
            <a:ext cx="11064240" cy="914400"/>
          </a:xfrm>
          <a:prstGeom prst="roundRect">
            <a:avLst>
              <a:gd name="adj" fmla="val 9000"/>
            </a:avLst>
          </a:prstGeom>
          <a:solidFill>
            <a:srgbClr val="FFFFFF"/>
          </a:solidFill>
          <a:ln/>
        </p:spPr>
      </p:sp>
      <p:sp>
        <p:nvSpPr>
          <p:cNvPr id="19" name="Shape 16"/>
          <p:cNvSpPr/>
          <p:nvPr/>
        </p:nvSpPr>
        <p:spPr>
          <a:xfrm>
            <a:off x="822960" y="3182112"/>
            <a:ext cx="576072" cy="576072"/>
          </a:xfrm>
          <a:prstGeom prst="ellipse">
            <a:avLst/>
          </a:prstGeom>
          <a:solidFill>
            <a:srgbClr val="D9932B"/>
          </a:solidFill>
          <a:ln/>
        </p:spPr>
      </p:sp>
      <p:pic>
        <p:nvPicPr>
          <p:cNvPr id="20" name="Image 1" descr="/home/claude/fob-slides/icons_out/question_white.png"/>
          <p:cNvPicPr>
            <a:picLocks noChangeAspect="1"/>
          </p:cNvPicPr>
          <p:nvPr/>
        </p:nvPicPr>
        <p:blipFill>
          <a:blip r:embed="rId2"/>
          <a:stretch>
            <a:fillRect/>
          </a:stretch>
        </p:blipFill>
        <p:spPr>
          <a:xfrm>
            <a:off x="981380" y="3340532"/>
            <a:ext cx="259232" cy="259232"/>
          </a:xfrm>
          <a:prstGeom prst="rect">
            <a:avLst/>
          </a:prstGeom>
        </p:spPr>
      </p:pic>
      <p:sp>
        <p:nvSpPr>
          <p:cNvPr id="21" name="Text 17"/>
          <p:cNvSpPr txBox="1"/>
          <p:nvPr/>
        </p:nvSpPr>
        <p:spPr>
          <a:xfrm>
            <a:off x="1600200" y="3017520"/>
            <a:ext cx="9418320" cy="91440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Har bir tizimda alohida parol bo'lsa, 3-ma'ruzadagi qaysi muammolar kuchayadi?</a:t>
            </a:r>
            <a:endParaRPr lang="en-US" sz="1700" dirty="0"/>
          </a:p>
        </p:txBody>
      </p:sp>
      <p:sp>
        <p:nvSpPr>
          <p:cNvPr id="22" name="Text 18"/>
          <p:cNvSpPr txBox="1"/>
          <p:nvPr/>
        </p:nvSpPr>
        <p:spPr>
          <a:xfrm>
            <a:off x="11018520" y="3017520"/>
            <a:ext cx="411480" cy="914400"/>
          </a:xfrm>
          <a:prstGeom prst="rect">
            <a:avLst/>
          </a:prstGeom>
          <a:noFill/>
          <a:ln/>
        </p:spPr>
        <p:txBody>
          <a:bodyPr wrap="square" lIns="0" tIns="0" rIns="0" bIns="0" rtlCol="0" anchor="ctr"/>
          <a:lstStyle/>
          <a:p>
            <a:pPr algn="r" indent="0" marL="0">
              <a:lnSpc>
                <a:spcPct val="100000"/>
              </a:lnSpc>
              <a:buNone/>
            </a:pPr>
            <a:r>
              <a:rPr lang="en-US" sz="1800" b="1" dirty="0">
                <a:solidFill>
                  <a:srgbClr val="D9932B"/>
                </a:solidFill>
                <a:latin typeface="Times New Roman" pitchFamily="34" charset="0"/>
                <a:ea typeface="Times New Roman" pitchFamily="34" charset="-122"/>
                <a:cs typeface="Times New Roman" pitchFamily="34" charset="-120"/>
              </a:rPr>
              <a:t>1</a:t>
            </a:r>
            <a:endParaRPr lang="en-US" sz="1800" dirty="0"/>
          </a:p>
        </p:txBody>
      </p:sp>
      <p:sp>
        <p:nvSpPr>
          <p:cNvPr id="23" name="Shape 19"/>
          <p:cNvSpPr/>
          <p:nvPr/>
        </p:nvSpPr>
        <p:spPr>
          <a:xfrm>
            <a:off x="548640" y="4069080"/>
            <a:ext cx="11064240" cy="914400"/>
          </a:xfrm>
          <a:prstGeom prst="roundRect">
            <a:avLst>
              <a:gd name="adj" fmla="val 9000"/>
            </a:avLst>
          </a:prstGeom>
          <a:solidFill>
            <a:srgbClr val="FFFFFF"/>
          </a:solidFill>
          <a:ln/>
        </p:spPr>
      </p:sp>
      <p:sp>
        <p:nvSpPr>
          <p:cNvPr id="24" name="Shape 20"/>
          <p:cNvSpPr/>
          <p:nvPr/>
        </p:nvSpPr>
        <p:spPr>
          <a:xfrm>
            <a:off x="822960" y="4233672"/>
            <a:ext cx="576072" cy="576072"/>
          </a:xfrm>
          <a:prstGeom prst="ellipse">
            <a:avLst/>
          </a:prstGeom>
          <a:solidFill>
            <a:srgbClr val="D9932B"/>
          </a:solidFill>
          <a:ln/>
        </p:spPr>
      </p:sp>
      <p:pic>
        <p:nvPicPr>
          <p:cNvPr id="25" name="Image 2" descr="/home/claude/fob-slides/icons_out/question_white.png"/>
          <p:cNvPicPr>
            <a:picLocks noChangeAspect="1"/>
          </p:cNvPicPr>
          <p:nvPr/>
        </p:nvPicPr>
        <p:blipFill>
          <a:blip r:embed="rId3"/>
          <a:stretch>
            <a:fillRect/>
          </a:stretch>
        </p:blipFill>
        <p:spPr>
          <a:xfrm>
            <a:off x="981380" y="4392092"/>
            <a:ext cx="259232" cy="259232"/>
          </a:xfrm>
          <a:prstGeom prst="rect">
            <a:avLst/>
          </a:prstGeom>
        </p:spPr>
      </p:pic>
      <p:sp>
        <p:nvSpPr>
          <p:cNvPr id="26" name="Text 21"/>
          <p:cNvSpPr txBox="1"/>
          <p:nvPr/>
        </p:nvSpPr>
        <p:spPr>
          <a:xfrm>
            <a:off x="1600200" y="4069080"/>
            <a:ext cx="9418320" cy="91440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Talaba ketganda (2-ma'ruza) nechta joyda qayd yozuvini yopish kerak?</a:t>
            </a:r>
            <a:endParaRPr lang="en-US" sz="1700" dirty="0"/>
          </a:p>
        </p:txBody>
      </p:sp>
      <p:sp>
        <p:nvSpPr>
          <p:cNvPr id="27" name="Text 22"/>
          <p:cNvSpPr txBox="1"/>
          <p:nvPr/>
        </p:nvSpPr>
        <p:spPr>
          <a:xfrm>
            <a:off x="11018520" y="4069080"/>
            <a:ext cx="411480" cy="914400"/>
          </a:xfrm>
          <a:prstGeom prst="rect">
            <a:avLst/>
          </a:prstGeom>
          <a:noFill/>
          <a:ln/>
        </p:spPr>
        <p:txBody>
          <a:bodyPr wrap="square" lIns="0" tIns="0" rIns="0" bIns="0" rtlCol="0" anchor="ctr"/>
          <a:lstStyle/>
          <a:p>
            <a:pPr algn="r" indent="0" marL="0">
              <a:lnSpc>
                <a:spcPct val="100000"/>
              </a:lnSpc>
              <a:buNone/>
            </a:pPr>
            <a:r>
              <a:rPr lang="en-US" sz="1800" b="1" dirty="0">
                <a:solidFill>
                  <a:srgbClr val="D9932B"/>
                </a:solidFill>
                <a:latin typeface="Times New Roman" pitchFamily="34" charset="0"/>
                <a:ea typeface="Times New Roman" pitchFamily="34" charset="-122"/>
                <a:cs typeface="Times New Roman" pitchFamily="34" charset="-120"/>
              </a:rPr>
              <a:t>2</a:t>
            </a:r>
            <a:endParaRPr lang="en-US" sz="1800" dirty="0"/>
          </a:p>
        </p:txBody>
      </p:sp>
      <p:sp>
        <p:nvSpPr>
          <p:cNvPr id="28" name="Shape 23"/>
          <p:cNvSpPr/>
          <p:nvPr/>
        </p:nvSpPr>
        <p:spPr>
          <a:xfrm>
            <a:off x="548640" y="5120640"/>
            <a:ext cx="11064240" cy="914400"/>
          </a:xfrm>
          <a:prstGeom prst="roundRect">
            <a:avLst>
              <a:gd name="adj" fmla="val 9000"/>
            </a:avLst>
          </a:prstGeom>
          <a:solidFill>
            <a:srgbClr val="FFFFFF"/>
          </a:solidFill>
          <a:ln/>
        </p:spPr>
      </p:sp>
      <p:sp>
        <p:nvSpPr>
          <p:cNvPr id="29" name="Shape 24"/>
          <p:cNvSpPr/>
          <p:nvPr/>
        </p:nvSpPr>
        <p:spPr>
          <a:xfrm>
            <a:off x="822960" y="5285232"/>
            <a:ext cx="576072" cy="576072"/>
          </a:xfrm>
          <a:prstGeom prst="ellipse">
            <a:avLst/>
          </a:prstGeom>
          <a:solidFill>
            <a:srgbClr val="D9932B"/>
          </a:solidFill>
          <a:ln/>
        </p:spPr>
      </p:sp>
      <p:pic>
        <p:nvPicPr>
          <p:cNvPr id="30" name="Image 3" descr="/home/claude/fob-slides/icons_out/question_white.png"/>
          <p:cNvPicPr>
            <a:picLocks noChangeAspect="1"/>
          </p:cNvPicPr>
          <p:nvPr/>
        </p:nvPicPr>
        <p:blipFill>
          <a:blip r:embed="rId4"/>
          <a:stretch>
            <a:fillRect/>
          </a:stretch>
        </p:blipFill>
        <p:spPr>
          <a:xfrm>
            <a:off x="981380" y="5443652"/>
            <a:ext cx="259232" cy="259232"/>
          </a:xfrm>
          <a:prstGeom prst="rect">
            <a:avLst/>
          </a:prstGeom>
        </p:spPr>
      </p:pic>
      <p:sp>
        <p:nvSpPr>
          <p:cNvPr id="31" name="Text 25"/>
          <p:cNvSpPr txBox="1"/>
          <p:nvPr/>
        </p:nvSpPr>
        <p:spPr>
          <a:xfrm>
            <a:off x="1600200" y="5120640"/>
            <a:ext cx="9418320" cy="91440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Hammasiga bitta joydan kirish mumkin bo'lsa — qanday yangi xavf paydo bo'ladi?</a:t>
            </a:r>
            <a:endParaRPr lang="en-US" sz="1700" dirty="0"/>
          </a:p>
        </p:txBody>
      </p:sp>
      <p:sp>
        <p:nvSpPr>
          <p:cNvPr id="32" name="Text 26"/>
          <p:cNvSpPr txBox="1"/>
          <p:nvPr/>
        </p:nvSpPr>
        <p:spPr>
          <a:xfrm>
            <a:off x="11018520" y="5120640"/>
            <a:ext cx="411480" cy="914400"/>
          </a:xfrm>
          <a:prstGeom prst="rect">
            <a:avLst/>
          </a:prstGeom>
          <a:noFill/>
          <a:ln/>
        </p:spPr>
        <p:txBody>
          <a:bodyPr wrap="square" lIns="0" tIns="0" rIns="0" bIns="0" rtlCol="0" anchor="ctr"/>
          <a:lstStyle/>
          <a:p>
            <a:pPr algn="r" indent="0" marL="0">
              <a:lnSpc>
                <a:spcPct val="100000"/>
              </a:lnSpc>
              <a:buNone/>
            </a:pPr>
            <a:r>
              <a:rPr lang="en-US" sz="1800" b="1" dirty="0">
                <a:solidFill>
                  <a:srgbClr val="D9932B"/>
                </a:solidFill>
                <a:latin typeface="Times New Roman" pitchFamily="34" charset="0"/>
                <a:ea typeface="Times New Roman" pitchFamily="34" charset="-122"/>
                <a:cs typeface="Times New Roman" pitchFamily="34" charset="-120"/>
              </a:rPr>
              <a:t>3</a:t>
            </a:r>
            <a:endParaRPr lang="en-US" sz="1800" dirty="0"/>
          </a:p>
        </p:txBody>
      </p:sp>
      <p:sp>
        <p:nvSpPr>
          <p:cNvPr id="33" name="Text 27"/>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7-ma'ruza</a:t>
            </a:r>
            <a:endParaRPr lang="en-US" sz="1100" dirty="0"/>
          </a:p>
        </p:txBody>
      </p:sp>
      <p:sp>
        <p:nvSpPr>
          <p:cNvPr id="34" name="Text 28"/>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 · YAGONA KIRISH</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SSO: bir marta autentifikatsiya — ko'p xizmat</a:t>
            </a:r>
            <a:endParaRPr lang="en-US" sz="3600" dirty="0"/>
          </a:p>
        </p:txBody>
      </p:sp>
      <p:sp>
        <p:nvSpPr>
          <p:cNvPr id="4" name="Shape 2"/>
          <p:cNvSpPr/>
          <p:nvPr/>
        </p:nvSpPr>
        <p:spPr>
          <a:xfrm>
            <a:off x="548640" y="1783080"/>
            <a:ext cx="3017520" cy="2286000"/>
          </a:xfrm>
          <a:prstGeom prst="roundRect">
            <a:avLst>
              <a:gd name="adj" fmla="val 3600"/>
            </a:avLst>
          </a:prstGeom>
          <a:solidFill>
            <a:srgbClr val="1E2761"/>
          </a:solidFill>
          <a:ln/>
        </p:spPr>
      </p:sp>
      <p:sp>
        <p:nvSpPr>
          <p:cNvPr id="5" name="Shape 3"/>
          <p:cNvSpPr/>
          <p:nvPr/>
        </p:nvSpPr>
        <p:spPr>
          <a:xfrm>
            <a:off x="1691640" y="1965960"/>
            <a:ext cx="731520" cy="731520"/>
          </a:xfrm>
          <a:prstGeom prst="ellipse">
            <a:avLst/>
          </a:prstGeom>
          <a:solidFill>
            <a:srgbClr val="2A3778"/>
          </a:solidFill>
          <a:ln/>
        </p:spPr>
      </p:sp>
      <p:pic>
        <p:nvPicPr>
          <p:cNvPr id="6" name="Image 0" descr="/home/claude/fob-slides/icons_out/shield_white.png"/>
          <p:cNvPicPr>
            <a:picLocks noChangeAspect="1"/>
          </p:cNvPicPr>
          <p:nvPr/>
        </p:nvPicPr>
        <p:blipFill>
          <a:blip r:embed="rId1"/>
          <a:stretch>
            <a:fillRect/>
          </a:stretch>
        </p:blipFill>
        <p:spPr>
          <a:xfrm>
            <a:off x="1856232" y="2130552"/>
            <a:ext cx="402336" cy="402336"/>
          </a:xfrm>
          <a:prstGeom prst="rect">
            <a:avLst/>
          </a:prstGeom>
        </p:spPr>
      </p:pic>
      <p:sp>
        <p:nvSpPr>
          <p:cNvPr id="7" name="Text 4"/>
          <p:cNvSpPr txBox="1"/>
          <p:nvPr/>
        </p:nvSpPr>
        <p:spPr>
          <a:xfrm>
            <a:off x="640080" y="2788920"/>
            <a:ext cx="2834640" cy="68580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Identifikatsiya provayderi</a:t>
            </a:r>
            <a:endParaRPr lang="en-US" sz="1800" dirty="0"/>
          </a:p>
        </p:txBody>
      </p:sp>
      <p:sp>
        <p:nvSpPr>
          <p:cNvPr id="8" name="Text 5"/>
          <p:cNvSpPr txBox="1"/>
          <p:nvPr/>
        </p:nvSpPr>
        <p:spPr>
          <a:xfrm>
            <a:off x="640080" y="3429000"/>
            <a:ext cx="2834640" cy="45720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IdP · foydalanuvchini tekshiradi</a:t>
            </a:r>
            <a:endParaRPr lang="en-US" sz="1400" dirty="0"/>
          </a:p>
        </p:txBody>
      </p:sp>
      <p:sp>
        <p:nvSpPr>
          <p:cNvPr id="9" name="Shape 6"/>
          <p:cNvSpPr/>
          <p:nvPr/>
        </p:nvSpPr>
        <p:spPr>
          <a:xfrm>
            <a:off x="4754880" y="1783080"/>
            <a:ext cx="2377440" cy="475488"/>
          </a:xfrm>
          <a:prstGeom prst="roundRect">
            <a:avLst>
              <a:gd name="adj" fmla="val 17308"/>
            </a:avLst>
          </a:prstGeom>
          <a:solidFill>
            <a:srgbClr val="EEF2FB"/>
          </a:solidFill>
          <a:ln/>
        </p:spPr>
      </p:sp>
      <p:sp>
        <p:nvSpPr>
          <p:cNvPr id="10" name="Text 7"/>
          <p:cNvSpPr txBox="1"/>
          <p:nvPr/>
        </p:nvSpPr>
        <p:spPr>
          <a:xfrm>
            <a:off x="4754880" y="1783080"/>
            <a:ext cx="2377440" cy="475488"/>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Moodle</a:t>
            </a:r>
            <a:endParaRPr lang="en-US" sz="1600" dirty="0"/>
          </a:p>
        </p:txBody>
      </p:sp>
      <p:sp>
        <p:nvSpPr>
          <p:cNvPr id="11" name="Shape 8"/>
          <p:cNvSpPr/>
          <p:nvPr/>
        </p:nvSpPr>
        <p:spPr>
          <a:xfrm flipV="1">
            <a:off x="3611880" y="2020824"/>
            <a:ext cx="1097280" cy="905256"/>
          </a:xfrm>
          <a:prstGeom prst="line">
            <a:avLst/>
          </a:prstGeom>
          <a:noFill/>
          <a:ln w="19050">
            <a:solidFill>
              <a:srgbClr val="1F6B4A"/>
            </a:solidFill>
            <a:prstDash val="solid"/>
            <a:tailEnd type="triangle"/>
          </a:ln>
        </p:spPr>
      </p:sp>
      <p:sp>
        <p:nvSpPr>
          <p:cNvPr id="12" name="Shape 9"/>
          <p:cNvSpPr/>
          <p:nvPr/>
        </p:nvSpPr>
        <p:spPr>
          <a:xfrm>
            <a:off x="4754880" y="2368296"/>
            <a:ext cx="2377440" cy="475488"/>
          </a:xfrm>
          <a:prstGeom prst="roundRect">
            <a:avLst>
              <a:gd name="adj" fmla="val 17308"/>
            </a:avLst>
          </a:prstGeom>
          <a:solidFill>
            <a:srgbClr val="EEF2FB"/>
          </a:solidFill>
          <a:ln/>
        </p:spPr>
      </p:sp>
      <p:sp>
        <p:nvSpPr>
          <p:cNvPr id="13" name="Text 10"/>
          <p:cNvSpPr txBox="1"/>
          <p:nvPr/>
        </p:nvSpPr>
        <p:spPr>
          <a:xfrm>
            <a:off x="4754880" y="2368296"/>
            <a:ext cx="2377440" cy="475488"/>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Pochta</a:t>
            </a:r>
            <a:endParaRPr lang="en-US" sz="1600" dirty="0"/>
          </a:p>
        </p:txBody>
      </p:sp>
      <p:sp>
        <p:nvSpPr>
          <p:cNvPr id="14" name="Shape 11"/>
          <p:cNvSpPr/>
          <p:nvPr/>
        </p:nvSpPr>
        <p:spPr>
          <a:xfrm flipV="1">
            <a:off x="3611880" y="2606040"/>
            <a:ext cx="1097280" cy="320040"/>
          </a:xfrm>
          <a:prstGeom prst="line">
            <a:avLst/>
          </a:prstGeom>
          <a:noFill/>
          <a:ln w="19050">
            <a:solidFill>
              <a:srgbClr val="1F6B4A"/>
            </a:solidFill>
            <a:prstDash val="solid"/>
            <a:tailEnd type="triangle"/>
          </a:ln>
        </p:spPr>
      </p:sp>
      <p:sp>
        <p:nvSpPr>
          <p:cNvPr id="15" name="Shape 12"/>
          <p:cNvSpPr/>
          <p:nvPr/>
        </p:nvSpPr>
        <p:spPr>
          <a:xfrm>
            <a:off x="4754880" y="2953512"/>
            <a:ext cx="2377440" cy="475488"/>
          </a:xfrm>
          <a:prstGeom prst="roundRect">
            <a:avLst>
              <a:gd name="adj" fmla="val 17308"/>
            </a:avLst>
          </a:prstGeom>
          <a:solidFill>
            <a:srgbClr val="EEF2FB"/>
          </a:solidFill>
          <a:ln/>
        </p:spPr>
      </p:sp>
      <p:sp>
        <p:nvSpPr>
          <p:cNvPr id="16" name="Text 13"/>
          <p:cNvSpPr txBox="1"/>
          <p:nvPr/>
        </p:nvSpPr>
        <p:spPr>
          <a:xfrm>
            <a:off x="4754880" y="2953512"/>
            <a:ext cx="2377440" cy="475488"/>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Kutubxona</a:t>
            </a:r>
            <a:endParaRPr lang="en-US" sz="1600" dirty="0"/>
          </a:p>
        </p:txBody>
      </p:sp>
      <p:sp>
        <p:nvSpPr>
          <p:cNvPr id="17" name="Shape 14"/>
          <p:cNvSpPr/>
          <p:nvPr/>
        </p:nvSpPr>
        <p:spPr>
          <a:xfrm>
            <a:off x="3611880" y="2926080"/>
            <a:ext cx="1097280" cy="265176"/>
          </a:xfrm>
          <a:prstGeom prst="line">
            <a:avLst/>
          </a:prstGeom>
          <a:noFill/>
          <a:ln w="19050">
            <a:solidFill>
              <a:srgbClr val="1F6B4A"/>
            </a:solidFill>
            <a:prstDash val="solid"/>
            <a:tailEnd type="triangle"/>
          </a:ln>
        </p:spPr>
      </p:sp>
      <p:sp>
        <p:nvSpPr>
          <p:cNvPr id="18" name="Shape 15"/>
          <p:cNvSpPr/>
          <p:nvPr/>
        </p:nvSpPr>
        <p:spPr>
          <a:xfrm>
            <a:off x="4754880" y="3538728"/>
            <a:ext cx="2377440" cy="475488"/>
          </a:xfrm>
          <a:prstGeom prst="roundRect">
            <a:avLst>
              <a:gd name="adj" fmla="val 17308"/>
            </a:avLst>
          </a:prstGeom>
          <a:solidFill>
            <a:srgbClr val="EEF2FB"/>
          </a:solidFill>
          <a:ln/>
        </p:spPr>
      </p:sp>
      <p:sp>
        <p:nvSpPr>
          <p:cNvPr id="19" name="Text 16"/>
          <p:cNvSpPr txBox="1"/>
          <p:nvPr/>
        </p:nvSpPr>
        <p:spPr>
          <a:xfrm>
            <a:off x="4754880" y="3538728"/>
            <a:ext cx="2377440" cy="475488"/>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HEMIS</a:t>
            </a:r>
            <a:endParaRPr lang="en-US" sz="1600" dirty="0"/>
          </a:p>
        </p:txBody>
      </p:sp>
      <p:sp>
        <p:nvSpPr>
          <p:cNvPr id="20" name="Shape 17"/>
          <p:cNvSpPr/>
          <p:nvPr/>
        </p:nvSpPr>
        <p:spPr>
          <a:xfrm>
            <a:off x="3611880" y="2926080"/>
            <a:ext cx="1097280" cy="850392"/>
          </a:xfrm>
          <a:prstGeom prst="line">
            <a:avLst/>
          </a:prstGeom>
          <a:noFill/>
          <a:ln w="19050">
            <a:solidFill>
              <a:srgbClr val="1F6B4A"/>
            </a:solidFill>
            <a:prstDash val="solid"/>
            <a:tailEnd type="triangle"/>
          </a:ln>
        </p:spPr>
      </p:sp>
      <p:sp>
        <p:nvSpPr>
          <p:cNvPr id="21" name="Text 18"/>
          <p:cNvSpPr txBox="1"/>
          <p:nvPr/>
        </p:nvSpPr>
        <p:spPr>
          <a:xfrm>
            <a:off x="4754880" y="4160520"/>
            <a:ext cx="2926080" cy="320040"/>
          </a:xfrm>
          <a:prstGeom prst="rect">
            <a:avLst/>
          </a:prstGeom>
          <a:noFill/>
          <a:ln/>
        </p:spPr>
        <p:txBody>
          <a:bodyPr wrap="square" lIns="0" tIns="0" rIns="0" bIns="0" rtlCol="0" anchor="t"/>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Xizmat provayderlari (SP) IdP ga ishonadi</a:t>
            </a:r>
            <a:endParaRPr lang="en-US" sz="1400" dirty="0"/>
          </a:p>
        </p:txBody>
      </p:sp>
      <p:sp>
        <p:nvSpPr>
          <p:cNvPr id="22" name="Shape 19"/>
          <p:cNvSpPr/>
          <p:nvPr/>
        </p:nvSpPr>
        <p:spPr>
          <a:xfrm>
            <a:off x="7589520" y="1783080"/>
            <a:ext cx="4023360" cy="2697480"/>
          </a:xfrm>
          <a:prstGeom prst="roundRect">
            <a:avLst>
              <a:gd name="adj" fmla="val 3051"/>
            </a:avLst>
          </a:prstGeom>
          <a:solidFill>
            <a:srgbClr val="E8F3EC"/>
          </a:solidFill>
          <a:ln/>
        </p:spPr>
      </p:sp>
      <p:sp>
        <p:nvSpPr>
          <p:cNvPr id="23" name="Text 20"/>
          <p:cNvSpPr txBox="1"/>
          <p:nvPr/>
        </p:nvSpPr>
        <p:spPr>
          <a:xfrm>
            <a:off x="7818120" y="1874520"/>
            <a:ext cx="3657600" cy="411480"/>
          </a:xfrm>
          <a:prstGeom prst="rect">
            <a:avLst/>
          </a:prstGeom>
          <a:noFill/>
          <a:ln/>
        </p:spPr>
        <p:txBody>
          <a:bodyPr wrap="square" lIns="0" tIns="0" rIns="0" bIns="0" rtlCol="0" anchor="t"/>
          <a:lstStyle/>
          <a:p>
            <a:pPr algn="l" indent="0" marL="0">
              <a:lnSpc>
                <a:spcPct val="100000"/>
              </a:lnSpc>
              <a:buNone/>
            </a:pPr>
            <a:r>
              <a:rPr lang="en-US" sz="1800" b="1" dirty="0">
                <a:solidFill>
                  <a:srgbClr val="1F6B4A"/>
                </a:solidFill>
                <a:latin typeface="Times New Roman" pitchFamily="34" charset="0"/>
                <a:ea typeface="Times New Roman" pitchFamily="34" charset="-122"/>
                <a:cs typeface="Times New Roman" pitchFamily="34" charset="-120"/>
              </a:rPr>
              <a:t>Afzalliklar</a:t>
            </a:r>
            <a:endParaRPr lang="en-US" sz="1800" dirty="0"/>
          </a:p>
        </p:txBody>
      </p:sp>
      <p:sp>
        <p:nvSpPr>
          <p:cNvPr id="24" name="Text 21"/>
          <p:cNvSpPr txBox="1"/>
          <p:nvPr/>
        </p:nvSpPr>
        <p:spPr>
          <a:xfrm>
            <a:off x="7818120" y="2331720"/>
            <a:ext cx="3657600" cy="210312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Bitta kuchli autentifikatsiya: MFA, FIDO2 — bir joyda</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Parollar ilovalarga umuman yetib bormaydi</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Blokirovka bir joyda — hamma ilovada kuchga kiradi</a:t>
            </a:r>
            <a:endParaRPr lang="en-US" sz="1600" dirty="0"/>
          </a:p>
        </p:txBody>
      </p:sp>
      <p:sp>
        <p:nvSpPr>
          <p:cNvPr id="25" name="Shape 22"/>
          <p:cNvSpPr/>
          <p:nvPr/>
        </p:nvSpPr>
        <p:spPr>
          <a:xfrm>
            <a:off x="548640" y="4663440"/>
            <a:ext cx="11064240" cy="1554480"/>
          </a:xfrm>
          <a:prstGeom prst="roundRect">
            <a:avLst>
              <a:gd name="adj" fmla="val 5294"/>
            </a:avLst>
          </a:prstGeom>
          <a:solidFill>
            <a:srgbClr val="F7ECEA"/>
          </a:solidFill>
          <a:ln/>
        </p:spPr>
      </p:sp>
      <p:sp>
        <p:nvSpPr>
          <p:cNvPr id="26" name="Text 23"/>
          <p:cNvSpPr txBox="1"/>
          <p:nvPr/>
        </p:nvSpPr>
        <p:spPr>
          <a:xfrm>
            <a:off x="777240" y="4754880"/>
            <a:ext cx="4572000" cy="411480"/>
          </a:xfrm>
          <a:prstGeom prst="rect">
            <a:avLst/>
          </a:prstGeom>
          <a:noFill/>
          <a:ln/>
        </p:spPr>
        <p:txBody>
          <a:bodyPr wrap="square" lIns="0" tIns="0" rIns="0" bIns="0" rtlCol="0" anchor="t"/>
          <a:lstStyle/>
          <a:p>
            <a:pPr algn="l" indent="0" marL="0">
              <a:lnSpc>
                <a:spcPct val="100000"/>
              </a:lnSpc>
              <a:buNone/>
            </a:pPr>
            <a:r>
              <a:rPr lang="en-US" sz="1800" b="1" dirty="0">
                <a:solidFill>
                  <a:srgbClr val="9E3B2E"/>
                </a:solidFill>
                <a:latin typeface="Times New Roman" pitchFamily="34" charset="0"/>
                <a:ea typeface="Times New Roman" pitchFamily="34" charset="-122"/>
                <a:cs typeface="Times New Roman" pitchFamily="34" charset="-120"/>
              </a:rPr>
              <a:t>Narxi: yagona nuqta</a:t>
            </a:r>
            <a:endParaRPr lang="en-US" sz="1800" dirty="0"/>
          </a:p>
        </p:txBody>
      </p:sp>
      <p:sp>
        <p:nvSpPr>
          <p:cNvPr id="27" name="Text 24"/>
          <p:cNvSpPr txBox="1"/>
          <p:nvPr/>
        </p:nvSpPr>
        <p:spPr>
          <a:xfrm>
            <a:off x="777240" y="5166360"/>
            <a:ext cx="10607040" cy="1005840"/>
          </a:xfrm>
          <a:prstGeom prst="rect">
            <a:avLst/>
          </a:prstGeom>
          <a:noFill/>
          <a:ln/>
        </p:spPr>
        <p:txBody>
          <a:bodyPr wrap="square" lIns="0" tIns="0" rIns="0" bIns="0" rtlCol="0" anchor="ctr"/>
          <a:lstStyle/>
          <a:p>
            <a:pPr marL="342900" indent="-342900">
              <a:spcAft>
                <a:spcPts val="4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IdP buzilsa yoki uning imzolash kaliti o'g'irlansa — barcha xizmatlar ochiq</a:t>
            </a:r>
            <a:endParaRPr lang="en-US" sz="1600" dirty="0"/>
          </a:p>
          <a:p>
            <a:pPr marL="342900" indent="-342900">
              <a:spcAft>
                <a:spcPts val="4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IdP ishlamay qolsa — hech kim hech qayerga kira olmaydi</a:t>
            </a:r>
            <a:endParaRPr lang="en-US" sz="1600" dirty="0"/>
          </a:p>
        </p:txBody>
      </p:sp>
      <p:sp>
        <p:nvSpPr>
          <p:cNvPr id="28" name="Text 25"/>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7-ma'ruza</a:t>
            </a:r>
            <a:endParaRPr lang="en-US" sz="1100" dirty="0"/>
          </a:p>
        </p:txBody>
      </p:sp>
      <p:sp>
        <p:nvSpPr>
          <p:cNvPr id="29" name="Text 26"/>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 · PROTOKOLLAR</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Uchta asosiy SSO protokoli</a:t>
            </a:r>
            <a:endParaRPr lang="en-US" sz="3600" dirty="0"/>
          </a:p>
        </p:txBody>
      </p:sp>
      <p:sp>
        <p:nvSpPr>
          <p:cNvPr id="4" name="Shape 2"/>
          <p:cNvSpPr/>
          <p:nvPr/>
        </p:nvSpPr>
        <p:spPr>
          <a:xfrm>
            <a:off x="2834640" y="1783080"/>
            <a:ext cx="2926080" cy="548640"/>
          </a:xfrm>
          <a:prstGeom prst="roundRect">
            <a:avLst>
              <a:gd name="adj" fmla="val 6667"/>
            </a:avLst>
          </a:prstGeom>
          <a:solidFill>
            <a:srgbClr val="1E2761"/>
          </a:solidFill>
          <a:ln/>
        </p:spPr>
      </p:sp>
      <p:sp>
        <p:nvSpPr>
          <p:cNvPr id="5" name="Text 3"/>
          <p:cNvSpPr txBox="1"/>
          <p:nvPr/>
        </p:nvSpPr>
        <p:spPr>
          <a:xfrm>
            <a:off x="2834640" y="1783080"/>
            <a:ext cx="2926080" cy="54864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Kerberos</a:t>
            </a:r>
            <a:endParaRPr lang="en-US" sz="1800" dirty="0"/>
          </a:p>
        </p:txBody>
      </p:sp>
      <p:sp>
        <p:nvSpPr>
          <p:cNvPr id="6" name="Shape 4"/>
          <p:cNvSpPr/>
          <p:nvPr/>
        </p:nvSpPr>
        <p:spPr>
          <a:xfrm>
            <a:off x="5806440" y="1783080"/>
            <a:ext cx="2926080" cy="548640"/>
          </a:xfrm>
          <a:prstGeom prst="roundRect">
            <a:avLst>
              <a:gd name="adj" fmla="val 6667"/>
            </a:avLst>
          </a:prstGeom>
          <a:solidFill>
            <a:srgbClr val="1F6B4A"/>
          </a:solidFill>
          <a:ln/>
        </p:spPr>
      </p:sp>
      <p:sp>
        <p:nvSpPr>
          <p:cNvPr id="7" name="Text 5"/>
          <p:cNvSpPr txBox="1"/>
          <p:nvPr/>
        </p:nvSpPr>
        <p:spPr>
          <a:xfrm>
            <a:off x="5806440" y="1783080"/>
            <a:ext cx="2926080" cy="54864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SAML 2.0</a:t>
            </a:r>
            <a:endParaRPr lang="en-US" sz="1800" dirty="0"/>
          </a:p>
        </p:txBody>
      </p:sp>
      <p:sp>
        <p:nvSpPr>
          <p:cNvPr id="8" name="Shape 6"/>
          <p:cNvSpPr/>
          <p:nvPr/>
        </p:nvSpPr>
        <p:spPr>
          <a:xfrm>
            <a:off x="8778240" y="1783080"/>
            <a:ext cx="2788920" cy="548640"/>
          </a:xfrm>
          <a:prstGeom prst="roundRect">
            <a:avLst>
              <a:gd name="adj" fmla="val 6667"/>
            </a:avLst>
          </a:prstGeom>
          <a:solidFill>
            <a:srgbClr val="1E2761"/>
          </a:solidFill>
          <a:ln/>
        </p:spPr>
      </p:sp>
      <p:sp>
        <p:nvSpPr>
          <p:cNvPr id="9" name="Text 7"/>
          <p:cNvSpPr txBox="1"/>
          <p:nvPr/>
        </p:nvSpPr>
        <p:spPr>
          <a:xfrm>
            <a:off x="8778240" y="1783080"/>
            <a:ext cx="2788920" cy="54864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OAuth 2.0 / OIDC</a:t>
            </a:r>
            <a:endParaRPr lang="en-US" sz="1800" dirty="0"/>
          </a:p>
        </p:txBody>
      </p:sp>
      <p:sp>
        <p:nvSpPr>
          <p:cNvPr id="10" name="Shape 8"/>
          <p:cNvSpPr/>
          <p:nvPr/>
        </p:nvSpPr>
        <p:spPr>
          <a:xfrm>
            <a:off x="548640" y="2404872"/>
            <a:ext cx="2240280" cy="685800"/>
          </a:xfrm>
          <a:prstGeom prst="roundRect">
            <a:avLst>
              <a:gd name="adj" fmla="val 5333"/>
            </a:avLst>
          </a:prstGeom>
          <a:solidFill>
            <a:srgbClr val="2A3778"/>
          </a:solidFill>
          <a:ln/>
        </p:spPr>
      </p:sp>
      <p:sp>
        <p:nvSpPr>
          <p:cNvPr id="11" name="Text 9"/>
          <p:cNvSpPr txBox="1"/>
          <p:nvPr/>
        </p:nvSpPr>
        <p:spPr>
          <a:xfrm>
            <a:off x="685800" y="2404872"/>
            <a:ext cx="2011680" cy="685800"/>
          </a:xfrm>
          <a:prstGeom prst="rect">
            <a:avLst/>
          </a:prstGeom>
          <a:noFill/>
          <a:ln/>
        </p:spPr>
        <p:txBody>
          <a:bodyPr wrap="square" lIns="0" tIns="0" rIns="0" bIns="0" rtlCol="0" anchor="ctr"/>
          <a:lstStyle/>
          <a:p>
            <a:pPr algn="l"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Muhit</a:t>
            </a:r>
            <a:endParaRPr lang="en-US" sz="1600" dirty="0"/>
          </a:p>
        </p:txBody>
      </p:sp>
      <p:sp>
        <p:nvSpPr>
          <p:cNvPr id="12" name="Shape 10"/>
          <p:cNvSpPr/>
          <p:nvPr/>
        </p:nvSpPr>
        <p:spPr>
          <a:xfrm>
            <a:off x="2834640" y="2404872"/>
            <a:ext cx="2926080" cy="685800"/>
          </a:xfrm>
          <a:prstGeom prst="roundRect">
            <a:avLst>
              <a:gd name="adj" fmla="val 5333"/>
            </a:avLst>
          </a:prstGeom>
          <a:solidFill>
            <a:srgbClr val="EEF2FB"/>
          </a:solidFill>
          <a:ln/>
        </p:spPr>
      </p:sp>
      <p:sp>
        <p:nvSpPr>
          <p:cNvPr id="13" name="Text 11"/>
          <p:cNvSpPr txBox="1"/>
          <p:nvPr/>
        </p:nvSpPr>
        <p:spPr>
          <a:xfrm>
            <a:off x="2971800" y="2404872"/>
            <a:ext cx="2697480" cy="685800"/>
          </a:xfrm>
          <a:prstGeom prst="rect">
            <a:avLst/>
          </a:prstGeom>
          <a:noFill/>
          <a:ln/>
        </p:spPr>
        <p:txBody>
          <a:bodyPr wrap="square" lIns="0" tIns="0" rIns="0" bIns="0" rtlCol="0" anchor="ctr"/>
          <a:lstStyle/>
          <a:p>
            <a:pPr algn="ctr"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Domen ichi (intranet)</a:t>
            </a:r>
            <a:endParaRPr lang="en-US" sz="1600" dirty="0"/>
          </a:p>
        </p:txBody>
      </p:sp>
      <p:sp>
        <p:nvSpPr>
          <p:cNvPr id="14" name="Shape 12"/>
          <p:cNvSpPr/>
          <p:nvPr/>
        </p:nvSpPr>
        <p:spPr>
          <a:xfrm>
            <a:off x="5806440" y="2404872"/>
            <a:ext cx="2926080" cy="685800"/>
          </a:xfrm>
          <a:prstGeom prst="roundRect">
            <a:avLst>
              <a:gd name="adj" fmla="val 5333"/>
            </a:avLst>
          </a:prstGeom>
          <a:solidFill>
            <a:srgbClr val="E8F3EC"/>
          </a:solidFill>
          <a:ln/>
        </p:spPr>
      </p:sp>
      <p:sp>
        <p:nvSpPr>
          <p:cNvPr id="15" name="Text 13"/>
          <p:cNvSpPr txBox="1"/>
          <p:nvPr/>
        </p:nvSpPr>
        <p:spPr>
          <a:xfrm>
            <a:off x="5943600" y="2404872"/>
            <a:ext cx="2697480" cy="685800"/>
          </a:xfrm>
          <a:prstGeom prst="rect">
            <a:avLst/>
          </a:prstGeom>
          <a:noFill/>
          <a:ln/>
        </p:spPr>
        <p:txBody>
          <a:bodyPr wrap="square" lIns="0" tIns="0" rIns="0" bIns="0" rtlCol="0" anchor="ctr"/>
          <a:lstStyle/>
          <a:p>
            <a:pPr algn="ctr"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Korporativ veb-ilovalar</a:t>
            </a:r>
            <a:endParaRPr lang="en-US" sz="1600" dirty="0"/>
          </a:p>
        </p:txBody>
      </p:sp>
      <p:sp>
        <p:nvSpPr>
          <p:cNvPr id="16" name="Shape 14"/>
          <p:cNvSpPr/>
          <p:nvPr/>
        </p:nvSpPr>
        <p:spPr>
          <a:xfrm>
            <a:off x="8778240" y="2404872"/>
            <a:ext cx="2788920" cy="685800"/>
          </a:xfrm>
          <a:prstGeom prst="roundRect">
            <a:avLst>
              <a:gd name="adj" fmla="val 5333"/>
            </a:avLst>
          </a:prstGeom>
          <a:solidFill>
            <a:srgbClr val="EEF2FB"/>
          </a:solidFill>
          <a:ln/>
        </p:spPr>
      </p:sp>
      <p:sp>
        <p:nvSpPr>
          <p:cNvPr id="17" name="Text 15"/>
          <p:cNvSpPr txBox="1"/>
          <p:nvPr/>
        </p:nvSpPr>
        <p:spPr>
          <a:xfrm>
            <a:off x="8915400" y="2404872"/>
            <a:ext cx="2560320" cy="685800"/>
          </a:xfrm>
          <a:prstGeom prst="rect">
            <a:avLst/>
          </a:prstGeom>
          <a:noFill/>
          <a:ln/>
        </p:spPr>
        <p:txBody>
          <a:bodyPr wrap="square" lIns="0" tIns="0" rIns="0" bIns="0" rtlCol="0" anchor="ctr"/>
          <a:lstStyle/>
          <a:p>
            <a:pPr algn="ctr"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Veb, mobil, API</a:t>
            </a:r>
            <a:endParaRPr lang="en-US" sz="1600" dirty="0"/>
          </a:p>
        </p:txBody>
      </p:sp>
      <p:sp>
        <p:nvSpPr>
          <p:cNvPr id="18" name="Shape 16"/>
          <p:cNvSpPr/>
          <p:nvPr/>
        </p:nvSpPr>
        <p:spPr>
          <a:xfrm>
            <a:off x="548640" y="3182112"/>
            <a:ext cx="2240280" cy="685800"/>
          </a:xfrm>
          <a:prstGeom prst="roundRect">
            <a:avLst>
              <a:gd name="adj" fmla="val 5333"/>
            </a:avLst>
          </a:prstGeom>
          <a:solidFill>
            <a:srgbClr val="2A3778"/>
          </a:solidFill>
          <a:ln/>
        </p:spPr>
      </p:sp>
      <p:sp>
        <p:nvSpPr>
          <p:cNvPr id="19" name="Text 17"/>
          <p:cNvSpPr txBox="1"/>
          <p:nvPr/>
        </p:nvSpPr>
        <p:spPr>
          <a:xfrm>
            <a:off x="685800" y="3182112"/>
            <a:ext cx="2011680" cy="685800"/>
          </a:xfrm>
          <a:prstGeom prst="rect">
            <a:avLst/>
          </a:prstGeom>
          <a:noFill/>
          <a:ln/>
        </p:spPr>
        <p:txBody>
          <a:bodyPr wrap="square" lIns="0" tIns="0" rIns="0" bIns="0" rtlCol="0" anchor="ctr"/>
          <a:lstStyle/>
          <a:p>
            <a:pPr algn="l"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Format</a:t>
            </a:r>
            <a:endParaRPr lang="en-US" sz="1600" dirty="0"/>
          </a:p>
        </p:txBody>
      </p:sp>
      <p:sp>
        <p:nvSpPr>
          <p:cNvPr id="20" name="Shape 18"/>
          <p:cNvSpPr/>
          <p:nvPr/>
        </p:nvSpPr>
        <p:spPr>
          <a:xfrm>
            <a:off x="2834640" y="3182112"/>
            <a:ext cx="2926080" cy="685800"/>
          </a:xfrm>
          <a:prstGeom prst="roundRect">
            <a:avLst>
              <a:gd name="adj" fmla="val 5333"/>
            </a:avLst>
          </a:prstGeom>
          <a:solidFill>
            <a:srgbClr val="FFFFFF"/>
          </a:solidFill>
          <a:ln w="12700">
            <a:solidFill>
              <a:srgbClr val="CADCFC"/>
            </a:solidFill>
            <a:prstDash val="solid"/>
          </a:ln>
        </p:spPr>
      </p:sp>
      <p:sp>
        <p:nvSpPr>
          <p:cNvPr id="21" name="Text 19"/>
          <p:cNvSpPr txBox="1"/>
          <p:nvPr/>
        </p:nvSpPr>
        <p:spPr>
          <a:xfrm>
            <a:off x="2971800" y="3182112"/>
            <a:ext cx="2697480" cy="685800"/>
          </a:xfrm>
          <a:prstGeom prst="rect">
            <a:avLst/>
          </a:prstGeom>
          <a:noFill/>
          <a:ln/>
        </p:spPr>
        <p:txBody>
          <a:bodyPr wrap="square" lIns="0" tIns="0" rIns="0" bIns="0" rtlCol="0" anchor="ctr"/>
          <a:lstStyle/>
          <a:p>
            <a:pPr algn="ctr"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Binar chipta</a:t>
            </a:r>
            <a:endParaRPr lang="en-US" sz="1600" dirty="0"/>
          </a:p>
        </p:txBody>
      </p:sp>
      <p:sp>
        <p:nvSpPr>
          <p:cNvPr id="22" name="Shape 20"/>
          <p:cNvSpPr/>
          <p:nvPr/>
        </p:nvSpPr>
        <p:spPr>
          <a:xfrm>
            <a:off x="5806440" y="3182112"/>
            <a:ext cx="2926080" cy="685800"/>
          </a:xfrm>
          <a:prstGeom prst="roundRect">
            <a:avLst>
              <a:gd name="adj" fmla="val 5333"/>
            </a:avLst>
          </a:prstGeom>
          <a:solidFill>
            <a:srgbClr val="FFFFFF"/>
          </a:solidFill>
          <a:ln w="12700">
            <a:solidFill>
              <a:srgbClr val="CADCFC"/>
            </a:solidFill>
            <a:prstDash val="solid"/>
          </a:ln>
        </p:spPr>
      </p:sp>
      <p:sp>
        <p:nvSpPr>
          <p:cNvPr id="23" name="Text 21"/>
          <p:cNvSpPr txBox="1"/>
          <p:nvPr/>
        </p:nvSpPr>
        <p:spPr>
          <a:xfrm>
            <a:off x="5943600" y="3182112"/>
            <a:ext cx="2697480" cy="685800"/>
          </a:xfrm>
          <a:prstGeom prst="rect">
            <a:avLst/>
          </a:prstGeom>
          <a:noFill/>
          <a:ln/>
        </p:spPr>
        <p:txBody>
          <a:bodyPr wrap="square" lIns="0" tIns="0" rIns="0" bIns="0" rtlCol="0" anchor="ctr"/>
          <a:lstStyle/>
          <a:p>
            <a:pPr algn="ctr"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Imzolangan XML</a:t>
            </a:r>
            <a:endParaRPr lang="en-US" sz="1600" dirty="0"/>
          </a:p>
        </p:txBody>
      </p:sp>
      <p:sp>
        <p:nvSpPr>
          <p:cNvPr id="24" name="Shape 22"/>
          <p:cNvSpPr/>
          <p:nvPr/>
        </p:nvSpPr>
        <p:spPr>
          <a:xfrm>
            <a:off x="8778240" y="3182112"/>
            <a:ext cx="2788920" cy="685800"/>
          </a:xfrm>
          <a:prstGeom prst="roundRect">
            <a:avLst>
              <a:gd name="adj" fmla="val 5333"/>
            </a:avLst>
          </a:prstGeom>
          <a:solidFill>
            <a:srgbClr val="FFFFFF"/>
          </a:solidFill>
          <a:ln w="12700">
            <a:solidFill>
              <a:srgbClr val="CADCFC"/>
            </a:solidFill>
            <a:prstDash val="solid"/>
          </a:ln>
        </p:spPr>
      </p:sp>
      <p:sp>
        <p:nvSpPr>
          <p:cNvPr id="25" name="Text 23"/>
          <p:cNvSpPr txBox="1"/>
          <p:nvPr/>
        </p:nvSpPr>
        <p:spPr>
          <a:xfrm>
            <a:off x="8915400" y="3182112"/>
            <a:ext cx="2560320" cy="685800"/>
          </a:xfrm>
          <a:prstGeom prst="rect">
            <a:avLst/>
          </a:prstGeom>
          <a:noFill/>
          <a:ln/>
        </p:spPr>
        <p:txBody>
          <a:bodyPr wrap="square" lIns="0" tIns="0" rIns="0" bIns="0" rtlCol="0" anchor="ctr"/>
          <a:lstStyle/>
          <a:p>
            <a:pPr algn="ctr"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JSON, JWT</a:t>
            </a:r>
            <a:endParaRPr lang="en-US" sz="1600" dirty="0"/>
          </a:p>
        </p:txBody>
      </p:sp>
      <p:sp>
        <p:nvSpPr>
          <p:cNvPr id="26" name="Shape 24"/>
          <p:cNvSpPr/>
          <p:nvPr/>
        </p:nvSpPr>
        <p:spPr>
          <a:xfrm>
            <a:off x="548640" y="3959352"/>
            <a:ext cx="2240280" cy="685800"/>
          </a:xfrm>
          <a:prstGeom prst="roundRect">
            <a:avLst>
              <a:gd name="adj" fmla="val 5333"/>
            </a:avLst>
          </a:prstGeom>
          <a:solidFill>
            <a:srgbClr val="2A3778"/>
          </a:solidFill>
          <a:ln/>
        </p:spPr>
      </p:sp>
      <p:sp>
        <p:nvSpPr>
          <p:cNvPr id="27" name="Text 25"/>
          <p:cNvSpPr txBox="1"/>
          <p:nvPr/>
        </p:nvSpPr>
        <p:spPr>
          <a:xfrm>
            <a:off x="685800" y="3959352"/>
            <a:ext cx="2011680" cy="685800"/>
          </a:xfrm>
          <a:prstGeom prst="rect">
            <a:avLst/>
          </a:prstGeom>
          <a:noFill/>
          <a:ln/>
        </p:spPr>
        <p:txBody>
          <a:bodyPr wrap="square" lIns="0" tIns="0" rIns="0" bIns="0" rtlCol="0" anchor="ctr"/>
          <a:lstStyle/>
          <a:p>
            <a:pPr algn="l"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Paydo bo'lgan</a:t>
            </a:r>
            <a:endParaRPr lang="en-US" sz="1600" dirty="0"/>
          </a:p>
        </p:txBody>
      </p:sp>
      <p:sp>
        <p:nvSpPr>
          <p:cNvPr id="28" name="Shape 26"/>
          <p:cNvSpPr/>
          <p:nvPr/>
        </p:nvSpPr>
        <p:spPr>
          <a:xfrm>
            <a:off x="2834640" y="3959352"/>
            <a:ext cx="2926080" cy="685800"/>
          </a:xfrm>
          <a:prstGeom prst="roundRect">
            <a:avLst>
              <a:gd name="adj" fmla="val 5333"/>
            </a:avLst>
          </a:prstGeom>
          <a:solidFill>
            <a:srgbClr val="EEF2FB"/>
          </a:solidFill>
          <a:ln/>
        </p:spPr>
      </p:sp>
      <p:sp>
        <p:nvSpPr>
          <p:cNvPr id="29" name="Text 27"/>
          <p:cNvSpPr txBox="1"/>
          <p:nvPr/>
        </p:nvSpPr>
        <p:spPr>
          <a:xfrm>
            <a:off x="2971800" y="3959352"/>
            <a:ext cx="2697480" cy="685800"/>
          </a:xfrm>
          <a:prstGeom prst="rect">
            <a:avLst/>
          </a:prstGeom>
          <a:noFill/>
          <a:ln/>
        </p:spPr>
        <p:txBody>
          <a:bodyPr wrap="square" lIns="0" tIns="0" rIns="0" bIns="0" rtlCol="0" anchor="ctr"/>
          <a:lstStyle/>
          <a:p>
            <a:pPr algn="ctr"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1980-y. · RFC 4120</a:t>
            </a:r>
            <a:endParaRPr lang="en-US" sz="1600" dirty="0"/>
          </a:p>
        </p:txBody>
      </p:sp>
      <p:sp>
        <p:nvSpPr>
          <p:cNvPr id="30" name="Shape 28"/>
          <p:cNvSpPr/>
          <p:nvPr/>
        </p:nvSpPr>
        <p:spPr>
          <a:xfrm>
            <a:off x="5806440" y="3959352"/>
            <a:ext cx="2926080" cy="685800"/>
          </a:xfrm>
          <a:prstGeom prst="roundRect">
            <a:avLst>
              <a:gd name="adj" fmla="val 5333"/>
            </a:avLst>
          </a:prstGeom>
          <a:solidFill>
            <a:srgbClr val="E8F3EC"/>
          </a:solidFill>
          <a:ln/>
        </p:spPr>
      </p:sp>
      <p:sp>
        <p:nvSpPr>
          <p:cNvPr id="31" name="Text 29"/>
          <p:cNvSpPr txBox="1"/>
          <p:nvPr/>
        </p:nvSpPr>
        <p:spPr>
          <a:xfrm>
            <a:off x="5943600" y="3959352"/>
            <a:ext cx="2697480" cy="685800"/>
          </a:xfrm>
          <a:prstGeom prst="rect">
            <a:avLst/>
          </a:prstGeom>
          <a:noFill/>
          <a:ln/>
        </p:spPr>
        <p:txBody>
          <a:bodyPr wrap="square" lIns="0" tIns="0" rIns="0" bIns="0" rtlCol="0" anchor="ctr"/>
          <a:lstStyle/>
          <a:p>
            <a:pPr algn="ctr"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2005 · OASIS</a:t>
            </a:r>
            <a:endParaRPr lang="en-US" sz="1600" dirty="0"/>
          </a:p>
        </p:txBody>
      </p:sp>
      <p:sp>
        <p:nvSpPr>
          <p:cNvPr id="32" name="Shape 30"/>
          <p:cNvSpPr/>
          <p:nvPr/>
        </p:nvSpPr>
        <p:spPr>
          <a:xfrm>
            <a:off x="8778240" y="3959352"/>
            <a:ext cx="2788920" cy="685800"/>
          </a:xfrm>
          <a:prstGeom prst="roundRect">
            <a:avLst>
              <a:gd name="adj" fmla="val 5333"/>
            </a:avLst>
          </a:prstGeom>
          <a:solidFill>
            <a:srgbClr val="EEF2FB"/>
          </a:solidFill>
          <a:ln/>
        </p:spPr>
      </p:sp>
      <p:sp>
        <p:nvSpPr>
          <p:cNvPr id="33" name="Text 31"/>
          <p:cNvSpPr txBox="1"/>
          <p:nvPr/>
        </p:nvSpPr>
        <p:spPr>
          <a:xfrm>
            <a:off x="8915400" y="3959352"/>
            <a:ext cx="2560320" cy="685800"/>
          </a:xfrm>
          <a:prstGeom prst="rect">
            <a:avLst/>
          </a:prstGeom>
          <a:noFill/>
          <a:ln/>
        </p:spPr>
        <p:txBody>
          <a:bodyPr wrap="square" lIns="0" tIns="0" rIns="0" bIns="0" rtlCol="0" anchor="ctr"/>
          <a:lstStyle/>
          <a:p>
            <a:pPr algn="ctr"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2012 · 2014</a:t>
            </a:r>
            <a:endParaRPr lang="en-US" sz="1600" dirty="0"/>
          </a:p>
        </p:txBody>
      </p:sp>
      <p:sp>
        <p:nvSpPr>
          <p:cNvPr id="34" name="Shape 32"/>
          <p:cNvSpPr/>
          <p:nvPr/>
        </p:nvSpPr>
        <p:spPr>
          <a:xfrm>
            <a:off x="548640" y="4736592"/>
            <a:ext cx="2240280" cy="685800"/>
          </a:xfrm>
          <a:prstGeom prst="roundRect">
            <a:avLst>
              <a:gd name="adj" fmla="val 5333"/>
            </a:avLst>
          </a:prstGeom>
          <a:solidFill>
            <a:srgbClr val="2A3778"/>
          </a:solidFill>
          <a:ln/>
        </p:spPr>
      </p:sp>
      <p:sp>
        <p:nvSpPr>
          <p:cNvPr id="35" name="Text 33"/>
          <p:cNvSpPr txBox="1"/>
          <p:nvPr/>
        </p:nvSpPr>
        <p:spPr>
          <a:xfrm>
            <a:off x="685800" y="4736592"/>
            <a:ext cx="2011680" cy="685800"/>
          </a:xfrm>
          <a:prstGeom prst="rect">
            <a:avLst/>
          </a:prstGeom>
          <a:noFill/>
          <a:ln/>
        </p:spPr>
        <p:txBody>
          <a:bodyPr wrap="square" lIns="0" tIns="0" rIns="0" bIns="0" rtlCol="0" anchor="ctr"/>
          <a:lstStyle/>
          <a:p>
            <a:pPr algn="l"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Windows'da</a:t>
            </a:r>
            <a:endParaRPr lang="en-US" sz="1600" dirty="0"/>
          </a:p>
        </p:txBody>
      </p:sp>
      <p:sp>
        <p:nvSpPr>
          <p:cNvPr id="36" name="Shape 34"/>
          <p:cNvSpPr/>
          <p:nvPr/>
        </p:nvSpPr>
        <p:spPr>
          <a:xfrm>
            <a:off x="2834640" y="4736592"/>
            <a:ext cx="2926080" cy="685800"/>
          </a:xfrm>
          <a:prstGeom prst="roundRect">
            <a:avLst>
              <a:gd name="adj" fmla="val 5333"/>
            </a:avLst>
          </a:prstGeom>
          <a:solidFill>
            <a:srgbClr val="FFFFFF"/>
          </a:solidFill>
          <a:ln w="12700">
            <a:solidFill>
              <a:srgbClr val="CADCFC"/>
            </a:solidFill>
            <a:prstDash val="solid"/>
          </a:ln>
        </p:spPr>
      </p:sp>
      <p:sp>
        <p:nvSpPr>
          <p:cNvPr id="37" name="Text 35"/>
          <p:cNvSpPr txBox="1"/>
          <p:nvPr/>
        </p:nvSpPr>
        <p:spPr>
          <a:xfrm>
            <a:off x="2971800" y="4736592"/>
            <a:ext cx="2697480" cy="685800"/>
          </a:xfrm>
          <a:prstGeom prst="rect">
            <a:avLst/>
          </a:prstGeom>
          <a:noFill/>
          <a:ln/>
        </p:spPr>
        <p:txBody>
          <a:bodyPr wrap="square" lIns="0" tIns="0" rIns="0" bIns="0" rtlCol="0" anchor="ctr"/>
          <a:lstStyle/>
          <a:p>
            <a:pPr algn="ctr"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AD DS (M6)</a:t>
            </a:r>
            <a:endParaRPr lang="en-US" sz="1600" dirty="0"/>
          </a:p>
        </p:txBody>
      </p:sp>
      <p:sp>
        <p:nvSpPr>
          <p:cNvPr id="38" name="Shape 36"/>
          <p:cNvSpPr/>
          <p:nvPr/>
        </p:nvSpPr>
        <p:spPr>
          <a:xfrm>
            <a:off x="5806440" y="4736592"/>
            <a:ext cx="2926080" cy="685800"/>
          </a:xfrm>
          <a:prstGeom prst="roundRect">
            <a:avLst>
              <a:gd name="adj" fmla="val 5333"/>
            </a:avLst>
          </a:prstGeom>
          <a:solidFill>
            <a:srgbClr val="FFFFFF"/>
          </a:solidFill>
          <a:ln w="12700">
            <a:solidFill>
              <a:srgbClr val="CADCFC"/>
            </a:solidFill>
            <a:prstDash val="solid"/>
          </a:ln>
        </p:spPr>
      </p:sp>
      <p:sp>
        <p:nvSpPr>
          <p:cNvPr id="39" name="Text 37"/>
          <p:cNvSpPr txBox="1"/>
          <p:nvPr/>
        </p:nvSpPr>
        <p:spPr>
          <a:xfrm>
            <a:off x="5943600" y="4736592"/>
            <a:ext cx="2697480" cy="685800"/>
          </a:xfrm>
          <a:prstGeom prst="rect">
            <a:avLst/>
          </a:prstGeom>
          <a:noFill/>
          <a:ln/>
        </p:spPr>
        <p:txBody>
          <a:bodyPr wrap="square" lIns="0" tIns="0" rIns="0" bIns="0" rtlCol="0" anchor="ctr"/>
          <a:lstStyle/>
          <a:p>
            <a:pPr algn="ctr"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AD FS, Entra ID</a:t>
            </a:r>
            <a:endParaRPr lang="en-US" sz="1600" dirty="0"/>
          </a:p>
        </p:txBody>
      </p:sp>
      <p:sp>
        <p:nvSpPr>
          <p:cNvPr id="40" name="Shape 38"/>
          <p:cNvSpPr/>
          <p:nvPr/>
        </p:nvSpPr>
        <p:spPr>
          <a:xfrm>
            <a:off x="8778240" y="4736592"/>
            <a:ext cx="2788920" cy="685800"/>
          </a:xfrm>
          <a:prstGeom prst="roundRect">
            <a:avLst>
              <a:gd name="adj" fmla="val 5333"/>
            </a:avLst>
          </a:prstGeom>
          <a:solidFill>
            <a:srgbClr val="FFFFFF"/>
          </a:solidFill>
          <a:ln w="12700">
            <a:solidFill>
              <a:srgbClr val="CADCFC"/>
            </a:solidFill>
            <a:prstDash val="solid"/>
          </a:ln>
        </p:spPr>
      </p:sp>
      <p:sp>
        <p:nvSpPr>
          <p:cNvPr id="41" name="Text 39"/>
          <p:cNvSpPr txBox="1"/>
          <p:nvPr/>
        </p:nvSpPr>
        <p:spPr>
          <a:xfrm>
            <a:off x="8915400" y="4736592"/>
            <a:ext cx="2560320" cy="685800"/>
          </a:xfrm>
          <a:prstGeom prst="rect">
            <a:avLst/>
          </a:prstGeom>
          <a:noFill/>
          <a:ln/>
        </p:spPr>
        <p:txBody>
          <a:bodyPr wrap="square" lIns="0" tIns="0" rIns="0" bIns="0" rtlCol="0" anchor="ctr"/>
          <a:lstStyle/>
          <a:p>
            <a:pPr algn="ctr"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Entra ID (M8)</a:t>
            </a:r>
            <a:endParaRPr lang="en-US" sz="1600" dirty="0"/>
          </a:p>
        </p:txBody>
      </p:sp>
      <p:sp>
        <p:nvSpPr>
          <p:cNvPr id="42" name="Text 40"/>
          <p:cNvSpPr txBox="1"/>
          <p:nvPr/>
        </p:nvSpPr>
        <p:spPr>
          <a:xfrm>
            <a:off x="548640" y="5669280"/>
            <a:ext cx="11064240" cy="594360"/>
          </a:xfrm>
          <a:prstGeom prst="rect">
            <a:avLst/>
          </a:prstGeom>
          <a:noFill/>
          <a:ln/>
        </p:spPr>
        <p:txBody>
          <a:bodyPr wrap="square" lIns="0" tIns="0" rIns="0" bIns="0" rtlCol="0" anchor="t"/>
          <a:lstStyle/>
          <a:p>
            <a:pPr algn="ctr" indent="0" marL="0">
              <a:lnSpc>
                <a:spcPct val="100000"/>
              </a:lnSpc>
              <a:buNone/>
            </a:pPr>
            <a:r>
              <a:rPr lang="en-US" sz="1600" dirty="0">
                <a:solidFill>
                  <a:srgbClr val="1E2761"/>
                </a:solidFill>
                <a:latin typeface="Times New Roman" pitchFamily="34" charset="0"/>
                <a:ea typeface="Times New Roman" pitchFamily="34" charset="-122"/>
                <a:cs typeface="Times New Roman" pitchFamily="34" charset="-120"/>
              </a:rPr>
              <a:t>Bugun — o'rtadagi ustun. SAML eskirgan emas: universitet va korxona tizimlarining katta qismi hanuz SAML bilan ishlaydi.</a:t>
            </a:r>
            <a:endParaRPr lang="en-US" sz="1600" dirty="0"/>
          </a:p>
        </p:txBody>
      </p:sp>
      <p:sp>
        <p:nvSpPr>
          <p:cNvPr id="43" name="Text 41"/>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7-ma'ruza</a:t>
            </a:r>
            <a:endParaRPr lang="en-US" sz="1100" dirty="0"/>
          </a:p>
        </p:txBody>
      </p:sp>
      <p:sp>
        <p:nvSpPr>
          <p:cNvPr id="44" name="Text 42"/>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 · SAML 2.0</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Rollar va asosiy tushunchalar</a:t>
            </a:r>
            <a:endParaRPr lang="en-US" sz="3600" dirty="0"/>
          </a:p>
        </p:txBody>
      </p:sp>
      <p:sp>
        <p:nvSpPr>
          <p:cNvPr id="4" name="Shape 2"/>
          <p:cNvSpPr/>
          <p:nvPr/>
        </p:nvSpPr>
        <p:spPr>
          <a:xfrm>
            <a:off x="548640" y="1783080"/>
            <a:ext cx="3566160" cy="1645920"/>
          </a:xfrm>
          <a:prstGeom prst="roundRect">
            <a:avLst>
              <a:gd name="adj" fmla="val 5000"/>
            </a:avLst>
          </a:prstGeom>
          <a:solidFill>
            <a:srgbClr val="EEF2FB"/>
          </a:solidFill>
          <a:ln/>
        </p:spPr>
      </p:sp>
      <p:sp>
        <p:nvSpPr>
          <p:cNvPr id="5" name="Shape 3"/>
          <p:cNvSpPr/>
          <p:nvPr/>
        </p:nvSpPr>
        <p:spPr>
          <a:xfrm>
            <a:off x="777240" y="1965960"/>
            <a:ext cx="640080" cy="640080"/>
          </a:xfrm>
          <a:prstGeom prst="ellipse">
            <a:avLst/>
          </a:prstGeom>
          <a:solidFill>
            <a:srgbClr val="1E2761"/>
          </a:solidFill>
          <a:ln/>
        </p:spPr>
      </p:sp>
      <p:pic>
        <p:nvPicPr>
          <p:cNvPr id="6" name="Image 0" descr="/home/claude/fob-slides/icons_out/users_white.png"/>
          <p:cNvPicPr>
            <a:picLocks noChangeAspect="1"/>
          </p:cNvPicPr>
          <p:nvPr/>
        </p:nvPicPr>
        <p:blipFill>
          <a:blip r:embed="rId1"/>
          <a:stretch>
            <a:fillRect/>
          </a:stretch>
        </p:blipFill>
        <p:spPr>
          <a:xfrm>
            <a:off x="921258" y="2109978"/>
            <a:ext cx="352044" cy="352044"/>
          </a:xfrm>
          <a:prstGeom prst="rect">
            <a:avLst/>
          </a:prstGeom>
        </p:spPr>
      </p:pic>
      <p:sp>
        <p:nvSpPr>
          <p:cNvPr id="7" name="Text 4"/>
          <p:cNvSpPr txBox="1"/>
          <p:nvPr/>
        </p:nvSpPr>
        <p:spPr>
          <a:xfrm>
            <a:off x="1554480" y="1920240"/>
            <a:ext cx="2377440" cy="411480"/>
          </a:xfrm>
          <a:prstGeom prst="rect">
            <a:avLst/>
          </a:prstGeom>
          <a:noFill/>
          <a:ln/>
        </p:spPr>
        <p:txBody>
          <a:bodyPr wrap="square" lIns="0" tIns="0" rIns="0" bIns="0" rtlCol="0" anchor="t"/>
          <a:lstStyle/>
          <a:p>
            <a:pPr algn="l" indent="0" marL="0">
              <a:lnSpc>
                <a:spcPct val="100000"/>
              </a:lnSpc>
              <a:buNone/>
            </a:pPr>
            <a:r>
              <a:rPr lang="en-US" sz="2200" b="1" dirty="0">
                <a:solidFill>
                  <a:srgbClr val="1E2761"/>
                </a:solidFill>
                <a:latin typeface="Times New Roman" pitchFamily="34" charset="0"/>
                <a:ea typeface="Times New Roman" pitchFamily="34" charset="-122"/>
                <a:cs typeface="Times New Roman" pitchFamily="34" charset="-120"/>
              </a:rPr>
              <a:t>Sub'ekt</a:t>
            </a:r>
            <a:endParaRPr lang="en-US" sz="2200" dirty="0"/>
          </a:p>
        </p:txBody>
      </p:sp>
      <p:sp>
        <p:nvSpPr>
          <p:cNvPr id="8" name="Text 5"/>
          <p:cNvSpPr txBox="1"/>
          <p:nvPr/>
        </p:nvSpPr>
        <p:spPr>
          <a:xfrm>
            <a:off x="1554480" y="2304288"/>
            <a:ext cx="2377440" cy="320040"/>
          </a:xfrm>
          <a:prstGeom prst="rect">
            <a:avLst/>
          </a:prstGeom>
          <a:noFill/>
          <a:ln/>
        </p:spPr>
        <p:txBody>
          <a:bodyPr wrap="square" lIns="0" tIns="0" rIns="0" bIns="0" rtlCol="0" anchor="t"/>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principal</a:t>
            </a:r>
            <a:endParaRPr lang="en-US" sz="1400" dirty="0"/>
          </a:p>
        </p:txBody>
      </p:sp>
      <p:sp>
        <p:nvSpPr>
          <p:cNvPr id="9" name="Text 6"/>
          <p:cNvSpPr txBox="1"/>
          <p:nvPr/>
        </p:nvSpPr>
        <p:spPr>
          <a:xfrm>
            <a:off x="777240" y="2743200"/>
            <a:ext cx="3108960" cy="64008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Foydalanuvchi va uning brauzeri</a:t>
            </a:r>
            <a:endParaRPr lang="en-US" sz="1600" dirty="0"/>
          </a:p>
        </p:txBody>
      </p:sp>
      <p:sp>
        <p:nvSpPr>
          <p:cNvPr id="10" name="Shape 7"/>
          <p:cNvSpPr/>
          <p:nvPr/>
        </p:nvSpPr>
        <p:spPr>
          <a:xfrm>
            <a:off x="4297680" y="1783080"/>
            <a:ext cx="3566160" cy="1645920"/>
          </a:xfrm>
          <a:prstGeom prst="roundRect">
            <a:avLst>
              <a:gd name="adj" fmla="val 5000"/>
            </a:avLst>
          </a:prstGeom>
          <a:solidFill>
            <a:srgbClr val="1E2761"/>
          </a:solidFill>
          <a:ln/>
        </p:spPr>
      </p:sp>
      <p:sp>
        <p:nvSpPr>
          <p:cNvPr id="11" name="Shape 8"/>
          <p:cNvSpPr/>
          <p:nvPr/>
        </p:nvSpPr>
        <p:spPr>
          <a:xfrm>
            <a:off x="4526280" y="1965960"/>
            <a:ext cx="640080" cy="640080"/>
          </a:xfrm>
          <a:prstGeom prst="ellipse">
            <a:avLst/>
          </a:prstGeom>
          <a:solidFill>
            <a:srgbClr val="2A3778"/>
          </a:solidFill>
          <a:ln/>
        </p:spPr>
      </p:sp>
      <p:pic>
        <p:nvPicPr>
          <p:cNvPr id="12" name="Image 1" descr="/home/claude/fob-slides/icons_out/shield_white.png"/>
          <p:cNvPicPr>
            <a:picLocks noChangeAspect="1"/>
          </p:cNvPicPr>
          <p:nvPr/>
        </p:nvPicPr>
        <p:blipFill>
          <a:blip r:embed="rId2"/>
          <a:stretch>
            <a:fillRect/>
          </a:stretch>
        </p:blipFill>
        <p:spPr>
          <a:xfrm>
            <a:off x="4670298" y="2109978"/>
            <a:ext cx="352044" cy="352044"/>
          </a:xfrm>
          <a:prstGeom prst="rect">
            <a:avLst/>
          </a:prstGeom>
        </p:spPr>
      </p:pic>
      <p:sp>
        <p:nvSpPr>
          <p:cNvPr id="13" name="Text 9"/>
          <p:cNvSpPr txBox="1"/>
          <p:nvPr/>
        </p:nvSpPr>
        <p:spPr>
          <a:xfrm>
            <a:off x="5303520" y="1920240"/>
            <a:ext cx="2377440" cy="411480"/>
          </a:xfrm>
          <a:prstGeom prst="rect">
            <a:avLst/>
          </a:prstGeom>
          <a:noFill/>
          <a:ln/>
        </p:spPr>
        <p:txBody>
          <a:bodyPr wrap="square" lIns="0" tIns="0" rIns="0" bIns="0" rtlCol="0" anchor="t"/>
          <a:lstStyle/>
          <a:p>
            <a:pPr algn="l"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IdP</a:t>
            </a:r>
            <a:endParaRPr lang="en-US" sz="2200" dirty="0"/>
          </a:p>
        </p:txBody>
      </p:sp>
      <p:sp>
        <p:nvSpPr>
          <p:cNvPr id="14" name="Text 10"/>
          <p:cNvSpPr txBox="1"/>
          <p:nvPr/>
        </p:nvSpPr>
        <p:spPr>
          <a:xfrm>
            <a:off x="5303520" y="2304288"/>
            <a:ext cx="2377440" cy="320040"/>
          </a:xfrm>
          <a:prstGeom prst="rect">
            <a:avLst/>
          </a:prstGeom>
          <a:noFill/>
          <a:ln/>
        </p:spPr>
        <p:txBody>
          <a:bodyPr wrap="square" lIns="0" tIns="0" rIns="0" bIns="0" rtlCol="0" anchor="t"/>
          <a:lstStyle/>
          <a:p>
            <a:pPr algn="l"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identity provider</a:t>
            </a:r>
            <a:endParaRPr lang="en-US" sz="1400" dirty="0"/>
          </a:p>
        </p:txBody>
      </p:sp>
      <p:sp>
        <p:nvSpPr>
          <p:cNvPr id="15" name="Text 11"/>
          <p:cNvSpPr txBox="1"/>
          <p:nvPr/>
        </p:nvSpPr>
        <p:spPr>
          <a:xfrm>
            <a:off x="4526280" y="2743200"/>
            <a:ext cx="3108960" cy="640080"/>
          </a:xfrm>
          <a:prstGeom prst="rect">
            <a:avLst/>
          </a:prstGeom>
          <a:noFill/>
          <a:ln/>
        </p:spPr>
        <p:txBody>
          <a:bodyPr wrap="square" lIns="0" tIns="0" rIns="0" bIns="0" rtlCol="0" anchor="t"/>
          <a:lstStyle/>
          <a:p>
            <a:pPr algn="l" indent="0" marL="0">
              <a:lnSpc>
                <a:spcPct val="100000"/>
              </a:lnSpc>
              <a:buNone/>
            </a:pPr>
            <a:r>
              <a:rPr lang="en-US" sz="1600" dirty="0">
                <a:solidFill>
                  <a:srgbClr val="FFFFFF"/>
                </a:solidFill>
                <a:latin typeface="Times New Roman" pitchFamily="34" charset="0"/>
                <a:ea typeface="Times New Roman" pitchFamily="34" charset="-122"/>
                <a:cs typeface="Times New Roman" pitchFamily="34" charset="-120"/>
              </a:rPr>
              <a:t>Autentifikatsiya qiladi va tasdiqnoma beradi</a:t>
            </a:r>
            <a:endParaRPr lang="en-US" sz="1600" dirty="0"/>
          </a:p>
        </p:txBody>
      </p:sp>
      <p:sp>
        <p:nvSpPr>
          <p:cNvPr id="16" name="Shape 12"/>
          <p:cNvSpPr/>
          <p:nvPr/>
        </p:nvSpPr>
        <p:spPr>
          <a:xfrm>
            <a:off x="8046720" y="1783080"/>
            <a:ext cx="3566160" cy="1645920"/>
          </a:xfrm>
          <a:prstGeom prst="roundRect">
            <a:avLst>
              <a:gd name="adj" fmla="val 5000"/>
            </a:avLst>
          </a:prstGeom>
          <a:solidFill>
            <a:srgbClr val="EEF2FB"/>
          </a:solidFill>
          <a:ln/>
        </p:spPr>
      </p:sp>
      <p:sp>
        <p:nvSpPr>
          <p:cNvPr id="17" name="Shape 13"/>
          <p:cNvSpPr/>
          <p:nvPr/>
        </p:nvSpPr>
        <p:spPr>
          <a:xfrm>
            <a:off x="8275320" y="1965960"/>
            <a:ext cx="640080" cy="640080"/>
          </a:xfrm>
          <a:prstGeom prst="ellipse">
            <a:avLst/>
          </a:prstGeom>
          <a:solidFill>
            <a:srgbClr val="1E2761"/>
          </a:solidFill>
          <a:ln/>
        </p:spPr>
      </p:sp>
      <p:pic>
        <p:nvPicPr>
          <p:cNvPr id="18" name="Image 2" descr="/home/claude/fob-slides/icons_out/server_white.png"/>
          <p:cNvPicPr>
            <a:picLocks noChangeAspect="1"/>
          </p:cNvPicPr>
          <p:nvPr/>
        </p:nvPicPr>
        <p:blipFill>
          <a:blip r:embed="rId3"/>
          <a:stretch>
            <a:fillRect/>
          </a:stretch>
        </p:blipFill>
        <p:spPr>
          <a:xfrm>
            <a:off x="8419338" y="2109978"/>
            <a:ext cx="352044" cy="352044"/>
          </a:xfrm>
          <a:prstGeom prst="rect">
            <a:avLst/>
          </a:prstGeom>
        </p:spPr>
      </p:pic>
      <p:sp>
        <p:nvSpPr>
          <p:cNvPr id="19" name="Text 14"/>
          <p:cNvSpPr txBox="1"/>
          <p:nvPr/>
        </p:nvSpPr>
        <p:spPr>
          <a:xfrm>
            <a:off x="9052560" y="1920240"/>
            <a:ext cx="2377440" cy="411480"/>
          </a:xfrm>
          <a:prstGeom prst="rect">
            <a:avLst/>
          </a:prstGeom>
          <a:noFill/>
          <a:ln/>
        </p:spPr>
        <p:txBody>
          <a:bodyPr wrap="square" lIns="0" tIns="0" rIns="0" bIns="0" rtlCol="0" anchor="t"/>
          <a:lstStyle/>
          <a:p>
            <a:pPr algn="l" indent="0" marL="0">
              <a:lnSpc>
                <a:spcPct val="100000"/>
              </a:lnSpc>
              <a:buNone/>
            </a:pPr>
            <a:r>
              <a:rPr lang="en-US" sz="2200" b="1" dirty="0">
                <a:solidFill>
                  <a:srgbClr val="1E2761"/>
                </a:solidFill>
                <a:latin typeface="Times New Roman" pitchFamily="34" charset="0"/>
                <a:ea typeface="Times New Roman" pitchFamily="34" charset="-122"/>
                <a:cs typeface="Times New Roman" pitchFamily="34" charset="-120"/>
              </a:rPr>
              <a:t>SP</a:t>
            </a:r>
            <a:endParaRPr lang="en-US" sz="2200" dirty="0"/>
          </a:p>
        </p:txBody>
      </p:sp>
      <p:sp>
        <p:nvSpPr>
          <p:cNvPr id="20" name="Text 15"/>
          <p:cNvSpPr txBox="1"/>
          <p:nvPr/>
        </p:nvSpPr>
        <p:spPr>
          <a:xfrm>
            <a:off x="9052560" y="2304288"/>
            <a:ext cx="2377440" cy="320040"/>
          </a:xfrm>
          <a:prstGeom prst="rect">
            <a:avLst/>
          </a:prstGeom>
          <a:noFill/>
          <a:ln/>
        </p:spPr>
        <p:txBody>
          <a:bodyPr wrap="square" lIns="0" tIns="0" rIns="0" bIns="0" rtlCol="0" anchor="t"/>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service provider</a:t>
            </a:r>
            <a:endParaRPr lang="en-US" sz="1400" dirty="0"/>
          </a:p>
        </p:txBody>
      </p:sp>
      <p:sp>
        <p:nvSpPr>
          <p:cNvPr id="21" name="Text 16"/>
          <p:cNvSpPr txBox="1"/>
          <p:nvPr/>
        </p:nvSpPr>
        <p:spPr>
          <a:xfrm>
            <a:off x="8275320" y="2743200"/>
            <a:ext cx="3108960" cy="64008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Tasdiqnomaga ishonib, xizmat ko'rsatadi</a:t>
            </a:r>
            <a:endParaRPr lang="en-US" sz="1600" dirty="0"/>
          </a:p>
        </p:txBody>
      </p:sp>
      <p:sp>
        <p:nvSpPr>
          <p:cNvPr id="22" name="Shape 17"/>
          <p:cNvSpPr/>
          <p:nvPr/>
        </p:nvSpPr>
        <p:spPr>
          <a:xfrm>
            <a:off x="548640" y="3657600"/>
            <a:ext cx="11064240" cy="758952"/>
          </a:xfrm>
          <a:prstGeom prst="roundRect">
            <a:avLst>
              <a:gd name="adj" fmla="val 10843"/>
            </a:avLst>
          </a:prstGeom>
          <a:solidFill>
            <a:srgbClr val="EEF2FB"/>
          </a:solidFill>
          <a:ln/>
        </p:spPr>
      </p:sp>
      <p:sp>
        <p:nvSpPr>
          <p:cNvPr id="23" name="Text 18"/>
          <p:cNvSpPr txBox="1"/>
          <p:nvPr/>
        </p:nvSpPr>
        <p:spPr>
          <a:xfrm>
            <a:off x="777240" y="3703320"/>
            <a:ext cx="2103120" cy="384048"/>
          </a:xfrm>
          <a:prstGeom prst="rect">
            <a:avLst/>
          </a:prstGeom>
          <a:noFill/>
          <a:ln/>
        </p:spPr>
        <p:txBody>
          <a:bodyPr wrap="square" lIns="0" tIns="0" rIns="0" bIns="0" rtlCol="0" anchor="t"/>
          <a:lstStyle/>
          <a:p>
            <a:pPr algn="l" indent="0" marL="0">
              <a:lnSpc>
                <a:spcPct val="100000"/>
              </a:lnSpc>
              <a:buNone/>
            </a:pPr>
            <a:r>
              <a:rPr lang="en-US" sz="1700" b="1" dirty="0">
                <a:solidFill>
                  <a:srgbClr val="1E2761"/>
                </a:solidFill>
                <a:latin typeface="Times New Roman" pitchFamily="34" charset="0"/>
                <a:ea typeface="Times New Roman" pitchFamily="34" charset="-122"/>
                <a:cs typeface="Times New Roman" pitchFamily="34" charset="-120"/>
              </a:rPr>
              <a:t>Tasdiqnoma</a:t>
            </a:r>
            <a:endParaRPr lang="en-US" sz="1700" dirty="0"/>
          </a:p>
        </p:txBody>
      </p:sp>
      <p:sp>
        <p:nvSpPr>
          <p:cNvPr id="24" name="Text 19"/>
          <p:cNvSpPr txBox="1"/>
          <p:nvPr/>
        </p:nvSpPr>
        <p:spPr>
          <a:xfrm>
            <a:off x="777240" y="4041648"/>
            <a:ext cx="2103120" cy="320040"/>
          </a:xfrm>
          <a:prstGeom prst="rect">
            <a:avLst/>
          </a:prstGeom>
          <a:noFill/>
          <a:ln/>
        </p:spPr>
        <p:txBody>
          <a:bodyPr wrap="square" lIns="0" tIns="0" rIns="0" bIns="0" rtlCol="0" anchor="t"/>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assertion</a:t>
            </a:r>
            <a:endParaRPr lang="en-US" sz="1400" dirty="0"/>
          </a:p>
        </p:txBody>
      </p:sp>
      <p:sp>
        <p:nvSpPr>
          <p:cNvPr id="25" name="Text 20"/>
          <p:cNvSpPr txBox="1"/>
          <p:nvPr/>
        </p:nvSpPr>
        <p:spPr>
          <a:xfrm>
            <a:off x="2926080" y="3657600"/>
            <a:ext cx="8503920" cy="758952"/>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IdP imzolagan XML hujjat: kim, qachon, qanday autentifikatsiyadan o'tgan va qanday atributlarga ega</a:t>
            </a:r>
            <a:endParaRPr lang="en-US" sz="1600" dirty="0"/>
          </a:p>
        </p:txBody>
      </p:sp>
      <p:sp>
        <p:nvSpPr>
          <p:cNvPr id="26" name="Shape 21"/>
          <p:cNvSpPr/>
          <p:nvPr/>
        </p:nvSpPr>
        <p:spPr>
          <a:xfrm>
            <a:off x="548640" y="4526280"/>
            <a:ext cx="11064240" cy="758952"/>
          </a:xfrm>
          <a:prstGeom prst="roundRect">
            <a:avLst>
              <a:gd name="adj" fmla="val 10843"/>
            </a:avLst>
          </a:prstGeom>
          <a:solidFill>
            <a:srgbClr val="FFFFFF"/>
          </a:solidFill>
          <a:ln w="12700">
            <a:solidFill>
              <a:srgbClr val="CADCFC"/>
            </a:solidFill>
            <a:prstDash val="solid"/>
          </a:ln>
        </p:spPr>
      </p:sp>
      <p:sp>
        <p:nvSpPr>
          <p:cNvPr id="27" name="Text 22"/>
          <p:cNvSpPr txBox="1"/>
          <p:nvPr/>
        </p:nvSpPr>
        <p:spPr>
          <a:xfrm>
            <a:off x="777240" y="4572000"/>
            <a:ext cx="2103120" cy="384048"/>
          </a:xfrm>
          <a:prstGeom prst="rect">
            <a:avLst/>
          </a:prstGeom>
          <a:noFill/>
          <a:ln/>
        </p:spPr>
        <p:txBody>
          <a:bodyPr wrap="square" lIns="0" tIns="0" rIns="0" bIns="0" rtlCol="0" anchor="t"/>
          <a:lstStyle/>
          <a:p>
            <a:pPr algn="l" indent="0" marL="0">
              <a:lnSpc>
                <a:spcPct val="100000"/>
              </a:lnSpc>
              <a:buNone/>
            </a:pPr>
            <a:r>
              <a:rPr lang="en-US" sz="1700" b="1" dirty="0">
                <a:solidFill>
                  <a:srgbClr val="1E2761"/>
                </a:solidFill>
                <a:latin typeface="Times New Roman" pitchFamily="34" charset="0"/>
                <a:ea typeface="Times New Roman" pitchFamily="34" charset="-122"/>
                <a:cs typeface="Times New Roman" pitchFamily="34" charset="-120"/>
              </a:rPr>
              <a:t>Bog'lanish</a:t>
            </a:r>
            <a:endParaRPr lang="en-US" sz="1700" dirty="0"/>
          </a:p>
        </p:txBody>
      </p:sp>
      <p:sp>
        <p:nvSpPr>
          <p:cNvPr id="28" name="Text 23"/>
          <p:cNvSpPr txBox="1"/>
          <p:nvPr/>
        </p:nvSpPr>
        <p:spPr>
          <a:xfrm>
            <a:off x="777240" y="4910328"/>
            <a:ext cx="2103120" cy="320040"/>
          </a:xfrm>
          <a:prstGeom prst="rect">
            <a:avLst/>
          </a:prstGeom>
          <a:noFill/>
          <a:ln/>
        </p:spPr>
        <p:txBody>
          <a:bodyPr wrap="square" lIns="0" tIns="0" rIns="0" bIns="0" rtlCol="0" anchor="t"/>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binding</a:t>
            </a:r>
            <a:endParaRPr lang="en-US" sz="1400" dirty="0"/>
          </a:p>
        </p:txBody>
      </p:sp>
      <p:sp>
        <p:nvSpPr>
          <p:cNvPr id="29" name="Text 24"/>
          <p:cNvSpPr txBox="1"/>
          <p:nvPr/>
        </p:nvSpPr>
        <p:spPr>
          <a:xfrm>
            <a:off x="2926080" y="4526280"/>
            <a:ext cx="8503920" cy="758952"/>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Xabar qanday tashiladi: HTTP-Redirect (so'rov), HTTP-POST (javob), Artifact</a:t>
            </a:r>
            <a:endParaRPr lang="en-US" sz="1600" dirty="0"/>
          </a:p>
        </p:txBody>
      </p:sp>
      <p:sp>
        <p:nvSpPr>
          <p:cNvPr id="30" name="Shape 25"/>
          <p:cNvSpPr/>
          <p:nvPr/>
        </p:nvSpPr>
        <p:spPr>
          <a:xfrm>
            <a:off x="548640" y="5394960"/>
            <a:ext cx="11064240" cy="758952"/>
          </a:xfrm>
          <a:prstGeom prst="roundRect">
            <a:avLst>
              <a:gd name="adj" fmla="val 10843"/>
            </a:avLst>
          </a:prstGeom>
          <a:solidFill>
            <a:srgbClr val="EEF2FB"/>
          </a:solidFill>
          <a:ln/>
        </p:spPr>
      </p:sp>
      <p:sp>
        <p:nvSpPr>
          <p:cNvPr id="31" name="Text 26"/>
          <p:cNvSpPr txBox="1"/>
          <p:nvPr/>
        </p:nvSpPr>
        <p:spPr>
          <a:xfrm>
            <a:off x="777240" y="5440680"/>
            <a:ext cx="2103120" cy="384048"/>
          </a:xfrm>
          <a:prstGeom prst="rect">
            <a:avLst/>
          </a:prstGeom>
          <a:noFill/>
          <a:ln/>
        </p:spPr>
        <p:txBody>
          <a:bodyPr wrap="square" lIns="0" tIns="0" rIns="0" bIns="0" rtlCol="0" anchor="t"/>
          <a:lstStyle/>
          <a:p>
            <a:pPr algn="l" indent="0" marL="0">
              <a:lnSpc>
                <a:spcPct val="100000"/>
              </a:lnSpc>
              <a:buNone/>
            </a:pPr>
            <a:r>
              <a:rPr lang="en-US" sz="1700" b="1" dirty="0">
                <a:solidFill>
                  <a:srgbClr val="1E2761"/>
                </a:solidFill>
                <a:latin typeface="Times New Roman" pitchFamily="34" charset="0"/>
                <a:ea typeface="Times New Roman" pitchFamily="34" charset="-122"/>
                <a:cs typeface="Times New Roman" pitchFamily="34" charset="-120"/>
              </a:rPr>
              <a:t>Metama'lumot</a:t>
            </a:r>
            <a:endParaRPr lang="en-US" sz="1700" dirty="0"/>
          </a:p>
        </p:txBody>
      </p:sp>
      <p:sp>
        <p:nvSpPr>
          <p:cNvPr id="32" name="Text 27"/>
          <p:cNvSpPr txBox="1"/>
          <p:nvPr/>
        </p:nvSpPr>
        <p:spPr>
          <a:xfrm>
            <a:off x="777240" y="5779008"/>
            <a:ext cx="2103120" cy="320040"/>
          </a:xfrm>
          <a:prstGeom prst="rect">
            <a:avLst/>
          </a:prstGeom>
          <a:noFill/>
          <a:ln/>
        </p:spPr>
        <p:txBody>
          <a:bodyPr wrap="square" lIns="0" tIns="0" rIns="0" bIns="0" rtlCol="0" anchor="t"/>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metadata</a:t>
            </a:r>
            <a:endParaRPr lang="en-US" sz="1400" dirty="0"/>
          </a:p>
        </p:txBody>
      </p:sp>
      <p:sp>
        <p:nvSpPr>
          <p:cNvPr id="33" name="Text 28"/>
          <p:cNvSpPr txBox="1"/>
          <p:nvPr/>
        </p:nvSpPr>
        <p:spPr>
          <a:xfrm>
            <a:off x="2926080" y="5394960"/>
            <a:ext cx="8503920" cy="758952"/>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Har tomonning entityID si, URL manzillari va sertifikati — ishonch shu fayl orqali o'rnatiladi</a:t>
            </a:r>
            <a:endParaRPr lang="en-US" sz="1600" dirty="0"/>
          </a:p>
        </p:txBody>
      </p:sp>
      <p:sp>
        <p:nvSpPr>
          <p:cNvPr id="34" name="Text 29"/>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7-ma'ruza</a:t>
            </a:r>
            <a:endParaRPr lang="en-US" sz="1100" dirty="0"/>
          </a:p>
        </p:txBody>
      </p:sp>
      <p:sp>
        <p:nvSpPr>
          <p:cNvPr id="35" name="Text 30"/>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 · SAML OQIMI</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SP tomonidan boshlangan kirish</a:t>
            </a:r>
            <a:endParaRPr lang="en-US" sz="3600" dirty="0"/>
          </a:p>
        </p:txBody>
      </p:sp>
      <p:sp>
        <p:nvSpPr>
          <p:cNvPr id="4" name="Shape 2"/>
          <p:cNvSpPr/>
          <p:nvPr/>
        </p:nvSpPr>
        <p:spPr>
          <a:xfrm>
            <a:off x="548640" y="1737360"/>
            <a:ext cx="3017520" cy="502920"/>
          </a:xfrm>
          <a:prstGeom prst="roundRect">
            <a:avLst>
              <a:gd name="adj" fmla="val 16364"/>
            </a:avLst>
          </a:prstGeom>
          <a:solidFill>
            <a:srgbClr val="1E2761"/>
          </a:solidFill>
          <a:ln/>
        </p:spPr>
      </p:sp>
      <p:sp>
        <p:nvSpPr>
          <p:cNvPr id="5" name="Text 3"/>
          <p:cNvSpPr txBox="1"/>
          <p:nvPr/>
        </p:nvSpPr>
        <p:spPr>
          <a:xfrm>
            <a:off x="548640" y="1737360"/>
            <a:ext cx="3017520" cy="502920"/>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Brauzer</a:t>
            </a:r>
            <a:endParaRPr lang="en-US" sz="1600" dirty="0"/>
          </a:p>
        </p:txBody>
      </p:sp>
      <p:sp>
        <p:nvSpPr>
          <p:cNvPr id="6" name="Shape 4"/>
          <p:cNvSpPr/>
          <p:nvPr/>
        </p:nvSpPr>
        <p:spPr>
          <a:xfrm>
            <a:off x="2057400" y="2240280"/>
            <a:ext cx="914" cy="3749040"/>
          </a:xfrm>
          <a:prstGeom prst="line">
            <a:avLst/>
          </a:prstGeom>
          <a:noFill/>
          <a:ln w="15875">
            <a:solidFill>
              <a:srgbClr val="9FB0E0"/>
            </a:solidFill>
            <a:prstDash val="dash"/>
          </a:ln>
        </p:spPr>
      </p:sp>
      <p:sp>
        <p:nvSpPr>
          <p:cNvPr id="7" name="Shape 5"/>
          <p:cNvSpPr/>
          <p:nvPr/>
        </p:nvSpPr>
        <p:spPr>
          <a:xfrm>
            <a:off x="4572000" y="1737360"/>
            <a:ext cx="3017520" cy="502920"/>
          </a:xfrm>
          <a:prstGeom prst="roundRect">
            <a:avLst>
              <a:gd name="adj" fmla="val 16364"/>
            </a:avLst>
          </a:prstGeom>
          <a:solidFill>
            <a:srgbClr val="1E2761"/>
          </a:solidFill>
          <a:ln/>
        </p:spPr>
      </p:sp>
      <p:sp>
        <p:nvSpPr>
          <p:cNvPr id="8" name="Text 6"/>
          <p:cNvSpPr txBox="1"/>
          <p:nvPr/>
        </p:nvSpPr>
        <p:spPr>
          <a:xfrm>
            <a:off x="4572000" y="1737360"/>
            <a:ext cx="3017520" cy="502920"/>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SP: moodle.nuu.uz</a:t>
            </a:r>
            <a:endParaRPr lang="en-US" sz="1600" dirty="0"/>
          </a:p>
        </p:txBody>
      </p:sp>
      <p:sp>
        <p:nvSpPr>
          <p:cNvPr id="9" name="Shape 7"/>
          <p:cNvSpPr/>
          <p:nvPr/>
        </p:nvSpPr>
        <p:spPr>
          <a:xfrm>
            <a:off x="6080760" y="2240280"/>
            <a:ext cx="914" cy="3749040"/>
          </a:xfrm>
          <a:prstGeom prst="line">
            <a:avLst/>
          </a:prstGeom>
          <a:noFill/>
          <a:ln w="15875">
            <a:solidFill>
              <a:srgbClr val="9FB0E0"/>
            </a:solidFill>
            <a:prstDash val="dash"/>
          </a:ln>
        </p:spPr>
      </p:sp>
      <p:sp>
        <p:nvSpPr>
          <p:cNvPr id="10" name="Shape 8"/>
          <p:cNvSpPr/>
          <p:nvPr/>
        </p:nvSpPr>
        <p:spPr>
          <a:xfrm>
            <a:off x="8595360" y="1737360"/>
            <a:ext cx="3017520" cy="502920"/>
          </a:xfrm>
          <a:prstGeom prst="roundRect">
            <a:avLst>
              <a:gd name="adj" fmla="val 16364"/>
            </a:avLst>
          </a:prstGeom>
          <a:solidFill>
            <a:srgbClr val="1E2761"/>
          </a:solidFill>
          <a:ln/>
        </p:spPr>
      </p:sp>
      <p:sp>
        <p:nvSpPr>
          <p:cNvPr id="11" name="Text 9"/>
          <p:cNvSpPr txBox="1"/>
          <p:nvPr/>
        </p:nvSpPr>
        <p:spPr>
          <a:xfrm>
            <a:off x="8595360" y="1737360"/>
            <a:ext cx="3017520" cy="502920"/>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IdP: login.nuu.uz</a:t>
            </a:r>
            <a:endParaRPr lang="en-US" sz="1600" dirty="0"/>
          </a:p>
        </p:txBody>
      </p:sp>
      <p:sp>
        <p:nvSpPr>
          <p:cNvPr id="12" name="Shape 10"/>
          <p:cNvSpPr/>
          <p:nvPr/>
        </p:nvSpPr>
        <p:spPr>
          <a:xfrm>
            <a:off x="10104120" y="2240280"/>
            <a:ext cx="914" cy="3749040"/>
          </a:xfrm>
          <a:prstGeom prst="line">
            <a:avLst/>
          </a:prstGeom>
          <a:noFill/>
          <a:ln w="15875">
            <a:solidFill>
              <a:srgbClr val="9FB0E0"/>
            </a:solidFill>
            <a:prstDash val="dash"/>
          </a:ln>
        </p:spPr>
      </p:sp>
      <p:sp>
        <p:nvSpPr>
          <p:cNvPr id="13" name="Shape 11"/>
          <p:cNvSpPr/>
          <p:nvPr/>
        </p:nvSpPr>
        <p:spPr>
          <a:xfrm>
            <a:off x="2057400" y="2807208"/>
            <a:ext cx="4023360" cy="0"/>
          </a:xfrm>
          <a:prstGeom prst="line">
            <a:avLst/>
          </a:prstGeom>
          <a:noFill/>
          <a:ln w="25400">
            <a:solidFill>
              <a:srgbClr val="1E2761"/>
            </a:solidFill>
            <a:prstDash val="solid"/>
            <a:tailEnd type="triangle"/>
          </a:ln>
        </p:spPr>
      </p:sp>
      <p:sp>
        <p:nvSpPr>
          <p:cNvPr id="14" name="Shape 12"/>
          <p:cNvSpPr/>
          <p:nvPr/>
        </p:nvSpPr>
        <p:spPr>
          <a:xfrm>
            <a:off x="2194560" y="2441448"/>
            <a:ext cx="310896" cy="310896"/>
          </a:xfrm>
          <a:prstGeom prst="ellipse">
            <a:avLst/>
          </a:prstGeom>
          <a:solidFill>
            <a:srgbClr val="1E2761"/>
          </a:solidFill>
          <a:ln/>
        </p:spPr>
      </p:sp>
      <p:sp>
        <p:nvSpPr>
          <p:cNvPr id="15" name="Text 13"/>
          <p:cNvSpPr txBox="1"/>
          <p:nvPr/>
        </p:nvSpPr>
        <p:spPr>
          <a:xfrm>
            <a:off x="2194560" y="2441448"/>
            <a:ext cx="310896"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Times New Roman" pitchFamily="34" charset="0"/>
                <a:ea typeface="Times New Roman" pitchFamily="34" charset="-122"/>
                <a:cs typeface="Times New Roman" pitchFamily="34" charset="-120"/>
              </a:rPr>
              <a:t>1</a:t>
            </a:r>
            <a:endParaRPr lang="en-US" sz="1100" dirty="0"/>
          </a:p>
        </p:txBody>
      </p:sp>
      <p:sp>
        <p:nvSpPr>
          <p:cNvPr id="16" name="Text 14"/>
          <p:cNvSpPr txBox="1"/>
          <p:nvPr/>
        </p:nvSpPr>
        <p:spPr>
          <a:xfrm>
            <a:off x="2578608" y="2404872"/>
            <a:ext cx="3383280" cy="365760"/>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Kursga kirish so'rovi</a:t>
            </a:r>
            <a:endParaRPr lang="en-US" sz="1400" dirty="0"/>
          </a:p>
        </p:txBody>
      </p:sp>
      <p:sp>
        <p:nvSpPr>
          <p:cNvPr id="17" name="Shape 15"/>
          <p:cNvSpPr/>
          <p:nvPr/>
        </p:nvSpPr>
        <p:spPr>
          <a:xfrm flipH="1">
            <a:off x="2057400" y="3355848"/>
            <a:ext cx="4023360" cy="0"/>
          </a:xfrm>
          <a:prstGeom prst="line">
            <a:avLst/>
          </a:prstGeom>
          <a:noFill/>
          <a:ln w="25400">
            <a:solidFill>
              <a:srgbClr val="1E2761"/>
            </a:solidFill>
            <a:prstDash val="solid"/>
            <a:tailEnd type="triangle"/>
          </a:ln>
        </p:spPr>
      </p:sp>
      <p:sp>
        <p:nvSpPr>
          <p:cNvPr id="18" name="Shape 16"/>
          <p:cNvSpPr/>
          <p:nvPr/>
        </p:nvSpPr>
        <p:spPr>
          <a:xfrm>
            <a:off x="2194560" y="2990088"/>
            <a:ext cx="310896" cy="310896"/>
          </a:xfrm>
          <a:prstGeom prst="ellipse">
            <a:avLst/>
          </a:prstGeom>
          <a:solidFill>
            <a:srgbClr val="1E2761"/>
          </a:solidFill>
          <a:ln/>
        </p:spPr>
      </p:sp>
      <p:sp>
        <p:nvSpPr>
          <p:cNvPr id="19" name="Text 17"/>
          <p:cNvSpPr txBox="1"/>
          <p:nvPr/>
        </p:nvSpPr>
        <p:spPr>
          <a:xfrm>
            <a:off x="2194560" y="2990088"/>
            <a:ext cx="310896"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Times New Roman" pitchFamily="34" charset="0"/>
                <a:ea typeface="Times New Roman" pitchFamily="34" charset="-122"/>
                <a:cs typeface="Times New Roman" pitchFamily="34" charset="-120"/>
              </a:rPr>
              <a:t>2</a:t>
            </a:r>
            <a:endParaRPr lang="en-US" sz="1100" dirty="0"/>
          </a:p>
        </p:txBody>
      </p:sp>
      <p:sp>
        <p:nvSpPr>
          <p:cNvPr id="20" name="Text 18"/>
          <p:cNvSpPr txBox="1"/>
          <p:nvPr/>
        </p:nvSpPr>
        <p:spPr>
          <a:xfrm>
            <a:off x="2578608" y="2953512"/>
            <a:ext cx="3383280" cy="365760"/>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AuthnRequest bilan IdP ga yo'naltirish</a:t>
            </a:r>
            <a:endParaRPr lang="en-US" sz="1400" dirty="0"/>
          </a:p>
        </p:txBody>
      </p:sp>
      <p:sp>
        <p:nvSpPr>
          <p:cNvPr id="21" name="Shape 19"/>
          <p:cNvSpPr/>
          <p:nvPr/>
        </p:nvSpPr>
        <p:spPr>
          <a:xfrm>
            <a:off x="2057400" y="3904488"/>
            <a:ext cx="8046720" cy="0"/>
          </a:xfrm>
          <a:prstGeom prst="line">
            <a:avLst/>
          </a:prstGeom>
          <a:noFill/>
          <a:ln w="25400">
            <a:solidFill>
              <a:srgbClr val="1E2761"/>
            </a:solidFill>
            <a:prstDash val="solid"/>
            <a:tailEnd type="triangle"/>
          </a:ln>
        </p:spPr>
      </p:sp>
      <p:sp>
        <p:nvSpPr>
          <p:cNvPr id="22" name="Shape 20"/>
          <p:cNvSpPr/>
          <p:nvPr/>
        </p:nvSpPr>
        <p:spPr>
          <a:xfrm>
            <a:off x="2194560" y="3538728"/>
            <a:ext cx="310896" cy="310896"/>
          </a:xfrm>
          <a:prstGeom prst="ellipse">
            <a:avLst/>
          </a:prstGeom>
          <a:solidFill>
            <a:srgbClr val="1E2761"/>
          </a:solidFill>
          <a:ln/>
        </p:spPr>
      </p:sp>
      <p:sp>
        <p:nvSpPr>
          <p:cNvPr id="23" name="Text 21"/>
          <p:cNvSpPr txBox="1"/>
          <p:nvPr/>
        </p:nvSpPr>
        <p:spPr>
          <a:xfrm>
            <a:off x="2194560" y="3538728"/>
            <a:ext cx="310896"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Times New Roman" pitchFamily="34" charset="0"/>
                <a:ea typeface="Times New Roman" pitchFamily="34" charset="-122"/>
                <a:cs typeface="Times New Roman" pitchFamily="34" charset="-120"/>
              </a:rPr>
              <a:t>3</a:t>
            </a:r>
            <a:endParaRPr lang="en-US" sz="1100" dirty="0"/>
          </a:p>
        </p:txBody>
      </p:sp>
      <p:sp>
        <p:nvSpPr>
          <p:cNvPr id="24" name="Text 22"/>
          <p:cNvSpPr txBox="1"/>
          <p:nvPr/>
        </p:nvSpPr>
        <p:spPr>
          <a:xfrm>
            <a:off x="2578608" y="3502152"/>
            <a:ext cx="7406640" cy="365760"/>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AuthnRequest (HTTP-Redirect)</a:t>
            </a:r>
            <a:endParaRPr lang="en-US" sz="1400" dirty="0"/>
          </a:p>
        </p:txBody>
      </p:sp>
      <p:sp>
        <p:nvSpPr>
          <p:cNvPr id="25" name="Shape 23"/>
          <p:cNvSpPr/>
          <p:nvPr/>
        </p:nvSpPr>
        <p:spPr>
          <a:xfrm flipH="1">
            <a:off x="2057400" y="4453128"/>
            <a:ext cx="8046720" cy="0"/>
          </a:xfrm>
          <a:prstGeom prst="line">
            <a:avLst/>
          </a:prstGeom>
          <a:noFill/>
          <a:ln w="25400">
            <a:solidFill>
              <a:srgbClr val="1E2761"/>
            </a:solidFill>
            <a:prstDash val="solid"/>
            <a:tailEnd type="triangle"/>
          </a:ln>
        </p:spPr>
      </p:sp>
      <p:sp>
        <p:nvSpPr>
          <p:cNvPr id="26" name="Shape 24"/>
          <p:cNvSpPr/>
          <p:nvPr/>
        </p:nvSpPr>
        <p:spPr>
          <a:xfrm>
            <a:off x="2194560" y="4087368"/>
            <a:ext cx="310896" cy="310896"/>
          </a:xfrm>
          <a:prstGeom prst="ellipse">
            <a:avLst/>
          </a:prstGeom>
          <a:solidFill>
            <a:srgbClr val="1E2761"/>
          </a:solidFill>
          <a:ln/>
        </p:spPr>
      </p:sp>
      <p:sp>
        <p:nvSpPr>
          <p:cNvPr id="27" name="Text 25"/>
          <p:cNvSpPr txBox="1"/>
          <p:nvPr/>
        </p:nvSpPr>
        <p:spPr>
          <a:xfrm>
            <a:off x="2194560" y="4087368"/>
            <a:ext cx="310896"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Times New Roman" pitchFamily="34" charset="0"/>
                <a:ea typeface="Times New Roman" pitchFamily="34" charset="-122"/>
                <a:cs typeface="Times New Roman" pitchFamily="34" charset="-120"/>
              </a:rPr>
              <a:t>4</a:t>
            </a:r>
            <a:endParaRPr lang="en-US" sz="1100" dirty="0"/>
          </a:p>
        </p:txBody>
      </p:sp>
      <p:sp>
        <p:nvSpPr>
          <p:cNvPr id="28" name="Text 26"/>
          <p:cNvSpPr txBox="1"/>
          <p:nvPr/>
        </p:nvSpPr>
        <p:spPr>
          <a:xfrm>
            <a:off x="2578608" y="4050792"/>
            <a:ext cx="7406640" cy="365760"/>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Parol + MFA yoki Windows Hello</a:t>
            </a:r>
            <a:endParaRPr lang="en-US" sz="1400" dirty="0"/>
          </a:p>
        </p:txBody>
      </p:sp>
      <p:sp>
        <p:nvSpPr>
          <p:cNvPr id="29" name="Shape 27"/>
          <p:cNvSpPr/>
          <p:nvPr/>
        </p:nvSpPr>
        <p:spPr>
          <a:xfrm flipH="1">
            <a:off x="2057400" y="5001768"/>
            <a:ext cx="8046720" cy="0"/>
          </a:xfrm>
          <a:prstGeom prst="line">
            <a:avLst/>
          </a:prstGeom>
          <a:noFill/>
          <a:ln w="25400">
            <a:solidFill>
              <a:srgbClr val="1E2761"/>
            </a:solidFill>
            <a:prstDash val="solid"/>
            <a:tailEnd type="triangle"/>
          </a:ln>
        </p:spPr>
      </p:sp>
      <p:sp>
        <p:nvSpPr>
          <p:cNvPr id="30" name="Shape 28"/>
          <p:cNvSpPr/>
          <p:nvPr/>
        </p:nvSpPr>
        <p:spPr>
          <a:xfrm>
            <a:off x="2194560" y="4636008"/>
            <a:ext cx="310896" cy="310896"/>
          </a:xfrm>
          <a:prstGeom prst="ellipse">
            <a:avLst/>
          </a:prstGeom>
          <a:solidFill>
            <a:srgbClr val="1E2761"/>
          </a:solidFill>
          <a:ln/>
        </p:spPr>
      </p:sp>
      <p:sp>
        <p:nvSpPr>
          <p:cNvPr id="31" name="Text 29"/>
          <p:cNvSpPr txBox="1"/>
          <p:nvPr/>
        </p:nvSpPr>
        <p:spPr>
          <a:xfrm>
            <a:off x="2194560" y="4636008"/>
            <a:ext cx="310896"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Times New Roman" pitchFamily="34" charset="0"/>
                <a:ea typeface="Times New Roman" pitchFamily="34" charset="-122"/>
                <a:cs typeface="Times New Roman" pitchFamily="34" charset="-120"/>
              </a:rPr>
              <a:t>5</a:t>
            </a:r>
            <a:endParaRPr lang="en-US" sz="1100" dirty="0"/>
          </a:p>
        </p:txBody>
      </p:sp>
      <p:sp>
        <p:nvSpPr>
          <p:cNvPr id="32" name="Text 30"/>
          <p:cNvSpPr txBox="1"/>
          <p:nvPr/>
        </p:nvSpPr>
        <p:spPr>
          <a:xfrm>
            <a:off x="2578608" y="4599432"/>
            <a:ext cx="7406640" cy="365760"/>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Imzolangan Response (HTTP-POST forma)</a:t>
            </a:r>
            <a:endParaRPr lang="en-US" sz="1400" dirty="0"/>
          </a:p>
        </p:txBody>
      </p:sp>
      <p:sp>
        <p:nvSpPr>
          <p:cNvPr id="33" name="Shape 31"/>
          <p:cNvSpPr/>
          <p:nvPr/>
        </p:nvSpPr>
        <p:spPr>
          <a:xfrm>
            <a:off x="2057400" y="5550408"/>
            <a:ext cx="4023360" cy="0"/>
          </a:xfrm>
          <a:prstGeom prst="line">
            <a:avLst/>
          </a:prstGeom>
          <a:noFill/>
          <a:ln w="25400">
            <a:solidFill>
              <a:srgbClr val="1F6B4A"/>
            </a:solidFill>
            <a:prstDash val="solid"/>
            <a:tailEnd type="triangle"/>
          </a:ln>
        </p:spPr>
      </p:sp>
      <p:sp>
        <p:nvSpPr>
          <p:cNvPr id="34" name="Shape 32"/>
          <p:cNvSpPr/>
          <p:nvPr/>
        </p:nvSpPr>
        <p:spPr>
          <a:xfrm>
            <a:off x="2194560" y="5184648"/>
            <a:ext cx="310896" cy="310896"/>
          </a:xfrm>
          <a:prstGeom prst="ellipse">
            <a:avLst/>
          </a:prstGeom>
          <a:solidFill>
            <a:srgbClr val="1F6B4A"/>
          </a:solidFill>
          <a:ln/>
        </p:spPr>
      </p:sp>
      <p:sp>
        <p:nvSpPr>
          <p:cNvPr id="35" name="Text 33"/>
          <p:cNvSpPr txBox="1"/>
          <p:nvPr/>
        </p:nvSpPr>
        <p:spPr>
          <a:xfrm>
            <a:off x="2194560" y="5184648"/>
            <a:ext cx="310896"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Times New Roman" pitchFamily="34" charset="0"/>
                <a:ea typeface="Times New Roman" pitchFamily="34" charset="-122"/>
                <a:cs typeface="Times New Roman" pitchFamily="34" charset="-120"/>
              </a:rPr>
              <a:t>6</a:t>
            </a:r>
            <a:endParaRPr lang="en-US" sz="1100" dirty="0"/>
          </a:p>
        </p:txBody>
      </p:sp>
      <p:sp>
        <p:nvSpPr>
          <p:cNvPr id="36" name="Text 34"/>
          <p:cNvSpPr txBox="1"/>
          <p:nvPr/>
        </p:nvSpPr>
        <p:spPr>
          <a:xfrm>
            <a:off x="2578608" y="5148072"/>
            <a:ext cx="3383280" cy="365760"/>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Response → ACS; seans ochiladi</a:t>
            </a:r>
            <a:endParaRPr lang="en-US" sz="1400" dirty="0"/>
          </a:p>
        </p:txBody>
      </p:sp>
      <p:sp>
        <p:nvSpPr>
          <p:cNvPr id="37" name="Text 35"/>
          <p:cNvSpPr txBox="1"/>
          <p:nvPr/>
        </p:nvSpPr>
        <p:spPr>
          <a:xfrm>
            <a:off x="548640" y="6053328"/>
            <a:ext cx="11064240" cy="365760"/>
          </a:xfrm>
          <a:prstGeom prst="rect">
            <a:avLst/>
          </a:prstGeom>
          <a:noFill/>
          <a:ln/>
        </p:spPr>
        <p:txBody>
          <a:bodyPr wrap="square" lIns="0" tIns="0" rIns="0" bIns="0" rtlCol="0" anchor="t"/>
          <a:lstStyle/>
          <a:p>
            <a:pPr algn="ctr" indent="0" marL="0">
              <a:lnSpc>
                <a:spcPct val="100000"/>
              </a:lnSpc>
              <a:buNone/>
            </a:pPr>
            <a:r>
              <a:rPr lang="en-US" sz="1500" dirty="0">
                <a:solidFill>
                  <a:srgbClr val="1E2761"/>
                </a:solidFill>
                <a:latin typeface="Times New Roman" pitchFamily="34" charset="0"/>
                <a:ea typeface="Times New Roman" pitchFamily="34" charset="-122"/>
                <a:cs typeface="Times New Roman" pitchFamily="34" charset="-120"/>
              </a:rPr>
              <a:t>SP va IdP bevosita bog'lanmaydi — barcha xabarlar brauzer orqali o'tadi (front-channel).</a:t>
            </a:r>
            <a:endParaRPr lang="en-US" sz="1500" dirty="0"/>
          </a:p>
        </p:txBody>
      </p:sp>
      <p:sp>
        <p:nvSpPr>
          <p:cNvPr id="38" name="Text 36"/>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7-ma'ruza</a:t>
            </a:r>
            <a:endParaRPr lang="en-US" sz="1100" dirty="0"/>
          </a:p>
        </p:txBody>
      </p:sp>
      <p:sp>
        <p:nvSpPr>
          <p:cNvPr id="39" name="Text 37"/>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 · TASDIQNOMA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SAML tasdiqnomasi ichida nima bor?</a:t>
            </a:r>
            <a:endParaRPr lang="en-US" sz="3600" dirty="0"/>
          </a:p>
        </p:txBody>
      </p:sp>
      <p:sp>
        <p:nvSpPr>
          <p:cNvPr id="4" name="Shape 2"/>
          <p:cNvSpPr/>
          <p:nvPr/>
        </p:nvSpPr>
        <p:spPr>
          <a:xfrm>
            <a:off x="548640" y="1783080"/>
            <a:ext cx="6903720" cy="4480560"/>
          </a:xfrm>
          <a:prstGeom prst="roundRect">
            <a:avLst>
              <a:gd name="adj" fmla="val 1837"/>
            </a:avLst>
          </a:prstGeom>
          <a:solidFill>
            <a:srgbClr val="162048"/>
          </a:solidFill>
          <a:ln/>
        </p:spPr>
      </p:sp>
      <p:sp>
        <p:nvSpPr>
          <p:cNvPr id="5" name="Text 3"/>
          <p:cNvSpPr txBox="1"/>
          <p:nvPr/>
        </p:nvSpPr>
        <p:spPr>
          <a:xfrm>
            <a:off x="777240" y="1965960"/>
            <a:ext cx="6446520" cy="4114800"/>
          </a:xfrm>
          <a:prstGeom prst="rect">
            <a:avLst/>
          </a:prstGeom>
          <a:noFill/>
          <a:ln/>
        </p:spPr>
        <p:txBody>
          <a:bodyPr wrap="square" lIns="0" tIns="0" rIns="0" bIns="0" rtlCol="0" anchor="t"/>
          <a:lstStyle/>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&lt;saml:Assertion ID="_a75f" IssueInstant="2026-10-05T08:00:00Z"&gt;</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&lt;saml:Issuer&gt;https://login.nuu.uz&lt;/saml:Issuer&gt;</a:t>
            </a:r>
            <a:endParaRPr lang="en-US" sz="1200" dirty="0"/>
          </a:p>
          <a:p>
            <a:pPr indent="0" marL="0">
              <a:lnSpc>
                <a:spcPct val="105000"/>
              </a:lnSpc>
              <a:buNone/>
            </a:pPr>
            <a:r>
              <a:rPr lang="en-US" sz="1200" dirty="0">
                <a:solidFill>
                  <a:srgbClr val="8FD3A8"/>
                </a:solidFill>
                <a:latin typeface="Courier New" pitchFamily="34" charset="0"/>
                <a:ea typeface="Courier New" pitchFamily="34" charset="-122"/>
                <a:cs typeface="Courier New" pitchFamily="34" charset="-120"/>
              </a:rPr>
              <a:t>  &lt;ds:Signature&gt;…IdP yopiq kaliti bilan…&lt;/ds:Signature&gt;</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&lt;saml:Subject&gt;</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&lt;saml:NameID&gt;a.karimov@nuu.uz&lt;/saml:NameID&gt;</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&lt;SubjectConfirmationData InResponseTo="_req42"</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Recipient="https://moodle.nuu.uz/acs"</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NotOnOrAfter="2026-10-05T08:05:00Z"/&gt;</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&lt;/saml:Subject&gt;</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&lt;saml:Conditions NotBefore="…07:59:30Z"</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NotOnOrAfter="…08:05:00Z"&gt;</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&lt;saml:Audience&gt;https://moodle.nuu.uz&lt;/saml:Audience&gt;</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&lt;/saml:Conditions&gt;</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&lt;saml:AuthnStatement&gt; …MultiFactor… &lt;/saml:AuthnStatement&gt;</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&lt;saml:AttributeStatement&gt;</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&lt;saml:Attribute Name="role"&gt;oqituvchi&lt;/saml:Attribute&gt;</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&lt;/saml:AttributeStatement&gt;</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&lt;/saml:Assertion&gt;</a:t>
            </a:r>
            <a:endParaRPr lang="en-US" sz="1200" dirty="0"/>
          </a:p>
        </p:txBody>
      </p:sp>
      <p:sp>
        <p:nvSpPr>
          <p:cNvPr id="6" name="Text 4"/>
          <p:cNvSpPr txBox="1"/>
          <p:nvPr/>
        </p:nvSpPr>
        <p:spPr>
          <a:xfrm>
            <a:off x="7680960" y="1783080"/>
            <a:ext cx="3931920" cy="411480"/>
          </a:xfrm>
          <a:prstGeom prst="rect">
            <a:avLst/>
          </a:prstGeom>
          <a:noFill/>
          <a:ln/>
        </p:spPr>
        <p:txBody>
          <a:bodyPr wrap="square" lIns="0" tIns="0" rIns="0" bIns="0" rtlCol="0" anchor="t"/>
          <a:lstStyle/>
          <a:p>
            <a:pPr algn="l" indent="0" marL="0">
              <a:lnSpc>
                <a:spcPct val="100000"/>
              </a:lnSpc>
              <a:buNone/>
            </a:pPr>
            <a:r>
              <a:rPr lang="en-US" sz="1800" b="1" dirty="0">
                <a:solidFill>
                  <a:srgbClr val="1E2761"/>
                </a:solidFill>
                <a:latin typeface="Times New Roman" pitchFamily="34" charset="0"/>
                <a:ea typeface="Times New Roman" pitchFamily="34" charset="-122"/>
                <a:cs typeface="Times New Roman" pitchFamily="34" charset="-120"/>
              </a:rPr>
              <a:t>SP nimani tekshirishi shart</a:t>
            </a:r>
            <a:endParaRPr lang="en-US" sz="1800" dirty="0"/>
          </a:p>
        </p:txBody>
      </p:sp>
      <p:sp>
        <p:nvSpPr>
          <p:cNvPr id="7" name="Shape 5"/>
          <p:cNvSpPr/>
          <p:nvPr/>
        </p:nvSpPr>
        <p:spPr>
          <a:xfrm>
            <a:off x="7680960" y="2286000"/>
            <a:ext cx="3931920" cy="566928"/>
          </a:xfrm>
          <a:prstGeom prst="roundRect">
            <a:avLst>
              <a:gd name="adj" fmla="val 14516"/>
            </a:avLst>
          </a:prstGeom>
          <a:solidFill>
            <a:srgbClr val="EEF2FB"/>
          </a:solidFill>
          <a:ln/>
        </p:spPr>
      </p:sp>
      <p:sp>
        <p:nvSpPr>
          <p:cNvPr id="8" name="Text 6"/>
          <p:cNvSpPr txBox="1"/>
          <p:nvPr/>
        </p:nvSpPr>
        <p:spPr>
          <a:xfrm>
            <a:off x="7818120" y="2286000"/>
            <a:ext cx="320040" cy="566928"/>
          </a:xfrm>
          <a:prstGeom prst="rect">
            <a:avLst/>
          </a:prstGeom>
          <a:noFill/>
          <a:ln/>
        </p:spPr>
        <p:txBody>
          <a:bodyPr wrap="square" lIns="0" tIns="0" rIns="0" bIns="0" rtlCol="0" anchor="ctr"/>
          <a:lstStyle/>
          <a:p>
            <a:pPr algn="l" indent="0" marL="0">
              <a:lnSpc>
                <a:spcPct val="100000"/>
              </a:lnSpc>
              <a:buNone/>
            </a:pPr>
            <a:r>
              <a:rPr lang="en-US" sz="1800" b="1" dirty="0">
                <a:solidFill>
                  <a:srgbClr val="1F6B4A"/>
                </a:solidFill>
                <a:latin typeface="Times New Roman" pitchFamily="34" charset="0"/>
                <a:ea typeface="Times New Roman" pitchFamily="34" charset="-122"/>
                <a:cs typeface="Times New Roman" pitchFamily="34" charset="-120"/>
              </a:rPr>
              <a:t>✓</a:t>
            </a:r>
            <a:endParaRPr lang="en-US" sz="1800" dirty="0"/>
          </a:p>
        </p:txBody>
      </p:sp>
      <p:sp>
        <p:nvSpPr>
          <p:cNvPr id="9" name="Text 7"/>
          <p:cNvSpPr txBox="1"/>
          <p:nvPr/>
        </p:nvSpPr>
        <p:spPr>
          <a:xfrm>
            <a:off x="8138160" y="2286000"/>
            <a:ext cx="1417320" cy="566928"/>
          </a:xfrm>
          <a:prstGeom prst="rect">
            <a:avLst/>
          </a:prstGeom>
          <a:noFill/>
          <a:ln/>
        </p:spPr>
        <p:txBody>
          <a:bodyPr wrap="square" lIns="0" tIns="0" rIns="0" bIns="0" rtlCol="0" anchor="ctr"/>
          <a:lstStyle/>
          <a:p>
            <a:pPr algn="l" indent="0" marL="0">
              <a:lnSpc>
                <a:spcPct val="100000"/>
              </a:lnSpc>
              <a:buNone/>
            </a:pPr>
            <a:r>
              <a:rPr lang="en-US" sz="1400" b="1" dirty="0">
                <a:solidFill>
                  <a:srgbClr val="1E2761"/>
                </a:solidFill>
                <a:latin typeface="Courier New" pitchFamily="34" charset="0"/>
                <a:ea typeface="Courier New" pitchFamily="34" charset="-122"/>
                <a:cs typeface="Courier New" pitchFamily="34" charset="-120"/>
              </a:rPr>
              <a:t>Imzo</a:t>
            </a:r>
            <a:endParaRPr lang="en-US" sz="1400" dirty="0"/>
          </a:p>
        </p:txBody>
      </p:sp>
      <p:sp>
        <p:nvSpPr>
          <p:cNvPr id="10" name="Text 8"/>
          <p:cNvSpPr txBox="1"/>
          <p:nvPr/>
        </p:nvSpPr>
        <p:spPr>
          <a:xfrm>
            <a:off x="9555480" y="2286000"/>
            <a:ext cx="2011680" cy="566928"/>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IdP sertifikati bilan to'g'ri</a:t>
            </a:r>
            <a:endParaRPr lang="en-US" sz="1400" dirty="0"/>
          </a:p>
        </p:txBody>
      </p:sp>
      <p:sp>
        <p:nvSpPr>
          <p:cNvPr id="11" name="Shape 9"/>
          <p:cNvSpPr/>
          <p:nvPr/>
        </p:nvSpPr>
        <p:spPr>
          <a:xfrm>
            <a:off x="7680960" y="2944368"/>
            <a:ext cx="3931920" cy="566928"/>
          </a:xfrm>
          <a:prstGeom prst="roundRect">
            <a:avLst>
              <a:gd name="adj" fmla="val 14516"/>
            </a:avLst>
          </a:prstGeom>
          <a:solidFill>
            <a:srgbClr val="FFFFFF"/>
          </a:solidFill>
          <a:ln w="12700">
            <a:solidFill>
              <a:srgbClr val="CADCFC"/>
            </a:solidFill>
            <a:prstDash val="solid"/>
          </a:ln>
        </p:spPr>
      </p:sp>
      <p:sp>
        <p:nvSpPr>
          <p:cNvPr id="12" name="Text 10"/>
          <p:cNvSpPr txBox="1"/>
          <p:nvPr/>
        </p:nvSpPr>
        <p:spPr>
          <a:xfrm>
            <a:off x="7818120" y="2944368"/>
            <a:ext cx="320040" cy="566928"/>
          </a:xfrm>
          <a:prstGeom prst="rect">
            <a:avLst/>
          </a:prstGeom>
          <a:noFill/>
          <a:ln/>
        </p:spPr>
        <p:txBody>
          <a:bodyPr wrap="square" lIns="0" tIns="0" rIns="0" bIns="0" rtlCol="0" anchor="ctr"/>
          <a:lstStyle/>
          <a:p>
            <a:pPr algn="l" indent="0" marL="0">
              <a:lnSpc>
                <a:spcPct val="100000"/>
              </a:lnSpc>
              <a:buNone/>
            </a:pPr>
            <a:r>
              <a:rPr lang="en-US" sz="1800" b="1" dirty="0">
                <a:solidFill>
                  <a:srgbClr val="1F6B4A"/>
                </a:solidFill>
                <a:latin typeface="Times New Roman" pitchFamily="34" charset="0"/>
                <a:ea typeface="Times New Roman" pitchFamily="34" charset="-122"/>
                <a:cs typeface="Times New Roman" pitchFamily="34" charset="-120"/>
              </a:rPr>
              <a:t>✓</a:t>
            </a:r>
            <a:endParaRPr lang="en-US" sz="1800" dirty="0"/>
          </a:p>
        </p:txBody>
      </p:sp>
      <p:sp>
        <p:nvSpPr>
          <p:cNvPr id="13" name="Text 11"/>
          <p:cNvSpPr txBox="1"/>
          <p:nvPr/>
        </p:nvSpPr>
        <p:spPr>
          <a:xfrm>
            <a:off x="8138160" y="2944368"/>
            <a:ext cx="1417320" cy="566928"/>
          </a:xfrm>
          <a:prstGeom prst="rect">
            <a:avLst/>
          </a:prstGeom>
          <a:noFill/>
          <a:ln/>
        </p:spPr>
        <p:txBody>
          <a:bodyPr wrap="square" lIns="0" tIns="0" rIns="0" bIns="0" rtlCol="0" anchor="ctr"/>
          <a:lstStyle/>
          <a:p>
            <a:pPr algn="l" indent="0" marL="0">
              <a:lnSpc>
                <a:spcPct val="100000"/>
              </a:lnSpc>
              <a:buNone/>
            </a:pPr>
            <a:r>
              <a:rPr lang="en-US" sz="1400" b="1" dirty="0">
                <a:solidFill>
                  <a:srgbClr val="1E2761"/>
                </a:solidFill>
                <a:latin typeface="Courier New" pitchFamily="34" charset="0"/>
                <a:ea typeface="Courier New" pitchFamily="34" charset="-122"/>
                <a:cs typeface="Courier New" pitchFamily="34" charset="-120"/>
              </a:rPr>
              <a:t>Issuer</a:t>
            </a:r>
            <a:endParaRPr lang="en-US" sz="1400" dirty="0"/>
          </a:p>
        </p:txBody>
      </p:sp>
      <p:sp>
        <p:nvSpPr>
          <p:cNvPr id="14" name="Text 12"/>
          <p:cNvSpPr txBox="1"/>
          <p:nvPr/>
        </p:nvSpPr>
        <p:spPr>
          <a:xfrm>
            <a:off x="9555480" y="2944368"/>
            <a:ext cx="2011680" cy="566928"/>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ishonchli IdP</a:t>
            </a:r>
            <a:endParaRPr lang="en-US" sz="1400" dirty="0"/>
          </a:p>
        </p:txBody>
      </p:sp>
      <p:sp>
        <p:nvSpPr>
          <p:cNvPr id="15" name="Shape 13"/>
          <p:cNvSpPr/>
          <p:nvPr/>
        </p:nvSpPr>
        <p:spPr>
          <a:xfrm>
            <a:off x="7680960" y="3602736"/>
            <a:ext cx="3931920" cy="566928"/>
          </a:xfrm>
          <a:prstGeom prst="roundRect">
            <a:avLst>
              <a:gd name="adj" fmla="val 14516"/>
            </a:avLst>
          </a:prstGeom>
          <a:solidFill>
            <a:srgbClr val="EEF2FB"/>
          </a:solidFill>
          <a:ln/>
        </p:spPr>
      </p:sp>
      <p:sp>
        <p:nvSpPr>
          <p:cNvPr id="16" name="Text 14"/>
          <p:cNvSpPr txBox="1"/>
          <p:nvPr/>
        </p:nvSpPr>
        <p:spPr>
          <a:xfrm>
            <a:off x="7818120" y="3602736"/>
            <a:ext cx="320040" cy="566928"/>
          </a:xfrm>
          <a:prstGeom prst="rect">
            <a:avLst/>
          </a:prstGeom>
          <a:noFill/>
          <a:ln/>
        </p:spPr>
        <p:txBody>
          <a:bodyPr wrap="square" lIns="0" tIns="0" rIns="0" bIns="0" rtlCol="0" anchor="ctr"/>
          <a:lstStyle/>
          <a:p>
            <a:pPr algn="l" indent="0" marL="0">
              <a:lnSpc>
                <a:spcPct val="100000"/>
              </a:lnSpc>
              <a:buNone/>
            </a:pPr>
            <a:r>
              <a:rPr lang="en-US" sz="1800" b="1" dirty="0">
                <a:solidFill>
                  <a:srgbClr val="1F6B4A"/>
                </a:solidFill>
                <a:latin typeface="Times New Roman" pitchFamily="34" charset="0"/>
                <a:ea typeface="Times New Roman" pitchFamily="34" charset="-122"/>
                <a:cs typeface="Times New Roman" pitchFamily="34" charset="-120"/>
              </a:rPr>
              <a:t>✓</a:t>
            </a:r>
            <a:endParaRPr lang="en-US" sz="1800" dirty="0"/>
          </a:p>
        </p:txBody>
      </p:sp>
      <p:sp>
        <p:nvSpPr>
          <p:cNvPr id="17" name="Text 15"/>
          <p:cNvSpPr txBox="1"/>
          <p:nvPr/>
        </p:nvSpPr>
        <p:spPr>
          <a:xfrm>
            <a:off x="8138160" y="3602736"/>
            <a:ext cx="1417320" cy="566928"/>
          </a:xfrm>
          <a:prstGeom prst="rect">
            <a:avLst/>
          </a:prstGeom>
          <a:noFill/>
          <a:ln/>
        </p:spPr>
        <p:txBody>
          <a:bodyPr wrap="square" lIns="0" tIns="0" rIns="0" bIns="0" rtlCol="0" anchor="ctr"/>
          <a:lstStyle/>
          <a:p>
            <a:pPr algn="l" indent="0" marL="0">
              <a:lnSpc>
                <a:spcPct val="100000"/>
              </a:lnSpc>
              <a:buNone/>
            </a:pPr>
            <a:r>
              <a:rPr lang="en-US" sz="1400" b="1" dirty="0">
                <a:solidFill>
                  <a:srgbClr val="1E2761"/>
                </a:solidFill>
                <a:latin typeface="Courier New" pitchFamily="34" charset="0"/>
                <a:ea typeface="Courier New" pitchFamily="34" charset="-122"/>
                <a:cs typeface="Courier New" pitchFamily="34" charset="-120"/>
              </a:rPr>
              <a:t>Audience</a:t>
            </a:r>
            <a:endParaRPr lang="en-US" sz="1400" dirty="0"/>
          </a:p>
        </p:txBody>
      </p:sp>
      <p:sp>
        <p:nvSpPr>
          <p:cNvPr id="18" name="Text 16"/>
          <p:cNvSpPr txBox="1"/>
          <p:nvPr/>
        </p:nvSpPr>
        <p:spPr>
          <a:xfrm>
            <a:off x="9555480" y="3602736"/>
            <a:ext cx="2011680" cy="566928"/>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aynan shu SP</a:t>
            </a:r>
            <a:endParaRPr lang="en-US" sz="1400" dirty="0"/>
          </a:p>
        </p:txBody>
      </p:sp>
      <p:sp>
        <p:nvSpPr>
          <p:cNvPr id="19" name="Shape 17"/>
          <p:cNvSpPr/>
          <p:nvPr/>
        </p:nvSpPr>
        <p:spPr>
          <a:xfrm>
            <a:off x="7680960" y="4261104"/>
            <a:ext cx="3931920" cy="566928"/>
          </a:xfrm>
          <a:prstGeom prst="roundRect">
            <a:avLst>
              <a:gd name="adj" fmla="val 14516"/>
            </a:avLst>
          </a:prstGeom>
          <a:solidFill>
            <a:srgbClr val="FFFFFF"/>
          </a:solidFill>
          <a:ln w="12700">
            <a:solidFill>
              <a:srgbClr val="CADCFC"/>
            </a:solidFill>
            <a:prstDash val="solid"/>
          </a:ln>
        </p:spPr>
      </p:sp>
      <p:sp>
        <p:nvSpPr>
          <p:cNvPr id="20" name="Text 18"/>
          <p:cNvSpPr txBox="1"/>
          <p:nvPr/>
        </p:nvSpPr>
        <p:spPr>
          <a:xfrm>
            <a:off x="7818120" y="4261104"/>
            <a:ext cx="320040" cy="566928"/>
          </a:xfrm>
          <a:prstGeom prst="rect">
            <a:avLst/>
          </a:prstGeom>
          <a:noFill/>
          <a:ln/>
        </p:spPr>
        <p:txBody>
          <a:bodyPr wrap="square" lIns="0" tIns="0" rIns="0" bIns="0" rtlCol="0" anchor="ctr"/>
          <a:lstStyle/>
          <a:p>
            <a:pPr algn="l" indent="0" marL="0">
              <a:lnSpc>
                <a:spcPct val="100000"/>
              </a:lnSpc>
              <a:buNone/>
            </a:pPr>
            <a:r>
              <a:rPr lang="en-US" sz="1800" b="1" dirty="0">
                <a:solidFill>
                  <a:srgbClr val="1F6B4A"/>
                </a:solidFill>
                <a:latin typeface="Times New Roman" pitchFamily="34" charset="0"/>
                <a:ea typeface="Times New Roman" pitchFamily="34" charset="-122"/>
                <a:cs typeface="Times New Roman" pitchFamily="34" charset="-120"/>
              </a:rPr>
              <a:t>✓</a:t>
            </a:r>
            <a:endParaRPr lang="en-US" sz="1800" dirty="0"/>
          </a:p>
        </p:txBody>
      </p:sp>
      <p:sp>
        <p:nvSpPr>
          <p:cNvPr id="21" name="Text 19"/>
          <p:cNvSpPr txBox="1"/>
          <p:nvPr/>
        </p:nvSpPr>
        <p:spPr>
          <a:xfrm>
            <a:off x="8138160" y="4261104"/>
            <a:ext cx="1417320" cy="566928"/>
          </a:xfrm>
          <a:prstGeom prst="rect">
            <a:avLst/>
          </a:prstGeom>
          <a:noFill/>
          <a:ln/>
        </p:spPr>
        <p:txBody>
          <a:bodyPr wrap="square" lIns="0" tIns="0" rIns="0" bIns="0" rtlCol="0" anchor="ctr"/>
          <a:lstStyle/>
          <a:p>
            <a:pPr algn="l" indent="0" marL="0">
              <a:lnSpc>
                <a:spcPct val="100000"/>
              </a:lnSpc>
              <a:buNone/>
            </a:pPr>
            <a:r>
              <a:rPr lang="en-US" sz="1400" b="1" dirty="0">
                <a:solidFill>
                  <a:srgbClr val="1E2761"/>
                </a:solidFill>
                <a:latin typeface="Courier New" pitchFamily="34" charset="0"/>
                <a:ea typeface="Courier New" pitchFamily="34" charset="-122"/>
                <a:cs typeface="Courier New" pitchFamily="34" charset="-120"/>
              </a:rPr>
              <a:t>Vaqt oynasi</a:t>
            </a:r>
            <a:endParaRPr lang="en-US" sz="1400" dirty="0"/>
          </a:p>
        </p:txBody>
      </p:sp>
      <p:sp>
        <p:nvSpPr>
          <p:cNvPr id="22" name="Text 20"/>
          <p:cNvSpPr txBox="1"/>
          <p:nvPr/>
        </p:nvSpPr>
        <p:spPr>
          <a:xfrm>
            <a:off x="9555480" y="4261104"/>
            <a:ext cx="2011680" cy="566928"/>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NotBefore … NotOnOrAfter</a:t>
            </a:r>
            <a:endParaRPr lang="en-US" sz="1400" dirty="0"/>
          </a:p>
        </p:txBody>
      </p:sp>
      <p:sp>
        <p:nvSpPr>
          <p:cNvPr id="23" name="Shape 21"/>
          <p:cNvSpPr/>
          <p:nvPr/>
        </p:nvSpPr>
        <p:spPr>
          <a:xfrm>
            <a:off x="7680960" y="4919472"/>
            <a:ext cx="3931920" cy="566928"/>
          </a:xfrm>
          <a:prstGeom prst="roundRect">
            <a:avLst>
              <a:gd name="adj" fmla="val 14516"/>
            </a:avLst>
          </a:prstGeom>
          <a:solidFill>
            <a:srgbClr val="EEF2FB"/>
          </a:solidFill>
          <a:ln/>
        </p:spPr>
      </p:sp>
      <p:sp>
        <p:nvSpPr>
          <p:cNvPr id="24" name="Text 22"/>
          <p:cNvSpPr txBox="1"/>
          <p:nvPr/>
        </p:nvSpPr>
        <p:spPr>
          <a:xfrm>
            <a:off x="7818120" y="4919472"/>
            <a:ext cx="320040" cy="566928"/>
          </a:xfrm>
          <a:prstGeom prst="rect">
            <a:avLst/>
          </a:prstGeom>
          <a:noFill/>
          <a:ln/>
        </p:spPr>
        <p:txBody>
          <a:bodyPr wrap="square" lIns="0" tIns="0" rIns="0" bIns="0" rtlCol="0" anchor="ctr"/>
          <a:lstStyle/>
          <a:p>
            <a:pPr algn="l" indent="0" marL="0">
              <a:lnSpc>
                <a:spcPct val="100000"/>
              </a:lnSpc>
              <a:buNone/>
            </a:pPr>
            <a:r>
              <a:rPr lang="en-US" sz="1800" b="1" dirty="0">
                <a:solidFill>
                  <a:srgbClr val="1F6B4A"/>
                </a:solidFill>
                <a:latin typeface="Times New Roman" pitchFamily="34" charset="0"/>
                <a:ea typeface="Times New Roman" pitchFamily="34" charset="-122"/>
                <a:cs typeface="Times New Roman" pitchFamily="34" charset="-120"/>
              </a:rPr>
              <a:t>✓</a:t>
            </a:r>
            <a:endParaRPr lang="en-US" sz="1800" dirty="0"/>
          </a:p>
        </p:txBody>
      </p:sp>
      <p:sp>
        <p:nvSpPr>
          <p:cNvPr id="25" name="Text 23"/>
          <p:cNvSpPr txBox="1"/>
          <p:nvPr/>
        </p:nvSpPr>
        <p:spPr>
          <a:xfrm>
            <a:off x="8138160" y="4919472"/>
            <a:ext cx="1417320" cy="566928"/>
          </a:xfrm>
          <a:prstGeom prst="rect">
            <a:avLst/>
          </a:prstGeom>
          <a:noFill/>
          <a:ln/>
        </p:spPr>
        <p:txBody>
          <a:bodyPr wrap="square" lIns="0" tIns="0" rIns="0" bIns="0" rtlCol="0" anchor="ctr"/>
          <a:lstStyle/>
          <a:p>
            <a:pPr algn="l" indent="0" marL="0">
              <a:lnSpc>
                <a:spcPct val="100000"/>
              </a:lnSpc>
              <a:buNone/>
            </a:pPr>
            <a:r>
              <a:rPr lang="en-US" sz="1400" b="1" dirty="0">
                <a:solidFill>
                  <a:srgbClr val="1E2761"/>
                </a:solidFill>
                <a:latin typeface="Courier New" pitchFamily="34" charset="0"/>
                <a:ea typeface="Courier New" pitchFamily="34" charset="-122"/>
                <a:cs typeface="Courier New" pitchFamily="34" charset="-120"/>
              </a:rPr>
              <a:t>InResponseTo</a:t>
            </a:r>
            <a:endParaRPr lang="en-US" sz="1400" dirty="0"/>
          </a:p>
        </p:txBody>
      </p:sp>
      <p:sp>
        <p:nvSpPr>
          <p:cNvPr id="26" name="Text 24"/>
          <p:cNvSpPr txBox="1"/>
          <p:nvPr/>
        </p:nvSpPr>
        <p:spPr>
          <a:xfrm>
            <a:off x="9555480" y="4919472"/>
            <a:ext cx="2011680" cy="566928"/>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o'zi yuborgan so'rov ID si</a:t>
            </a:r>
            <a:endParaRPr lang="en-US" sz="1400" dirty="0"/>
          </a:p>
        </p:txBody>
      </p:sp>
      <p:sp>
        <p:nvSpPr>
          <p:cNvPr id="27" name="Shape 25"/>
          <p:cNvSpPr/>
          <p:nvPr/>
        </p:nvSpPr>
        <p:spPr>
          <a:xfrm>
            <a:off x="7680960" y="5577840"/>
            <a:ext cx="3931920" cy="566928"/>
          </a:xfrm>
          <a:prstGeom prst="roundRect">
            <a:avLst>
              <a:gd name="adj" fmla="val 14516"/>
            </a:avLst>
          </a:prstGeom>
          <a:solidFill>
            <a:srgbClr val="FFFFFF"/>
          </a:solidFill>
          <a:ln w="12700">
            <a:solidFill>
              <a:srgbClr val="CADCFC"/>
            </a:solidFill>
            <a:prstDash val="solid"/>
          </a:ln>
        </p:spPr>
      </p:sp>
      <p:sp>
        <p:nvSpPr>
          <p:cNvPr id="28" name="Text 26"/>
          <p:cNvSpPr txBox="1"/>
          <p:nvPr/>
        </p:nvSpPr>
        <p:spPr>
          <a:xfrm>
            <a:off x="7818120" y="5577840"/>
            <a:ext cx="320040" cy="566928"/>
          </a:xfrm>
          <a:prstGeom prst="rect">
            <a:avLst/>
          </a:prstGeom>
          <a:noFill/>
          <a:ln/>
        </p:spPr>
        <p:txBody>
          <a:bodyPr wrap="square" lIns="0" tIns="0" rIns="0" bIns="0" rtlCol="0" anchor="ctr"/>
          <a:lstStyle/>
          <a:p>
            <a:pPr algn="l" indent="0" marL="0">
              <a:lnSpc>
                <a:spcPct val="100000"/>
              </a:lnSpc>
              <a:buNone/>
            </a:pPr>
            <a:r>
              <a:rPr lang="en-US" sz="1800" b="1" dirty="0">
                <a:solidFill>
                  <a:srgbClr val="1F6B4A"/>
                </a:solidFill>
                <a:latin typeface="Times New Roman" pitchFamily="34" charset="0"/>
                <a:ea typeface="Times New Roman" pitchFamily="34" charset="-122"/>
                <a:cs typeface="Times New Roman" pitchFamily="34" charset="-120"/>
              </a:rPr>
              <a:t>✓</a:t>
            </a:r>
            <a:endParaRPr lang="en-US" sz="1800" dirty="0"/>
          </a:p>
        </p:txBody>
      </p:sp>
      <p:sp>
        <p:nvSpPr>
          <p:cNvPr id="29" name="Text 27"/>
          <p:cNvSpPr txBox="1"/>
          <p:nvPr/>
        </p:nvSpPr>
        <p:spPr>
          <a:xfrm>
            <a:off x="8138160" y="5577840"/>
            <a:ext cx="1417320" cy="566928"/>
          </a:xfrm>
          <a:prstGeom prst="rect">
            <a:avLst/>
          </a:prstGeom>
          <a:noFill/>
          <a:ln/>
        </p:spPr>
        <p:txBody>
          <a:bodyPr wrap="square" lIns="0" tIns="0" rIns="0" bIns="0" rtlCol="0" anchor="ctr"/>
          <a:lstStyle/>
          <a:p>
            <a:pPr algn="l" indent="0" marL="0">
              <a:lnSpc>
                <a:spcPct val="100000"/>
              </a:lnSpc>
              <a:buNone/>
            </a:pPr>
            <a:r>
              <a:rPr lang="en-US" sz="1400" b="1" dirty="0">
                <a:solidFill>
                  <a:srgbClr val="1E2761"/>
                </a:solidFill>
                <a:latin typeface="Courier New" pitchFamily="34" charset="0"/>
                <a:ea typeface="Courier New" pitchFamily="34" charset="-122"/>
                <a:cs typeface="Courier New" pitchFamily="34" charset="-120"/>
              </a:rPr>
              <a:t>Recipient</a:t>
            </a:r>
            <a:endParaRPr lang="en-US" sz="1400" dirty="0"/>
          </a:p>
        </p:txBody>
      </p:sp>
      <p:sp>
        <p:nvSpPr>
          <p:cNvPr id="30" name="Text 28"/>
          <p:cNvSpPr txBox="1"/>
          <p:nvPr/>
        </p:nvSpPr>
        <p:spPr>
          <a:xfrm>
            <a:off x="9555480" y="5577840"/>
            <a:ext cx="2011680" cy="566928"/>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o'zining ACS manzili</a:t>
            </a:r>
            <a:endParaRPr lang="en-US" sz="1400" dirty="0"/>
          </a:p>
        </p:txBody>
      </p:sp>
      <p:sp>
        <p:nvSpPr>
          <p:cNvPr id="31" name="Text 29"/>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7-ma'ruza</a:t>
            </a:r>
            <a:endParaRPr lang="en-US" sz="1100" dirty="0"/>
          </a:p>
        </p:txBody>
      </p:sp>
      <p:sp>
        <p:nvSpPr>
          <p:cNvPr id="32" name="Text 30"/>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MINI-VAZIFA · 6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Moodle bu tasdiqnomani qabul qilsinmi?</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pencil_white.png"/>
          <p:cNvPicPr>
            <a:picLocks noChangeAspect="1"/>
          </p:cNvPicPr>
          <p:nvPr/>
        </p:nvPicPr>
        <p:blipFill>
          <a:blip r:embed="rId1"/>
          <a:stretch>
            <a:fillRect/>
          </a:stretch>
        </p:blipFill>
        <p:spPr>
          <a:xfrm>
            <a:off x="10978744" y="646024"/>
            <a:ext cx="399593" cy="399593"/>
          </a:xfrm>
          <a:prstGeom prst="rect">
            <a:avLst/>
          </a:prstGeom>
        </p:spPr>
      </p:pic>
      <p:sp>
        <p:nvSpPr>
          <p:cNvPr id="6" name="Shape 3"/>
          <p:cNvSpPr/>
          <p:nvPr/>
        </p:nvSpPr>
        <p:spPr>
          <a:xfrm>
            <a:off x="548640" y="1783080"/>
            <a:ext cx="11064240" cy="685800"/>
          </a:xfrm>
          <a:prstGeom prst="roundRect">
            <a:avLst>
              <a:gd name="adj" fmla="val 12000"/>
            </a:avLst>
          </a:prstGeom>
          <a:solidFill>
            <a:srgbClr val="FFFFFF"/>
          </a:solidFill>
          <a:ln/>
        </p:spPr>
      </p:sp>
      <p:sp>
        <p:nvSpPr>
          <p:cNvPr id="7" name="Text 4"/>
          <p:cNvSpPr txBox="1"/>
          <p:nvPr/>
        </p:nvSpPr>
        <p:spPr>
          <a:xfrm>
            <a:off x="868680" y="1783080"/>
            <a:ext cx="10424160" cy="685800"/>
          </a:xfrm>
          <a:prstGeom prst="rect">
            <a:avLst/>
          </a:prstGeom>
          <a:noFill/>
          <a:ln/>
        </p:spPr>
        <p:txBody>
          <a:bodyPr wrap="square" lIns="0" tIns="0" rIns="0" bIns="0" rtlCol="0" anchor="ctr"/>
          <a:lstStyle/>
          <a:p>
            <a:pPr algn="l" indent="0" marL="0">
              <a:lnSpc>
                <a:spcPct val="100000"/>
              </a:lnSpc>
              <a:buNone/>
            </a:pPr>
            <a:r>
              <a:rPr lang="en-US" sz="1800" dirty="0">
                <a:solidFill>
                  <a:srgbClr val="1B1B2A"/>
                </a:solidFill>
                <a:latin typeface="Times New Roman" pitchFamily="34" charset="0"/>
                <a:ea typeface="Times New Roman" pitchFamily="34" charset="-122"/>
                <a:cs typeface="Times New Roman" pitchFamily="34" charset="-120"/>
              </a:rPr>
              <a:t>Har bir holatda qabul qilish yoki rad etishni tanlang va qaysi tekshiruv ishlaganini ayting.</a:t>
            </a:r>
            <a:endParaRPr lang="en-US" sz="1800" dirty="0"/>
          </a:p>
        </p:txBody>
      </p:sp>
      <p:sp>
        <p:nvSpPr>
          <p:cNvPr id="8" name="Shape 5"/>
          <p:cNvSpPr/>
          <p:nvPr/>
        </p:nvSpPr>
        <p:spPr>
          <a:xfrm>
            <a:off x="548640" y="2606040"/>
            <a:ext cx="11064240" cy="658368"/>
          </a:xfrm>
          <a:prstGeom prst="roundRect">
            <a:avLst>
              <a:gd name="adj" fmla="val 12500"/>
            </a:avLst>
          </a:prstGeom>
          <a:solidFill>
            <a:srgbClr val="FFFFFF"/>
          </a:solidFill>
          <a:ln/>
        </p:spPr>
      </p:sp>
      <p:sp>
        <p:nvSpPr>
          <p:cNvPr id="9" name="Shape 6"/>
          <p:cNvSpPr/>
          <p:nvPr/>
        </p:nvSpPr>
        <p:spPr>
          <a:xfrm>
            <a:off x="548640" y="2606040"/>
            <a:ext cx="685800" cy="658368"/>
          </a:xfrm>
          <a:prstGeom prst="roundRect">
            <a:avLst>
              <a:gd name="adj" fmla="val 12500"/>
            </a:avLst>
          </a:prstGeom>
          <a:solidFill>
            <a:srgbClr val="D9932B"/>
          </a:solidFill>
          <a:ln/>
        </p:spPr>
      </p:sp>
      <p:sp>
        <p:nvSpPr>
          <p:cNvPr id="10" name="Text 7"/>
          <p:cNvSpPr txBox="1"/>
          <p:nvPr/>
        </p:nvSpPr>
        <p:spPr>
          <a:xfrm>
            <a:off x="548640" y="2606040"/>
            <a:ext cx="685800" cy="658368"/>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a</a:t>
            </a:r>
            <a:endParaRPr lang="en-US" sz="1800" dirty="0"/>
          </a:p>
        </p:txBody>
      </p:sp>
      <p:sp>
        <p:nvSpPr>
          <p:cNvPr id="11" name="Text 8"/>
          <p:cNvSpPr txBox="1"/>
          <p:nvPr/>
        </p:nvSpPr>
        <p:spPr>
          <a:xfrm>
            <a:off x="1417320" y="2606040"/>
            <a:ext cx="8412480" cy="658368"/>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Audience = https://lms.boshqa-universitet.uz</a:t>
            </a:r>
            <a:endParaRPr lang="en-US" sz="1700" dirty="0"/>
          </a:p>
        </p:txBody>
      </p:sp>
      <p:sp>
        <p:nvSpPr>
          <p:cNvPr id="12" name="Shape 9"/>
          <p:cNvSpPr/>
          <p:nvPr/>
        </p:nvSpPr>
        <p:spPr>
          <a:xfrm>
            <a:off x="10012680" y="2688336"/>
            <a:ext cx="1417320" cy="493776"/>
          </a:xfrm>
          <a:prstGeom prst="roundRect">
            <a:avLst>
              <a:gd name="adj" fmla="val 16667"/>
            </a:avLst>
          </a:prstGeom>
          <a:solidFill>
            <a:srgbClr val="FDF3E2"/>
          </a:solidFill>
          <a:ln w="12700">
            <a:solidFill>
              <a:srgbClr val="D9932B"/>
            </a:solidFill>
            <a:prstDash val="solid"/>
          </a:ln>
        </p:spPr>
      </p:sp>
      <p:sp>
        <p:nvSpPr>
          <p:cNvPr id="13" name="Text 10"/>
          <p:cNvSpPr txBox="1"/>
          <p:nvPr/>
        </p:nvSpPr>
        <p:spPr>
          <a:xfrm>
            <a:off x="10012680" y="2688336"/>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Qabul / Rad</a:t>
            </a:r>
            <a:endParaRPr lang="en-US" sz="1600" dirty="0"/>
          </a:p>
        </p:txBody>
      </p:sp>
      <p:sp>
        <p:nvSpPr>
          <p:cNvPr id="14" name="Shape 11"/>
          <p:cNvSpPr/>
          <p:nvPr/>
        </p:nvSpPr>
        <p:spPr>
          <a:xfrm>
            <a:off x="548640" y="3364992"/>
            <a:ext cx="11064240" cy="658368"/>
          </a:xfrm>
          <a:prstGeom prst="roundRect">
            <a:avLst>
              <a:gd name="adj" fmla="val 12500"/>
            </a:avLst>
          </a:prstGeom>
          <a:solidFill>
            <a:srgbClr val="FFFFFF"/>
          </a:solidFill>
          <a:ln/>
        </p:spPr>
      </p:sp>
      <p:sp>
        <p:nvSpPr>
          <p:cNvPr id="15" name="Shape 12"/>
          <p:cNvSpPr/>
          <p:nvPr/>
        </p:nvSpPr>
        <p:spPr>
          <a:xfrm>
            <a:off x="548640" y="3364992"/>
            <a:ext cx="685800" cy="658368"/>
          </a:xfrm>
          <a:prstGeom prst="roundRect">
            <a:avLst>
              <a:gd name="adj" fmla="val 12500"/>
            </a:avLst>
          </a:prstGeom>
          <a:solidFill>
            <a:srgbClr val="D9932B"/>
          </a:solidFill>
          <a:ln/>
        </p:spPr>
      </p:sp>
      <p:sp>
        <p:nvSpPr>
          <p:cNvPr id="16" name="Text 13"/>
          <p:cNvSpPr txBox="1"/>
          <p:nvPr/>
        </p:nvSpPr>
        <p:spPr>
          <a:xfrm>
            <a:off x="548640" y="3364992"/>
            <a:ext cx="685800" cy="658368"/>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b</a:t>
            </a:r>
            <a:endParaRPr lang="en-US" sz="1800" dirty="0"/>
          </a:p>
        </p:txBody>
      </p:sp>
      <p:sp>
        <p:nvSpPr>
          <p:cNvPr id="17" name="Text 14"/>
          <p:cNvSpPr txBox="1"/>
          <p:nvPr/>
        </p:nvSpPr>
        <p:spPr>
          <a:xfrm>
            <a:off x="1417320" y="3364992"/>
            <a:ext cx="8412480" cy="658368"/>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Imzo to'g'ri, lekin NotOnOrAfter 2 soat oldin tugagan</a:t>
            </a:r>
            <a:endParaRPr lang="en-US" sz="1700" dirty="0"/>
          </a:p>
        </p:txBody>
      </p:sp>
      <p:sp>
        <p:nvSpPr>
          <p:cNvPr id="18" name="Shape 15"/>
          <p:cNvSpPr/>
          <p:nvPr/>
        </p:nvSpPr>
        <p:spPr>
          <a:xfrm>
            <a:off x="10012680" y="3447288"/>
            <a:ext cx="1417320" cy="493776"/>
          </a:xfrm>
          <a:prstGeom prst="roundRect">
            <a:avLst>
              <a:gd name="adj" fmla="val 16667"/>
            </a:avLst>
          </a:prstGeom>
          <a:solidFill>
            <a:srgbClr val="FDF3E2"/>
          </a:solidFill>
          <a:ln w="12700">
            <a:solidFill>
              <a:srgbClr val="D9932B"/>
            </a:solidFill>
            <a:prstDash val="solid"/>
          </a:ln>
        </p:spPr>
      </p:sp>
      <p:sp>
        <p:nvSpPr>
          <p:cNvPr id="19" name="Text 16"/>
          <p:cNvSpPr txBox="1"/>
          <p:nvPr/>
        </p:nvSpPr>
        <p:spPr>
          <a:xfrm>
            <a:off x="10012680" y="3447288"/>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Qabul / Rad</a:t>
            </a:r>
            <a:endParaRPr lang="en-US" sz="1600" dirty="0"/>
          </a:p>
        </p:txBody>
      </p:sp>
      <p:sp>
        <p:nvSpPr>
          <p:cNvPr id="20" name="Shape 17"/>
          <p:cNvSpPr/>
          <p:nvPr/>
        </p:nvSpPr>
        <p:spPr>
          <a:xfrm>
            <a:off x="548640" y="4123944"/>
            <a:ext cx="11064240" cy="658368"/>
          </a:xfrm>
          <a:prstGeom prst="roundRect">
            <a:avLst>
              <a:gd name="adj" fmla="val 12500"/>
            </a:avLst>
          </a:prstGeom>
          <a:solidFill>
            <a:srgbClr val="FFFFFF"/>
          </a:solidFill>
          <a:ln/>
        </p:spPr>
      </p:sp>
      <p:sp>
        <p:nvSpPr>
          <p:cNvPr id="21" name="Shape 18"/>
          <p:cNvSpPr/>
          <p:nvPr/>
        </p:nvSpPr>
        <p:spPr>
          <a:xfrm>
            <a:off x="548640" y="4123944"/>
            <a:ext cx="685800" cy="658368"/>
          </a:xfrm>
          <a:prstGeom prst="roundRect">
            <a:avLst>
              <a:gd name="adj" fmla="val 12500"/>
            </a:avLst>
          </a:prstGeom>
          <a:solidFill>
            <a:srgbClr val="D9932B"/>
          </a:solidFill>
          <a:ln/>
        </p:spPr>
      </p:sp>
      <p:sp>
        <p:nvSpPr>
          <p:cNvPr id="22" name="Text 19"/>
          <p:cNvSpPr txBox="1"/>
          <p:nvPr/>
        </p:nvSpPr>
        <p:spPr>
          <a:xfrm>
            <a:off x="548640" y="4123944"/>
            <a:ext cx="685800" cy="658368"/>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c</a:t>
            </a:r>
            <a:endParaRPr lang="en-US" sz="1800" dirty="0"/>
          </a:p>
        </p:txBody>
      </p:sp>
      <p:sp>
        <p:nvSpPr>
          <p:cNvPr id="23" name="Text 20"/>
          <p:cNvSpPr txBox="1"/>
          <p:nvPr/>
        </p:nvSpPr>
        <p:spPr>
          <a:xfrm>
            <a:off x="1417320" y="4123944"/>
            <a:ext cx="8412480" cy="658368"/>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Issuer to'g'ri, lekin tasdiqnomada imzo yo'q</a:t>
            </a:r>
            <a:endParaRPr lang="en-US" sz="1700" dirty="0"/>
          </a:p>
        </p:txBody>
      </p:sp>
      <p:sp>
        <p:nvSpPr>
          <p:cNvPr id="24" name="Shape 21"/>
          <p:cNvSpPr/>
          <p:nvPr/>
        </p:nvSpPr>
        <p:spPr>
          <a:xfrm>
            <a:off x="10012680" y="4206240"/>
            <a:ext cx="1417320" cy="493776"/>
          </a:xfrm>
          <a:prstGeom prst="roundRect">
            <a:avLst>
              <a:gd name="adj" fmla="val 16667"/>
            </a:avLst>
          </a:prstGeom>
          <a:solidFill>
            <a:srgbClr val="FDF3E2"/>
          </a:solidFill>
          <a:ln w="12700">
            <a:solidFill>
              <a:srgbClr val="D9932B"/>
            </a:solidFill>
            <a:prstDash val="solid"/>
          </a:ln>
        </p:spPr>
      </p:sp>
      <p:sp>
        <p:nvSpPr>
          <p:cNvPr id="25" name="Text 22"/>
          <p:cNvSpPr txBox="1"/>
          <p:nvPr/>
        </p:nvSpPr>
        <p:spPr>
          <a:xfrm>
            <a:off x="10012680" y="4206240"/>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Qabul / Rad</a:t>
            </a:r>
            <a:endParaRPr lang="en-US" sz="1600" dirty="0"/>
          </a:p>
        </p:txBody>
      </p:sp>
      <p:sp>
        <p:nvSpPr>
          <p:cNvPr id="26" name="Shape 23"/>
          <p:cNvSpPr/>
          <p:nvPr/>
        </p:nvSpPr>
        <p:spPr>
          <a:xfrm>
            <a:off x="548640" y="4882896"/>
            <a:ext cx="11064240" cy="658368"/>
          </a:xfrm>
          <a:prstGeom prst="roundRect">
            <a:avLst>
              <a:gd name="adj" fmla="val 12500"/>
            </a:avLst>
          </a:prstGeom>
          <a:solidFill>
            <a:srgbClr val="FFFFFF"/>
          </a:solidFill>
          <a:ln/>
        </p:spPr>
      </p:sp>
      <p:sp>
        <p:nvSpPr>
          <p:cNvPr id="27" name="Shape 24"/>
          <p:cNvSpPr/>
          <p:nvPr/>
        </p:nvSpPr>
        <p:spPr>
          <a:xfrm>
            <a:off x="548640" y="4882896"/>
            <a:ext cx="685800" cy="658368"/>
          </a:xfrm>
          <a:prstGeom prst="roundRect">
            <a:avLst>
              <a:gd name="adj" fmla="val 12500"/>
            </a:avLst>
          </a:prstGeom>
          <a:solidFill>
            <a:srgbClr val="D9932B"/>
          </a:solidFill>
          <a:ln/>
        </p:spPr>
      </p:sp>
      <p:sp>
        <p:nvSpPr>
          <p:cNvPr id="28" name="Text 25"/>
          <p:cNvSpPr txBox="1"/>
          <p:nvPr/>
        </p:nvSpPr>
        <p:spPr>
          <a:xfrm>
            <a:off x="548640" y="4882896"/>
            <a:ext cx="685800" cy="658368"/>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d</a:t>
            </a:r>
            <a:endParaRPr lang="en-US" sz="1800" dirty="0"/>
          </a:p>
        </p:txBody>
      </p:sp>
      <p:sp>
        <p:nvSpPr>
          <p:cNvPr id="29" name="Text 26"/>
          <p:cNvSpPr txBox="1"/>
          <p:nvPr/>
        </p:nvSpPr>
        <p:spPr>
          <a:xfrm>
            <a:off x="1417320" y="4882896"/>
            <a:ext cx="8412480" cy="658368"/>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Xuddi shu tasdiqnoma bir daqiqadan keyin qayta yuborildi</a:t>
            </a:r>
            <a:endParaRPr lang="en-US" sz="1700" dirty="0"/>
          </a:p>
        </p:txBody>
      </p:sp>
      <p:sp>
        <p:nvSpPr>
          <p:cNvPr id="30" name="Shape 27"/>
          <p:cNvSpPr/>
          <p:nvPr/>
        </p:nvSpPr>
        <p:spPr>
          <a:xfrm>
            <a:off x="10012680" y="4965192"/>
            <a:ext cx="1417320" cy="493776"/>
          </a:xfrm>
          <a:prstGeom prst="roundRect">
            <a:avLst>
              <a:gd name="adj" fmla="val 16667"/>
            </a:avLst>
          </a:prstGeom>
          <a:solidFill>
            <a:srgbClr val="FDF3E2"/>
          </a:solidFill>
          <a:ln w="12700">
            <a:solidFill>
              <a:srgbClr val="D9932B"/>
            </a:solidFill>
            <a:prstDash val="solid"/>
          </a:ln>
        </p:spPr>
      </p:sp>
      <p:sp>
        <p:nvSpPr>
          <p:cNvPr id="31" name="Text 28"/>
          <p:cNvSpPr txBox="1"/>
          <p:nvPr/>
        </p:nvSpPr>
        <p:spPr>
          <a:xfrm>
            <a:off x="10012680" y="4965192"/>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Qabul / Rad</a:t>
            </a:r>
            <a:endParaRPr lang="en-US" sz="1600" dirty="0"/>
          </a:p>
        </p:txBody>
      </p:sp>
      <p:sp>
        <p:nvSpPr>
          <p:cNvPr id="32" name="Shape 29"/>
          <p:cNvSpPr/>
          <p:nvPr/>
        </p:nvSpPr>
        <p:spPr>
          <a:xfrm>
            <a:off x="548640" y="5641848"/>
            <a:ext cx="11064240" cy="658368"/>
          </a:xfrm>
          <a:prstGeom prst="roundRect">
            <a:avLst>
              <a:gd name="adj" fmla="val 12500"/>
            </a:avLst>
          </a:prstGeom>
          <a:solidFill>
            <a:srgbClr val="FFFFFF"/>
          </a:solidFill>
          <a:ln/>
        </p:spPr>
      </p:sp>
      <p:sp>
        <p:nvSpPr>
          <p:cNvPr id="33" name="Shape 30"/>
          <p:cNvSpPr/>
          <p:nvPr/>
        </p:nvSpPr>
        <p:spPr>
          <a:xfrm>
            <a:off x="548640" y="5641848"/>
            <a:ext cx="685800" cy="658368"/>
          </a:xfrm>
          <a:prstGeom prst="roundRect">
            <a:avLst>
              <a:gd name="adj" fmla="val 12500"/>
            </a:avLst>
          </a:prstGeom>
          <a:solidFill>
            <a:srgbClr val="D9932B"/>
          </a:solidFill>
          <a:ln/>
        </p:spPr>
      </p:sp>
      <p:sp>
        <p:nvSpPr>
          <p:cNvPr id="34" name="Text 31"/>
          <p:cNvSpPr txBox="1"/>
          <p:nvPr/>
        </p:nvSpPr>
        <p:spPr>
          <a:xfrm>
            <a:off x="548640" y="5641848"/>
            <a:ext cx="685800" cy="658368"/>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e</a:t>
            </a:r>
            <a:endParaRPr lang="en-US" sz="1800" dirty="0"/>
          </a:p>
        </p:txBody>
      </p:sp>
      <p:sp>
        <p:nvSpPr>
          <p:cNvPr id="35" name="Text 32"/>
          <p:cNvSpPr txBox="1"/>
          <p:nvPr/>
        </p:nvSpPr>
        <p:spPr>
          <a:xfrm>
            <a:off x="1417320" y="5641848"/>
            <a:ext cx="8412480" cy="658368"/>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Hammasi to'g'ri, lekin AuthnContext — faqat parol, Moodle esa MFA talab qiladi</a:t>
            </a:r>
            <a:endParaRPr lang="en-US" sz="1700" dirty="0"/>
          </a:p>
        </p:txBody>
      </p:sp>
      <p:sp>
        <p:nvSpPr>
          <p:cNvPr id="36" name="Shape 33"/>
          <p:cNvSpPr/>
          <p:nvPr/>
        </p:nvSpPr>
        <p:spPr>
          <a:xfrm>
            <a:off x="10012680" y="5724144"/>
            <a:ext cx="1417320" cy="493776"/>
          </a:xfrm>
          <a:prstGeom prst="roundRect">
            <a:avLst>
              <a:gd name="adj" fmla="val 16667"/>
            </a:avLst>
          </a:prstGeom>
          <a:solidFill>
            <a:srgbClr val="FDF3E2"/>
          </a:solidFill>
          <a:ln w="12700">
            <a:solidFill>
              <a:srgbClr val="D9932B"/>
            </a:solidFill>
            <a:prstDash val="solid"/>
          </a:ln>
        </p:spPr>
      </p:sp>
      <p:sp>
        <p:nvSpPr>
          <p:cNvPr id="37" name="Text 34"/>
          <p:cNvSpPr txBox="1"/>
          <p:nvPr/>
        </p:nvSpPr>
        <p:spPr>
          <a:xfrm>
            <a:off x="10012680" y="5724144"/>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Qabul / Rad</a:t>
            </a:r>
            <a:endParaRPr lang="en-US" sz="1600" dirty="0"/>
          </a:p>
        </p:txBody>
      </p:sp>
      <p:sp>
        <p:nvSpPr>
          <p:cNvPr id="38" name="Text 35"/>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7-ma'ruza</a:t>
            </a:r>
            <a:endParaRPr lang="en-US" sz="1100" dirty="0"/>
          </a:p>
        </p:txBody>
      </p:sp>
      <p:sp>
        <p:nvSpPr>
          <p:cNvPr id="39" name="Text 36"/>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 · HUJUMLAR</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SAML'ga qarshi hujumlar: xato — kutubxonada</a:t>
            </a:r>
            <a:endParaRPr lang="en-US" sz="3600" dirty="0"/>
          </a:p>
        </p:txBody>
      </p:sp>
      <p:sp>
        <p:nvSpPr>
          <p:cNvPr id="4" name="Shape 2"/>
          <p:cNvSpPr/>
          <p:nvPr/>
        </p:nvSpPr>
        <p:spPr>
          <a:xfrm>
            <a:off x="548640" y="1783080"/>
            <a:ext cx="5440680" cy="1874520"/>
          </a:xfrm>
          <a:prstGeom prst="roundRect">
            <a:avLst>
              <a:gd name="adj" fmla="val 4390"/>
            </a:avLst>
          </a:prstGeom>
          <a:solidFill>
            <a:srgbClr val="EEF2FB"/>
          </a:solidFill>
          <a:ln/>
        </p:spPr>
      </p:sp>
      <p:sp>
        <p:nvSpPr>
          <p:cNvPr id="5" name="Shape 3"/>
          <p:cNvSpPr/>
          <p:nvPr/>
        </p:nvSpPr>
        <p:spPr>
          <a:xfrm>
            <a:off x="777240" y="1984248"/>
            <a:ext cx="566928" cy="566928"/>
          </a:xfrm>
          <a:prstGeom prst="ellipse">
            <a:avLst/>
          </a:prstGeom>
          <a:solidFill>
            <a:srgbClr val="9E3B2E"/>
          </a:solidFill>
          <a:ln/>
        </p:spPr>
      </p:sp>
      <p:pic>
        <p:nvPicPr>
          <p:cNvPr id="6" name="Image 0" descr="/home/claude/fob-slides/icons_out/code_white.png"/>
          <p:cNvPicPr>
            <a:picLocks noChangeAspect="1"/>
          </p:cNvPicPr>
          <p:nvPr/>
        </p:nvPicPr>
        <p:blipFill>
          <a:blip r:embed="rId1"/>
          <a:stretch>
            <a:fillRect/>
          </a:stretch>
        </p:blipFill>
        <p:spPr>
          <a:xfrm>
            <a:off x="904799" y="2111807"/>
            <a:ext cx="311810" cy="311810"/>
          </a:xfrm>
          <a:prstGeom prst="rect">
            <a:avLst/>
          </a:prstGeom>
        </p:spPr>
      </p:pic>
      <p:sp>
        <p:nvSpPr>
          <p:cNvPr id="7" name="Text 4"/>
          <p:cNvSpPr txBox="1"/>
          <p:nvPr/>
        </p:nvSpPr>
        <p:spPr>
          <a:xfrm>
            <a:off x="1508760" y="1984248"/>
            <a:ext cx="4297680" cy="566928"/>
          </a:xfrm>
          <a:prstGeom prst="rect">
            <a:avLst/>
          </a:prstGeom>
          <a:noFill/>
          <a:ln/>
        </p:spPr>
        <p:txBody>
          <a:bodyPr wrap="square" lIns="0" tIns="0" rIns="0" bIns="0" rtlCol="0" anchor="ctr"/>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XML imzoni o'rash (XSW)</a:t>
            </a:r>
            <a:endParaRPr lang="en-US" sz="2000" dirty="0"/>
          </a:p>
        </p:txBody>
      </p:sp>
      <p:sp>
        <p:nvSpPr>
          <p:cNvPr id="8" name="Text 5"/>
          <p:cNvSpPr txBox="1"/>
          <p:nvPr/>
        </p:nvSpPr>
        <p:spPr>
          <a:xfrm>
            <a:off x="777240" y="2651760"/>
            <a:ext cx="4983480" cy="96012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Imzolangan element joyida qoladi, SP esa hujumchi qo'shgan boshqa elementni o'qiydi. 2012-yilgi tadqiqotda 14 ta SAML kutubxonasidan 11 tasi zaif chiqqan.</a:t>
            </a:r>
            <a:endParaRPr lang="en-US" sz="1600" dirty="0"/>
          </a:p>
        </p:txBody>
      </p:sp>
      <p:sp>
        <p:nvSpPr>
          <p:cNvPr id="9" name="Shape 6"/>
          <p:cNvSpPr/>
          <p:nvPr/>
        </p:nvSpPr>
        <p:spPr>
          <a:xfrm>
            <a:off x="6172200" y="1783080"/>
            <a:ext cx="5440680" cy="1874520"/>
          </a:xfrm>
          <a:prstGeom prst="roundRect">
            <a:avLst>
              <a:gd name="adj" fmla="val 4390"/>
            </a:avLst>
          </a:prstGeom>
          <a:solidFill>
            <a:srgbClr val="EEF2FB"/>
          </a:solidFill>
          <a:ln/>
        </p:spPr>
      </p:sp>
      <p:sp>
        <p:nvSpPr>
          <p:cNvPr id="10" name="Shape 7"/>
          <p:cNvSpPr/>
          <p:nvPr/>
        </p:nvSpPr>
        <p:spPr>
          <a:xfrm>
            <a:off x="6400800" y="1984248"/>
            <a:ext cx="566928" cy="566928"/>
          </a:xfrm>
          <a:prstGeom prst="ellipse">
            <a:avLst/>
          </a:prstGeom>
          <a:solidFill>
            <a:srgbClr val="9E3B2E"/>
          </a:solidFill>
          <a:ln/>
        </p:spPr>
      </p:sp>
      <p:pic>
        <p:nvPicPr>
          <p:cNvPr id="11" name="Image 1" descr="/home/claude/fob-slides/icons_out/file_white.png"/>
          <p:cNvPicPr>
            <a:picLocks noChangeAspect="1"/>
          </p:cNvPicPr>
          <p:nvPr/>
        </p:nvPicPr>
        <p:blipFill>
          <a:blip r:embed="rId2"/>
          <a:stretch>
            <a:fillRect/>
          </a:stretch>
        </p:blipFill>
        <p:spPr>
          <a:xfrm>
            <a:off x="6528359" y="2111807"/>
            <a:ext cx="311810" cy="311810"/>
          </a:xfrm>
          <a:prstGeom prst="rect">
            <a:avLst/>
          </a:prstGeom>
        </p:spPr>
      </p:pic>
      <p:sp>
        <p:nvSpPr>
          <p:cNvPr id="12" name="Text 8"/>
          <p:cNvSpPr txBox="1"/>
          <p:nvPr/>
        </p:nvSpPr>
        <p:spPr>
          <a:xfrm>
            <a:off x="7132320" y="1984248"/>
            <a:ext cx="4297680" cy="566928"/>
          </a:xfrm>
          <a:prstGeom prst="rect">
            <a:avLst/>
          </a:prstGeom>
          <a:noFill/>
          <a:ln/>
        </p:spPr>
        <p:txBody>
          <a:bodyPr wrap="square" lIns="0" tIns="0" rIns="0" bIns="0" rtlCol="0" anchor="ctr"/>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Izoh kiritish (2018)</a:t>
            </a:r>
            <a:endParaRPr lang="en-US" sz="2000" dirty="0"/>
          </a:p>
        </p:txBody>
      </p:sp>
      <p:sp>
        <p:nvSpPr>
          <p:cNvPr id="13" name="Text 9"/>
          <p:cNvSpPr txBox="1"/>
          <p:nvPr/>
        </p:nvSpPr>
        <p:spPr>
          <a:xfrm>
            <a:off x="6400800" y="2651760"/>
            <a:ext cx="4983480" cy="96012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a.karimov&lt;!-- --&gt;@nuu.uz.evil: imzo butun matnni tekshiradi, kutubxona esa izohdan keyingi qismni tashlab o'qiydi.</a:t>
            </a:r>
            <a:endParaRPr lang="en-US" sz="1600" dirty="0"/>
          </a:p>
        </p:txBody>
      </p:sp>
      <p:sp>
        <p:nvSpPr>
          <p:cNvPr id="14" name="Shape 10"/>
          <p:cNvSpPr/>
          <p:nvPr/>
        </p:nvSpPr>
        <p:spPr>
          <a:xfrm>
            <a:off x="548640" y="3840480"/>
            <a:ext cx="5440680" cy="1874520"/>
          </a:xfrm>
          <a:prstGeom prst="roundRect">
            <a:avLst>
              <a:gd name="adj" fmla="val 4390"/>
            </a:avLst>
          </a:prstGeom>
          <a:solidFill>
            <a:srgbClr val="EEF2FB"/>
          </a:solidFill>
          <a:ln/>
        </p:spPr>
      </p:sp>
      <p:sp>
        <p:nvSpPr>
          <p:cNvPr id="15" name="Shape 11"/>
          <p:cNvSpPr/>
          <p:nvPr/>
        </p:nvSpPr>
        <p:spPr>
          <a:xfrm>
            <a:off x="777240" y="4041648"/>
            <a:ext cx="566928" cy="566928"/>
          </a:xfrm>
          <a:prstGeom prst="ellipse">
            <a:avLst/>
          </a:prstGeom>
          <a:solidFill>
            <a:srgbClr val="9E3B2E"/>
          </a:solidFill>
          <a:ln/>
        </p:spPr>
      </p:sp>
      <p:pic>
        <p:nvPicPr>
          <p:cNvPr id="16" name="Image 2" descr="/home/claude/fob-slides/icons_out/ban_white.png"/>
          <p:cNvPicPr>
            <a:picLocks noChangeAspect="1"/>
          </p:cNvPicPr>
          <p:nvPr/>
        </p:nvPicPr>
        <p:blipFill>
          <a:blip r:embed="rId3"/>
          <a:stretch>
            <a:fillRect/>
          </a:stretch>
        </p:blipFill>
        <p:spPr>
          <a:xfrm>
            <a:off x="904799" y="4169207"/>
            <a:ext cx="311810" cy="311810"/>
          </a:xfrm>
          <a:prstGeom prst="rect">
            <a:avLst/>
          </a:prstGeom>
        </p:spPr>
      </p:pic>
      <p:sp>
        <p:nvSpPr>
          <p:cNvPr id="17" name="Text 12"/>
          <p:cNvSpPr txBox="1"/>
          <p:nvPr/>
        </p:nvSpPr>
        <p:spPr>
          <a:xfrm>
            <a:off x="1508760" y="4041648"/>
            <a:ext cx="4297680" cy="566928"/>
          </a:xfrm>
          <a:prstGeom prst="rect">
            <a:avLst/>
          </a:prstGeom>
          <a:noFill/>
          <a:ln/>
        </p:spPr>
        <p:txBody>
          <a:bodyPr wrap="square" lIns="0" tIns="0" rIns="0" bIns="0" rtlCol="0" anchor="ctr"/>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Tekshiruv yo'qligi</a:t>
            </a:r>
            <a:endParaRPr lang="en-US" sz="2000" dirty="0"/>
          </a:p>
        </p:txBody>
      </p:sp>
      <p:sp>
        <p:nvSpPr>
          <p:cNvPr id="18" name="Text 13"/>
          <p:cNvSpPr txBox="1"/>
          <p:nvPr/>
        </p:nvSpPr>
        <p:spPr>
          <a:xfrm>
            <a:off x="777240" y="4709160"/>
            <a:ext cx="4983480" cy="96012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Imzosiz tasdiqnomani qabul qilish, Audience yoki muddatni tekshirmaslik, replay.</a:t>
            </a:r>
            <a:endParaRPr lang="en-US" sz="1600" dirty="0"/>
          </a:p>
        </p:txBody>
      </p:sp>
      <p:sp>
        <p:nvSpPr>
          <p:cNvPr id="19" name="Shape 14"/>
          <p:cNvSpPr/>
          <p:nvPr/>
        </p:nvSpPr>
        <p:spPr>
          <a:xfrm>
            <a:off x="6172200" y="3840480"/>
            <a:ext cx="5440680" cy="1874520"/>
          </a:xfrm>
          <a:prstGeom prst="roundRect">
            <a:avLst>
              <a:gd name="adj" fmla="val 4390"/>
            </a:avLst>
          </a:prstGeom>
          <a:solidFill>
            <a:srgbClr val="F7ECEA"/>
          </a:solidFill>
          <a:ln/>
        </p:spPr>
      </p:sp>
      <p:sp>
        <p:nvSpPr>
          <p:cNvPr id="20" name="Shape 15"/>
          <p:cNvSpPr/>
          <p:nvPr/>
        </p:nvSpPr>
        <p:spPr>
          <a:xfrm>
            <a:off x="6400800" y="4041648"/>
            <a:ext cx="566928" cy="566928"/>
          </a:xfrm>
          <a:prstGeom prst="ellipse">
            <a:avLst/>
          </a:prstGeom>
          <a:solidFill>
            <a:srgbClr val="9E3B2E"/>
          </a:solidFill>
          <a:ln/>
        </p:spPr>
      </p:sp>
      <p:pic>
        <p:nvPicPr>
          <p:cNvPr id="21" name="Image 3" descr="/home/claude/fob-slides/icons_out/key_white.png"/>
          <p:cNvPicPr>
            <a:picLocks noChangeAspect="1"/>
          </p:cNvPicPr>
          <p:nvPr/>
        </p:nvPicPr>
        <p:blipFill>
          <a:blip r:embed="rId4"/>
          <a:stretch>
            <a:fillRect/>
          </a:stretch>
        </p:blipFill>
        <p:spPr>
          <a:xfrm>
            <a:off x="6528359" y="4169207"/>
            <a:ext cx="311810" cy="311810"/>
          </a:xfrm>
          <a:prstGeom prst="rect">
            <a:avLst/>
          </a:prstGeom>
        </p:spPr>
      </p:pic>
      <p:sp>
        <p:nvSpPr>
          <p:cNvPr id="22" name="Text 16"/>
          <p:cNvSpPr txBox="1"/>
          <p:nvPr/>
        </p:nvSpPr>
        <p:spPr>
          <a:xfrm>
            <a:off x="7132320" y="4041648"/>
            <a:ext cx="4297680" cy="566928"/>
          </a:xfrm>
          <a:prstGeom prst="rect">
            <a:avLst/>
          </a:prstGeom>
          <a:noFill/>
          <a:ln/>
        </p:spPr>
        <p:txBody>
          <a:bodyPr wrap="square" lIns="0" tIns="0" rIns="0" bIns="0" rtlCol="0" anchor="ctr"/>
          <a:lstStyle/>
          <a:p>
            <a:pPr algn="l" indent="0" marL="0">
              <a:lnSpc>
                <a:spcPct val="100000"/>
              </a:lnSpc>
              <a:buNone/>
            </a:pPr>
            <a:r>
              <a:rPr lang="en-US" sz="2000" b="1" dirty="0">
                <a:solidFill>
                  <a:srgbClr val="9E3B2E"/>
                </a:solidFill>
                <a:latin typeface="Times New Roman" pitchFamily="34" charset="0"/>
                <a:ea typeface="Times New Roman" pitchFamily="34" charset="-122"/>
                <a:cs typeface="Times New Roman" pitchFamily="34" charset="-120"/>
              </a:rPr>
              <a:t>Imzolash kaliti o'g'irlanishi</a:t>
            </a:r>
            <a:endParaRPr lang="en-US" sz="2000" dirty="0"/>
          </a:p>
        </p:txBody>
      </p:sp>
      <p:sp>
        <p:nvSpPr>
          <p:cNvPr id="23" name="Text 17"/>
          <p:cNvSpPr txBox="1"/>
          <p:nvPr/>
        </p:nvSpPr>
        <p:spPr>
          <a:xfrm>
            <a:off x="6400800" y="4709160"/>
            <a:ext cx="4983480" cy="96012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IdP kaliti bilan istalgan foydalanuvchi uchun tasdiqnoma yasash — Golden SAML (III bo'lim).</a:t>
            </a:r>
            <a:endParaRPr lang="en-US" sz="1600" dirty="0"/>
          </a:p>
        </p:txBody>
      </p:sp>
      <p:sp>
        <p:nvSpPr>
          <p:cNvPr id="24" name="Shape 18"/>
          <p:cNvSpPr/>
          <p:nvPr/>
        </p:nvSpPr>
        <p:spPr>
          <a:xfrm>
            <a:off x="548640" y="5760720"/>
            <a:ext cx="11064240" cy="502920"/>
          </a:xfrm>
          <a:prstGeom prst="roundRect">
            <a:avLst>
              <a:gd name="adj" fmla="val 16364"/>
            </a:avLst>
          </a:prstGeom>
          <a:solidFill>
            <a:srgbClr val="1F6B4A"/>
          </a:solidFill>
          <a:ln/>
        </p:spPr>
      </p:sp>
      <p:sp>
        <p:nvSpPr>
          <p:cNvPr id="25" name="Text 19"/>
          <p:cNvSpPr txBox="1"/>
          <p:nvPr/>
        </p:nvSpPr>
        <p:spPr>
          <a:xfrm>
            <a:off x="777240" y="5760720"/>
            <a:ext cx="10698480" cy="502920"/>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Times New Roman" pitchFamily="34" charset="0"/>
                <a:ea typeface="Times New Roman" pitchFamily="34" charset="-122"/>
                <a:cs typeface="Times New Roman" pitchFamily="34" charset="-120"/>
              </a:rPr>
              <a:t>Himoya: tayyor kutubxona · muntazam yangilash · faqat imzolangan elementni o'qish · barcha shartlarni tekshirish</a:t>
            </a:r>
            <a:endParaRPr lang="en-US" sz="1500" dirty="0"/>
          </a:p>
        </p:txBody>
      </p:sp>
      <p:sp>
        <p:nvSpPr>
          <p:cNvPr id="26" name="Text 20"/>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7-ma'ruza</a:t>
            </a:r>
            <a:endParaRPr lang="en-US" sz="1100" dirty="0"/>
          </a:p>
        </p:txBody>
      </p:sp>
      <p:sp>
        <p:nvSpPr>
          <p:cNvPr id="27" name="Text 21"/>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463040" y="4206240"/>
            <a:ext cx="4572000" cy="4572000"/>
          </a:xfrm>
          <a:prstGeom prst="ellipse">
            <a:avLst/>
          </a:prstGeom>
          <a:solidFill>
            <a:srgbClr val="2A3778"/>
          </a:solidFill>
          <a:ln/>
        </p:spPr>
      </p:sp>
      <p:sp>
        <p:nvSpPr>
          <p:cNvPr id="3" name="Text 1"/>
          <p:cNvSpPr txBox="1"/>
          <p:nvPr/>
        </p:nvSpPr>
        <p:spPr>
          <a:xfrm>
            <a:off x="1005840" y="2286000"/>
            <a:ext cx="5486400" cy="411480"/>
          </a:xfrm>
          <a:prstGeom prst="rect">
            <a:avLst/>
          </a:prstGeom>
          <a:noFill/>
          <a:ln/>
        </p:spPr>
        <p:txBody>
          <a:bodyPr wrap="square" lIns="0" tIns="0" rIns="0" bIns="0" rtlCol="0" anchor="ctr"/>
          <a:lstStyle/>
          <a:p>
            <a:pPr indent="0" marL="0">
              <a:buNone/>
            </a:pPr>
            <a:r>
              <a:rPr lang="en-US" sz="1600" b="1" spc="300" kern="0" dirty="0">
                <a:solidFill>
                  <a:srgbClr val="9FB0E0"/>
                </a:solidFill>
                <a:latin typeface="Times New Roman" pitchFamily="34" charset="0"/>
                <a:ea typeface="Times New Roman" pitchFamily="34" charset="-122"/>
                <a:cs typeface="Times New Roman" pitchFamily="34" charset="-120"/>
              </a:rPr>
              <a:t>III BO'LIM</a:t>
            </a:r>
            <a:endParaRPr lang="en-US" sz="1600" dirty="0"/>
          </a:p>
        </p:txBody>
      </p:sp>
      <p:sp>
        <p:nvSpPr>
          <p:cNvPr id="4" name="Text 2"/>
          <p:cNvSpPr txBox="1"/>
          <p:nvPr/>
        </p:nvSpPr>
        <p:spPr>
          <a:xfrm>
            <a:off x="1005840" y="2724912"/>
            <a:ext cx="8229600" cy="914400"/>
          </a:xfrm>
          <a:prstGeom prst="rect">
            <a:avLst/>
          </a:prstGeom>
          <a:noFill/>
          <a:ln/>
        </p:spPr>
        <p:txBody>
          <a:bodyPr wrap="square" lIns="0" tIns="0" rIns="0" bIns="0" rtlCol="0" anchor="ctr"/>
          <a:lstStyle/>
          <a:p>
            <a:pPr indent="0" marL="0">
              <a:buNone/>
            </a:pPr>
            <a:r>
              <a:rPr lang="en-US" sz="4400" b="1" dirty="0">
                <a:solidFill>
                  <a:srgbClr val="FFFFFF"/>
                </a:solidFill>
                <a:latin typeface="Times New Roman" pitchFamily="34" charset="0"/>
                <a:ea typeface="Times New Roman" pitchFamily="34" charset="-122"/>
                <a:cs typeface="Times New Roman" pitchFamily="34" charset="-120"/>
              </a:rPr>
              <a:t>Windows'da yagona kirish</a:t>
            </a:r>
            <a:endParaRPr lang="en-US" sz="4400" dirty="0"/>
          </a:p>
        </p:txBody>
      </p:sp>
      <p:sp>
        <p:nvSpPr>
          <p:cNvPr id="5" name="Text 3"/>
          <p:cNvSpPr txBox="1"/>
          <p:nvPr/>
        </p:nvSpPr>
        <p:spPr>
          <a:xfrm>
            <a:off x="1005840" y="3703320"/>
            <a:ext cx="8229600" cy="502920"/>
          </a:xfrm>
          <a:prstGeom prst="rect">
            <a:avLst/>
          </a:prstGeom>
          <a:noFill/>
          <a:ln/>
        </p:spPr>
        <p:txBody>
          <a:bodyPr wrap="square" lIns="0" tIns="0" rIns="0" bIns="0" rtlCol="0" anchor="ctr"/>
          <a:lstStyle/>
          <a:p>
            <a:pPr indent="0" marL="0">
              <a:buNone/>
            </a:pPr>
            <a:r>
              <a:rPr lang="en-US" sz="2000" dirty="0">
                <a:solidFill>
                  <a:srgbClr val="CADCFC"/>
                </a:solidFill>
                <a:latin typeface="Times New Roman" pitchFamily="34" charset="0"/>
                <a:ea typeface="Times New Roman" pitchFamily="34" charset="-122"/>
                <a:cs typeface="Times New Roman" pitchFamily="34" charset="-120"/>
              </a:rPr>
              <a:t>IWA · AD FS · Golden SAML · Microsoft Entra ID</a:t>
            </a:r>
            <a:endParaRPr lang="en-US" sz="2000" dirty="0"/>
          </a:p>
        </p:txBody>
      </p:sp>
      <p:sp>
        <p:nvSpPr>
          <p:cNvPr id="6" name="Text 4"/>
          <p:cNvSpPr txBox="1"/>
          <p:nvPr/>
        </p:nvSpPr>
        <p:spPr>
          <a:xfrm>
            <a:off x="9052560" y="1920240"/>
            <a:ext cx="2560320" cy="2743200"/>
          </a:xfrm>
          <a:prstGeom prst="rect">
            <a:avLst/>
          </a:prstGeom>
          <a:noFill/>
          <a:ln/>
        </p:spPr>
        <p:txBody>
          <a:bodyPr wrap="square" rtlCol="0" anchor="ctr"/>
          <a:lstStyle/>
          <a:p>
            <a:pPr algn="ctr" indent="0" marL="0">
              <a:buNone/>
            </a:pPr>
            <a:r>
              <a:rPr lang="en-US" sz="13000" b="1" dirty="0">
                <a:solidFill>
                  <a:srgbClr val="2A3778"/>
                </a:solidFill>
                <a:latin typeface="Times New Roman" pitchFamily="34" charset="0"/>
                <a:ea typeface="Times New Roman" pitchFamily="34" charset="-122"/>
                <a:cs typeface="Times New Roman" pitchFamily="34" charset="-120"/>
              </a:rPr>
              <a:t>III</a:t>
            </a:r>
            <a:endParaRPr lang="en-US" sz="13000" dirty="0"/>
          </a:p>
        </p:txBody>
      </p:sp>
      <p:sp>
        <p:nvSpPr>
          <p:cNvPr id="7" name="Text 5"/>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FB0E0"/>
                </a:solidFill>
                <a:latin typeface="Times New Roman" pitchFamily="34" charset="0"/>
                <a:ea typeface="Times New Roman" pitchFamily="34" charset="-122"/>
                <a:cs typeface="Times New Roman" pitchFamily="34" charset="-120"/>
              </a:rPr>
              <a:t>Foydalanishlarni boshqarish  ·  7-ma'ruza</a:t>
            </a:r>
            <a:endParaRPr lang="en-US" sz="1100" dirty="0"/>
          </a:p>
        </p:txBody>
      </p:sp>
      <p:sp>
        <p:nvSpPr>
          <p:cNvPr id="8" name="Text 6"/>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FB0E0"/>
                </a:solidFill>
                <a:latin typeface="Times New Roman" pitchFamily="34" charset="0"/>
                <a:ea typeface="Times New Roman" pitchFamily="34" charset="-122"/>
                <a:cs typeface="Times New Roman"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III · WINDOWS'DA SSO</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Uch qatlam: domen, federatsiya, bulut</a:t>
            </a:r>
            <a:endParaRPr lang="en-US" sz="3600" dirty="0"/>
          </a:p>
        </p:txBody>
      </p:sp>
      <p:sp>
        <p:nvSpPr>
          <p:cNvPr id="4" name="Shape 2"/>
          <p:cNvSpPr/>
          <p:nvPr/>
        </p:nvSpPr>
        <p:spPr>
          <a:xfrm>
            <a:off x="548640" y="1783080"/>
            <a:ext cx="3566160" cy="3520440"/>
          </a:xfrm>
          <a:prstGeom prst="roundRect">
            <a:avLst>
              <a:gd name="adj" fmla="val 2338"/>
            </a:avLst>
          </a:prstGeom>
          <a:solidFill>
            <a:srgbClr val="EEF2FB"/>
          </a:solidFill>
          <a:ln/>
        </p:spPr>
      </p:sp>
      <p:sp>
        <p:nvSpPr>
          <p:cNvPr id="5" name="Shape 3"/>
          <p:cNvSpPr/>
          <p:nvPr/>
        </p:nvSpPr>
        <p:spPr>
          <a:xfrm>
            <a:off x="777240" y="1965960"/>
            <a:ext cx="640080" cy="640080"/>
          </a:xfrm>
          <a:prstGeom prst="ellipse">
            <a:avLst/>
          </a:prstGeom>
          <a:solidFill>
            <a:srgbClr val="1E2761"/>
          </a:solidFill>
          <a:ln/>
        </p:spPr>
      </p:sp>
      <p:pic>
        <p:nvPicPr>
          <p:cNvPr id="6" name="Image 0" descr="/home/claude/fob-slides/icons_out/sitemap_white.png"/>
          <p:cNvPicPr>
            <a:picLocks noChangeAspect="1"/>
          </p:cNvPicPr>
          <p:nvPr/>
        </p:nvPicPr>
        <p:blipFill>
          <a:blip r:embed="rId1"/>
          <a:stretch>
            <a:fillRect/>
          </a:stretch>
        </p:blipFill>
        <p:spPr>
          <a:xfrm>
            <a:off x="921258" y="2109978"/>
            <a:ext cx="352044" cy="352044"/>
          </a:xfrm>
          <a:prstGeom prst="rect">
            <a:avLst/>
          </a:prstGeom>
        </p:spPr>
      </p:pic>
      <p:sp>
        <p:nvSpPr>
          <p:cNvPr id="7" name="Text 4"/>
          <p:cNvSpPr txBox="1"/>
          <p:nvPr/>
        </p:nvSpPr>
        <p:spPr>
          <a:xfrm>
            <a:off x="1554480" y="1920240"/>
            <a:ext cx="2423160" cy="731520"/>
          </a:xfrm>
          <a:prstGeom prst="rect">
            <a:avLst/>
          </a:prstGeom>
          <a:noFill/>
          <a:ln/>
        </p:spPr>
        <p:txBody>
          <a:bodyPr wrap="square" lIns="0" tIns="0" rIns="0" bIns="0" rtlCol="0" anchor="ctr"/>
          <a:lstStyle/>
          <a:p>
            <a:pPr algn="l" indent="0" marL="0">
              <a:lnSpc>
                <a:spcPct val="95000"/>
              </a:lnSpc>
              <a:buNone/>
            </a:pPr>
            <a:r>
              <a:rPr lang="en-US" sz="1800" b="1" dirty="0">
                <a:solidFill>
                  <a:srgbClr val="1E2761"/>
                </a:solidFill>
                <a:latin typeface="Times New Roman" pitchFamily="34" charset="0"/>
                <a:ea typeface="Times New Roman" pitchFamily="34" charset="-122"/>
                <a:cs typeface="Times New Roman" pitchFamily="34" charset="-120"/>
              </a:rPr>
              <a:t>Integrated Windows Authentication</a:t>
            </a:r>
            <a:endParaRPr lang="en-US" sz="1800" dirty="0"/>
          </a:p>
        </p:txBody>
      </p:sp>
      <p:sp>
        <p:nvSpPr>
          <p:cNvPr id="8" name="Text 5"/>
          <p:cNvSpPr txBox="1"/>
          <p:nvPr/>
        </p:nvSpPr>
        <p:spPr>
          <a:xfrm>
            <a:off x="777240" y="2743200"/>
            <a:ext cx="3108960" cy="320040"/>
          </a:xfrm>
          <a:prstGeom prst="rect">
            <a:avLst/>
          </a:prstGeom>
          <a:noFill/>
          <a:ln/>
        </p:spPr>
        <p:txBody>
          <a:bodyPr wrap="square" lIns="0" tIns="0" rIns="0" bIns="0" rtlCol="0" anchor="t"/>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domen ichida</a:t>
            </a:r>
            <a:endParaRPr lang="en-US" sz="1400" dirty="0"/>
          </a:p>
        </p:txBody>
      </p:sp>
      <p:sp>
        <p:nvSpPr>
          <p:cNvPr id="9" name="Text 6"/>
          <p:cNvSpPr txBox="1"/>
          <p:nvPr/>
        </p:nvSpPr>
        <p:spPr>
          <a:xfrm>
            <a:off x="777240" y="3108960"/>
            <a:ext cx="3108960" cy="160020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Brauzer yoki ilova Kerberos chiptasini avtomatik yuboradi (Negotiate). Foydalanuvchi hech narsa kiritmaydi.</a:t>
            </a:r>
            <a:endParaRPr lang="en-US" sz="1600" dirty="0"/>
          </a:p>
        </p:txBody>
      </p:sp>
      <p:sp>
        <p:nvSpPr>
          <p:cNvPr id="10" name="Shape 7"/>
          <p:cNvSpPr/>
          <p:nvPr/>
        </p:nvSpPr>
        <p:spPr>
          <a:xfrm>
            <a:off x="777240" y="4800600"/>
            <a:ext cx="1828800" cy="365760"/>
          </a:xfrm>
          <a:prstGeom prst="roundRect">
            <a:avLst>
              <a:gd name="adj" fmla="val 50000"/>
            </a:avLst>
          </a:prstGeom>
          <a:solidFill>
            <a:srgbClr val="FFFFFF"/>
          </a:solidFill>
          <a:ln/>
        </p:spPr>
      </p:sp>
      <p:sp>
        <p:nvSpPr>
          <p:cNvPr id="11" name="Text 8"/>
          <p:cNvSpPr txBox="1"/>
          <p:nvPr/>
        </p:nvSpPr>
        <p:spPr>
          <a:xfrm>
            <a:off x="777240" y="4800600"/>
            <a:ext cx="1828800" cy="36576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1E2761"/>
                </a:solidFill>
                <a:latin typeface="Times New Roman" pitchFamily="34" charset="0"/>
                <a:ea typeface="Times New Roman" pitchFamily="34" charset="-122"/>
                <a:cs typeface="Times New Roman" pitchFamily="34" charset="-120"/>
              </a:rPr>
              <a:t>M6: Kerberos</a:t>
            </a:r>
            <a:endParaRPr lang="en-US" sz="1400" dirty="0"/>
          </a:p>
        </p:txBody>
      </p:sp>
      <p:sp>
        <p:nvSpPr>
          <p:cNvPr id="12" name="Shape 9"/>
          <p:cNvSpPr/>
          <p:nvPr/>
        </p:nvSpPr>
        <p:spPr>
          <a:xfrm>
            <a:off x="4297680" y="1783080"/>
            <a:ext cx="3566160" cy="3520440"/>
          </a:xfrm>
          <a:prstGeom prst="roundRect">
            <a:avLst>
              <a:gd name="adj" fmla="val 2338"/>
            </a:avLst>
          </a:prstGeom>
          <a:solidFill>
            <a:srgbClr val="1E2761"/>
          </a:solidFill>
          <a:ln/>
        </p:spPr>
      </p:sp>
      <p:sp>
        <p:nvSpPr>
          <p:cNvPr id="13" name="Shape 10"/>
          <p:cNvSpPr/>
          <p:nvPr/>
        </p:nvSpPr>
        <p:spPr>
          <a:xfrm>
            <a:off x="4526280" y="1965960"/>
            <a:ext cx="640080" cy="640080"/>
          </a:xfrm>
          <a:prstGeom prst="ellipse">
            <a:avLst/>
          </a:prstGeom>
          <a:solidFill>
            <a:srgbClr val="2A3778"/>
          </a:solidFill>
          <a:ln/>
        </p:spPr>
      </p:sp>
      <p:pic>
        <p:nvPicPr>
          <p:cNvPr id="14" name="Image 1" descr="/home/claude/fob-slides/icons_out/server_white.png"/>
          <p:cNvPicPr>
            <a:picLocks noChangeAspect="1"/>
          </p:cNvPicPr>
          <p:nvPr/>
        </p:nvPicPr>
        <p:blipFill>
          <a:blip r:embed="rId2"/>
          <a:stretch>
            <a:fillRect/>
          </a:stretch>
        </p:blipFill>
        <p:spPr>
          <a:xfrm>
            <a:off x="4670298" y="2109978"/>
            <a:ext cx="352044" cy="352044"/>
          </a:xfrm>
          <a:prstGeom prst="rect">
            <a:avLst/>
          </a:prstGeom>
        </p:spPr>
      </p:pic>
      <p:sp>
        <p:nvSpPr>
          <p:cNvPr id="15" name="Text 11"/>
          <p:cNvSpPr txBox="1"/>
          <p:nvPr/>
        </p:nvSpPr>
        <p:spPr>
          <a:xfrm>
            <a:off x="5303520" y="1920240"/>
            <a:ext cx="2423160" cy="731520"/>
          </a:xfrm>
          <a:prstGeom prst="rect">
            <a:avLst/>
          </a:prstGeom>
          <a:noFill/>
          <a:ln/>
        </p:spPr>
        <p:txBody>
          <a:bodyPr wrap="square" lIns="0" tIns="0" rIns="0" bIns="0" rtlCol="0" anchor="ctr"/>
          <a:lstStyle/>
          <a:p>
            <a:pPr algn="l" indent="0" marL="0">
              <a:lnSpc>
                <a:spcPct val="95000"/>
              </a:lnSpc>
              <a:buNone/>
            </a:pPr>
            <a:r>
              <a:rPr lang="en-US" sz="1800" b="1" dirty="0">
                <a:solidFill>
                  <a:srgbClr val="FFFFFF"/>
                </a:solidFill>
                <a:latin typeface="Times New Roman" pitchFamily="34" charset="0"/>
                <a:ea typeface="Times New Roman" pitchFamily="34" charset="-122"/>
                <a:cs typeface="Times New Roman" pitchFamily="34" charset="-120"/>
              </a:rPr>
              <a:t>AD FS</a:t>
            </a:r>
            <a:endParaRPr lang="en-US" sz="1800" dirty="0"/>
          </a:p>
        </p:txBody>
      </p:sp>
      <p:sp>
        <p:nvSpPr>
          <p:cNvPr id="16" name="Text 12"/>
          <p:cNvSpPr txBox="1"/>
          <p:nvPr/>
        </p:nvSpPr>
        <p:spPr>
          <a:xfrm>
            <a:off x="4526280" y="2743200"/>
            <a:ext cx="3108960" cy="320040"/>
          </a:xfrm>
          <a:prstGeom prst="rect">
            <a:avLst/>
          </a:prstGeom>
          <a:noFill/>
          <a:ln/>
        </p:spPr>
        <p:txBody>
          <a:bodyPr wrap="square" lIns="0" tIns="0" rIns="0" bIns="0" rtlCol="0" anchor="t"/>
          <a:lstStyle/>
          <a:p>
            <a:pPr algn="l"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domen → tashqi ilovalar</a:t>
            </a:r>
            <a:endParaRPr lang="en-US" sz="1400" dirty="0"/>
          </a:p>
        </p:txBody>
      </p:sp>
      <p:sp>
        <p:nvSpPr>
          <p:cNvPr id="17" name="Text 13"/>
          <p:cNvSpPr txBox="1"/>
          <p:nvPr/>
        </p:nvSpPr>
        <p:spPr>
          <a:xfrm>
            <a:off x="4526280" y="3108960"/>
            <a:ext cx="3108960" cy="1600200"/>
          </a:xfrm>
          <a:prstGeom prst="rect">
            <a:avLst/>
          </a:prstGeom>
          <a:noFill/>
          <a:ln/>
        </p:spPr>
        <p:txBody>
          <a:bodyPr wrap="square" lIns="0" tIns="0" rIns="0" bIns="0" rtlCol="0" anchor="t"/>
          <a:lstStyle/>
          <a:p>
            <a:pPr algn="l" indent="0" marL="0">
              <a:lnSpc>
                <a:spcPct val="105000"/>
              </a:lnSpc>
              <a:buNone/>
            </a:pPr>
            <a:r>
              <a:rPr lang="en-US" sz="1600" dirty="0">
                <a:solidFill>
                  <a:srgbClr val="FFFFFF"/>
                </a:solidFill>
                <a:latin typeface="Times New Roman" pitchFamily="34" charset="0"/>
                <a:ea typeface="Times New Roman" pitchFamily="34" charset="-122"/>
                <a:cs typeface="Times New Roman" pitchFamily="34" charset="-120"/>
              </a:rPr>
              <a:t>Windows Server roli. Domen foydalanuvchisini tekshirib, SAML, WS-Fed yoki OIDC tokenini beradi.</a:t>
            </a:r>
            <a:endParaRPr lang="en-US" sz="1600" dirty="0"/>
          </a:p>
        </p:txBody>
      </p:sp>
      <p:sp>
        <p:nvSpPr>
          <p:cNvPr id="18" name="Shape 14"/>
          <p:cNvSpPr/>
          <p:nvPr/>
        </p:nvSpPr>
        <p:spPr>
          <a:xfrm>
            <a:off x="4526280" y="4800600"/>
            <a:ext cx="1828800" cy="365760"/>
          </a:xfrm>
          <a:prstGeom prst="roundRect">
            <a:avLst>
              <a:gd name="adj" fmla="val 50000"/>
            </a:avLst>
          </a:prstGeom>
          <a:solidFill>
            <a:srgbClr val="2A3778"/>
          </a:solidFill>
          <a:ln/>
        </p:spPr>
      </p:sp>
      <p:sp>
        <p:nvSpPr>
          <p:cNvPr id="19" name="Text 15"/>
          <p:cNvSpPr txBox="1"/>
          <p:nvPr/>
        </p:nvSpPr>
        <p:spPr>
          <a:xfrm>
            <a:off x="4526280" y="4800600"/>
            <a:ext cx="1828800" cy="36576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SAML IdP</a:t>
            </a:r>
            <a:endParaRPr lang="en-US" sz="1400" dirty="0"/>
          </a:p>
        </p:txBody>
      </p:sp>
      <p:sp>
        <p:nvSpPr>
          <p:cNvPr id="20" name="Shape 16"/>
          <p:cNvSpPr/>
          <p:nvPr/>
        </p:nvSpPr>
        <p:spPr>
          <a:xfrm>
            <a:off x="8046720" y="1783080"/>
            <a:ext cx="3566160" cy="3520440"/>
          </a:xfrm>
          <a:prstGeom prst="roundRect">
            <a:avLst>
              <a:gd name="adj" fmla="val 2338"/>
            </a:avLst>
          </a:prstGeom>
          <a:solidFill>
            <a:srgbClr val="EEF2FB"/>
          </a:solidFill>
          <a:ln/>
        </p:spPr>
      </p:sp>
      <p:sp>
        <p:nvSpPr>
          <p:cNvPr id="21" name="Shape 17"/>
          <p:cNvSpPr/>
          <p:nvPr/>
        </p:nvSpPr>
        <p:spPr>
          <a:xfrm>
            <a:off x="8275320" y="1965960"/>
            <a:ext cx="640080" cy="640080"/>
          </a:xfrm>
          <a:prstGeom prst="ellipse">
            <a:avLst/>
          </a:prstGeom>
          <a:solidFill>
            <a:srgbClr val="1E2761"/>
          </a:solidFill>
          <a:ln/>
        </p:spPr>
      </p:sp>
      <p:pic>
        <p:nvPicPr>
          <p:cNvPr id="22" name="Image 2" descr="/home/claude/fob-slides/icons_out/globe_white.png"/>
          <p:cNvPicPr>
            <a:picLocks noChangeAspect="1"/>
          </p:cNvPicPr>
          <p:nvPr/>
        </p:nvPicPr>
        <p:blipFill>
          <a:blip r:embed="rId3"/>
          <a:stretch>
            <a:fillRect/>
          </a:stretch>
        </p:blipFill>
        <p:spPr>
          <a:xfrm>
            <a:off x="8419338" y="2109978"/>
            <a:ext cx="352044" cy="352044"/>
          </a:xfrm>
          <a:prstGeom prst="rect">
            <a:avLst/>
          </a:prstGeom>
        </p:spPr>
      </p:pic>
      <p:sp>
        <p:nvSpPr>
          <p:cNvPr id="23" name="Text 18"/>
          <p:cNvSpPr txBox="1"/>
          <p:nvPr/>
        </p:nvSpPr>
        <p:spPr>
          <a:xfrm>
            <a:off x="9052560" y="1920240"/>
            <a:ext cx="2423160" cy="731520"/>
          </a:xfrm>
          <a:prstGeom prst="rect">
            <a:avLst/>
          </a:prstGeom>
          <a:noFill/>
          <a:ln/>
        </p:spPr>
        <p:txBody>
          <a:bodyPr wrap="square" lIns="0" tIns="0" rIns="0" bIns="0" rtlCol="0" anchor="ctr"/>
          <a:lstStyle/>
          <a:p>
            <a:pPr algn="l" indent="0" marL="0">
              <a:lnSpc>
                <a:spcPct val="95000"/>
              </a:lnSpc>
              <a:buNone/>
            </a:pPr>
            <a:r>
              <a:rPr lang="en-US" sz="1800" b="1" dirty="0">
                <a:solidFill>
                  <a:srgbClr val="1E2761"/>
                </a:solidFill>
                <a:latin typeface="Times New Roman" pitchFamily="34" charset="0"/>
                <a:ea typeface="Times New Roman" pitchFamily="34" charset="-122"/>
                <a:cs typeface="Times New Roman" pitchFamily="34" charset="-120"/>
              </a:rPr>
              <a:t>Microsoft Entra ID</a:t>
            </a:r>
            <a:endParaRPr lang="en-US" sz="1800" dirty="0"/>
          </a:p>
        </p:txBody>
      </p:sp>
      <p:sp>
        <p:nvSpPr>
          <p:cNvPr id="24" name="Text 19"/>
          <p:cNvSpPr txBox="1"/>
          <p:nvPr/>
        </p:nvSpPr>
        <p:spPr>
          <a:xfrm>
            <a:off x="8275320" y="2743200"/>
            <a:ext cx="3108960" cy="320040"/>
          </a:xfrm>
          <a:prstGeom prst="rect">
            <a:avLst/>
          </a:prstGeom>
          <a:noFill/>
          <a:ln/>
        </p:spPr>
        <p:txBody>
          <a:bodyPr wrap="square" lIns="0" tIns="0" rIns="0" bIns="0" rtlCol="0" anchor="t"/>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bulut IdP</a:t>
            </a:r>
            <a:endParaRPr lang="en-US" sz="1400" dirty="0"/>
          </a:p>
        </p:txBody>
      </p:sp>
      <p:sp>
        <p:nvSpPr>
          <p:cNvPr id="25" name="Text 20"/>
          <p:cNvSpPr txBox="1"/>
          <p:nvPr/>
        </p:nvSpPr>
        <p:spPr>
          <a:xfrm>
            <a:off x="8275320" y="3108960"/>
            <a:ext cx="3108960" cy="1600200"/>
          </a:xfrm>
          <a:prstGeom prst="rect">
            <a:avLst/>
          </a:prstGeom>
          <a:noFill/>
          <a:ln/>
        </p:spPr>
        <p:txBody>
          <a:bodyPr wrap="square" lIns="0" tIns="0" rIns="0" bIns="0" rtlCol="0" anchor="t"/>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Microsoft 365 va minglab SaaS ilovalar uchun IdP. Entra ga ulangan qurilmada PRT orqali SSO.</a:t>
            </a:r>
            <a:endParaRPr lang="en-US" sz="1600" dirty="0"/>
          </a:p>
        </p:txBody>
      </p:sp>
      <p:sp>
        <p:nvSpPr>
          <p:cNvPr id="26" name="Shape 21"/>
          <p:cNvSpPr/>
          <p:nvPr/>
        </p:nvSpPr>
        <p:spPr>
          <a:xfrm>
            <a:off x="8275320" y="4800600"/>
            <a:ext cx="1828800" cy="365760"/>
          </a:xfrm>
          <a:prstGeom prst="roundRect">
            <a:avLst>
              <a:gd name="adj" fmla="val 50000"/>
            </a:avLst>
          </a:prstGeom>
          <a:solidFill>
            <a:srgbClr val="FFFFFF"/>
          </a:solidFill>
          <a:ln/>
        </p:spPr>
      </p:sp>
      <p:sp>
        <p:nvSpPr>
          <p:cNvPr id="27" name="Text 22"/>
          <p:cNvSpPr txBox="1"/>
          <p:nvPr/>
        </p:nvSpPr>
        <p:spPr>
          <a:xfrm>
            <a:off x="8275320" y="4800600"/>
            <a:ext cx="1828800" cy="36576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1E2761"/>
                </a:solidFill>
                <a:latin typeface="Times New Roman" pitchFamily="34" charset="0"/>
                <a:ea typeface="Times New Roman" pitchFamily="34" charset="-122"/>
                <a:cs typeface="Times New Roman" pitchFamily="34" charset="-120"/>
              </a:rPr>
              <a:t>M5: PRT, Hello</a:t>
            </a:r>
            <a:endParaRPr lang="en-US" sz="1400" dirty="0"/>
          </a:p>
        </p:txBody>
      </p:sp>
      <p:sp>
        <p:nvSpPr>
          <p:cNvPr id="28" name="Text 23"/>
          <p:cNvSpPr txBox="1"/>
          <p:nvPr/>
        </p:nvSpPr>
        <p:spPr>
          <a:xfrm>
            <a:off x="548640" y="5532120"/>
            <a:ext cx="11064240" cy="731520"/>
          </a:xfrm>
          <a:prstGeom prst="rect">
            <a:avLst/>
          </a:prstGeom>
          <a:noFill/>
          <a:ln/>
        </p:spPr>
        <p:txBody>
          <a:bodyPr wrap="square" lIns="0" tIns="0" rIns="0" bIns="0" rtlCol="0" anchor="t"/>
          <a:lstStyle/>
          <a:p>
            <a:pPr algn="ctr" indent="0" marL="0">
              <a:lnSpc>
                <a:spcPct val="100000"/>
              </a:lnSpc>
              <a:buNone/>
            </a:pPr>
            <a:r>
              <a:rPr lang="en-US" sz="1600" dirty="0">
                <a:solidFill>
                  <a:srgbClr val="1E2761"/>
                </a:solidFill>
                <a:latin typeface="Times New Roman" pitchFamily="34" charset="0"/>
                <a:ea typeface="Times New Roman" pitchFamily="34" charset="-122"/>
                <a:cs typeface="Times New Roman" pitchFamily="34" charset="-120"/>
              </a:rPr>
              <a:t>Gibrid universitet: AD DS ichki tarmoq uchun, Entra ID bulut uchun; foydalanuvchilar Entra Connect orqali sinxronlanadi.</a:t>
            </a:r>
            <a:endParaRPr lang="en-US" sz="1600" dirty="0"/>
          </a:p>
        </p:txBody>
      </p:sp>
      <p:sp>
        <p:nvSpPr>
          <p:cNvPr id="29" name="Text 24"/>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7-ma'ruza</a:t>
            </a:r>
            <a:endParaRPr lang="en-US" sz="1100" dirty="0"/>
          </a:p>
        </p:txBody>
      </p:sp>
      <p:sp>
        <p:nvSpPr>
          <p:cNvPr id="30" name="Text 25"/>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III · AD FS</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AD FS: domendan SAML tasdiqnomasigacha</a:t>
            </a:r>
            <a:endParaRPr lang="en-US" sz="3600" dirty="0"/>
          </a:p>
        </p:txBody>
      </p:sp>
      <p:sp>
        <p:nvSpPr>
          <p:cNvPr id="4" name="Shape 2"/>
          <p:cNvSpPr/>
          <p:nvPr/>
        </p:nvSpPr>
        <p:spPr>
          <a:xfrm>
            <a:off x="548640" y="1783080"/>
            <a:ext cx="3383280" cy="1188720"/>
          </a:xfrm>
          <a:prstGeom prst="roundRect">
            <a:avLst>
              <a:gd name="adj" fmla="val 6923"/>
            </a:avLst>
          </a:prstGeom>
          <a:solidFill>
            <a:srgbClr val="EEF2FB"/>
          </a:solidFill>
          <a:ln/>
        </p:spPr>
      </p:sp>
      <p:sp>
        <p:nvSpPr>
          <p:cNvPr id="5" name="Text 3"/>
          <p:cNvSpPr txBox="1"/>
          <p:nvPr/>
        </p:nvSpPr>
        <p:spPr>
          <a:xfrm>
            <a:off x="548640" y="1828800"/>
            <a:ext cx="3383280" cy="502920"/>
          </a:xfrm>
          <a:prstGeom prst="rect">
            <a:avLst/>
          </a:prstGeom>
          <a:noFill/>
          <a:ln/>
        </p:spPr>
        <p:txBody>
          <a:bodyPr wrap="square" lIns="50800" tIns="50800" rIns="50800" bIns="50800" rtlCol="0" anchor="ctr"/>
          <a:lstStyle/>
          <a:p>
            <a:pPr algn="ctr"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AD DS</a:t>
            </a:r>
            <a:endParaRPr lang="en-US" sz="2000" dirty="0"/>
          </a:p>
        </p:txBody>
      </p:sp>
      <p:sp>
        <p:nvSpPr>
          <p:cNvPr id="6" name="Text 4"/>
          <p:cNvSpPr txBox="1"/>
          <p:nvPr/>
        </p:nvSpPr>
        <p:spPr>
          <a:xfrm>
            <a:off x="640080" y="2331720"/>
            <a:ext cx="3200400" cy="54864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claims provider trust</a:t>
            </a:r>
            <a:endParaRPr lang="en-US" sz="1400" dirty="0"/>
          </a:p>
        </p:txBody>
      </p:sp>
      <p:sp>
        <p:nvSpPr>
          <p:cNvPr id="7" name="Shape 5"/>
          <p:cNvSpPr/>
          <p:nvPr/>
        </p:nvSpPr>
        <p:spPr>
          <a:xfrm>
            <a:off x="3977640" y="2377440"/>
            <a:ext cx="274320" cy="0"/>
          </a:xfrm>
          <a:prstGeom prst="line">
            <a:avLst/>
          </a:prstGeom>
          <a:noFill/>
          <a:ln w="31750">
            <a:solidFill>
              <a:srgbClr val="1E2761"/>
            </a:solidFill>
            <a:prstDash val="solid"/>
            <a:tailEnd type="triangle"/>
          </a:ln>
        </p:spPr>
      </p:sp>
      <p:sp>
        <p:nvSpPr>
          <p:cNvPr id="8" name="Shape 6"/>
          <p:cNvSpPr/>
          <p:nvPr/>
        </p:nvSpPr>
        <p:spPr>
          <a:xfrm>
            <a:off x="4297680" y="1783080"/>
            <a:ext cx="3383280" cy="1188720"/>
          </a:xfrm>
          <a:prstGeom prst="roundRect">
            <a:avLst>
              <a:gd name="adj" fmla="val 6923"/>
            </a:avLst>
          </a:prstGeom>
          <a:solidFill>
            <a:srgbClr val="1E2761"/>
          </a:solidFill>
          <a:ln/>
        </p:spPr>
      </p:sp>
      <p:sp>
        <p:nvSpPr>
          <p:cNvPr id="9" name="Text 7"/>
          <p:cNvSpPr txBox="1"/>
          <p:nvPr/>
        </p:nvSpPr>
        <p:spPr>
          <a:xfrm>
            <a:off x="4297680" y="1828800"/>
            <a:ext cx="3383280" cy="502920"/>
          </a:xfrm>
          <a:prstGeom prst="rect">
            <a:avLst/>
          </a:prstGeom>
          <a:noFill/>
          <a:ln/>
        </p:spPr>
        <p:txBody>
          <a:bodyPr wrap="square" lIns="50800" tIns="50800" rIns="50800" bIns="50800" rtlCol="0" anchor="ctr"/>
          <a:lstStyle/>
          <a:p>
            <a:pPr algn="ctr" indent="0" marL="0">
              <a:lnSpc>
                <a:spcPct val="100000"/>
              </a:lnSpc>
              <a:buNone/>
            </a:pPr>
            <a:r>
              <a:rPr lang="en-US" sz="2000" b="1" dirty="0">
                <a:solidFill>
                  <a:srgbClr val="FFFFFF"/>
                </a:solidFill>
                <a:latin typeface="Times New Roman" pitchFamily="34" charset="0"/>
                <a:ea typeface="Times New Roman" pitchFamily="34" charset="-122"/>
                <a:cs typeface="Times New Roman" pitchFamily="34" charset="-120"/>
              </a:rPr>
              <a:t>AD FS server</a:t>
            </a:r>
            <a:endParaRPr lang="en-US" sz="2000" dirty="0"/>
          </a:p>
        </p:txBody>
      </p:sp>
      <p:sp>
        <p:nvSpPr>
          <p:cNvPr id="10" name="Text 8"/>
          <p:cNvSpPr txBox="1"/>
          <p:nvPr/>
        </p:nvSpPr>
        <p:spPr>
          <a:xfrm>
            <a:off x="4389120" y="2331720"/>
            <a:ext cx="3200400" cy="54864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da'vo qoidalari + token-signing sertifikati</a:t>
            </a:r>
            <a:endParaRPr lang="en-US" sz="1400" dirty="0"/>
          </a:p>
        </p:txBody>
      </p:sp>
      <p:sp>
        <p:nvSpPr>
          <p:cNvPr id="11" name="Shape 9"/>
          <p:cNvSpPr/>
          <p:nvPr/>
        </p:nvSpPr>
        <p:spPr>
          <a:xfrm>
            <a:off x="7726680" y="2377440"/>
            <a:ext cx="274320" cy="0"/>
          </a:xfrm>
          <a:prstGeom prst="line">
            <a:avLst/>
          </a:prstGeom>
          <a:noFill/>
          <a:ln w="31750">
            <a:solidFill>
              <a:srgbClr val="1E2761"/>
            </a:solidFill>
            <a:prstDash val="solid"/>
            <a:tailEnd type="triangle"/>
          </a:ln>
        </p:spPr>
      </p:sp>
      <p:sp>
        <p:nvSpPr>
          <p:cNvPr id="12" name="Shape 10"/>
          <p:cNvSpPr/>
          <p:nvPr/>
        </p:nvSpPr>
        <p:spPr>
          <a:xfrm>
            <a:off x="8046720" y="1783080"/>
            <a:ext cx="3383280" cy="1188720"/>
          </a:xfrm>
          <a:prstGeom prst="roundRect">
            <a:avLst>
              <a:gd name="adj" fmla="val 6923"/>
            </a:avLst>
          </a:prstGeom>
          <a:solidFill>
            <a:srgbClr val="EEF2FB"/>
          </a:solidFill>
          <a:ln/>
        </p:spPr>
      </p:sp>
      <p:sp>
        <p:nvSpPr>
          <p:cNvPr id="13" name="Text 11"/>
          <p:cNvSpPr txBox="1"/>
          <p:nvPr/>
        </p:nvSpPr>
        <p:spPr>
          <a:xfrm>
            <a:off x="8046720" y="1828800"/>
            <a:ext cx="3383280" cy="502920"/>
          </a:xfrm>
          <a:prstGeom prst="rect">
            <a:avLst/>
          </a:prstGeom>
          <a:noFill/>
          <a:ln/>
        </p:spPr>
        <p:txBody>
          <a:bodyPr wrap="square" lIns="50800" tIns="50800" rIns="50800" bIns="50800" rtlCol="0" anchor="ctr"/>
          <a:lstStyle/>
          <a:p>
            <a:pPr algn="ctr"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Ilova (SP)</a:t>
            </a:r>
            <a:endParaRPr lang="en-US" sz="2000" dirty="0"/>
          </a:p>
        </p:txBody>
      </p:sp>
      <p:sp>
        <p:nvSpPr>
          <p:cNvPr id="14" name="Text 12"/>
          <p:cNvSpPr txBox="1"/>
          <p:nvPr/>
        </p:nvSpPr>
        <p:spPr>
          <a:xfrm>
            <a:off x="8138160" y="2331720"/>
            <a:ext cx="3200400" cy="54864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relying party trust</a:t>
            </a:r>
            <a:endParaRPr lang="en-US" sz="1400" dirty="0"/>
          </a:p>
        </p:txBody>
      </p:sp>
      <p:sp>
        <p:nvSpPr>
          <p:cNvPr id="15" name="Text 13"/>
          <p:cNvSpPr txBox="1"/>
          <p:nvPr/>
        </p:nvSpPr>
        <p:spPr>
          <a:xfrm>
            <a:off x="548640" y="3063240"/>
            <a:ext cx="11064240" cy="320040"/>
          </a:xfrm>
          <a:prstGeom prst="rect">
            <a:avLst/>
          </a:prstGeom>
          <a:noFill/>
          <a:ln/>
        </p:spPr>
        <p:txBody>
          <a:bodyPr wrap="square" lIns="0" tIns="0" rIns="0" bIns="0" rtlCol="0" anchor="t"/>
          <a:lstStyle/>
          <a:p>
            <a:pPr algn="ctr"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Web Application Proxy (WAP) — AD FS ni DMZ orqali internetga chiqaradi</a:t>
            </a:r>
            <a:endParaRPr lang="en-US" sz="1400" dirty="0"/>
          </a:p>
        </p:txBody>
      </p:sp>
      <p:sp>
        <p:nvSpPr>
          <p:cNvPr id="16" name="Shape 14"/>
          <p:cNvSpPr/>
          <p:nvPr/>
        </p:nvSpPr>
        <p:spPr>
          <a:xfrm>
            <a:off x="548640" y="3520440"/>
            <a:ext cx="5852160" cy="2697480"/>
          </a:xfrm>
          <a:prstGeom prst="roundRect">
            <a:avLst>
              <a:gd name="adj" fmla="val 3051"/>
            </a:avLst>
          </a:prstGeom>
          <a:solidFill>
            <a:srgbClr val="162048"/>
          </a:solidFill>
          <a:ln/>
        </p:spPr>
      </p:sp>
      <p:sp>
        <p:nvSpPr>
          <p:cNvPr id="17" name="Text 15"/>
          <p:cNvSpPr txBox="1"/>
          <p:nvPr/>
        </p:nvSpPr>
        <p:spPr>
          <a:xfrm>
            <a:off x="777240" y="3703320"/>
            <a:ext cx="5394960" cy="2331720"/>
          </a:xfrm>
          <a:prstGeom prst="rect">
            <a:avLst/>
          </a:prstGeom>
          <a:noFill/>
          <a:ln/>
        </p:spPr>
        <p:txBody>
          <a:bodyPr wrap="square" lIns="0" tIns="0" rIns="0" bIns="0" rtlCol="0" anchor="t"/>
          <a:lstStyle/>
          <a:p>
            <a:pPr indent="0" marL="0">
              <a:lnSpc>
                <a:spcPct val="105000"/>
              </a:lnSpc>
              <a:buNone/>
            </a:pPr>
            <a:r>
              <a:rPr lang="en-US" sz="1200" dirty="0">
                <a:solidFill>
                  <a:srgbClr val="9FB0E0"/>
                </a:solidFill>
                <a:latin typeface="Courier New" pitchFamily="34" charset="0"/>
                <a:ea typeface="Courier New" pitchFamily="34" charset="-122"/>
                <a:cs typeface="Courier New" pitchFamily="34" charset="-120"/>
              </a:rPr>
              <a:t># Da'vo qoidasi: AD atributlarini SAML atributlariga</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c:[Type == "…/windowsaccountname",</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Issuer == "AD AUTHORITY"]</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 =&gt; issue(store = "Active Directory",</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types = ("…/emailaddress", "…/role"),</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query = ";mail,tokenGroups;{0}",</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param = c.Value);</a:t>
            </a:r>
            <a:endParaRPr lang="en-US" sz="1200" dirty="0"/>
          </a:p>
        </p:txBody>
      </p:sp>
      <p:sp>
        <p:nvSpPr>
          <p:cNvPr id="18" name="Shape 16"/>
          <p:cNvSpPr/>
          <p:nvPr/>
        </p:nvSpPr>
        <p:spPr>
          <a:xfrm>
            <a:off x="6583680" y="3520440"/>
            <a:ext cx="5029200" cy="2697480"/>
          </a:xfrm>
          <a:prstGeom prst="roundRect">
            <a:avLst>
              <a:gd name="adj" fmla="val 3051"/>
            </a:avLst>
          </a:prstGeom>
          <a:solidFill>
            <a:srgbClr val="162048"/>
          </a:solidFill>
          <a:ln/>
        </p:spPr>
      </p:sp>
      <p:sp>
        <p:nvSpPr>
          <p:cNvPr id="19" name="Text 17"/>
          <p:cNvSpPr txBox="1"/>
          <p:nvPr/>
        </p:nvSpPr>
        <p:spPr>
          <a:xfrm>
            <a:off x="6812280" y="3703320"/>
            <a:ext cx="4572000" cy="2331720"/>
          </a:xfrm>
          <a:prstGeom prst="rect">
            <a:avLst/>
          </a:prstGeom>
          <a:noFill/>
          <a:ln/>
        </p:spPr>
        <p:txBody>
          <a:bodyPr wrap="square" lIns="0" tIns="0" rIns="0" bIns="0" rtlCol="0" anchor="t"/>
          <a:lstStyle/>
          <a:p>
            <a:pPr indent="0" marL="0">
              <a:lnSpc>
                <a:spcPct val="105000"/>
              </a:lnSpc>
              <a:buNone/>
            </a:pPr>
            <a:r>
              <a:rPr lang="en-US" sz="1200" dirty="0">
                <a:solidFill>
                  <a:srgbClr val="9FB0E0"/>
                </a:solidFill>
                <a:latin typeface="Courier New" pitchFamily="34" charset="0"/>
                <a:ea typeface="Courier New" pitchFamily="34" charset="-122"/>
                <a:cs typeface="Courier New" pitchFamily="34" charset="-120"/>
              </a:rPr>
              <a:t># AD FS serverida (PowerShell)</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PS&gt; Get-AdfsRelyingPartyTrust |</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      Select Name, Identifier</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PS&gt; Get-AdfsCertificate `</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      -CertificateType Token-Signing</a:t>
            </a:r>
            <a:endParaRPr lang="en-US" sz="1200" dirty="0"/>
          </a:p>
          <a:p>
            <a:pPr indent="0" marL="0">
              <a:lnSpc>
                <a:spcPct val="105000"/>
              </a:lnSpc>
              <a:buNone/>
            </a:pPr>
            <a:r>
              <a:rPr lang="en-US" sz="1200" dirty="0">
                <a:solidFill>
                  <a:srgbClr val="8FD3A8"/>
                </a:solidFill>
                <a:latin typeface="Courier New" pitchFamily="34" charset="0"/>
                <a:ea typeface="Courier New" pitchFamily="34" charset="-122"/>
                <a:cs typeface="Courier New" pitchFamily="34" charset="-120"/>
              </a:rPr>
              <a:t># eng qimmatli sir — shu sertifikat kaliti</a:t>
            </a:r>
            <a:endParaRPr lang="en-US" sz="1200" dirty="0"/>
          </a:p>
        </p:txBody>
      </p:sp>
      <p:sp>
        <p:nvSpPr>
          <p:cNvPr id="20" name="Text 18"/>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7-ma'ruza</a:t>
            </a:r>
            <a:endParaRPr lang="en-US" sz="1100" dirty="0"/>
          </a:p>
        </p:txBody>
      </p:sp>
      <p:sp>
        <p:nvSpPr>
          <p:cNvPr id="21" name="Text 19"/>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III · GOLDEN SAML</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Golden SAML: imzolash kaliti o'g'irlansa</a:t>
            </a:r>
            <a:endParaRPr lang="en-US" sz="3600" dirty="0"/>
          </a:p>
        </p:txBody>
      </p:sp>
      <p:sp>
        <p:nvSpPr>
          <p:cNvPr id="4" name="Shape 2"/>
          <p:cNvSpPr/>
          <p:nvPr/>
        </p:nvSpPr>
        <p:spPr>
          <a:xfrm>
            <a:off x="548640" y="1783080"/>
            <a:ext cx="6400800" cy="694944"/>
          </a:xfrm>
          <a:prstGeom prst="roundRect">
            <a:avLst>
              <a:gd name="adj" fmla="val 11842"/>
            </a:avLst>
          </a:prstGeom>
          <a:solidFill>
            <a:srgbClr val="EEF2FB"/>
          </a:solidFill>
          <a:ln/>
        </p:spPr>
      </p:sp>
      <p:sp>
        <p:nvSpPr>
          <p:cNvPr id="5" name="Shape 3"/>
          <p:cNvSpPr/>
          <p:nvPr/>
        </p:nvSpPr>
        <p:spPr>
          <a:xfrm>
            <a:off x="713232" y="1901952"/>
            <a:ext cx="457200" cy="457200"/>
          </a:xfrm>
          <a:prstGeom prst="ellipse">
            <a:avLst/>
          </a:prstGeom>
          <a:solidFill>
            <a:srgbClr val="9E3B2E"/>
          </a:solidFill>
          <a:ln/>
        </p:spPr>
      </p:sp>
      <p:sp>
        <p:nvSpPr>
          <p:cNvPr id="6" name="Text 4"/>
          <p:cNvSpPr txBox="1"/>
          <p:nvPr/>
        </p:nvSpPr>
        <p:spPr>
          <a:xfrm>
            <a:off x="713232" y="1901952"/>
            <a:ext cx="457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1</a:t>
            </a:r>
            <a:endParaRPr lang="en-US" sz="1400" dirty="0"/>
          </a:p>
        </p:txBody>
      </p:sp>
      <p:sp>
        <p:nvSpPr>
          <p:cNvPr id="7" name="Text 5"/>
          <p:cNvSpPr txBox="1"/>
          <p:nvPr/>
        </p:nvSpPr>
        <p:spPr>
          <a:xfrm>
            <a:off x="1325880" y="1783080"/>
            <a:ext cx="5532120" cy="694944"/>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Hujumchi AD FS serveriga ma'mur huquqi bilan kiradi</a:t>
            </a:r>
            <a:endParaRPr lang="en-US" sz="1700" dirty="0"/>
          </a:p>
        </p:txBody>
      </p:sp>
      <p:sp>
        <p:nvSpPr>
          <p:cNvPr id="8" name="Shape 6"/>
          <p:cNvSpPr/>
          <p:nvPr/>
        </p:nvSpPr>
        <p:spPr>
          <a:xfrm>
            <a:off x="548640" y="2587752"/>
            <a:ext cx="6400800" cy="694944"/>
          </a:xfrm>
          <a:prstGeom prst="roundRect">
            <a:avLst>
              <a:gd name="adj" fmla="val 11842"/>
            </a:avLst>
          </a:prstGeom>
          <a:solidFill>
            <a:srgbClr val="EEF2FB"/>
          </a:solidFill>
          <a:ln/>
        </p:spPr>
      </p:sp>
      <p:sp>
        <p:nvSpPr>
          <p:cNvPr id="9" name="Shape 7"/>
          <p:cNvSpPr/>
          <p:nvPr/>
        </p:nvSpPr>
        <p:spPr>
          <a:xfrm>
            <a:off x="713232" y="2706624"/>
            <a:ext cx="457200" cy="457200"/>
          </a:xfrm>
          <a:prstGeom prst="ellipse">
            <a:avLst/>
          </a:prstGeom>
          <a:solidFill>
            <a:srgbClr val="9E3B2E"/>
          </a:solidFill>
          <a:ln/>
        </p:spPr>
      </p:sp>
      <p:sp>
        <p:nvSpPr>
          <p:cNvPr id="10" name="Text 8"/>
          <p:cNvSpPr txBox="1"/>
          <p:nvPr/>
        </p:nvSpPr>
        <p:spPr>
          <a:xfrm>
            <a:off x="713232" y="2706624"/>
            <a:ext cx="457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11" name="Text 9"/>
          <p:cNvSpPr txBox="1"/>
          <p:nvPr/>
        </p:nvSpPr>
        <p:spPr>
          <a:xfrm>
            <a:off x="1325880" y="2587752"/>
            <a:ext cx="5532120" cy="694944"/>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Token-signing sertifikatining yopiq kalitini eksport qiladi</a:t>
            </a:r>
            <a:endParaRPr lang="en-US" sz="1700" dirty="0"/>
          </a:p>
        </p:txBody>
      </p:sp>
      <p:sp>
        <p:nvSpPr>
          <p:cNvPr id="12" name="Shape 10"/>
          <p:cNvSpPr/>
          <p:nvPr/>
        </p:nvSpPr>
        <p:spPr>
          <a:xfrm>
            <a:off x="548640" y="3392424"/>
            <a:ext cx="6400800" cy="694944"/>
          </a:xfrm>
          <a:prstGeom prst="roundRect">
            <a:avLst>
              <a:gd name="adj" fmla="val 11842"/>
            </a:avLst>
          </a:prstGeom>
          <a:solidFill>
            <a:srgbClr val="EEF2FB"/>
          </a:solidFill>
          <a:ln/>
        </p:spPr>
      </p:sp>
      <p:sp>
        <p:nvSpPr>
          <p:cNvPr id="13" name="Shape 11"/>
          <p:cNvSpPr/>
          <p:nvPr/>
        </p:nvSpPr>
        <p:spPr>
          <a:xfrm>
            <a:off x="713232" y="3511296"/>
            <a:ext cx="457200" cy="457200"/>
          </a:xfrm>
          <a:prstGeom prst="ellipse">
            <a:avLst/>
          </a:prstGeom>
          <a:solidFill>
            <a:srgbClr val="9E3B2E"/>
          </a:solidFill>
          <a:ln/>
        </p:spPr>
      </p:sp>
      <p:sp>
        <p:nvSpPr>
          <p:cNvPr id="14" name="Text 12"/>
          <p:cNvSpPr txBox="1"/>
          <p:nvPr/>
        </p:nvSpPr>
        <p:spPr>
          <a:xfrm>
            <a:off x="713232" y="3511296"/>
            <a:ext cx="457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3</a:t>
            </a:r>
            <a:endParaRPr lang="en-US" sz="1400" dirty="0"/>
          </a:p>
        </p:txBody>
      </p:sp>
      <p:sp>
        <p:nvSpPr>
          <p:cNvPr id="15" name="Text 13"/>
          <p:cNvSpPr txBox="1"/>
          <p:nvPr/>
        </p:nvSpPr>
        <p:spPr>
          <a:xfrm>
            <a:off x="1325880" y="3392424"/>
            <a:ext cx="5532120" cy="694944"/>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Istalgan foydalanuvchi va istalgan rol uchun tasdiqnoma yasaydi</a:t>
            </a:r>
            <a:endParaRPr lang="en-US" sz="1700" dirty="0"/>
          </a:p>
        </p:txBody>
      </p:sp>
      <p:sp>
        <p:nvSpPr>
          <p:cNvPr id="16" name="Shape 14"/>
          <p:cNvSpPr/>
          <p:nvPr/>
        </p:nvSpPr>
        <p:spPr>
          <a:xfrm>
            <a:off x="548640" y="4197096"/>
            <a:ext cx="6400800" cy="694944"/>
          </a:xfrm>
          <a:prstGeom prst="roundRect">
            <a:avLst>
              <a:gd name="adj" fmla="val 11842"/>
            </a:avLst>
          </a:prstGeom>
          <a:solidFill>
            <a:srgbClr val="F7ECEA"/>
          </a:solidFill>
          <a:ln/>
        </p:spPr>
      </p:sp>
      <p:sp>
        <p:nvSpPr>
          <p:cNvPr id="17" name="Shape 15"/>
          <p:cNvSpPr/>
          <p:nvPr/>
        </p:nvSpPr>
        <p:spPr>
          <a:xfrm>
            <a:off x="713232" y="4315968"/>
            <a:ext cx="457200" cy="457200"/>
          </a:xfrm>
          <a:prstGeom prst="ellipse">
            <a:avLst/>
          </a:prstGeom>
          <a:solidFill>
            <a:srgbClr val="9E3B2E"/>
          </a:solidFill>
          <a:ln/>
        </p:spPr>
      </p:sp>
      <p:sp>
        <p:nvSpPr>
          <p:cNvPr id="18" name="Text 16"/>
          <p:cNvSpPr txBox="1"/>
          <p:nvPr/>
        </p:nvSpPr>
        <p:spPr>
          <a:xfrm>
            <a:off x="713232" y="4315968"/>
            <a:ext cx="457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4</a:t>
            </a:r>
            <a:endParaRPr lang="en-US" sz="1400" dirty="0"/>
          </a:p>
        </p:txBody>
      </p:sp>
      <p:sp>
        <p:nvSpPr>
          <p:cNvPr id="19" name="Text 17"/>
          <p:cNvSpPr txBox="1"/>
          <p:nvPr/>
        </p:nvSpPr>
        <p:spPr>
          <a:xfrm>
            <a:off x="1325880" y="4197096"/>
            <a:ext cx="5532120" cy="694944"/>
          </a:xfrm>
          <a:prstGeom prst="rect">
            <a:avLst/>
          </a:prstGeom>
          <a:noFill/>
          <a:ln/>
        </p:spPr>
        <p:txBody>
          <a:bodyPr wrap="square" lIns="0" tIns="0" rIns="0" bIns="0" rtlCol="0" anchor="ctr"/>
          <a:lstStyle/>
          <a:p>
            <a:pPr algn="l" indent="0" marL="0">
              <a:lnSpc>
                <a:spcPct val="100000"/>
              </a:lnSpc>
              <a:buNone/>
            </a:pPr>
            <a:r>
              <a:rPr lang="en-US" sz="1700" dirty="0">
                <a:solidFill>
                  <a:srgbClr val="9E3B2E"/>
                </a:solidFill>
                <a:latin typeface="Times New Roman" pitchFamily="34" charset="0"/>
                <a:ea typeface="Times New Roman" pitchFamily="34" charset="-122"/>
                <a:cs typeface="Times New Roman" pitchFamily="34" charset="-120"/>
              </a:rPr>
              <a:t>SP imzoni tekshiradi — imzo haqiqiy; parol va MFA umuman ishlatilmaydi</a:t>
            </a:r>
            <a:endParaRPr lang="en-US" sz="1700" dirty="0"/>
          </a:p>
        </p:txBody>
      </p:sp>
      <p:sp>
        <p:nvSpPr>
          <p:cNvPr id="20" name="Shape 18"/>
          <p:cNvSpPr/>
          <p:nvPr/>
        </p:nvSpPr>
        <p:spPr>
          <a:xfrm>
            <a:off x="7178040" y="1783080"/>
            <a:ext cx="4434840" cy="3108960"/>
          </a:xfrm>
          <a:prstGeom prst="roundRect">
            <a:avLst>
              <a:gd name="adj" fmla="val 2647"/>
            </a:avLst>
          </a:prstGeom>
          <a:solidFill>
            <a:srgbClr val="1E2761"/>
          </a:solidFill>
          <a:ln/>
        </p:spPr>
      </p:sp>
      <p:sp>
        <p:nvSpPr>
          <p:cNvPr id="21" name="Text 19"/>
          <p:cNvSpPr txBox="1"/>
          <p:nvPr/>
        </p:nvSpPr>
        <p:spPr>
          <a:xfrm>
            <a:off x="7406640" y="1874520"/>
            <a:ext cx="4023360" cy="457200"/>
          </a:xfrm>
          <a:prstGeom prst="rect">
            <a:avLst/>
          </a:prstGeom>
          <a:noFill/>
          <a:ln/>
        </p:spPr>
        <p:txBody>
          <a:bodyPr wrap="square" lIns="0" tIns="0" rIns="0" bIns="0" rtlCol="0" anchor="t"/>
          <a:lstStyle/>
          <a:p>
            <a:pPr algn="l" indent="0" marL="0">
              <a:lnSpc>
                <a:spcPct val="100000"/>
              </a:lnSpc>
              <a:buNone/>
            </a:pPr>
            <a:r>
              <a:rPr lang="en-US" sz="1800" b="1" dirty="0">
                <a:solidFill>
                  <a:srgbClr val="F2B544"/>
                </a:solidFill>
                <a:latin typeface="Times New Roman" pitchFamily="34" charset="0"/>
                <a:ea typeface="Times New Roman" pitchFamily="34" charset="-122"/>
                <a:cs typeface="Times New Roman" pitchFamily="34" charset="-120"/>
              </a:rPr>
              <a:t>Real holat: SolarWinds, 2020</a:t>
            </a:r>
            <a:endParaRPr lang="en-US" sz="1800" dirty="0"/>
          </a:p>
        </p:txBody>
      </p:sp>
      <p:sp>
        <p:nvSpPr>
          <p:cNvPr id="22" name="Text 20"/>
          <p:cNvSpPr txBox="1"/>
          <p:nvPr/>
        </p:nvSpPr>
        <p:spPr>
          <a:xfrm>
            <a:off x="7406640" y="2377440"/>
            <a:ext cx="4023360" cy="2423160"/>
          </a:xfrm>
          <a:prstGeom prst="rect">
            <a:avLst/>
          </a:prstGeom>
          <a:noFill/>
          <a:ln/>
        </p:spPr>
        <p:txBody>
          <a:bodyPr wrap="square" lIns="0" tIns="0" rIns="0" bIns="0" rtlCol="0" anchor="t"/>
          <a:lstStyle/>
          <a:p>
            <a:pPr algn="l" indent="0" marL="0">
              <a:lnSpc>
                <a:spcPct val="105000"/>
              </a:lnSpc>
              <a:buNone/>
            </a:pPr>
            <a:r>
              <a:rPr lang="en-US" sz="1600" dirty="0">
                <a:solidFill>
                  <a:srgbClr val="FFFFFF"/>
                </a:solidFill>
                <a:latin typeface="Times New Roman" pitchFamily="34" charset="0"/>
                <a:ea typeface="Times New Roman" pitchFamily="34" charset="-122"/>
                <a:cs typeface="Times New Roman" pitchFamily="34" charset="-120"/>
              </a:rPr>
              <a:t>Hujumchilar zararlangan yangilanish orqali tarmoqlarga kirib, AD FS imzolash kalitlarini qo'lga kiritgan va Microsoft 365 dagi pochtalarga soxta tasdiqnomalar bilan kirgan. CISA bu usulni alohida ogohlantirishlarda tavsiflagan.</a:t>
            </a:r>
            <a:endParaRPr lang="en-US" sz="1600" dirty="0"/>
          </a:p>
        </p:txBody>
      </p:sp>
      <p:sp>
        <p:nvSpPr>
          <p:cNvPr id="23" name="Shape 21"/>
          <p:cNvSpPr/>
          <p:nvPr/>
        </p:nvSpPr>
        <p:spPr>
          <a:xfrm>
            <a:off x="548640" y="5074920"/>
            <a:ext cx="11064240" cy="1143000"/>
          </a:xfrm>
          <a:prstGeom prst="roundRect">
            <a:avLst>
              <a:gd name="adj" fmla="val 7200"/>
            </a:avLst>
          </a:prstGeom>
          <a:solidFill>
            <a:srgbClr val="E8F3EC"/>
          </a:solidFill>
          <a:ln/>
        </p:spPr>
      </p:sp>
      <p:sp>
        <p:nvSpPr>
          <p:cNvPr id="24" name="Text 22"/>
          <p:cNvSpPr txBox="1"/>
          <p:nvPr/>
        </p:nvSpPr>
        <p:spPr>
          <a:xfrm>
            <a:off x="777240" y="5138928"/>
            <a:ext cx="2743200" cy="365760"/>
          </a:xfrm>
          <a:prstGeom prst="rect">
            <a:avLst/>
          </a:prstGeom>
          <a:noFill/>
          <a:ln/>
        </p:spPr>
        <p:txBody>
          <a:bodyPr wrap="square" lIns="0" tIns="0" rIns="0" bIns="0" rtlCol="0" anchor="t"/>
          <a:lstStyle/>
          <a:p>
            <a:pPr algn="l" indent="0" marL="0">
              <a:lnSpc>
                <a:spcPct val="100000"/>
              </a:lnSpc>
              <a:buNone/>
            </a:pPr>
            <a:r>
              <a:rPr lang="en-US" sz="1600" b="1" dirty="0">
                <a:solidFill>
                  <a:srgbClr val="1F6B4A"/>
                </a:solidFill>
                <a:latin typeface="Times New Roman" pitchFamily="34" charset="0"/>
                <a:ea typeface="Times New Roman" pitchFamily="34" charset="-122"/>
                <a:cs typeface="Times New Roman" pitchFamily="34" charset="-120"/>
              </a:rPr>
              <a:t>Himoya</a:t>
            </a:r>
            <a:endParaRPr lang="en-US" sz="1600" dirty="0"/>
          </a:p>
        </p:txBody>
      </p:sp>
      <p:sp>
        <p:nvSpPr>
          <p:cNvPr id="25" name="Text 23"/>
          <p:cNvSpPr txBox="1"/>
          <p:nvPr/>
        </p:nvSpPr>
        <p:spPr>
          <a:xfrm>
            <a:off x="777240" y="5486400"/>
            <a:ext cx="10698480" cy="731520"/>
          </a:xfrm>
          <a:prstGeom prst="rect">
            <a:avLst/>
          </a:prstGeom>
          <a:noFill/>
          <a:ln/>
        </p:spPr>
        <p:txBody>
          <a:bodyPr wrap="square" lIns="0" tIns="0" rIns="0" bIns="0" rtlCol="0" anchor="ctr"/>
          <a:lstStyle/>
          <a:p>
            <a:pPr marL="342900" indent="-342900">
              <a:spcAft>
                <a:spcPts val="200"/>
              </a:spcAft>
              <a:buSzPct val="100000"/>
              <a:buChar char="•"/>
            </a:pPr>
            <a:r>
              <a:rPr lang="en-US" sz="1500" dirty="0">
                <a:solidFill>
                  <a:srgbClr val="1B1B2A"/>
                </a:solidFill>
                <a:latin typeface="Times New Roman" pitchFamily="34" charset="0"/>
                <a:ea typeface="Times New Roman" pitchFamily="34" charset="-122"/>
                <a:cs typeface="Times New Roman" pitchFamily="34" charset="-120"/>
              </a:rPr>
              <a:t>AD FS — domen kontrolleri kabi Tier 0: alohida ma'murlar, alohida ishchi stansiyalar</a:t>
            </a:r>
            <a:endParaRPr lang="en-US" sz="1500" dirty="0"/>
          </a:p>
          <a:p>
            <a:pPr marL="342900" indent="-342900">
              <a:spcAft>
                <a:spcPts val="200"/>
              </a:spcAft>
              <a:buSzPct val="100000"/>
              <a:buChar char="•"/>
            </a:pPr>
            <a:r>
              <a:rPr lang="en-US" sz="1500" dirty="0">
                <a:solidFill>
                  <a:srgbClr val="1B1B2A"/>
                </a:solidFill>
                <a:latin typeface="Times New Roman" pitchFamily="34" charset="0"/>
                <a:ea typeface="Times New Roman" pitchFamily="34" charset="-122"/>
                <a:cs typeface="Times New Roman" pitchFamily="34" charset="-120"/>
              </a:rPr>
              <a:t>Kalit HSM da; sertifikatni almashtirish; AD FS jurnallarini IdP bilan solishtirish (IdP da kirish yo'q, SP da bor)</a:t>
            </a:r>
            <a:endParaRPr lang="en-US" sz="1500" dirty="0"/>
          </a:p>
        </p:txBody>
      </p:sp>
      <p:sp>
        <p:nvSpPr>
          <p:cNvPr id="26" name="Text 24"/>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7-ma'ruza</a:t>
            </a:r>
            <a:endParaRPr lang="en-US" sz="1100" dirty="0"/>
          </a:p>
        </p:txBody>
      </p:sp>
      <p:sp>
        <p:nvSpPr>
          <p:cNvPr id="27" name="Text 25"/>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III · MICROSOFT ENTRA ID</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AD FS dan bulut IdP ga: Microsoft tavsiyasi</a:t>
            </a:r>
            <a:endParaRPr lang="en-US" sz="3600" dirty="0"/>
          </a:p>
        </p:txBody>
      </p:sp>
      <p:sp>
        <p:nvSpPr>
          <p:cNvPr id="4" name="Shape 2"/>
          <p:cNvSpPr/>
          <p:nvPr/>
        </p:nvSpPr>
        <p:spPr>
          <a:xfrm>
            <a:off x="2926080" y="1783080"/>
            <a:ext cx="4297680" cy="548640"/>
          </a:xfrm>
          <a:prstGeom prst="roundRect">
            <a:avLst>
              <a:gd name="adj" fmla="val 6667"/>
            </a:avLst>
          </a:prstGeom>
          <a:solidFill>
            <a:srgbClr val="2A3778"/>
          </a:solidFill>
          <a:ln/>
        </p:spPr>
      </p:sp>
      <p:sp>
        <p:nvSpPr>
          <p:cNvPr id="5" name="Text 3"/>
          <p:cNvSpPr txBox="1"/>
          <p:nvPr/>
        </p:nvSpPr>
        <p:spPr>
          <a:xfrm>
            <a:off x="2926080" y="1783080"/>
            <a:ext cx="4297680" cy="54864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AD FS</a:t>
            </a:r>
            <a:endParaRPr lang="en-US" sz="1800" dirty="0"/>
          </a:p>
        </p:txBody>
      </p:sp>
      <p:sp>
        <p:nvSpPr>
          <p:cNvPr id="6" name="Shape 4"/>
          <p:cNvSpPr/>
          <p:nvPr/>
        </p:nvSpPr>
        <p:spPr>
          <a:xfrm>
            <a:off x="7269480" y="1783080"/>
            <a:ext cx="4297680" cy="548640"/>
          </a:xfrm>
          <a:prstGeom prst="roundRect">
            <a:avLst>
              <a:gd name="adj" fmla="val 6667"/>
            </a:avLst>
          </a:prstGeom>
          <a:solidFill>
            <a:srgbClr val="1F6B4A"/>
          </a:solidFill>
          <a:ln/>
        </p:spPr>
      </p:sp>
      <p:sp>
        <p:nvSpPr>
          <p:cNvPr id="7" name="Text 5"/>
          <p:cNvSpPr txBox="1"/>
          <p:nvPr/>
        </p:nvSpPr>
        <p:spPr>
          <a:xfrm>
            <a:off x="7269480" y="1783080"/>
            <a:ext cx="4297680" cy="54864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Microsoft Entra ID</a:t>
            </a:r>
            <a:endParaRPr lang="en-US" sz="1800" dirty="0"/>
          </a:p>
        </p:txBody>
      </p:sp>
      <p:sp>
        <p:nvSpPr>
          <p:cNvPr id="8" name="Shape 6"/>
          <p:cNvSpPr/>
          <p:nvPr/>
        </p:nvSpPr>
        <p:spPr>
          <a:xfrm>
            <a:off x="548640" y="2404872"/>
            <a:ext cx="2331720" cy="566928"/>
          </a:xfrm>
          <a:prstGeom prst="roundRect">
            <a:avLst>
              <a:gd name="adj" fmla="val 6452"/>
            </a:avLst>
          </a:prstGeom>
          <a:solidFill>
            <a:srgbClr val="2A3778"/>
          </a:solidFill>
          <a:ln/>
        </p:spPr>
      </p:sp>
      <p:sp>
        <p:nvSpPr>
          <p:cNvPr id="9" name="Text 7"/>
          <p:cNvSpPr txBox="1"/>
          <p:nvPr/>
        </p:nvSpPr>
        <p:spPr>
          <a:xfrm>
            <a:off x="685800" y="2404872"/>
            <a:ext cx="2103120" cy="566928"/>
          </a:xfrm>
          <a:prstGeom prst="rect">
            <a:avLst/>
          </a:prstGeom>
          <a:noFill/>
          <a:ln/>
        </p:spPr>
        <p:txBody>
          <a:bodyPr wrap="square" lIns="0" tIns="0" rIns="0" bIns="0" rtlCol="0" anchor="ctr"/>
          <a:lstStyle/>
          <a:p>
            <a:pPr algn="l"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Infratuzilma</a:t>
            </a:r>
            <a:endParaRPr lang="en-US" sz="1600" dirty="0"/>
          </a:p>
        </p:txBody>
      </p:sp>
      <p:sp>
        <p:nvSpPr>
          <p:cNvPr id="10" name="Shape 8"/>
          <p:cNvSpPr/>
          <p:nvPr/>
        </p:nvSpPr>
        <p:spPr>
          <a:xfrm>
            <a:off x="2926080" y="2404872"/>
            <a:ext cx="4297680" cy="566928"/>
          </a:xfrm>
          <a:prstGeom prst="roundRect">
            <a:avLst>
              <a:gd name="adj" fmla="val 6452"/>
            </a:avLst>
          </a:prstGeom>
          <a:solidFill>
            <a:srgbClr val="EEF2FB"/>
          </a:solidFill>
          <a:ln/>
        </p:spPr>
      </p:sp>
      <p:sp>
        <p:nvSpPr>
          <p:cNvPr id="11" name="Text 9"/>
          <p:cNvSpPr txBox="1"/>
          <p:nvPr/>
        </p:nvSpPr>
        <p:spPr>
          <a:xfrm>
            <a:off x="3063240" y="2404872"/>
            <a:ext cx="4069080" cy="566928"/>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O'z serverlaringiz, WAP, sertifikatlar</a:t>
            </a:r>
            <a:endParaRPr lang="en-US" sz="1600" dirty="0"/>
          </a:p>
        </p:txBody>
      </p:sp>
      <p:sp>
        <p:nvSpPr>
          <p:cNvPr id="12" name="Shape 10"/>
          <p:cNvSpPr/>
          <p:nvPr/>
        </p:nvSpPr>
        <p:spPr>
          <a:xfrm>
            <a:off x="7269480" y="2404872"/>
            <a:ext cx="4297680" cy="566928"/>
          </a:xfrm>
          <a:prstGeom prst="roundRect">
            <a:avLst>
              <a:gd name="adj" fmla="val 6452"/>
            </a:avLst>
          </a:prstGeom>
          <a:solidFill>
            <a:srgbClr val="E8F3EC"/>
          </a:solidFill>
          <a:ln/>
        </p:spPr>
      </p:sp>
      <p:sp>
        <p:nvSpPr>
          <p:cNvPr id="13" name="Text 11"/>
          <p:cNvSpPr txBox="1"/>
          <p:nvPr/>
        </p:nvSpPr>
        <p:spPr>
          <a:xfrm>
            <a:off x="7406640" y="2404872"/>
            <a:ext cx="4069080" cy="566928"/>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Microsoft boshqaradi</a:t>
            </a:r>
            <a:endParaRPr lang="en-US" sz="1600" dirty="0"/>
          </a:p>
        </p:txBody>
      </p:sp>
      <p:sp>
        <p:nvSpPr>
          <p:cNvPr id="14" name="Shape 12"/>
          <p:cNvSpPr/>
          <p:nvPr/>
        </p:nvSpPr>
        <p:spPr>
          <a:xfrm>
            <a:off x="548640" y="3044952"/>
            <a:ext cx="2331720" cy="566928"/>
          </a:xfrm>
          <a:prstGeom prst="roundRect">
            <a:avLst>
              <a:gd name="adj" fmla="val 6452"/>
            </a:avLst>
          </a:prstGeom>
          <a:solidFill>
            <a:srgbClr val="2A3778"/>
          </a:solidFill>
          <a:ln/>
        </p:spPr>
      </p:sp>
      <p:sp>
        <p:nvSpPr>
          <p:cNvPr id="15" name="Text 13"/>
          <p:cNvSpPr txBox="1"/>
          <p:nvPr/>
        </p:nvSpPr>
        <p:spPr>
          <a:xfrm>
            <a:off x="685800" y="3044952"/>
            <a:ext cx="2103120" cy="566928"/>
          </a:xfrm>
          <a:prstGeom prst="rect">
            <a:avLst/>
          </a:prstGeom>
          <a:noFill/>
          <a:ln/>
        </p:spPr>
        <p:txBody>
          <a:bodyPr wrap="square" lIns="0" tIns="0" rIns="0" bIns="0" rtlCol="0" anchor="ctr"/>
          <a:lstStyle/>
          <a:p>
            <a:pPr algn="l"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Ilovalar</a:t>
            </a:r>
            <a:endParaRPr lang="en-US" sz="1600" dirty="0"/>
          </a:p>
        </p:txBody>
      </p:sp>
      <p:sp>
        <p:nvSpPr>
          <p:cNvPr id="16" name="Shape 14"/>
          <p:cNvSpPr/>
          <p:nvPr/>
        </p:nvSpPr>
        <p:spPr>
          <a:xfrm>
            <a:off x="2926080" y="3044952"/>
            <a:ext cx="4297680" cy="566928"/>
          </a:xfrm>
          <a:prstGeom prst="roundRect">
            <a:avLst>
              <a:gd name="adj" fmla="val 6452"/>
            </a:avLst>
          </a:prstGeom>
          <a:solidFill>
            <a:srgbClr val="FFFFFF"/>
          </a:solidFill>
          <a:ln w="12700">
            <a:solidFill>
              <a:srgbClr val="CADCFC"/>
            </a:solidFill>
            <a:prstDash val="solid"/>
          </a:ln>
        </p:spPr>
      </p:sp>
      <p:sp>
        <p:nvSpPr>
          <p:cNvPr id="17" name="Text 15"/>
          <p:cNvSpPr txBox="1"/>
          <p:nvPr/>
        </p:nvSpPr>
        <p:spPr>
          <a:xfrm>
            <a:off x="3063240" y="3044952"/>
            <a:ext cx="4069080" cy="566928"/>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Har biriga relying party trust</a:t>
            </a:r>
            <a:endParaRPr lang="en-US" sz="1600" dirty="0"/>
          </a:p>
        </p:txBody>
      </p:sp>
      <p:sp>
        <p:nvSpPr>
          <p:cNvPr id="18" name="Shape 16"/>
          <p:cNvSpPr/>
          <p:nvPr/>
        </p:nvSpPr>
        <p:spPr>
          <a:xfrm>
            <a:off x="7269480" y="3044952"/>
            <a:ext cx="4297680" cy="566928"/>
          </a:xfrm>
          <a:prstGeom prst="roundRect">
            <a:avLst>
              <a:gd name="adj" fmla="val 6452"/>
            </a:avLst>
          </a:prstGeom>
          <a:solidFill>
            <a:srgbClr val="FFFFFF"/>
          </a:solidFill>
          <a:ln w="12700">
            <a:solidFill>
              <a:srgbClr val="CADCFC"/>
            </a:solidFill>
            <a:prstDash val="solid"/>
          </a:ln>
        </p:spPr>
      </p:sp>
      <p:sp>
        <p:nvSpPr>
          <p:cNvPr id="19" name="Text 17"/>
          <p:cNvSpPr txBox="1"/>
          <p:nvPr/>
        </p:nvSpPr>
        <p:spPr>
          <a:xfrm>
            <a:off x="7406640" y="3044952"/>
            <a:ext cx="4069080" cy="566928"/>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Tayyor galereya: SAML va OIDC</a:t>
            </a:r>
            <a:endParaRPr lang="en-US" sz="1600" dirty="0"/>
          </a:p>
        </p:txBody>
      </p:sp>
      <p:sp>
        <p:nvSpPr>
          <p:cNvPr id="20" name="Shape 18"/>
          <p:cNvSpPr/>
          <p:nvPr/>
        </p:nvSpPr>
        <p:spPr>
          <a:xfrm>
            <a:off x="548640" y="3685032"/>
            <a:ext cx="2331720" cy="566928"/>
          </a:xfrm>
          <a:prstGeom prst="roundRect">
            <a:avLst>
              <a:gd name="adj" fmla="val 6452"/>
            </a:avLst>
          </a:prstGeom>
          <a:solidFill>
            <a:srgbClr val="2A3778"/>
          </a:solidFill>
          <a:ln/>
        </p:spPr>
      </p:sp>
      <p:sp>
        <p:nvSpPr>
          <p:cNvPr id="21" name="Text 19"/>
          <p:cNvSpPr txBox="1"/>
          <p:nvPr/>
        </p:nvSpPr>
        <p:spPr>
          <a:xfrm>
            <a:off x="685800" y="3685032"/>
            <a:ext cx="2103120" cy="566928"/>
          </a:xfrm>
          <a:prstGeom prst="rect">
            <a:avLst/>
          </a:prstGeom>
          <a:noFill/>
          <a:ln/>
        </p:spPr>
        <p:txBody>
          <a:bodyPr wrap="square" lIns="0" tIns="0" rIns="0" bIns="0" rtlCol="0" anchor="ctr"/>
          <a:lstStyle/>
          <a:p>
            <a:pPr algn="l"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Kirish siyosati</a:t>
            </a:r>
            <a:endParaRPr lang="en-US" sz="1600" dirty="0"/>
          </a:p>
        </p:txBody>
      </p:sp>
      <p:sp>
        <p:nvSpPr>
          <p:cNvPr id="22" name="Shape 20"/>
          <p:cNvSpPr/>
          <p:nvPr/>
        </p:nvSpPr>
        <p:spPr>
          <a:xfrm>
            <a:off x="2926080" y="3685032"/>
            <a:ext cx="4297680" cy="566928"/>
          </a:xfrm>
          <a:prstGeom prst="roundRect">
            <a:avLst>
              <a:gd name="adj" fmla="val 6452"/>
            </a:avLst>
          </a:prstGeom>
          <a:solidFill>
            <a:srgbClr val="EEF2FB"/>
          </a:solidFill>
          <a:ln/>
        </p:spPr>
      </p:sp>
      <p:sp>
        <p:nvSpPr>
          <p:cNvPr id="23" name="Text 21"/>
          <p:cNvSpPr txBox="1"/>
          <p:nvPr/>
        </p:nvSpPr>
        <p:spPr>
          <a:xfrm>
            <a:off x="3063240" y="3685032"/>
            <a:ext cx="4069080" cy="566928"/>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Da'vo qoidalari</a:t>
            </a:r>
            <a:endParaRPr lang="en-US" sz="1600" dirty="0"/>
          </a:p>
        </p:txBody>
      </p:sp>
      <p:sp>
        <p:nvSpPr>
          <p:cNvPr id="24" name="Shape 22"/>
          <p:cNvSpPr/>
          <p:nvPr/>
        </p:nvSpPr>
        <p:spPr>
          <a:xfrm>
            <a:off x="7269480" y="3685032"/>
            <a:ext cx="4297680" cy="566928"/>
          </a:xfrm>
          <a:prstGeom prst="roundRect">
            <a:avLst>
              <a:gd name="adj" fmla="val 6452"/>
            </a:avLst>
          </a:prstGeom>
          <a:solidFill>
            <a:srgbClr val="E8F3EC"/>
          </a:solidFill>
          <a:ln/>
        </p:spPr>
      </p:sp>
      <p:sp>
        <p:nvSpPr>
          <p:cNvPr id="25" name="Text 23"/>
          <p:cNvSpPr txBox="1"/>
          <p:nvPr/>
        </p:nvSpPr>
        <p:spPr>
          <a:xfrm>
            <a:off x="7406640" y="3685032"/>
            <a:ext cx="4069080" cy="566928"/>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Shartli kirish: har ilova uchun MFA, qurilma holati</a:t>
            </a:r>
            <a:endParaRPr lang="en-US" sz="1600" dirty="0"/>
          </a:p>
        </p:txBody>
      </p:sp>
      <p:sp>
        <p:nvSpPr>
          <p:cNvPr id="26" name="Shape 24"/>
          <p:cNvSpPr/>
          <p:nvPr/>
        </p:nvSpPr>
        <p:spPr>
          <a:xfrm>
            <a:off x="548640" y="4325112"/>
            <a:ext cx="2331720" cy="566928"/>
          </a:xfrm>
          <a:prstGeom prst="roundRect">
            <a:avLst>
              <a:gd name="adj" fmla="val 6452"/>
            </a:avLst>
          </a:prstGeom>
          <a:solidFill>
            <a:srgbClr val="2A3778"/>
          </a:solidFill>
          <a:ln/>
        </p:spPr>
      </p:sp>
      <p:sp>
        <p:nvSpPr>
          <p:cNvPr id="27" name="Text 25"/>
          <p:cNvSpPr txBox="1"/>
          <p:nvPr/>
        </p:nvSpPr>
        <p:spPr>
          <a:xfrm>
            <a:off x="685800" y="4325112"/>
            <a:ext cx="2103120" cy="566928"/>
          </a:xfrm>
          <a:prstGeom prst="rect">
            <a:avLst/>
          </a:prstGeom>
          <a:noFill/>
          <a:ln/>
        </p:spPr>
        <p:txBody>
          <a:bodyPr wrap="square" lIns="0" tIns="0" rIns="0" bIns="0" rtlCol="0" anchor="ctr"/>
          <a:lstStyle/>
          <a:p>
            <a:pPr algn="l"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Golden SAML xavfi</a:t>
            </a:r>
            <a:endParaRPr lang="en-US" sz="1600" dirty="0"/>
          </a:p>
        </p:txBody>
      </p:sp>
      <p:sp>
        <p:nvSpPr>
          <p:cNvPr id="28" name="Shape 26"/>
          <p:cNvSpPr/>
          <p:nvPr/>
        </p:nvSpPr>
        <p:spPr>
          <a:xfrm>
            <a:off x="2926080" y="4325112"/>
            <a:ext cx="4297680" cy="566928"/>
          </a:xfrm>
          <a:prstGeom prst="roundRect">
            <a:avLst>
              <a:gd name="adj" fmla="val 6452"/>
            </a:avLst>
          </a:prstGeom>
          <a:solidFill>
            <a:srgbClr val="FFFFFF"/>
          </a:solidFill>
          <a:ln w="12700">
            <a:solidFill>
              <a:srgbClr val="CADCFC"/>
            </a:solidFill>
            <a:prstDash val="solid"/>
          </a:ln>
        </p:spPr>
      </p:sp>
      <p:sp>
        <p:nvSpPr>
          <p:cNvPr id="29" name="Text 27"/>
          <p:cNvSpPr txBox="1"/>
          <p:nvPr/>
        </p:nvSpPr>
        <p:spPr>
          <a:xfrm>
            <a:off x="3063240" y="4325112"/>
            <a:ext cx="4069080" cy="566928"/>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Kalit sizning serveringizda</a:t>
            </a:r>
            <a:endParaRPr lang="en-US" sz="1600" dirty="0"/>
          </a:p>
        </p:txBody>
      </p:sp>
      <p:sp>
        <p:nvSpPr>
          <p:cNvPr id="30" name="Shape 28"/>
          <p:cNvSpPr/>
          <p:nvPr/>
        </p:nvSpPr>
        <p:spPr>
          <a:xfrm>
            <a:off x="7269480" y="4325112"/>
            <a:ext cx="4297680" cy="566928"/>
          </a:xfrm>
          <a:prstGeom prst="roundRect">
            <a:avLst>
              <a:gd name="adj" fmla="val 6452"/>
            </a:avLst>
          </a:prstGeom>
          <a:solidFill>
            <a:srgbClr val="FFFFFF"/>
          </a:solidFill>
          <a:ln w="12700">
            <a:solidFill>
              <a:srgbClr val="CADCFC"/>
            </a:solidFill>
            <a:prstDash val="solid"/>
          </a:ln>
        </p:spPr>
      </p:sp>
      <p:sp>
        <p:nvSpPr>
          <p:cNvPr id="31" name="Text 29"/>
          <p:cNvSpPr txBox="1"/>
          <p:nvPr/>
        </p:nvSpPr>
        <p:spPr>
          <a:xfrm>
            <a:off x="7406640" y="4325112"/>
            <a:ext cx="4069080" cy="566928"/>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Kalitni Microsoft himoyalaydi</a:t>
            </a:r>
            <a:endParaRPr lang="en-US" sz="1600" dirty="0"/>
          </a:p>
        </p:txBody>
      </p:sp>
      <p:sp>
        <p:nvSpPr>
          <p:cNvPr id="32" name="Shape 30"/>
          <p:cNvSpPr/>
          <p:nvPr/>
        </p:nvSpPr>
        <p:spPr>
          <a:xfrm>
            <a:off x="548640" y="4965192"/>
            <a:ext cx="2331720" cy="566928"/>
          </a:xfrm>
          <a:prstGeom prst="roundRect">
            <a:avLst>
              <a:gd name="adj" fmla="val 6452"/>
            </a:avLst>
          </a:prstGeom>
          <a:solidFill>
            <a:srgbClr val="2A3778"/>
          </a:solidFill>
          <a:ln/>
        </p:spPr>
      </p:sp>
      <p:sp>
        <p:nvSpPr>
          <p:cNvPr id="33" name="Text 31"/>
          <p:cNvSpPr txBox="1"/>
          <p:nvPr/>
        </p:nvSpPr>
        <p:spPr>
          <a:xfrm>
            <a:off x="685800" y="4965192"/>
            <a:ext cx="2103120" cy="566928"/>
          </a:xfrm>
          <a:prstGeom prst="rect">
            <a:avLst/>
          </a:prstGeom>
          <a:noFill/>
          <a:ln/>
        </p:spPr>
        <p:txBody>
          <a:bodyPr wrap="square" lIns="0" tIns="0" rIns="0" bIns="0" rtlCol="0" anchor="ctr"/>
          <a:lstStyle/>
          <a:p>
            <a:pPr algn="l"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Windows bilan</a:t>
            </a:r>
            <a:endParaRPr lang="en-US" sz="1600" dirty="0"/>
          </a:p>
        </p:txBody>
      </p:sp>
      <p:sp>
        <p:nvSpPr>
          <p:cNvPr id="34" name="Shape 32"/>
          <p:cNvSpPr/>
          <p:nvPr/>
        </p:nvSpPr>
        <p:spPr>
          <a:xfrm>
            <a:off x="2926080" y="4965192"/>
            <a:ext cx="4297680" cy="566928"/>
          </a:xfrm>
          <a:prstGeom prst="roundRect">
            <a:avLst>
              <a:gd name="adj" fmla="val 6452"/>
            </a:avLst>
          </a:prstGeom>
          <a:solidFill>
            <a:srgbClr val="EEF2FB"/>
          </a:solidFill>
          <a:ln/>
        </p:spPr>
      </p:sp>
      <p:sp>
        <p:nvSpPr>
          <p:cNvPr id="35" name="Text 33"/>
          <p:cNvSpPr txBox="1"/>
          <p:nvPr/>
        </p:nvSpPr>
        <p:spPr>
          <a:xfrm>
            <a:off x="3063240" y="4965192"/>
            <a:ext cx="4069080" cy="566928"/>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Domen foydalanuvchilari</a:t>
            </a:r>
            <a:endParaRPr lang="en-US" sz="1600" dirty="0"/>
          </a:p>
        </p:txBody>
      </p:sp>
      <p:sp>
        <p:nvSpPr>
          <p:cNvPr id="36" name="Shape 34"/>
          <p:cNvSpPr/>
          <p:nvPr/>
        </p:nvSpPr>
        <p:spPr>
          <a:xfrm>
            <a:off x="7269480" y="4965192"/>
            <a:ext cx="4297680" cy="566928"/>
          </a:xfrm>
          <a:prstGeom prst="roundRect">
            <a:avLst>
              <a:gd name="adj" fmla="val 6452"/>
            </a:avLst>
          </a:prstGeom>
          <a:solidFill>
            <a:srgbClr val="E8F3EC"/>
          </a:solidFill>
          <a:ln/>
        </p:spPr>
      </p:sp>
      <p:sp>
        <p:nvSpPr>
          <p:cNvPr id="37" name="Text 35"/>
          <p:cNvSpPr txBox="1"/>
          <p:nvPr/>
        </p:nvSpPr>
        <p:spPr>
          <a:xfrm>
            <a:off x="7406640" y="4965192"/>
            <a:ext cx="4069080" cy="566928"/>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PRT, Windows Hello, passkey</a:t>
            </a:r>
            <a:endParaRPr lang="en-US" sz="1600" dirty="0"/>
          </a:p>
        </p:txBody>
      </p:sp>
      <p:sp>
        <p:nvSpPr>
          <p:cNvPr id="38" name="Shape 36"/>
          <p:cNvSpPr/>
          <p:nvPr/>
        </p:nvSpPr>
        <p:spPr>
          <a:xfrm>
            <a:off x="548640" y="5669280"/>
            <a:ext cx="11064240" cy="594360"/>
          </a:xfrm>
          <a:prstGeom prst="roundRect">
            <a:avLst>
              <a:gd name="adj" fmla="val 13846"/>
            </a:avLst>
          </a:prstGeom>
          <a:solidFill>
            <a:srgbClr val="CADCFC"/>
          </a:solidFill>
          <a:ln/>
        </p:spPr>
      </p:sp>
      <p:sp>
        <p:nvSpPr>
          <p:cNvPr id="39" name="Text 37"/>
          <p:cNvSpPr txBox="1"/>
          <p:nvPr/>
        </p:nvSpPr>
        <p:spPr>
          <a:xfrm>
            <a:off x="822960" y="5669280"/>
            <a:ext cx="10515600" cy="594360"/>
          </a:xfrm>
          <a:prstGeom prst="rect">
            <a:avLst/>
          </a:prstGeom>
          <a:noFill/>
          <a:ln/>
        </p:spPr>
        <p:txBody>
          <a:bodyPr wrap="square" lIns="0" tIns="0" rIns="0" bIns="0" rtlCol="0" anchor="ctr"/>
          <a:lstStyle/>
          <a:p>
            <a:pPr algn="l" indent="0" marL="0">
              <a:lnSpc>
                <a:spcPct val="100000"/>
              </a:lnSpc>
              <a:buNone/>
            </a:pPr>
            <a:r>
              <a:rPr lang="en-US" sz="1600" dirty="0">
                <a:solidFill>
                  <a:srgbClr val="1E2761"/>
                </a:solidFill>
                <a:latin typeface="Times New Roman" pitchFamily="34" charset="0"/>
                <a:ea typeface="Times New Roman" pitchFamily="34" charset="-122"/>
                <a:cs typeface="Times New Roman" pitchFamily="34" charset="-120"/>
              </a:rPr>
              <a:t>Microsoft ilovalarni AD FS dan Entra ID ga ko'chirishni tavsiya qiladi va buning uchun rasmiy yo'riqnoma beradi.</a:t>
            </a:r>
            <a:endParaRPr lang="en-US" sz="1600" dirty="0"/>
          </a:p>
        </p:txBody>
      </p:sp>
      <p:sp>
        <p:nvSpPr>
          <p:cNvPr id="40" name="Text 38"/>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7-ma'ruza</a:t>
            </a:r>
            <a:endParaRPr lang="en-US" sz="1100" dirty="0"/>
          </a:p>
        </p:txBody>
      </p:sp>
      <p:sp>
        <p:nvSpPr>
          <p:cNvPr id="41" name="Text 39"/>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JONLI NAMOYISH · 10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SAML javobini o'z ko'zimiz bilan ko'ramiz</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terminal_white.png"/>
          <p:cNvPicPr>
            <a:picLocks noChangeAspect="1"/>
          </p:cNvPicPr>
          <p:nvPr/>
        </p:nvPicPr>
        <p:blipFill>
          <a:blip r:embed="rId1"/>
          <a:stretch>
            <a:fillRect/>
          </a:stretch>
        </p:blipFill>
        <p:spPr>
          <a:xfrm>
            <a:off x="10978744" y="646024"/>
            <a:ext cx="399593" cy="399593"/>
          </a:xfrm>
          <a:prstGeom prst="rect">
            <a:avLst/>
          </a:prstGeom>
        </p:spPr>
      </p:pic>
      <p:sp>
        <p:nvSpPr>
          <p:cNvPr id="6" name="Shape 3"/>
          <p:cNvSpPr/>
          <p:nvPr/>
        </p:nvSpPr>
        <p:spPr>
          <a:xfrm>
            <a:off x="548640" y="1783080"/>
            <a:ext cx="5029200" cy="685800"/>
          </a:xfrm>
          <a:prstGeom prst="roundRect">
            <a:avLst>
              <a:gd name="adj" fmla="val 12000"/>
            </a:avLst>
          </a:prstGeom>
          <a:solidFill>
            <a:srgbClr val="FFFFFF"/>
          </a:solidFill>
          <a:ln/>
        </p:spPr>
      </p:sp>
      <p:sp>
        <p:nvSpPr>
          <p:cNvPr id="7" name="Shape 4"/>
          <p:cNvSpPr/>
          <p:nvPr/>
        </p:nvSpPr>
        <p:spPr>
          <a:xfrm>
            <a:off x="548640" y="1783080"/>
            <a:ext cx="502920" cy="685800"/>
          </a:xfrm>
          <a:prstGeom prst="roundRect">
            <a:avLst>
              <a:gd name="adj" fmla="val 16364"/>
            </a:avLst>
          </a:prstGeom>
          <a:solidFill>
            <a:srgbClr val="D9932B"/>
          </a:solidFill>
          <a:ln/>
        </p:spPr>
      </p:sp>
      <p:sp>
        <p:nvSpPr>
          <p:cNvPr id="8" name="Text 5"/>
          <p:cNvSpPr txBox="1"/>
          <p:nvPr/>
        </p:nvSpPr>
        <p:spPr>
          <a:xfrm>
            <a:off x="548640" y="1783080"/>
            <a:ext cx="502920" cy="68580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1</a:t>
            </a:r>
            <a:endParaRPr lang="en-US" sz="1800" dirty="0"/>
          </a:p>
        </p:txBody>
      </p:sp>
      <p:sp>
        <p:nvSpPr>
          <p:cNvPr id="9" name="Text 6"/>
          <p:cNvSpPr txBox="1"/>
          <p:nvPr/>
        </p:nvSpPr>
        <p:spPr>
          <a:xfrm>
            <a:off x="1188720" y="1783080"/>
            <a:ext cx="4297680" cy="685800"/>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Brauzerga SAML-tracer kengaytmasini o'rnating</a:t>
            </a:r>
            <a:endParaRPr lang="en-US" sz="1600" dirty="0"/>
          </a:p>
        </p:txBody>
      </p:sp>
      <p:sp>
        <p:nvSpPr>
          <p:cNvPr id="10" name="Shape 7"/>
          <p:cNvSpPr/>
          <p:nvPr/>
        </p:nvSpPr>
        <p:spPr>
          <a:xfrm>
            <a:off x="548640" y="2560320"/>
            <a:ext cx="5029200" cy="685800"/>
          </a:xfrm>
          <a:prstGeom prst="roundRect">
            <a:avLst>
              <a:gd name="adj" fmla="val 12000"/>
            </a:avLst>
          </a:prstGeom>
          <a:solidFill>
            <a:srgbClr val="FFFFFF"/>
          </a:solidFill>
          <a:ln/>
        </p:spPr>
      </p:sp>
      <p:sp>
        <p:nvSpPr>
          <p:cNvPr id="11" name="Shape 8"/>
          <p:cNvSpPr/>
          <p:nvPr/>
        </p:nvSpPr>
        <p:spPr>
          <a:xfrm>
            <a:off x="548640" y="2560320"/>
            <a:ext cx="502920" cy="685800"/>
          </a:xfrm>
          <a:prstGeom prst="roundRect">
            <a:avLst>
              <a:gd name="adj" fmla="val 16364"/>
            </a:avLst>
          </a:prstGeom>
          <a:solidFill>
            <a:srgbClr val="D9932B"/>
          </a:solidFill>
          <a:ln/>
        </p:spPr>
      </p:sp>
      <p:sp>
        <p:nvSpPr>
          <p:cNvPr id="12" name="Text 9"/>
          <p:cNvSpPr txBox="1"/>
          <p:nvPr/>
        </p:nvSpPr>
        <p:spPr>
          <a:xfrm>
            <a:off x="548640" y="2560320"/>
            <a:ext cx="502920" cy="68580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2</a:t>
            </a:r>
            <a:endParaRPr lang="en-US" sz="1800" dirty="0"/>
          </a:p>
        </p:txBody>
      </p:sp>
      <p:sp>
        <p:nvSpPr>
          <p:cNvPr id="13" name="Text 10"/>
          <p:cNvSpPr txBox="1"/>
          <p:nvPr/>
        </p:nvSpPr>
        <p:spPr>
          <a:xfrm>
            <a:off x="1188720" y="2560320"/>
            <a:ext cx="4297680" cy="685800"/>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SAML bilan ishlaydigan ilovaga kiring (A7: Keycloak sinov muhiti)</a:t>
            </a:r>
            <a:endParaRPr lang="en-US" sz="1600" dirty="0"/>
          </a:p>
        </p:txBody>
      </p:sp>
      <p:sp>
        <p:nvSpPr>
          <p:cNvPr id="14" name="Shape 11"/>
          <p:cNvSpPr/>
          <p:nvPr/>
        </p:nvSpPr>
        <p:spPr>
          <a:xfrm>
            <a:off x="548640" y="3337560"/>
            <a:ext cx="5029200" cy="685800"/>
          </a:xfrm>
          <a:prstGeom prst="roundRect">
            <a:avLst>
              <a:gd name="adj" fmla="val 12000"/>
            </a:avLst>
          </a:prstGeom>
          <a:solidFill>
            <a:srgbClr val="FFFFFF"/>
          </a:solidFill>
          <a:ln/>
        </p:spPr>
      </p:sp>
      <p:sp>
        <p:nvSpPr>
          <p:cNvPr id="15" name="Shape 12"/>
          <p:cNvSpPr/>
          <p:nvPr/>
        </p:nvSpPr>
        <p:spPr>
          <a:xfrm>
            <a:off x="548640" y="3337560"/>
            <a:ext cx="502920" cy="685800"/>
          </a:xfrm>
          <a:prstGeom prst="roundRect">
            <a:avLst>
              <a:gd name="adj" fmla="val 16364"/>
            </a:avLst>
          </a:prstGeom>
          <a:solidFill>
            <a:srgbClr val="D9932B"/>
          </a:solidFill>
          <a:ln/>
        </p:spPr>
      </p:sp>
      <p:sp>
        <p:nvSpPr>
          <p:cNvPr id="16" name="Text 13"/>
          <p:cNvSpPr txBox="1"/>
          <p:nvPr/>
        </p:nvSpPr>
        <p:spPr>
          <a:xfrm>
            <a:off x="548640" y="3337560"/>
            <a:ext cx="502920" cy="68580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3</a:t>
            </a:r>
            <a:endParaRPr lang="en-US" sz="1800" dirty="0"/>
          </a:p>
        </p:txBody>
      </p:sp>
      <p:sp>
        <p:nvSpPr>
          <p:cNvPr id="17" name="Text 14"/>
          <p:cNvSpPr txBox="1"/>
          <p:nvPr/>
        </p:nvSpPr>
        <p:spPr>
          <a:xfrm>
            <a:off x="1188720" y="3337560"/>
            <a:ext cx="4297680" cy="685800"/>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SAMLResponse ni nusxalab, PowerShell'da oching</a:t>
            </a:r>
            <a:endParaRPr lang="en-US" sz="1600" dirty="0"/>
          </a:p>
        </p:txBody>
      </p:sp>
      <p:sp>
        <p:nvSpPr>
          <p:cNvPr id="18" name="Shape 15"/>
          <p:cNvSpPr/>
          <p:nvPr/>
        </p:nvSpPr>
        <p:spPr>
          <a:xfrm>
            <a:off x="548640" y="4114800"/>
            <a:ext cx="5029200" cy="685800"/>
          </a:xfrm>
          <a:prstGeom prst="roundRect">
            <a:avLst>
              <a:gd name="adj" fmla="val 12000"/>
            </a:avLst>
          </a:prstGeom>
          <a:solidFill>
            <a:srgbClr val="FFFFFF"/>
          </a:solidFill>
          <a:ln/>
        </p:spPr>
      </p:sp>
      <p:sp>
        <p:nvSpPr>
          <p:cNvPr id="19" name="Shape 16"/>
          <p:cNvSpPr/>
          <p:nvPr/>
        </p:nvSpPr>
        <p:spPr>
          <a:xfrm>
            <a:off x="548640" y="4114800"/>
            <a:ext cx="502920" cy="685800"/>
          </a:xfrm>
          <a:prstGeom prst="roundRect">
            <a:avLst>
              <a:gd name="adj" fmla="val 16364"/>
            </a:avLst>
          </a:prstGeom>
          <a:solidFill>
            <a:srgbClr val="D9932B"/>
          </a:solidFill>
          <a:ln/>
        </p:spPr>
      </p:sp>
      <p:sp>
        <p:nvSpPr>
          <p:cNvPr id="20" name="Text 17"/>
          <p:cNvSpPr txBox="1"/>
          <p:nvPr/>
        </p:nvSpPr>
        <p:spPr>
          <a:xfrm>
            <a:off x="548640" y="4114800"/>
            <a:ext cx="502920" cy="68580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4</a:t>
            </a:r>
            <a:endParaRPr lang="en-US" sz="1800" dirty="0"/>
          </a:p>
        </p:txBody>
      </p:sp>
      <p:sp>
        <p:nvSpPr>
          <p:cNvPr id="21" name="Text 18"/>
          <p:cNvSpPr txBox="1"/>
          <p:nvPr/>
        </p:nvSpPr>
        <p:spPr>
          <a:xfrm>
            <a:off x="1188720" y="4114800"/>
            <a:ext cx="4297680" cy="685800"/>
          </a:xfrm>
          <a:prstGeom prst="rect">
            <a:avLst/>
          </a:prstGeom>
          <a:noFill/>
          <a:ln/>
        </p:spPr>
        <p:txBody>
          <a:bodyPr wrap="square" lIns="0" tIns="0" rIns="0" bIns="0" rtlCol="0" anchor="ctr"/>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Issuer, Audience, NotOnOrAfter va atributlarni toping</a:t>
            </a:r>
            <a:endParaRPr lang="en-US" sz="1600" dirty="0"/>
          </a:p>
        </p:txBody>
      </p:sp>
      <p:sp>
        <p:nvSpPr>
          <p:cNvPr id="22" name="Shape 19"/>
          <p:cNvSpPr/>
          <p:nvPr/>
        </p:nvSpPr>
        <p:spPr>
          <a:xfrm>
            <a:off x="5760720" y="1783080"/>
            <a:ext cx="5852160" cy="3017520"/>
          </a:xfrm>
          <a:prstGeom prst="roundRect">
            <a:avLst>
              <a:gd name="adj" fmla="val 2727"/>
            </a:avLst>
          </a:prstGeom>
          <a:solidFill>
            <a:srgbClr val="162048"/>
          </a:solidFill>
          <a:ln/>
        </p:spPr>
      </p:sp>
      <p:sp>
        <p:nvSpPr>
          <p:cNvPr id="23" name="Text 20"/>
          <p:cNvSpPr txBox="1"/>
          <p:nvPr/>
        </p:nvSpPr>
        <p:spPr>
          <a:xfrm>
            <a:off x="5989320" y="1965960"/>
            <a:ext cx="5394960" cy="2651760"/>
          </a:xfrm>
          <a:prstGeom prst="rect">
            <a:avLst/>
          </a:prstGeom>
          <a:noFill/>
          <a:ln/>
        </p:spPr>
        <p:txBody>
          <a:bodyPr wrap="square" lIns="0" tIns="0" rIns="0" bIns="0" rtlCol="0" anchor="t"/>
          <a:lstStyle/>
          <a:p>
            <a:pPr indent="0" marL="0">
              <a:lnSpc>
                <a:spcPct val="105000"/>
              </a:lnSpc>
              <a:buNone/>
            </a:pPr>
            <a:r>
              <a:rPr lang="en-US" sz="1300" dirty="0">
                <a:solidFill>
                  <a:srgbClr val="9FB0E0"/>
                </a:solidFill>
                <a:latin typeface="Courier New" pitchFamily="34" charset="0"/>
                <a:ea typeface="Courier New" pitchFamily="34" charset="-122"/>
                <a:cs typeface="Courier New" pitchFamily="34" charset="-120"/>
              </a:rPr>
              <a:t># 3. Base64 → XML</a:t>
            </a:r>
            <a:endParaRPr lang="en-US" sz="1300" dirty="0"/>
          </a:p>
          <a:p>
            <a:pPr indent="0" marL="0">
              <a:lnSpc>
                <a:spcPct val="105000"/>
              </a:lnSpc>
              <a:buNone/>
            </a:pPr>
            <a:r>
              <a:rPr lang="en-US" sz="1300" b="1" dirty="0">
                <a:solidFill>
                  <a:srgbClr val="F2B544"/>
                </a:solidFill>
                <a:latin typeface="Courier New" pitchFamily="34" charset="0"/>
                <a:ea typeface="Courier New" pitchFamily="34" charset="-122"/>
                <a:cs typeface="Courier New" pitchFamily="34" charset="-120"/>
              </a:rPr>
              <a:t>PS&gt; $r = Get-Clipboard</a:t>
            </a:r>
            <a:endParaRPr lang="en-US" sz="1300" dirty="0"/>
          </a:p>
          <a:p>
            <a:pPr indent="0" marL="0">
              <a:lnSpc>
                <a:spcPct val="105000"/>
              </a:lnSpc>
              <a:buNone/>
            </a:pPr>
            <a:r>
              <a:rPr lang="en-US" sz="1300" b="1" dirty="0">
                <a:solidFill>
                  <a:srgbClr val="F2B544"/>
                </a:solidFill>
                <a:latin typeface="Courier New" pitchFamily="34" charset="0"/>
                <a:ea typeface="Courier New" pitchFamily="34" charset="-122"/>
                <a:cs typeface="Courier New" pitchFamily="34" charset="-120"/>
              </a:rPr>
              <a:t>PS&gt; [Text.Encoding]::UTF8.GetString(</a:t>
            </a:r>
            <a:endParaRPr lang="en-US" sz="1300" dirty="0"/>
          </a:p>
          <a:p>
            <a:pPr indent="0" marL="0">
              <a:lnSpc>
                <a:spcPct val="105000"/>
              </a:lnSpc>
              <a:buNone/>
            </a:pPr>
            <a:r>
              <a:rPr lang="en-US" sz="1300" b="1" dirty="0">
                <a:solidFill>
                  <a:srgbClr val="F2B544"/>
                </a:solidFill>
                <a:latin typeface="Courier New" pitchFamily="34" charset="0"/>
                <a:ea typeface="Courier New" pitchFamily="34" charset="-122"/>
                <a:cs typeface="Courier New" pitchFamily="34" charset="-120"/>
              </a:rPr>
              <a:t>      [Convert]::FromBase64String($r)) |</a:t>
            </a:r>
            <a:endParaRPr lang="en-US" sz="1300" dirty="0"/>
          </a:p>
          <a:p>
            <a:pPr indent="0" marL="0">
              <a:lnSpc>
                <a:spcPct val="105000"/>
              </a:lnSpc>
              <a:buNone/>
            </a:pPr>
            <a:r>
              <a:rPr lang="en-US" sz="1300" b="1" dirty="0">
                <a:solidFill>
                  <a:srgbClr val="F2B544"/>
                </a:solidFill>
                <a:latin typeface="Courier New" pitchFamily="34" charset="0"/>
                <a:ea typeface="Courier New" pitchFamily="34" charset="-122"/>
                <a:cs typeface="Courier New" pitchFamily="34" charset="-120"/>
              </a:rPr>
              <a:t>      Out-File javob.xml</a:t>
            </a:r>
            <a:endParaRPr lang="en-US" sz="1300" dirty="0"/>
          </a:p>
          <a:p>
            <a:pPr indent="0" marL="0">
              <a:lnSpc>
                <a:spcPct val="105000"/>
              </a:lnSpc>
              <a:buNone/>
            </a:pPr>
            <a:r>
              <a:rPr lang="en-US" sz="1300" b="1" dirty="0">
                <a:solidFill>
                  <a:srgbClr val="F2B544"/>
                </a:solidFill>
                <a:latin typeface="Courier New" pitchFamily="34" charset="0"/>
                <a:ea typeface="Courier New" pitchFamily="34" charset="-122"/>
                <a:cs typeface="Courier New" pitchFamily="34" charset="-120"/>
              </a:rPr>
              <a:t>PS&gt; ([xml](Get-Content javob.xml)).Response</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lnSpc>
                <a:spcPct val="105000"/>
              </a:lnSpc>
              <a:buNone/>
            </a:pPr>
            <a:r>
              <a:rPr lang="en-US" sz="1300" dirty="0">
                <a:solidFill>
                  <a:srgbClr val="9FB0E0"/>
                </a:solidFill>
                <a:latin typeface="Courier New" pitchFamily="34" charset="0"/>
                <a:ea typeface="Courier New" pitchFamily="34" charset="-122"/>
                <a:cs typeface="Courier New" pitchFamily="34" charset="-120"/>
              </a:rPr>
              <a:t># Entra ga ulangan qurilmada: PRT bormi?</a:t>
            </a:r>
            <a:endParaRPr lang="en-US" sz="1300" dirty="0"/>
          </a:p>
          <a:p>
            <a:pPr indent="0" marL="0">
              <a:lnSpc>
                <a:spcPct val="105000"/>
              </a:lnSpc>
              <a:buNone/>
            </a:pPr>
            <a:r>
              <a:rPr lang="en-US" sz="1300" b="1" dirty="0">
                <a:solidFill>
                  <a:srgbClr val="F2B544"/>
                </a:solidFill>
                <a:latin typeface="Courier New" pitchFamily="34" charset="0"/>
                <a:ea typeface="Courier New" pitchFamily="34" charset="-122"/>
                <a:cs typeface="Courier New" pitchFamily="34" charset="-120"/>
              </a:rPr>
              <a:t>PS&gt; dsregcmd /status | findstr AzureAdPrt</a:t>
            </a:r>
            <a:endParaRPr lang="en-US" sz="1300" dirty="0"/>
          </a:p>
          <a:p>
            <a:pPr indent="0" marL="0">
              <a:lnSpc>
                <a:spcPct val="105000"/>
              </a:lnSpc>
              <a:buNone/>
            </a:pPr>
            <a:r>
              <a:rPr lang="en-US" sz="1300" dirty="0">
                <a:solidFill>
                  <a:srgbClr val="8FD3A8"/>
                </a:solidFill>
                <a:latin typeface="Courier New" pitchFamily="34" charset="0"/>
                <a:ea typeface="Courier New" pitchFamily="34" charset="-122"/>
                <a:cs typeface="Courier New" pitchFamily="34" charset="-120"/>
              </a:rPr>
              <a:t>      AzureAdPrt : YES</a:t>
            </a:r>
            <a:endParaRPr lang="en-US" sz="1300" dirty="0"/>
          </a:p>
        </p:txBody>
      </p:sp>
      <p:sp>
        <p:nvSpPr>
          <p:cNvPr id="24" name="Shape 21"/>
          <p:cNvSpPr/>
          <p:nvPr/>
        </p:nvSpPr>
        <p:spPr>
          <a:xfrm>
            <a:off x="548640" y="5029200"/>
            <a:ext cx="11064240" cy="1188720"/>
          </a:xfrm>
          <a:prstGeom prst="roundRect">
            <a:avLst>
              <a:gd name="adj" fmla="val 6923"/>
            </a:avLst>
          </a:prstGeom>
          <a:solidFill>
            <a:srgbClr val="FFFFFF"/>
          </a:solidFill>
          <a:ln/>
        </p:spPr>
      </p:sp>
      <p:sp>
        <p:nvSpPr>
          <p:cNvPr id="25" name="Shape 22"/>
          <p:cNvSpPr/>
          <p:nvPr/>
        </p:nvSpPr>
        <p:spPr>
          <a:xfrm>
            <a:off x="777240" y="5257800"/>
            <a:ext cx="685800" cy="685800"/>
          </a:xfrm>
          <a:prstGeom prst="ellipse">
            <a:avLst/>
          </a:prstGeom>
          <a:solidFill>
            <a:srgbClr val="D9932B"/>
          </a:solidFill>
          <a:ln/>
        </p:spPr>
      </p:sp>
      <p:pic>
        <p:nvPicPr>
          <p:cNvPr id="26" name="Image 1" descr="/home/claude/fob-slides/icons_out/question_white.png"/>
          <p:cNvPicPr>
            <a:picLocks noChangeAspect="1"/>
          </p:cNvPicPr>
          <p:nvPr/>
        </p:nvPicPr>
        <p:blipFill>
          <a:blip r:embed="rId2"/>
          <a:stretch>
            <a:fillRect/>
          </a:stretch>
        </p:blipFill>
        <p:spPr>
          <a:xfrm>
            <a:off x="965835" y="5446395"/>
            <a:ext cx="308610" cy="308610"/>
          </a:xfrm>
          <a:prstGeom prst="rect">
            <a:avLst/>
          </a:prstGeom>
        </p:spPr>
      </p:pic>
      <p:sp>
        <p:nvSpPr>
          <p:cNvPr id="27" name="Text 23"/>
          <p:cNvSpPr txBox="1"/>
          <p:nvPr/>
        </p:nvSpPr>
        <p:spPr>
          <a:xfrm>
            <a:off x="1645920" y="5029200"/>
            <a:ext cx="9784080" cy="1188720"/>
          </a:xfrm>
          <a:prstGeom prst="rect">
            <a:avLst/>
          </a:prstGeom>
          <a:noFill/>
          <a:ln/>
        </p:spPr>
        <p:txBody>
          <a:bodyPr wrap="square" lIns="0" tIns="0" rIns="0" bIns="0" rtlCol="0" anchor="ctr"/>
          <a:lstStyle/>
          <a:p>
            <a:pPr algn="l" indent="0" marL="0">
              <a:lnSpc>
                <a:spcPct val="105000"/>
              </a:lnSpc>
              <a:buNone/>
            </a:pPr>
            <a:r>
              <a:rPr lang="en-US" sz="1700" dirty="0">
                <a:solidFill>
                  <a:srgbClr val="1B1B2A"/>
                </a:solidFill>
                <a:latin typeface="Times New Roman" pitchFamily="34" charset="0"/>
                <a:ea typeface="Times New Roman" pitchFamily="34" charset="-122"/>
                <a:cs typeface="Times New Roman" pitchFamily="34" charset="-120"/>
              </a:rPr>
              <a:t>Savol talabalarga: SAMLResponse shifrlanmagan, faqat Base64 — bu xavfmi? Nega imzo yetarli, lekin TLS baribir shart?</a:t>
            </a:r>
            <a:endParaRPr lang="en-US" sz="1700" dirty="0"/>
          </a:p>
        </p:txBody>
      </p:sp>
      <p:sp>
        <p:nvSpPr>
          <p:cNvPr id="28" name="Text 24"/>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7-ma'ruza</a:t>
            </a:r>
            <a:endParaRPr lang="en-US" sz="1100" dirty="0"/>
          </a:p>
        </p:txBody>
      </p:sp>
      <p:sp>
        <p:nvSpPr>
          <p:cNvPr id="29" name="Text 25"/>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371600"/>
            <a:ext cx="4114800" cy="4114800"/>
          </a:xfrm>
          <a:prstGeom prst="ellipse">
            <a:avLst/>
          </a:prstGeom>
          <a:solidFill>
            <a:srgbClr val="2A3778"/>
          </a:solidFill>
          <a:ln/>
        </p:spPr>
      </p:sp>
      <p:sp>
        <p:nvSpPr>
          <p:cNvPr id="3" name="Text 1"/>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9FB0E0"/>
                </a:solidFill>
                <a:latin typeface="Times New Roman" pitchFamily="34" charset="0"/>
                <a:ea typeface="Times New Roman" pitchFamily="34" charset="-122"/>
                <a:cs typeface="Times New Roman" pitchFamily="34" charset="-120"/>
              </a:rPr>
              <a:t>XULOSA</a:t>
            </a:r>
            <a:endParaRPr lang="en-US" sz="1600" dirty="0"/>
          </a:p>
        </p:txBody>
      </p:sp>
      <p:sp>
        <p:nvSpPr>
          <p:cNvPr id="4" name="Text 2"/>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FFFFFF"/>
                </a:solidFill>
                <a:latin typeface="Times New Roman" pitchFamily="34" charset="0"/>
                <a:ea typeface="Times New Roman" pitchFamily="34" charset="-122"/>
                <a:cs typeface="Times New Roman" pitchFamily="34" charset="-120"/>
              </a:rPr>
              <a:t>Bugungi darsning besh asosiy xulosasi</a:t>
            </a:r>
            <a:endParaRPr lang="en-US" sz="3600" dirty="0"/>
          </a:p>
        </p:txBody>
      </p:sp>
      <p:sp>
        <p:nvSpPr>
          <p:cNvPr id="5" name="Shape 3"/>
          <p:cNvSpPr/>
          <p:nvPr/>
        </p:nvSpPr>
        <p:spPr>
          <a:xfrm>
            <a:off x="548640" y="1856232"/>
            <a:ext cx="548640" cy="548640"/>
          </a:xfrm>
          <a:prstGeom prst="roundRect">
            <a:avLst>
              <a:gd name="adj" fmla="val 13333"/>
            </a:avLst>
          </a:prstGeom>
          <a:solidFill>
            <a:srgbClr val="2A3778"/>
          </a:solidFill>
          <a:ln/>
        </p:spPr>
      </p:sp>
      <p:sp>
        <p:nvSpPr>
          <p:cNvPr id="6" name="Text 4"/>
          <p:cNvSpPr txBox="1"/>
          <p:nvPr/>
        </p:nvSpPr>
        <p:spPr>
          <a:xfrm>
            <a:off x="548640" y="185623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1</a:t>
            </a:r>
            <a:endParaRPr lang="en-US" sz="2000" dirty="0"/>
          </a:p>
        </p:txBody>
      </p:sp>
      <p:sp>
        <p:nvSpPr>
          <p:cNvPr id="7" name="Text 5"/>
          <p:cNvSpPr txBox="1"/>
          <p:nvPr/>
        </p:nvSpPr>
        <p:spPr>
          <a:xfrm>
            <a:off x="1325880" y="178308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SSO autentifikatsiyani bitta IdP ga jamlaydi: himoya kuchayadi, lekin IdP yagona nuqtaga aylanadi.</a:t>
            </a:r>
            <a:endParaRPr lang="en-US" sz="1800" dirty="0"/>
          </a:p>
        </p:txBody>
      </p:sp>
      <p:sp>
        <p:nvSpPr>
          <p:cNvPr id="8" name="Shape 6"/>
          <p:cNvSpPr/>
          <p:nvPr/>
        </p:nvSpPr>
        <p:spPr>
          <a:xfrm>
            <a:off x="548640" y="2679192"/>
            <a:ext cx="548640" cy="548640"/>
          </a:xfrm>
          <a:prstGeom prst="roundRect">
            <a:avLst>
              <a:gd name="adj" fmla="val 13333"/>
            </a:avLst>
          </a:prstGeom>
          <a:solidFill>
            <a:srgbClr val="2A3778"/>
          </a:solidFill>
          <a:ln/>
        </p:spPr>
      </p:sp>
      <p:sp>
        <p:nvSpPr>
          <p:cNvPr id="9" name="Text 7"/>
          <p:cNvSpPr txBox="1"/>
          <p:nvPr/>
        </p:nvSpPr>
        <p:spPr>
          <a:xfrm>
            <a:off x="548640" y="267919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2</a:t>
            </a:r>
            <a:endParaRPr lang="en-US" sz="2000" dirty="0"/>
          </a:p>
        </p:txBody>
      </p:sp>
      <p:sp>
        <p:nvSpPr>
          <p:cNvPr id="10" name="Text 8"/>
          <p:cNvSpPr txBox="1"/>
          <p:nvPr/>
        </p:nvSpPr>
        <p:spPr>
          <a:xfrm>
            <a:off x="1325880" y="260604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SAML 2.0: IdP imzolagan XML tasdiqnoma brauzer orqali SP ga yetkaziladi.</a:t>
            </a:r>
            <a:endParaRPr lang="en-US" sz="1800" dirty="0"/>
          </a:p>
        </p:txBody>
      </p:sp>
      <p:sp>
        <p:nvSpPr>
          <p:cNvPr id="11" name="Shape 9"/>
          <p:cNvSpPr/>
          <p:nvPr/>
        </p:nvSpPr>
        <p:spPr>
          <a:xfrm>
            <a:off x="548640" y="3502152"/>
            <a:ext cx="548640" cy="548640"/>
          </a:xfrm>
          <a:prstGeom prst="roundRect">
            <a:avLst>
              <a:gd name="adj" fmla="val 13333"/>
            </a:avLst>
          </a:prstGeom>
          <a:solidFill>
            <a:srgbClr val="2A3778"/>
          </a:solidFill>
          <a:ln/>
        </p:spPr>
      </p:sp>
      <p:sp>
        <p:nvSpPr>
          <p:cNvPr id="12" name="Text 10"/>
          <p:cNvSpPr txBox="1"/>
          <p:nvPr/>
        </p:nvSpPr>
        <p:spPr>
          <a:xfrm>
            <a:off x="548640" y="350215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3</a:t>
            </a:r>
            <a:endParaRPr lang="en-US" sz="2000" dirty="0"/>
          </a:p>
        </p:txBody>
      </p:sp>
      <p:sp>
        <p:nvSpPr>
          <p:cNvPr id="13" name="Text 11"/>
          <p:cNvSpPr txBox="1"/>
          <p:nvPr/>
        </p:nvSpPr>
        <p:spPr>
          <a:xfrm>
            <a:off x="1325880" y="342900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SP imzo, Issuer, Audience, vaqt oynasi, InResponseTo va Recipient ni tekshirishi shart.</a:t>
            </a:r>
            <a:endParaRPr lang="en-US" sz="1800" dirty="0"/>
          </a:p>
        </p:txBody>
      </p:sp>
      <p:sp>
        <p:nvSpPr>
          <p:cNvPr id="14" name="Shape 12"/>
          <p:cNvSpPr/>
          <p:nvPr/>
        </p:nvSpPr>
        <p:spPr>
          <a:xfrm>
            <a:off x="548640" y="4325112"/>
            <a:ext cx="548640" cy="548640"/>
          </a:xfrm>
          <a:prstGeom prst="roundRect">
            <a:avLst>
              <a:gd name="adj" fmla="val 13333"/>
            </a:avLst>
          </a:prstGeom>
          <a:solidFill>
            <a:srgbClr val="2A3778"/>
          </a:solidFill>
          <a:ln/>
        </p:spPr>
      </p:sp>
      <p:sp>
        <p:nvSpPr>
          <p:cNvPr id="15" name="Text 13"/>
          <p:cNvSpPr txBox="1"/>
          <p:nvPr/>
        </p:nvSpPr>
        <p:spPr>
          <a:xfrm>
            <a:off x="548640" y="432511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4</a:t>
            </a:r>
            <a:endParaRPr lang="en-US" sz="2000" dirty="0"/>
          </a:p>
        </p:txBody>
      </p:sp>
      <p:sp>
        <p:nvSpPr>
          <p:cNvPr id="16" name="Text 14"/>
          <p:cNvSpPr txBox="1"/>
          <p:nvPr/>
        </p:nvSpPr>
        <p:spPr>
          <a:xfrm>
            <a:off x="1325880" y="425196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Windows'da: domen ichida IWA (Kerberos), tashqarida AD FS, bulutda Microsoft Entra ID.</a:t>
            </a:r>
            <a:endParaRPr lang="en-US" sz="1800" dirty="0"/>
          </a:p>
        </p:txBody>
      </p:sp>
      <p:sp>
        <p:nvSpPr>
          <p:cNvPr id="17" name="Shape 15"/>
          <p:cNvSpPr/>
          <p:nvPr/>
        </p:nvSpPr>
        <p:spPr>
          <a:xfrm>
            <a:off x="548640" y="5148072"/>
            <a:ext cx="548640" cy="548640"/>
          </a:xfrm>
          <a:prstGeom prst="roundRect">
            <a:avLst>
              <a:gd name="adj" fmla="val 13333"/>
            </a:avLst>
          </a:prstGeom>
          <a:solidFill>
            <a:srgbClr val="2A3778"/>
          </a:solidFill>
          <a:ln/>
        </p:spPr>
      </p:sp>
      <p:sp>
        <p:nvSpPr>
          <p:cNvPr id="18" name="Text 16"/>
          <p:cNvSpPr txBox="1"/>
          <p:nvPr/>
        </p:nvSpPr>
        <p:spPr>
          <a:xfrm>
            <a:off x="548640" y="514807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5</a:t>
            </a:r>
            <a:endParaRPr lang="en-US" sz="2000" dirty="0"/>
          </a:p>
        </p:txBody>
      </p:sp>
      <p:sp>
        <p:nvSpPr>
          <p:cNvPr id="19" name="Text 17"/>
          <p:cNvSpPr txBox="1"/>
          <p:nvPr/>
        </p:nvSpPr>
        <p:spPr>
          <a:xfrm>
            <a:off x="1325880" y="507492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Golden SAML: imzolash kaliti o'g'irlansa, parol va MFA chetlab o'tiladi — AD FS ni Tier 0 da himoyalang.</a:t>
            </a:r>
            <a:endParaRPr lang="en-US" sz="1800" dirty="0"/>
          </a:p>
        </p:txBody>
      </p:sp>
      <p:sp>
        <p:nvSpPr>
          <p:cNvPr id="20" name="Text 18"/>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FB0E0"/>
                </a:solidFill>
                <a:latin typeface="Times New Roman" pitchFamily="34" charset="0"/>
                <a:ea typeface="Times New Roman" pitchFamily="34" charset="-122"/>
                <a:cs typeface="Times New Roman" pitchFamily="34" charset="-120"/>
              </a:rPr>
              <a:t>Foydalanishlarni boshqarish  ·  7-ma'ruza</a:t>
            </a:r>
            <a:endParaRPr lang="en-US" sz="1100" dirty="0"/>
          </a:p>
        </p:txBody>
      </p:sp>
      <p:sp>
        <p:nvSpPr>
          <p:cNvPr id="21" name="Text 19"/>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FB0E0"/>
                </a:solidFill>
                <a:latin typeface="Times New Roman" pitchFamily="34" charset="0"/>
                <a:ea typeface="Times New Roman" pitchFamily="34" charset="-122"/>
                <a:cs typeface="Times New Roman"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TEZKOR TEST · 5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To'rt savol</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listol_white.png"/>
          <p:cNvPicPr>
            <a:picLocks noChangeAspect="1"/>
          </p:cNvPicPr>
          <p:nvPr/>
        </p:nvPicPr>
        <p:blipFill>
          <a:blip r:embed="rId1"/>
          <a:stretch>
            <a:fillRect/>
          </a:stretch>
        </p:blipFill>
        <p:spPr>
          <a:xfrm>
            <a:off x="10978744" y="646024"/>
            <a:ext cx="399593" cy="399593"/>
          </a:xfrm>
          <a:prstGeom prst="rect">
            <a:avLst/>
          </a:prstGeom>
        </p:spPr>
      </p:pic>
      <p:sp>
        <p:nvSpPr>
          <p:cNvPr id="6" name="Shape 3"/>
          <p:cNvSpPr/>
          <p:nvPr/>
        </p:nvSpPr>
        <p:spPr>
          <a:xfrm>
            <a:off x="548640" y="1783080"/>
            <a:ext cx="5440680" cy="2103120"/>
          </a:xfrm>
          <a:prstGeom prst="roundRect">
            <a:avLst>
              <a:gd name="adj" fmla="val 3913"/>
            </a:avLst>
          </a:prstGeom>
          <a:solidFill>
            <a:srgbClr val="FFFFFF"/>
          </a:solidFill>
          <a:ln/>
        </p:spPr>
      </p:sp>
      <p:sp>
        <p:nvSpPr>
          <p:cNvPr id="7" name="Shape 4"/>
          <p:cNvSpPr/>
          <p:nvPr/>
        </p:nvSpPr>
        <p:spPr>
          <a:xfrm>
            <a:off x="548640" y="1783080"/>
            <a:ext cx="548640" cy="2103120"/>
          </a:xfrm>
          <a:prstGeom prst="roundRect">
            <a:avLst>
              <a:gd name="adj" fmla="val 15000"/>
            </a:avLst>
          </a:prstGeom>
          <a:solidFill>
            <a:srgbClr val="D9932B"/>
          </a:solidFill>
          <a:ln/>
        </p:spPr>
      </p:sp>
      <p:sp>
        <p:nvSpPr>
          <p:cNvPr id="8" name="Text 5"/>
          <p:cNvSpPr txBox="1"/>
          <p:nvPr/>
        </p:nvSpPr>
        <p:spPr>
          <a:xfrm>
            <a:off x="548640" y="1783080"/>
            <a:ext cx="548640" cy="2103120"/>
          </a:xfrm>
          <a:prstGeom prst="rect">
            <a:avLst/>
          </a:prstGeom>
          <a:noFill/>
          <a:ln/>
        </p:spPr>
        <p:txBody>
          <a:bodyPr wrap="square" lIns="50800" tIns="50800" rIns="50800" bIns="50800" rtlCol="0" anchor="ctr"/>
          <a:lstStyle/>
          <a:p>
            <a:pPr algn="ctr"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1</a:t>
            </a:r>
            <a:endParaRPr lang="en-US" sz="2200" dirty="0"/>
          </a:p>
        </p:txBody>
      </p:sp>
      <p:sp>
        <p:nvSpPr>
          <p:cNvPr id="9" name="Text 6"/>
          <p:cNvSpPr txBox="1"/>
          <p:nvPr/>
        </p:nvSpPr>
        <p:spPr>
          <a:xfrm>
            <a:off x="1280160" y="1892808"/>
            <a:ext cx="4526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SAML da tasdiqnomani kim imzolaydi?</a:t>
            </a:r>
            <a:endParaRPr lang="en-US" sz="1800" dirty="0"/>
          </a:p>
        </p:txBody>
      </p:sp>
      <p:sp>
        <p:nvSpPr>
          <p:cNvPr id="10" name="Text 7"/>
          <p:cNvSpPr txBox="1"/>
          <p:nvPr/>
        </p:nvSpPr>
        <p:spPr>
          <a:xfrm>
            <a:off x="1280160" y="2423160"/>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Brauzer</a:t>
            </a:r>
            <a:endParaRPr lang="en-US" sz="1600" dirty="0"/>
          </a:p>
        </p:txBody>
      </p:sp>
      <p:sp>
        <p:nvSpPr>
          <p:cNvPr id="11" name="Text 8"/>
          <p:cNvSpPr txBox="1"/>
          <p:nvPr/>
        </p:nvSpPr>
        <p:spPr>
          <a:xfrm>
            <a:off x="1280160" y="2770632"/>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Xizmat provayderi (SP)</a:t>
            </a:r>
            <a:endParaRPr lang="en-US" sz="1600" dirty="0"/>
          </a:p>
        </p:txBody>
      </p:sp>
      <p:sp>
        <p:nvSpPr>
          <p:cNvPr id="12" name="Text 9"/>
          <p:cNvSpPr txBox="1"/>
          <p:nvPr/>
        </p:nvSpPr>
        <p:spPr>
          <a:xfrm>
            <a:off x="1280160" y="3118104"/>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Identifikatsiya provayderi (IdP)</a:t>
            </a:r>
            <a:endParaRPr lang="en-US" sz="1600" dirty="0"/>
          </a:p>
        </p:txBody>
      </p:sp>
      <p:sp>
        <p:nvSpPr>
          <p:cNvPr id="13" name="Text 10"/>
          <p:cNvSpPr txBox="1"/>
          <p:nvPr/>
        </p:nvSpPr>
        <p:spPr>
          <a:xfrm>
            <a:off x="1280160" y="3465576"/>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Foydalanuvchi</a:t>
            </a:r>
            <a:endParaRPr lang="en-US" sz="1600" dirty="0"/>
          </a:p>
        </p:txBody>
      </p:sp>
      <p:sp>
        <p:nvSpPr>
          <p:cNvPr id="14" name="Shape 11"/>
          <p:cNvSpPr/>
          <p:nvPr/>
        </p:nvSpPr>
        <p:spPr>
          <a:xfrm>
            <a:off x="6172200" y="1783080"/>
            <a:ext cx="5440680" cy="2103120"/>
          </a:xfrm>
          <a:prstGeom prst="roundRect">
            <a:avLst>
              <a:gd name="adj" fmla="val 3913"/>
            </a:avLst>
          </a:prstGeom>
          <a:solidFill>
            <a:srgbClr val="FFFFFF"/>
          </a:solidFill>
          <a:ln/>
        </p:spPr>
      </p:sp>
      <p:sp>
        <p:nvSpPr>
          <p:cNvPr id="15" name="Shape 12"/>
          <p:cNvSpPr/>
          <p:nvPr/>
        </p:nvSpPr>
        <p:spPr>
          <a:xfrm>
            <a:off x="6172200" y="1783080"/>
            <a:ext cx="548640" cy="2103120"/>
          </a:xfrm>
          <a:prstGeom prst="roundRect">
            <a:avLst>
              <a:gd name="adj" fmla="val 15000"/>
            </a:avLst>
          </a:prstGeom>
          <a:solidFill>
            <a:srgbClr val="D9932B"/>
          </a:solidFill>
          <a:ln/>
        </p:spPr>
      </p:sp>
      <p:sp>
        <p:nvSpPr>
          <p:cNvPr id="16" name="Text 13"/>
          <p:cNvSpPr txBox="1"/>
          <p:nvPr/>
        </p:nvSpPr>
        <p:spPr>
          <a:xfrm>
            <a:off x="6172200" y="1783080"/>
            <a:ext cx="548640" cy="2103120"/>
          </a:xfrm>
          <a:prstGeom prst="rect">
            <a:avLst/>
          </a:prstGeom>
          <a:noFill/>
          <a:ln/>
        </p:spPr>
        <p:txBody>
          <a:bodyPr wrap="square" lIns="50800" tIns="50800" rIns="50800" bIns="50800" rtlCol="0" anchor="ctr"/>
          <a:lstStyle/>
          <a:p>
            <a:pPr algn="ctr"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2</a:t>
            </a:r>
            <a:endParaRPr lang="en-US" sz="2200" dirty="0"/>
          </a:p>
        </p:txBody>
      </p:sp>
      <p:sp>
        <p:nvSpPr>
          <p:cNvPr id="17" name="Text 14"/>
          <p:cNvSpPr txBox="1"/>
          <p:nvPr/>
        </p:nvSpPr>
        <p:spPr>
          <a:xfrm>
            <a:off x="6903720" y="1892808"/>
            <a:ext cx="4526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Audience tekshiruvi nimadan himoyalaydi?</a:t>
            </a:r>
            <a:endParaRPr lang="en-US" sz="1800" dirty="0"/>
          </a:p>
        </p:txBody>
      </p:sp>
      <p:sp>
        <p:nvSpPr>
          <p:cNvPr id="18" name="Text 15"/>
          <p:cNvSpPr txBox="1"/>
          <p:nvPr/>
        </p:nvSpPr>
        <p:spPr>
          <a:xfrm>
            <a:off x="6903720" y="2423160"/>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Boshqa SP uchun berilgan tasdiqnomadan</a:t>
            </a:r>
            <a:endParaRPr lang="en-US" sz="1600" dirty="0"/>
          </a:p>
        </p:txBody>
      </p:sp>
      <p:sp>
        <p:nvSpPr>
          <p:cNvPr id="19" name="Text 16"/>
          <p:cNvSpPr txBox="1"/>
          <p:nvPr/>
        </p:nvSpPr>
        <p:spPr>
          <a:xfrm>
            <a:off x="6903720" y="2770632"/>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Parol buzishdan</a:t>
            </a:r>
            <a:endParaRPr lang="en-US" sz="1600" dirty="0"/>
          </a:p>
        </p:txBody>
      </p:sp>
      <p:sp>
        <p:nvSpPr>
          <p:cNvPr id="20" name="Text 17"/>
          <p:cNvSpPr txBox="1"/>
          <p:nvPr/>
        </p:nvSpPr>
        <p:spPr>
          <a:xfrm>
            <a:off x="6903720" y="3118104"/>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Tarmoqni tinglashdan</a:t>
            </a:r>
            <a:endParaRPr lang="en-US" sz="1600" dirty="0"/>
          </a:p>
        </p:txBody>
      </p:sp>
      <p:sp>
        <p:nvSpPr>
          <p:cNvPr id="21" name="Text 18"/>
          <p:cNvSpPr txBox="1"/>
          <p:nvPr/>
        </p:nvSpPr>
        <p:spPr>
          <a:xfrm>
            <a:off x="6903720" y="3465576"/>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DoS hujumidan</a:t>
            </a:r>
            <a:endParaRPr lang="en-US" sz="1600" dirty="0"/>
          </a:p>
        </p:txBody>
      </p:sp>
      <p:sp>
        <p:nvSpPr>
          <p:cNvPr id="22" name="Shape 19"/>
          <p:cNvSpPr/>
          <p:nvPr/>
        </p:nvSpPr>
        <p:spPr>
          <a:xfrm>
            <a:off x="548640" y="4069080"/>
            <a:ext cx="5440680" cy="2103120"/>
          </a:xfrm>
          <a:prstGeom prst="roundRect">
            <a:avLst>
              <a:gd name="adj" fmla="val 3913"/>
            </a:avLst>
          </a:prstGeom>
          <a:solidFill>
            <a:srgbClr val="FFFFFF"/>
          </a:solidFill>
          <a:ln/>
        </p:spPr>
      </p:sp>
      <p:sp>
        <p:nvSpPr>
          <p:cNvPr id="23" name="Shape 20"/>
          <p:cNvSpPr/>
          <p:nvPr/>
        </p:nvSpPr>
        <p:spPr>
          <a:xfrm>
            <a:off x="548640" y="4069080"/>
            <a:ext cx="548640" cy="2103120"/>
          </a:xfrm>
          <a:prstGeom prst="roundRect">
            <a:avLst>
              <a:gd name="adj" fmla="val 15000"/>
            </a:avLst>
          </a:prstGeom>
          <a:solidFill>
            <a:srgbClr val="D9932B"/>
          </a:solidFill>
          <a:ln/>
        </p:spPr>
      </p:sp>
      <p:sp>
        <p:nvSpPr>
          <p:cNvPr id="24" name="Text 21"/>
          <p:cNvSpPr txBox="1"/>
          <p:nvPr/>
        </p:nvSpPr>
        <p:spPr>
          <a:xfrm>
            <a:off x="548640" y="4069080"/>
            <a:ext cx="548640" cy="2103120"/>
          </a:xfrm>
          <a:prstGeom prst="rect">
            <a:avLst/>
          </a:prstGeom>
          <a:noFill/>
          <a:ln/>
        </p:spPr>
        <p:txBody>
          <a:bodyPr wrap="square" lIns="50800" tIns="50800" rIns="50800" bIns="50800" rtlCol="0" anchor="ctr"/>
          <a:lstStyle/>
          <a:p>
            <a:pPr algn="ctr"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3</a:t>
            </a:r>
            <a:endParaRPr lang="en-US" sz="2200" dirty="0"/>
          </a:p>
        </p:txBody>
      </p:sp>
      <p:sp>
        <p:nvSpPr>
          <p:cNvPr id="25" name="Text 22"/>
          <p:cNvSpPr txBox="1"/>
          <p:nvPr/>
        </p:nvSpPr>
        <p:spPr>
          <a:xfrm>
            <a:off x="1280160" y="4178808"/>
            <a:ext cx="4526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Golden SAML uchun nima kerak?</a:t>
            </a:r>
            <a:endParaRPr lang="en-US" sz="1800" dirty="0"/>
          </a:p>
        </p:txBody>
      </p:sp>
      <p:sp>
        <p:nvSpPr>
          <p:cNvPr id="26" name="Text 23"/>
          <p:cNvSpPr txBox="1"/>
          <p:nvPr/>
        </p:nvSpPr>
        <p:spPr>
          <a:xfrm>
            <a:off x="1280160" y="4709160"/>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Foydalanuvchi paroli</a:t>
            </a:r>
            <a:endParaRPr lang="en-US" sz="1600" dirty="0"/>
          </a:p>
        </p:txBody>
      </p:sp>
      <p:sp>
        <p:nvSpPr>
          <p:cNvPr id="27" name="Text 24"/>
          <p:cNvSpPr txBox="1"/>
          <p:nvPr/>
        </p:nvSpPr>
        <p:spPr>
          <a:xfrm>
            <a:off x="1280160" y="5056632"/>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IdP ning imzolash kaliti</a:t>
            </a:r>
            <a:endParaRPr lang="en-US" sz="1600" dirty="0"/>
          </a:p>
        </p:txBody>
      </p:sp>
      <p:sp>
        <p:nvSpPr>
          <p:cNvPr id="28" name="Text 25"/>
          <p:cNvSpPr txBox="1"/>
          <p:nvPr/>
        </p:nvSpPr>
        <p:spPr>
          <a:xfrm>
            <a:off x="1280160" y="5404104"/>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krbtgt xeshi</a:t>
            </a:r>
            <a:endParaRPr lang="en-US" sz="1600" dirty="0"/>
          </a:p>
        </p:txBody>
      </p:sp>
      <p:sp>
        <p:nvSpPr>
          <p:cNvPr id="29" name="Text 26"/>
          <p:cNvSpPr txBox="1"/>
          <p:nvPr/>
        </p:nvSpPr>
        <p:spPr>
          <a:xfrm>
            <a:off x="1280160" y="5751576"/>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SP sertifikati</a:t>
            </a:r>
            <a:endParaRPr lang="en-US" sz="1600" dirty="0"/>
          </a:p>
        </p:txBody>
      </p:sp>
      <p:sp>
        <p:nvSpPr>
          <p:cNvPr id="30" name="Shape 27"/>
          <p:cNvSpPr/>
          <p:nvPr/>
        </p:nvSpPr>
        <p:spPr>
          <a:xfrm>
            <a:off x="6172200" y="4069080"/>
            <a:ext cx="5440680" cy="2103120"/>
          </a:xfrm>
          <a:prstGeom prst="roundRect">
            <a:avLst>
              <a:gd name="adj" fmla="val 3913"/>
            </a:avLst>
          </a:prstGeom>
          <a:solidFill>
            <a:srgbClr val="FFFFFF"/>
          </a:solidFill>
          <a:ln/>
        </p:spPr>
      </p:sp>
      <p:sp>
        <p:nvSpPr>
          <p:cNvPr id="31" name="Shape 28"/>
          <p:cNvSpPr/>
          <p:nvPr/>
        </p:nvSpPr>
        <p:spPr>
          <a:xfrm>
            <a:off x="6172200" y="4069080"/>
            <a:ext cx="548640" cy="2103120"/>
          </a:xfrm>
          <a:prstGeom prst="roundRect">
            <a:avLst>
              <a:gd name="adj" fmla="val 15000"/>
            </a:avLst>
          </a:prstGeom>
          <a:solidFill>
            <a:srgbClr val="D9932B"/>
          </a:solidFill>
          <a:ln/>
        </p:spPr>
      </p:sp>
      <p:sp>
        <p:nvSpPr>
          <p:cNvPr id="32" name="Text 29"/>
          <p:cNvSpPr txBox="1"/>
          <p:nvPr/>
        </p:nvSpPr>
        <p:spPr>
          <a:xfrm>
            <a:off x="6172200" y="4069080"/>
            <a:ext cx="548640" cy="2103120"/>
          </a:xfrm>
          <a:prstGeom prst="rect">
            <a:avLst/>
          </a:prstGeom>
          <a:noFill/>
          <a:ln/>
        </p:spPr>
        <p:txBody>
          <a:bodyPr wrap="square" lIns="50800" tIns="50800" rIns="50800" bIns="50800" rtlCol="0" anchor="ctr"/>
          <a:lstStyle/>
          <a:p>
            <a:pPr algn="ctr"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4</a:t>
            </a:r>
            <a:endParaRPr lang="en-US" sz="2200" dirty="0"/>
          </a:p>
        </p:txBody>
      </p:sp>
      <p:sp>
        <p:nvSpPr>
          <p:cNvPr id="33" name="Text 30"/>
          <p:cNvSpPr txBox="1"/>
          <p:nvPr/>
        </p:nvSpPr>
        <p:spPr>
          <a:xfrm>
            <a:off x="6903720" y="4178808"/>
            <a:ext cx="4526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Intranet saytga parolsiz kirish?</a:t>
            </a:r>
            <a:endParaRPr lang="en-US" sz="1800" dirty="0"/>
          </a:p>
        </p:txBody>
      </p:sp>
      <p:sp>
        <p:nvSpPr>
          <p:cNvPr id="34" name="Text 31"/>
          <p:cNvSpPr txBox="1"/>
          <p:nvPr/>
        </p:nvSpPr>
        <p:spPr>
          <a:xfrm>
            <a:off x="6903720" y="4709160"/>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SAML-tracer</a:t>
            </a:r>
            <a:endParaRPr lang="en-US" sz="1600" dirty="0"/>
          </a:p>
        </p:txBody>
      </p:sp>
      <p:sp>
        <p:nvSpPr>
          <p:cNvPr id="35" name="Text 32"/>
          <p:cNvSpPr txBox="1"/>
          <p:nvPr/>
        </p:nvSpPr>
        <p:spPr>
          <a:xfrm>
            <a:off x="6903720" y="5056632"/>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RADIUS</a:t>
            </a:r>
            <a:endParaRPr lang="en-US" sz="1600" dirty="0"/>
          </a:p>
        </p:txBody>
      </p:sp>
      <p:sp>
        <p:nvSpPr>
          <p:cNvPr id="36" name="Text 33"/>
          <p:cNvSpPr txBox="1"/>
          <p:nvPr/>
        </p:nvSpPr>
        <p:spPr>
          <a:xfrm>
            <a:off x="6903720" y="5404104"/>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Integrated Windows Authentication</a:t>
            </a:r>
            <a:endParaRPr lang="en-US" sz="1600" dirty="0"/>
          </a:p>
        </p:txBody>
      </p:sp>
      <p:sp>
        <p:nvSpPr>
          <p:cNvPr id="37" name="Text 34"/>
          <p:cNvSpPr txBox="1"/>
          <p:nvPr/>
        </p:nvSpPr>
        <p:spPr>
          <a:xfrm>
            <a:off x="6903720" y="5751576"/>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LDAP simple bind</a:t>
            </a:r>
            <a:endParaRPr lang="en-US" sz="1600" dirty="0"/>
          </a:p>
        </p:txBody>
      </p:sp>
      <p:sp>
        <p:nvSpPr>
          <p:cNvPr id="38" name="Text 35"/>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7-ma'ruza</a:t>
            </a:r>
            <a:endParaRPr lang="en-US" sz="1100" dirty="0"/>
          </a:p>
        </p:txBody>
      </p:sp>
      <p:sp>
        <p:nvSpPr>
          <p:cNvPr id="39" name="Text 36"/>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MUSTAQIL ISH</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Uyga vazifa va keyingi mavzu</a:t>
            </a:r>
            <a:endParaRPr lang="en-US" sz="3600" dirty="0"/>
          </a:p>
        </p:txBody>
      </p:sp>
      <p:sp>
        <p:nvSpPr>
          <p:cNvPr id="4" name="Shape 2"/>
          <p:cNvSpPr/>
          <p:nvPr/>
        </p:nvSpPr>
        <p:spPr>
          <a:xfrm>
            <a:off x="548640" y="1783080"/>
            <a:ext cx="7086600" cy="1298448"/>
          </a:xfrm>
          <a:prstGeom prst="roundRect">
            <a:avLst>
              <a:gd name="adj" fmla="val 6338"/>
            </a:avLst>
          </a:prstGeom>
          <a:solidFill>
            <a:srgbClr val="EEF2FB"/>
          </a:solidFill>
          <a:ln/>
        </p:spPr>
      </p:sp>
      <p:sp>
        <p:nvSpPr>
          <p:cNvPr id="5" name="Shape 3"/>
          <p:cNvSpPr/>
          <p:nvPr/>
        </p:nvSpPr>
        <p:spPr>
          <a:xfrm>
            <a:off x="822960" y="2103120"/>
            <a:ext cx="658368" cy="658368"/>
          </a:xfrm>
          <a:prstGeom prst="ellipse">
            <a:avLst/>
          </a:prstGeom>
          <a:solidFill>
            <a:srgbClr val="1E2761"/>
          </a:solidFill>
          <a:ln/>
        </p:spPr>
      </p:sp>
      <p:pic>
        <p:nvPicPr>
          <p:cNvPr id="6" name="Image 0" descr="/home/claude/fob-slides/icons_out/search_white.png"/>
          <p:cNvPicPr>
            <a:picLocks noChangeAspect="1"/>
          </p:cNvPicPr>
          <p:nvPr/>
        </p:nvPicPr>
        <p:blipFill>
          <a:blip r:embed="rId1"/>
          <a:stretch>
            <a:fillRect/>
          </a:stretch>
        </p:blipFill>
        <p:spPr>
          <a:xfrm>
            <a:off x="971093" y="2251253"/>
            <a:ext cx="362102" cy="362102"/>
          </a:xfrm>
          <a:prstGeom prst="rect">
            <a:avLst/>
          </a:prstGeom>
        </p:spPr>
      </p:pic>
      <p:sp>
        <p:nvSpPr>
          <p:cNvPr id="7" name="Text 4"/>
          <p:cNvSpPr txBox="1"/>
          <p:nvPr/>
        </p:nvSpPr>
        <p:spPr>
          <a:xfrm>
            <a:off x="1737360" y="1892808"/>
            <a:ext cx="571500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Kuzatish</a:t>
            </a:r>
            <a:endParaRPr lang="en-US" sz="2000" dirty="0"/>
          </a:p>
        </p:txBody>
      </p:sp>
      <p:sp>
        <p:nvSpPr>
          <p:cNvPr id="8" name="Text 5"/>
          <p:cNvSpPr txBox="1"/>
          <p:nvPr/>
        </p:nvSpPr>
        <p:spPr>
          <a:xfrm>
            <a:off x="1737360" y="2286000"/>
            <a:ext cx="5760720" cy="749808"/>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SAML-tracer bilan bitta SAML kirishini yozib oling; tasdiqnomadagi 6 ta tekshiruv maydonini toping va izohlang.</a:t>
            </a:r>
            <a:endParaRPr lang="en-US" sz="1600" dirty="0"/>
          </a:p>
        </p:txBody>
      </p:sp>
      <p:sp>
        <p:nvSpPr>
          <p:cNvPr id="9" name="Shape 6"/>
          <p:cNvSpPr/>
          <p:nvPr/>
        </p:nvSpPr>
        <p:spPr>
          <a:xfrm>
            <a:off x="548640" y="3227832"/>
            <a:ext cx="7086600" cy="1298448"/>
          </a:xfrm>
          <a:prstGeom prst="roundRect">
            <a:avLst>
              <a:gd name="adj" fmla="val 6338"/>
            </a:avLst>
          </a:prstGeom>
          <a:solidFill>
            <a:srgbClr val="EEF2FB"/>
          </a:solidFill>
          <a:ln/>
        </p:spPr>
      </p:sp>
      <p:sp>
        <p:nvSpPr>
          <p:cNvPr id="10" name="Shape 7"/>
          <p:cNvSpPr/>
          <p:nvPr/>
        </p:nvSpPr>
        <p:spPr>
          <a:xfrm>
            <a:off x="822960" y="3547872"/>
            <a:ext cx="658368" cy="658368"/>
          </a:xfrm>
          <a:prstGeom prst="ellipse">
            <a:avLst/>
          </a:prstGeom>
          <a:solidFill>
            <a:srgbClr val="1E2761"/>
          </a:solidFill>
          <a:ln/>
        </p:spPr>
      </p:sp>
      <p:pic>
        <p:nvPicPr>
          <p:cNvPr id="11" name="Image 1" descr="/home/claude/fob-slides/icons_out/sitemap_white.png"/>
          <p:cNvPicPr>
            <a:picLocks noChangeAspect="1"/>
          </p:cNvPicPr>
          <p:nvPr/>
        </p:nvPicPr>
        <p:blipFill>
          <a:blip r:embed="rId2"/>
          <a:stretch>
            <a:fillRect/>
          </a:stretch>
        </p:blipFill>
        <p:spPr>
          <a:xfrm>
            <a:off x="971093" y="3696005"/>
            <a:ext cx="362102" cy="362102"/>
          </a:xfrm>
          <a:prstGeom prst="rect">
            <a:avLst/>
          </a:prstGeom>
        </p:spPr>
      </p:pic>
      <p:sp>
        <p:nvSpPr>
          <p:cNvPr id="12" name="Text 8"/>
          <p:cNvSpPr txBox="1"/>
          <p:nvPr/>
        </p:nvSpPr>
        <p:spPr>
          <a:xfrm>
            <a:off x="1737360" y="3337560"/>
            <a:ext cx="571500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Loyihalash</a:t>
            </a:r>
            <a:endParaRPr lang="en-US" sz="2000" dirty="0"/>
          </a:p>
        </p:txBody>
      </p:sp>
      <p:sp>
        <p:nvSpPr>
          <p:cNvPr id="13" name="Text 9"/>
          <p:cNvSpPr txBox="1"/>
          <p:nvPr/>
        </p:nvSpPr>
        <p:spPr>
          <a:xfrm>
            <a:off x="1737360" y="3730752"/>
            <a:ext cx="5760720" cy="749808"/>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Universitet uchun SSO sxemasini chizing: qaysi tizimlar IWA, qaysilari SAML yoki OIDC orqali ulanadi?</a:t>
            </a:r>
            <a:endParaRPr lang="en-US" sz="1600" dirty="0"/>
          </a:p>
        </p:txBody>
      </p:sp>
      <p:sp>
        <p:nvSpPr>
          <p:cNvPr id="14" name="Shape 10"/>
          <p:cNvSpPr/>
          <p:nvPr/>
        </p:nvSpPr>
        <p:spPr>
          <a:xfrm>
            <a:off x="548640" y="4672584"/>
            <a:ext cx="7086600" cy="1298448"/>
          </a:xfrm>
          <a:prstGeom prst="roundRect">
            <a:avLst>
              <a:gd name="adj" fmla="val 6338"/>
            </a:avLst>
          </a:prstGeom>
          <a:solidFill>
            <a:srgbClr val="EEF2FB"/>
          </a:solidFill>
          <a:ln/>
        </p:spPr>
      </p:sp>
      <p:sp>
        <p:nvSpPr>
          <p:cNvPr id="15" name="Shape 11"/>
          <p:cNvSpPr/>
          <p:nvPr/>
        </p:nvSpPr>
        <p:spPr>
          <a:xfrm>
            <a:off x="822960" y="4992624"/>
            <a:ext cx="658368" cy="658368"/>
          </a:xfrm>
          <a:prstGeom prst="ellipse">
            <a:avLst/>
          </a:prstGeom>
          <a:solidFill>
            <a:srgbClr val="1E2761"/>
          </a:solidFill>
          <a:ln/>
        </p:spPr>
      </p:sp>
      <p:pic>
        <p:nvPicPr>
          <p:cNvPr id="16" name="Image 2" descr="/home/claude/fob-slides/icons_out/code_white.png"/>
          <p:cNvPicPr>
            <a:picLocks noChangeAspect="1"/>
          </p:cNvPicPr>
          <p:nvPr/>
        </p:nvPicPr>
        <p:blipFill>
          <a:blip r:embed="rId3"/>
          <a:stretch>
            <a:fillRect/>
          </a:stretch>
        </p:blipFill>
        <p:spPr>
          <a:xfrm>
            <a:off x="971093" y="5140757"/>
            <a:ext cx="362102" cy="362102"/>
          </a:xfrm>
          <a:prstGeom prst="rect">
            <a:avLst/>
          </a:prstGeom>
        </p:spPr>
      </p:pic>
      <p:sp>
        <p:nvSpPr>
          <p:cNvPr id="17" name="Text 12"/>
          <p:cNvSpPr txBox="1"/>
          <p:nvPr/>
        </p:nvSpPr>
        <p:spPr>
          <a:xfrm>
            <a:off x="1737360" y="4782312"/>
            <a:ext cx="571500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A7 ga tayyorgarlik</a:t>
            </a:r>
            <a:endParaRPr lang="en-US" sz="2000" dirty="0"/>
          </a:p>
        </p:txBody>
      </p:sp>
      <p:sp>
        <p:nvSpPr>
          <p:cNvPr id="18" name="Text 13"/>
          <p:cNvSpPr txBox="1"/>
          <p:nvPr/>
        </p:nvSpPr>
        <p:spPr>
          <a:xfrm>
            <a:off x="1737360" y="5175504"/>
            <a:ext cx="5760720" cy="749808"/>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Keycloak'ni Docker yoki Windows'da ishga tushiring; realm va foydalanuvchi yarating.</a:t>
            </a:r>
            <a:endParaRPr lang="en-US" sz="1600" dirty="0"/>
          </a:p>
        </p:txBody>
      </p:sp>
      <p:sp>
        <p:nvSpPr>
          <p:cNvPr id="19" name="Shape 14"/>
          <p:cNvSpPr/>
          <p:nvPr/>
        </p:nvSpPr>
        <p:spPr>
          <a:xfrm>
            <a:off x="7863840" y="1783080"/>
            <a:ext cx="3749040" cy="4187952"/>
          </a:xfrm>
          <a:prstGeom prst="roundRect">
            <a:avLst>
              <a:gd name="adj" fmla="val 2195"/>
            </a:avLst>
          </a:prstGeom>
          <a:solidFill>
            <a:srgbClr val="1E2761"/>
          </a:solidFill>
          <a:ln/>
        </p:spPr>
      </p:sp>
      <p:sp>
        <p:nvSpPr>
          <p:cNvPr id="20" name="Text 15"/>
          <p:cNvSpPr txBox="1"/>
          <p:nvPr/>
        </p:nvSpPr>
        <p:spPr>
          <a:xfrm>
            <a:off x="7863840" y="2011680"/>
            <a:ext cx="3749040" cy="365760"/>
          </a:xfrm>
          <a:prstGeom prst="rect">
            <a:avLst/>
          </a:prstGeom>
          <a:noFill/>
          <a:ln/>
        </p:spPr>
        <p:txBody>
          <a:bodyPr wrap="square" lIns="0" tIns="0" rIns="0" bIns="0" rtlCol="0" anchor="t"/>
          <a:lstStyle/>
          <a:p>
            <a:pPr algn="ctr" indent="0" marL="0">
              <a:lnSpc>
                <a:spcPct val="100000"/>
              </a:lnSpc>
              <a:buNone/>
            </a:pPr>
            <a:r>
              <a:rPr lang="en-US" sz="1600" b="1" dirty="0">
                <a:solidFill>
                  <a:srgbClr val="CADCFC"/>
                </a:solidFill>
                <a:latin typeface="Times New Roman" pitchFamily="34" charset="0"/>
                <a:ea typeface="Times New Roman" pitchFamily="34" charset="-122"/>
                <a:cs typeface="Times New Roman" pitchFamily="34" charset="-120"/>
              </a:rPr>
              <a:t>KEYINGI MA'RUZA</a:t>
            </a:r>
            <a:endParaRPr lang="en-US" sz="1600" dirty="0"/>
          </a:p>
        </p:txBody>
      </p:sp>
      <p:sp>
        <p:nvSpPr>
          <p:cNvPr id="21" name="Text 16"/>
          <p:cNvSpPr txBox="1"/>
          <p:nvPr/>
        </p:nvSpPr>
        <p:spPr>
          <a:xfrm>
            <a:off x="7863840" y="2468880"/>
            <a:ext cx="3749040" cy="868680"/>
          </a:xfrm>
          <a:prstGeom prst="rect">
            <a:avLst/>
          </a:prstGeom>
          <a:noFill/>
          <a:ln/>
        </p:spPr>
        <p:txBody>
          <a:bodyPr wrap="square" lIns="50800" tIns="50800" rIns="50800" bIns="50800" rtlCol="0" anchor="ctr"/>
          <a:lstStyle/>
          <a:p>
            <a:pPr algn="ctr" indent="0" marL="0">
              <a:lnSpc>
                <a:spcPct val="100000"/>
              </a:lnSpc>
              <a:buNone/>
            </a:pPr>
            <a:r>
              <a:rPr lang="en-US" sz="5400" b="1" dirty="0">
                <a:solidFill>
                  <a:srgbClr val="FFFFFF"/>
                </a:solidFill>
                <a:latin typeface="Times New Roman" pitchFamily="34" charset="0"/>
                <a:ea typeface="Times New Roman" pitchFamily="34" charset="-122"/>
                <a:cs typeface="Times New Roman" pitchFamily="34" charset="-120"/>
              </a:rPr>
              <a:t>M8</a:t>
            </a:r>
            <a:endParaRPr lang="en-US" sz="5400" dirty="0"/>
          </a:p>
        </p:txBody>
      </p:sp>
      <p:sp>
        <p:nvSpPr>
          <p:cNvPr id="22" name="Text 17"/>
          <p:cNvSpPr txBox="1"/>
          <p:nvPr/>
        </p:nvSpPr>
        <p:spPr>
          <a:xfrm>
            <a:off x="8092440" y="3474720"/>
            <a:ext cx="3291840" cy="1325880"/>
          </a:xfrm>
          <a:prstGeom prst="rect">
            <a:avLst/>
          </a:prstGeom>
          <a:noFill/>
          <a:ln/>
        </p:spPr>
        <p:txBody>
          <a:bodyPr wrap="square" lIns="50800" tIns="50800" rIns="50800" bIns="50800" rtlCol="0" anchor="ctr"/>
          <a:lstStyle/>
          <a:p>
            <a:pPr algn="ctr" indent="0" marL="0">
              <a:lnSpc>
                <a:spcPct val="100000"/>
              </a:lnSpc>
              <a:buNone/>
            </a:pPr>
            <a:r>
              <a:rPr lang="en-US" sz="1600" dirty="0">
                <a:solidFill>
                  <a:srgbClr val="CADCFC"/>
                </a:solidFill>
                <a:latin typeface="Times New Roman" pitchFamily="34" charset="0"/>
                <a:ea typeface="Times New Roman" pitchFamily="34" charset="-122"/>
                <a:cs typeface="Times New Roman" pitchFamily="34" charset="-120"/>
              </a:rPr>
              <a:t>OAuth 2.1, OpenID Connect va JWT</a:t>
            </a:r>
            <a:endParaRPr lang="en-US" sz="1600" dirty="0"/>
          </a:p>
        </p:txBody>
      </p:sp>
      <p:sp>
        <p:nvSpPr>
          <p:cNvPr id="23" name="Text 18"/>
          <p:cNvSpPr txBox="1"/>
          <p:nvPr/>
        </p:nvSpPr>
        <p:spPr>
          <a:xfrm>
            <a:off x="8092440" y="4892040"/>
            <a:ext cx="3291840" cy="86868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9FB0E0"/>
                </a:solidFill>
                <a:latin typeface="Times New Roman" pitchFamily="34" charset="0"/>
                <a:ea typeface="Times New Roman" pitchFamily="34" charset="-122"/>
                <a:cs typeface="Times New Roman" pitchFamily="34" charset="-120"/>
              </a:rPr>
              <a:t>Mobil ilova va API uchun SAML emas — nima?</a:t>
            </a:r>
            <a:endParaRPr lang="en-US" sz="1400" dirty="0"/>
          </a:p>
        </p:txBody>
      </p:sp>
      <p:sp>
        <p:nvSpPr>
          <p:cNvPr id="24" name="Text 19"/>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7-ma'ruza</a:t>
            </a:r>
            <a:endParaRPr lang="en-US" sz="1100" dirty="0"/>
          </a:p>
        </p:txBody>
      </p:sp>
      <p:sp>
        <p:nvSpPr>
          <p:cNvPr id="25" name="Text 20"/>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ATAMALAR VA MANBALAR</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Ma'ruzadagi atamalar va adabiyotlar</a:t>
            </a:r>
            <a:endParaRPr lang="en-US" sz="3600" dirty="0"/>
          </a:p>
        </p:txBody>
      </p:sp>
      <p:sp>
        <p:nvSpPr>
          <p:cNvPr id="4" name="Shape 2"/>
          <p:cNvSpPr/>
          <p:nvPr/>
        </p:nvSpPr>
        <p:spPr>
          <a:xfrm>
            <a:off x="548640" y="1737360"/>
            <a:ext cx="5760720" cy="457200"/>
          </a:xfrm>
          <a:prstGeom prst="roundRect">
            <a:avLst>
              <a:gd name="adj" fmla="val 10000"/>
            </a:avLst>
          </a:prstGeom>
          <a:solidFill>
            <a:srgbClr val="EEF2FB"/>
          </a:solidFill>
          <a:ln/>
        </p:spPr>
      </p:sp>
      <p:sp>
        <p:nvSpPr>
          <p:cNvPr id="5" name="Text 3"/>
          <p:cNvSpPr txBox="1"/>
          <p:nvPr/>
        </p:nvSpPr>
        <p:spPr>
          <a:xfrm>
            <a:off x="685800" y="1737360"/>
            <a:ext cx="301752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Yagona kirish</a:t>
            </a:r>
            <a:endParaRPr lang="en-US" sz="1500" dirty="0"/>
          </a:p>
        </p:txBody>
      </p:sp>
      <p:sp>
        <p:nvSpPr>
          <p:cNvPr id="6" name="Text 4"/>
          <p:cNvSpPr txBox="1"/>
          <p:nvPr/>
        </p:nvSpPr>
        <p:spPr>
          <a:xfrm>
            <a:off x="3703320" y="1737360"/>
            <a:ext cx="2514600" cy="4572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single sign-on (SSO)</a:t>
            </a:r>
            <a:endParaRPr lang="en-US" sz="1400" dirty="0"/>
          </a:p>
        </p:txBody>
      </p:sp>
      <p:sp>
        <p:nvSpPr>
          <p:cNvPr id="7" name="Shape 5"/>
          <p:cNvSpPr/>
          <p:nvPr/>
        </p:nvSpPr>
        <p:spPr>
          <a:xfrm>
            <a:off x="548640" y="2249424"/>
            <a:ext cx="5760720" cy="457200"/>
          </a:xfrm>
          <a:prstGeom prst="roundRect">
            <a:avLst>
              <a:gd name="adj" fmla="val 10000"/>
            </a:avLst>
          </a:prstGeom>
          <a:solidFill>
            <a:srgbClr val="FFFFFF"/>
          </a:solidFill>
          <a:ln/>
        </p:spPr>
      </p:sp>
      <p:sp>
        <p:nvSpPr>
          <p:cNvPr id="8" name="Text 6"/>
          <p:cNvSpPr txBox="1"/>
          <p:nvPr/>
        </p:nvSpPr>
        <p:spPr>
          <a:xfrm>
            <a:off x="685800" y="2249424"/>
            <a:ext cx="301752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Identifikatsiya provayderi</a:t>
            </a:r>
            <a:endParaRPr lang="en-US" sz="1500" dirty="0"/>
          </a:p>
        </p:txBody>
      </p:sp>
      <p:sp>
        <p:nvSpPr>
          <p:cNvPr id="9" name="Text 7"/>
          <p:cNvSpPr txBox="1"/>
          <p:nvPr/>
        </p:nvSpPr>
        <p:spPr>
          <a:xfrm>
            <a:off x="3703320" y="2249424"/>
            <a:ext cx="2514600" cy="4572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identity provider (IdP)</a:t>
            </a:r>
            <a:endParaRPr lang="en-US" sz="1400" dirty="0"/>
          </a:p>
        </p:txBody>
      </p:sp>
      <p:sp>
        <p:nvSpPr>
          <p:cNvPr id="10" name="Shape 8"/>
          <p:cNvSpPr/>
          <p:nvPr/>
        </p:nvSpPr>
        <p:spPr>
          <a:xfrm>
            <a:off x="548640" y="2761488"/>
            <a:ext cx="5760720" cy="457200"/>
          </a:xfrm>
          <a:prstGeom prst="roundRect">
            <a:avLst>
              <a:gd name="adj" fmla="val 10000"/>
            </a:avLst>
          </a:prstGeom>
          <a:solidFill>
            <a:srgbClr val="EEF2FB"/>
          </a:solidFill>
          <a:ln/>
        </p:spPr>
      </p:sp>
      <p:sp>
        <p:nvSpPr>
          <p:cNvPr id="11" name="Text 9"/>
          <p:cNvSpPr txBox="1"/>
          <p:nvPr/>
        </p:nvSpPr>
        <p:spPr>
          <a:xfrm>
            <a:off x="685800" y="2761488"/>
            <a:ext cx="301752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Xizmat provayderi</a:t>
            </a:r>
            <a:endParaRPr lang="en-US" sz="1500" dirty="0"/>
          </a:p>
        </p:txBody>
      </p:sp>
      <p:sp>
        <p:nvSpPr>
          <p:cNvPr id="12" name="Text 10"/>
          <p:cNvSpPr txBox="1"/>
          <p:nvPr/>
        </p:nvSpPr>
        <p:spPr>
          <a:xfrm>
            <a:off x="3703320" y="2761488"/>
            <a:ext cx="2514600" cy="4572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service provider (SP)</a:t>
            </a:r>
            <a:endParaRPr lang="en-US" sz="1400" dirty="0"/>
          </a:p>
        </p:txBody>
      </p:sp>
      <p:sp>
        <p:nvSpPr>
          <p:cNvPr id="13" name="Shape 11"/>
          <p:cNvSpPr/>
          <p:nvPr/>
        </p:nvSpPr>
        <p:spPr>
          <a:xfrm>
            <a:off x="548640" y="3273552"/>
            <a:ext cx="5760720" cy="457200"/>
          </a:xfrm>
          <a:prstGeom prst="roundRect">
            <a:avLst>
              <a:gd name="adj" fmla="val 10000"/>
            </a:avLst>
          </a:prstGeom>
          <a:solidFill>
            <a:srgbClr val="FFFFFF"/>
          </a:solidFill>
          <a:ln/>
        </p:spPr>
      </p:sp>
      <p:sp>
        <p:nvSpPr>
          <p:cNvPr id="14" name="Text 12"/>
          <p:cNvSpPr txBox="1"/>
          <p:nvPr/>
        </p:nvSpPr>
        <p:spPr>
          <a:xfrm>
            <a:off x="685800" y="3273552"/>
            <a:ext cx="301752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Tasdiqnoma</a:t>
            </a:r>
            <a:endParaRPr lang="en-US" sz="1500" dirty="0"/>
          </a:p>
        </p:txBody>
      </p:sp>
      <p:sp>
        <p:nvSpPr>
          <p:cNvPr id="15" name="Text 13"/>
          <p:cNvSpPr txBox="1"/>
          <p:nvPr/>
        </p:nvSpPr>
        <p:spPr>
          <a:xfrm>
            <a:off x="3703320" y="3273552"/>
            <a:ext cx="2514600" cy="4572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assertion</a:t>
            </a:r>
            <a:endParaRPr lang="en-US" sz="1400" dirty="0"/>
          </a:p>
        </p:txBody>
      </p:sp>
      <p:sp>
        <p:nvSpPr>
          <p:cNvPr id="16" name="Shape 14"/>
          <p:cNvSpPr/>
          <p:nvPr/>
        </p:nvSpPr>
        <p:spPr>
          <a:xfrm>
            <a:off x="548640" y="3785616"/>
            <a:ext cx="5760720" cy="457200"/>
          </a:xfrm>
          <a:prstGeom prst="roundRect">
            <a:avLst>
              <a:gd name="adj" fmla="val 10000"/>
            </a:avLst>
          </a:prstGeom>
          <a:solidFill>
            <a:srgbClr val="EEF2FB"/>
          </a:solidFill>
          <a:ln/>
        </p:spPr>
      </p:sp>
      <p:sp>
        <p:nvSpPr>
          <p:cNvPr id="17" name="Text 15"/>
          <p:cNvSpPr txBox="1"/>
          <p:nvPr/>
        </p:nvSpPr>
        <p:spPr>
          <a:xfrm>
            <a:off x="685800" y="3785616"/>
            <a:ext cx="301752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Federatsiya</a:t>
            </a:r>
            <a:endParaRPr lang="en-US" sz="1500" dirty="0"/>
          </a:p>
        </p:txBody>
      </p:sp>
      <p:sp>
        <p:nvSpPr>
          <p:cNvPr id="18" name="Text 16"/>
          <p:cNvSpPr txBox="1"/>
          <p:nvPr/>
        </p:nvSpPr>
        <p:spPr>
          <a:xfrm>
            <a:off x="3703320" y="3785616"/>
            <a:ext cx="2514600" cy="4572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federation</a:t>
            </a:r>
            <a:endParaRPr lang="en-US" sz="1400" dirty="0"/>
          </a:p>
        </p:txBody>
      </p:sp>
      <p:sp>
        <p:nvSpPr>
          <p:cNvPr id="19" name="Shape 17"/>
          <p:cNvSpPr/>
          <p:nvPr/>
        </p:nvSpPr>
        <p:spPr>
          <a:xfrm>
            <a:off x="548640" y="4297680"/>
            <a:ext cx="5760720" cy="457200"/>
          </a:xfrm>
          <a:prstGeom prst="roundRect">
            <a:avLst>
              <a:gd name="adj" fmla="val 10000"/>
            </a:avLst>
          </a:prstGeom>
          <a:solidFill>
            <a:srgbClr val="FFFFFF"/>
          </a:solidFill>
          <a:ln/>
        </p:spPr>
      </p:sp>
      <p:sp>
        <p:nvSpPr>
          <p:cNvPr id="20" name="Text 18"/>
          <p:cNvSpPr txBox="1"/>
          <p:nvPr/>
        </p:nvSpPr>
        <p:spPr>
          <a:xfrm>
            <a:off x="685800" y="4297680"/>
            <a:ext cx="301752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Ishonch munosabati</a:t>
            </a:r>
            <a:endParaRPr lang="en-US" sz="1500" dirty="0"/>
          </a:p>
        </p:txBody>
      </p:sp>
      <p:sp>
        <p:nvSpPr>
          <p:cNvPr id="21" name="Text 19"/>
          <p:cNvSpPr txBox="1"/>
          <p:nvPr/>
        </p:nvSpPr>
        <p:spPr>
          <a:xfrm>
            <a:off x="3703320" y="4297680"/>
            <a:ext cx="2514600" cy="4572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trust</a:t>
            </a:r>
            <a:endParaRPr lang="en-US" sz="1400" dirty="0"/>
          </a:p>
        </p:txBody>
      </p:sp>
      <p:sp>
        <p:nvSpPr>
          <p:cNvPr id="22" name="Shape 20"/>
          <p:cNvSpPr/>
          <p:nvPr/>
        </p:nvSpPr>
        <p:spPr>
          <a:xfrm>
            <a:off x="548640" y="4809744"/>
            <a:ext cx="5760720" cy="457200"/>
          </a:xfrm>
          <a:prstGeom prst="roundRect">
            <a:avLst>
              <a:gd name="adj" fmla="val 10000"/>
            </a:avLst>
          </a:prstGeom>
          <a:solidFill>
            <a:srgbClr val="EEF2FB"/>
          </a:solidFill>
          <a:ln/>
        </p:spPr>
      </p:sp>
      <p:sp>
        <p:nvSpPr>
          <p:cNvPr id="23" name="Text 21"/>
          <p:cNvSpPr txBox="1"/>
          <p:nvPr/>
        </p:nvSpPr>
        <p:spPr>
          <a:xfrm>
            <a:off x="685800" y="4809744"/>
            <a:ext cx="301752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Da'vo</a:t>
            </a:r>
            <a:endParaRPr lang="en-US" sz="1500" dirty="0"/>
          </a:p>
        </p:txBody>
      </p:sp>
      <p:sp>
        <p:nvSpPr>
          <p:cNvPr id="24" name="Text 22"/>
          <p:cNvSpPr txBox="1"/>
          <p:nvPr/>
        </p:nvSpPr>
        <p:spPr>
          <a:xfrm>
            <a:off x="3703320" y="4809744"/>
            <a:ext cx="2514600" cy="4572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claim</a:t>
            </a:r>
            <a:endParaRPr lang="en-US" sz="1400" dirty="0"/>
          </a:p>
        </p:txBody>
      </p:sp>
      <p:sp>
        <p:nvSpPr>
          <p:cNvPr id="25" name="Shape 23"/>
          <p:cNvSpPr/>
          <p:nvPr/>
        </p:nvSpPr>
        <p:spPr>
          <a:xfrm>
            <a:off x="548640" y="5321808"/>
            <a:ext cx="5760720" cy="457200"/>
          </a:xfrm>
          <a:prstGeom prst="roundRect">
            <a:avLst>
              <a:gd name="adj" fmla="val 10000"/>
            </a:avLst>
          </a:prstGeom>
          <a:solidFill>
            <a:srgbClr val="FFFFFF"/>
          </a:solidFill>
          <a:ln/>
        </p:spPr>
      </p:sp>
      <p:sp>
        <p:nvSpPr>
          <p:cNvPr id="26" name="Text 24"/>
          <p:cNvSpPr txBox="1"/>
          <p:nvPr/>
        </p:nvSpPr>
        <p:spPr>
          <a:xfrm>
            <a:off x="685800" y="5321808"/>
            <a:ext cx="301752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Imzolash sertifikati</a:t>
            </a:r>
            <a:endParaRPr lang="en-US" sz="1500" dirty="0"/>
          </a:p>
        </p:txBody>
      </p:sp>
      <p:sp>
        <p:nvSpPr>
          <p:cNvPr id="27" name="Text 25"/>
          <p:cNvSpPr txBox="1"/>
          <p:nvPr/>
        </p:nvSpPr>
        <p:spPr>
          <a:xfrm>
            <a:off x="3703320" y="5321808"/>
            <a:ext cx="2514600" cy="457200"/>
          </a:xfrm>
          <a:prstGeom prst="rect">
            <a:avLst/>
          </a:prstGeom>
          <a:noFill/>
          <a:ln/>
        </p:spPr>
        <p:txBody>
          <a:bodyPr wrap="square" lIns="0" tIns="0" rIns="0" bIns="0" rtlCol="0" anchor="ctr"/>
          <a:lstStyle/>
          <a:p>
            <a:pPr algn="l"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token-signing certificate</a:t>
            </a:r>
            <a:endParaRPr lang="en-US" sz="1400" dirty="0"/>
          </a:p>
        </p:txBody>
      </p:sp>
      <p:sp>
        <p:nvSpPr>
          <p:cNvPr id="28" name="Shape 26"/>
          <p:cNvSpPr/>
          <p:nvPr/>
        </p:nvSpPr>
        <p:spPr>
          <a:xfrm>
            <a:off x="6583680" y="1783080"/>
            <a:ext cx="548640" cy="548640"/>
          </a:xfrm>
          <a:prstGeom prst="roundRect">
            <a:avLst>
              <a:gd name="adj" fmla="val 13333"/>
            </a:avLst>
          </a:prstGeom>
          <a:solidFill>
            <a:srgbClr val="2A3778"/>
          </a:solidFill>
          <a:ln/>
        </p:spPr>
      </p:sp>
      <p:sp>
        <p:nvSpPr>
          <p:cNvPr id="29" name="Text 27"/>
          <p:cNvSpPr txBox="1"/>
          <p:nvPr/>
        </p:nvSpPr>
        <p:spPr>
          <a:xfrm>
            <a:off x="6583680" y="1783080"/>
            <a:ext cx="548640" cy="54864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[1]</a:t>
            </a:r>
            <a:endParaRPr lang="en-US" sz="1400" dirty="0"/>
          </a:p>
        </p:txBody>
      </p:sp>
      <p:sp>
        <p:nvSpPr>
          <p:cNvPr id="30" name="Text 28"/>
          <p:cNvSpPr txBox="1"/>
          <p:nvPr/>
        </p:nvSpPr>
        <p:spPr>
          <a:xfrm>
            <a:off x="7269480" y="1737360"/>
            <a:ext cx="4343400" cy="6858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OASIS. Assertions and Protocols for the SAML V2.0. 2005.</a:t>
            </a:r>
            <a:endParaRPr lang="en-US" sz="1500" dirty="0"/>
          </a:p>
        </p:txBody>
      </p:sp>
      <p:sp>
        <p:nvSpPr>
          <p:cNvPr id="31" name="Shape 29"/>
          <p:cNvSpPr/>
          <p:nvPr/>
        </p:nvSpPr>
        <p:spPr>
          <a:xfrm>
            <a:off x="6583680" y="2606040"/>
            <a:ext cx="548640" cy="548640"/>
          </a:xfrm>
          <a:prstGeom prst="roundRect">
            <a:avLst>
              <a:gd name="adj" fmla="val 13333"/>
            </a:avLst>
          </a:prstGeom>
          <a:solidFill>
            <a:srgbClr val="2A3778"/>
          </a:solidFill>
          <a:ln/>
        </p:spPr>
      </p:sp>
      <p:sp>
        <p:nvSpPr>
          <p:cNvPr id="32" name="Text 30"/>
          <p:cNvSpPr txBox="1"/>
          <p:nvPr/>
        </p:nvSpPr>
        <p:spPr>
          <a:xfrm>
            <a:off x="6583680" y="2606040"/>
            <a:ext cx="548640" cy="54864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33" name="Text 31"/>
          <p:cNvSpPr txBox="1"/>
          <p:nvPr/>
        </p:nvSpPr>
        <p:spPr>
          <a:xfrm>
            <a:off x="7269480" y="2560320"/>
            <a:ext cx="4343400" cy="6858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Microsoft Learn. AD FS overview; Migrate apps from AD FS to Microsoft Entra ID.</a:t>
            </a:r>
            <a:endParaRPr lang="en-US" sz="1500" dirty="0"/>
          </a:p>
        </p:txBody>
      </p:sp>
      <p:sp>
        <p:nvSpPr>
          <p:cNvPr id="34" name="Shape 32"/>
          <p:cNvSpPr/>
          <p:nvPr/>
        </p:nvSpPr>
        <p:spPr>
          <a:xfrm>
            <a:off x="6583680" y="3429000"/>
            <a:ext cx="548640" cy="548640"/>
          </a:xfrm>
          <a:prstGeom prst="roundRect">
            <a:avLst>
              <a:gd name="adj" fmla="val 13333"/>
            </a:avLst>
          </a:prstGeom>
          <a:solidFill>
            <a:srgbClr val="2A3778"/>
          </a:solidFill>
          <a:ln/>
        </p:spPr>
      </p:sp>
      <p:sp>
        <p:nvSpPr>
          <p:cNvPr id="35" name="Text 33"/>
          <p:cNvSpPr txBox="1"/>
          <p:nvPr/>
        </p:nvSpPr>
        <p:spPr>
          <a:xfrm>
            <a:off x="6583680" y="3429000"/>
            <a:ext cx="548640" cy="54864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[3]</a:t>
            </a:r>
            <a:endParaRPr lang="en-US" sz="1400" dirty="0"/>
          </a:p>
        </p:txBody>
      </p:sp>
      <p:sp>
        <p:nvSpPr>
          <p:cNvPr id="36" name="Text 34"/>
          <p:cNvSpPr txBox="1"/>
          <p:nvPr/>
        </p:nvSpPr>
        <p:spPr>
          <a:xfrm>
            <a:off x="7269480" y="3383280"/>
            <a:ext cx="4343400" cy="6858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J. Somorovsky va boshq. On Breaking SAML: Be Whoever You Want to Be. USENIX Security, 2012.</a:t>
            </a:r>
            <a:endParaRPr lang="en-US" sz="1500" dirty="0"/>
          </a:p>
        </p:txBody>
      </p:sp>
      <p:sp>
        <p:nvSpPr>
          <p:cNvPr id="37" name="Shape 35"/>
          <p:cNvSpPr/>
          <p:nvPr/>
        </p:nvSpPr>
        <p:spPr>
          <a:xfrm>
            <a:off x="6583680" y="4251960"/>
            <a:ext cx="548640" cy="548640"/>
          </a:xfrm>
          <a:prstGeom prst="roundRect">
            <a:avLst>
              <a:gd name="adj" fmla="val 13333"/>
            </a:avLst>
          </a:prstGeom>
          <a:solidFill>
            <a:srgbClr val="2A3778"/>
          </a:solidFill>
          <a:ln/>
        </p:spPr>
      </p:sp>
      <p:sp>
        <p:nvSpPr>
          <p:cNvPr id="38" name="Text 36"/>
          <p:cNvSpPr txBox="1"/>
          <p:nvPr/>
        </p:nvSpPr>
        <p:spPr>
          <a:xfrm>
            <a:off x="6583680" y="4251960"/>
            <a:ext cx="548640" cy="54864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[4]</a:t>
            </a:r>
            <a:endParaRPr lang="en-US" sz="1400" dirty="0"/>
          </a:p>
        </p:txBody>
      </p:sp>
      <p:sp>
        <p:nvSpPr>
          <p:cNvPr id="39" name="Text 37"/>
          <p:cNvSpPr txBox="1"/>
          <p:nvPr/>
        </p:nvSpPr>
        <p:spPr>
          <a:xfrm>
            <a:off x="7269480" y="4206240"/>
            <a:ext cx="4343400" cy="6858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CISA AR21-134A. SolarWinds va AD/M365 tarmoqlarini tiklash bo'yicha yo'riqnoma, 2021.</a:t>
            </a:r>
            <a:endParaRPr lang="en-US" sz="1500" dirty="0"/>
          </a:p>
        </p:txBody>
      </p:sp>
      <p:sp>
        <p:nvSpPr>
          <p:cNvPr id="40" name="Shape 38"/>
          <p:cNvSpPr/>
          <p:nvPr/>
        </p:nvSpPr>
        <p:spPr>
          <a:xfrm>
            <a:off x="6583680" y="5074920"/>
            <a:ext cx="548640" cy="548640"/>
          </a:xfrm>
          <a:prstGeom prst="roundRect">
            <a:avLst>
              <a:gd name="adj" fmla="val 13333"/>
            </a:avLst>
          </a:prstGeom>
          <a:solidFill>
            <a:srgbClr val="2A3778"/>
          </a:solidFill>
          <a:ln/>
        </p:spPr>
      </p:sp>
      <p:sp>
        <p:nvSpPr>
          <p:cNvPr id="41" name="Text 39"/>
          <p:cNvSpPr txBox="1"/>
          <p:nvPr/>
        </p:nvSpPr>
        <p:spPr>
          <a:xfrm>
            <a:off x="6583680" y="5074920"/>
            <a:ext cx="548640" cy="54864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[5]</a:t>
            </a:r>
            <a:endParaRPr lang="en-US" sz="1400" dirty="0"/>
          </a:p>
        </p:txBody>
      </p:sp>
      <p:sp>
        <p:nvSpPr>
          <p:cNvPr id="42" name="Text 40"/>
          <p:cNvSpPr txBox="1"/>
          <p:nvPr/>
        </p:nvSpPr>
        <p:spPr>
          <a:xfrm>
            <a:off x="7269480" y="5029200"/>
            <a:ext cx="4343400" cy="685800"/>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S.K. Ganiev va boshq. Kiberxavfsizlik asoslari. — T., 2021.</a:t>
            </a:r>
            <a:endParaRPr lang="en-US" sz="1500" dirty="0"/>
          </a:p>
        </p:txBody>
      </p:sp>
      <p:sp>
        <p:nvSpPr>
          <p:cNvPr id="43" name="Text 41"/>
          <p:cNvSpPr txBox="1"/>
          <p:nvPr/>
        </p:nvSpPr>
        <p:spPr>
          <a:xfrm>
            <a:off x="548640" y="5897880"/>
            <a:ext cx="5760720" cy="320040"/>
          </a:xfrm>
          <a:prstGeom prst="rect">
            <a:avLst/>
          </a:prstGeom>
          <a:noFill/>
          <a:ln/>
        </p:spPr>
        <p:txBody>
          <a:bodyPr wrap="square" lIns="0" tIns="0" rIns="0" bIns="0" rtlCol="0" anchor="t"/>
          <a:lstStyle/>
          <a:p>
            <a:pPr algn="l" indent="0" marL="0">
              <a:lnSpc>
                <a:spcPct val="100000"/>
              </a:lnSpc>
              <a:buNone/>
            </a:pPr>
            <a:r>
              <a:rPr lang="en-US" sz="1200" dirty="0">
                <a:solidFill>
                  <a:srgbClr val="5B6270"/>
                </a:solidFill>
                <a:latin typeface="Times New Roman" pitchFamily="34" charset="0"/>
                <a:ea typeface="Times New Roman" pitchFamily="34" charset="-122"/>
                <a:cs typeface="Times New Roman" pitchFamily="34" charset="-120"/>
              </a:rPr>
              <a:t>Atamalar tarjima; o'zbek tilidagi darsliklar bilan solishtirish kerak</a:t>
            </a:r>
            <a:endParaRPr lang="en-US" sz="1200" dirty="0"/>
          </a:p>
        </p:txBody>
      </p:sp>
      <p:sp>
        <p:nvSpPr>
          <p:cNvPr id="44" name="Text 42"/>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7-ma'ruza</a:t>
            </a:r>
            <a:endParaRPr lang="en-US" sz="1100" dirty="0"/>
          </a:p>
        </p:txBody>
      </p:sp>
      <p:sp>
        <p:nvSpPr>
          <p:cNvPr id="45" name="Text 43"/>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20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7-ma'ruza. Yagona kirish (SSO) va SAML 2.0</dc:title>
  <dc:subject>PptxGenJS Presentation</dc:subject>
  <dc:creator>PptxGenJS</dc:creator>
  <cp:lastModifiedBy>PptxGenJS</cp:lastModifiedBy>
  <cp:revision>1</cp:revision>
  <dcterms:created xsi:type="dcterms:W3CDTF">2026-09-26T16:01:03Z</dcterms:created>
  <dcterms:modified xsi:type="dcterms:W3CDTF">2026-09-26T16:01:03Z</dcterms:modified>
</cp:coreProperties>
</file>